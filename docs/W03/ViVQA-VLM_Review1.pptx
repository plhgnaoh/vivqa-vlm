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3" name="Text 1"/>
          <p:cNvSpPr txBox="1"/>
          <p:nvPr/>
        </p:nvSpPr>
        <p:spPr>
          <a:xfrm>
            <a:off x="822960" y="105156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ViVQA-VLM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06324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Vietnamese Visual Question Answering using Vision-Language Models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1188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DB2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Nghiên cứu hệ thống hỏi đáp trực quan tiếng Việt hiệu quả sử dụng mô hình Vision-Language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3840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480060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Nhóm 4 sinh viên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GVHD: Assoc.Prof. Đặng Ngọc Minh Đức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Chuyên ngành NLP · ĐH FPT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Bài toán &amp; Động lực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3736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737360" y="1417320"/>
            <a:ext cx="24688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Ảnh tiếng Việt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 Câu hỏi tiếng Việt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417320"/>
            <a:ext cx="24688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Vision-Language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(VLM)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BF0DA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1417320"/>
            <a:ext cx="24688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 trả lời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tiếng Việt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417320"/>
            <a:ext cx="731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417320"/>
            <a:ext cx="731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 image classification / object detection: cần hiểu ĐỒNG THỜI nội dung ảnh và ngôn ngữ, kèm suy luận.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261518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47288"/>
            <a:ext cx="146304" cy="146304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6" name="Text 14"/>
          <p:cNvSpPr txBox="1"/>
          <p:nvPr/>
        </p:nvSpPr>
        <p:spPr>
          <a:xfrm>
            <a:off x="1005840" y="3392424"/>
            <a:ext cx="20208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English-centric pretraining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904488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ảnh–ngôn ngữ tối ưu cho tiếng Anh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00984" y="3246120"/>
            <a:ext cx="261518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02152" y="3447288"/>
            <a:ext cx="146304" cy="146304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0" name="Text 18"/>
          <p:cNvSpPr txBox="1"/>
          <p:nvPr/>
        </p:nvSpPr>
        <p:spPr>
          <a:xfrm>
            <a:off x="3758184" y="3392424"/>
            <a:ext cx="20208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Scene-text / OCR + dấu thanh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3904488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Đọc chữ trong ảnh; diacritics tiếng Việt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53328" y="3246120"/>
            <a:ext cx="261518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54496" y="3447288"/>
            <a:ext cx="146304" cy="146304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4" name="Text 22"/>
          <p:cNvSpPr txBox="1"/>
          <p:nvPr/>
        </p:nvSpPr>
        <p:spPr>
          <a:xfrm>
            <a:off x="6510528" y="3392424"/>
            <a:ext cx="20208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Code-switching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3904488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Trộn lẫn Anh – Việt trong câu hỏi/ảnh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05672" y="3246120"/>
            <a:ext cx="261518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06840" y="3447288"/>
            <a:ext cx="146304" cy="146304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8" name="Text 26"/>
          <p:cNvSpPr txBox="1"/>
          <p:nvPr/>
        </p:nvSpPr>
        <p:spPr>
          <a:xfrm>
            <a:off x="9262872" y="3392424"/>
            <a:ext cx="20208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3904488"/>
            <a:ext cx="22128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Trả lời trôi chảy nhưng SAI so với ảnh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BF0DA"/>
          </a:solidFill>
        </p:spPr>
      </p:sp>
      <p:sp>
        <p:nvSpPr>
          <p:cNvPr id="31" name="Text 29"/>
          <p:cNvSpPr txBox="1"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Ý nghĩa. </a:t>
            </a:r>
            <a:r>
              <a:rPr lang="en-US" sz="14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Thích nghi VLM cho tiếng Việt dưới ngân sách tham số (PEFT, KHÔNG full fine-tuning) → đóng góp kỹ thuật đo được, không phải một demo ứng dụng.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Gap (G1–G4)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618488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</p:spPr>
      </p:sp>
      <p:sp>
        <p:nvSpPr>
          <p:cNvPr id="7" name="Text 5"/>
          <p:cNvSpPr txBox="1"/>
          <p:nvPr/>
        </p:nvSpPr>
        <p:spPr>
          <a:xfrm>
            <a:off x="841248" y="161848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002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English-centric pretraining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130552"/>
            <a:ext cx="4910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ảnh–ngôn ngữ tối ưu cho tiếng Anh, chưa tối ưu cho tiếng Việt.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618488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6556248" y="1618488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6002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Vietnamese VQA yếu — scene-text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2130552"/>
            <a:ext cx="4910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Text-in-image (OCR), diacritics, code-switching còn hạn chế.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09981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300984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</p:spPr>
      </p:sp>
      <p:sp>
        <p:nvSpPr>
          <p:cNvPr id="17" name="Text 15"/>
          <p:cNvSpPr txBox="1"/>
          <p:nvPr/>
        </p:nvSpPr>
        <p:spPr>
          <a:xfrm>
            <a:off x="841248" y="3300984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28269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 cho VLM tiếng Việt chưa khai thác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813048"/>
            <a:ext cx="4910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LoRA/QLoRA cho Vietnamese VQA còn thiếu nghiên cứu bài bản.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31927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TRỌNG TÂM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09981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6248" y="3300984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</p:spPr>
      </p:sp>
      <p:sp>
        <p:nvSpPr>
          <p:cNvPr id="23" name="Text 21"/>
          <p:cNvSpPr txBox="1"/>
          <p:nvPr/>
        </p:nvSpPr>
        <p:spPr>
          <a:xfrm>
            <a:off x="6556248" y="3300984"/>
            <a:ext cx="6583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28269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chưa đo cho tiếng Việt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574536" y="3813048"/>
            <a:ext cx="4910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 trả lời trôi chảy nhưng sai (object/text hallucination).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1389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BF0DA"/>
          </a:solidFill>
        </p:spPr>
      </p:sp>
      <p:sp>
        <p:nvSpPr>
          <p:cNvPr id="27" name="Text 25"/>
          <p:cNvSpPr txBox="1"/>
          <p:nvPr/>
        </p:nvSpPr>
        <p:spPr>
          <a:xfrm>
            <a:off x="868680" y="5138928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 trận Gap × Paper: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nhãn L1–L10 theo TÊN paper (không dùng weekly #1–#10). Các ô L7, L8, L10 </a:t>
            </a:r>
            <a:r>
              <a:rPr lang="en-US" sz="135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chờ xác nhận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không tự tick.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Questions (RQ1–RQ4)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6184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</p:spPr>
      </p:sp>
      <p:sp>
        <p:nvSpPr>
          <p:cNvPr id="7" name="Text 5"/>
          <p:cNvSpPr txBox="1"/>
          <p:nvPr/>
        </p:nvSpPr>
        <p:spPr>
          <a:xfrm>
            <a:off x="841248" y="161848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RQ1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103120"/>
            <a:ext cx="49103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Zero-shot 3 VLM trên ViVQA/ViTextVQA — đo bằng EM, VQA-Acc, ANLS.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6184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</p:spPr>
      </p:sp>
      <p:sp>
        <p:nvSpPr>
          <p:cNvPr id="11" name="Text 9"/>
          <p:cNvSpPr txBox="1"/>
          <p:nvPr/>
        </p:nvSpPr>
        <p:spPr>
          <a:xfrm>
            <a:off x="6556248" y="161848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RQ2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12680" y="163677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TRỌNG TÂM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103120"/>
            <a:ext cx="49103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 (QLoRA) cải thiện bao nhiêu so với zero-shot / prompt — KHÔNG full FT. (sub-RQ2a–e)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300984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</p:spPr>
      </p:sp>
      <p:sp>
        <p:nvSpPr>
          <p:cNvPr id="16" name="Text 14"/>
          <p:cNvSpPr txBox="1"/>
          <p:nvPr/>
        </p:nvSpPr>
        <p:spPr>
          <a:xfrm>
            <a:off x="841248" y="330098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RQ3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3785616"/>
            <a:ext cx="49103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OCR-prompting × PEFT trên ViTextVQA — trọng tâm ANLS. (RQ3a)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09981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3300984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</p:spPr>
      </p:sp>
      <p:sp>
        <p:nvSpPr>
          <p:cNvPr id="20" name="Text 18"/>
          <p:cNvSpPr txBox="1"/>
          <p:nvPr/>
        </p:nvSpPr>
        <p:spPr>
          <a:xfrm>
            <a:off x="6556248" y="330098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RQ4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74536" y="3785616"/>
            <a:ext cx="49103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 ảnh hưởng thế nào tới hallucination — đo kiểu POPE-vi. (RQ4a)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389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</p:spPr>
      </p:sp>
      <p:sp>
        <p:nvSpPr>
          <p:cNvPr id="23" name="Text 21"/>
          <p:cNvSpPr txBox="1"/>
          <p:nvPr/>
        </p:nvSpPr>
        <p:spPr>
          <a:xfrm>
            <a:off x="868680" y="5138928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Numbering canonical = weekly </a:t>
            </a: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(không dùng RQ0–RQ3 scaffold cũ).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 hỏi phụ RQ2a–e, RQ3a, RQ4a phục vụ ablation.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Hypotheses (H1–H8)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BF0DA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36776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E8A33D"/>
          </a:solidFill>
        </p:spPr>
      </p:sp>
      <p:sp>
        <p:nvSpPr>
          <p:cNvPr id="7" name="Text 5"/>
          <p:cNvSpPr txBox="1"/>
          <p:nvPr/>
        </p:nvSpPr>
        <p:spPr>
          <a:xfrm>
            <a:off x="822960" y="1636776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417320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QLoRA ≥ +5 EM/VQA-Acc so với zero-shot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417320"/>
            <a:ext cx="3200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38658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606040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822960" y="2606040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386584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4-bit đạt ≥97% chất lượng 16-bit, VRAM −≥40%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55848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75304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16" name="Text 14"/>
          <p:cNvSpPr txBox="1"/>
          <p:nvPr/>
        </p:nvSpPr>
        <p:spPr>
          <a:xfrm>
            <a:off x="822960" y="3575304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3355848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LoRA all-linear &gt; attention-only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25112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544568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20" name="Text 18"/>
          <p:cNvSpPr txBox="1"/>
          <p:nvPr/>
        </p:nvSpPr>
        <p:spPr>
          <a:xfrm>
            <a:off x="822960" y="454456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72768" y="4325112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Hiệu quả rank bão hòa ở r ≤ 16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141732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636776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24" name="Text 22"/>
          <p:cNvSpPr txBox="1"/>
          <p:nvPr/>
        </p:nvSpPr>
        <p:spPr>
          <a:xfrm>
            <a:off x="6537960" y="1636776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87768" y="1417320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 không làm tăng hallucination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38658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37960" y="2606040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28" name="Text 26"/>
          <p:cNvSpPr txBox="1"/>
          <p:nvPr/>
        </p:nvSpPr>
        <p:spPr>
          <a:xfrm>
            <a:off x="6537960" y="2606040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87768" y="2386584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 +≥3 ANLS, cộng hưởng với QLoRA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3355848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3575304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32" name="Text 30"/>
          <p:cNvSpPr txBox="1"/>
          <p:nvPr/>
        </p:nvSpPr>
        <p:spPr>
          <a:xfrm>
            <a:off x="6537960" y="3575304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3355848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Format-prompt tiếng Việt +≥3 EM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4325112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4544568"/>
            <a:ext cx="6400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</p:spPr>
      </p:sp>
      <p:sp>
        <p:nvSpPr>
          <p:cNvPr id="36" name="Text 34"/>
          <p:cNvSpPr txBox="1"/>
          <p:nvPr/>
        </p:nvSpPr>
        <p:spPr>
          <a:xfrm>
            <a:off x="6537960" y="454456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H8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287768" y="4325112"/>
            <a:ext cx="42519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Adapter chung ≥ adapter riêng từng tập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Ngưỡng kế thừa từ weekly — CHƯA đo trên tiếng Việt. </a:t>
            </a: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H9–H11: out-of-scope (không chiếu ở Review 1).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Analysis — stats thật (seed 42)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</p:spPr>
      </p:sp>
      <p:sp>
        <p:nvSpPr>
          <p:cNvPr id="7" name="Shape 5"/>
          <p:cNvSpPr/>
          <p:nvPr/>
        </p:nvSpPr>
        <p:spPr>
          <a:xfrm>
            <a:off x="640080" y="14173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3294B"/>
          </a:solidFill>
        </p:spPr>
      </p:sp>
      <p:sp>
        <p:nvSpPr>
          <p:cNvPr id="8" name="Text 6"/>
          <p:cNvSpPr txBox="1"/>
          <p:nvPr/>
        </p:nvSpPr>
        <p:spPr>
          <a:xfrm>
            <a:off x="868680" y="1417320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ViVQA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4884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VQA · HF minhnguyent546/ViVQA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6888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15,000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81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pairs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6888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10,328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81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Ảnh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52044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352044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11,999 / 3,001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95020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395020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KHÔNG có trên mirror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37997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99.83% answer ≤ 3 từ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437997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EM / VQA-Acc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4173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</p:spPr>
      </p:sp>
      <p:sp>
        <p:nvSpPr>
          <p:cNvPr id="22" name="Shape 20"/>
          <p:cNvSpPr/>
          <p:nvPr/>
        </p:nvSpPr>
        <p:spPr>
          <a:xfrm>
            <a:off x="6355080" y="14173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3294B"/>
          </a:solidFill>
        </p:spPr>
      </p:sp>
      <p:sp>
        <p:nvSpPr>
          <p:cNvPr id="23" name="Text 21"/>
          <p:cNvSpPr txBox="1"/>
          <p:nvPr/>
        </p:nvSpPr>
        <p:spPr>
          <a:xfrm>
            <a:off x="6583680" y="1417320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ViTextVQA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14884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Scene-text VQA · HF nhonhoccode/ViTextVQA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246888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45,187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081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pairs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246888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15,086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081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Ảnh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11112" y="352044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54312" y="352044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35,159 / 10,028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11112" y="395020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54312" y="395020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TRỐNG trên mirror — không tự tách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11112" y="437997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29,202 unique answers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437997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ANLS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</p:spPr>
      </p:sp>
      <p:sp>
        <p:nvSpPr>
          <p:cNvPr id="36" name="Text 34"/>
          <p:cNvSpPr txBox="1"/>
          <p:nvPr/>
        </p:nvSpPr>
        <p:spPr>
          <a:xfrm>
            <a:off x="868680" y="512064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Run: </a:t>
            </a:r>
            <a:r>
              <a:rPr lang="en-US" sz="1250" dirty="0">
                <a:solidFill>
                  <a:srgbClr val="2430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src/data/analyze_dataset.py · 2026-09-14 · seed 42.  </a:t>
            </a: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Question-type heuristic = exploratory (~30–41% Other). Licence ViVQA/ViTextVQA = TODO-human.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Candidate Methods &amp; Baseline đề xuất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7607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57276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Cải tiến ưu tiên (PEFT-only)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96112" y="2130552"/>
            <a:ext cx="146304" cy="146304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8" name="Text 6"/>
          <p:cNvSpPr txBox="1"/>
          <p:nvPr/>
        </p:nvSpPr>
        <p:spPr>
          <a:xfrm>
            <a:off x="1170432" y="203911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QLoRA NF4 all-linear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03911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trọng tâm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2679192"/>
            <a:ext cx="146304" cy="1463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 txBox="1"/>
          <p:nvPr/>
        </p:nvSpPr>
        <p:spPr>
          <a:xfrm>
            <a:off x="1170432" y="258775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Format-prompt tiếng Việt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227832"/>
            <a:ext cx="146304" cy="1463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1"/>
          <p:cNvSpPr txBox="1"/>
          <p:nvPr/>
        </p:nvSpPr>
        <p:spPr>
          <a:xfrm>
            <a:off x="1170432" y="313639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OCR-enhanced prompting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6112" y="3776472"/>
            <a:ext cx="146304" cy="1463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 txBox="1"/>
          <p:nvPr/>
        </p:nvSpPr>
        <p:spPr>
          <a:xfrm>
            <a:off x="1170432" y="368503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Adapter chung (multi-dataset)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6112" y="4325112"/>
            <a:ext cx="146304" cy="1463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7" name="Text 15"/>
          <p:cNvSpPr txBox="1"/>
          <p:nvPr/>
        </p:nvSpPr>
        <p:spPr>
          <a:xfrm>
            <a:off x="1170432" y="423367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VQA (RAG)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42336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" y="4873752"/>
            <a:ext cx="146304" cy="14630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0" name="Text 18"/>
          <p:cNvSpPr txBox="1"/>
          <p:nvPr/>
        </p:nvSpPr>
        <p:spPr>
          <a:xfrm>
            <a:off x="1170432" y="478231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Soft-prompt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478231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0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LOẠI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1417320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BF0DA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12280" y="1600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đề xuất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05740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Qwen2.5-VL-3B-Instruct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812280" y="27432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</p:sp>
      <p:sp>
        <p:nvSpPr>
          <p:cNvPr id="26" name="Text 24"/>
          <p:cNvSpPr txBox="1"/>
          <p:nvPr/>
        </p:nvSpPr>
        <p:spPr>
          <a:xfrm>
            <a:off x="6812280" y="27432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ĐỀ XUẤT — chờ thầy Đức xác nhận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4290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Backup: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Florence-2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38404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VRAM trọng số 4-bit (3B) ≈ 2–2.5 GB — chưa đo thực trên P100.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12280" y="4709160"/>
            <a:ext cx="4023360" cy="0"/>
          </a:xfrm>
          <a:prstGeom prst="line">
            <a:avLst/>
          </a:prstGeom>
          <a:noFill/>
          <a:ln w="12700">
            <a:solidFill>
              <a:srgbClr val="D8C6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2280" y="48920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CHỐT bởi nhóm:  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Kế hoạch 15 tuần &amp; Milestones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84402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4402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8723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2540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8723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73045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3045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7366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7366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61688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61688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06010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06010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0331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0331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94653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4653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38974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38974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3296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83296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27618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27618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71939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71939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316261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7F0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16261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060582" y="1600200"/>
            <a:ext cx="67117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060582" y="1600200"/>
            <a:ext cx="67117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2606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960" y="277063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310896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3456432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HIỆN TẠI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92424" y="2606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3575304" y="277063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W7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575304" y="310896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2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3575304" y="3456432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+ kết quả sơ bộ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44768" y="2606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327648" y="277063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W13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327648" y="310896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Review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327648" y="3456432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phần lớn nghiên cứu xong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97112" y="2606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9079992" y="277063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W15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9079992" y="310896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079992" y="3456432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+ thesis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416052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</p:spPr>
      </p:sp>
      <p:sp>
        <p:nvSpPr>
          <p:cNvPr id="52" name="Shape 50"/>
          <p:cNvSpPr/>
          <p:nvPr/>
        </p:nvSpPr>
        <p:spPr>
          <a:xfrm>
            <a:off x="914400" y="439826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3" name="Text 51"/>
          <p:cNvSpPr txBox="1"/>
          <p:nvPr/>
        </p:nvSpPr>
        <p:spPr>
          <a:xfrm>
            <a:off x="1170432" y="430682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W1–2  Orientation · Literature · Dataset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400800" y="439826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5" name="Text 53"/>
          <p:cNvSpPr txBox="1"/>
          <p:nvPr/>
        </p:nvSpPr>
        <p:spPr>
          <a:xfrm>
            <a:off x="6656832" y="430682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W4–5  Reproduce baseline (đúng 1 VLM)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914400" y="476402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7" name="Text 55"/>
          <p:cNvSpPr txBox="1"/>
          <p:nvPr/>
        </p:nvSpPr>
        <p:spPr>
          <a:xfrm>
            <a:off x="1170432" y="467258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W6  Methodology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400800" y="476402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9" name="Text 57"/>
          <p:cNvSpPr txBox="1"/>
          <p:nvPr/>
        </p:nvSpPr>
        <p:spPr>
          <a:xfrm>
            <a:off x="6656832" y="467258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W8–9  PEFT · OCR · RAG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914400" y="512978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1" name="Text 59"/>
          <p:cNvSpPr txBox="1"/>
          <p:nvPr/>
        </p:nvSpPr>
        <p:spPr>
          <a:xfrm>
            <a:off x="1170432" y="503834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W10–11  Experiments · Evaluation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400800" y="512978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3" name="Text 61"/>
          <p:cNvSpPr txBox="1"/>
          <p:nvPr/>
        </p:nvSpPr>
        <p:spPr>
          <a:xfrm>
            <a:off x="6656832" y="503834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  Ablation · Error · Hallucination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914400" y="5495544"/>
            <a:ext cx="128016" cy="128016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5" name="Text 63"/>
          <p:cNvSpPr txBox="1"/>
          <p:nvPr/>
        </p:nvSpPr>
        <p:spPr>
          <a:xfrm>
            <a:off x="1170432" y="540410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W14  Prototype · Thesis writing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400800" y="5495544"/>
            <a:ext cx="128016" cy="128016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67" name="Text 65"/>
          <p:cNvSpPr txBox="1"/>
          <p:nvPr/>
        </p:nvSpPr>
        <p:spPr>
          <a:xfrm>
            <a:off x="6656832" y="540410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Không đảo thứ tự milestone bắt buộc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Matrix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463040"/>
          <a:ext cx="10908792" cy="438912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4233672"/>
                <a:gridCol w="246888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Rủi ro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Mitigation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Backup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quá lớn / OOM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QLoRA 4-bit, dùng model 3B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Florence-2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GPU / Colab bị ngắt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Kaggle P100, checkpoint định kỳ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Colab Pro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QLoRA train chậm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78A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Pilot subset, gradient accumulation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Giảm rank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Dataset / licence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78A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Preprocessing kỹ, kiểm licence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Mirror khác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Baseline khó reproduce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Bám repo gốc, seed cố định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Đổi VLM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OCR kém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78A2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Đổi PaddleOCR ↔ VietOCR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Prompt fallback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 không hội tụ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Chuyển sang prompting / OCR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Zero-shot sanity (tuỳ chọn)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BF0DA"/>
          </a:solidFill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1 KHÔNG bắt buộc số của model. </a:t>
            </a:r>
            <a:r>
              <a:rPr lang="en-US" sz="14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chiếu EM/VQA-Acc/ANLS — cấm điền số bịa.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109167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Sanity checklist (không có số)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0815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914400" y="30815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NFC Unicode normalization  — 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chuẩn hoá text tiếng Việt trước khi đưa vào model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6484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</p:spPr>
      </p:sp>
      <p:sp>
        <p:nvSpPr>
          <p:cNvPr id="13" name="Text 11"/>
          <p:cNvSpPr txBox="1"/>
          <p:nvPr/>
        </p:nvSpPr>
        <p:spPr>
          <a:xfrm>
            <a:off x="914400" y="36484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8444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Greedy decode, deterministic  — 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 42 cố định cho mọi lần chạy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2153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</p:spPr>
      </p:sp>
      <p:sp>
        <p:nvSpPr>
          <p:cNvPr id="16" name="Text 14"/>
          <p:cNvSpPr txBox="1"/>
          <p:nvPr/>
        </p:nvSpPr>
        <p:spPr>
          <a:xfrm>
            <a:off x="914400" y="42153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5137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Cùng split / hardware  — 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sẽ khoá và log ở W5 khi reproduce baseline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47823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</p:spPr>
      </p:sp>
      <p:sp>
        <p:nvSpPr>
          <p:cNvPr id="19" name="Text 17"/>
          <p:cNvSpPr txBox="1"/>
          <p:nvPr/>
        </p:nvSpPr>
        <p:spPr>
          <a:xfrm>
            <a:off x="914400" y="47823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718304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VRAM + thời gian inference  —  </a:t>
            </a:r>
            <a:r>
              <a:rPr lang="en-US" sz="13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phục vụ ràng buộc efficiency &amp; reproducibility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Phân công nhóm (4 SV)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15184" cy="38404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0472" y="18745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7" name="Text 5"/>
          <p:cNvSpPr txBox="1"/>
          <p:nvPr/>
        </p:nvSpPr>
        <p:spPr>
          <a:xfrm>
            <a:off x="1490472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SV1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2494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 / Baseline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703320"/>
            <a:ext cx="217627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Reproduce baseline; VQA/VLM; BLIP-2, Florence-2, Qwen2.5-VL, LLaVA.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92424" y="1554480"/>
            <a:ext cx="2615184" cy="38404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2816" y="18745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 txBox="1"/>
          <p:nvPr/>
        </p:nvSpPr>
        <p:spPr>
          <a:xfrm>
            <a:off x="4242816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SV2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2971800"/>
            <a:ext cx="22494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/ OCR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03320"/>
            <a:ext cx="217627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ViVQA, ViTextVQA; scene-text; PaddleOCR / VietOCR; thách thức tiếng Việt.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1554480"/>
            <a:ext cx="2615184" cy="3840480"/>
          </a:xfrm>
          <a:prstGeom prst="roundRect">
            <a:avLst>
              <a:gd name="adj" fmla="val 3147"/>
            </a:avLst>
          </a:prstGeom>
          <a:solidFill>
            <a:srgbClr val="13294B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874520"/>
            <a:ext cx="914400" cy="91440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7" name="Text 15"/>
          <p:cNvSpPr txBox="1"/>
          <p:nvPr/>
        </p:nvSpPr>
        <p:spPr>
          <a:xfrm>
            <a:off x="6995160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SV3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971800"/>
            <a:ext cx="22494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 / Training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703320"/>
            <a:ext cx="217627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E0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LoRA, QLoRA, prompt engineering, RAG. (Leader — giữ overview toàn dự án.)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4983480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97112" y="1554480"/>
            <a:ext cx="2615184" cy="38404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47504" y="18745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21"/>
          <p:cNvSpPr txBox="1"/>
          <p:nvPr/>
        </p:nvSpPr>
        <p:spPr>
          <a:xfrm>
            <a:off x="9747504" y="18745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SV4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079992" y="2971800"/>
            <a:ext cx="22494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/ Deploy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16568" y="3703320"/>
            <a:ext cx="217627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EM/VQA-Acc/ANLS; hallucination; efficient inference; prototype.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47548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Ràng buộc bắt buộc: PEFT-only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3294B"/>
          </a:solidFill>
        </p:spPr>
      </p:sp>
      <p:sp>
        <p:nvSpPr>
          <p:cNvPr id="6" name="Shape 4"/>
          <p:cNvSpPr/>
          <p:nvPr/>
        </p:nvSpPr>
        <p:spPr>
          <a:xfrm>
            <a:off x="640080" y="146304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13294B"/>
          </a:solidFill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11091672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KHÔNG full fine-tuning.  </a:t>
            </a: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CHỈ dùng LoRA / QLoRA (4-bit / 8-bit).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36392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1143000" y="3063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Reproduce trước, cải tiến sau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872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Mọi cải tiến so với baseline đã tái lập, cùng điều kiện.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8803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3136392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 txBox="1"/>
          <p:nvPr/>
        </p:nvSpPr>
        <p:spPr>
          <a:xfrm>
            <a:off x="6858000" y="3063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Cùng split · seed · hardware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353872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Mọi so sánh dưới điều kiện y hệt để công bằng.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9432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 txBox="1"/>
          <p:nvPr/>
        </p:nvSpPr>
        <p:spPr>
          <a:xfrm>
            <a:off x="1143000" y="45262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Efficiency là ràng buộc thiết kế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00176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VRAM &amp; thời gian train/inference cho reproducibility.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3434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76200" dist="254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599432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2" name="Text 20"/>
          <p:cNvSpPr txBox="1"/>
          <p:nvPr/>
        </p:nvSpPr>
        <p:spPr>
          <a:xfrm>
            <a:off x="6858000" y="45262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Runtime: Kaggle P100 16GB (đề xuất)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5001768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chưa chốt — chờ xác nhận với thầy Đức.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Quyết định cần hội đồng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32004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28800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Xác nhận baseline Qwen2.5-VL-3B-Instruct?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566928" cy="56692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8" name="Text 6"/>
          <p:cNvSpPr txBox="1"/>
          <p:nvPr/>
        </p:nvSpPr>
        <p:spPr>
          <a:xfrm>
            <a:off x="868680" y="26974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GPU: Kaggle / Colab Pro / server trường?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566928" cy="56692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1" name="Text 9"/>
          <p:cNvSpPr txBox="1"/>
          <p:nvPr/>
        </p:nvSpPr>
        <p:spPr>
          <a:xfrm>
            <a:off x="868680" y="3566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566160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 phép tách val (seed = 42) khi mirror thiếu?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8680" y="4434840"/>
            <a:ext cx="566928" cy="56692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4" name="Text 12"/>
          <p:cNvSpPr txBox="1"/>
          <p:nvPr/>
        </p:nvSpPr>
        <p:spPr>
          <a:xfrm>
            <a:off x="868680" y="44348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434840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Xác nhận các ô Gap × Paper ⚠ (L7, L8, L10)?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Cảm ơn thầy — Nhóm ViVQA-VLM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5536</Words>
  <Application>WPS Presentation</Application>
  <PresentationFormat>On-screen Show (16:9)</PresentationFormat>
  <Paragraphs>473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Phạm Lê Huy Hoàng</cp:lastModifiedBy>
  <cp:revision>2</cp:revision>
  <dcterms:created xsi:type="dcterms:W3CDTF">2026-09-17T06:39:00Z</dcterms:created>
  <dcterms:modified xsi:type="dcterms:W3CDTF">2026-09-17T06:47:09Z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27B320AD93B046F8A1B71443C068DF46_12</vt:lpwstr>
  </property>
  <property fmtid="{D5CDD505-2E9C-101B-9397-08002B2CF9AE}" pid="3" name="KSOProductBuildVer">
    <vt:lpwstr>2057-12.2.0.23206</vt:lpwstr>
  </property>
</Properties>
</file>