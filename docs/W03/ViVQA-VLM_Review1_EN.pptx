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 Pairs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ViVQA</c:v>
                  </c:pt>
                  <c:pt idx="1">
                    <c:v>ViTextVQA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15000</c:v>
                </c:pt>
                <c:pt idx="1">
                  <c:v>50342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C07C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A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ViVQA</c:v>
                  </c:pt>
                  <c:pt idx="1">
                    <c:v>ViTextVQA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10328</c:v>
                </c:pt>
                <c:pt idx="1">
                  <c:v>16762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A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A9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67A9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234440"/>
            <a:ext cx="502920" cy="100584"/>
          </a:xfrm>
          <a:prstGeom prst="roundRect">
            <a:avLst>
              <a:gd name="adj" fmla="val 45455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ViVQA-VLM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286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Vietnamese Visual Question Answering using Vision-Language Models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·  Scope of Report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206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 </a:t>
            </a:r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Ngọc Minh Đức · Phạm Minh Trí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572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Lê Huy Hoàng (Leader) · Văn Quang Trường · Trần Quốc Huân · Hồ Đắc Toàn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GFA26AI35  ·  FPT University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Vietnamese Image  +  ❓ Vietnamese 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A93"/>
                </a:solidFill>
              </a:rPr>
              <a:t>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0E7C86"/>
          </a:solidFill>
          <a:ln/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Vision-Language Model (VLM)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730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A93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206240"/>
            <a:ext cx="448056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Vietnamese Answer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737360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challenges for Vietnamese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0" y="2240280"/>
            <a:ext cx="5897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70448" y="25511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2240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Scene-text / OCR   </a:t>
            </a:r>
            <a:pPr indent="0" marL="0">
              <a:buNone/>
            </a:pPr>
            <a:r>
              <a:rPr lang="en-US" sz="13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text inside images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0" y="3154680"/>
            <a:ext cx="5897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34655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3154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Diacritics   </a:t>
            </a:r>
            <a:pPr indent="0" marL="0">
              <a:buNone/>
            </a:pPr>
            <a:r>
              <a:rPr lang="en-US" sz="13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tone marks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0" y="4069080"/>
            <a:ext cx="5897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70448" y="43799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0690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   </a:t>
            </a:r>
            <a:pPr indent="0" marL="0">
              <a:buNone/>
            </a:pPr>
            <a:r>
              <a:rPr lang="en-US" sz="13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Vietnamese–English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0" y="4983480"/>
            <a:ext cx="5897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70448" y="529437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126480" y="4983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  </a:t>
            </a:r>
            <a:pPr indent="0" marL="0">
              <a:buNone/>
            </a:pPr>
            <a:r>
              <a:rPr lang="en-US" sz="13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but wrong answers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English-centric pretraining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VLMs are pretrained mostly on English data.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LLaVA-1.5 (Liu 2024)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03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Vietnamese VQA, esp. scene-text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 on OCR, diacritics, code-switching.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ViTextVQA (Nguyen 2024)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0E7C86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270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 ·  FOCUS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PEFT for Vietnamese VLMs under-explored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DE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study applies LoRA/QLoRA to VLMs for Vietnamese VQA — our focus.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Absence — Literature Matrix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3035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270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572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 not measured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POPE-style hallucination benchmark on Vietnamese VQA.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POPE (Li 2023)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11096"/>
            <a:ext cx="868680" cy="429768"/>
          </a:xfrm>
          <a:prstGeom prst="roundRect">
            <a:avLst>
              <a:gd name="adj" fmla="val 12766"/>
            </a:avLst>
          </a:prstGeom>
          <a:solidFill>
            <a:srgbClr val="1223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69164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does a zero-shot VLM get on Vietnamese VQA?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770632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990088"/>
            <a:ext cx="868680" cy="429768"/>
          </a:xfrm>
          <a:prstGeom prst="roundRect">
            <a:avLst>
              <a:gd name="adj" fmla="val 12766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90088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770632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PEFT (QLoRA) improve over zero-shot?  (central)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849624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69080"/>
            <a:ext cx="868680" cy="429768"/>
          </a:xfrm>
          <a:prstGeom prst="roundRect">
            <a:avLst>
              <a:gd name="adj" fmla="val 12766"/>
            </a:avLst>
          </a:prstGeom>
          <a:solidFill>
            <a:srgbClr val="1223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069080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849624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OCR-enhanced prompting help scene-text?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928616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148072"/>
            <a:ext cx="868680" cy="429768"/>
          </a:xfrm>
          <a:prstGeom prst="roundRect">
            <a:avLst>
              <a:gd name="adj" fmla="val 12766"/>
            </a:avLst>
          </a:prstGeom>
          <a:solidFill>
            <a:srgbClr val="1223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148072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928616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PEFT affect hallucination?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(H1–H8)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predictions — thresholds inherited from literature, not yet measured on Vietnamese.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0352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benefit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9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QLoRA ≥ +5 EM/VQA-Acc over zero-shot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4-bit keeps ≥97% perf, VRAM −40%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03520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993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59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LoRA all-linear &gt; attention-only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Rank saturates at r ≤ 16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310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 Shared adapter ≥ per-dataset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530352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813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 OCR gives ≥ +3 ANLS (synergy)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54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  Vietnamese format-prompt ≥ +3 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4123944"/>
            <a:ext cx="5303520" cy="1069848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42885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654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 PEFT does not increase hallucination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120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647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ViVQA  (general)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github.com/kh4nh12/ViVQA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QA · 10,328 images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99.83% answers ≤ 3 words → metric: EM / VQA-Acc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51206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547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ViTextVQA  (scene-text)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86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HF nhonhoccode/ViTextVQA · mirror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50,342 QA · 16,762 images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262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4.18 words, OCR-dependent → metric: ANLS · official split pending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6002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scale: QA vs Images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035040" y="2011680"/>
          <a:ext cx="55321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real analysis (seed 42). ViTextVQA on mirror; official numbers to be finalized on official split.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&amp; Baseline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strategy — PEFT only, no full fine-tuning.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D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· G3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NF4 all-linear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7180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H7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format-prompt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74920" y="18288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· H6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OCR-enhanced prompting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5236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45236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adapter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55480" y="182880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92640" y="1993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286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520440"/>
            <a:ext cx="58521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(reproduce first)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023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Qwen2.5-VL-3B-Instruct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pending supervisor confirmation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tooling · runs on Colab free T4 · Florence-2 as backup.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FT of a 3B model ≈ 48GB VRAM; QLoRA ≈ 6–8GB → fits T4.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3520440"/>
            <a:ext cx="4846320" cy="2331720"/>
          </a:xfrm>
          <a:prstGeom prst="roundRect">
            <a:avLst>
              <a:gd name="adj" fmla="val 2353"/>
            </a:avLst>
          </a:prstGeom>
          <a:solidFill>
            <a:srgbClr val="12233B"/>
          </a:solidFill>
          <a:ln/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94944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(W4)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069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38.3%</a:t>
            </a:r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800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55.9%</a:t>
            </a:r>
            <a:pPr indent="0" marL="0">
              <a:buNone/>
            </a:pPr>
            <a:r>
              <a:rPr lang="en-US" sz="18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ANLS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5559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· ViTextVQA mirror · n=300 · seed 42 — reference point.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4137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🔬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contribution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295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validated PEFT improvement over baseline, with ablation + error + hallucination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3880" y="1920240"/>
            <a:ext cx="34137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02480" y="21945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602480" y="29718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prototype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02480" y="3657600"/>
            <a:ext cx="295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Vietnamese image, ask in Vietnamese, get an answer — with confidence + OCR/evidence.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3400" y="1920240"/>
            <a:ext cx="34137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82000" y="21945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📦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382000" y="297180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+ reproducibility package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3657600"/>
            <a:ext cx="295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LoRA/QLoRA adapters, configs, inference script, experiment logs.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Value &amp; Significance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Practical value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" y="25603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07C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404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signage, labels, prices from Vietnamese images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6968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07C2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278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technology for the visually impaired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" y="4206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07C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050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Vietnamese documents, menus, forms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968" y="5029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07C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48737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 educational tool — image-based Q&amp;A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03520" cy="4206240"/>
          </a:xfrm>
          <a:prstGeom prst="roundRect">
            <a:avLst>
              <a:gd name="adj" fmla="val 13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3796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Scientific significance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56248" y="25603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24048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PEFT for Vietnamese VLMs — under-explored (to our knowledge)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56248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32278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measurement for Vietnamese VQA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56248" y="4206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12280" y="40507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adaptation under a strict parameter budget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56248" y="5029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487375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protocol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15-Week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017520"/>
            <a:ext cx="9875520" cy="0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37944" y="2889504"/>
            <a:ext cx="256032" cy="256032"/>
          </a:xfrm>
          <a:prstGeom prst="ellipse">
            <a:avLst/>
          </a:prstGeom>
          <a:solidFill>
            <a:srgbClr val="C07C2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7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0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81144" y="2889504"/>
            <a:ext cx="256032" cy="256032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862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24344" y="2889504"/>
            <a:ext cx="256032" cy="256032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Review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 done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067544" y="2889504"/>
            <a:ext cx="256032" cy="256032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W15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+ package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(planned for W4–W5) was reproduced ahead of schedule.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large / OOM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691640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4-bit, 3B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892808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E1F1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09560" y="1892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(3B on T4 4-bit)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642616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64261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licence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642616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licence check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2843784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6ECD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09560" y="28437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ViVQA done; ViTextVQA mirror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593592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59359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hard to reproduce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3593592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repo, fixed seed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3794760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6EC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37947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reproduced on mirror (official pending)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544568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54456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Colab interruption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544568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Drive, frequent checkpoints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4745736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09560" y="47457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Colab Pro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5495544"/>
            <a:ext cx="10972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549554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OCR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251960" y="5495544"/>
            <a:ext cx="3474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PaddleOCR ↔ VietOCR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0" y="5696712"/>
            <a:ext cx="356616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909560" y="56967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6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prompt fallback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Constraint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PEFT only</a:t>
            </a:r>
            <a:pPr indent="0" marL="0">
              <a:buNone/>
            </a:pPr>
            <a:r>
              <a:rPr lang="en-US" sz="4000" b="1" dirty="0">
                <a:solidFill>
                  <a:srgbClr val="9FB3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—  no full fine-tuning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36393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as a design constraint   </a:t>
            </a:r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on Colab free/Pro T4 — QLoRA 4-bit/8-bit only.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5994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45262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first, improve later   </a:t>
            </a:r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exactly one baseline before any improvement.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555955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   </a:t>
            </a:r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seed, hardware, hyperparameters, time — for reproducibility.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503170" cy="2560320"/>
          </a:xfrm>
          <a:prstGeom prst="roundRect">
            <a:avLst>
              <a:gd name="adj" fmla="val 2192"/>
            </a:avLst>
          </a:prstGeom>
          <a:solidFill>
            <a:srgbClr val="0E7C86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0185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0185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3756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Lê Huy Hoàng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88620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D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SE182670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06240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/ Training · Leader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7570" y="2103120"/>
            <a:ext cx="2503170" cy="2560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3395" y="242316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03395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509010" y="333756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Đắc Toàn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09010" y="388620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SE183249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09010" y="4206240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/ Baseline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0780" y="2103120"/>
            <a:ext cx="2503170" cy="2560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6605" y="242316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26605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332220" y="333756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Quốc Huân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332220" y="388620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SE193642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332220" y="4206240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OCR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3990" y="2103120"/>
            <a:ext cx="2503170" cy="25603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CE3EB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8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49815" y="2423160"/>
            <a:ext cx="731520" cy="73152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49815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155430" y="3337560"/>
            <a:ext cx="2320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Quang Trường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55430" y="388620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SE182458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55430" y="4206240"/>
            <a:ext cx="23202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/ Deploy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331720"/>
            <a:ext cx="502920" cy="100584"/>
          </a:xfrm>
          <a:prstGeom prst="roundRect">
            <a:avLst>
              <a:gd name="adj" fmla="val 45455"/>
            </a:avLst>
          </a:prstGeom>
          <a:solidFill>
            <a:srgbClr val="0E7C8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2514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you, reviewers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 to improve the project.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ViVQA-VLM  ·  Review 1  ·  Group GFA26AI35  ·  FPT University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ViVQA-VLM — Review 1</dc:title>
  <dc:subject>PptxGenJS Presentation</dc:subject>
  <dc:creator>ViVQA-VLM</dc:creator>
  <cp:lastModifiedBy>ViVQA-VLM</cp:lastModifiedBy>
  <cp:revision>1</cp:revision>
  <dcterms:created xsi:type="dcterms:W3CDTF">2026-09-23T22:13:40Z</dcterms:created>
  <dcterms:modified xsi:type="dcterms:W3CDTF">2026-09-23T22:13:40Z</dcterms:modified>
</cp:coreProperties>
</file>