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8016"/>
            <a:ext cx="12188952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920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1 · PAPER REVIEW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Đọc &amp; tổng hợp tài liệu nền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6118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reference papers + nền tảng PEFT — VQA · Vision-Language Models · Vietnamese benchmarks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937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paper trả lời: “What can we use for our project?”  (Master §14)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852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ViVQA-VLM · NLP · Supervisor: Assoc.Prof. Đặng Ngọc Minh Đức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 TẮC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Cách đọc &amp; kỷ luật verify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Mỗi paper phải trả lời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9572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377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 &amp; động cơ là gì?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9260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9077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pháp cốt lõi?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4564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43814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cách đánh giá?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98678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96849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chính (số) — nếu đọc được nguồn.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51713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4988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 chế?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504748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5029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dùng được gì cho ViVQA-VLM?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1783080"/>
            <a:ext cx="5285232" cy="3977640"/>
          </a:xfrm>
          <a:prstGeom prst="roundRect">
            <a:avLst>
              <a:gd name="adj" fmla="val 1839"/>
            </a:avLst>
          </a:prstGeom>
          <a:solidFill>
            <a:srgbClr val="E4EDF3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9224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Kỷ luật số liệu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24231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0/10 PDF gốc trong repo</a:t>
            </a:r>
            <a:pPr indent="0" marL="0">
              <a:buNone/>
            </a:pPr>
            <a:r>
              <a:rPr lang="en-US" sz="13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ở thời điểm này → mọi </a:t>
            </a:r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benchmark = pending</a:t>
            </a:r>
            <a:pPr indent="0" marL="0">
              <a:buNone/>
            </a:pPr>
            <a:r>
              <a:rPr lang="en-US" sz="13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cho tới khi đọc PDF và ghi page-cite.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32461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 slide này chỉ nêu đóng góp định tính &amp; phương pháp (đã thiết lập rộng rãi). Con số cụ thể để trống có chủ đích — điền sau khi verify.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4297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Ngoại lệ đã verify: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45720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SV3 Paper Review đã fact-check (số PEFT core đã kiểm); kích thước dataset = đo thật trong run W2 (seed 42).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ViVQA-VLM · Week 1 — Paper Review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Bản đồ 10 paper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53384" cy="1280160"/>
          </a:xfrm>
          <a:prstGeom prst="roundRect">
            <a:avLst>
              <a:gd name="adj" fmla="val 5714"/>
            </a:avLst>
          </a:prstGeom>
          <a:solidFill>
            <a:srgbClr val="EEF3F7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57400"/>
            <a:ext cx="128016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984248"/>
            <a:ext cx="2813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68296"/>
            <a:ext cx="2996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BLIP-2 · LLaVA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79192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VLM nền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67784" y="1783080"/>
            <a:ext cx="3453384" cy="1280160"/>
          </a:xfrm>
          <a:prstGeom prst="roundRect">
            <a:avLst>
              <a:gd name="adj" fmla="val 5714"/>
            </a:avLst>
          </a:prstGeom>
          <a:solidFill>
            <a:srgbClr val="EEF3F7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6384" y="2057400"/>
            <a:ext cx="128016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24984" y="1984248"/>
            <a:ext cx="2813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Benchmarks (VN)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96384" y="2368296"/>
            <a:ext cx="2996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ViVQA · ViTextVQA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596384" y="2679192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bộ mục tiêu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95488" y="1783080"/>
            <a:ext cx="3453384" cy="1280160"/>
          </a:xfrm>
          <a:prstGeom prst="roundRect">
            <a:avLst>
              <a:gd name="adj" fmla="val 5714"/>
            </a:avLst>
          </a:prstGeom>
          <a:solidFill>
            <a:srgbClr val="EEF3F7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4088" y="2057400"/>
            <a:ext cx="128016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52688" y="1984248"/>
            <a:ext cx="2813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candidates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24088" y="2368296"/>
            <a:ext cx="2996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Florence-2 · Qwen2.5-VL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324088" y="2679192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1 để reproduce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319272"/>
            <a:ext cx="3453384" cy="1280160"/>
          </a:xfrm>
          <a:prstGeom prst="roundRect">
            <a:avLst>
              <a:gd name="adj" fmla="val 5714"/>
            </a:avLst>
          </a:prstGeom>
          <a:solidFill>
            <a:srgbClr val="EEF3F7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3593592"/>
            <a:ext cx="128016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97280" y="3520440"/>
            <a:ext cx="2813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Recent methods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3904488"/>
            <a:ext cx="2996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VN-VQA T+Conv · Florence-VL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215384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mới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67784" y="3319272"/>
            <a:ext cx="3453384" cy="1280160"/>
          </a:xfrm>
          <a:prstGeom prst="roundRect">
            <a:avLst>
              <a:gd name="adj" fmla="val 5714"/>
            </a:avLst>
          </a:prstGeom>
          <a:solidFill>
            <a:srgbClr val="EEF3F7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96384" y="3593592"/>
            <a:ext cx="128016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824984" y="3520440"/>
            <a:ext cx="2813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Hallucination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596384" y="3904488"/>
            <a:ext cx="2996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POPE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96384" y="4215384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độ tin cậy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95488" y="3319272"/>
            <a:ext cx="3453384" cy="1280160"/>
          </a:xfrm>
          <a:prstGeom prst="roundRect">
            <a:avLst>
              <a:gd name="adj" fmla="val 5714"/>
            </a:avLst>
          </a:prstGeom>
          <a:solidFill>
            <a:srgbClr val="EEF3F7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24088" y="3593592"/>
            <a:ext cx="128016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552688" y="3520440"/>
            <a:ext cx="2813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Survey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324088" y="3904488"/>
            <a:ext cx="2996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for Vision Tasks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324088" y="4215384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vị lĩnh vực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E4EDF3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68680" y="56144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PEFT core (SV3, review riêng):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0" y="5614416"/>
            <a:ext cx="6748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· QLoRA · VL-Adapter — chính là các kỹ thuật thích nghi ta sẽ dùng (chi tiết slide 7).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ViVQA-VLM · Week 1 — Paper Review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VLM NỀN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— BLIP-2 &amp; LLaVA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71516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5271516" cy="4572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783080"/>
            <a:ext cx="3808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BLIP-2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494276" y="17830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AE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et al.</a:t>
            </a:r>
            <a:endParaRPr lang="en-US" sz="950" dirty="0"/>
          </a:p>
          <a:p>
            <a:pPr algn="r" indent="0" marL="0">
              <a:buNone/>
            </a:pPr>
            <a:r>
              <a:rPr lang="en-US" sz="950" i="1" dirty="0">
                <a:solidFill>
                  <a:srgbClr val="AE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ICML 2023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350008"/>
            <a:ext cx="4869180" cy="1689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Q-Former làm cầu nối giữa một image encoder ĐÓNG BĂNG và một LLM ĐÓNG BĂNG; chỉ huấn luyện phần cầu nối nhẹ. Học biểu diễn ảnh–ngôn ngữ theo 2 giai đoạn.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4572000"/>
            <a:ext cx="48691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Dùng cho ta: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4818888"/>
            <a:ext cx="48691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Ý tưởng “đóng băng backbone + bridge nhẹ” đồng hướng với ngân sách PEFT của ta.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41248" y="5422392"/>
            <a:ext cx="1570025" cy="274320"/>
          </a:xfrm>
          <a:prstGeom prst="roundRect">
            <a:avLst>
              <a:gd name="adj" fmla="val 16667"/>
            </a:avLst>
          </a:prstGeom>
          <a:solidFill>
            <a:srgbClr val="9AA7B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" y="5422392"/>
            <a:ext cx="15700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pending PDF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77356" y="1783080"/>
            <a:ext cx="5271516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7356" y="1783080"/>
            <a:ext cx="5271516" cy="4572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78524" y="1783080"/>
            <a:ext cx="3808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LLaVA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131552" y="17830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AE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et al.</a:t>
            </a:r>
            <a:endParaRPr lang="en-US" sz="950" dirty="0"/>
          </a:p>
          <a:p>
            <a:pPr algn="r" indent="0" marL="0">
              <a:buNone/>
            </a:pPr>
            <a:r>
              <a:rPr lang="en-US" sz="950" i="1" dirty="0">
                <a:solidFill>
                  <a:srgbClr val="AE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2023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478524" y="2350008"/>
            <a:ext cx="4869180" cy="1689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Instruction Tuning: nối vision encoder (CLIP) với LLM qua một projection, huấn luyện trên dữ liệu instruction. Nền của LLaVA-1.5 (mảng SV3).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78524" y="4572000"/>
            <a:ext cx="48691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Dùng cho ta: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78524" y="4818888"/>
            <a:ext cx="48691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thức instruction-tuning cho VLM; điểm khởi đầu để hiểu adaptation cho hội thoại đa phương thức.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78524" y="5422392"/>
            <a:ext cx="1570025" cy="274320"/>
          </a:xfrm>
          <a:prstGeom prst="roundRect">
            <a:avLst>
              <a:gd name="adj" fmla="val 16667"/>
            </a:avLst>
          </a:prstGeom>
          <a:solidFill>
            <a:srgbClr val="9AA7B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78524" y="5422392"/>
            <a:ext cx="15700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pending PDF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ViVQA-VLM · Week 1 — Paper Review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BỘ DỮ LIỆU MỤC TIÊU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Benchmarks (VN) — ViVQA &amp; ViTextVQA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71516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5271516" cy="4572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783080"/>
            <a:ext cx="3808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ViVQA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494276" y="17830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AE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 et al.</a:t>
            </a:r>
            <a:endParaRPr lang="en-US" sz="950" dirty="0"/>
          </a:p>
          <a:p>
            <a:pPr algn="r" indent="0" marL="0">
              <a:buNone/>
            </a:pPr>
            <a:r>
              <a:rPr lang="en-US" sz="950" i="1" dirty="0">
                <a:solidFill>
                  <a:srgbClr val="AE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PACLIC 2021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350008"/>
            <a:ext cx="4869180" cy="1689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Visual Question Answering tiếng Việt tổng quát — câu hỏi chung trên ảnh. Đo thật trong run W2 (seed 42): 10,328 ảnh / 15,000 QA.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4572000"/>
            <a:ext cx="48691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Dùng cho ta: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4818888"/>
            <a:ext cx="48691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GENERAL của ta. Metric official &amp; split chuẩn: pending (mirror thiếu val).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41248" y="5422392"/>
            <a:ext cx="2632558" cy="274320"/>
          </a:xfrm>
          <a:prstGeom prst="roundRect">
            <a:avLst>
              <a:gd name="adj" fmla="val 16667"/>
            </a:avLst>
          </a:prstGeom>
          <a:solidFill>
            <a:srgbClr val="2E7D4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" y="5422392"/>
            <a:ext cx="26325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 measured ✓ · paper: pending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77356" y="1783080"/>
            <a:ext cx="5271516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7356" y="1783080"/>
            <a:ext cx="5271516" cy="4572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78524" y="1783080"/>
            <a:ext cx="3808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ViTextVQA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131552" y="17830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AE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Nguyen et al.</a:t>
            </a:r>
            <a:endParaRPr lang="en-US" sz="950" dirty="0"/>
          </a:p>
          <a:p>
            <a:pPr algn="r" indent="0" marL="0">
              <a:buNone/>
            </a:pPr>
            <a:r>
              <a:rPr lang="en-US" sz="950" i="1" dirty="0">
                <a:solidFill>
                  <a:srgbClr val="AE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· ESWA 2025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478524" y="2350008"/>
            <a:ext cx="4869180" cy="1689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VQA scene-text tiếng Việt quy mô lớn — cần ĐỌC chữ trong ảnh (OCR). Đo thật: 15,086 ảnh / 45,187 QA, đáp án dài hơn nhiều ViVQA.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78524" y="4572000"/>
            <a:ext cx="48691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Dùng cho ta: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78524" y="4818888"/>
            <a:ext cx="48691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SCENE-TEXT của ta (OCR, diacritics). Metric/split official: pending PDF.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78524" y="5422392"/>
            <a:ext cx="2632558" cy="274320"/>
          </a:xfrm>
          <a:prstGeom prst="roundRect">
            <a:avLst>
              <a:gd name="adj" fmla="val 16667"/>
            </a:avLst>
          </a:prstGeom>
          <a:solidFill>
            <a:srgbClr val="2E7D4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78524" y="5422392"/>
            <a:ext cx="26325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 measured ✓ · paper: pending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ViVQA-VLM · Week 1 — Paper Review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ĐÚNG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candidates — Florence-2 &amp; Qwen2.5-VL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71516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5271516" cy="4572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783080"/>
            <a:ext cx="3808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Florence-2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494276" y="17830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AE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 et al.</a:t>
            </a:r>
            <a:endParaRPr lang="en-US" sz="950" dirty="0"/>
          </a:p>
          <a:p>
            <a:pPr algn="r" indent="0" marL="0">
              <a:buNone/>
            </a:pPr>
            <a:r>
              <a:rPr lang="en-US" sz="950" i="1" dirty="0">
                <a:solidFill>
                  <a:srgbClr val="AE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CVPR 2024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350008"/>
            <a:ext cx="4869180" cy="1689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Biểu diễn hợp nhất theo prompt cho nhiều tác vụ thị giác (seq-to-seq). Mô hình gọn, đa nhiệm.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4572000"/>
            <a:ext cx="48691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Dùng cho ta: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4818888"/>
            <a:ext cx="48691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viên baseline nhẹ, hợp free-tier. Có thể reproduce nếu Qwen quá nặng.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41248" y="5422392"/>
            <a:ext cx="1570025" cy="274320"/>
          </a:xfrm>
          <a:prstGeom prst="roundRect">
            <a:avLst>
              <a:gd name="adj" fmla="val 16667"/>
            </a:avLst>
          </a:prstGeom>
          <a:solidFill>
            <a:srgbClr val="9AA7B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" y="5422392"/>
            <a:ext cx="15700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pending PDF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77356" y="1783080"/>
            <a:ext cx="5271516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7356" y="1783080"/>
            <a:ext cx="5271516" cy="4572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78524" y="1783080"/>
            <a:ext cx="3808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Qwen2.5-VL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131552" y="17830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AE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 et al.</a:t>
            </a:r>
            <a:endParaRPr lang="en-US" sz="950" dirty="0"/>
          </a:p>
          <a:p>
            <a:pPr algn="r" indent="0" marL="0">
              <a:buNone/>
            </a:pPr>
            <a:r>
              <a:rPr lang="en-US" sz="950" i="1" dirty="0">
                <a:solidFill>
                  <a:srgbClr val="AE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478524" y="2350008"/>
            <a:ext cx="4869180" cy="1689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mở, đa ngôn ngữ mạnh, hiểu tài liệu/OCR tốt; có bản 3B/7B. Đề xuất baseline: Qwen2.5-VL-3B.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78524" y="4572000"/>
            <a:ext cx="48691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Dùng cho ta: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78524" y="4818888"/>
            <a:ext cx="48691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 ngôn ngữ + OCR hợp scene-text tiếng Việt. Ràng buộc model đã được thầy Đức nới.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78524" y="5422392"/>
            <a:ext cx="1570025" cy="274320"/>
          </a:xfrm>
          <a:prstGeom prst="roundRect">
            <a:avLst>
              <a:gd name="adj" fmla="val 16667"/>
            </a:avLst>
          </a:prstGeom>
          <a:solidFill>
            <a:srgbClr val="9AA7B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78524" y="5422392"/>
            <a:ext cx="15700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pending PDF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ViVQA-VLM · Week 1 — Paper Review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THUẬT CỦA RECORD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PEFT core (SV3) — LoRA · QLoRA · VL-Adapter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2904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3422904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2234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LoRA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919984" y="178308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D3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 et al.</a:t>
            </a:r>
            <a:endParaRPr lang="en-US" sz="900" dirty="0"/>
          </a:p>
          <a:p>
            <a:pPr algn="r" indent="0" marL="0">
              <a:buNone/>
            </a:pPr>
            <a:r>
              <a:rPr lang="en-US" sz="900" i="1" dirty="0">
                <a:solidFill>
                  <a:srgbClr val="D3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 2022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50008"/>
            <a:ext cx="3057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adapter hạng thấp (rank-r) vào ma trận trọng số; đóng băng base, chỉ train phần nhỏ → ít tham số huấn luyện hơn nhiều bậc.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023360"/>
            <a:ext cx="3057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Dùng cho ta: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270248"/>
            <a:ext cx="3057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của thích nghi PEFT.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3024" y="1783080"/>
            <a:ext cx="3422904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3024" y="1783080"/>
            <a:ext cx="3422904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65904" y="1783080"/>
            <a:ext cx="2234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QLoRA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662928" y="178308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D3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Dettmers</a:t>
            </a:r>
            <a:endParaRPr lang="en-US" sz="900" dirty="0"/>
          </a:p>
          <a:p>
            <a:pPr algn="r" indent="0" marL="0">
              <a:buNone/>
            </a:pPr>
            <a:r>
              <a:rPr lang="en-US" sz="900" i="1" dirty="0">
                <a:solidFill>
                  <a:srgbClr val="D3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2023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565904" y="2350008"/>
            <a:ext cx="3057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 4-bit (NF4) + LoRA + paged optimizer → finetune model lớn trên 1 GPU phổ thông.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65904" y="4023360"/>
            <a:ext cx="3057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Dùng cho ta: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65904" y="4270248"/>
            <a:ext cx="3057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Khớp ngân sách Kaggle P100 16GB của ta.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25968" y="1783080"/>
            <a:ext cx="3422904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25968" y="1783080"/>
            <a:ext cx="3422904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08848" y="1783080"/>
            <a:ext cx="2234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VL-Adapter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0405872" y="178308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D3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Sung et al.</a:t>
            </a:r>
            <a:endParaRPr lang="en-US" sz="900" dirty="0"/>
          </a:p>
          <a:p>
            <a:pPr algn="r" indent="0" marL="0">
              <a:buNone/>
            </a:pPr>
            <a:r>
              <a:rPr lang="en-US" sz="900" i="1" dirty="0">
                <a:solidFill>
                  <a:srgbClr val="D3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CVPR 2022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308848" y="2350008"/>
            <a:ext cx="3057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Adapter-based PEFT riêng cho tác vụ vision-language; adapter nhỏ tiệm cận full-FT.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308848" y="4023360"/>
            <a:ext cx="3057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Dùng cho ta: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308848" y="4270248"/>
            <a:ext cx="3057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Tiền lệ trực tiếp cho PEFT trên VL.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5212080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E4EDF3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68680" y="53400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cốt lõi (novelty):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" y="5632704"/>
            <a:ext cx="10451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paper nào trong 4 paper PEFT (LoRA, QLoRA, VL-Adapter, LLaVA-1.5) kiểm chứng PEFT/QLoRA cho VLM trên ngôn ngữ có thanh điệu tài nguyên thấp hay scene-text phi tiếng Anh.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ViVQA-VLM · Week 1 — Paper Review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ĐỘ TIN CẬY · G4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Hallucination — POPE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58368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6583680" cy="50292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8308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POPE — Polling-based Object Probing Evaluation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42316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et al., EMNLP 2023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788920"/>
            <a:ext cx="6126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object hallucination trong LVLM bằng các câu hỏi thăm dò yes/no về sự hiện diện của object trong ảnh — thay vì chấm caption tự do. Cho phép đo tỉ lệ hallucinate một cách có kiểm soát.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16052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Dùng cho ta: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43484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khung cho phần hallucination analysis BẮT BUỘC (G4); có thể phỏng theo cho object/text hallucinate trên ảnh tiếng Việt.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498080" y="1783080"/>
            <a:ext cx="4050792" cy="3977640"/>
          </a:xfrm>
          <a:prstGeom prst="roundRect">
            <a:avLst>
              <a:gd name="adj" fmla="val 1839"/>
            </a:avLst>
          </a:prstGeom>
          <a:solidFill>
            <a:srgbClr val="E4EDF3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26680" y="1965960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Vì sao quan trọng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726680" y="246888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955280" y="2395728"/>
            <a:ext cx="3227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= câu trả lời trôi chảy nhưng SAI.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26680" y="324612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955280" y="3172968"/>
            <a:ext cx="3227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 một trong 4 Research Gap (G4).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26680" y="402336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0" y="3950208"/>
            <a:ext cx="3227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phải báo cáo tỉ lệ + loại hallucinate.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26680" y="480060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955280" y="4727448"/>
            <a:ext cx="3227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cụ thể POPE: pending PDF.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ViVQA-VLM · Week 1 — Paper Review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MỚI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Recent methods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71516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5271516" cy="4572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783080"/>
            <a:ext cx="3808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VN-VQA Transformer+Conv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494276" y="17830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AE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Nguyen et al.</a:t>
            </a:r>
            <a:endParaRPr lang="en-US" sz="950" dirty="0"/>
          </a:p>
          <a:p>
            <a:pPr algn="r" indent="0" marL="0">
              <a:buNone/>
            </a:pPr>
            <a:r>
              <a:rPr lang="en-US" sz="950" i="1" dirty="0">
                <a:solidFill>
                  <a:srgbClr val="AE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Comp.&amp;Elec.Eng. 2024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350008"/>
            <a:ext cx="4869180" cy="1689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pháp VQA tiếng Việt tích hợp đặc trưng transformer và convolutional. Hướng tiếp cận đặc thù cho tiếng Việt.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4572000"/>
            <a:ext cx="48691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Dùng cho ta: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4818888"/>
            <a:ext cx="48691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so sánh cho VN VQA; ý tưởng kết hợp đặc trưng. Số liệu: pending PDF.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41248" y="5422392"/>
            <a:ext cx="1570025" cy="274320"/>
          </a:xfrm>
          <a:prstGeom prst="roundRect">
            <a:avLst>
              <a:gd name="adj" fmla="val 16667"/>
            </a:avLst>
          </a:prstGeom>
          <a:solidFill>
            <a:srgbClr val="9AA7B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" y="5422392"/>
            <a:ext cx="15700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pending PDF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77356" y="1783080"/>
            <a:ext cx="5271516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7356" y="1783080"/>
            <a:ext cx="5271516" cy="4572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78524" y="1783080"/>
            <a:ext cx="3808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Florence-VL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131552" y="17830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AE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et al.</a:t>
            </a:r>
            <a:endParaRPr lang="en-US" sz="950" dirty="0"/>
          </a:p>
          <a:p>
            <a:pPr algn="r" indent="0" marL="0">
              <a:buNone/>
            </a:pPr>
            <a:r>
              <a:rPr lang="en-US" sz="950" i="1" dirty="0">
                <a:solidFill>
                  <a:srgbClr val="AE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CVPR 2025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478524" y="2350008"/>
            <a:ext cx="4869180" cy="1689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Tăng cường VLM bằng generative vision encoder + depth-breadth fusion để hợp nhất đặc trưng thị giác đa tầng.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78524" y="4572000"/>
            <a:ext cx="48691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Dùng cho ta: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78524" y="4818888"/>
            <a:ext cx="48691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cải tiến biểu diễn thị giác; tham khảo nếu mở rộng ngoài baseline.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78524" y="5422392"/>
            <a:ext cx="1570025" cy="274320"/>
          </a:xfrm>
          <a:prstGeom prst="roundRect">
            <a:avLst>
              <a:gd name="adj" fmla="val 16667"/>
            </a:avLst>
          </a:prstGeom>
          <a:solidFill>
            <a:srgbClr val="9AA7B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78524" y="5422392"/>
            <a:ext cx="15700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pending PDF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ViVQA-VLM · Week 1 — Paper Review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VỊ LĨNH VỰC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Survey — VLMs for Vision Tasks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10908792" cy="50292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Vision-Language Models for Vision Tasks: A Survey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622792" y="1783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AE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 et al., IEEE TPAMI 2024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46888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Khảo sát toàn cảnh &amp; phân loại (taxonomy) các Vision-Language Models và ứng dụng của chúng cho tác vụ thị giác — pretraining, transfer, kiến trúc.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4023360"/>
            <a:ext cx="10908792" cy="1737360"/>
          </a:xfrm>
          <a:prstGeom prst="roundRect">
            <a:avLst>
              <a:gd name="adj" fmla="val 4211"/>
            </a:avLst>
          </a:prstGeom>
          <a:solidFill>
            <a:srgbClr val="E4EDF3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41879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Dùng cho ta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52628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đồ để định vị đề tài trong bức tranh VLM; nguồn để mở rộng related work và bổ sung reference phụ; giúp lập luận vì sao PEFT cho VLM tiếng Việt là khoảng trống đáng làm.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ViVQA-VLM · Week 1 — Paper Review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ĐỌC PAPER ĐẾN ĐÓNG GÓP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Tổng hợp → Research Gap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8483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7510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Đọc 10+ paper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303520" y="1975104"/>
            <a:ext cx="6016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· Benchmarks · Baselines · PEFT · Hallucination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999232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25526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314553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Nhận diện khoảng trống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3145536"/>
            <a:ext cx="6016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English-centric · VN scene-text yếu · PEFT-cho-VN chưa khai thác · hallucination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169664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E4EDF3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4169664"/>
            <a:ext cx="10908792" cy="960120"/>
          </a:xfrm>
          <a:prstGeom prst="roundRect">
            <a:avLst>
              <a:gd name="adj" fmla="val 7619"/>
            </a:avLst>
          </a:prstGeom>
          <a:ln w="25400">
            <a:solidFill>
              <a:srgbClr val="E8A3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4425696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425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31596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Đóng góp (novelty)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03520" y="4315968"/>
            <a:ext cx="6016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PEFT/QLoRA thích nghi VLM cho VN VQA + scene-text — đo được, không full-FT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39496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nối trực tiếp sang Research Gap G1–G4 của tuần 2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ViVQA-VLM · Week 1 — Paper Review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Review — trạng thái &amp; việc tới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3453384" cy="2011680"/>
          </a:xfrm>
          <a:prstGeom prst="roundRect">
            <a:avLst>
              <a:gd name="adj" fmla="val 3636"/>
            </a:avLst>
          </a:prstGeom>
          <a:solidFill>
            <a:srgbClr val="2A3F6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651760"/>
            <a:ext cx="2996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Đã có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108960"/>
            <a:ext cx="29961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paper mapped · What-we-use rõ · SV3 review đã fact-check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67784" y="2468880"/>
            <a:ext cx="3453384" cy="2011680"/>
          </a:xfrm>
          <a:prstGeom prst="roundRect">
            <a:avLst>
              <a:gd name="adj" fmla="val 3636"/>
            </a:avLst>
          </a:prstGeom>
          <a:solidFill>
            <a:srgbClr val="2A3F6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96384" y="2651760"/>
            <a:ext cx="2996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Đang thiếu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96384" y="3108960"/>
            <a:ext cx="29961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0/10 PDF trong repo → metric benchmark còn pending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95488" y="2468880"/>
            <a:ext cx="3453384" cy="2011680"/>
          </a:xfrm>
          <a:prstGeom prst="roundRect">
            <a:avLst>
              <a:gd name="adj" fmla="val 3636"/>
            </a:avLst>
          </a:prstGeom>
          <a:solidFill>
            <a:srgbClr val="2A3F6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4088" y="2651760"/>
            <a:ext cx="2996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Việc tới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324088" y="3108960"/>
            <a:ext cx="29961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 9 PDF · điền metric + page-cite · sync vào Literature Matrix canonical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892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Kỷ luật: chỉ trình con số khi đã đọc nguồn — phần còn lại đánh dấu pending, không suy đoán.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852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ViVQA-VLM · NLP · Supervisor: Assoc.Prof. Đặng Ngọc Minh Đức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ViVQA-VLM Team</dc:creator>
  <cp:lastModifiedBy>ViVQA-VLM Team</cp:lastModifiedBy>
  <cp:revision>1</cp:revision>
  <dcterms:created xsi:type="dcterms:W3CDTF">2026-09-17T16:51:23Z</dcterms:created>
  <dcterms:modified xsi:type="dcterms:W3CDTF">2026-09-17T16:51:23Z</dcterms:modified>
</cp:coreProperties>
</file>