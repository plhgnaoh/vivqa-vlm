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mentor, nhóm 4 thành viên với phân công theo 4 trụ kỹ thuật rõ ràng: baseline, dataset/OCR, PEFT/training, evaluation/deployment. Mỗi bạn nói một câu về mảng mình phụ trách. Báo cáo hôm nay là phần định hướng nghiên cứu và kế hoạch Tuần 1, chưa phải kết quả huấn luyện.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quan trọng nhất: đây là dự án nghiên cứu, không phải làm demo. "Vạch đỗ" là một cải tiến kỹ thuật kiểm chứng được so với baseline đã tái lập. Bốn nguyên tắc vận hành chi phối mọi quyết định. Ràng buộc cứng: chỉ dùng PEFT, tuyệt đối không full fine-tuning — để efficiency là ràng buộc thiết kế tường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phân biệt hai mức: pipeline VQA ở mức người dùng (ảnh + câu hỏi → VLM → câu trả lời), và cấu trúc bên trong VLM (vision encoder → biểu diễn thị giác → cầu nối V-L → language model). Bốn thách thức đặc thù tiếng Việt, nhất là scene-text và diacritics, là nơi baseline tiếng Anh dễ hỏng.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đọc theo quy tắc: mỗi paper trả lời tối thiểu 10 câu hỏi, trong đó bắt buộc câu "dùng được gì cho đề tài?" — chính là cột phải. Hai nhóm quan trọng nhất: baseline khả dĩ (BLIP-2, Florence-2, Qwen2.5-VL) và công cụ cải tiến (LoRA/QLoRA, POPE). ViTextVQA đặc biệt vì thứ tự token OCR ảnh hưởng lớn tới câu trả lời — gợi ý trực tiếp cho hướng OCR-prompting.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không sao chép gap từ đề cương mà đối chiếu evidence từ paper. G1 và G4 có evidence rõ từ survey và POPE. G2 khả thi và ý nghĩa nhất với tiếng Việt; G3 là khoảng trống về phương pháp. Nhóm chốt trọng tâm G2 + G3, coi G4 là chiều phân tích bắt buộc chứ chưa hứa giải quyết hoàn toàn.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benchmark bổ sung nhau: ViVQA là câu hỏi chung trên ảnh COCO, dịch bán tự động nên có hạn chế về độ tự nhiên; ViTextVQA lớn hơn, tập trung đọc chữ trong ảnh, dùng ANLS. Taxonomy 5 loại câu hỏi là phiên bản 0 nhưng cần có từ Tuần 1 vì là khung cho error analysis. Split sẽ được cố định và ghi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quan sát định tính trên mẫu nhỏ, mục đích kiểm chứng gap có thật và quan sát được, chưa phải đánh giá định lượng. Trình bày các nhóm lỗi thực sự bắt gặp kèm 1–2 ví dụ ảnh. Nhấn mạnh: con số định lượng đầy đủ (EM/VQA-Acc/ANLS) đến từ Tuần 10–12. Nếu chưa chạy pilot, nói rõ là kế hoạch Tuần 2 — không bịa.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 chính bám đúng ràng buộc: PEFT có cải thiện đo được không, dưới điều kiện không full fine-tuning. Ba RQ phụ tách thành các câu hỏi kiểm chứng được. Mỗi hypothesis gắn một ablation cụ thể — trả lời câu mentor hay hỏi: làm sao biết cải thiện đến từ đâu? Câu trả lời: ablation-driven.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khảo sát 5 hướng cải tiến, ánh xạ mỗi hướng vào gap và chi phí GPU. Đề xuất Qwen2.5-VL-3B-Instruct vì: (1) OCR/scene-text mạnh sẵn — trúng G2; (2) vừa ngân sách, FP16 ~8GB, INT4 ~2GB nên QLoRA chạy được trên Colab; (3) Apache-2.0, hỗ trợ HuggingFace tốt. Đây là đề xuất, chốt sau khi reproduce thành công W4–W5; sẵn sàng lùi model nhỏ hơn nếu 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Khung 15 tuần với 4 mốc cố định không đổi: Review 1 (W3), Review 2 (W7), Hội đồng cấp Khoa (W13), Final Defense (W15). Nhóm coi W13 là mốc chính — trước W13 phải xong phần lớn nghiên cứu: methodology, experiments, main results, ablation và error/hallucination analysis. Hai tuần cuối chỉ hoàn thiện prototype, thesis, bảo vệ. Tại Review 2 phải trình baseline đã reproduce, proposed method, preliminary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Rủi ro lớn và khả năng cao nhất là GPU OOM — phương án chính QLoRA 4-bit, dự phòng model nhỏ hơn hoặc Colab Premium. Reproduce baseline khó: bám repo/cấu hình gốc, pin version, nếu không được thì đổi VLM. Training không hội tụ: lùi về prompt optimization. Rủi ro lệch scope thành demo: neo vào ràng buộc Mục 4 và giao thức đánh giá Mục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xin ý kiến mentor về ba quyết định then chốt: chọn baseline nào, phạm vi gap có hợp lý không, nên bắt đầu bằng QLoRA hay OCR-prompting. Vài câu hỏi mở về quy mô ViTextVQA, cách đo hallucination, và human evaluation. Tóm tắt việc Tuần 2. Cảm ơn mentor và mong nhận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p:bgPr>
    </p:bg>
    <p:spTree>
      <p:nvGrpSpPr>
        <p:cNvPr id="1" name=""/>
        <p:cNvGrpSpPr/>
        <p:nvPr/>
      </p:nvGrpSpPr>
      <p:grpSpPr>
        <a:xfrm>
          <a:off x="0" y="0"/>
          <a:ext cx="0" cy="0"/>
          <a:chOff x="0" y="0"/>
          <a:chExt cx="0" cy="0"/>
        </a:xfrm>
      </p:grpSpPr>
      <p:sp>
        <p:nvSpPr>
          <p:cNvPr id="2" name="Text 0"/>
          <p:cNvSpPr txBox="1"/>
          <p:nvPr/>
        </p:nvSpPr>
        <p:spPr>
          <a:xfrm>
            <a:off x="548640" y="566928"/>
            <a:ext cx="10972800" cy="320040"/>
          </a:xfrm>
          <a:prstGeom prst="rect">
            <a:avLst/>
          </a:prstGeom>
          <a:noFill/>
          <a:ln/>
        </p:spPr>
        <p:txBody>
          <a:bodyPr wrap="square" lIns="0" tIns="0" rIns="0" bIns="0" rtlCol="0" anchor="ctr"/>
          <a:lstStyle/>
          <a:p>
            <a:pPr algn="l" indent="0" marL="0">
              <a:buNone/>
            </a:pPr>
            <a:r>
              <a:rPr lang="en-US" sz="1250" b="1" spc="200" kern="0" dirty="0">
                <a:solidFill>
                  <a:srgbClr val="E8A33D"/>
                </a:solidFill>
                <a:latin typeface="Calibri" pitchFamily="34" charset="0"/>
                <a:ea typeface="Calibri" pitchFamily="34" charset="-122"/>
                <a:cs typeface="Calibri" pitchFamily="34" charset="-120"/>
              </a:rPr>
              <a:t>CAPSTONE PROJECT  ·  SPECIALTY: NLP  ·  FPT UNIVERSITY</a:t>
            </a:r>
            <a:endParaRPr lang="en-US" sz="1250" dirty="0"/>
          </a:p>
        </p:txBody>
      </p:sp>
      <p:sp>
        <p:nvSpPr>
          <p:cNvPr id="3" name="Text 1"/>
          <p:cNvSpPr txBox="1"/>
          <p:nvPr/>
        </p:nvSpPr>
        <p:spPr>
          <a:xfrm>
            <a:off x="548640" y="1024128"/>
            <a:ext cx="10972800" cy="1554480"/>
          </a:xfrm>
          <a:prstGeom prst="rect">
            <a:avLst/>
          </a:prstGeom>
          <a:noFill/>
          <a:ln/>
        </p:spPr>
        <p:txBody>
          <a:bodyPr wrap="square" lIns="0" tIns="0" rIns="0" bIns="0" rtlCol="0" anchor="t"/>
          <a:lstStyle/>
          <a:p>
            <a:pPr algn="l" indent="0" marL="0">
              <a:lnSpc>
                <a:spcPct val="102000"/>
              </a:lnSpc>
              <a:buNone/>
            </a:pPr>
            <a:r>
              <a:rPr lang="en-US" sz="3400" b="1" dirty="0">
                <a:solidFill>
                  <a:srgbClr val="FFFFFF"/>
                </a:solidFill>
                <a:latin typeface="Cambria" pitchFamily="34" charset="0"/>
                <a:ea typeface="Cambria" pitchFamily="34" charset="-122"/>
                <a:cs typeface="Cambria" pitchFamily="34" charset="-120"/>
              </a:rPr>
              <a:t>Efficient Vietnamese Visual Question Answering using Vision-Language Models</a:t>
            </a:r>
            <a:endParaRPr lang="en-US" sz="3400" dirty="0"/>
          </a:p>
        </p:txBody>
      </p:sp>
      <p:sp>
        <p:nvSpPr>
          <p:cNvPr id="4" name="Shape 2"/>
          <p:cNvSpPr/>
          <p:nvPr/>
        </p:nvSpPr>
        <p:spPr>
          <a:xfrm>
            <a:off x="548640" y="2761488"/>
            <a:ext cx="1783080" cy="457200"/>
          </a:xfrm>
          <a:prstGeom prst="roundRect">
            <a:avLst>
              <a:gd name="adj" fmla="val 10000"/>
            </a:avLst>
          </a:prstGeom>
          <a:solidFill>
            <a:srgbClr val="E8A33D"/>
          </a:solidFill>
          <a:ln/>
        </p:spPr>
      </p:sp>
      <p:sp>
        <p:nvSpPr>
          <p:cNvPr id="5" name="Text 3"/>
          <p:cNvSpPr txBox="1"/>
          <p:nvPr/>
        </p:nvSpPr>
        <p:spPr>
          <a:xfrm>
            <a:off x="548640" y="2761488"/>
            <a:ext cx="1783080" cy="457200"/>
          </a:xfrm>
          <a:prstGeom prst="rect">
            <a:avLst/>
          </a:prstGeom>
          <a:noFill/>
          <a:ln/>
        </p:spPr>
        <p:txBody>
          <a:bodyPr wrap="square" lIns="0" tIns="0" rIns="0" bIns="0" rtlCol="0" anchor="ctr"/>
          <a:lstStyle/>
          <a:p>
            <a:pPr algn="ctr" indent="0" marL="0">
              <a:buNone/>
            </a:pPr>
            <a:r>
              <a:rPr lang="en-US" sz="1500" b="1" dirty="0">
                <a:solidFill>
                  <a:srgbClr val="13294B"/>
                </a:solidFill>
                <a:latin typeface="Calibri" pitchFamily="34" charset="0"/>
                <a:ea typeface="Calibri" pitchFamily="34" charset="-122"/>
                <a:cs typeface="Calibri" pitchFamily="34" charset="-120"/>
              </a:rPr>
              <a:t>ViVQA-VLM</a:t>
            </a:r>
            <a:endParaRPr lang="en-US" sz="1500" dirty="0"/>
          </a:p>
        </p:txBody>
      </p:sp>
      <p:sp>
        <p:nvSpPr>
          <p:cNvPr id="6" name="Text 4"/>
          <p:cNvSpPr txBox="1"/>
          <p:nvPr/>
        </p:nvSpPr>
        <p:spPr>
          <a:xfrm>
            <a:off x="2514600" y="2743200"/>
            <a:ext cx="8961120" cy="502920"/>
          </a:xfrm>
          <a:prstGeom prst="rect">
            <a:avLst/>
          </a:prstGeom>
          <a:noFill/>
          <a:ln/>
        </p:spPr>
        <p:txBody>
          <a:bodyPr wrap="square" lIns="0" tIns="0" rIns="0" bIns="0" rtlCol="0" anchor="ctr"/>
          <a:lstStyle/>
          <a:p>
            <a:pPr algn="l" indent="0" marL="0">
              <a:buNone/>
            </a:pPr>
            <a:r>
              <a:rPr lang="en-US" sz="1300" i="1" dirty="0">
                <a:solidFill>
                  <a:srgbClr val="CADCFC"/>
                </a:solidFill>
                <a:latin typeface="Calibri" pitchFamily="34" charset="0"/>
                <a:ea typeface="Calibri" pitchFamily="34" charset="-122"/>
                <a:cs typeface="Calibri" pitchFamily="34" charset="-120"/>
              </a:rPr>
              <a:t>Nghiên cứu hệ thống hỏi đáp trực quan tiếng Việt hiệu quả sử dụng mô hình Vision-Language</a:t>
            </a:r>
            <a:endParaRPr lang="en-US" sz="1300" dirty="0"/>
          </a:p>
        </p:txBody>
      </p:sp>
      <p:sp>
        <p:nvSpPr>
          <p:cNvPr id="7" name="Text 5"/>
          <p:cNvSpPr txBox="1"/>
          <p:nvPr/>
        </p:nvSpPr>
        <p:spPr>
          <a:xfrm>
            <a:off x="548640" y="3429000"/>
            <a:ext cx="10972800" cy="320040"/>
          </a:xfrm>
          <a:prstGeom prst="rect">
            <a:avLst/>
          </a:prstGeom>
          <a:noFill/>
          <a:ln/>
        </p:spPr>
        <p:txBody>
          <a:bodyPr wrap="square" lIns="0" tIns="0" rIns="0" bIns="0" rtlCol="0" anchor="ctr"/>
          <a:lstStyle/>
          <a:p>
            <a:pPr algn="l" indent="0" marL="0">
              <a:buNone/>
            </a:pPr>
            <a:r>
              <a:rPr lang="en-US" sz="1300" dirty="0">
                <a:solidFill>
                  <a:srgbClr val="CADCFC"/>
                </a:solidFill>
                <a:latin typeface="Calibri" pitchFamily="34" charset="0"/>
                <a:ea typeface="Calibri" pitchFamily="34" charset="-122"/>
                <a:cs typeface="Calibri" pitchFamily="34" charset="-120"/>
              </a:rPr>
              <a:t>Supervisor:  Assoc.Prof. Đặng Ngọc Minh Đức        Report:  Week 1 — Research Orientation &amp; Planning</a:t>
            </a:r>
            <a:endParaRPr lang="en-US" sz="1300" dirty="0"/>
          </a:p>
        </p:txBody>
      </p:sp>
      <p:sp>
        <p:nvSpPr>
          <p:cNvPr id="8" name="Shape 6"/>
          <p:cNvSpPr/>
          <p:nvPr/>
        </p:nvSpPr>
        <p:spPr>
          <a:xfrm>
            <a:off x="548640" y="4709160"/>
            <a:ext cx="2601468" cy="1417320"/>
          </a:xfrm>
          <a:prstGeom prst="roundRect">
            <a:avLst>
              <a:gd name="adj" fmla="val 6452"/>
            </a:avLst>
          </a:prstGeom>
          <a:solidFill>
            <a:srgbClr val="1F3A5F"/>
          </a:solidFill>
          <a:ln/>
        </p:spPr>
      </p:sp>
      <p:sp>
        <p:nvSpPr>
          <p:cNvPr id="9" name="Shape 7"/>
          <p:cNvSpPr/>
          <p:nvPr/>
        </p:nvSpPr>
        <p:spPr>
          <a:xfrm>
            <a:off x="749808" y="4910328"/>
            <a:ext cx="502920" cy="502920"/>
          </a:xfrm>
          <a:prstGeom prst="ellipse">
            <a:avLst/>
          </a:prstGeom>
          <a:solidFill>
            <a:srgbClr val="1C7293"/>
          </a:solidFill>
          <a:ln/>
        </p:spPr>
      </p:sp>
      <p:pic>
        <p:nvPicPr>
          <p:cNvPr id="10" name="Image 0" descr="preencoded.png">    </p:cNvPr>
          <p:cNvPicPr>
            <a:picLocks noChangeAspect="1"/>
          </p:cNvPicPr>
          <p:nvPr/>
        </p:nvPicPr>
        <p:blipFill>
          <a:blip r:embed="rId1"/>
          <a:stretch>
            <a:fillRect/>
          </a:stretch>
        </p:blipFill>
        <p:spPr>
          <a:xfrm>
            <a:off x="885596" y="5046116"/>
            <a:ext cx="231343" cy="231343"/>
          </a:xfrm>
          <a:prstGeom prst="rect">
            <a:avLst/>
          </a:prstGeom>
        </p:spPr>
      </p:pic>
      <p:sp>
        <p:nvSpPr>
          <p:cNvPr id="11" name="Text 8"/>
          <p:cNvSpPr txBox="1"/>
          <p:nvPr/>
        </p:nvSpPr>
        <p:spPr>
          <a:xfrm>
            <a:off x="731520" y="5532120"/>
            <a:ext cx="2235708"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VLM / Baseline</a:t>
            </a:r>
            <a:endParaRPr lang="en-US" sz="1300" dirty="0"/>
          </a:p>
        </p:txBody>
      </p:sp>
      <p:sp>
        <p:nvSpPr>
          <p:cNvPr id="12" name="Text 9"/>
          <p:cNvSpPr txBox="1"/>
          <p:nvPr/>
        </p:nvSpPr>
        <p:spPr>
          <a:xfrm>
            <a:off x="731520" y="5788152"/>
            <a:ext cx="2281428" cy="274320"/>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SV1 · [Student 1 — Name]</a:t>
            </a:r>
            <a:endParaRPr lang="en-US" sz="1050" dirty="0"/>
          </a:p>
        </p:txBody>
      </p:sp>
      <p:sp>
        <p:nvSpPr>
          <p:cNvPr id="13" name="Shape 10"/>
          <p:cNvSpPr/>
          <p:nvPr/>
        </p:nvSpPr>
        <p:spPr>
          <a:xfrm>
            <a:off x="3378708" y="4709160"/>
            <a:ext cx="2601468" cy="1417320"/>
          </a:xfrm>
          <a:prstGeom prst="roundRect">
            <a:avLst>
              <a:gd name="adj" fmla="val 6452"/>
            </a:avLst>
          </a:prstGeom>
          <a:solidFill>
            <a:srgbClr val="1F3A5F"/>
          </a:solidFill>
          <a:ln/>
        </p:spPr>
      </p:sp>
      <p:sp>
        <p:nvSpPr>
          <p:cNvPr id="14" name="Shape 11"/>
          <p:cNvSpPr/>
          <p:nvPr/>
        </p:nvSpPr>
        <p:spPr>
          <a:xfrm>
            <a:off x="3579876" y="4910328"/>
            <a:ext cx="502920" cy="502920"/>
          </a:xfrm>
          <a:prstGeom prst="ellipse">
            <a:avLst/>
          </a:prstGeom>
          <a:solidFill>
            <a:srgbClr val="4FB0C6"/>
          </a:solidFill>
          <a:ln/>
        </p:spPr>
      </p:sp>
      <p:pic>
        <p:nvPicPr>
          <p:cNvPr id="15" name="Image 1" descr="preencoded.png">    </p:cNvPr>
          <p:cNvPicPr>
            <a:picLocks noChangeAspect="1"/>
          </p:cNvPicPr>
          <p:nvPr/>
        </p:nvPicPr>
        <p:blipFill>
          <a:blip r:embed="rId2"/>
          <a:stretch>
            <a:fillRect/>
          </a:stretch>
        </p:blipFill>
        <p:spPr>
          <a:xfrm>
            <a:off x="3715664" y="5046116"/>
            <a:ext cx="231343" cy="231343"/>
          </a:xfrm>
          <a:prstGeom prst="rect">
            <a:avLst/>
          </a:prstGeom>
        </p:spPr>
      </p:pic>
      <p:sp>
        <p:nvSpPr>
          <p:cNvPr id="16" name="Text 12"/>
          <p:cNvSpPr txBox="1"/>
          <p:nvPr/>
        </p:nvSpPr>
        <p:spPr>
          <a:xfrm>
            <a:off x="3561588" y="5532120"/>
            <a:ext cx="2235708"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Dataset / OCR</a:t>
            </a:r>
            <a:endParaRPr lang="en-US" sz="1300" dirty="0"/>
          </a:p>
        </p:txBody>
      </p:sp>
      <p:sp>
        <p:nvSpPr>
          <p:cNvPr id="17" name="Text 13"/>
          <p:cNvSpPr txBox="1"/>
          <p:nvPr/>
        </p:nvSpPr>
        <p:spPr>
          <a:xfrm>
            <a:off x="3561588" y="5788152"/>
            <a:ext cx="2281428" cy="274320"/>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SV2 · [Student 2 — Name]</a:t>
            </a:r>
            <a:endParaRPr lang="en-US" sz="1050" dirty="0"/>
          </a:p>
        </p:txBody>
      </p:sp>
      <p:sp>
        <p:nvSpPr>
          <p:cNvPr id="18" name="Shape 14"/>
          <p:cNvSpPr/>
          <p:nvPr/>
        </p:nvSpPr>
        <p:spPr>
          <a:xfrm>
            <a:off x="6208776" y="4709160"/>
            <a:ext cx="2601468" cy="1417320"/>
          </a:xfrm>
          <a:prstGeom prst="roundRect">
            <a:avLst>
              <a:gd name="adj" fmla="val 6452"/>
            </a:avLst>
          </a:prstGeom>
          <a:solidFill>
            <a:srgbClr val="1F3A5F"/>
          </a:solidFill>
          <a:ln/>
        </p:spPr>
      </p:sp>
      <p:sp>
        <p:nvSpPr>
          <p:cNvPr id="19" name="Shape 15"/>
          <p:cNvSpPr/>
          <p:nvPr/>
        </p:nvSpPr>
        <p:spPr>
          <a:xfrm>
            <a:off x="6409944" y="4910328"/>
            <a:ext cx="502920" cy="502920"/>
          </a:xfrm>
          <a:prstGeom prst="ellipse">
            <a:avLst/>
          </a:prstGeom>
          <a:solidFill>
            <a:srgbClr val="1C7293"/>
          </a:solidFill>
          <a:ln/>
        </p:spPr>
      </p:sp>
      <p:pic>
        <p:nvPicPr>
          <p:cNvPr id="20" name="Image 2" descr="preencoded.png">    </p:cNvPr>
          <p:cNvPicPr>
            <a:picLocks noChangeAspect="1"/>
          </p:cNvPicPr>
          <p:nvPr/>
        </p:nvPicPr>
        <p:blipFill>
          <a:blip r:embed="rId3"/>
          <a:stretch>
            <a:fillRect/>
          </a:stretch>
        </p:blipFill>
        <p:spPr>
          <a:xfrm>
            <a:off x="6545732" y="5046116"/>
            <a:ext cx="231343" cy="231343"/>
          </a:xfrm>
          <a:prstGeom prst="rect">
            <a:avLst/>
          </a:prstGeom>
        </p:spPr>
      </p:pic>
      <p:sp>
        <p:nvSpPr>
          <p:cNvPr id="21" name="Text 16"/>
          <p:cNvSpPr txBox="1"/>
          <p:nvPr/>
        </p:nvSpPr>
        <p:spPr>
          <a:xfrm>
            <a:off x="6391656" y="5532120"/>
            <a:ext cx="2235708"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PEFT / Training</a:t>
            </a:r>
            <a:endParaRPr lang="en-US" sz="1300" dirty="0"/>
          </a:p>
        </p:txBody>
      </p:sp>
      <p:sp>
        <p:nvSpPr>
          <p:cNvPr id="22" name="Text 17"/>
          <p:cNvSpPr txBox="1"/>
          <p:nvPr/>
        </p:nvSpPr>
        <p:spPr>
          <a:xfrm>
            <a:off x="6391656" y="5788152"/>
            <a:ext cx="2281428" cy="274320"/>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SV3 · [Student 3 — Name]</a:t>
            </a:r>
            <a:endParaRPr lang="en-US" sz="1050" dirty="0"/>
          </a:p>
        </p:txBody>
      </p:sp>
      <p:sp>
        <p:nvSpPr>
          <p:cNvPr id="23" name="Shape 18"/>
          <p:cNvSpPr/>
          <p:nvPr/>
        </p:nvSpPr>
        <p:spPr>
          <a:xfrm>
            <a:off x="9038844" y="4709160"/>
            <a:ext cx="2601468" cy="1417320"/>
          </a:xfrm>
          <a:prstGeom prst="roundRect">
            <a:avLst>
              <a:gd name="adj" fmla="val 6452"/>
            </a:avLst>
          </a:prstGeom>
          <a:solidFill>
            <a:srgbClr val="1F3A5F"/>
          </a:solidFill>
          <a:ln/>
        </p:spPr>
      </p:sp>
      <p:sp>
        <p:nvSpPr>
          <p:cNvPr id="24" name="Shape 19"/>
          <p:cNvSpPr/>
          <p:nvPr/>
        </p:nvSpPr>
        <p:spPr>
          <a:xfrm>
            <a:off x="9240012" y="4910328"/>
            <a:ext cx="502920" cy="502920"/>
          </a:xfrm>
          <a:prstGeom prst="ellipse">
            <a:avLst/>
          </a:prstGeom>
          <a:solidFill>
            <a:srgbClr val="4FB0C6"/>
          </a:solidFill>
          <a:ln/>
        </p:spPr>
      </p:sp>
      <p:pic>
        <p:nvPicPr>
          <p:cNvPr id="25" name="Image 3" descr="preencoded.png">    </p:cNvPr>
          <p:cNvPicPr>
            <a:picLocks noChangeAspect="1"/>
          </p:cNvPicPr>
          <p:nvPr/>
        </p:nvPicPr>
        <p:blipFill>
          <a:blip r:embed="rId4"/>
          <a:stretch>
            <a:fillRect/>
          </a:stretch>
        </p:blipFill>
        <p:spPr>
          <a:xfrm>
            <a:off x="9375800" y="5046116"/>
            <a:ext cx="231343" cy="231343"/>
          </a:xfrm>
          <a:prstGeom prst="rect">
            <a:avLst/>
          </a:prstGeom>
        </p:spPr>
      </p:pic>
      <p:sp>
        <p:nvSpPr>
          <p:cNvPr id="26" name="Text 20"/>
          <p:cNvSpPr txBox="1"/>
          <p:nvPr/>
        </p:nvSpPr>
        <p:spPr>
          <a:xfrm>
            <a:off x="9221724" y="5532120"/>
            <a:ext cx="2235708"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Evaluation / Deployment</a:t>
            </a:r>
            <a:endParaRPr lang="en-US" sz="1300" dirty="0"/>
          </a:p>
        </p:txBody>
      </p:sp>
      <p:sp>
        <p:nvSpPr>
          <p:cNvPr id="27" name="Text 21"/>
          <p:cNvSpPr txBox="1"/>
          <p:nvPr/>
        </p:nvSpPr>
        <p:spPr>
          <a:xfrm>
            <a:off x="9221724" y="5788152"/>
            <a:ext cx="2281428" cy="274320"/>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SV4 · [Student 4 — Name]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310896"/>
          </a:xfrm>
          <a:prstGeom prst="roundRect">
            <a:avLst>
              <a:gd name="adj" fmla="val 31250"/>
            </a:avLst>
          </a:prstGeom>
          <a:solidFill>
            <a:srgbClr val="E8A33D"/>
          </a:solidFill>
          <a:ln/>
        </p:spPr>
      </p:sp>
      <p:sp>
        <p:nvSpPr>
          <p:cNvPr id="3" name="Text 1"/>
          <p:cNvSpPr txBox="1"/>
          <p:nvPr/>
        </p:nvSpPr>
        <p:spPr>
          <a:xfrm>
            <a:off x="786384" y="329184"/>
            <a:ext cx="11064240" cy="585216"/>
          </a:xfrm>
          <a:prstGeom prst="rect">
            <a:avLst/>
          </a:prstGeom>
          <a:noFill/>
          <a:ln/>
        </p:spPr>
        <p:txBody>
          <a:bodyPr wrap="square" lIns="0" tIns="0" rIns="0" bIns="0" rtlCol="0" anchor="ctr"/>
          <a:lstStyle/>
          <a:p>
            <a:pPr algn="l" indent="0" marL="0">
              <a:buNone/>
            </a:pPr>
            <a:r>
              <a:rPr lang="en-US" sz="2800" b="1" dirty="0">
                <a:solidFill>
                  <a:srgbClr val="13294B"/>
                </a:solidFill>
                <a:latin typeface="Cambria" pitchFamily="34" charset="0"/>
                <a:ea typeface="Cambria" pitchFamily="34" charset="-122"/>
                <a:cs typeface="Cambria" pitchFamily="34" charset="-120"/>
              </a:rPr>
              <a:t>Week 1 Objectives &amp; Research Direction</a:t>
            </a:r>
            <a:endParaRPr lang="en-US" sz="2800" dirty="0"/>
          </a:p>
        </p:txBody>
      </p:sp>
      <p:sp>
        <p:nvSpPr>
          <p:cNvPr id="4" name="Text 2"/>
          <p:cNvSpPr txBox="1"/>
          <p:nvPr/>
        </p:nvSpPr>
        <p:spPr>
          <a:xfrm>
            <a:off x="548640" y="1371600"/>
            <a:ext cx="5120640" cy="365760"/>
          </a:xfrm>
          <a:prstGeom prst="rect">
            <a:avLst/>
          </a:prstGeom>
          <a:noFill/>
          <a:ln/>
        </p:spPr>
        <p:txBody>
          <a:bodyPr wrap="square" lIns="0" tIns="0" rIns="0" bIns="0" rtlCol="0" anchor="ctr"/>
          <a:lstStyle/>
          <a:p>
            <a:pPr indent="0" marL="0">
              <a:buNone/>
            </a:pPr>
            <a:r>
              <a:rPr lang="en-US" sz="1600" b="1" dirty="0">
                <a:solidFill>
                  <a:srgbClr val="13294B"/>
                </a:solidFill>
                <a:latin typeface="Calibri" pitchFamily="34" charset="0"/>
                <a:ea typeface="Calibri" pitchFamily="34" charset="-122"/>
                <a:cs typeface="Calibri" pitchFamily="34" charset="-120"/>
              </a:rPr>
              <a:t>Week 1 Goals</a:t>
            </a:r>
            <a:endParaRPr lang="en-US" sz="1600" dirty="0"/>
          </a:p>
        </p:txBody>
      </p:sp>
      <p:sp>
        <p:nvSpPr>
          <p:cNvPr id="5" name="Text 3"/>
          <p:cNvSpPr txBox="1"/>
          <p:nvPr/>
        </p:nvSpPr>
        <p:spPr>
          <a:xfrm>
            <a:off x="548640" y="1828800"/>
            <a:ext cx="5212080" cy="2103120"/>
          </a:xfrm>
          <a:prstGeom prst="rect">
            <a:avLst/>
          </a:prstGeom>
          <a:noFill/>
          <a:ln/>
        </p:spPr>
        <p:txBody>
          <a:bodyPr wrap="square" lIns="25400" tIns="25400" rIns="25400" bIns="25400" rtlCol="0" anchor="t"/>
          <a:lstStyle/>
          <a:p>
            <a:pPr algn="l" marL="177800" indent="-177800">
              <a:spcAft>
                <a:spcPts val="900"/>
              </a:spcAft>
              <a:buSzPct val="100000"/>
              <a:buChar char="•"/>
            </a:pPr>
            <a:r>
              <a:rPr lang="en-US" sz="1400" dirty="0">
                <a:solidFill>
                  <a:srgbClr val="1A2230"/>
                </a:solidFill>
                <a:latin typeface="Calibri" pitchFamily="34" charset="0"/>
                <a:ea typeface="Calibri" pitchFamily="34" charset="-122"/>
                <a:cs typeface="Calibri" pitchFamily="34" charset="-120"/>
              </a:rPr>
              <a:t>Research orientation &amp; the 15-week plan</a:t>
            </a:r>
            <a:endParaRPr lang="en-US" sz="1400" dirty="0"/>
          </a:p>
          <a:p>
            <a:pPr algn="l" marL="177800" indent="-177800">
              <a:spcAft>
                <a:spcPts val="900"/>
              </a:spcAft>
              <a:buSzPct val="100000"/>
              <a:buChar char="•"/>
            </a:pPr>
            <a:r>
              <a:rPr lang="en-US" sz="1400" dirty="0">
                <a:solidFill>
                  <a:srgbClr val="1A2230"/>
                </a:solidFill>
                <a:latin typeface="Calibri" pitchFamily="34" charset="0"/>
                <a:ea typeface="Calibri" pitchFamily="34" charset="-122"/>
                <a:cs typeface="Calibri" pitchFamily="34" charset="-120"/>
              </a:rPr>
              <a:t>Literature matrix &amp; dataset analysis</a:t>
            </a:r>
            <a:endParaRPr lang="en-US" sz="1400" dirty="0"/>
          </a:p>
          <a:p>
            <a:pPr algn="l" marL="177800" indent="-177800">
              <a:spcAft>
                <a:spcPts val="900"/>
              </a:spcAft>
              <a:buSzPct val="100000"/>
              <a:buChar char="•"/>
            </a:pPr>
            <a:r>
              <a:rPr lang="en-US" sz="1400" dirty="0">
                <a:solidFill>
                  <a:srgbClr val="1A2230"/>
                </a:solidFill>
                <a:latin typeface="Calibri" pitchFamily="34" charset="0"/>
                <a:ea typeface="Calibri" pitchFamily="34" charset="-122"/>
                <a:cs typeface="Calibri" pitchFamily="34" charset="-120"/>
              </a:rPr>
              <a:t>Baseline shortlist (BLIP-2 / Florence-2 / Qwen2.5-VL)</a:t>
            </a:r>
            <a:endParaRPr lang="en-US" sz="1400" dirty="0"/>
          </a:p>
          <a:p>
            <a:pPr algn="l" marL="177800" indent="-177800">
              <a:spcAft>
                <a:spcPts val="900"/>
              </a:spcAft>
              <a:buSzPct val="100000"/>
              <a:buChar char="•"/>
            </a:pPr>
            <a:r>
              <a:rPr lang="en-US" sz="1400" dirty="0">
                <a:solidFill>
                  <a:srgbClr val="1A2230"/>
                </a:solidFill>
                <a:latin typeface="Calibri" pitchFamily="34" charset="0"/>
                <a:ea typeface="Calibri" pitchFamily="34" charset="-122"/>
                <a:cs typeface="Calibri" pitchFamily="34" charset="-120"/>
              </a:rPr>
              <a:t>Confirm research gaps + draft RQs and hypotheses</a:t>
            </a:r>
            <a:endParaRPr lang="en-US" sz="1400" dirty="0"/>
          </a:p>
        </p:txBody>
      </p:sp>
      <p:sp>
        <p:nvSpPr>
          <p:cNvPr id="6" name="Text 4"/>
          <p:cNvSpPr txBox="1"/>
          <p:nvPr/>
        </p:nvSpPr>
        <p:spPr>
          <a:xfrm>
            <a:off x="5989320" y="1371600"/>
            <a:ext cx="5486400" cy="365760"/>
          </a:xfrm>
          <a:prstGeom prst="rect">
            <a:avLst/>
          </a:prstGeom>
          <a:noFill/>
          <a:ln/>
        </p:spPr>
        <p:txBody>
          <a:bodyPr wrap="square" lIns="0" tIns="0" rIns="0" bIns="0" rtlCol="0" anchor="ctr"/>
          <a:lstStyle/>
          <a:p>
            <a:pPr indent="0" marL="0">
              <a:buNone/>
            </a:pPr>
            <a:r>
              <a:rPr lang="en-US" sz="1600" b="1" dirty="0">
                <a:solidFill>
                  <a:srgbClr val="13294B"/>
                </a:solidFill>
                <a:latin typeface="Calibri" pitchFamily="34" charset="0"/>
                <a:ea typeface="Calibri" pitchFamily="34" charset="-122"/>
                <a:cs typeface="Calibri" pitchFamily="34" charset="-120"/>
              </a:rPr>
              <a:t>The Mindset Shift</a:t>
            </a:r>
            <a:endParaRPr lang="en-US" sz="1600" dirty="0"/>
          </a:p>
        </p:txBody>
      </p:sp>
      <p:sp>
        <p:nvSpPr>
          <p:cNvPr id="7" name="Shape 5"/>
          <p:cNvSpPr/>
          <p:nvPr/>
        </p:nvSpPr>
        <p:spPr>
          <a:xfrm>
            <a:off x="5989320" y="1828800"/>
            <a:ext cx="2514600" cy="1234440"/>
          </a:xfrm>
          <a:prstGeom prst="roundRect">
            <a:avLst>
              <a:gd name="adj" fmla="val 6667"/>
            </a:avLst>
          </a:prstGeom>
          <a:solidFill>
            <a:srgbClr val="E1EAF1"/>
          </a:solidFill>
          <a:ln/>
        </p:spPr>
      </p:sp>
      <p:sp>
        <p:nvSpPr>
          <p:cNvPr id="8" name="Text 6"/>
          <p:cNvSpPr txBox="1"/>
          <p:nvPr/>
        </p:nvSpPr>
        <p:spPr>
          <a:xfrm>
            <a:off x="6172200" y="1938528"/>
            <a:ext cx="2194560" cy="256032"/>
          </a:xfrm>
          <a:prstGeom prst="rect">
            <a:avLst/>
          </a:prstGeom>
          <a:noFill/>
          <a:ln/>
        </p:spPr>
        <p:txBody>
          <a:bodyPr wrap="square" lIns="0" tIns="0" rIns="0" bIns="0" rtlCol="0" anchor="ctr"/>
          <a:lstStyle/>
          <a:p>
            <a:pPr indent="0" marL="0">
              <a:buNone/>
            </a:pPr>
            <a:r>
              <a:rPr lang="en-US" sz="1000" b="1" spc="100" kern="0" dirty="0">
                <a:solidFill>
                  <a:srgbClr val="5B6B7B"/>
                </a:solidFill>
                <a:latin typeface="Calibri" pitchFamily="34" charset="0"/>
                <a:ea typeface="Calibri" pitchFamily="34" charset="-122"/>
                <a:cs typeface="Calibri" pitchFamily="34" charset="-120"/>
              </a:rPr>
              <a:t>FROM</a:t>
            </a:r>
            <a:endParaRPr lang="en-US" sz="1000" dirty="0"/>
          </a:p>
        </p:txBody>
      </p:sp>
      <p:sp>
        <p:nvSpPr>
          <p:cNvPr id="9" name="Text 7"/>
          <p:cNvSpPr txBox="1"/>
          <p:nvPr/>
        </p:nvSpPr>
        <p:spPr>
          <a:xfrm>
            <a:off x="6172200" y="2212848"/>
            <a:ext cx="2194560" cy="777240"/>
          </a:xfrm>
          <a:prstGeom prst="rect">
            <a:avLst/>
          </a:prstGeom>
          <a:noFill/>
          <a:ln/>
        </p:spPr>
        <p:txBody>
          <a:bodyPr wrap="square" lIns="0" tIns="0" rIns="0" bIns="0" rtlCol="0" anchor="t"/>
          <a:lstStyle/>
          <a:p>
            <a:pPr indent="0" marL="0">
              <a:buNone/>
            </a:pPr>
            <a:r>
              <a:rPr lang="en-US" sz="1350" b="1" dirty="0">
                <a:solidFill>
                  <a:srgbClr val="1A2230"/>
                </a:solidFill>
                <a:latin typeface="Calibri" pitchFamily="34" charset="0"/>
                <a:ea typeface="Calibri" pitchFamily="34" charset="-122"/>
                <a:cs typeface="Calibri" pitchFamily="34" charset="-120"/>
              </a:rPr>
              <a:t>"Build an AI application"</a:t>
            </a:r>
            <a:endParaRPr lang="en-US" sz="1350" dirty="0"/>
          </a:p>
        </p:txBody>
      </p:sp>
      <p:sp>
        <p:nvSpPr>
          <p:cNvPr id="10" name="Shape 8"/>
          <p:cNvSpPr/>
          <p:nvPr/>
        </p:nvSpPr>
        <p:spPr>
          <a:xfrm>
            <a:off x="8558784" y="2432304"/>
            <a:ext cx="457200" cy="0"/>
          </a:xfrm>
          <a:prstGeom prst="line">
            <a:avLst/>
          </a:prstGeom>
          <a:noFill/>
          <a:ln w="28575">
            <a:solidFill>
              <a:srgbClr val="E8A33D"/>
            </a:solidFill>
            <a:prstDash val="solid"/>
            <a:tailEnd type="triangle"/>
          </a:ln>
        </p:spPr>
      </p:sp>
      <p:sp>
        <p:nvSpPr>
          <p:cNvPr id="11" name="Shape 9"/>
          <p:cNvSpPr/>
          <p:nvPr/>
        </p:nvSpPr>
        <p:spPr>
          <a:xfrm>
            <a:off x="9098280" y="1828800"/>
            <a:ext cx="2423160" cy="1234440"/>
          </a:xfrm>
          <a:prstGeom prst="roundRect">
            <a:avLst>
              <a:gd name="adj" fmla="val 6667"/>
            </a:avLst>
          </a:prstGeom>
          <a:solidFill>
            <a:srgbClr val="1C7293"/>
          </a:solidFill>
          <a:ln/>
        </p:spPr>
      </p:sp>
      <p:sp>
        <p:nvSpPr>
          <p:cNvPr id="12" name="Text 10"/>
          <p:cNvSpPr txBox="1"/>
          <p:nvPr/>
        </p:nvSpPr>
        <p:spPr>
          <a:xfrm>
            <a:off x="9281160" y="1938528"/>
            <a:ext cx="2103120" cy="256032"/>
          </a:xfrm>
          <a:prstGeom prst="rect">
            <a:avLst/>
          </a:prstGeom>
          <a:noFill/>
          <a:ln/>
        </p:spPr>
        <p:txBody>
          <a:bodyPr wrap="square" lIns="0" tIns="0" rIns="0" bIns="0" rtlCol="0" anchor="ctr"/>
          <a:lstStyle/>
          <a:p>
            <a:pPr indent="0" marL="0">
              <a:buNone/>
            </a:pPr>
            <a:r>
              <a:rPr lang="en-US" sz="1000" b="1" spc="100" kern="0" dirty="0">
                <a:solidFill>
                  <a:srgbClr val="CADCFC"/>
                </a:solidFill>
                <a:latin typeface="Calibri" pitchFamily="34" charset="0"/>
                <a:ea typeface="Calibri" pitchFamily="34" charset="-122"/>
                <a:cs typeface="Calibri" pitchFamily="34" charset="-120"/>
              </a:rPr>
              <a:t>TO</a:t>
            </a:r>
            <a:endParaRPr lang="en-US" sz="1000" dirty="0"/>
          </a:p>
        </p:txBody>
      </p:sp>
      <p:sp>
        <p:nvSpPr>
          <p:cNvPr id="13" name="Text 11"/>
          <p:cNvSpPr txBox="1"/>
          <p:nvPr/>
        </p:nvSpPr>
        <p:spPr>
          <a:xfrm>
            <a:off x="9281160" y="2194560"/>
            <a:ext cx="2103120" cy="82296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Reproducible research + validate a technical hypothesis</a:t>
            </a:r>
            <a:endParaRPr lang="en-US" sz="1200" dirty="0"/>
          </a:p>
        </p:txBody>
      </p:sp>
      <p:sp>
        <p:nvSpPr>
          <p:cNvPr id="14" name="Shape 12"/>
          <p:cNvSpPr/>
          <p:nvPr/>
        </p:nvSpPr>
        <p:spPr>
          <a:xfrm>
            <a:off x="5989320" y="3291840"/>
            <a:ext cx="5532120" cy="960120"/>
          </a:xfrm>
          <a:prstGeom prst="roundRect">
            <a:avLst>
              <a:gd name="adj" fmla="val 8571"/>
            </a:avLst>
          </a:prstGeom>
          <a:solidFill>
            <a:srgbClr val="13294B"/>
          </a:solidFill>
          <a:ln/>
        </p:spPr>
      </p:sp>
      <p:sp>
        <p:nvSpPr>
          <p:cNvPr id="15" name="Text 13"/>
          <p:cNvSpPr txBox="1"/>
          <p:nvPr/>
        </p:nvSpPr>
        <p:spPr>
          <a:xfrm>
            <a:off x="6217920" y="3401568"/>
            <a:ext cx="5120640" cy="749808"/>
          </a:xfrm>
          <a:prstGeom prst="rect">
            <a:avLst/>
          </a:prstGeom>
          <a:noFill/>
          <a:ln/>
        </p:spPr>
        <p:txBody>
          <a:bodyPr wrap="square" lIns="0" tIns="0" rIns="0" bIns="0" rtlCol="0" anchor="ctr"/>
          <a:lstStyle/>
          <a:p>
            <a:pPr indent="0" marL="0">
              <a:buNone/>
            </a:pPr>
            <a:r>
              <a:rPr lang="en-US" sz="1150" b="1" dirty="0">
                <a:solidFill>
                  <a:srgbClr val="E8A33D"/>
                </a:solidFill>
                <a:latin typeface="Calibri" pitchFamily="34" charset="0"/>
                <a:ea typeface="Calibri" pitchFamily="34" charset="-122"/>
                <a:cs typeface="Calibri" pitchFamily="34" charset="-120"/>
              </a:rPr>
              <a:t>The bar (contribution):  </a:t>
            </a:r>
            <a:pPr indent="0" marL="0">
              <a:buNone/>
            </a:pPr>
            <a:r>
              <a:rPr lang="en-US" sz="1150" dirty="0">
                <a:solidFill>
                  <a:srgbClr val="FFFFFF"/>
                </a:solidFill>
                <a:latin typeface="Calibri" pitchFamily="34" charset="0"/>
                <a:ea typeface="Calibri" pitchFamily="34" charset="-122"/>
                <a:cs typeface="Calibri" pitchFamily="34" charset="-120"/>
              </a:rPr>
              <a:t>validate ≥ 1 technical improvement over a reproduced baseline — a measurable accuracy gain or reduced hallucination, with ablation + error analysis.</a:t>
            </a:r>
            <a:endParaRPr lang="en-US" sz="1150" dirty="0"/>
          </a:p>
        </p:txBody>
      </p:sp>
      <p:sp>
        <p:nvSpPr>
          <p:cNvPr id="16" name="Text 14"/>
          <p:cNvSpPr txBox="1"/>
          <p:nvPr/>
        </p:nvSpPr>
        <p:spPr>
          <a:xfrm>
            <a:off x="548640" y="4389120"/>
            <a:ext cx="5486400" cy="36576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Operating Principles</a:t>
            </a:r>
            <a:endParaRPr lang="en-US" sz="1500" dirty="0"/>
          </a:p>
        </p:txBody>
      </p:sp>
      <p:sp>
        <p:nvSpPr>
          <p:cNvPr id="17" name="Shape 15"/>
          <p:cNvSpPr/>
          <p:nvPr/>
        </p:nvSpPr>
        <p:spPr>
          <a:xfrm>
            <a:off x="548640" y="4773168"/>
            <a:ext cx="1874520" cy="566928"/>
          </a:xfrm>
          <a:prstGeom prst="roundRect">
            <a:avLst>
              <a:gd name="adj" fmla="val 14516"/>
            </a:avLst>
          </a:prstGeom>
          <a:solidFill>
            <a:srgbClr val="EEF3F7"/>
          </a:solidFill>
          <a:ln/>
        </p:spPr>
      </p:sp>
      <p:sp>
        <p:nvSpPr>
          <p:cNvPr id="18" name="Text 16"/>
          <p:cNvSpPr txBox="1"/>
          <p:nvPr/>
        </p:nvSpPr>
        <p:spPr>
          <a:xfrm>
            <a:off x="548640" y="4773168"/>
            <a:ext cx="1874520" cy="566928"/>
          </a:xfrm>
          <a:prstGeom prst="rect">
            <a:avLst/>
          </a:prstGeom>
          <a:noFill/>
          <a:ln/>
        </p:spPr>
        <p:txBody>
          <a:bodyPr wrap="square" lIns="0" tIns="0" rIns="0" bIns="0" rtlCol="0" anchor="ctr"/>
          <a:lstStyle/>
          <a:p>
            <a:pPr algn="ctr" indent="0" marL="0">
              <a:buNone/>
            </a:pPr>
            <a:r>
              <a:rPr lang="en-US" sz="1150" b="1" dirty="0">
                <a:solidFill>
                  <a:srgbClr val="13294B"/>
                </a:solidFill>
                <a:latin typeface="Calibri" pitchFamily="34" charset="0"/>
                <a:ea typeface="Calibri" pitchFamily="34" charset="-122"/>
                <a:cs typeface="Calibri" pitchFamily="34" charset="-120"/>
              </a:rPr>
              <a:t>Reproduce-first</a:t>
            </a:r>
            <a:endParaRPr lang="en-US" sz="1150" dirty="0"/>
          </a:p>
        </p:txBody>
      </p:sp>
      <p:sp>
        <p:nvSpPr>
          <p:cNvPr id="19" name="Shape 17"/>
          <p:cNvSpPr/>
          <p:nvPr/>
        </p:nvSpPr>
        <p:spPr>
          <a:xfrm>
            <a:off x="2642616" y="4773168"/>
            <a:ext cx="1874520" cy="566928"/>
          </a:xfrm>
          <a:prstGeom prst="roundRect">
            <a:avLst>
              <a:gd name="adj" fmla="val 14516"/>
            </a:avLst>
          </a:prstGeom>
          <a:solidFill>
            <a:srgbClr val="EEF3F7"/>
          </a:solidFill>
          <a:ln/>
        </p:spPr>
      </p:sp>
      <p:sp>
        <p:nvSpPr>
          <p:cNvPr id="20" name="Text 18"/>
          <p:cNvSpPr txBox="1"/>
          <p:nvPr/>
        </p:nvSpPr>
        <p:spPr>
          <a:xfrm>
            <a:off x="2642616" y="4773168"/>
            <a:ext cx="1874520" cy="566928"/>
          </a:xfrm>
          <a:prstGeom prst="rect">
            <a:avLst/>
          </a:prstGeom>
          <a:noFill/>
          <a:ln/>
        </p:spPr>
        <p:txBody>
          <a:bodyPr wrap="square" lIns="0" tIns="0" rIns="0" bIns="0" rtlCol="0" anchor="ctr"/>
          <a:lstStyle/>
          <a:p>
            <a:pPr algn="ctr" indent="0" marL="0">
              <a:buNone/>
            </a:pPr>
            <a:r>
              <a:rPr lang="en-US" sz="1150" b="1" dirty="0">
                <a:solidFill>
                  <a:srgbClr val="13294B"/>
                </a:solidFill>
                <a:latin typeface="Calibri" pitchFamily="34" charset="0"/>
                <a:ea typeface="Calibri" pitchFamily="34" charset="-122"/>
                <a:cs typeface="Calibri" pitchFamily="34" charset="-120"/>
              </a:rPr>
              <a:t>Evidence-based</a:t>
            </a:r>
            <a:endParaRPr lang="en-US" sz="1150" dirty="0"/>
          </a:p>
        </p:txBody>
      </p:sp>
      <p:sp>
        <p:nvSpPr>
          <p:cNvPr id="21" name="Shape 19"/>
          <p:cNvSpPr/>
          <p:nvPr/>
        </p:nvSpPr>
        <p:spPr>
          <a:xfrm>
            <a:off x="4736592" y="4773168"/>
            <a:ext cx="1874520" cy="566928"/>
          </a:xfrm>
          <a:prstGeom prst="roundRect">
            <a:avLst>
              <a:gd name="adj" fmla="val 14516"/>
            </a:avLst>
          </a:prstGeom>
          <a:solidFill>
            <a:srgbClr val="EEF3F7"/>
          </a:solidFill>
          <a:ln/>
        </p:spPr>
      </p:sp>
      <p:sp>
        <p:nvSpPr>
          <p:cNvPr id="22" name="Text 20"/>
          <p:cNvSpPr txBox="1"/>
          <p:nvPr/>
        </p:nvSpPr>
        <p:spPr>
          <a:xfrm>
            <a:off x="4736592" y="4773168"/>
            <a:ext cx="1874520" cy="566928"/>
          </a:xfrm>
          <a:prstGeom prst="rect">
            <a:avLst/>
          </a:prstGeom>
          <a:noFill/>
          <a:ln/>
        </p:spPr>
        <p:txBody>
          <a:bodyPr wrap="square" lIns="0" tIns="0" rIns="0" bIns="0" rtlCol="0" anchor="ctr"/>
          <a:lstStyle/>
          <a:p>
            <a:pPr algn="ctr" indent="0" marL="0">
              <a:buNone/>
            </a:pPr>
            <a:r>
              <a:rPr lang="en-US" sz="1150" b="1" dirty="0">
                <a:solidFill>
                  <a:srgbClr val="13294B"/>
                </a:solidFill>
                <a:latin typeface="Calibri" pitchFamily="34" charset="0"/>
                <a:ea typeface="Calibri" pitchFamily="34" charset="-122"/>
                <a:cs typeface="Calibri" pitchFamily="34" charset="-120"/>
              </a:rPr>
              <a:t>Ablation-driven</a:t>
            </a:r>
            <a:endParaRPr lang="en-US" sz="1150" dirty="0"/>
          </a:p>
        </p:txBody>
      </p:sp>
      <p:sp>
        <p:nvSpPr>
          <p:cNvPr id="23" name="Shape 21"/>
          <p:cNvSpPr/>
          <p:nvPr/>
        </p:nvSpPr>
        <p:spPr>
          <a:xfrm>
            <a:off x="6830568" y="4773168"/>
            <a:ext cx="1874520" cy="566928"/>
          </a:xfrm>
          <a:prstGeom prst="roundRect">
            <a:avLst>
              <a:gd name="adj" fmla="val 14516"/>
            </a:avLst>
          </a:prstGeom>
          <a:solidFill>
            <a:srgbClr val="EEF3F7"/>
          </a:solidFill>
          <a:ln/>
        </p:spPr>
      </p:sp>
      <p:sp>
        <p:nvSpPr>
          <p:cNvPr id="24" name="Text 22"/>
          <p:cNvSpPr txBox="1"/>
          <p:nvPr/>
        </p:nvSpPr>
        <p:spPr>
          <a:xfrm>
            <a:off x="6830568" y="4773168"/>
            <a:ext cx="1874520" cy="566928"/>
          </a:xfrm>
          <a:prstGeom prst="rect">
            <a:avLst/>
          </a:prstGeom>
          <a:noFill/>
          <a:ln/>
        </p:spPr>
        <p:txBody>
          <a:bodyPr wrap="square" lIns="0" tIns="0" rIns="0" bIns="0" rtlCol="0" anchor="ctr"/>
          <a:lstStyle/>
          <a:p>
            <a:pPr algn="ctr" indent="0" marL="0">
              <a:buNone/>
            </a:pPr>
            <a:r>
              <a:rPr lang="en-US" sz="1150" b="1" dirty="0">
                <a:solidFill>
                  <a:srgbClr val="13294B"/>
                </a:solidFill>
                <a:latin typeface="Calibri" pitchFamily="34" charset="0"/>
                <a:ea typeface="Calibri" pitchFamily="34" charset="-122"/>
                <a:cs typeface="Calibri" pitchFamily="34" charset="-120"/>
              </a:rPr>
              <a:t>Log-everything</a:t>
            </a:r>
            <a:endParaRPr lang="en-US" sz="1150" dirty="0"/>
          </a:p>
        </p:txBody>
      </p:sp>
      <p:sp>
        <p:nvSpPr>
          <p:cNvPr id="25" name="Shape 23"/>
          <p:cNvSpPr/>
          <p:nvPr/>
        </p:nvSpPr>
        <p:spPr>
          <a:xfrm>
            <a:off x="548640" y="5486400"/>
            <a:ext cx="10991088" cy="603504"/>
          </a:xfrm>
          <a:prstGeom prst="roundRect">
            <a:avLst>
              <a:gd name="adj" fmla="val 13636"/>
            </a:avLst>
          </a:prstGeom>
          <a:solidFill>
            <a:srgbClr val="13294B"/>
          </a:solidFill>
          <a:ln/>
        </p:spPr>
      </p:sp>
      <p:sp>
        <p:nvSpPr>
          <p:cNvPr id="26" name="Text 24"/>
          <p:cNvSpPr txBox="1"/>
          <p:nvPr/>
        </p:nvSpPr>
        <p:spPr>
          <a:xfrm>
            <a:off x="777240" y="5486400"/>
            <a:ext cx="10607040" cy="603504"/>
          </a:xfrm>
          <a:prstGeom prst="rect">
            <a:avLst/>
          </a:prstGeom>
          <a:noFill/>
          <a:ln/>
        </p:spPr>
        <p:txBody>
          <a:bodyPr wrap="square" lIns="0" tIns="0" rIns="0" bIns="0" rtlCol="0" anchor="ctr"/>
          <a:lstStyle/>
          <a:p>
            <a:pPr indent="0" marL="0">
              <a:buNone/>
            </a:pPr>
            <a:r>
              <a:rPr lang="en-US" sz="1250" b="1" spc="100" kern="0" dirty="0">
                <a:solidFill>
                  <a:srgbClr val="E8A33D"/>
                </a:solidFill>
                <a:latin typeface="Calibri" pitchFamily="34" charset="0"/>
                <a:ea typeface="Calibri" pitchFamily="34" charset="-122"/>
                <a:cs typeface="Calibri" pitchFamily="34" charset="-120"/>
              </a:rPr>
              <a:t>MANDATORY CONSTRAINT    </a:t>
            </a:r>
            <a:pPr indent="0" marL="0">
              <a:buNone/>
            </a:pPr>
            <a:r>
              <a:rPr lang="en-US" sz="1250" b="1" dirty="0">
                <a:solidFill>
                  <a:srgbClr val="FFFFFF"/>
                </a:solidFill>
                <a:latin typeface="Calibri" pitchFamily="34" charset="0"/>
                <a:ea typeface="Calibri" pitchFamily="34" charset="-122"/>
                <a:cs typeface="Calibri" pitchFamily="34" charset="-120"/>
              </a:rPr>
              <a:t>PEFT only (LoRA / QLoRA 4-bit or 8-bit) — NO full fine-tuning.</a:t>
            </a:r>
            <a:endParaRPr lang="en-US" sz="1250" dirty="0"/>
          </a:p>
        </p:txBody>
      </p:sp>
      <p:sp>
        <p:nvSpPr>
          <p:cNvPr id="27" name="Text 25"/>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ViVQA-VLM · Week 1 Progress Report</a:t>
            </a:r>
            <a:endParaRPr lang="en-US" sz="900" dirty="0"/>
          </a:p>
        </p:txBody>
      </p:sp>
      <p:sp>
        <p:nvSpPr>
          <p:cNvPr id="28" name="Text 26"/>
          <p:cNvSpPr txBox="1"/>
          <p:nvPr/>
        </p:nvSpPr>
        <p:spPr>
          <a:xfrm>
            <a:off x="11247120" y="6455664"/>
            <a:ext cx="393192"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310896"/>
          </a:xfrm>
          <a:prstGeom prst="roundRect">
            <a:avLst>
              <a:gd name="adj" fmla="val 31250"/>
            </a:avLst>
          </a:prstGeom>
          <a:solidFill>
            <a:srgbClr val="E8A33D"/>
          </a:solidFill>
          <a:ln/>
        </p:spPr>
      </p:sp>
      <p:sp>
        <p:nvSpPr>
          <p:cNvPr id="3" name="Text 1"/>
          <p:cNvSpPr txBox="1"/>
          <p:nvPr/>
        </p:nvSpPr>
        <p:spPr>
          <a:xfrm>
            <a:off x="786384" y="329184"/>
            <a:ext cx="11064240" cy="585216"/>
          </a:xfrm>
          <a:prstGeom prst="rect">
            <a:avLst/>
          </a:prstGeom>
          <a:noFill/>
          <a:ln/>
        </p:spPr>
        <p:txBody>
          <a:bodyPr wrap="square" lIns="0" tIns="0" rIns="0" bIns="0" rtlCol="0" anchor="ctr"/>
          <a:lstStyle/>
          <a:p>
            <a:pPr algn="l" indent="0" marL="0">
              <a:buNone/>
            </a:pPr>
            <a:r>
              <a:rPr lang="en-US" sz="2800" b="1" dirty="0">
                <a:solidFill>
                  <a:srgbClr val="13294B"/>
                </a:solidFill>
                <a:latin typeface="Cambria" pitchFamily="34" charset="0"/>
                <a:ea typeface="Cambria" pitchFamily="34" charset="-122"/>
                <a:cs typeface="Cambria" pitchFamily="34" charset="-120"/>
              </a:rPr>
              <a:t>The ViVQA-VLM Problem &amp; System Pipeline</a:t>
            </a:r>
            <a:endParaRPr lang="en-US" sz="2800" dirty="0"/>
          </a:p>
        </p:txBody>
      </p:sp>
      <p:sp>
        <p:nvSpPr>
          <p:cNvPr id="4" name="Shape 2"/>
          <p:cNvSpPr/>
          <p:nvPr/>
        </p:nvSpPr>
        <p:spPr>
          <a:xfrm>
            <a:off x="548640" y="1691640"/>
            <a:ext cx="2788920" cy="1463040"/>
          </a:xfrm>
          <a:prstGeom prst="roundRect">
            <a:avLst>
              <a:gd name="adj" fmla="val 5625"/>
            </a:avLst>
          </a:prstGeom>
          <a:solidFill>
            <a:srgbClr val="EEF3F7"/>
          </a:solidFill>
          <a:ln/>
        </p:spPr>
      </p:sp>
      <p:sp>
        <p:nvSpPr>
          <p:cNvPr id="5" name="Shape 3"/>
          <p:cNvSpPr/>
          <p:nvPr/>
        </p:nvSpPr>
        <p:spPr>
          <a:xfrm>
            <a:off x="749808" y="1901952"/>
            <a:ext cx="457200" cy="457200"/>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873252" y="2025396"/>
            <a:ext cx="210312" cy="210312"/>
          </a:xfrm>
          <a:prstGeom prst="rect">
            <a:avLst/>
          </a:prstGeom>
        </p:spPr>
      </p:pic>
      <p:sp>
        <p:nvSpPr>
          <p:cNvPr id="7" name="Text 4"/>
          <p:cNvSpPr txBox="1"/>
          <p:nvPr/>
        </p:nvSpPr>
        <p:spPr>
          <a:xfrm>
            <a:off x="1325880" y="1901952"/>
            <a:ext cx="1920240" cy="457200"/>
          </a:xfrm>
          <a:prstGeom prst="rect">
            <a:avLst/>
          </a:prstGeom>
          <a:noFill/>
          <a:ln/>
        </p:spPr>
        <p:txBody>
          <a:bodyPr wrap="square" lIns="0" tIns="0" rIns="0" bIns="0" rtlCol="0" anchor="ctr"/>
          <a:lstStyle/>
          <a:p>
            <a:pPr indent="0" marL="0">
              <a:buNone/>
            </a:pPr>
            <a:r>
              <a:rPr lang="en-US" sz="1250" b="1" dirty="0">
                <a:solidFill>
                  <a:srgbClr val="1A2230"/>
                </a:solidFill>
                <a:latin typeface="Calibri" pitchFamily="34" charset="0"/>
                <a:ea typeface="Calibri" pitchFamily="34" charset="-122"/>
                <a:cs typeface="Calibri" pitchFamily="34" charset="-120"/>
              </a:rPr>
              <a:t>Vietnamese Image</a:t>
            </a:r>
            <a:endParaRPr lang="en-US" sz="1250" dirty="0"/>
          </a:p>
        </p:txBody>
      </p:sp>
      <p:sp>
        <p:nvSpPr>
          <p:cNvPr id="8" name="Shape 5"/>
          <p:cNvSpPr/>
          <p:nvPr/>
        </p:nvSpPr>
        <p:spPr>
          <a:xfrm>
            <a:off x="749808" y="2587752"/>
            <a:ext cx="457200" cy="457200"/>
          </a:xfrm>
          <a:prstGeom prst="ellipse">
            <a:avLst/>
          </a:prstGeom>
          <a:solidFill>
            <a:srgbClr val="4FB0C6"/>
          </a:solidFill>
          <a:ln/>
        </p:spPr>
      </p:sp>
      <p:pic>
        <p:nvPicPr>
          <p:cNvPr id="9" name="Image 1" descr="preencoded.png">    </p:cNvPr>
          <p:cNvPicPr>
            <a:picLocks noChangeAspect="1"/>
          </p:cNvPicPr>
          <p:nvPr/>
        </p:nvPicPr>
        <p:blipFill>
          <a:blip r:embed="rId2"/>
          <a:stretch>
            <a:fillRect/>
          </a:stretch>
        </p:blipFill>
        <p:spPr>
          <a:xfrm>
            <a:off x="873252" y="2711196"/>
            <a:ext cx="210312" cy="210312"/>
          </a:xfrm>
          <a:prstGeom prst="rect">
            <a:avLst/>
          </a:prstGeom>
        </p:spPr>
      </p:pic>
      <p:sp>
        <p:nvSpPr>
          <p:cNvPr id="10" name="Text 6"/>
          <p:cNvSpPr txBox="1"/>
          <p:nvPr/>
        </p:nvSpPr>
        <p:spPr>
          <a:xfrm>
            <a:off x="1325880" y="2587752"/>
            <a:ext cx="1920240" cy="457200"/>
          </a:xfrm>
          <a:prstGeom prst="rect">
            <a:avLst/>
          </a:prstGeom>
          <a:noFill/>
          <a:ln/>
        </p:spPr>
        <p:txBody>
          <a:bodyPr wrap="square" lIns="0" tIns="0" rIns="0" bIns="0" rtlCol="0" anchor="ctr"/>
          <a:lstStyle/>
          <a:p>
            <a:pPr indent="0" marL="0">
              <a:buNone/>
            </a:pPr>
            <a:r>
              <a:rPr lang="en-US" sz="1250" b="1" dirty="0">
                <a:solidFill>
                  <a:srgbClr val="1A2230"/>
                </a:solidFill>
                <a:latin typeface="Calibri" pitchFamily="34" charset="0"/>
                <a:ea typeface="Calibri" pitchFamily="34" charset="-122"/>
                <a:cs typeface="Calibri" pitchFamily="34" charset="-120"/>
              </a:rPr>
              <a:t>Vietnamese Question</a:t>
            </a:r>
            <a:endParaRPr lang="en-US" sz="1250" dirty="0"/>
          </a:p>
        </p:txBody>
      </p:sp>
      <p:sp>
        <p:nvSpPr>
          <p:cNvPr id="11" name="Shape 7"/>
          <p:cNvSpPr/>
          <p:nvPr/>
        </p:nvSpPr>
        <p:spPr>
          <a:xfrm>
            <a:off x="3401568" y="2395728"/>
            <a:ext cx="384048" cy="0"/>
          </a:xfrm>
          <a:prstGeom prst="line">
            <a:avLst/>
          </a:prstGeom>
          <a:noFill/>
          <a:ln w="28575">
            <a:solidFill>
              <a:srgbClr val="1C7293"/>
            </a:solidFill>
            <a:prstDash val="solid"/>
            <a:tailEnd type="triangle"/>
          </a:ln>
        </p:spPr>
      </p:sp>
      <p:sp>
        <p:nvSpPr>
          <p:cNvPr id="12" name="Shape 8"/>
          <p:cNvSpPr/>
          <p:nvPr/>
        </p:nvSpPr>
        <p:spPr>
          <a:xfrm>
            <a:off x="3858768" y="1783080"/>
            <a:ext cx="3063240" cy="1280160"/>
          </a:xfrm>
          <a:prstGeom prst="roundRect">
            <a:avLst>
              <a:gd name="adj" fmla="val 6429"/>
            </a:avLst>
          </a:prstGeom>
          <a:solidFill>
            <a:srgbClr val="1C7293"/>
          </a:solidFill>
          <a:ln/>
          <a:effectLst>
            <a:outerShdw sx="100000" sy="100000" kx="0" ky="0" algn="bl" rotWithShape="0" blurRad="88900" dist="25400" dir="5400000">
              <a:srgbClr val="A6B4C2">
                <a:alpha val="30000"/>
              </a:srgbClr>
            </a:outerShdw>
          </a:effectLst>
        </p:spPr>
      </p:sp>
      <p:sp>
        <p:nvSpPr>
          <p:cNvPr id="13" name="Text 9"/>
          <p:cNvSpPr txBox="1"/>
          <p:nvPr/>
        </p:nvSpPr>
        <p:spPr>
          <a:xfrm>
            <a:off x="3950208" y="1938528"/>
            <a:ext cx="288036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Vision-Language Model (VLM)</a:t>
            </a:r>
            <a:endParaRPr lang="en-US" sz="1600" dirty="0"/>
          </a:p>
        </p:txBody>
      </p:sp>
      <p:sp>
        <p:nvSpPr>
          <p:cNvPr id="14" name="Text 10"/>
          <p:cNvSpPr txBox="1"/>
          <p:nvPr/>
        </p:nvSpPr>
        <p:spPr>
          <a:xfrm>
            <a:off x="3950208" y="2487168"/>
            <a:ext cx="2880360" cy="365760"/>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BLIP-2 · Florence-2 · Qwen2.5-VL</a:t>
            </a:r>
            <a:endParaRPr lang="en-US" sz="1050" dirty="0"/>
          </a:p>
        </p:txBody>
      </p:sp>
      <p:sp>
        <p:nvSpPr>
          <p:cNvPr id="15" name="Shape 11"/>
          <p:cNvSpPr/>
          <p:nvPr/>
        </p:nvSpPr>
        <p:spPr>
          <a:xfrm>
            <a:off x="6986016" y="2395728"/>
            <a:ext cx="384048" cy="0"/>
          </a:xfrm>
          <a:prstGeom prst="line">
            <a:avLst/>
          </a:prstGeom>
          <a:noFill/>
          <a:ln w="28575">
            <a:solidFill>
              <a:srgbClr val="1C7293"/>
            </a:solidFill>
            <a:prstDash val="solid"/>
            <a:tailEnd type="triangle"/>
          </a:ln>
        </p:spPr>
      </p:sp>
      <p:sp>
        <p:nvSpPr>
          <p:cNvPr id="16" name="Shape 12"/>
          <p:cNvSpPr/>
          <p:nvPr/>
        </p:nvSpPr>
        <p:spPr>
          <a:xfrm>
            <a:off x="7461504" y="1783080"/>
            <a:ext cx="3794760" cy="1280160"/>
          </a:xfrm>
          <a:prstGeom prst="roundRect">
            <a:avLst>
              <a:gd name="adj" fmla="val 6429"/>
            </a:avLst>
          </a:prstGeom>
          <a:solidFill>
            <a:srgbClr val="FFFFFF"/>
          </a:solidFill>
          <a:ln w="22225">
            <a:solidFill>
              <a:srgbClr val="1C7293"/>
            </a:solidFill>
            <a:prstDash val="solid"/>
          </a:ln>
        </p:spPr>
      </p:sp>
      <p:sp>
        <p:nvSpPr>
          <p:cNvPr id="17" name="Text 13"/>
          <p:cNvSpPr txBox="1"/>
          <p:nvPr/>
        </p:nvSpPr>
        <p:spPr>
          <a:xfrm>
            <a:off x="7552944" y="1938528"/>
            <a:ext cx="3611880" cy="548640"/>
          </a:xfrm>
          <a:prstGeom prst="rect">
            <a:avLst/>
          </a:prstGeom>
          <a:noFill/>
          <a:ln/>
        </p:spPr>
        <p:txBody>
          <a:bodyPr wrap="square" lIns="0" tIns="0" rIns="0" bIns="0" rtlCol="0" anchor="ctr"/>
          <a:lstStyle/>
          <a:p>
            <a:pPr algn="ctr" indent="0" marL="0">
              <a:buNone/>
            </a:pPr>
            <a:r>
              <a:rPr lang="en-US" sz="1600" b="1" dirty="0">
                <a:solidFill>
                  <a:srgbClr val="13294B"/>
                </a:solidFill>
                <a:latin typeface="Calibri" pitchFamily="34" charset="0"/>
                <a:ea typeface="Calibri" pitchFamily="34" charset="-122"/>
                <a:cs typeface="Calibri" pitchFamily="34" charset="-120"/>
              </a:rPr>
              <a:t>Vietnamese Answer</a:t>
            </a:r>
            <a:endParaRPr lang="en-US" sz="1600" dirty="0"/>
          </a:p>
        </p:txBody>
      </p:sp>
      <p:sp>
        <p:nvSpPr>
          <p:cNvPr id="18" name="Text 14"/>
          <p:cNvSpPr txBox="1"/>
          <p:nvPr/>
        </p:nvSpPr>
        <p:spPr>
          <a:xfrm>
            <a:off x="7552944" y="2487168"/>
            <a:ext cx="3611880" cy="365760"/>
          </a:xfrm>
          <a:prstGeom prst="rect">
            <a:avLst/>
          </a:prstGeom>
          <a:noFill/>
          <a:ln/>
        </p:spPr>
        <p:txBody>
          <a:bodyPr wrap="square" lIns="0" tIns="0" rIns="0" bIns="0" rtlCol="0" anchor="ctr"/>
          <a:lstStyle/>
          <a:p>
            <a:pPr algn="ctr" indent="0" marL="0">
              <a:buNone/>
            </a:pPr>
            <a:r>
              <a:rPr lang="en-US" sz="1050" dirty="0">
                <a:solidFill>
                  <a:srgbClr val="5B6B7B"/>
                </a:solidFill>
                <a:latin typeface="Calibri" pitchFamily="34" charset="0"/>
                <a:ea typeface="Calibri" pitchFamily="34" charset="-122"/>
                <a:cs typeface="Calibri" pitchFamily="34" charset="-120"/>
              </a:rPr>
              <a:t>+ confidence · OCR / retrieved evidence</a:t>
            </a:r>
            <a:endParaRPr lang="en-US" sz="1050" dirty="0"/>
          </a:p>
        </p:txBody>
      </p:sp>
      <p:sp>
        <p:nvSpPr>
          <p:cNvPr id="19" name="Text 15"/>
          <p:cNvSpPr txBox="1"/>
          <p:nvPr/>
        </p:nvSpPr>
        <p:spPr>
          <a:xfrm>
            <a:off x="548640" y="3310128"/>
            <a:ext cx="2194560" cy="274320"/>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Inside the VLM</a:t>
            </a:r>
            <a:endParaRPr lang="en-US" sz="1100" dirty="0"/>
          </a:p>
        </p:txBody>
      </p:sp>
      <p:sp>
        <p:nvSpPr>
          <p:cNvPr id="20" name="Shape 16"/>
          <p:cNvSpPr/>
          <p:nvPr/>
        </p:nvSpPr>
        <p:spPr>
          <a:xfrm>
            <a:off x="685800" y="3611880"/>
            <a:ext cx="2404872" cy="502920"/>
          </a:xfrm>
          <a:prstGeom prst="roundRect">
            <a:avLst>
              <a:gd name="adj" fmla="val 10909"/>
            </a:avLst>
          </a:prstGeom>
          <a:solidFill>
            <a:srgbClr val="E1EAF1"/>
          </a:solidFill>
          <a:ln/>
        </p:spPr>
      </p:sp>
      <p:sp>
        <p:nvSpPr>
          <p:cNvPr id="21" name="Text 17"/>
          <p:cNvSpPr txBox="1"/>
          <p:nvPr/>
        </p:nvSpPr>
        <p:spPr>
          <a:xfrm>
            <a:off x="685800" y="3611880"/>
            <a:ext cx="2404872" cy="502920"/>
          </a:xfrm>
          <a:prstGeom prst="rect">
            <a:avLst/>
          </a:prstGeom>
          <a:noFill/>
          <a:ln/>
        </p:spPr>
        <p:txBody>
          <a:bodyPr wrap="square" lIns="0" tIns="0" rIns="0" bIns="0"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Vision Encoder</a:t>
            </a:r>
            <a:endParaRPr lang="en-US" sz="1100" dirty="0"/>
          </a:p>
        </p:txBody>
      </p:sp>
      <p:sp>
        <p:nvSpPr>
          <p:cNvPr id="22" name="Shape 18"/>
          <p:cNvSpPr/>
          <p:nvPr/>
        </p:nvSpPr>
        <p:spPr>
          <a:xfrm>
            <a:off x="3108960" y="3863340"/>
            <a:ext cx="256032" cy="0"/>
          </a:xfrm>
          <a:prstGeom prst="line">
            <a:avLst/>
          </a:prstGeom>
          <a:noFill/>
          <a:ln w="28575">
            <a:solidFill>
              <a:srgbClr val="4FB0C6"/>
            </a:solidFill>
            <a:prstDash val="solid"/>
            <a:tailEnd type="triangle"/>
          </a:ln>
        </p:spPr>
      </p:sp>
      <p:sp>
        <p:nvSpPr>
          <p:cNvPr id="23" name="Shape 19"/>
          <p:cNvSpPr/>
          <p:nvPr/>
        </p:nvSpPr>
        <p:spPr>
          <a:xfrm>
            <a:off x="3383280" y="3611880"/>
            <a:ext cx="2404872" cy="502920"/>
          </a:xfrm>
          <a:prstGeom prst="roundRect">
            <a:avLst>
              <a:gd name="adj" fmla="val 10909"/>
            </a:avLst>
          </a:prstGeom>
          <a:solidFill>
            <a:srgbClr val="E1EAF1"/>
          </a:solidFill>
          <a:ln/>
        </p:spPr>
      </p:sp>
      <p:sp>
        <p:nvSpPr>
          <p:cNvPr id="24" name="Text 20"/>
          <p:cNvSpPr txBox="1"/>
          <p:nvPr/>
        </p:nvSpPr>
        <p:spPr>
          <a:xfrm>
            <a:off x="3383280" y="3611880"/>
            <a:ext cx="2404872" cy="502920"/>
          </a:xfrm>
          <a:prstGeom prst="rect">
            <a:avLst/>
          </a:prstGeom>
          <a:noFill/>
          <a:ln/>
        </p:spPr>
        <p:txBody>
          <a:bodyPr wrap="square" lIns="0" tIns="0" rIns="0" bIns="0"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Visual Representation</a:t>
            </a:r>
            <a:endParaRPr lang="en-US" sz="1100" dirty="0"/>
          </a:p>
        </p:txBody>
      </p:sp>
      <p:sp>
        <p:nvSpPr>
          <p:cNvPr id="25" name="Shape 21"/>
          <p:cNvSpPr/>
          <p:nvPr/>
        </p:nvSpPr>
        <p:spPr>
          <a:xfrm>
            <a:off x="5806440" y="3863340"/>
            <a:ext cx="256032" cy="0"/>
          </a:xfrm>
          <a:prstGeom prst="line">
            <a:avLst/>
          </a:prstGeom>
          <a:noFill/>
          <a:ln w="28575">
            <a:solidFill>
              <a:srgbClr val="4FB0C6"/>
            </a:solidFill>
            <a:prstDash val="solid"/>
            <a:tailEnd type="triangle"/>
          </a:ln>
        </p:spPr>
      </p:sp>
      <p:sp>
        <p:nvSpPr>
          <p:cNvPr id="26" name="Shape 22"/>
          <p:cNvSpPr/>
          <p:nvPr/>
        </p:nvSpPr>
        <p:spPr>
          <a:xfrm>
            <a:off x="6080760" y="3611880"/>
            <a:ext cx="2404872" cy="502920"/>
          </a:xfrm>
          <a:prstGeom prst="roundRect">
            <a:avLst>
              <a:gd name="adj" fmla="val 10909"/>
            </a:avLst>
          </a:prstGeom>
          <a:solidFill>
            <a:srgbClr val="E1EAF1"/>
          </a:solidFill>
          <a:ln/>
        </p:spPr>
      </p:sp>
      <p:sp>
        <p:nvSpPr>
          <p:cNvPr id="27" name="Text 23"/>
          <p:cNvSpPr txBox="1"/>
          <p:nvPr/>
        </p:nvSpPr>
        <p:spPr>
          <a:xfrm>
            <a:off x="6080760" y="3611880"/>
            <a:ext cx="2404872" cy="502920"/>
          </a:xfrm>
          <a:prstGeom prst="rect">
            <a:avLst/>
          </a:prstGeom>
          <a:noFill/>
          <a:ln/>
        </p:spPr>
        <p:txBody>
          <a:bodyPr wrap="square" lIns="0" tIns="0" rIns="0" bIns="0"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Vision-Language Interface</a:t>
            </a:r>
            <a:endParaRPr lang="en-US" sz="1100" dirty="0"/>
          </a:p>
        </p:txBody>
      </p:sp>
      <p:sp>
        <p:nvSpPr>
          <p:cNvPr id="28" name="Shape 24"/>
          <p:cNvSpPr/>
          <p:nvPr/>
        </p:nvSpPr>
        <p:spPr>
          <a:xfrm>
            <a:off x="8503920" y="3863340"/>
            <a:ext cx="256032" cy="0"/>
          </a:xfrm>
          <a:prstGeom prst="line">
            <a:avLst/>
          </a:prstGeom>
          <a:noFill/>
          <a:ln w="28575">
            <a:solidFill>
              <a:srgbClr val="4FB0C6"/>
            </a:solidFill>
            <a:prstDash val="solid"/>
            <a:tailEnd type="triangle"/>
          </a:ln>
        </p:spPr>
      </p:sp>
      <p:sp>
        <p:nvSpPr>
          <p:cNvPr id="29" name="Shape 25"/>
          <p:cNvSpPr/>
          <p:nvPr/>
        </p:nvSpPr>
        <p:spPr>
          <a:xfrm>
            <a:off x="8778240" y="3611880"/>
            <a:ext cx="2404872" cy="502920"/>
          </a:xfrm>
          <a:prstGeom prst="roundRect">
            <a:avLst>
              <a:gd name="adj" fmla="val 10909"/>
            </a:avLst>
          </a:prstGeom>
          <a:solidFill>
            <a:srgbClr val="E1EAF1"/>
          </a:solidFill>
          <a:ln/>
        </p:spPr>
      </p:sp>
      <p:sp>
        <p:nvSpPr>
          <p:cNvPr id="30" name="Text 26"/>
          <p:cNvSpPr txBox="1"/>
          <p:nvPr/>
        </p:nvSpPr>
        <p:spPr>
          <a:xfrm>
            <a:off x="8778240" y="3611880"/>
            <a:ext cx="2404872" cy="502920"/>
          </a:xfrm>
          <a:prstGeom prst="rect">
            <a:avLst/>
          </a:prstGeom>
          <a:noFill/>
          <a:ln/>
        </p:spPr>
        <p:txBody>
          <a:bodyPr wrap="square" lIns="0" tIns="0" rIns="0" bIns="0"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Language Model</a:t>
            </a:r>
            <a:endParaRPr lang="en-US" sz="1100" dirty="0"/>
          </a:p>
        </p:txBody>
      </p:sp>
      <p:sp>
        <p:nvSpPr>
          <p:cNvPr id="31" name="Text 27"/>
          <p:cNvSpPr txBox="1"/>
          <p:nvPr/>
        </p:nvSpPr>
        <p:spPr>
          <a:xfrm>
            <a:off x="548640" y="4370832"/>
            <a:ext cx="7315200" cy="32004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Why is this hard for Vietnamese?</a:t>
            </a:r>
            <a:endParaRPr lang="en-US" sz="1500" dirty="0"/>
          </a:p>
        </p:txBody>
      </p:sp>
      <p:sp>
        <p:nvSpPr>
          <p:cNvPr id="32" name="Shape 28"/>
          <p:cNvSpPr/>
          <p:nvPr/>
        </p:nvSpPr>
        <p:spPr>
          <a:xfrm>
            <a:off x="548640" y="4754880"/>
            <a:ext cx="2601468" cy="1234440"/>
          </a:xfrm>
          <a:prstGeom prst="roundRect">
            <a:avLst>
              <a:gd name="adj" fmla="val 6667"/>
            </a:avLst>
          </a:prstGeom>
          <a:solidFill>
            <a:srgbClr val="EEF3F7"/>
          </a:solidFill>
          <a:ln/>
        </p:spPr>
      </p:sp>
      <p:sp>
        <p:nvSpPr>
          <p:cNvPr id="33" name="Shape 29"/>
          <p:cNvSpPr/>
          <p:nvPr/>
        </p:nvSpPr>
        <p:spPr>
          <a:xfrm>
            <a:off x="731520" y="4937760"/>
            <a:ext cx="457200" cy="457200"/>
          </a:xfrm>
          <a:prstGeom prst="ellipse">
            <a:avLst/>
          </a:prstGeom>
          <a:solidFill>
            <a:srgbClr val="1C7293"/>
          </a:solidFill>
          <a:ln/>
        </p:spPr>
      </p:sp>
      <p:pic>
        <p:nvPicPr>
          <p:cNvPr id="34" name="Image 2" descr="preencoded.png">    </p:cNvPr>
          <p:cNvPicPr>
            <a:picLocks noChangeAspect="1"/>
          </p:cNvPicPr>
          <p:nvPr/>
        </p:nvPicPr>
        <p:blipFill>
          <a:blip r:embed="rId3"/>
          <a:stretch>
            <a:fillRect/>
          </a:stretch>
        </p:blipFill>
        <p:spPr>
          <a:xfrm>
            <a:off x="854964" y="5061204"/>
            <a:ext cx="210312" cy="210312"/>
          </a:xfrm>
          <a:prstGeom prst="rect">
            <a:avLst/>
          </a:prstGeom>
        </p:spPr>
      </p:pic>
      <p:sp>
        <p:nvSpPr>
          <p:cNvPr id="35" name="Text 30"/>
          <p:cNvSpPr txBox="1"/>
          <p:nvPr/>
        </p:nvSpPr>
        <p:spPr>
          <a:xfrm>
            <a:off x="731520" y="5468112"/>
            <a:ext cx="2235708" cy="292608"/>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Scene-text / OCR</a:t>
            </a:r>
            <a:endParaRPr lang="en-US" sz="1250" dirty="0"/>
          </a:p>
        </p:txBody>
      </p:sp>
      <p:sp>
        <p:nvSpPr>
          <p:cNvPr id="36" name="Text 31"/>
          <p:cNvSpPr txBox="1"/>
          <p:nvPr/>
        </p:nvSpPr>
        <p:spPr>
          <a:xfrm>
            <a:off x="731520" y="5742432"/>
            <a:ext cx="2281428" cy="457200"/>
          </a:xfrm>
          <a:prstGeom prst="rect">
            <a:avLst/>
          </a:prstGeom>
          <a:noFill/>
          <a:ln/>
        </p:spPr>
        <p:txBody>
          <a:bodyPr wrap="square" lIns="0" tIns="0" rIns="0" bIns="0" rtlCol="0" anchor="t"/>
          <a:lstStyle/>
          <a:p>
            <a:pPr indent="0" marL="0">
              <a:buNone/>
            </a:pPr>
            <a:r>
              <a:rPr lang="en-US" sz="1050" dirty="0">
                <a:solidFill>
                  <a:srgbClr val="5B6B7B"/>
                </a:solidFill>
                <a:latin typeface="Calibri" pitchFamily="34" charset="0"/>
                <a:ea typeface="Calibri" pitchFamily="34" charset="-122"/>
                <a:cs typeface="Calibri" pitchFamily="34" charset="-120"/>
              </a:rPr>
              <a:t>Reading text inside images</a:t>
            </a:r>
            <a:endParaRPr lang="en-US" sz="1050" dirty="0"/>
          </a:p>
        </p:txBody>
      </p:sp>
      <p:sp>
        <p:nvSpPr>
          <p:cNvPr id="37" name="Shape 32"/>
          <p:cNvSpPr/>
          <p:nvPr/>
        </p:nvSpPr>
        <p:spPr>
          <a:xfrm>
            <a:off x="3378708" y="4754880"/>
            <a:ext cx="2601468" cy="1234440"/>
          </a:xfrm>
          <a:prstGeom prst="roundRect">
            <a:avLst>
              <a:gd name="adj" fmla="val 6667"/>
            </a:avLst>
          </a:prstGeom>
          <a:solidFill>
            <a:srgbClr val="EEF3F7"/>
          </a:solidFill>
          <a:ln/>
        </p:spPr>
      </p:sp>
      <p:sp>
        <p:nvSpPr>
          <p:cNvPr id="38" name="Shape 33"/>
          <p:cNvSpPr/>
          <p:nvPr/>
        </p:nvSpPr>
        <p:spPr>
          <a:xfrm>
            <a:off x="3561588" y="4937760"/>
            <a:ext cx="457200" cy="457200"/>
          </a:xfrm>
          <a:prstGeom prst="ellipse">
            <a:avLst/>
          </a:prstGeom>
          <a:solidFill>
            <a:srgbClr val="1C7293"/>
          </a:solidFill>
          <a:ln/>
        </p:spPr>
      </p:sp>
      <p:pic>
        <p:nvPicPr>
          <p:cNvPr id="39" name="Image 3" descr="preencoded.png">    </p:cNvPr>
          <p:cNvPicPr>
            <a:picLocks noChangeAspect="1"/>
          </p:cNvPicPr>
          <p:nvPr/>
        </p:nvPicPr>
        <p:blipFill>
          <a:blip r:embed="rId4"/>
          <a:stretch>
            <a:fillRect/>
          </a:stretch>
        </p:blipFill>
        <p:spPr>
          <a:xfrm>
            <a:off x="3685032" y="5061204"/>
            <a:ext cx="210312" cy="210312"/>
          </a:xfrm>
          <a:prstGeom prst="rect">
            <a:avLst/>
          </a:prstGeom>
        </p:spPr>
      </p:pic>
      <p:sp>
        <p:nvSpPr>
          <p:cNvPr id="40" name="Text 34"/>
          <p:cNvSpPr txBox="1"/>
          <p:nvPr/>
        </p:nvSpPr>
        <p:spPr>
          <a:xfrm>
            <a:off x="3561588" y="5468112"/>
            <a:ext cx="2235708" cy="292608"/>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Diacritics</a:t>
            </a:r>
            <a:endParaRPr lang="en-US" sz="1250" dirty="0"/>
          </a:p>
        </p:txBody>
      </p:sp>
      <p:sp>
        <p:nvSpPr>
          <p:cNvPr id="41" name="Text 35"/>
          <p:cNvSpPr txBox="1"/>
          <p:nvPr/>
        </p:nvSpPr>
        <p:spPr>
          <a:xfrm>
            <a:off x="3561588" y="5742432"/>
            <a:ext cx="2281428" cy="457200"/>
          </a:xfrm>
          <a:prstGeom prst="rect">
            <a:avLst/>
          </a:prstGeom>
          <a:noFill/>
          <a:ln/>
        </p:spPr>
        <p:txBody>
          <a:bodyPr wrap="square" lIns="0" tIns="0" rIns="0" bIns="0" rtlCol="0" anchor="t"/>
          <a:lstStyle/>
          <a:p>
            <a:pPr indent="0" marL="0">
              <a:buNone/>
            </a:pPr>
            <a:r>
              <a:rPr lang="en-US" sz="1050" dirty="0">
                <a:solidFill>
                  <a:srgbClr val="5B6B7B"/>
                </a:solidFill>
                <a:latin typeface="Calibri" pitchFamily="34" charset="0"/>
                <a:ea typeface="Calibri" pitchFamily="34" charset="-122"/>
                <a:cs typeface="Calibri" pitchFamily="34" charset="-120"/>
              </a:rPr>
              <a:t>Tone marks change meaning</a:t>
            </a:r>
            <a:endParaRPr lang="en-US" sz="1050" dirty="0"/>
          </a:p>
        </p:txBody>
      </p:sp>
      <p:sp>
        <p:nvSpPr>
          <p:cNvPr id="42" name="Shape 36"/>
          <p:cNvSpPr/>
          <p:nvPr/>
        </p:nvSpPr>
        <p:spPr>
          <a:xfrm>
            <a:off x="6208776" y="4754880"/>
            <a:ext cx="2601468" cy="1234440"/>
          </a:xfrm>
          <a:prstGeom prst="roundRect">
            <a:avLst>
              <a:gd name="adj" fmla="val 6667"/>
            </a:avLst>
          </a:prstGeom>
          <a:solidFill>
            <a:srgbClr val="EEF3F7"/>
          </a:solidFill>
          <a:ln/>
        </p:spPr>
      </p:sp>
      <p:sp>
        <p:nvSpPr>
          <p:cNvPr id="43" name="Shape 37"/>
          <p:cNvSpPr/>
          <p:nvPr/>
        </p:nvSpPr>
        <p:spPr>
          <a:xfrm>
            <a:off x="6391656" y="4937760"/>
            <a:ext cx="457200" cy="457200"/>
          </a:xfrm>
          <a:prstGeom prst="ellipse">
            <a:avLst/>
          </a:prstGeom>
          <a:solidFill>
            <a:srgbClr val="1C7293"/>
          </a:solidFill>
          <a:ln/>
        </p:spPr>
      </p:sp>
      <p:pic>
        <p:nvPicPr>
          <p:cNvPr id="44" name="Image 4" descr="preencoded.png">    </p:cNvPr>
          <p:cNvPicPr>
            <a:picLocks noChangeAspect="1"/>
          </p:cNvPicPr>
          <p:nvPr/>
        </p:nvPicPr>
        <p:blipFill>
          <a:blip r:embed="rId5"/>
          <a:stretch>
            <a:fillRect/>
          </a:stretch>
        </p:blipFill>
        <p:spPr>
          <a:xfrm>
            <a:off x="6515100" y="5061204"/>
            <a:ext cx="210312" cy="210312"/>
          </a:xfrm>
          <a:prstGeom prst="rect">
            <a:avLst/>
          </a:prstGeom>
        </p:spPr>
      </p:pic>
      <p:sp>
        <p:nvSpPr>
          <p:cNvPr id="45" name="Text 38"/>
          <p:cNvSpPr txBox="1"/>
          <p:nvPr/>
        </p:nvSpPr>
        <p:spPr>
          <a:xfrm>
            <a:off x="6391656" y="5468112"/>
            <a:ext cx="2235708" cy="292608"/>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Code-switching</a:t>
            </a:r>
            <a:endParaRPr lang="en-US" sz="1250" dirty="0"/>
          </a:p>
        </p:txBody>
      </p:sp>
      <p:sp>
        <p:nvSpPr>
          <p:cNvPr id="46" name="Text 39"/>
          <p:cNvSpPr txBox="1"/>
          <p:nvPr/>
        </p:nvSpPr>
        <p:spPr>
          <a:xfrm>
            <a:off x="6391656" y="5742432"/>
            <a:ext cx="2281428" cy="457200"/>
          </a:xfrm>
          <a:prstGeom prst="rect">
            <a:avLst/>
          </a:prstGeom>
          <a:noFill/>
          <a:ln/>
        </p:spPr>
        <p:txBody>
          <a:bodyPr wrap="square" lIns="0" tIns="0" rIns="0" bIns="0" rtlCol="0" anchor="t"/>
          <a:lstStyle/>
          <a:p>
            <a:pPr indent="0" marL="0">
              <a:buNone/>
            </a:pPr>
            <a:r>
              <a:rPr lang="en-US" sz="1050" dirty="0">
                <a:solidFill>
                  <a:srgbClr val="5B6B7B"/>
                </a:solidFill>
                <a:latin typeface="Calibri" pitchFamily="34" charset="0"/>
                <a:ea typeface="Calibri" pitchFamily="34" charset="-122"/>
                <a:cs typeface="Calibri" pitchFamily="34" charset="-120"/>
              </a:rPr>
              <a:t>Mixed Vietnamese–English</a:t>
            </a:r>
            <a:endParaRPr lang="en-US" sz="1050" dirty="0"/>
          </a:p>
        </p:txBody>
      </p:sp>
      <p:sp>
        <p:nvSpPr>
          <p:cNvPr id="47" name="Shape 40"/>
          <p:cNvSpPr/>
          <p:nvPr/>
        </p:nvSpPr>
        <p:spPr>
          <a:xfrm>
            <a:off x="9038844" y="4754880"/>
            <a:ext cx="2601468" cy="1234440"/>
          </a:xfrm>
          <a:prstGeom prst="roundRect">
            <a:avLst>
              <a:gd name="adj" fmla="val 6667"/>
            </a:avLst>
          </a:prstGeom>
          <a:solidFill>
            <a:srgbClr val="EEF3F7"/>
          </a:solidFill>
          <a:ln/>
        </p:spPr>
      </p:sp>
      <p:sp>
        <p:nvSpPr>
          <p:cNvPr id="48" name="Shape 41"/>
          <p:cNvSpPr/>
          <p:nvPr/>
        </p:nvSpPr>
        <p:spPr>
          <a:xfrm>
            <a:off x="9221724" y="4937760"/>
            <a:ext cx="457200" cy="457200"/>
          </a:xfrm>
          <a:prstGeom prst="ellipse">
            <a:avLst/>
          </a:prstGeom>
          <a:solidFill>
            <a:srgbClr val="E8A33D"/>
          </a:solidFill>
          <a:ln/>
        </p:spPr>
      </p:sp>
      <p:pic>
        <p:nvPicPr>
          <p:cNvPr id="49" name="Image 5" descr="preencoded.png">    </p:cNvPr>
          <p:cNvPicPr>
            <a:picLocks noChangeAspect="1"/>
          </p:cNvPicPr>
          <p:nvPr/>
        </p:nvPicPr>
        <p:blipFill>
          <a:blip r:embed="rId6"/>
          <a:stretch>
            <a:fillRect/>
          </a:stretch>
        </p:blipFill>
        <p:spPr>
          <a:xfrm>
            <a:off x="9345168" y="5061204"/>
            <a:ext cx="210312" cy="210312"/>
          </a:xfrm>
          <a:prstGeom prst="rect">
            <a:avLst/>
          </a:prstGeom>
        </p:spPr>
      </p:pic>
      <p:sp>
        <p:nvSpPr>
          <p:cNvPr id="50" name="Text 42"/>
          <p:cNvSpPr txBox="1"/>
          <p:nvPr/>
        </p:nvSpPr>
        <p:spPr>
          <a:xfrm>
            <a:off x="9221724" y="5468112"/>
            <a:ext cx="2235708" cy="292608"/>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Hallucination</a:t>
            </a:r>
            <a:endParaRPr lang="en-US" sz="1250" dirty="0"/>
          </a:p>
        </p:txBody>
      </p:sp>
      <p:sp>
        <p:nvSpPr>
          <p:cNvPr id="51" name="Text 43"/>
          <p:cNvSpPr txBox="1"/>
          <p:nvPr/>
        </p:nvSpPr>
        <p:spPr>
          <a:xfrm>
            <a:off x="9221724" y="5742432"/>
            <a:ext cx="2281428" cy="457200"/>
          </a:xfrm>
          <a:prstGeom prst="rect">
            <a:avLst/>
          </a:prstGeom>
          <a:noFill/>
          <a:ln/>
        </p:spPr>
        <p:txBody>
          <a:bodyPr wrap="square" lIns="0" tIns="0" rIns="0" bIns="0" rtlCol="0" anchor="t"/>
          <a:lstStyle/>
          <a:p>
            <a:pPr indent="0" marL="0">
              <a:buNone/>
            </a:pPr>
            <a:r>
              <a:rPr lang="en-US" sz="1050" dirty="0">
                <a:solidFill>
                  <a:srgbClr val="5B6B7B"/>
                </a:solidFill>
                <a:latin typeface="Calibri" pitchFamily="34" charset="0"/>
                <a:ea typeface="Calibri" pitchFamily="34" charset="-122"/>
                <a:cs typeface="Calibri" pitchFamily="34" charset="-120"/>
              </a:rPr>
              <a:t>Fluent but wrong answers</a:t>
            </a:r>
            <a:endParaRPr lang="en-US" sz="1050" dirty="0"/>
          </a:p>
        </p:txBody>
      </p:sp>
      <p:sp>
        <p:nvSpPr>
          <p:cNvPr id="52" name="Text 44"/>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ViVQA-VLM · Week 1 Progress Report</a:t>
            </a:r>
            <a:endParaRPr lang="en-US" sz="900" dirty="0"/>
          </a:p>
        </p:txBody>
      </p:sp>
      <p:sp>
        <p:nvSpPr>
          <p:cNvPr id="53" name="Text 45"/>
          <p:cNvSpPr txBox="1"/>
          <p:nvPr/>
        </p:nvSpPr>
        <p:spPr>
          <a:xfrm>
            <a:off x="11247120" y="6455664"/>
            <a:ext cx="393192"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310896"/>
          </a:xfrm>
          <a:prstGeom prst="roundRect">
            <a:avLst>
              <a:gd name="adj" fmla="val 31250"/>
            </a:avLst>
          </a:prstGeom>
          <a:solidFill>
            <a:srgbClr val="E8A33D"/>
          </a:solidFill>
          <a:ln/>
        </p:spPr>
      </p:sp>
      <p:sp>
        <p:nvSpPr>
          <p:cNvPr id="3" name="Text 1"/>
          <p:cNvSpPr txBox="1"/>
          <p:nvPr/>
        </p:nvSpPr>
        <p:spPr>
          <a:xfrm>
            <a:off x="786384" y="329184"/>
            <a:ext cx="11064240" cy="585216"/>
          </a:xfrm>
          <a:prstGeom prst="rect">
            <a:avLst/>
          </a:prstGeom>
          <a:noFill/>
          <a:ln/>
        </p:spPr>
        <p:txBody>
          <a:bodyPr wrap="square" lIns="0" tIns="0" rIns="0" bIns="0" rtlCol="0" anchor="ctr"/>
          <a:lstStyle/>
          <a:p>
            <a:pPr algn="l" indent="0" marL="0">
              <a:buNone/>
            </a:pPr>
            <a:r>
              <a:rPr lang="en-US" sz="2800" b="1" dirty="0">
                <a:solidFill>
                  <a:srgbClr val="13294B"/>
                </a:solidFill>
                <a:latin typeface="Cambria" pitchFamily="34" charset="0"/>
                <a:ea typeface="Cambria" pitchFamily="34" charset="-122"/>
                <a:cs typeface="Cambria" pitchFamily="34" charset="-120"/>
              </a:rPr>
              <a:t>Literature Matrix — What We Read &amp; What We Use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783080"/>
                <a:gridCol w="1783080"/>
                <a:gridCol w="4114800"/>
                <a:gridCol w="3410712"/>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Venue / Year</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Core idea</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we use</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r>
              <a:tr h="384048">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BLIP-2</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ICML 2023</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Frozen image encoder + frozen LLM via a Q-Former</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Candidate baseline; efficient bridging</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LLaVA</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NeurIPS 2023</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Visual instruction tuning</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Reference; instruction-following</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84048">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Florence-2</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CVPR 2024</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Unified prompt-based seq2seq for vision</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Candidate baseline</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Qwen2.5-VL</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2025 (tech report)</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Strong OCR/doc; dynamic resolution; 3B/7B/72B</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b="1" dirty="0">
                          <a:solidFill>
                            <a:srgbClr val="1C7293"/>
                          </a:solidFill>
                          <a:latin typeface="Calibri" pitchFamily="34" charset="0"/>
                          <a:ea typeface="Calibri" pitchFamily="34" charset="-122"/>
                          <a:cs typeface="Calibri" pitchFamily="34" charset="-120"/>
                        </a:rPr>
                        <a:t>Chosen baseline (3B)</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84048">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ViVQA</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PACLIC 2021</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First Vietnamese VQA (COCO-QA translated)</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General benchmark</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ViTextVQA</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arXiv 2024 / ESWA 2025</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First large Vietnamese scene-text VQA</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Scene-text benchmark; ANLS</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84048">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LoRA</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ICLR 2022</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Low-rank adapters; base weights frozen</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Core PEFT method</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QLoRA</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NeurIPS 2023</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4-bit (NF4) quantization + LoRA</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Fits GPU budget</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84048">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POPE</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EMNLP 2023</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Probing object hallucination</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Hallucination protocol</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VLM Survey</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IEEE TPAMI 2024</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Taxonomy of VLMs for vision tasks</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Positioning &amp; terminology</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bl>
          </a:graphicData>
        </a:graphic>
      </p:graphicFrame>
      <p:sp>
        <p:nvSpPr>
          <p:cNvPr id="5" name="Text 2"/>
          <p:cNvSpPr txBox="1"/>
          <p:nvPr/>
        </p:nvSpPr>
        <p:spPr>
          <a:xfrm>
            <a:off x="548640" y="6053328"/>
            <a:ext cx="11064240" cy="320040"/>
          </a:xfrm>
          <a:prstGeom prst="rect">
            <a:avLst/>
          </a:prstGeom>
          <a:noFill/>
          <a:ln/>
        </p:spPr>
        <p:txBody>
          <a:bodyPr wrap="square" lIns="0" tIns="0" rIns="0" bIns="0" rtlCol="0" anchor="ctr"/>
          <a:lstStyle/>
          <a:p>
            <a:pPr indent="0" marL="0">
              <a:buNone/>
            </a:pPr>
            <a:r>
              <a:rPr lang="en-US" sz="1100" i="1" dirty="0">
                <a:solidFill>
                  <a:srgbClr val="5B6B7B"/>
                </a:solidFill>
                <a:latin typeface="Calibri" pitchFamily="34" charset="0"/>
                <a:ea typeface="Calibri" pitchFamily="34" charset="-122"/>
                <a:cs typeface="Calibri" pitchFamily="34" charset="-120"/>
              </a:rPr>
              <a:t>Reading rule: every paper answers ≥ 10 questions — including the mandatory "What can we use for our project?"</a:t>
            </a:r>
            <a:endParaRPr lang="en-US" sz="1100" dirty="0"/>
          </a:p>
        </p:txBody>
      </p:sp>
      <p:sp>
        <p:nvSpPr>
          <p:cNvPr id="6" name="Text 3"/>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ViVQA-VLM · Week 1 Progress Report</a:t>
            </a:r>
            <a:endParaRPr lang="en-US" sz="900" dirty="0"/>
          </a:p>
        </p:txBody>
      </p:sp>
      <p:sp>
        <p:nvSpPr>
          <p:cNvPr id="7" name="Text 4"/>
          <p:cNvSpPr txBox="1"/>
          <p:nvPr/>
        </p:nvSpPr>
        <p:spPr>
          <a:xfrm>
            <a:off x="11247120" y="6455664"/>
            <a:ext cx="393192"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310896"/>
          </a:xfrm>
          <a:prstGeom prst="roundRect">
            <a:avLst>
              <a:gd name="adj" fmla="val 31250"/>
            </a:avLst>
          </a:prstGeom>
          <a:solidFill>
            <a:srgbClr val="E8A33D"/>
          </a:solidFill>
          <a:ln/>
        </p:spPr>
      </p:sp>
      <p:sp>
        <p:nvSpPr>
          <p:cNvPr id="3" name="Text 1"/>
          <p:cNvSpPr txBox="1"/>
          <p:nvPr/>
        </p:nvSpPr>
        <p:spPr>
          <a:xfrm>
            <a:off x="786384" y="329184"/>
            <a:ext cx="11064240" cy="585216"/>
          </a:xfrm>
          <a:prstGeom prst="rect">
            <a:avLst/>
          </a:prstGeom>
          <a:noFill/>
          <a:ln/>
        </p:spPr>
        <p:txBody>
          <a:bodyPr wrap="square" lIns="0" tIns="0" rIns="0" bIns="0" rtlCol="0" anchor="ctr"/>
          <a:lstStyle/>
          <a:p>
            <a:pPr algn="l" indent="0" marL="0">
              <a:buNone/>
            </a:pPr>
            <a:r>
              <a:rPr lang="en-US" sz="2800" b="1" dirty="0">
                <a:solidFill>
                  <a:srgbClr val="13294B"/>
                </a:solidFill>
                <a:latin typeface="Cambria" pitchFamily="34" charset="0"/>
                <a:ea typeface="Cambria" pitchFamily="34" charset="-122"/>
                <a:cs typeface="Cambria" pitchFamily="34" charset="-120"/>
              </a:rPr>
              <a:t>Research Gap — Four Gaps, With Evidence</a:t>
            </a:r>
            <a:endParaRPr lang="en-US" sz="2800" dirty="0"/>
          </a:p>
        </p:txBody>
      </p:sp>
      <p:sp>
        <p:nvSpPr>
          <p:cNvPr id="4" name="Shape 2"/>
          <p:cNvSpPr/>
          <p:nvPr/>
        </p:nvSpPr>
        <p:spPr>
          <a:xfrm>
            <a:off x="548640" y="1463040"/>
            <a:ext cx="5394960" cy="2084832"/>
          </a:xfrm>
          <a:prstGeom prst="roundRect">
            <a:avLst>
              <a:gd name="adj" fmla="val 3947"/>
            </a:avLst>
          </a:prstGeom>
          <a:solidFill>
            <a:srgbClr val="EEF3F7"/>
          </a:solidFill>
          <a:ln w="12700">
            <a:solidFill>
              <a:srgbClr val="D5DEE6"/>
            </a:solidFill>
            <a:prstDash val="solid"/>
          </a:ln>
        </p:spPr>
      </p:sp>
      <p:sp>
        <p:nvSpPr>
          <p:cNvPr id="5" name="Shape 3"/>
          <p:cNvSpPr/>
          <p:nvPr/>
        </p:nvSpPr>
        <p:spPr>
          <a:xfrm>
            <a:off x="777240" y="1682496"/>
            <a:ext cx="566928" cy="402336"/>
          </a:xfrm>
          <a:prstGeom prst="roundRect">
            <a:avLst>
              <a:gd name="adj" fmla="val 11364"/>
            </a:avLst>
          </a:prstGeom>
          <a:solidFill>
            <a:srgbClr val="1C7293"/>
          </a:solidFill>
          <a:ln/>
        </p:spPr>
      </p:sp>
      <p:sp>
        <p:nvSpPr>
          <p:cNvPr id="6" name="Text 4"/>
          <p:cNvSpPr txBox="1"/>
          <p:nvPr/>
        </p:nvSpPr>
        <p:spPr>
          <a:xfrm>
            <a:off x="777240" y="1682496"/>
            <a:ext cx="56692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G1</a:t>
            </a:r>
            <a:endParaRPr lang="en-US" sz="1300" dirty="0"/>
          </a:p>
        </p:txBody>
      </p:sp>
      <p:sp>
        <p:nvSpPr>
          <p:cNvPr id="7" name="Text 5"/>
          <p:cNvSpPr txBox="1"/>
          <p:nvPr/>
        </p:nvSpPr>
        <p:spPr>
          <a:xfrm>
            <a:off x="1463040" y="1645920"/>
            <a:ext cx="4251960" cy="475488"/>
          </a:xfrm>
          <a:prstGeom prst="rect">
            <a:avLst/>
          </a:prstGeom>
          <a:noFill/>
          <a:ln/>
        </p:spPr>
        <p:txBody>
          <a:bodyPr wrap="square" lIns="0" tIns="0" rIns="0" bIns="0" rtlCol="0" anchor="ctr"/>
          <a:lstStyle/>
          <a:p>
            <a:pPr indent="0" marL="0">
              <a:buNone/>
            </a:pPr>
            <a:r>
              <a:rPr lang="en-US" sz="1450" b="1" dirty="0">
                <a:solidFill>
                  <a:srgbClr val="13294B"/>
                </a:solidFill>
                <a:latin typeface="Calibri" pitchFamily="34" charset="0"/>
                <a:ea typeface="Calibri" pitchFamily="34" charset="-122"/>
                <a:cs typeface="Calibri" pitchFamily="34" charset="-120"/>
              </a:rPr>
              <a:t>English-centric pretraining</a:t>
            </a:r>
            <a:endParaRPr lang="en-US" sz="1450" dirty="0"/>
          </a:p>
        </p:txBody>
      </p:sp>
      <p:sp>
        <p:nvSpPr>
          <p:cNvPr id="8" name="Text 6"/>
          <p:cNvSpPr txBox="1"/>
          <p:nvPr/>
        </p:nvSpPr>
        <p:spPr>
          <a:xfrm>
            <a:off x="804672" y="2212848"/>
            <a:ext cx="4892040" cy="731520"/>
          </a:xfrm>
          <a:prstGeom prst="rect">
            <a:avLst/>
          </a:prstGeom>
          <a:noFill/>
          <a:ln/>
        </p:spPr>
        <p:txBody>
          <a:bodyPr wrap="square" lIns="0" tIns="0" rIns="0" bIns="0" rtlCol="0" anchor="t"/>
          <a:lstStyle/>
          <a:p>
            <a:pPr indent="0" marL="0">
              <a:buNone/>
            </a:pPr>
            <a:r>
              <a:rPr lang="en-US" sz="1200" dirty="0">
                <a:solidFill>
                  <a:srgbClr val="1A2230"/>
                </a:solidFill>
                <a:latin typeface="Calibri" pitchFamily="34" charset="0"/>
                <a:ea typeface="Calibri" pitchFamily="34" charset="-122"/>
                <a:cs typeface="Calibri" pitchFamily="34" charset="-120"/>
              </a:rPr>
              <a:t>Open VLMs are pretrained mostly on English → vision-language alignment is tuned for English, not Vietnamese.</a:t>
            </a:r>
            <a:endParaRPr lang="en-US" sz="1200" dirty="0"/>
          </a:p>
        </p:txBody>
      </p:sp>
      <p:sp>
        <p:nvSpPr>
          <p:cNvPr id="9" name="Text 7"/>
          <p:cNvSpPr txBox="1"/>
          <p:nvPr/>
        </p:nvSpPr>
        <p:spPr>
          <a:xfrm>
            <a:off x="804672" y="2944368"/>
            <a:ext cx="4892040" cy="292608"/>
          </a:xfrm>
          <a:prstGeom prst="rect">
            <a:avLst/>
          </a:prstGeom>
          <a:noFill/>
          <a:ln/>
        </p:spPr>
        <p:txBody>
          <a:bodyPr wrap="square" lIns="0" tIns="0" rIns="0" bIns="0" rtlCol="0" anchor="ctr"/>
          <a:lstStyle/>
          <a:p>
            <a:pPr indent="0" marL="0">
              <a:buNone/>
            </a:pPr>
            <a:r>
              <a:rPr lang="en-US" sz="1050" i="1" dirty="0">
                <a:solidFill>
                  <a:srgbClr val="5B6B7B"/>
                </a:solidFill>
                <a:latin typeface="Calibri" pitchFamily="34" charset="0"/>
                <a:ea typeface="Calibri" pitchFamily="34" charset="-122"/>
                <a:cs typeface="Calibri" pitchFamily="34" charset="-120"/>
              </a:rPr>
              <a:t>Evidence: VLM Survey (Zhang et al., TPAMI 2024)</a:t>
            </a:r>
            <a:endParaRPr lang="en-US" sz="1050" dirty="0"/>
          </a:p>
        </p:txBody>
      </p:sp>
      <p:sp>
        <p:nvSpPr>
          <p:cNvPr id="10" name="Shape 8"/>
          <p:cNvSpPr/>
          <p:nvPr/>
        </p:nvSpPr>
        <p:spPr>
          <a:xfrm>
            <a:off x="804672" y="3236976"/>
            <a:ext cx="1463040" cy="274320"/>
          </a:xfrm>
          <a:prstGeom prst="roundRect">
            <a:avLst>
              <a:gd name="adj" fmla="val 16667"/>
            </a:avLst>
          </a:prstGeom>
          <a:solidFill>
            <a:srgbClr val="748695"/>
          </a:solidFill>
          <a:ln/>
        </p:spPr>
      </p:sp>
      <p:sp>
        <p:nvSpPr>
          <p:cNvPr id="11" name="Text 9"/>
          <p:cNvSpPr txBox="1"/>
          <p:nvPr/>
        </p:nvSpPr>
        <p:spPr>
          <a:xfrm>
            <a:off x="804672" y="3236976"/>
            <a:ext cx="14630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Feasible</a:t>
            </a:r>
            <a:endParaRPr lang="en-US" sz="950" dirty="0"/>
          </a:p>
        </p:txBody>
      </p:sp>
      <p:sp>
        <p:nvSpPr>
          <p:cNvPr id="12" name="Shape 10"/>
          <p:cNvSpPr/>
          <p:nvPr/>
        </p:nvSpPr>
        <p:spPr>
          <a:xfrm>
            <a:off x="6245352" y="1463040"/>
            <a:ext cx="5394960" cy="2084832"/>
          </a:xfrm>
          <a:prstGeom prst="roundRect">
            <a:avLst>
              <a:gd name="adj" fmla="val 3947"/>
            </a:avLst>
          </a:prstGeom>
          <a:solidFill>
            <a:srgbClr val="EAF2F5"/>
          </a:solidFill>
          <a:ln w="25400">
            <a:solidFill>
              <a:srgbClr val="1C7293"/>
            </a:solidFill>
            <a:prstDash val="solid"/>
          </a:ln>
          <a:effectLst>
            <a:outerShdw sx="100000" sy="100000" kx="0" ky="0" algn="bl" rotWithShape="0" blurRad="88900" dist="25400" dir="5400000">
              <a:srgbClr val="A6B4C2">
                <a:alpha val="30000"/>
              </a:srgbClr>
            </a:outerShdw>
          </a:effectLst>
        </p:spPr>
      </p:sp>
      <p:sp>
        <p:nvSpPr>
          <p:cNvPr id="13" name="Shape 11"/>
          <p:cNvSpPr/>
          <p:nvPr/>
        </p:nvSpPr>
        <p:spPr>
          <a:xfrm>
            <a:off x="6473952" y="1682496"/>
            <a:ext cx="566928" cy="402336"/>
          </a:xfrm>
          <a:prstGeom prst="roundRect">
            <a:avLst>
              <a:gd name="adj" fmla="val 11364"/>
            </a:avLst>
          </a:prstGeom>
          <a:solidFill>
            <a:srgbClr val="E8A33D"/>
          </a:solidFill>
          <a:ln/>
        </p:spPr>
      </p:sp>
      <p:sp>
        <p:nvSpPr>
          <p:cNvPr id="14" name="Text 12"/>
          <p:cNvSpPr txBox="1"/>
          <p:nvPr/>
        </p:nvSpPr>
        <p:spPr>
          <a:xfrm>
            <a:off x="6473952" y="1682496"/>
            <a:ext cx="56692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G2</a:t>
            </a:r>
            <a:endParaRPr lang="en-US" sz="1300" dirty="0"/>
          </a:p>
        </p:txBody>
      </p:sp>
      <p:sp>
        <p:nvSpPr>
          <p:cNvPr id="15" name="Text 13"/>
          <p:cNvSpPr txBox="1"/>
          <p:nvPr/>
        </p:nvSpPr>
        <p:spPr>
          <a:xfrm>
            <a:off x="7159752" y="1645920"/>
            <a:ext cx="4251960" cy="475488"/>
          </a:xfrm>
          <a:prstGeom prst="rect">
            <a:avLst/>
          </a:prstGeom>
          <a:noFill/>
          <a:ln/>
        </p:spPr>
        <p:txBody>
          <a:bodyPr wrap="square" lIns="0" tIns="0" rIns="0" bIns="0" rtlCol="0" anchor="ctr"/>
          <a:lstStyle/>
          <a:p>
            <a:pPr indent="0" marL="0">
              <a:buNone/>
            </a:pPr>
            <a:r>
              <a:rPr lang="en-US" sz="1450" b="1" dirty="0">
                <a:solidFill>
                  <a:srgbClr val="13294B"/>
                </a:solidFill>
                <a:latin typeface="Calibri" pitchFamily="34" charset="0"/>
                <a:ea typeface="Calibri" pitchFamily="34" charset="-122"/>
                <a:cs typeface="Calibri" pitchFamily="34" charset="-120"/>
              </a:rPr>
              <a:t>Weak Vietnamese VQA — scene-text</a:t>
            </a:r>
            <a:endParaRPr lang="en-US" sz="1450" dirty="0"/>
          </a:p>
        </p:txBody>
      </p:sp>
      <p:sp>
        <p:nvSpPr>
          <p:cNvPr id="16" name="Text 14"/>
          <p:cNvSpPr txBox="1"/>
          <p:nvPr/>
        </p:nvSpPr>
        <p:spPr>
          <a:xfrm>
            <a:off x="6501384" y="2212848"/>
            <a:ext cx="4892040" cy="731520"/>
          </a:xfrm>
          <a:prstGeom prst="rect">
            <a:avLst/>
          </a:prstGeom>
          <a:noFill/>
          <a:ln/>
        </p:spPr>
        <p:txBody>
          <a:bodyPr wrap="square" lIns="0" tIns="0" rIns="0" bIns="0" rtlCol="0" anchor="t"/>
          <a:lstStyle/>
          <a:p>
            <a:pPr indent="0" marL="0">
              <a:buNone/>
            </a:pPr>
            <a:r>
              <a:rPr lang="en-US" sz="1200" dirty="0">
                <a:solidFill>
                  <a:srgbClr val="1A2230"/>
                </a:solidFill>
                <a:latin typeface="Calibri" pitchFamily="34" charset="0"/>
                <a:ea typeface="Calibri" pitchFamily="34" charset="-122"/>
                <a:cs typeface="Calibri" pitchFamily="34" charset="-120"/>
              </a:rPr>
              <a:t>SOTA models struggle with Vietnamese text-in-image; OCR token ordering is critical.</a:t>
            </a:r>
            <a:endParaRPr lang="en-US" sz="1200" dirty="0"/>
          </a:p>
        </p:txBody>
      </p:sp>
      <p:sp>
        <p:nvSpPr>
          <p:cNvPr id="17" name="Text 15"/>
          <p:cNvSpPr txBox="1"/>
          <p:nvPr/>
        </p:nvSpPr>
        <p:spPr>
          <a:xfrm>
            <a:off x="6501384" y="2944368"/>
            <a:ext cx="4892040" cy="292608"/>
          </a:xfrm>
          <a:prstGeom prst="rect">
            <a:avLst/>
          </a:prstGeom>
          <a:noFill/>
          <a:ln/>
        </p:spPr>
        <p:txBody>
          <a:bodyPr wrap="square" lIns="0" tIns="0" rIns="0" bIns="0" rtlCol="0" anchor="ctr"/>
          <a:lstStyle/>
          <a:p>
            <a:pPr indent="0" marL="0">
              <a:buNone/>
            </a:pPr>
            <a:r>
              <a:rPr lang="en-US" sz="1050" i="1" dirty="0">
                <a:solidFill>
                  <a:srgbClr val="5B6B7B"/>
                </a:solidFill>
                <a:latin typeface="Calibri" pitchFamily="34" charset="0"/>
                <a:ea typeface="Calibri" pitchFamily="34" charset="-122"/>
                <a:cs typeface="Calibri" pitchFamily="34" charset="-120"/>
              </a:rPr>
              <a:t>Evidence: ViTextVQA (Nguyen et al., 2024)</a:t>
            </a:r>
            <a:endParaRPr lang="en-US" sz="1050" dirty="0"/>
          </a:p>
        </p:txBody>
      </p:sp>
      <p:sp>
        <p:nvSpPr>
          <p:cNvPr id="18" name="Shape 16"/>
          <p:cNvSpPr/>
          <p:nvPr/>
        </p:nvSpPr>
        <p:spPr>
          <a:xfrm>
            <a:off x="6501384" y="3236976"/>
            <a:ext cx="1828800" cy="274320"/>
          </a:xfrm>
          <a:prstGeom prst="roundRect">
            <a:avLst>
              <a:gd name="adj" fmla="val 16667"/>
            </a:avLst>
          </a:prstGeom>
          <a:solidFill>
            <a:srgbClr val="1C7293"/>
          </a:solidFill>
          <a:ln/>
        </p:spPr>
      </p:sp>
      <p:sp>
        <p:nvSpPr>
          <p:cNvPr id="19" name="Text 17"/>
          <p:cNvSpPr txBox="1"/>
          <p:nvPr/>
        </p:nvSpPr>
        <p:spPr>
          <a:xfrm>
            <a:off x="6501384" y="3236976"/>
            <a:ext cx="182880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PRIMARY TARGET</a:t>
            </a:r>
            <a:endParaRPr lang="en-US" sz="950" dirty="0"/>
          </a:p>
        </p:txBody>
      </p:sp>
      <p:sp>
        <p:nvSpPr>
          <p:cNvPr id="20" name="Shape 18"/>
          <p:cNvSpPr/>
          <p:nvPr/>
        </p:nvSpPr>
        <p:spPr>
          <a:xfrm>
            <a:off x="548640" y="3675888"/>
            <a:ext cx="5394960" cy="2084832"/>
          </a:xfrm>
          <a:prstGeom prst="roundRect">
            <a:avLst>
              <a:gd name="adj" fmla="val 3947"/>
            </a:avLst>
          </a:prstGeom>
          <a:solidFill>
            <a:srgbClr val="EAF2F5"/>
          </a:solidFill>
          <a:ln w="25400">
            <a:solidFill>
              <a:srgbClr val="1C7293"/>
            </a:solidFill>
            <a:prstDash val="solid"/>
          </a:ln>
          <a:effectLst>
            <a:outerShdw sx="100000" sy="100000" kx="0" ky="0" algn="bl" rotWithShape="0" blurRad="88900" dist="25400" dir="5400000">
              <a:srgbClr val="A6B4C2">
                <a:alpha val="30000"/>
              </a:srgbClr>
            </a:outerShdw>
          </a:effectLst>
        </p:spPr>
      </p:sp>
      <p:sp>
        <p:nvSpPr>
          <p:cNvPr id="21" name="Shape 19"/>
          <p:cNvSpPr/>
          <p:nvPr/>
        </p:nvSpPr>
        <p:spPr>
          <a:xfrm>
            <a:off x="777240" y="3895344"/>
            <a:ext cx="566928" cy="402336"/>
          </a:xfrm>
          <a:prstGeom prst="roundRect">
            <a:avLst>
              <a:gd name="adj" fmla="val 11364"/>
            </a:avLst>
          </a:prstGeom>
          <a:solidFill>
            <a:srgbClr val="E8A33D"/>
          </a:solidFill>
          <a:ln/>
        </p:spPr>
      </p:sp>
      <p:sp>
        <p:nvSpPr>
          <p:cNvPr id="22" name="Text 20"/>
          <p:cNvSpPr txBox="1"/>
          <p:nvPr/>
        </p:nvSpPr>
        <p:spPr>
          <a:xfrm>
            <a:off x="777240" y="3895344"/>
            <a:ext cx="56692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G3</a:t>
            </a:r>
            <a:endParaRPr lang="en-US" sz="1300" dirty="0"/>
          </a:p>
        </p:txBody>
      </p:sp>
      <p:sp>
        <p:nvSpPr>
          <p:cNvPr id="23" name="Text 21"/>
          <p:cNvSpPr txBox="1"/>
          <p:nvPr/>
        </p:nvSpPr>
        <p:spPr>
          <a:xfrm>
            <a:off x="1463040" y="3858768"/>
            <a:ext cx="4251960" cy="475488"/>
          </a:xfrm>
          <a:prstGeom prst="rect">
            <a:avLst/>
          </a:prstGeom>
          <a:noFill/>
          <a:ln/>
        </p:spPr>
        <p:txBody>
          <a:bodyPr wrap="square" lIns="0" tIns="0" rIns="0" bIns="0" rtlCol="0" anchor="ctr"/>
          <a:lstStyle/>
          <a:p>
            <a:pPr indent="0" marL="0">
              <a:buNone/>
            </a:pPr>
            <a:r>
              <a:rPr lang="en-US" sz="1450" b="1" dirty="0">
                <a:solidFill>
                  <a:srgbClr val="13294B"/>
                </a:solidFill>
                <a:latin typeface="Calibri" pitchFamily="34" charset="0"/>
                <a:ea typeface="Calibri" pitchFamily="34" charset="-122"/>
                <a:cs typeface="Calibri" pitchFamily="34" charset="-120"/>
              </a:rPr>
              <a:t>PEFT for Vietnamese VLM under-explored</a:t>
            </a:r>
            <a:endParaRPr lang="en-US" sz="1450" dirty="0"/>
          </a:p>
        </p:txBody>
      </p:sp>
      <p:sp>
        <p:nvSpPr>
          <p:cNvPr id="24" name="Text 22"/>
          <p:cNvSpPr txBox="1"/>
          <p:nvPr/>
        </p:nvSpPr>
        <p:spPr>
          <a:xfrm>
            <a:off x="804672" y="4425696"/>
            <a:ext cx="4892040" cy="731520"/>
          </a:xfrm>
          <a:prstGeom prst="rect">
            <a:avLst/>
          </a:prstGeom>
          <a:noFill/>
          <a:ln/>
        </p:spPr>
        <p:txBody>
          <a:bodyPr wrap="square" lIns="0" tIns="0" rIns="0" bIns="0" rtlCol="0" anchor="t"/>
          <a:lstStyle/>
          <a:p>
            <a:pPr indent="0" marL="0">
              <a:buNone/>
            </a:pPr>
            <a:r>
              <a:rPr lang="en-US" sz="1200" dirty="0">
                <a:solidFill>
                  <a:srgbClr val="1A2230"/>
                </a:solidFill>
                <a:latin typeface="Calibri" pitchFamily="34" charset="0"/>
                <a:ea typeface="Calibri" pitchFamily="34" charset="-122"/>
                <a:cs typeface="Calibri" pitchFamily="34" charset="-120"/>
              </a:rPr>
              <a:t>LoRA/QLoRA adaptation of large VLMs for Vietnamese VQA lacks systematic study.</a:t>
            </a:r>
            <a:endParaRPr lang="en-US" sz="1200" dirty="0"/>
          </a:p>
        </p:txBody>
      </p:sp>
      <p:sp>
        <p:nvSpPr>
          <p:cNvPr id="25" name="Text 23"/>
          <p:cNvSpPr txBox="1"/>
          <p:nvPr/>
        </p:nvSpPr>
        <p:spPr>
          <a:xfrm>
            <a:off x="804672" y="5157216"/>
            <a:ext cx="4892040" cy="292608"/>
          </a:xfrm>
          <a:prstGeom prst="rect">
            <a:avLst/>
          </a:prstGeom>
          <a:noFill/>
          <a:ln/>
        </p:spPr>
        <p:txBody>
          <a:bodyPr wrap="square" lIns="0" tIns="0" rIns="0" bIns="0" rtlCol="0" anchor="ctr"/>
          <a:lstStyle/>
          <a:p>
            <a:pPr indent="0" marL="0">
              <a:buNone/>
            </a:pPr>
            <a:r>
              <a:rPr lang="en-US" sz="1050" i="1" dirty="0">
                <a:solidFill>
                  <a:srgbClr val="5B6B7B"/>
                </a:solidFill>
                <a:latin typeface="Calibri" pitchFamily="34" charset="0"/>
                <a:ea typeface="Calibri" pitchFamily="34" charset="-122"/>
                <a:cs typeface="Calibri" pitchFamily="34" charset="-120"/>
              </a:rPr>
              <a:t>Evidence: literature gap</a:t>
            </a:r>
            <a:endParaRPr lang="en-US" sz="1050" dirty="0"/>
          </a:p>
        </p:txBody>
      </p:sp>
      <p:sp>
        <p:nvSpPr>
          <p:cNvPr id="26" name="Shape 24"/>
          <p:cNvSpPr/>
          <p:nvPr/>
        </p:nvSpPr>
        <p:spPr>
          <a:xfrm>
            <a:off x="804672" y="5449824"/>
            <a:ext cx="1828800" cy="274320"/>
          </a:xfrm>
          <a:prstGeom prst="roundRect">
            <a:avLst>
              <a:gd name="adj" fmla="val 16667"/>
            </a:avLst>
          </a:prstGeom>
          <a:solidFill>
            <a:srgbClr val="1C7293"/>
          </a:solidFill>
          <a:ln/>
        </p:spPr>
      </p:sp>
      <p:sp>
        <p:nvSpPr>
          <p:cNvPr id="27" name="Text 25"/>
          <p:cNvSpPr txBox="1"/>
          <p:nvPr/>
        </p:nvSpPr>
        <p:spPr>
          <a:xfrm>
            <a:off x="804672" y="5449824"/>
            <a:ext cx="182880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CORE NOVELTY</a:t>
            </a:r>
            <a:endParaRPr lang="en-US" sz="950" dirty="0"/>
          </a:p>
        </p:txBody>
      </p:sp>
      <p:sp>
        <p:nvSpPr>
          <p:cNvPr id="28" name="Shape 26"/>
          <p:cNvSpPr/>
          <p:nvPr/>
        </p:nvSpPr>
        <p:spPr>
          <a:xfrm>
            <a:off x="6245352" y="3675888"/>
            <a:ext cx="5394960" cy="2084832"/>
          </a:xfrm>
          <a:prstGeom prst="roundRect">
            <a:avLst>
              <a:gd name="adj" fmla="val 3947"/>
            </a:avLst>
          </a:prstGeom>
          <a:solidFill>
            <a:srgbClr val="EEF3F7"/>
          </a:solidFill>
          <a:ln w="12700">
            <a:solidFill>
              <a:srgbClr val="D5DEE6"/>
            </a:solidFill>
            <a:prstDash val="solid"/>
          </a:ln>
        </p:spPr>
      </p:sp>
      <p:sp>
        <p:nvSpPr>
          <p:cNvPr id="29" name="Shape 27"/>
          <p:cNvSpPr/>
          <p:nvPr/>
        </p:nvSpPr>
        <p:spPr>
          <a:xfrm>
            <a:off x="6473952" y="3895344"/>
            <a:ext cx="566928" cy="402336"/>
          </a:xfrm>
          <a:prstGeom prst="roundRect">
            <a:avLst>
              <a:gd name="adj" fmla="val 11364"/>
            </a:avLst>
          </a:prstGeom>
          <a:solidFill>
            <a:srgbClr val="1C7293"/>
          </a:solidFill>
          <a:ln/>
        </p:spPr>
      </p:sp>
      <p:sp>
        <p:nvSpPr>
          <p:cNvPr id="30" name="Text 28"/>
          <p:cNvSpPr txBox="1"/>
          <p:nvPr/>
        </p:nvSpPr>
        <p:spPr>
          <a:xfrm>
            <a:off x="6473952" y="3895344"/>
            <a:ext cx="56692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G4</a:t>
            </a:r>
            <a:endParaRPr lang="en-US" sz="1300" dirty="0"/>
          </a:p>
        </p:txBody>
      </p:sp>
      <p:sp>
        <p:nvSpPr>
          <p:cNvPr id="31" name="Text 29"/>
          <p:cNvSpPr txBox="1"/>
          <p:nvPr/>
        </p:nvSpPr>
        <p:spPr>
          <a:xfrm>
            <a:off x="7159752" y="3858768"/>
            <a:ext cx="4251960" cy="475488"/>
          </a:xfrm>
          <a:prstGeom prst="rect">
            <a:avLst/>
          </a:prstGeom>
          <a:noFill/>
          <a:ln/>
        </p:spPr>
        <p:txBody>
          <a:bodyPr wrap="square" lIns="0" tIns="0" rIns="0" bIns="0" rtlCol="0" anchor="ctr"/>
          <a:lstStyle/>
          <a:p>
            <a:pPr indent="0" marL="0">
              <a:buNone/>
            </a:pPr>
            <a:r>
              <a:rPr lang="en-US" sz="1450" b="1" dirty="0">
                <a:solidFill>
                  <a:srgbClr val="13294B"/>
                </a:solidFill>
                <a:latin typeface="Calibri" pitchFamily="34" charset="0"/>
                <a:ea typeface="Calibri" pitchFamily="34" charset="-122"/>
                <a:cs typeface="Calibri" pitchFamily="34" charset="-120"/>
              </a:rPr>
              <a:t>Hallucination</a:t>
            </a:r>
            <a:endParaRPr lang="en-US" sz="1450" dirty="0"/>
          </a:p>
        </p:txBody>
      </p:sp>
      <p:sp>
        <p:nvSpPr>
          <p:cNvPr id="32" name="Text 30"/>
          <p:cNvSpPr txBox="1"/>
          <p:nvPr/>
        </p:nvSpPr>
        <p:spPr>
          <a:xfrm>
            <a:off x="6501384" y="4425696"/>
            <a:ext cx="4892040" cy="731520"/>
          </a:xfrm>
          <a:prstGeom prst="rect">
            <a:avLst/>
          </a:prstGeom>
          <a:noFill/>
          <a:ln/>
        </p:spPr>
        <p:txBody>
          <a:bodyPr wrap="square" lIns="0" tIns="0" rIns="0" bIns="0" rtlCol="0" anchor="t"/>
          <a:lstStyle/>
          <a:p>
            <a:pPr indent="0" marL="0">
              <a:buNone/>
            </a:pPr>
            <a:r>
              <a:rPr lang="en-US" sz="1200" dirty="0">
                <a:solidFill>
                  <a:srgbClr val="1A2230"/>
                </a:solidFill>
                <a:latin typeface="Calibri" pitchFamily="34" charset="0"/>
                <a:ea typeface="Calibri" pitchFamily="34" charset="-122"/>
                <a:cs typeface="Calibri" pitchFamily="34" charset="-120"/>
              </a:rPr>
              <a:t>LVLMs produce fluent-but-wrong answers (object hallucination).</a:t>
            </a:r>
            <a:endParaRPr lang="en-US" sz="1200" dirty="0"/>
          </a:p>
        </p:txBody>
      </p:sp>
      <p:sp>
        <p:nvSpPr>
          <p:cNvPr id="33" name="Text 31"/>
          <p:cNvSpPr txBox="1"/>
          <p:nvPr/>
        </p:nvSpPr>
        <p:spPr>
          <a:xfrm>
            <a:off x="6501384" y="5157216"/>
            <a:ext cx="4892040" cy="292608"/>
          </a:xfrm>
          <a:prstGeom prst="rect">
            <a:avLst/>
          </a:prstGeom>
          <a:noFill/>
          <a:ln/>
        </p:spPr>
        <p:txBody>
          <a:bodyPr wrap="square" lIns="0" tIns="0" rIns="0" bIns="0" rtlCol="0" anchor="ctr"/>
          <a:lstStyle/>
          <a:p>
            <a:pPr indent="0" marL="0">
              <a:buNone/>
            </a:pPr>
            <a:r>
              <a:rPr lang="en-US" sz="1050" i="1" dirty="0">
                <a:solidFill>
                  <a:srgbClr val="5B6B7B"/>
                </a:solidFill>
                <a:latin typeface="Calibri" pitchFamily="34" charset="0"/>
                <a:ea typeface="Calibri" pitchFamily="34" charset="-122"/>
                <a:cs typeface="Calibri" pitchFamily="34" charset="-120"/>
              </a:rPr>
              <a:t>Evidence: POPE (Li et al., EMNLP 2023)</a:t>
            </a:r>
            <a:endParaRPr lang="en-US" sz="1050" dirty="0"/>
          </a:p>
        </p:txBody>
      </p:sp>
      <p:sp>
        <p:nvSpPr>
          <p:cNvPr id="34" name="Shape 32"/>
          <p:cNvSpPr/>
          <p:nvPr/>
        </p:nvSpPr>
        <p:spPr>
          <a:xfrm>
            <a:off x="6501384" y="5449824"/>
            <a:ext cx="1463040" cy="274320"/>
          </a:xfrm>
          <a:prstGeom prst="roundRect">
            <a:avLst>
              <a:gd name="adj" fmla="val 16667"/>
            </a:avLst>
          </a:prstGeom>
          <a:solidFill>
            <a:srgbClr val="748695"/>
          </a:solidFill>
          <a:ln/>
        </p:spPr>
      </p:sp>
      <p:sp>
        <p:nvSpPr>
          <p:cNvPr id="35" name="Text 33"/>
          <p:cNvSpPr txBox="1"/>
          <p:nvPr/>
        </p:nvSpPr>
        <p:spPr>
          <a:xfrm>
            <a:off x="6501384" y="5449824"/>
            <a:ext cx="14630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Feasible (analysis)</a:t>
            </a:r>
            <a:endParaRPr lang="en-US" sz="950" dirty="0"/>
          </a:p>
        </p:txBody>
      </p:sp>
      <p:sp>
        <p:nvSpPr>
          <p:cNvPr id="36" name="Text 34"/>
          <p:cNvSpPr txBox="1"/>
          <p:nvPr/>
        </p:nvSpPr>
        <p:spPr>
          <a:xfrm>
            <a:off x="548640" y="5943600"/>
            <a:ext cx="11064240" cy="320040"/>
          </a:xfrm>
          <a:prstGeom prst="rect">
            <a:avLst/>
          </a:prstGeom>
          <a:noFill/>
          <a:ln/>
        </p:spPr>
        <p:txBody>
          <a:bodyPr wrap="square" lIns="0" tIns="0" rIns="0" bIns="0" rtlCol="0" anchor="ctr"/>
          <a:lstStyle/>
          <a:p>
            <a:pPr algn="ctr" indent="0" marL="0">
              <a:buNone/>
            </a:pPr>
            <a:r>
              <a:rPr lang="en-US" sz="1200" b="1" dirty="0">
                <a:solidFill>
                  <a:srgbClr val="13294B"/>
                </a:solidFill>
                <a:latin typeface="Calibri" pitchFamily="34" charset="0"/>
                <a:ea typeface="Calibri" pitchFamily="34" charset="-122"/>
                <a:cs typeface="Calibri" pitchFamily="34" charset="-120"/>
              </a:rPr>
              <a:t>Our focus: </a:t>
            </a:r>
            <a:pPr algn="ctr" indent="0" marL="0">
              <a:buNone/>
            </a:pPr>
            <a:r>
              <a:rPr lang="en-US" sz="1200" dirty="0">
                <a:solidFill>
                  <a:srgbClr val="1A2230"/>
                </a:solidFill>
                <a:latin typeface="Calibri" pitchFamily="34" charset="0"/>
                <a:ea typeface="Calibri" pitchFamily="34" charset="-122"/>
                <a:cs typeface="Calibri" pitchFamily="34" charset="-120"/>
              </a:rPr>
              <a:t>G2 + G3 (scene-text under a strict PEFT budget), with G4 as an analysis dimension.</a:t>
            </a:r>
            <a:endParaRPr lang="en-US" sz="1200" dirty="0"/>
          </a:p>
        </p:txBody>
      </p:sp>
      <p:sp>
        <p:nvSpPr>
          <p:cNvPr id="37" name="Text 35"/>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ViVQA-VLM · Week 1 Progress Report</a:t>
            </a:r>
            <a:endParaRPr lang="en-US" sz="900" dirty="0"/>
          </a:p>
        </p:txBody>
      </p:sp>
      <p:sp>
        <p:nvSpPr>
          <p:cNvPr id="38" name="Text 36"/>
          <p:cNvSpPr txBox="1"/>
          <p:nvPr/>
        </p:nvSpPr>
        <p:spPr>
          <a:xfrm>
            <a:off x="11247120" y="6455664"/>
            <a:ext cx="393192"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310896"/>
          </a:xfrm>
          <a:prstGeom prst="roundRect">
            <a:avLst>
              <a:gd name="adj" fmla="val 31250"/>
            </a:avLst>
          </a:prstGeom>
          <a:solidFill>
            <a:srgbClr val="E8A33D"/>
          </a:solidFill>
          <a:ln/>
        </p:spPr>
      </p:sp>
      <p:sp>
        <p:nvSpPr>
          <p:cNvPr id="3" name="Text 1"/>
          <p:cNvSpPr txBox="1"/>
          <p:nvPr/>
        </p:nvSpPr>
        <p:spPr>
          <a:xfrm>
            <a:off x="786384" y="329184"/>
            <a:ext cx="11064240" cy="585216"/>
          </a:xfrm>
          <a:prstGeom prst="rect">
            <a:avLst/>
          </a:prstGeom>
          <a:noFill/>
          <a:ln/>
        </p:spPr>
        <p:txBody>
          <a:bodyPr wrap="square" lIns="0" tIns="0" rIns="0" bIns="0" rtlCol="0" anchor="ctr"/>
          <a:lstStyle/>
          <a:p>
            <a:pPr algn="l" indent="0" marL="0">
              <a:buNone/>
            </a:pPr>
            <a:r>
              <a:rPr lang="en-US" sz="2800" b="1" dirty="0">
                <a:solidFill>
                  <a:srgbClr val="13294B"/>
                </a:solidFill>
                <a:latin typeface="Cambria" pitchFamily="34" charset="0"/>
                <a:ea typeface="Cambria" pitchFamily="34" charset="-122"/>
                <a:cs typeface="Cambria" pitchFamily="34" charset="-120"/>
              </a:rPr>
              <a:t>Datasets &amp; Question-Type Taxonomy</a:t>
            </a:r>
            <a:endParaRPr lang="en-US" sz="2800" dirty="0"/>
          </a:p>
        </p:txBody>
      </p:sp>
      <p:sp>
        <p:nvSpPr>
          <p:cNvPr id="4" name="Shape 2"/>
          <p:cNvSpPr/>
          <p:nvPr/>
        </p:nvSpPr>
        <p:spPr>
          <a:xfrm>
            <a:off x="548640" y="1463040"/>
            <a:ext cx="5257800" cy="1783080"/>
          </a:xfrm>
          <a:prstGeom prst="roundRect">
            <a:avLst>
              <a:gd name="adj" fmla="val 4615"/>
            </a:avLst>
          </a:prstGeom>
          <a:solidFill>
            <a:srgbClr val="EEF3F7"/>
          </a:solidFill>
          <a:ln/>
          <a:effectLst>
            <a:outerShdw sx="100000" sy="100000" kx="0" ky="0" algn="bl" rotWithShape="0" blurRad="88900" dist="25400" dir="5400000">
              <a:srgbClr val="A6B4C2">
                <a:alpha val="30000"/>
              </a:srgbClr>
            </a:outerShdw>
          </a:effectLst>
        </p:spPr>
      </p:sp>
      <p:sp>
        <p:nvSpPr>
          <p:cNvPr id="5" name="Text 3"/>
          <p:cNvSpPr txBox="1"/>
          <p:nvPr/>
        </p:nvSpPr>
        <p:spPr>
          <a:xfrm>
            <a:off x="777240" y="1600200"/>
            <a:ext cx="4846320" cy="36576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ViVQA — General VQA</a:t>
            </a:r>
            <a:endParaRPr lang="en-US" sz="1500" dirty="0"/>
          </a:p>
        </p:txBody>
      </p:sp>
      <p:sp>
        <p:nvSpPr>
          <p:cNvPr id="6" name="Text 4"/>
          <p:cNvSpPr txBox="1"/>
          <p:nvPr/>
        </p:nvSpPr>
        <p:spPr>
          <a:xfrm>
            <a:off x="822960" y="2057400"/>
            <a:ext cx="2103120" cy="457200"/>
          </a:xfrm>
          <a:prstGeom prst="rect">
            <a:avLst/>
          </a:prstGeom>
          <a:noFill/>
          <a:ln/>
        </p:spPr>
        <p:txBody>
          <a:bodyPr wrap="square" lIns="0" tIns="0" rIns="0" bIns="0" rtlCol="0" anchor="b"/>
          <a:lstStyle/>
          <a:p>
            <a:pPr algn="l" indent="0" marL="0">
              <a:buNone/>
            </a:pPr>
            <a:r>
              <a:rPr lang="en-US" sz="2500" b="1" dirty="0">
                <a:solidFill>
                  <a:srgbClr val="1C7293"/>
                </a:solidFill>
                <a:latin typeface="Cambria" pitchFamily="34" charset="0"/>
                <a:ea typeface="Cambria" pitchFamily="34" charset="-122"/>
                <a:cs typeface="Cambria" pitchFamily="34" charset="-120"/>
              </a:rPr>
              <a:t>10,328</a:t>
            </a:r>
            <a:endParaRPr lang="en-US" sz="2500" dirty="0"/>
          </a:p>
        </p:txBody>
      </p:sp>
      <p:sp>
        <p:nvSpPr>
          <p:cNvPr id="7" name="Text 5"/>
          <p:cNvSpPr txBox="1"/>
          <p:nvPr/>
        </p:nvSpPr>
        <p:spPr>
          <a:xfrm>
            <a:off x="822960" y="2514600"/>
            <a:ext cx="2103120" cy="256032"/>
          </a:xfrm>
          <a:prstGeom prst="rect">
            <a:avLst/>
          </a:prstGeom>
          <a:noFill/>
          <a:ln/>
        </p:spPr>
        <p:txBody>
          <a:bodyPr wrap="square" lIns="0" tIns="0" rIns="0" bIns="0" rtlCol="0" anchor="t"/>
          <a:lstStyle/>
          <a:p>
            <a:pPr algn="l" indent="0" marL="0">
              <a:buNone/>
            </a:pPr>
            <a:r>
              <a:rPr lang="en-US" sz="950" dirty="0">
                <a:solidFill>
                  <a:srgbClr val="5B6B7B"/>
                </a:solidFill>
                <a:latin typeface="Calibri" pitchFamily="34" charset="0"/>
                <a:ea typeface="Calibri" pitchFamily="34" charset="-122"/>
                <a:cs typeface="Calibri" pitchFamily="34" charset="-120"/>
              </a:rPr>
              <a:t>images</a:t>
            </a:r>
            <a:endParaRPr lang="en-US" sz="950" dirty="0"/>
          </a:p>
        </p:txBody>
      </p:sp>
      <p:sp>
        <p:nvSpPr>
          <p:cNvPr id="8" name="Text 6"/>
          <p:cNvSpPr txBox="1"/>
          <p:nvPr/>
        </p:nvSpPr>
        <p:spPr>
          <a:xfrm>
            <a:off x="3063240" y="2057400"/>
            <a:ext cx="2103120" cy="457200"/>
          </a:xfrm>
          <a:prstGeom prst="rect">
            <a:avLst/>
          </a:prstGeom>
          <a:noFill/>
          <a:ln/>
        </p:spPr>
        <p:txBody>
          <a:bodyPr wrap="square" lIns="0" tIns="0" rIns="0" bIns="0" rtlCol="0" anchor="b"/>
          <a:lstStyle/>
          <a:p>
            <a:pPr algn="l" indent="0" marL="0">
              <a:buNone/>
            </a:pPr>
            <a:r>
              <a:rPr lang="en-US" sz="2500" b="1" dirty="0">
                <a:solidFill>
                  <a:srgbClr val="1C7293"/>
                </a:solidFill>
                <a:latin typeface="Cambria" pitchFamily="34" charset="0"/>
                <a:ea typeface="Cambria" pitchFamily="34" charset="-122"/>
                <a:cs typeface="Cambria" pitchFamily="34" charset="-120"/>
              </a:rPr>
              <a:t>15,000</a:t>
            </a:r>
            <a:endParaRPr lang="en-US" sz="2500" dirty="0"/>
          </a:p>
        </p:txBody>
      </p:sp>
      <p:sp>
        <p:nvSpPr>
          <p:cNvPr id="9" name="Text 7"/>
          <p:cNvSpPr txBox="1"/>
          <p:nvPr/>
        </p:nvSpPr>
        <p:spPr>
          <a:xfrm>
            <a:off x="3063240" y="2514600"/>
            <a:ext cx="2103120" cy="256032"/>
          </a:xfrm>
          <a:prstGeom prst="rect">
            <a:avLst/>
          </a:prstGeom>
          <a:noFill/>
          <a:ln/>
        </p:spPr>
        <p:txBody>
          <a:bodyPr wrap="square" lIns="0" tIns="0" rIns="0" bIns="0" rtlCol="0" anchor="t"/>
          <a:lstStyle/>
          <a:p>
            <a:pPr algn="l" indent="0" marL="0">
              <a:buNone/>
            </a:pPr>
            <a:r>
              <a:rPr lang="en-US" sz="950" dirty="0">
                <a:solidFill>
                  <a:srgbClr val="5B6B7B"/>
                </a:solidFill>
                <a:latin typeface="Calibri" pitchFamily="34" charset="0"/>
                <a:ea typeface="Calibri" pitchFamily="34" charset="-122"/>
                <a:cs typeface="Calibri" pitchFamily="34" charset="-120"/>
              </a:rPr>
              <a:t>question–answer pairs</a:t>
            </a:r>
            <a:endParaRPr lang="en-US" sz="950" dirty="0"/>
          </a:p>
        </p:txBody>
      </p:sp>
      <p:sp>
        <p:nvSpPr>
          <p:cNvPr id="10" name="Text 8"/>
          <p:cNvSpPr txBox="1"/>
          <p:nvPr/>
        </p:nvSpPr>
        <p:spPr>
          <a:xfrm>
            <a:off x="777240" y="2816352"/>
            <a:ext cx="4892040" cy="365760"/>
          </a:xfrm>
          <a:prstGeom prst="rect">
            <a:avLst/>
          </a:prstGeom>
          <a:noFill/>
          <a:ln/>
        </p:spPr>
        <p:txBody>
          <a:bodyPr wrap="square" lIns="0" tIns="0" rIns="0" bIns="0" rtlCol="0" anchor="t"/>
          <a:lstStyle/>
          <a:p>
            <a:pPr indent="0" marL="0">
              <a:buNone/>
            </a:pPr>
            <a:r>
              <a:rPr lang="en-US" sz="1050" dirty="0">
                <a:solidFill>
                  <a:srgbClr val="5B6B7B"/>
                </a:solidFill>
                <a:latin typeface="Calibri" pitchFamily="34" charset="0"/>
                <a:ea typeface="Calibri" pitchFamily="34" charset="-122"/>
                <a:cs typeface="Calibri" pitchFamily="34" charset="-120"/>
              </a:rPr>
              <a:t>MS COCO images · COCO-QA translated EN→VI · 8:2 split  (Tran et al., PACLIC 2021)</a:t>
            </a:r>
            <a:endParaRPr lang="en-US" sz="1050" dirty="0"/>
          </a:p>
        </p:txBody>
      </p:sp>
      <p:sp>
        <p:nvSpPr>
          <p:cNvPr id="11" name="Shape 9"/>
          <p:cNvSpPr/>
          <p:nvPr/>
        </p:nvSpPr>
        <p:spPr>
          <a:xfrm>
            <a:off x="548640" y="3401568"/>
            <a:ext cx="5257800" cy="1783080"/>
          </a:xfrm>
          <a:prstGeom prst="roundRect">
            <a:avLst>
              <a:gd name="adj" fmla="val 4615"/>
            </a:avLst>
          </a:prstGeom>
          <a:solidFill>
            <a:srgbClr val="EEF3F7"/>
          </a:solidFill>
          <a:ln/>
          <a:effectLst>
            <a:outerShdw sx="100000" sy="100000" kx="0" ky="0" algn="bl" rotWithShape="0" blurRad="88900" dist="25400" dir="5400000">
              <a:srgbClr val="A6B4C2">
                <a:alpha val="30000"/>
              </a:srgbClr>
            </a:outerShdw>
          </a:effectLst>
        </p:spPr>
      </p:sp>
      <p:sp>
        <p:nvSpPr>
          <p:cNvPr id="12" name="Text 10"/>
          <p:cNvSpPr txBox="1"/>
          <p:nvPr/>
        </p:nvSpPr>
        <p:spPr>
          <a:xfrm>
            <a:off x="777240" y="3538728"/>
            <a:ext cx="4846320" cy="36576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ViTextVQA — Scene-text VQA</a:t>
            </a:r>
            <a:endParaRPr lang="en-US" sz="1500" dirty="0"/>
          </a:p>
        </p:txBody>
      </p:sp>
      <p:sp>
        <p:nvSpPr>
          <p:cNvPr id="13" name="Text 11"/>
          <p:cNvSpPr txBox="1"/>
          <p:nvPr/>
        </p:nvSpPr>
        <p:spPr>
          <a:xfrm>
            <a:off x="822960" y="3995928"/>
            <a:ext cx="2103120" cy="457200"/>
          </a:xfrm>
          <a:prstGeom prst="rect">
            <a:avLst/>
          </a:prstGeom>
          <a:noFill/>
          <a:ln/>
        </p:spPr>
        <p:txBody>
          <a:bodyPr wrap="square" lIns="0" tIns="0" rIns="0" bIns="0" rtlCol="0" anchor="b"/>
          <a:lstStyle/>
          <a:p>
            <a:pPr algn="l" indent="0" marL="0">
              <a:buNone/>
            </a:pPr>
            <a:r>
              <a:rPr lang="en-US" sz="2500" b="1" dirty="0">
                <a:solidFill>
                  <a:srgbClr val="E8A33D"/>
                </a:solidFill>
                <a:latin typeface="Cambria" pitchFamily="34" charset="0"/>
                <a:ea typeface="Cambria" pitchFamily="34" charset="-122"/>
                <a:cs typeface="Cambria" pitchFamily="34" charset="-120"/>
              </a:rPr>
              <a:t>16,000+</a:t>
            </a:r>
            <a:endParaRPr lang="en-US" sz="2500" dirty="0"/>
          </a:p>
        </p:txBody>
      </p:sp>
      <p:sp>
        <p:nvSpPr>
          <p:cNvPr id="14" name="Text 12"/>
          <p:cNvSpPr txBox="1"/>
          <p:nvPr/>
        </p:nvSpPr>
        <p:spPr>
          <a:xfrm>
            <a:off x="822960" y="4453128"/>
            <a:ext cx="2103120" cy="256032"/>
          </a:xfrm>
          <a:prstGeom prst="rect">
            <a:avLst/>
          </a:prstGeom>
          <a:noFill/>
          <a:ln/>
        </p:spPr>
        <p:txBody>
          <a:bodyPr wrap="square" lIns="0" tIns="0" rIns="0" bIns="0" rtlCol="0" anchor="t"/>
          <a:lstStyle/>
          <a:p>
            <a:pPr algn="l" indent="0" marL="0">
              <a:buNone/>
            </a:pPr>
            <a:r>
              <a:rPr lang="en-US" sz="950" dirty="0">
                <a:solidFill>
                  <a:srgbClr val="5B6B7B"/>
                </a:solidFill>
                <a:latin typeface="Calibri" pitchFamily="34" charset="0"/>
                <a:ea typeface="Calibri" pitchFamily="34" charset="-122"/>
                <a:cs typeface="Calibri" pitchFamily="34" charset="-120"/>
              </a:rPr>
              <a:t>images</a:t>
            </a:r>
            <a:endParaRPr lang="en-US" sz="950" dirty="0"/>
          </a:p>
        </p:txBody>
      </p:sp>
      <p:sp>
        <p:nvSpPr>
          <p:cNvPr id="15" name="Text 13"/>
          <p:cNvSpPr txBox="1"/>
          <p:nvPr/>
        </p:nvSpPr>
        <p:spPr>
          <a:xfrm>
            <a:off x="3063240" y="3995928"/>
            <a:ext cx="2103120" cy="457200"/>
          </a:xfrm>
          <a:prstGeom prst="rect">
            <a:avLst/>
          </a:prstGeom>
          <a:noFill/>
          <a:ln/>
        </p:spPr>
        <p:txBody>
          <a:bodyPr wrap="square" lIns="0" tIns="0" rIns="0" bIns="0" rtlCol="0" anchor="b"/>
          <a:lstStyle/>
          <a:p>
            <a:pPr algn="l" indent="0" marL="0">
              <a:buNone/>
            </a:pPr>
            <a:r>
              <a:rPr lang="en-US" sz="2500" b="1" dirty="0">
                <a:solidFill>
                  <a:srgbClr val="E8A33D"/>
                </a:solidFill>
                <a:latin typeface="Cambria" pitchFamily="34" charset="0"/>
                <a:ea typeface="Cambria" pitchFamily="34" charset="-122"/>
                <a:cs typeface="Cambria" pitchFamily="34" charset="-120"/>
              </a:rPr>
              <a:t>50,000+</a:t>
            </a:r>
            <a:endParaRPr lang="en-US" sz="2500" dirty="0"/>
          </a:p>
        </p:txBody>
      </p:sp>
      <p:sp>
        <p:nvSpPr>
          <p:cNvPr id="16" name="Text 14"/>
          <p:cNvSpPr txBox="1"/>
          <p:nvPr/>
        </p:nvSpPr>
        <p:spPr>
          <a:xfrm>
            <a:off x="3063240" y="4453128"/>
            <a:ext cx="2103120" cy="256032"/>
          </a:xfrm>
          <a:prstGeom prst="rect">
            <a:avLst/>
          </a:prstGeom>
          <a:noFill/>
          <a:ln/>
        </p:spPr>
        <p:txBody>
          <a:bodyPr wrap="square" lIns="0" tIns="0" rIns="0" bIns="0" rtlCol="0" anchor="t"/>
          <a:lstStyle/>
          <a:p>
            <a:pPr algn="l" indent="0" marL="0">
              <a:buNone/>
            </a:pPr>
            <a:r>
              <a:rPr lang="en-US" sz="950" dirty="0">
                <a:solidFill>
                  <a:srgbClr val="5B6B7B"/>
                </a:solidFill>
                <a:latin typeface="Calibri" pitchFamily="34" charset="0"/>
                <a:ea typeface="Calibri" pitchFamily="34" charset="-122"/>
                <a:cs typeface="Calibri" pitchFamily="34" charset="-120"/>
              </a:rPr>
              <a:t>question–answer pairs</a:t>
            </a:r>
            <a:endParaRPr lang="en-US" sz="950" dirty="0"/>
          </a:p>
        </p:txBody>
      </p:sp>
      <p:sp>
        <p:nvSpPr>
          <p:cNvPr id="17" name="Text 15"/>
          <p:cNvSpPr txBox="1"/>
          <p:nvPr/>
        </p:nvSpPr>
        <p:spPr>
          <a:xfrm>
            <a:off x="777240" y="4754880"/>
            <a:ext cx="4892040" cy="365760"/>
          </a:xfrm>
          <a:prstGeom prst="rect">
            <a:avLst/>
          </a:prstGeom>
          <a:noFill/>
          <a:ln/>
        </p:spPr>
        <p:txBody>
          <a:bodyPr wrap="square" lIns="0" tIns="0" rIns="0" bIns="0" rtlCol="0" anchor="t"/>
          <a:lstStyle/>
          <a:p>
            <a:pPr indent="0" marL="0">
              <a:buNone/>
            </a:pPr>
            <a:r>
              <a:rPr lang="en-US" sz="1050" dirty="0">
                <a:solidFill>
                  <a:srgbClr val="5B6B7B"/>
                </a:solidFill>
                <a:latin typeface="Calibri" pitchFamily="34" charset="0"/>
                <a:ea typeface="Calibri" pitchFamily="34" charset="-122"/>
                <a:cs typeface="Calibri" pitchFamily="34" charset="-120"/>
              </a:rPr>
              <a:t>First large-scale Vietnamese text-in-image dataset  (Nguyen et al., arXiv:2404.10652, 2024)</a:t>
            </a:r>
            <a:endParaRPr lang="en-US" sz="1050" dirty="0"/>
          </a:p>
        </p:txBody>
      </p:sp>
      <p:sp>
        <p:nvSpPr>
          <p:cNvPr id="18" name="Text 16"/>
          <p:cNvSpPr txBox="1"/>
          <p:nvPr/>
        </p:nvSpPr>
        <p:spPr>
          <a:xfrm>
            <a:off x="6126480" y="1463040"/>
            <a:ext cx="5486400" cy="36576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Question-Type Taxonomy v0</a:t>
            </a:r>
            <a:endParaRPr lang="en-US" sz="1500" dirty="0"/>
          </a:p>
        </p:txBody>
      </p:sp>
      <p:sp>
        <p:nvSpPr>
          <p:cNvPr id="19" name="Shape 17"/>
          <p:cNvSpPr/>
          <p:nvPr/>
        </p:nvSpPr>
        <p:spPr>
          <a:xfrm>
            <a:off x="6126480" y="1938528"/>
            <a:ext cx="512064" cy="512064"/>
          </a:xfrm>
          <a:prstGeom prst="ellipse">
            <a:avLst/>
          </a:prstGeom>
          <a:solidFill>
            <a:srgbClr val="1C7293"/>
          </a:solidFill>
          <a:ln/>
        </p:spPr>
      </p:sp>
      <p:pic>
        <p:nvPicPr>
          <p:cNvPr id="20" name="Image 0" descr="preencoded.png">    </p:cNvPr>
          <p:cNvPicPr>
            <a:picLocks noChangeAspect="1"/>
          </p:cNvPicPr>
          <p:nvPr/>
        </p:nvPicPr>
        <p:blipFill>
          <a:blip r:embed="rId1"/>
          <a:stretch>
            <a:fillRect/>
          </a:stretch>
        </p:blipFill>
        <p:spPr>
          <a:xfrm>
            <a:off x="6264737" y="2076785"/>
            <a:ext cx="235549" cy="235549"/>
          </a:xfrm>
          <a:prstGeom prst="rect">
            <a:avLst/>
          </a:prstGeom>
        </p:spPr>
      </p:pic>
      <p:sp>
        <p:nvSpPr>
          <p:cNvPr id="21" name="Text 18"/>
          <p:cNvSpPr txBox="1"/>
          <p:nvPr/>
        </p:nvSpPr>
        <p:spPr>
          <a:xfrm>
            <a:off x="6812280" y="1920240"/>
            <a:ext cx="4663440" cy="310896"/>
          </a:xfrm>
          <a:prstGeom prst="rect">
            <a:avLst/>
          </a:prstGeom>
          <a:noFill/>
          <a:ln/>
        </p:spPr>
        <p:txBody>
          <a:bodyPr wrap="square" lIns="0" tIns="0" rIns="0" bIns="0"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Yes / No</a:t>
            </a:r>
            <a:endParaRPr lang="en-US" sz="1300" dirty="0"/>
          </a:p>
        </p:txBody>
      </p:sp>
      <p:sp>
        <p:nvSpPr>
          <p:cNvPr id="22" name="Text 19"/>
          <p:cNvSpPr txBox="1"/>
          <p:nvPr/>
        </p:nvSpPr>
        <p:spPr>
          <a:xfrm>
            <a:off x="6812280" y="2212848"/>
            <a:ext cx="4663440" cy="27432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Binary answers</a:t>
            </a:r>
            <a:endParaRPr lang="en-US" sz="1050" dirty="0"/>
          </a:p>
        </p:txBody>
      </p:sp>
      <p:sp>
        <p:nvSpPr>
          <p:cNvPr id="23" name="Shape 20"/>
          <p:cNvSpPr/>
          <p:nvPr/>
        </p:nvSpPr>
        <p:spPr>
          <a:xfrm>
            <a:off x="6126480" y="2697480"/>
            <a:ext cx="512064" cy="512064"/>
          </a:xfrm>
          <a:prstGeom prst="ellipse">
            <a:avLst/>
          </a:prstGeom>
          <a:solidFill>
            <a:srgbClr val="4FB0C6"/>
          </a:solidFill>
          <a:ln/>
        </p:spPr>
      </p:sp>
      <p:pic>
        <p:nvPicPr>
          <p:cNvPr id="24" name="Image 1" descr="preencoded.png">    </p:cNvPr>
          <p:cNvPicPr>
            <a:picLocks noChangeAspect="1"/>
          </p:cNvPicPr>
          <p:nvPr/>
        </p:nvPicPr>
        <p:blipFill>
          <a:blip r:embed="rId2"/>
          <a:stretch>
            <a:fillRect/>
          </a:stretch>
        </p:blipFill>
        <p:spPr>
          <a:xfrm>
            <a:off x="6264737" y="2835737"/>
            <a:ext cx="235549" cy="235549"/>
          </a:xfrm>
          <a:prstGeom prst="rect">
            <a:avLst/>
          </a:prstGeom>
        </p:spPr>
      </p:pic>
      <p:sp>
        <p:nvSpPr>
          <p:cNvPr id="25" name="Text 21"/>
          <p:cNvSpPr txBox="1"/>
          <p:nvPr/>
        </p:nvSpPr>
        <p:spPr>
          <a:xfrm>
            <a:off x="6812280" y="2679192"/>
            <a:ext cx="4663440" cy="310896"/>
          </a:xfrm>
          <a:prstGeom prst="rect">
            <a:avLst/>
          </a:prstGeom>
          <a:noFill/>
          <a:ln/>
        </p:spPr>
        <p:txBody>
          <a:bodyPr wrap="square" lIns="0" tIns="0" rIns="0" bIns="0"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Counting</a:t>
            </a:r>
            <a:endParaRPr lang="en-US" sz="1300" dirty="0"/>
          </a:p>
        </p:txBody>
      </p:sp>
      <p:sp>
        <p:nvSpPr>
          <p:cNvPr id="26" name="Text 22"/>
          <p:cNvSpPr txBox="1"/>
          <p:nvPr/>
        </p:nvSpPr>
        <p:spPr>
          <a:xfrm>
            <a:off x="6812280" y="2971800"/>
            <a:ext cx="4663440" cy="27432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"How many …"</a:t>
            </a:r>
            <a:endParaRPr lang="en-US" sz="1050" dirty="0"/>
          </a:p>
        </p:txBody>
      </p:sp>
      <p:sp>
        <p:nvSpPr>
          <p:cNvPr id="27" name="Shape 23"/>
          <p:cNvSpPr/>
          <p:nvPr/>
        </p:nvSpPr>
        <p:spPr>
          <a:xfrm>
            <a:off x="6126480" y="3456432"/>
            <a:ext cx="512064" cy="512064"/>
          </a:xfrm>
          <a:prstGeom prst="ellipse">
            <a:avLst/>
          </a:prstGeom>
          <a:solidFill>
            <a:srgbClr val="1C7293"/>
          </a:solidFill>
          <a:ln/>
        </p:spPr>
      </p:sp>
      <p:pic>
        <p:nvPicPr>
          <p:cNvPr id="28" name="Image 2" descr="preencoded.png">    </p:cNvPr>
          <p:cNvPicPr>
            <a:picLocks noChangeAspect="1"/>
          </p:cNvPicPr>
          <p:nvPr/>
        </p:nvPicPr>
        <p:blipFill>
          <a:blip r:embed="rId3"/>
          <a:stretch>
            <a:fillRect/>
          </a:stretch>
        </p:blipFill>
        <p:spPr>
          <a:xfrm>
            <a:off x="6264737" y="3594689"/>
            <a:ext cx="235549" cy="235549"/>
          </a:xfrm>
          <a:prstGeom prst="rect">
            <a:avLst/>
          </a:prstGeom>
        </p:spPr>
      </p:pic>
      <p:sp>
        <p:nvSpPr>
          <p:cNvPr id="29" name="Text 24"/>
          <p:cNvSpPr txBox="1"/>
          <p:nvPr/>
        </p:nvSpPr>
        <p:spPr>
          <a:xfrm>
            <a:off x="6812280" y="3438144"/>
            <a:ext cx="4663440" cy="310896"/>
          </a:xfrm>
          <a:prstGeom prst="rect">
            <a:avLst/>
          </a:prstGeom>
          <a:noFill/>
          <a:ln/>
        </p:spPr>
        <p:txBody>
          <a:bodyPr wrap="square" lIns="0" tIns="0" rIns="0" bIns="0"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Object recognition</a:t>
            </a:r>
            <a:endParaRPr lang="en-US" sz="1300" dirty="0"/>
          </a:p>
        </p:txBody>
      </p:sp>
      <p:sp>
        <p:nvSpPr>
          <p:cNvPr id="30" name="Text 25"/>
          <p:cNvSpPr txBox="1"/>
          <p:nvPr/>
        </p:nvSpPr>
        <p:spPr>
          <a:xfrm>
            <a:off x="6812280" y="3730752"/>
            <a:ext cx="4663440" cy="27432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What / which object</a:t>
            </a:r>
            <a:endParaRPr lang="en-US" sz="1050" dirty="0"/>
          </a:p>
        </p:txBody>
      </p:sp>
      <p:sp>
        <p:nvSpPr>
          <p:cNvPr id="31" name="Shape 26"/>
          <p:cNvSpPr/>
          <p:nvPr/>
        </p:nvSpPr>
        <p:spPr>
          <a:xfrm>
            <a:off x="6126480" y="4215384"/>
            <a:ext cx="512064" cy="512064"/>
          </a:xfrm>
          <a:prstGeom prst="ellipse">
            <a:avLst/>
          </a:prstGeom>
          <a:solidFill>
            <a:srgbClr val="4FB0C6"/>
          </a:solidFill>
          <a:ln/>
        </p:spPr>
      </p:sp>
      <p:pic>
        <p:nvPicPr>
          <p:cNvPr id="32" name="Image 3" descr="preencoded.png">    </p:cNvPr>
          <p:cNvPicPr>
            <a:picLocks noChangeAspect="1"/>
          </p:cNvPicPr>
          <p:nvPr/>
        </p:nvPicPr>
        <p:blipFill>
          <a:blip r:embed="rId4"/>
          <a:stretch>
            <a:fillRect/>
          </a:stretch>
        </p:blipFill>
        <p:spPr>
          <a:xfrm>
            <a:off x="6264737" y="4353641"/>
            <a:ext cx="235549" cy="235549"/>
          </a:xfrm>
          <a:prstGeom prst="rect">
            <a:avLst/>
          </a:prstGeom>
        </p:spPr>
      </p:pic>
      <p:sp>
        <p:nvSpPr>
          <p:cNvPr id="33" name="Text 27"/>
          <p:cNvSpPr txBox="1"/>
          <p:nvPr/>
        </p:nvSpPr>
        <p:spPr>
          <a:xfrm>
            <a:off x="6812280" y="4197096"/>
            <a:ext cx="4663440" cy="310896"/>
          </a:xfrm>
          <a:prstGeom prst="rect">
            <a:avLst/>
          </a:prstGeom>
          <a:noFill/>
          <a:ln/>
        </p:spPr>
        <p:txBody>
          <a:bodyPr wrap="square" lIns="0" tIns="0" rIns="0" bIns="0"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Text-reading</a:t>
            </a:r>
            <a:endParaRPr lang="en-US" sz="1300" dirty="0"/>
          </a:p>
        </p:txBody>
      </p:sp>
      <p:sp>
        <p:nvSpPr>
          <p:cNvPr id="34" name="Text 28"/>
          <p:cNvSpPr txBox="1"/>
          <p:nvPr/>
        </p:nvSpPr>
        <p:spPr>
          <a:xfrm>
            <a:off x="6812280" y="4489704"/>
            <a:ext cx="4663440" cy="27432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Read scene text (OCR)</a:t>
            </a:r>
            <a:endParaRPr lang="en-US" sz="1050" dirty="0"/>
          </a:p>
        </p:txBody>
      </p:sp>
      <p:sp>
        <p:nvSpPr>
          <p:cNvPr id="35" name="Shape 29"/>
          <p:cNvSpPr/>
          <p:nvPr/>
        </p:nvSpPr>
        <p:spPr>
          <a:xfrm>
            <a:off x="6126480" y="4974336"/>
            <a:ext cx="512064" cy="512064"/>
          </a:xfrm>
          <a:prstGeom prst="ellipse">
            <a:avLst/>
          </a:prstGeom>
          <a:solidFill>
            <a:srgbClr val="1C7293"/>
          </a:solidFill>
          <a:ln/>
        </p:spPr>
      </p:sp>
      <p:pic>
        <p:nvPicPr>
          <p:cNvPr id="36" name="Image 4" descr="preencoded.png">    </p:cNvPr>
          <p:cNvPicPr>
            <a:picLocks noChangeAspect="1"/>
          </p:cNvPicPr>
          <p:nvPr/>
        </p:nvPicPr>
        <p:blipFill>
          <a:blip r:embed="rId5"/>
          <a:stretch>
            <a:fillRect/>
          </a:stretch>
        </p:blipFill>
        <p:spPr>
          <a:xfrm>
            <a:off x="6264737" y="5112593"/>
            <a:ext cx="235549" cy="235549"/>
          </a:xfrm>
          <a:prstGeom prst="rect">
            <a:avLst/>
          </a:prstGeom>
        </p:spPr>
      </p:pic>
      <p:sp>
        <p:nvSpPr>
          <p:cNvPr id="37" name="Text 30"/>
          <p:cNvSpPr txBox="1"/>
          <p:nvPr/>
        </p:nvSpPr>
        <p:spPr>
          <a:xfrm>
            <a:off x="6812280" y="4956048"/>
            <a:ext cx="4663440" cy="310896"/>
          </a:xfrm>
          <a:prstGeom prst="rect">
            <a:avLst/>
          </a:prstGeom>
          <a:noFill/>
          <a:ln/>
        </p:spPr>
        <p:txBody>
          <a:bodyPr wrap="square" lIns="0" tIns="0" rIns="0" bIns="0"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Reasoning</a:t>
            </a:r>
            <a:endParaRPr lang="en-US" sz="1300" dirty="0"/>
          </a:p>
        </p:txBody>
      </p:sp>
      <p:sp>
        <p:nvSpPr>
          <p:cNvPr id="38" name="Text 31"/>
          <p:cNvSpPr txBox="1"/>
          <p:nvPr/>
        </p:nvSpPr>
        <p:spPr>
          <a:xfrm>
            <a:off x="6812280" y="5248656"/>
            <a:ext cx="4663440" cy="27432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Multi-step inference</a:t>
            </a:r>
            <a:endParaRPr lang="en-US" sz="1050" dirty="0"/>
          </a:p>
        </p:txBody>
      </p:sp>
      <p:sp>
        <p:nvSpPr>
          <p:cNvPr id="39" name="Shape 32"/>
          <p:cNvSpPr/>
          <p:nvPr/>
        </p:nvSpPr>
        <p:spPr>
          <a:xfrm>
            <a:off x="6108192" y="5742432"/>
            <a:ext cx="5431536" cy="457200"/>
          </a:xfrm>
          <a:prstGeom prst="roundRect">
            <a:avLst>
              <a:gd name="adj" fmla="val 12000"/>
            </a:avLst>
          </a:prstGeom>
          <a:solidFill>
            <a:srgbClr val="1F3A5F"/>
          </a:solidFill>
          <a:ln/>
        </p:spPr>
      </p:sp>
      <p:sp>
        <p:nvSpPr>
          <p:cNvPr id="40" name="Text 33"/>
          <p:cNvSpPr txBox="1"/>
          <p:nvPr/>
        </p:nvSpPr>
        <p:spPr>
          <a:xfrm>
            <a:off x="6309360" y="5742432"/>
            <a:ext cx="5120640" cy="457200"/>
          </a:xfrm>
          <a:prstGeom prst="rect">
            <a:avLst/>
          </a:prstGeom>
          <a:noFill/>
          <a:ln/>
        </p:spPr>
        <p:txBody>
          <a:bodyPr wrap="square" lIns="0" tIns="0" rIns="0" bIns="0" rtlCol="0" anchor="ctr"/>
          <a:lstStyle/>
          <a:p>
            <a:pPr indent="0" marL="0">
              <a:buNone/>
            </a:pPr>
            <a:r>
              <a:rPr lang="en-US" sz="1100" b="1" dirty="0">
                <a:solidFill>
                  <a:srgbClr val="E8A33D"/>
                </a:solidFill>
                <a:latin typeface="Calibri" pitchFamily="34" charset="0"/>
                <a:ea typeface="Calibri" pitchFamily="34" charset="-122"/>
                <a:cs typeface="Calibri" pitchFamily="34" charset="-120"/>
              </a:rPr>
              <a:t>Metrics  </a:t>
            </a:r>
            <a:pPr indent="0" marL="0">
              <a:buNone/>
            </a:pPr>
            <a:r>
              <a:rPr lang="en-US" sz="1100" dirty="0">
                <a:solidFill>
                  <a:srgbClr val="FFFFFF"/>
                </a:solidFill>
                <a:latin typeface="Calibri" pitchFamily="34" charset="0"/>
                <a:ea typeface="Calibri" pitchFamily="34" charset="-122"/>
                <a:cs typeface="Calibri" pitchFamily="34" charset="-120"/>
              </a:rPr>
              <a:t>ViVQA → EM / VQA-Acc     ViTextVQA → ANLS (+ VQA-Acc)</a:t>
            </a:r>
            <a:endParaRPr lang="en-US" sz="1100" dirty="0"/>
          </a:p>
        </p:txBody>
      </p:sp>
      <p:sp>
        <p:nvSpPr>
          <p:cNvPr id="41" name="Text 34"/>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ViVQA-VLM · Week 1 Progress Report</a:t>
            </a:r>
            <a:endParaRPr lang="en-US" sz="900" dirty="0"/>
          </a:p>
        </p:txBody>
      </p:sp>
      <p:sp>
        <p:nvSpPr>
          <p:cNvPr id="42" name="Text 35"/>
          <p:cNvSpPr txBox="1"/>
          <p:nvPr/>
        </p:nvSpPr>
        <p:spPr>
          <a:xfrm>
            <a:off x="11247120" y="6455664"/>
            <a:ext cx="393192"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310896"/>
          </a:xfrm>
          <a:prstGeom prst="roundRect">
            <a:avLst>
              <a:gd name="adj" fmla="val 31250"/>
            </a:avLst>
          </a:prstGeom>
          <a:solidFill>
            <a:srgbClr val="E8A33D"/>
          </a:solidFill>
          <a:ln/>
        </p:spPr>
      </p:sp>
      <p:sp>
        <p:nvSpPr>
          <p:cNvPr id="3" name="Text 1"/>
          <p:cNvSpPr txBox="1"/>
          <p:nvPr/>
        </p:nvSpPr>
        <p:spPr>
          <a:xfrm>
            <a:off x="786384" y="329184"/>
            <a:ext cx="11064240" cy="585216"/>
          </a:xfrm>
          <a:prstGeom prst="rect">
            <a:avLst/>
          </a:prstGeom>
          <a:noFill/>
          <a:ln/>
        </p:spPr>
        <p:txBody>
          <a:bodyPr wrap="square" lIns="0" tIns="0" rIns="0" bIns="0" rtlCol="0" anchor="ctr"/>
          <a:lstStyle/>
          <a:p>
            <a:pPr algn="l" indent="0" marL="0">
              <a:buNone/>
            </a:pPr>
            <a:r>
              <a:rPr lang="en-US" sz="2800" b="1" dirty="0">
                <a:solidFill>
                  <a:srgbClr val="13294B"/>
                </a:solidFill>
                <a:latin typeface="Cambria" pitchFamily="34" charset="0"/>
                <a:ea typeface="Cambria" pitchFamily="34" charset="-122"/>
                <a:cs typeface="Cambria" pitchFamily="34" charset="-120"/>
              </a:rPr>
              <a:t>Pilot Observation — Zero-Shot (Qualitative)</a:t>
            </a:r>
            <a:endParaRPr lang="en-US" sz="2800" dirty="0"/>
          </a:p>
        </p:txBody>
      </p:sp>
      <p:sp>
        <p:nvSpPr>
          <p:cNvPr id="4" name="Shape 2"/>
          <p:cNvSpPr/>
          <p:nvPr/>
        </p:nvSpPr>
        <p:spPr>
          <a:xfrm>
            <a:off x="548640" y="1417320"/>
            <a:ext cx="10991088" cy="566928"/>
          </a:xfrm>
          <a:prstGeom prst="roundRect">
            <a:avLst>
              <a:gd name="adj" fmla="val 14516"/>
            </a:avLst>
          </a:prstGeom>
          <a:solidFill>
            <a:srgbClr val="FBE9CE"/>
          </a:solidFill>
          <a:ln/>
        </p:spPr>
      </p:sp>
      <p:sp>
        <p:nvSpPr>
          <p:cNvPr id="5" name="Shape 3"/>
          <p:cNvSpPr/>
          <p:nvPr/>
        </p:nvSpPr>
        <p:spPr>
          <a:xfrm>
            <a:off x="685800" y="1481328"/>
            <a:ext cx="438912" cy="438912"/>
          </a:xfrm>
          <a:prstGeom prst="ellipse">
            <a:avLst/>
          </a:prstGeom>
          <a:solidFill>
            <a:srgbClr val="E8A33D"/>
          </a:solidFill>
          <a:ln/>
        </p:spPr>
      </p:sp>
      <p:pic>
        <p:nvPicPr>
          <p:cNvPr id="6" name="Image 0" descr="preencoded.png">    </p:cNvPr>
          <p:cNvPicPr>
            <a:picLocks noChangeAspect="1"/>
          </p:cNvPicPr>
          <p:nvPr/>
        </p:nvPicPr>
        <p:blipFill>
          <a:blip r:embed="rId1"/>
          <a:stretch>
            <a:fillRect/>
          </a:stretch>
        </p:blipFill>
        <p:spPr>
          <a:xfrm>
            <a:off x="804306" y="1599834"/>
            <a:ext cx="201900" cy="201900"/>
          </a:xfrm>
          <a:prstGeom prst="rect">
            <a:avLst/>
          </a:prstGeom>
        </p:spPr>
      </p:pic>
      <p:sp>
        <p:nvSpPr>
          <p:cNvPr id="7" name="Text 4"/>
          <p:cNvSpPr txBox="1"/>
          <p:nvPr/>
        </p:nvSpPr>
        <p:spPr>
          <a:xfrm>
            <a:off x="1280160" y="1417320"/>
            <a:ext cx="10104120" cy="566928"/>
          </a:xfrm>
          <a:prstGeom prst="rect">
            <a:avLst/>
          </a:prstGeom>
          <a:noFill/>
          <a:ln/>
        </p:spPr>
        <p:txBody>
          <a:bodyPr wrap="square" lIns="0" tIns="0" rIns="0" bIns="0" rtlCol="0" anchor="ctr"/>
          <a:lstStyle/>
          <a:p>
            <a:pPr indent="0" marL="0">
              <a:buNone/>
            </a:pPr>
            <a:r>
              <a:rPr lang="en-US" sz="1150" b="1" dirty="0">
                <a:solidFill>
                  <a:srgbClr val="9C6B16"/>
                </a:solidFill>
                <a:latin typeface="Calibri" pitchFamily="34" charset="0"/>
                <a:ea typeface="Calibri" pitchFamily="34" charset="-122"/>
                <a:cs typeface="Calibri" pitchFamily="34" charset="-120"/>
              </a:rPr>
              <a:t>TEMPLATE — </a:t>
            </a:r>
            <a:pPr indent="0" marL="0">
              <a:buNone/>
            </a:pPr>
            <a:r>
              <a:rPr lang="en-US" sz="1150" dirty="0">
                <a:solidFill>
                  <a:srgbClr val="6E5320"/>
                </a:solidFill>
                <a:latin typeface="Calibri" pitchFamily="34" charset="0"/>
                <a:ea typeface="Calibri" pitchFamily="34" charset="-122"/>
                <a:cs typeface="Calibri" pitchFamily="34" charset="-120"/>
              </a:rPr>
              <a:t>fill with the team's real observations from the samples we ran. No numbers are reported until measured.</a:t>
            </a:r>
            <a:endParaRPr lang="en-US" sz="1150" dirty="0"/>
          </a:p>
        </p:txBody>
      </p:sp>
      <p:sp>
        <p:nvSpPr>
          <p:cNvPr id="8" name="Shape 5"/>
          <p:cNvSpPr/>
          <p:nvPr/>
        </p:nvSpPr>
        <p:spPr>
          <a:xfrm>
            <a:off x="548640" y="2121408"/>
            <a:ext cx="10991088" cy="502920"/>
          </a:xfrm>
          <a:prstGeom prst="roundRect">
            <a:avLst>
              <a:gd name="adj" fmla="val 16364"/>
            </a:avLst>
          </a:prstGeom>
          <a:solidFill>
            <a:srgbClr val="E1EAF1"/>
          </a:solidFill>
          <a:ln/>
        </p:spPr>
      </p:sp>
      <p:sp>
        <p:nvSpPr>
          <p:cNvPr id="9" name="Text 6"/>
          <p:cNvSpPr txBox="1"/>
          <p:nvPr/>
        </p:nvSpPr>
        <p:spPr>
          <a:xfrm>
            <a:off x="777240" y="2121408"/>
            <a:ext cx="10515600" cy="502920"/>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Setup:   </a:t>
            </a:r>
            <a:pPr indent="0" marL="0">
              <a:buNone/>
            </a:pPr>
            <a:r>
              <a:rPr lang="en-US" sz="1150" dirty="0">
                <a:solidFill>
                  <a:srgbClr val="1A2230"/>
                </a:solidFill>
                <a:latin typeface="Calibri" pitchFamily="34" charset="0"/>
                <a:ea typeface="Calibri" pitchFamily="34" charset="-122"/>
                <a:cs typeface="Calibri" pitchFamily="34" charset="-120"/>
              </a:rPr>
              <a:t>N = ___ (ViVQA ___, ViTextVQA ___)    ·    Model = ___ (zero-shot)    ·    Seed = ___    ·    GPU = ___</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761488"/>
          <a:ext cx="11091672" cy="914400"/>
        </p:xfrm>
        <a:graphic>
          <a:graphicData uri="http://schemas.openxmlformats.org/drawingml/2006/table">
            <a:tbl>
              <a:tblPr/>
              <a:tblGrid>
                <a:gridCol w="2926080"/>
                <a:gridCol w="4114800"/>
                <a:gridCol w="1645920"/>
                <a:gridCol w="2404872"/>
              </a:tblGrid>
              <a:tr h="4572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Failure mode</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Where it appears</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Seen? (Y/N)</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Example (img id / Q)</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r>
              <a:tr h="457200">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OCR / scene-text errors</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Diacritics dropped, wrong segmentation</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___</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___</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Object hallucination</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Names objects not in the image</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___</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___</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457200">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Counting errors</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Miscount of objects</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___</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___</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Reasoning errors</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Wrong multi-step inference</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___</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___</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457200">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Code-switching / language</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Answers in English or mixed</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___</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___</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5532120"/>
            <a:ext cx="10991088" cy="566928"/>
          </a:xfrm>
          <a:prstGeom prst="roundRect">
            <a:avLst>
              <a:gd name="adj" fmla="val 14516"/>
            </a:avLst>
          </a:prstGeom>
          <a:solidFill>
            <a:srgbClr val="1C7293"/>
          </a:solidFill>
          <a:ln/>
        </p:spPr>
      </p:sp>
      <p:sp>
        <p:nvSpPr>
          <p:cNvPr id="12" name="Text 8"/>
          <p:cNvSpPr txBox="1"/>
          <p:nvPr/>
        </p:nvSpPr>
        <p:spPr>
          <a:xfrm>
            <a:off x="777240" y="5532120"/>
            <a:ext cx="10515600" cy="566928"/>
          </a:xfrm>
          <a:prstGeom prst="rect">
            <a:avLst/>
          </a:prstGeom>
          <a:noFill/>
          <a:ln/>
        </p:spPr>
        <p:txBody>
          <a:bodyPr wrap="square" lIns="0" tIns="0" rIns="0" bIns="0" rtlCol="0" anchor="ctr"/>
          <a:lstStyle/>
          <a:p>
            <a:pPr indent="0" marL="0">
              <a:buNone/>
            </a:pPr>
            <a:r>
              <a:rPr lang="en-US" sz="1150" b="1" dirty="0">
                <a:solidFill>
                  <a:srgbClr val="E8A33D"/>
                </a:solidFill>
                <a:latin typeface="Calibri" pitchFamily="34" charset="0"/>
                <a:ea typeface="Calibri" pitchFamily="34" charset="-122"/>
                <a:cs typeface="Calibri" pitchFamily="34" charset="-120"/>
              </a:rPr>
              <a:t>Early takeaway (to confirm):  </a:t>
            </a:r>
            <a:pPr indent="0" marL="0">
              <a:buNone/>
            </a:pPr>
            <a:r>
              <a:rPr lang="en-US" sz="1150" dirty="0">
                <a:solidFill>
                  <a:srgbClr val="FFFFFF"/>
                </a:solidFill>
                <a:latin typeface="Calibri" pitchFamily="34" charset="0"/>
                <a:ea typeface="Calibri" pitchFamily="34" charset="-122"/>
                <a:cs typeface="Calibri" pitchFamily="34" charset="-120"/>
              </a:rPr>
              <a:t>scene-text + diacritics are likely the weakest area → motivates OCR-enhanced prompting (H2).</a:t>
            </a:r>
            <a:endParaRPr lang="en-US" sz="1150" dirty="0"/>
          </a:p>
        </p:txBody>
      </p:sp>
      <p:sp>
        <p:nvSpPr>
          <p:cNvPr id="13" name="Text 9"/>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ViVQA-VLM · Week 1 Progress Report</a:t>
            </a:r>
            <a:endParaRPr lang="en-US" sz="900" dirty="0"/>
          </a:p>
        </p:txBody>
      </p:sp>
      <p:sp>
        <p:nvSpPr>
          <p:cNvPr id="14" name="Text 10"/>
          <p:cNvSpPr txBox="1"/>
          <p:nvPr/>
        </p:nvSpPr>
        <p:spPr>
          <a:xfrm>
            <a:off x="11247120" y="6455664"/>
            <a:ext cx="393192"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310896"/>
          </a:xfrm>
          <a:prstGeom prst="roundRect">
            <a:avLst>
              <a:gd name="adj" fmla="val 31250"/>
            </a:avLst>
          </a:prstGeom>
          <a:solidFill>
            <a:srgbClr val="E8A33D"/>
          </a:solidFill>
          <a:ln/>
        </p:spPr>
      </p:sp>
      <p:sp>
        <p:nvSpPr>
          <p:cNvPr id="3" name="Text 1"/>
          <p:cNvSpPr txBox="1"/>
          <p:nvPr/>
        </p:nvSpPr>
        <p:spPr>
          <a:xfrm>
            <a:off x="786384" y="329184"/>
            <a:ext cx="11064240" cy="585216"/>
          </a:xfrm>
          <a:prstGeom prst="rect">
            <a:avLst/>
          </a:prstGeom>
          <a:noFill/>
          <a:ln/>
        </p:spPr>
        <p:txBody>
          <a:bodyPr wrap="square" lIns="0" tIns="0" rIns="0" bIns="0" rtlCol="0" anchor="ctr"/>
          <a:lstStyle/>
          <a:p>
            <a:pPr algn="l" indent="0" marL="0">
              <a:buNone/>
            </a:pPr>
            <a:r>
              <a:rPr lang="en-US" sz="2800" b="1" dirty="0">
                <a:solidFill>
                  <a:srgbClr val="13294B"/>
                </a:solidFill>
                <a:latin typeface="Cambria" pitchFamily="34" charset="0"/>
                <a:ea typeface="Cambria" pitchFamily="34" charset="-122"/>
                <a:cs typeface="Cambria" pitchFamily="34" charset="-120"/>
              </a:rPr>
              <a:t>Research Questions &amp; Hypotheses</a:t>
            </a:r>
            <a:endParaRPr lang="en-US" sz="2800" dirty="0"/>
          </a:p>
        </p:txBody>
      </p:sp>
      <p:sp>
        <p:nvSpPr>
          <p:cNvPr id="4" name="Shape 2"/>
          <p:cNvSpPr/>
          <p:nvPr/>
        </p:nvSpPr>
        <p:spPr>
          <a:xfrm>
            <a:off x="548640" y="1463040"/>
            <a:ext cx="5806440" cy="1371600"/>
          </a:xfrm>
          <a:prstGeom prst="roundRect">
            <a:avLst>
              <a:gd name="adj" fmla="val 6000"/>
            </a:avLst>
          </a:prstGeom>
          <a:solidFill>
            <a:srgbClr val="1C7293"/>
          </a:solidFill>
          <a:ln/>
          <a:effectLst>
            <a:outerShdw sx="100000" sy="100000" kx="0" ky="0" algn="bl" rotWithShape="0" blurRad="88900" dist="25400" dir="5400000">
              <a:srgbClr val="A6B4C2">
                <a:alpha val="30000"/>
              </a:srgbClr>
            </a:outerShdw>
          </a:effectLst>
        </p:spPr>
      </p:sp>
      <p:sp>
        <p:nvSpPr>
          <p:cNvPr id="5" name="Shape 3"/>
          <p:cNvSpPr/>
          <p:nvPr/>
        </p:nvSpPr>
        <p:spPr>
          <a:xfrm>
            <a:off x="749808" y="1664208"/>
            <a:ext cx="457200" cy="457200"/>
          </a:xfrm>
          <a:prstGeom prst="ellipse">
            <a:avLst/>
          </a:prstGeom>
          <a:solidFill>
            <a:srgbClr val="E8A33D"/>
          </a:solidFill>
          <a:ln/>
        </p:spPr>
      </p:sp>
      <p:pic>
        <p:nvPicPr>
          <p:cNvPr id="6" name="Image 0" descr="preencoded.png">    </p:cNvPr>
          <p:cNvPicPr>
            <a:picLocks noChangeAspect="1"/>
          </p:cNvPicPr>
          <p:nvPr/>
        </p:nvPicPr>
        <p:blipFill>
          <a:blip r:embed="rId1"/>
          <a:stretch>
            <a:fillRect/>
          </a:stretch>
        </p:blipFill>
        <p:spPr>
          <a:xfrm>
            <a:off x="873252" y="1787652"/>
            <a:ext cx="210312" cy="210312"/>
          </a:xfrm>
          <a:prstGeom prst="rect">
            <a:avLst/>
          </a:prstGeom>
        </p:spPr>
      </p:pic>
      <p:sp>
        <p:nvSpPr>
          <p:cNvPr id="7" name="Text 4"/>
          <p:cNvSpPr txBox="1"/>
          <p:nvPr/>
        </p:nvSpPr>
        <p:spPr>
          <a:xfrm>
            <a:off x="1325880" y="1627632"/>
            <a:ext cx="4846320" cy="274320"/>
          </a:xfrm>
          <a:prstGeom prst="rect">
            <a:avLst/>
          </a:prstGeom>
          <a:noFill/>
          <a:ln/>
        </p:spPr>
        <p:txBody>
          <a:bodyPr wrap="square" lIns="0" tIns="0" rIns="0" bIns="0" rtlCol="0" anchor="ctr"/>
          <a:lstStyle/>
          <a:p>
            <a:pPr indent="0" marL="0">
              <a:buNone/>
            </a:pPr>
            <a:r>
              <a:rPr lang="en-US" sz="1100" b="1" spc="100" kern="0" dirty="0">
                <a:solidFill>
                  <a:srgbClr val="E8A33D"/>
                </a:solidFill>
                <a:latin typeface="Calibri" pitchFamily="34" charset="0"/>
                <a:ea typeface="Calibri" pitchFamily="34" charset="-122"/>
                <a:cs typeface="Calibri" pitchFamily="34" charset="-120"/>
              </a:rPr>
              <a:t>PRIMARY RQ</a:t>
            </a:r>
            <a:endParaRPr lang="en-US" sz="1100" dirty="0"/>
          </a:p>
        </p:txBody>
      </p:sp>
      <p:sp>
        <p:nvSpPr>
          <p:cNvPr id="8" name="Text 5"/>
          <p:cNvSpPr txBox="1"/>
          <p:nvPr/>
        </p:nvSpPr>
        <p:spPr>
          <a:xfrm>
            <a:off x="1325880" y="1920240"/>
            <a:ext cx="4892040" cy="82296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Can PEFT (LoRA/QLoRA) of an open-source VLM measurably improve Vietnamese VQA accuracy and/or reduce hallucination over a reproduced baseline — without full fine-tuning?</a:t>
            </a:r>
            <a:endParaRPr lang="en-US" sz="1200" dirty="0"/>
          </a:p>
        </p:txBody>
      </p:sp>
      <p:sp>
        <p:nvSpPr>
          <p:cNvPr id="9" name="Text 6"/>
          <p:cNvSpPr txBox="1"/>
          <p:nvPr/>
        </p:nvSpPr>
        <p:spPr>
          <a:xfrm>
            <a:off x="548640" y="3063240"/>
            <a:ext cx="5486400" cy="3200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Secondary RQs</a:t>
            </a:r>
            <a:endParaRPr lang="en-US" sz="1400" dirty="0"/>
          </a:p>
        </p:txBody>
      </p:sp>
      <p:sp>
        <p:nvSpPr>
          <p:cNvPr id="10" name="Text 7"/>
          <p:cNvSpPr txBox="1"/>
          <p:nvPr/>
        </p:nvSpPr>
        <p:spPr>
          <a:xfrm>
            <a:off x="548640" y="3474720"/>
            <a:ext cx="5760720" cy="1828800"/>
          </a:xfrm>
          <a:prstGeom prst="rect">
            <a:avLst/>
          </a:prstGeom>
          <a:noFill/>
          <a:ln/>
        </p:spPr>
        <p:txBody>
          <a:bodyPr wrap="square" lIns="25400" tIns="25400" rIns="25400" bIns="25400" rtlCol="0" anchor="t"/>
          <a:lstStyle/>
          <a:p>
            <a:pPr algn="l" marL="177800" indent="-177800">
              <a:spcAft>
                <a:spcPts val="1000"/>
              </a:spcAft>
              <a:buSzPct val="100000"/>
              <a:buChar char="•"/>
            </a:pPr>
            <a:r>
              <a:rPr lang="en-US" sz="1300" dirty="0">
                <a:solidFill>
                  <a:srgbClr val="1A2230"/>
                </a:solidFill>
                <a:latin typeface="Calibri" pitchFamily="34" charset="0"/>
                <a:ea typeface="Calibri" pitchFamily="34" charset="-122"/>
                <a:cs typeface="Calibri" pitchFamily="34" charset="-120"/>
              </a:rPr>
              <a:t>RQ2 — Does OCR-enhanced prompting improve scene-text VQA (ANLS)?</a:t>
            </a:r>
            <a:endParaRPr lang="en-US" sz="1300" dirty="0"/>
          </a:p>
          <a:p>
            <a:pPr algn="l" marL="177800" indent="-177800">
              <a:spcAft>
                <a:spcPts val="1000"/>
              </a:spcAft>
              <a:buSzPct val="100000"/>
              <a:buChar char="•"/>
            </a:pPr>
            <a:r>
              <a:rPr lang="en-US" sz="1300" dirty="0">
                <a:solidFill>
                  <a:srgbClr val="1A2230"/>
                </a:solidFill>
                <a:latin typeface="Calibri" pitchFamily="34" charset="0"/>
                <a:ea typeface="Calibri" pitchFamily="34" charset="-122"/>
                <a:cs typeface="Calibri" pitchFamily="34" charset="-120"/>
              </a:rPr>
              <a:t>RQ3 — Accuracy vs. memory/latency trade-off of 4-bit QLoRA?</a:t>
            </a:r>
            <a:endParaRPr lang="en-US" sz="1300" dirty="0"/>
          </a:p>
          <a:p>
            <a:pPr algn="l" marL="177800" indent="-177800">
              <a:spcAft>
                <a:spcPts val="1000"/>
              </a:spcAft>
              <a:buSzPct val="100000"/>
              <a:buChar char="•"/>
            </a:pPr>
            <a:r>
              <a:rPr lang="en-US" sz="1300" dirty="0">
                <a:solidFill>
                  <a:srgbClr val="1A2230"/>
                </a:solidFill>
                <a:latin typeface="Calibri" pitchFamily="34" charset="0"/>
                <a:ea typeface="Calibri" pitchFamily="34" charset="-122"/>
                <a:cs typeface="Calibri" pitchFamily="34" charset="-120"/>
              </a:rPr>
              <a:t>RQ4 — Which question types benefit most / stay hardest?</a:t>
            </a:r>
            <a:endParaRPr lang="en-US" sz="1300" dirty="0"/>
          </a:p>
        </p:txBody>
      </p:sp>
      <p:sp>
        <p:nvSpPr>
          <p:cNvPr id="11" name="Text 8"/>
          <p:cNvSpPr txBox="1"/>
          <p:nvPr/>
        </p:nvSpPr>
        <p:spPr>
          <a:xfrm>
            <a:off x="6629400" y="1463040"/>
            <a:ext cx="4937760" cy="3200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Hypotheses</a:t>
            </a:r>
            <a:endParaRPr lang="en-US" sz="1400" dirty="0"/>
          </a:p>
        </p:txBody>
      </p:sp>
      <p:sp>
        <p:nvSpPr>
          <p:cNvPr id="12" name="Shape 9"/>
          <p:cNvSpPr/>
          <p:nvPr/>
        </p:nvSpPr>
        <p:spPr>
          <a:xfrm>
            <a:off x="6629400" y="1874520"/>
            <a:ext cx="4910328" cy="1188720"/>
          </a:xfrm>
          <a:prstGeom prst="roundRect">
            <a:avLst>
              <a:gd name="adj" fmla="val 6923"/>
            </a:avLst>
          </a:prstGeom>
          <a:solidFill>
            <a:srgbClr val="EEF3F7"/>
          </a:solidFill>
          <a:ln/>
        </p:spPr>
      </p:sp>
      <p:sp>
        <p:nvSpPr>
          <p:cNvPr id="13" name="Shape 10"/>
          <p:cNvSpPr/>
          <p:nvPr/>
        </p:nvSpPr>
        <p:spPr>
          <a:xfrm>
            <a:off x="6830568" y="2075688"/>
            <a:ext cx="475488" cy="475488"/>
          </a:xfrm>
          <a:prstGeom prst="ellipse">
            <a:avLst/>
          </a:prstGeom>
          <a:solidFill>
            <a:srgbClr val="1C7293"/>
          </a:solidFill>
          <a:ln/>
        </p:spPr>
      </p:sp>
      <p:pic>
        <p:nvPicPr>
          <p:cNvPr id="14" name="Image 1" descr="preencoded.png">    </p:cNvPr>
          <p:cNvPicPr>
            <a:picLocks noChangeAspect="1"/>
          </p:cNvPicPr>
          <p:nvPr/>
        </p:nvPicPr>
        <p:blipFill>
          <a:blip r:embed="rId2"/>
          <a:stretch>
            <a:fillRect/>
          </a:stretch>
        </p:blipFill>
        <p:spPr>
          <a:xfrm>
            <a:off x="6958950" y="2204070"/>
            <a:ext cx="218724" cy="218724"/>
          </a:xfrm>
          <a:prstGeom prst="rect">
            <a:avLst/>
          </a:prstGeom>
        </p:spPr>
      </p:pic>
      <p:sp>
        <p:nvSpPr>
          <p:cNvPr id="15" name="Text 11"/>
          <p:cNvSpPr txBox="1"/>
          <p:nvPr/>
        </p:nvSpPr>
        <p:spPr>
          <a:xfrm>
            <a:off x="7452360" y="2039112"/>
            <a:ext cx="3931920" cy="310896"/>
          </a:xfrm>
          <a:prstGeom prst="rect">
            <a:avLst/>
          </a:prstGeom>
          <a:noFill/>
          <a:ln/>
        </p:spPr>
        <p:txBody>
          <a:bodyPr wrap="square" lIns="0" tIns="0" rIns="0" bIns="0"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H1 · PEFT</a:t>
            </a:r>
            <a:endParaRPr lang="en-US" sz="1300" dirty="0"/>
          </a:p>
        </p:txBody>
      </p:sp>
      <p:sp>
        <p:nvSpPr>
          <p:cNvPr id="16" name="Text 12"/>
          <p:cNvSpPr txBox="1"/>
          <p:nvPr/>
        </p:nvSpPr>
        <p:spPr>
          <a:xfrm>
            <a:off x="7452360" y="2350008"/>
            <a:ext cx="3977640" cy="640080"/>
          </a:xfrm>
          <a:prstGeom prst="rect">
            <a:avLst/>
          </a:prstGeom>
          <a:noFill/>
          <a:ln/>
        </p:spPr>
        <p:txBody>
          <a:bodyPr wrap="square" lIns="0" tIns="0" rIns="0" bIns="0" rtlCol="0" anchor="t"/>
          <a:lstStyle/>
          <a:p>
            <a:pPr indent="0" marL="0">
              <a:buNone/>
            </a:pPr>
            <a:r>
              <a:rPr lang="en-US" sz="1150" dirty="0">
                <a:solidFill>
                  <a:srgbClr val="1A2230"/>
                </a:solidFill>
                <a:latin typeface="Calibri" pitchFamily="34" charset="0"/>
                <a:ea typeface="Calibri" pitchFamily="34" charset="-122"/>
                <a:cs typeface="Calibri" pitchFamily="34" charset="-120"/>
              </a:rPr>
              <a:t>LoRA/QLoRA improves EM / VQA-Acc over the zero-shot baseline.</a:t>
            </a:r>
            <a:endParaRPr lang="en-US" sz="1150" dirty="0"/>
          </a:p>
        </p:txBody>
      </p:sp>
      <p:sp>
        <p:nvSpPr>
          <p:cNvPr id="17" name="Shape 13"/>
          <p:cNvSpPr/>
          <p:nvPr/>
        </p:nvSpPr>
        <p:spPr>
          <a:xfrm>
            <a:off x="6629400" y="3200400"/>
            <a:ext cx="4910328" cy="1188720"/>
          </a:xfrm>
          <a:prstGeom prst="roundRect">
            <a:avLst>
              <a:gd name="adj" fmla="val 6923"/>
            </a:avLst>
          </a:prstGeom>
          <a:solidFill>
            <a:srgbClr val="EEF3F7"/>
          </a:solidFill>
          <a:ln/>
        </p:spPr>
      </p:sp>
      <p:sp>
        <p:nvSpPr>
          <p:cNvPr id="18" name="Shape 14"/>
          <p:cNvSpPr/>
          <p:nvPr/>
        </p:nvSpPr>
        <p:spPr>
          <a:xfrm>
            <a:off x="6830568" y="3401568"/>
            <a:ext cx="475488" cy="475488"/>
          </a:xfrm>
          <a:prstGeom prst="ellipse">
            <a:avLst/>
          </a:prstGeom>
          <a:solidFill>
            <a:srgbClr val="1C7293"/>
          </a:solidFill>
          <a:ln/>
        </p:spPr>
      </p:sp>
      <p:pic>
        <p:nvPicPr>
          <p:cNvPr id="19" name="Image 2" descr="preencoded.png">    </p:cNvPr>
          <p:cNvPicPr>
            <a:picLocks noChangeAspect="1"/>
          </p:cNvPicPr>
          <p:nvPr/>
        </p:nvPicPr>
        <p:blipFill>
          <a:blip r:embed="rId3"/>
          <a:stretch>
            <a:fillRect/>
          </a:stretch>
        </p:blipFill>
        <p:spPr>
          <a:xfrm>
            <a:off x="6958950" y="3529950"/>
            <a:ext cx="218724" cy="218724"/>
          </a:xfrm>
          <a:prstGeom prst="rect">
            <a:avLst/>
          </a:prstGeom>
        </p:spPr>
      </p:pic>
      <p:sp>
        <p:nvSpPr>
          <p:cNvPr id="20" name="Text 15"/>
          <p:cNvSpPr txBox="1"/>
          <p:nvPr/>
        </p:nvSpPr>
        <p:spPr>
          <a:xfrm>
            <a:off x="7452360" y="3364992"/>
            <a:ext cx="3931920" cy="310896"/>
          </a:xfrm>
          <a:prstGeom prst="rect">
            <a:avLst/>
          </a:prstGeom>
          <a:noFill/>
          <a:ln/>
        </p:spPr>
        <p:txBody>
          <a:bodyPr wrap="square" lIns="0" tIns="0" rIns="0" bIns="0"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H2 · OCR-prompting</a:t>
            </a:r>
            <a:endParaRPr lang="en-US" sz="1300" dirty="0"/>
          </a:p>
        </p:txBody>
      </p:sp>
      <p:sp>
        <p:nvSpPr>
          <p:cNvPr id="21" name="Text 16"/>
          <p:cNvSpPr txBox="1"/>
          <p:nvPr/>
        </p:nvSpPr>
        <p:spPr>
          <a:xfrm>
            <a:off x="7452360" y="3675888"/>
            <a:ext cx="3977640" cy="640080"/>
          </a:xfrm>
          <a:prstGeom prst="rect">
            <a:avLst/>
          </a:prstGeom>
          <a:noFill/>
          <a:ln/>
        </p:spPr>
        <p:txBody>
          <a:bodyPr wrap="square" lIns="0" tIns="0" rIns="0" bIns="0" rtlCol="0" anchor="t"/>
          <a:lstStyle/>
          <a:p>
            <a:pPr indent="0" marL="0">
              <a:buNone/>
            </a:pPr>
            <a:r>
              <a:rPr lang="en-US" sz="1150" dirty="0">
                <a:solidFill>
                  <a:srgbClr val="1A2230"/>
                </a:solidFill>
                <a:latin typeface="Calibri" pitchFamily="34" charset="0"/>
                <a:ea typeface="Calibri" pitchFamily="34" charset="-122"/>
                <a:cs typeface="Calibri" pitchFamily="34" charset="-120"/>
              </a:rPr>
              <a:t>OCR text in the prompt improves ANLS on ViTextVQA.</a:t>
            </a:r>
            <a:endParaRPr lang="en-US" sz="1150" dirty="0"/>
          </a:p>
        </p:txBody>
      </p:sp>
      <p:sp>
        <p:nvSpPr>
          <p:cNvPr id="22" name="Shape 17"/>
          <p:cNvSpPr/>
          <p:nvPr/>
        </p:nvSpPr>
        <p:spPr>
          <a:xfrm>
            <a:off x="6629400" y="4526280"/>
            <a:ext cx="4910328" cy="1188720"/>
          </a:xfrm>
          <a:prstGeom prst="roundRect">
            <a:avLst>
              <a:gd name="adj" fmla="val 6923"/>
            </a:avLst>
          </a:prstGeom>
          <a:solidFill>
            <a:srgbClr val="EEF3F7"/>
          </a:solidFill>
          <a:ln/>
        </p:spPr>
      </p:sp>
      <p:sp>
        <p:nvSpPr>
          <p:cNvPr id="23" name="Shape 18"/>
          <p:cNvSpPr/>
          <p:nvPr/>
        </p:nvSpPr>
        <p:spPr>
          <a:xfrm>
            <a:off x="6830568" y="4727448"/>
            <a:ext cx="475488" cy="475488"/>
          </a:xfrm>
          <a:prstGeom prst="ellipse">
            <a:avLst/>
          </a:prstGeom>
          <a:solidFill>
            <a:srgbClr val="E8A33D"/>
          </a:solidFill>
          <a:ln/>
        </p:spPr>
      </p:sp>
      <p:pic>
        <p:nvPicPr>
          <p:cNvPr id="24" name="Image 3" descr="preencoded.png">    </p:cNvPr>
          <p:cNvPicPr>
            <a:picLocks noChangeAspect="1"/>
          </p:cNvPicPr>
          <p:nvPr/>
        </p:nvPicPr>
        <p:blipFill>
          <a:blip r:embed="rId4"/>
          <a:stretch>
            <a:fillRect/>
          </a:stretch>
        </p:blipFill>
        <p:spPr>
          <a:xfrm>
            <a:off x="6958950" y="4855830"/>
            <a:ext cx="218724" cy="218724"/>
          </a:xfrm>
          <a:prstGeom prst="rect">
            <a:avLst/>
          </a:prstGeom>
        </p:spPr>
      </p:pic>
      <p:sp>
        <p:nvSpPr>
          <p:cNvPr id="25" name="Text 19"/>
          <p:cNvSpPr txBox="1"/>
          <p:nvPr/>
        </p:nvSpPr>
        <p:spPr>
          <a:xfrm>
            <a:off x="7452360" y="4690872"/>
            <a:ext cx="3931920" cy="310896"/>
          </a:xfrm>
          <a:prstGeom prst="rect">
            <a:avLst/>
          </a:prstGeom>
          <a:noFill/>
          <a:ln/>
        </p:spPr>
        <p:txBody>
          <a:bodyPr wrap="square" lIns="0" tIns="0" rIns="0" bIns="0"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H3 · Quantized</a:t>
            </a:r>
            <a:endParaRPr lang="en-US" sz="1300" dirty="0"/>
          </a:p>
        </p:txBody>
      </p:sp>
      <p:sp>
        <p:nvSpPr>
          <p:cNvPr id="26" name="Text 20"/>
          <p:cNvSpPr txBox="1"/>
          <p:nvPr/>
        </p:nvSpPr>
        <p:spPr>
          <a:xfrm>
            <a:off x="7452360" y="5001768"/>
            <a:ext cx="3977640" cy="640080"/>
          </a:xfrm>
          <a:prstGeom prst="rect">
            <a:avLst/>
          </a:prstGeom>
          <a:noFill/>
          <a:ln/>
        </p:spPr>
        <p:txBody>
          <a:bodyPr wrap="square" lIns="0" tIns="0" rIns="0" bIns="0" rtlCol="0" anchor="t"/>
          <a:lstStyle/>
          <a:p>
            <a:pPr indent="0" marL="0">
              <a:buNone/>
            </a:pPr>
            <a:r>
              <a:rPr lang="en-US" sz="1150" dirty="0">
                <a:solidFill>
                  <a:srgbClr val="1A2230"/>
                </a:solidFill>
                <a:latin typeface="Calibri" pitchFamily="34" charset="0"/>
                <a:ea typeface="Calibri" pitchFamily="34" charset="-122"/>
                <a:cs typeface="Calibri" pitchFamily="34" charset="-120"/>
              </a:rPr>
              <a:t>4-bit QLoRA keeps most accuracy within the Colab/GPU budget.</a:t>
            </a:r>
            <a:endParaRPr lang="en-US" sz="1150" dirty="0"/>
          </a:p>
        </p:txBody>
      </p:sp>
      <p:sp>
        <p:nvSpPr>
          <p:cNvPr id="27" name="Text 21"/>
          <p:cNvSpPr txBox="1"/>
          <p:nvPr/>
        </p:nvSpPr>
        <p:spPr>
          <a:xfrm>
            <a:off x="548640" y="5989320"/>
            <a:ext cx="10972800" cy="292608"/>
          </a:xfrm>
          <a:prstGeom prst="rect">
            <a:avLst/>
          </a:prstGeom>
          <a:noFill/>
          <a:ln/>
        </p:spPr>
        <p:txBody>
          <a:bodyPr wrap="square" lIns="0" tIns="0" rIns="0" bIns="0" rtlCol="0" anchor="ctr"/>
          <a:lstStyle/>
          <a:p>
            <a:pPr indent="0" marL="0">
              <a:buNone/>
            </a:pPr>
            <a:r>
              <a:rPr lang="en-US" sz="1100" i="1" dirty="0">
                <a:solidFill>
                  <a:srgbClr val="5B6B7B"/>
                </a:solidFill>
                <a:latin typeface="Calibri" pitchFamily="34" charset="0"/>
                <a:ea typeface="Calibri" pitchFamily="34" charset="-122"/>
                <a:cs typeface="Calibri" pitchFamily="34" charset="-120"/>
              </a:rPr>
              <a:t>Each hypothesis is tested by a specific ablation (see the evaluation protocol).</a:t>
            </a:r>
            <a:endParaRPr lang="en-US" sz="1100" dirty="0"/>
          </a:p>
        </p:txBody>
      </p:sp>
      <p:sp>
        <p:nvSpPr>
          <p:cNvPr id="28" name="Text 22"/>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ViVQA-VLM · Week 1 Progress Report</a:t>
            </a:r>
            <a:endParaRPr lang="en-US" sz="900" dirty="0"/>
          </a:p>
        </p:txBody>
      </p:sp>
      <p:sp>
        <p:nvSpPr>
          <p:cNvPr id="29" name="Text 23"/>
          <p:cNvSpPr txBox="1"/>
          <p:nvPr/>
        </p:nvSpPr>
        <p:spPr>
          <a:xfrm>
            <a:off x="11247120" y="6455664"/>
            <a:ext cx="393192"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310896"/>
          </a:xfrm>
          <a:prstGeom prst="roundRect">
            <a:avLst>
              <a:gd name="adj" fmla="val 31250"/>
            </a:avLst>
          </a:prstGeom>
          <a:solidFill>
            <a:srgbClr val="E8A33D"/>
          </a:solidFill>
          <a:ln/>
        </p:spPr>
      </p:sp>
      <p:sp>
        <p:nvSpPr>
          <p:cNvPr id="3" name="Text 1"/>
          <p:cNvSpPr txBox="1"/>
          <p:nvPr/>
        </p:nvSpPr>
        <p:spPr>
          <a:xfrm>
            <a:off x="786384" y="329184"/>
            <a:ext cx="11064240" cy="585216"/>
          </a:xfrm>
          <a:prstGeom prst="rect">
            <a:avLst/>
          </a:prstGeom>
          <a:noFill/>
          <a:ln/>
        </p:spPr>
        <p:txBody>
          <a:bodyPr wrap="square" lIns="0" tIns="0" rIns="0" bIns="0" rtlCol="0" anchor="ctr"/>
          <a:lstStyle/>
          <a:p>
            <a:pPr algn="l" indent="0" marL="0">
              <a:buNone/>
            </a:pPr>
            <a:r>
              <a:rPr lang="en-US" sz="2800" b="1" dirty="0">
                <a:solidFill>
                  <a:srgbClr val="13294B"/>
                </a:solidFill>
                <a:latin typeface="Cambria" pitchFamily="34" charset="0"/>
                <a:ea typeface="Cambria" pitchFamily="34" charset="-122"/>
                <a:cs typeface="Cambria" pitchFamily="34" charset="-120"/>
              </a:rPr>
              <a:t>Candidate Directions &amp; Proposed Baseline</a:t>
            </a:r>
            <a:endParaRPr lang="en-US" sz="2800" dirty="0"/>
          </a:p>
        </p:txBody>
      </p:sp>
      <p:sp>
        <p:nvSpPr>
          <p:cNvPr id="4" name="Text 2"/>
          <p:cNvSpPr txBox="1"/>
          <p:nvPr/>
        </p:nvSpPr>
        <p:spPr>
          <a:xfrm>
            <a:off x="548640" y="1417320"/>
            <a:ext cx="6035040" cy="3200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Improvement Directions (PEFT-compatible)</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035040" cy="914400"/>
        </p:xfrm>
        <a:graphic>
          <a:graphicData uri="http://schemas.openxmlformats.org/drawingml/2006/table">
            <a:tbl>
              <a:tblPr/>
              <a:tblGrid>
                <a:gridCol w="2331720"/>
                <a:gridCol w="960120"/>
                <a:gridCol w="1097280"/>
                <a:gridCol w="1645920"/>
              </a:tblGrid>
              <a:tr h="45720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Direction</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Targets</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Cost</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Note</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r>
              <a:tr h="457200">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Prompt optimization</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G1, G4</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No training</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LoRA</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G3</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Adapters, base frozen</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457200">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QLoRA (4-bit)</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G3</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Low VRAM</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Best for the budget</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OCR-enhanced prompting</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G2</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VietOCR/PaddleOCR → prompt</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457200">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RAG (retrieval)</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G4</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230"/>
                          </a:solidFill>
                          <a:latin typeface="Calibri" pitchFamily="34" charset="0"/>
                          <a:ea typeface="Calibri" pitchFamily="34" charset="-122"/>
                          <a:cs typeface="Calibri" pitchFamily="34" charset="-120"/>
                        </a:rPr>
                        <a:t>Optional, later phase</a:t>
                      </a:r>
                      <a:endParaRPr lang="en-US" sz="105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526280"/>
            <a:ext cx="6035040" cy="777240"/>
          </a:xfrm>
          <a:prstGeom prst="roundRect">
            <a:avLst>
              <a:gd name="adj" fmla="val 10588"/>
            </a:avLst>
          </a:prstGeom>
          <a:solidFill>
            <a:srgbClr val="1F3A5F"/>
          </a:solidFill>
          <a:ln/>
        </p:spPr>
      </p:sp>
      <p:sp>
        <p:nvSpPr>
          <p:cNvPr id="7" name="Text 4"/>
          <p:cNvSpPr txBox="1"/>
          <p:nvPr/>
        </p:nvSpPr>
        <p:spPr>
          <a:xfrm>
            <a:off x="777240" y="4526280"/>
            <a:ext cx="5577840" cy="777240"/>
          </a:xfrm>
          <a:prstGeom prst="rect">
            <a:avLst/>
          </a:prstGeom>
          <a:noFill/>
          <a:ln/>
        </p:spPr>
        <p:txBody>
          <a:bodyPr wrap="square" lIns="0" tIns="0" rIns="0" bIns="0" rtlCol="0" anchor="ctr"/>
          <a:lstStyle/>
          <a:p>
            <a:pPr indent="0" marL="0">
              <a:buNone/>
            </a:pPr>
            <a:r>
              <a:rPr lang="en-US" sz="1150" b="1" dirty="0">
                <a:solidFill>
                  <a:srgbClr val="E8A33D"/>
                </a:solidFill>
                <a:latin typeface="Calibri" pitchFamily="34" charset="0"/>
                <a:ea typeface="Calibri" pitchFamily="34" charset="-122"/>
                <a:cs typeface="Calibri" pitchFamily="34" charset="-120"/>
              </a:rPr>
              <a:t>Efficiency is an explicit design constraint  </a:t>
            </a:r>
            <a:pPr indent="0" marL="0">
              <a:buNone/>
            </a:pPr>
            <a:r>
              <a:rPr lang="en-US" sz="1150" dirty="0">
                <a:solidFill>
                  <a:srgbClr val="FFFFFF"/>
                </a:solidFill>
                <a:latin typeface="Calibri" pitchFamily="34" charset="0"/>
                <a:ea typeface="Calibri" pitchFamily="34" charset="-122"/>
                <a:cs typeface="Calibri" pitchFamily="34" charset="-120"/>
              </a:rPr>
              <a:t>→ QLoRA is our default answer to most GPU-budget risks.</a:t>
            </a:r>
            <a:endParaRPr lang="en-US" sz="1150" dirty="0"/>
          </a:p>
        </p:txBody>
      </p:sp>
      <p:sp>
        <p:nvSpPr>
          <p:cNvPr id="8" name="Shape 5"/>
          <p:cNvSpPr/>
          <p:nvPr/>
        </p:nvSpPr>
        <p:spPr>
          <a:xfrm>
            <a:off x="6766560" y="1463040"/>
            <a:ext cx="4754880" cy="3840480"/>
          </a:xfrm>
          <a:prstGeom prst="roundRect">
            <a:avLst>
              <a:gd name="adj" fmla="val 2143"/>
            </a:avLst>
          </a:prstGeom>
          <a:solidFill>
            <a:srgbClr val="EAF2F5"/>
          </a:solidFill>
          <a:ln w="25400">
            <a:solidFill>
              <a:srgbClr val="1C7293"/>
            </a:solidFill>
            <a:prstDash val="solid"/>
          </a:ln>
          <a:effectLst>
            <a:outerShdw sx="100000" sy="100000" kx="0" ky="0" algn="bl" rotWithShape="0" blurRad="88900" dist="25400" dir="5400000">
              <a:srgbClr val="A6B4C2">
                <a:alpha val="30000"/>
              </a:srgbClr>
            </a:outerShdw>
          </a:effectLst>
        </p:spPr>
      </p:sp>
      <p:sp>
        <p:nvSpPr>
          <p:cNvPr id="9" name="Text 6"/>
          <p:cNvSpPr txBox="1"/>
          <p:nvPr/>
        </p:nvSpPr>
        <p:spPr>
          <a:xfrm>
            <a:off x="6995160" y="1627632"/>
            <a:ext cx="4297680" cy="274320"/>
          </a:xfrm>
          <a:prstGeom prst="rect">
            <a:avLst/>
          </a:prstGeom>
          <a:noFill/>
          <a:ln/>
        </p:spPr>
        <p:txBody>
          <a:bodyPr wrap="square" lIns="0" tIns="0" rIns="0" bIns="0" rtlCol="0" anchor="ctr"/>
          <a:lstStyle/>
          <a:p>
            <a:pPr indent="0" marL="0">
              <a:buNone/>
            </a:pPr>
            <a:r>
              <a:rPr lang="en-US" sz="1100" b="1" spc="100" kern="0" dirty="0">
                <a:solidFill>
                  <a:srgbClr val="5B6B7B"/>
                </a:solidFill>
                <a:latin typeface="Calibri" pitchFamily="34" charset="0"/>
                <a:ea typeface="Calibri" pitchFamily="34" charset="-122"/>
                <a:cs typeface="Calibri" pitchFamily="34" charset="-120"/>
              </a:rPr>
              <a:t>PROPOSED BASELINE</a:t>
            </a:r>
            <a:endParaRPr lang="en-US" sz="1100" dirty="0"/>
          </a:p>
        </p:txBody>
      </p:sp>
      <p:sp>
        <p:nvSpPr>
          <p:cNvPr id="10" name="Text 7"/>
          <p:cNvSpPr txBox="1"/>
          <p:nvPr/>
        </p:nvSpPr>
        <p:spPr>
          <a:xfrm>
            <a:off x="6995160" y="1901952"/>
            <a:ext cx="4343400" cy="457200"/>
          </a:xfrm>
          <a:prstGeom prst="rect">
            <a:avLst/>
          </a:prstGeom>
          <a:noFill/>
          <a:ln/>
        </p:spPr>
        <p:txBody>
          <a:bodyPr wrap="square" lIns="0" tIns="0" rIns="0" bIns="0" rtlCol="0" anchor="ctr"/>
          <a:lstStyle/>
          <a:p>
            <a:pPr indent="0" marL="0">
              <a:buNone/>
            </a:pPr>
            <a:r>
              <a:rPr lang="en-US" sz="2100" b="1" dirty="0">
                <a:solidFill>
                  <a:srgbClr val="1C7293"/>
                </a:solidFill>
                <a:latin typeface="Calibri" pitchFamily="34" charset="0"/>
                <a:ea typeface="Calibri" pitchFamily="34" charset="-122"/>
                <a:cs typeface="Calibri" pitchFamily="34" charset="-120"/>
              </a:rPr>
              <a:t>Qwen2.5-VL-3B-Instruct</a:t>
            </a:r>
            <a:endParaRPr lang="en-US" sz="2100" dirty="0"/>
          </a:p>
        </p:txBody>
      </p:sp>
      <p:sp>
        <p:nvSpPr>
          <p:cNvPr id="11" name="Text 8"/>
          <p:cNvSpPr txBox="1"/>
          <p:nvPr/>
        </p:nvSpPr>
        <p:spPr>
          <a:xfrm>
            <a:off x="7022592" y="2487168"/>
            <a:ext cx="1417320" cy="457200"/>
          </a:xfrm>
          <a:prstGeom prst="rect">
            <a:avLst/>
          </a:prstGeom>
          <a:noFill/>
          <a:ln/>
        </p:spPr>
        <p:txBody>
          <a:bodyPr wrap="square" lIns="0" tIns="0" rIns="0" bIns="0" rtlCol="0" anchor="b"/>
          <a:lstStyle/>
          <a:p>
            <a:pPr algn="l" indent="0" marL="0">
              <a:buNone/>
            </a:pPr>
            <a:r>
              <a:rPr lang="en-US" sz="2500" b="1" dirty="0">
                <a:solidFill>
                  <a:srgbClr val="13294B"/>
                </a:solidFill>
                <a:latin typeface="Cambria" pitchFamily="34" charset="0"/>
                <a:ea typeface="Cambria" pitchFamily="34" charset="-122"/>
                <a:cs typeface="Cambria" pitchFamily="34" charset="-120"/>
              </a:rPr>
              <a:t>~3.8B</a:t>
            </a:r>
            <a:endParaRPr lang="en-US" sz="2500" dirty="0"/>
          </a:p>
        </p:txBody>
      </p:sp>
      <p:sp>
        <p:nvSpPr>
          <p:cNvPr id="12" name="Text 9"/>
          <p:cNvSpPr txBox="1"/>
          <p:nvPr/>
        </p:nvSpPr>
        <p:spPr>
          <a:xfrm>
            <a:off x="7022592" y="2944368"/>
            <a:ext cx="1417320" cy="256032"/>
          </a:xfrm>
          <a:prstGeom prst="rect">
            <a:avLst/>
          </a:prstGeom>
          <a:noFill/>
          <a:ln/>
        </p:spPr>
        <p:txBody>
          <a:bodyPr wrap="square" lIns="0" tIns="0" rIns="0" bIns="0" rtlCol="0" anchor="t"/>
          <a:lstStyle/>
          <a:p>
            <a:pPr algn="l" indent="0" marL="0">
              <a:buNone/>
            </a:pPr>
            <a:r>
              <a:rPr lang="en-US" sz="950" dirty="0">
                <a:solidFill>
                  <a:srgbClr val="5B6B7B"/>
                </a:solidFill>
                <a:latin typeface="Calibri" pitchFamily="34" charset="0"/>
                <a:ea typeface="Calibri" pitchFamily="34" charset="-122"/>
                <a:cs typeface="Calibri" pitchFamily="34" charset="-120"/>
              </a:rPr>
              <a:t>parameters</a:t>
            </a:r>
            <a:endParaRPr lang="en-US" sz="950" dirty="0"/>
          </a:p>
        </p:txBody>
      </p:sp>
      <p:sp>
        <p:nvSpPr>
          <p:cNvPr id="13" name="Text 10"/>
          <p:cNvSpPr txBox="1"/>
          <p:nvPr/>
        </p:nvSpPr>
        <p:spPr>
          <a:xfrm>
            <a:off x="8458200" y="2487168"/>
            <a:ext cx="1417320" cy="457200"/>
          </a:xfrm>
          <a:prstGeom prst="rect">
            <a:avLst/>
          </a:prstGeom>
          <a:noFill/>
          <a:ln/>
        </p:spPr>
        <p:txBody>
          <a:bodyPr wrap="square" lIns="0" tIns="0" rIns="0" bIns="0" rtlCol="0" anchor="b"/>
          <a:lstStyle/>
          <a:p>
            <a:pPr algn="l" indent="0" marL="0">
              <a:buNone/>
            </a:pPr>
            <a:r>
              <a:rPr lang="en-US" sz="2500" b="1" dirty="0">
                <a:solidFill>
                  <a:srgbClr val="13294B"/>
                </a:solidFill>
                <a:latin typeface="Cambria" pitchFamily="34" charset="0"/>
                <a:ea typeface="Cambria" pitchFamily="34" charset="-122"/>
                <a:cs typeface="Cambria" pitchFamily="34" charset="-120"/>
              </a:rPr>
              <a:t>~8 GB</a:t>
            </a:r>
            <a:endParaRPr lang="en-US" sz="2500" dirty="0"/>
          </a:p>
        </p:txBody>
      </p:sp>
      <p:sp>
        <p:nvSpPr>
          <p:cNvPr id="14" name="Text 11"/>
          <p:cNvSpPr txBox="1"/>
          <p:nvPr/>
        </p:nvSpPr>
        <p:spPr>
          <a:xfrm>
            <a:off x="8458200" y="2944368"/>
            <a:ext cx="1417320" cy="256032"/>
          </a:xfrm>
          <a:prstGeom prst="rect">
            <a:avLst/>
          </a:prstGeom>
          <a:noFill/>
          <a:ln/>
        </p:spPr>
        <p:txBody>
          <a:bodyPr wrap="square" lIns="0" tIns="0" rIns="0" bIns="0" rtlCol="0" anchor="t"/>
          <a:lstStyle/>
          <a:p>
            <a:pPr algn="l" indent="0" marL="0">
              <a:buNone/>
            </a:pPr>
            <a:r>
              <a:rPr lang="en-US" sz="950" dirty="0">
                <a:solidFill>
                  <a:srgbClr val="5B6B7B"/>
                </a:solidFill>
                <a:latin typeface="Calibri" pitchFamily="34" charset="0"/>
                <a:ea typeface="Calibri" pitchFamily="34" charset="-122"/>
                <a:cs typeface="Calibri" pitchFamily="34" charset="-120"/>
              </a:rPr>
              <a:t>FP16 inference</a:t>
            </a:r>
            <a:endParaRPr lang="en-US" sz="950" dirty="0"/>
          </a:p>
        </p:txBody>
      </p:sp>
      <p:sp>
        <p:nvSpPr>
          <p:cNvPr id="15" name="Text 12"/>
          <p:cNvSpPr txBox="1"/>
          <p:nvPr/>
        </p:nvSpPr>
        <p:spPr>
          <a:xfrm>
            <a:off x="9893808" y="2487168"/>
            <a:ext cx="1463040" cy="457200"/>
          </a:xfrm>
          <a:prstGeom prst="rect">
            <a:avLst/>
          </a:prstGeom>
          <a:noFill/>
          <a:ln/>
        </p:spPr>
        <p:txBody>
          <a:bodyPr wrap="square" lIns="0" tIns="0" rIns="0" bIns="0" rtlCol="0" anchor="b"/>
          <a:lstStyle/>
          <a:p>
            <a:pPr algn="l" indent="0" marL="0">
              <a:buNone/>
            </a:pPr>
            <a:r>
              <a:rPr lang="en-US" sz="2500" b="1" dirty="0">
                <a:solidFill>
                  <a:srgbClr val="13294B"/>
                </a:solidFill>
                <a:latin typeface="Cambria" pitchFamily="34" charset="0"/>
                <a:ea typeface="Cambria" pitchFamily="34" charset="-122"/>
                <a:cs typeface="Cambria" pitchFamily="34" charset="-120"/>
              </a:rPr>
              <a:t>~2 GB</a:t>
            </a:r>
            <a:endParaRPr lang="en-US" sz="2500" dirty="0"/>
          </a:p>
        </p:txBody>
      </p:sp>
      <p:sp>
        <p:nvSpPr>
          <p:cNvPr id="16" name="Text 13"/>
          <p:cNvSpPr txBox="1"/>
          <p:nvPr/>
        </p:nvSpPr>
        <p:spPr>
          <a:xfrm>
            <a:off x="9893808" y="2944368"/>
            <a:ext cx="1463040" cy="256032"/>
          </a:xfrm>
          <a:prstGeom prst="rect">
            <a:avLst/>
          </a:prstGeom>
          <a:noFill/>
          <a:ln/>
        </p:spPr>
        <p:txBody>
          <a:bodyPr wrap="square" lIns="0" tIns="0" rIns="0" bIns="0" rtlCol="0" anchor="t"/>
          <a:lstStyle/>
          <a:p>
            <a:pPr algn="l" indent="0" marL="0">
              <a:buNone/>
            </a:pPr>
            <a:r>
              <a:rPr lang="en-US" sz="950" dirty="0">
                <a:solidFill>
                  <a:srgbClr val="5B6B7B"/>
                </a:solidFill>
                <a:latin typeface="Calibri" pitchFamily="34" charset="0"/>
                <a:ea typeface="Calibri" pitchFamily="34" charset="-122"/>
                <a:cs typeface="Calibri" pitchFamily="34" charset="-120"/>
              </a:rPr>
              <a:t>4-bit (INT4)</a:t>
            </a:r>
            <a:endParaRPr lang="en-US" sz="950" dirty="0"/>
          </a:p>
        </p:txBody>
      </p:sp>
      <p:sp>
        <p:nvSpPr>
          <p:cNvPr id="17" name="Text 14"/>
          <p:cNvSpPr txBox="1"/>
          <p:nvPr/>
        </p:nvSpPr>
        <p:spPr>
          <a:xfrm>
            <a:off x="7022592" y="3383280"/>
            <a:ext cx="4343400" cy="1463040"/>
          </a:xfrm>
          <a:prstGeom prst="rect">
            <a:avLst/>
          </a:prstGeom>
          <a:noFill/>
          <a:ln/>
        </p:spPr>
        <p:txBody>
          <a:bodyPr wrap="square" lIns="25400" tIns="25400" rIns="25400" bIns="25400" rtlCol="0" anchor="t"/>
          <a:lstStyle/>
          <a:p>
            <a:pPr algn="l" marL="177800" indent="-177800">
              <a:spcAft>
                <a:spcPts val="800"/>
              </a:spcAft>
              <a:buSzPct val="100000"/>
              <a:buChar char="•"/>
            </a:pPr>
            <a:r>
              <a:rPr lang="en-US" sz="1200" dirty="0">
                <a:solidFill>
                  <a:srgbClr val="1A2230"/>
                </a:solidFill>
                <a:latin typeface="Calibri" pitchFamily="34" charset="0"/>
                <a:ea typeface="Calibri" pitchFamily="34" charset="-122"/>
                <a:cs typeface="Calibri" pitchFamily="34" charset="-120"/>
              </a:rPr>
              <a:t>Strong native OCR / scene-text → directly targets G2</a:t>
            </a:r>
            <a:endParaRPr lang="en-US" sz="1200" dirty="0"/>
          </a:p>
          <a:p>
            <a:pPr algn="l" marL="177800" indent="-177800">
              <a:spcAft>
                <a:spcPts val="800"/>
              </a:spcAft>
              <a:buSzPct val="100000"/>
              <a:buChar char="•"/>
            </a:pPr>
            <a:r>
              <a:rPr lang="en-US" sz="1200" dirty="0">
                <a:solidFill>
                  <a:srgbClr val="1A2230"/>
                </a:solidFill>
                <a:latin typeface="Calibri" pitchFamily="34" charset="0"/>
                <a:ea typeface="Calibri" pitchFamily="34" charset="-122"/>
                <a:cs typeface="Calibri" pitchFamily="34" charset="-120"/>
              </a:rPr>
              <a:t>Apache-2.0 license · active HuggingFace support</a:t>
            </a:r>
            <a:endParaRPr lang="en-US" sz="1200" dirty="0"/>
          </a:p>
          <a:p>
            <a:pPr algn="l" marL="177800" indent="-177800">
              <a:spcAft>
                <a:spcPts val="800"/>
              </a:spcAft>
              <a:buSzPct val="100000"/>
              <a:buChar char="•"/>
            </a:pPr>
            <a:r>
              <a:rPr lang="en-US" sz="1200" dirty="0">
                <a:solidFill>
                  <a:srgbClr val="1A2230"/>
                </a:solidFill>
                <a:latin typeface="Calibri" pitchFamily="34" charset="0"/>
                <a:ea typeface="Calibri" pitchFamily="34" charset="-122"/>
                <a:cs typeface="Calibri" pitchFamily="34" charset="-120"/>
              </a:rPr>
              <a:t>Fits Colab / single-GPU with QLoRA 4-bit</a:t>
            </a:r>
            <a:endParaRPr lang="en-US" sz="1200" dirty="0"/>
          </a:p>
        </p:txBody>
      </p:sp>
      <p:sp>
        <p:nvSpPr>
          <p:cNvPr id="18" name="Shape 15"/>
          <p:cNvSpPr/>
          <p:nvPr/>
        </p:nvSpPr>
        <p:spPr>
          <a:xfrm>
            <a:off x="548640" y="5532120"/>
            <a:ext cx="10991088" cy="566928"/>
          </a:xfrm>
          <a:prstGeom prst="roundRect">
            <a:avLst>
              <a:gd name="adj" fmla="val 14516"/>
            </a:avLst>
          </a:prstGeom>
          <a:solidFill>
            <a:srgbClr val="EEF3F7"/>
          </a:solidFill>
          <a:ln/>
        </p:spPr>
      </p:sp>
      <p:sp>
        <p:nvSpPr>
          <p:cNvPr id="19" name="Text 16"/>
          <p:cNvSpPr txBox="1"/>
          <p:nvPr/>
        </p:nvSpPr>
        <p:spPr>
          <a:xfrm>
            <a:off x="777240" y="5532120"/>
            <a:ext cx="10515600" cy="566928"/>
          </a:xfrm>
          <a:prstGeom prst="rect">
            <a:avLst/>
          </a:prstGeom>
          <a:noFill/>
          <a:ln/>
        </p:spPr>
        <p:txBody>
          <a:bodyPr wrap="square" lIns="0" tIns="0" rIns="0" bIns="0" rtlCol="0" anchor="ctr"/>
          <a:lstStyle/>
          <a:p>
            <a:pPr indent="0" marL="0">
              <a:buNone/>
            </a:pPr>
            <a:r>
              <a:rPr lang="en-US" sz="1100" b="1" dirty="0">
                <a:solidFill>
                  <a:srgbClr val="13294B"/>
                </a:solidFill>
                <a:latin typeface="Calibri" pitchFamily="34" charset="0"/>
                <a:ea typeface="Calibri" pitchFamily="34" charset="-122"/>
                <a:cs typeface="Calibri" pitchFamily="34" charset="-120"/>
              </a:rPr>
              <a:t>Trade-offs (defend at Review 1): </a:t>
            </a:r>
            <a:pPr indent="0" marL="0">
              <a:buNone/>
            </a:pPr>
            <a:r>
              <a:rPr lang="en-US" sz="1100" dirty="0">
                <a:solidFill>
                  <a:srgbClr val="1A2230"/>
                </a:solidFill>
                <a:latin typeface="Calibri" pitchFamily="34" charset="0"/>
                <a:ea typeface="Calibri" pitchFamily="34" charset="-122"/>
                <a:cs typeface="Calibri" pitchFamily="34" charset="-120"/>
              </a:rPr>
              <a:t>BLIP-2 simpler/older, weaker VN scene-text · Florence-2 task-prompt seq2seq.   Status: proposed — confirm after baseline reproduction (W4–W5).</a:t>
            </a:r>
            <a:endParaRPr lang="en-US" sz="1100" dirty="0"/>
          </a:p>
        </p:txBody>
      </p:sp>
      <p:sp>
        <p:nvSpPr>
          <p:cNvPr id="20" name="Text 17"/>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ViVQA-VLM · Week 1 Progress Report</a:t>
            </a:r>
            <a:endParaRPr lang="en-US" sz="900" dirty="0"/>
          </a:p>
        </p:txBody>
      </p:sp>
      <p:sp>
        <p:nvSpPr>
          <p:cNvPr id="21" name="Text 18"/>
          <p:cNvSpPr txBox="1"/>
          <p:nvPr/>
        </p:nvSpPr>
        <p:spPr>
          <a:xfrm>
            <a:off x="11247120" y="6455664"/>
            <a:ext cx="393192"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310896"/>
          </a:xfrm>
          <a:prstGeom prst="roundRect">
            <a:avLst>
              <a:gd name="adj" fmla="val 31250"/>
            </a:avLst>
          </a:prstGeom>
          <a:solidFill>
            <a:srgbClr val="E8A33D"/>
          </a:solidFill>
          <a:ln/>
        </p:spPr>
      </p:sp>
      <p:sp>
        <p:nvSpPr>
          <p:cNvPr id="3" name="Text 1"/>
          <p:cNvSpPr txBox="1"/>
          <p:nvPr/>
        </p:nvSpPr>
        <p:spPr>
          <a:xfrm>
            <a:off x="786384" y="329184"/>
            <a:ext cx="11064240" cy="585216"/>
          </a:xfrm>
          <a:prstGeom prst="rect">
            <a:avLst/>
          </a:prstGeom>
          <a:noFill/>
          <a:ln/>
        </p:spPr>
        <p:txBody>
          <a:bodyPr wrap="square" lIns="0" tIns="0" rIns="0" bIns="0" rtlCol="0" anchor="ctr"/>
          <a:lstStyle/>
          <a:p>
            <a:pPr algn="l" indent="0" marL="0">
              <a:buNone/>
            </a:pPr>
            <a:r>
              <a:rPr lang="en-US" sz="2800" b="1" dirty="0">
                <a:solidFill>
                  <a:srgbClr val="13294B"/>
                </a:solidFill>
                <a:latin typeface="Cambria" pitchFamily="34" charset="0"/>
                <a:ea typeface="Cambria" pitchFamily="34" charset="-122"/>
                <a:cs typeface="Cambria" pitchFamily="34" charset="-120"/>
              </a:rPr>
              <a:t>15-Week Plan &amp; Fixed Milestones</a:t>
            </a:r>
            <a:endParaRPr lang="en-US" sz="2800" dirty="0"/>
          </a:p>
        </p:txBody>
      </p:sp>
      <p:sp>
        <p:nvSpPr>
          <p:cNvPr id="4" name="Shape 2"/>
          <p:cNvSpPr/>
          <p:nvPr/>
        </p:nvSpPr>
        <p:spPr>
          <a:xfrm>
            <a:off x="548640" y="1508760"/>
            <a:ext cx="2095805" cy="713232"/>
          </a:xfrm>
          <a:prstGeom prst="roundRect">
            <a:avLst>
              <a:gd name="adj" fmla="val 7692"/>
            </a:avLst>
          </a:prstGeom>
          <a:solidFill>
            <a:srgbClr val="1C7293"/>
          </a:solidFill>
          <a:ln/>
        </p:spPr>
      </p:sp>
      <p:sp>
        <p:nvSpPr>
          <p:cNvPr id="5" name="Text 3"/>
          <p:cNvSpPr txBox="1"/>
          <p:nvPr/>
        </p:nvSpPr>
        <p:spPr>
          <a:xfrm>
            <a:off x="548640" y="1600200"/>
            <a:ext cx="2095805" cy="274320"/>
          </a:xfrm>
          <a:prstGeom prst="rect">
            <a:avLst/>
          </a:prstGeom>
          <a:noFill/>
          <a:ln/>
        </p:spPr>
        <p:txBody>
          <a:bodyPr wrap="square" lIns="0" tIns="0" rIns="0" bIns="0" rtlCol="0" anchor="ctr"/>
          <a:lstStyle/>
          <a:p>
            <a:pPr algn="ctr" indent="0" marL="0">
              <a:buNone/>
            </a:pPr>
            <a:r>
              <a:rPr lang="en-US" sz="1200" b="1" dirty="0">
                <a:solidFill>
                  <a:srgbClr val="FFFFFF"/>
                </a:solidFill>
              </a:rPr>
              <a:t>W1–2</a:t>
            </a:r>
            <a:endParaRPr lang="en-US" sz="1200" dirty="0"/>
          </a:p>
        </p:txBody>
      </p:sp>
      <p:sp>
        <p:nvSpPr>
          <p:cNvPr id="6" name="Text 4"/>
          <p:cNvSpPr txBox="1"/>
          <p:nvPr/>
        </p:nvSpPr>
        <p:spPr>
          <a:xfrm>
            <a:off x="548640" y="1874520"/>
            <a:ext cx="2095805" cy="292608"/>
          </a:xfrm>
          <a:prstGeom prst="rect">
            <a:avLst/>
          </a:prstGeom>
          <a:noFill/>
          <a:ln/>
        </p:spPr>
        <p:txBody>
          <a:bodyPr wrap="square" lIns="0" tIns="0" rIns="0" bIns="0" rtlCol="0" anchor="ctr"/>
          <a:lstStyle/>
          <a:p>
            <a:pPr algn="ctr" indent="0" marL="0">
              <a:buNone/>
            </a:pPr>
            <a:r>
              <a:rPr lang="en-US" sz="1100" dirty="0">
                <a:solidFill>
                  <a:srgbClr val="FFFFFF"/>
                </a:solidFill>
              </a:rPr>
              <a:t>Orientation</a:t>
            </a:r>
            <a:endParaRPr lang="en-US" sz="1100" dirty="0"/>
          </a:p>
        </p:txBody>
      </p:sp>
      <p:sp>
        <p:nvSpPr>
          <p:cNvPr id="7" name="Shape 5"/>
          <p:cNvSpPr/>
          <p:nvPr/>
        </p:nvSpPr>
        <p:spPr>
          <a:xfrm>
            <a:off x="2772461" y="1508760"/>
            <a:ext cx="2095805" cy="713232"/>
          </a:xfrm>
          <a:prstGeom prst="roundRect">
            <a:avLst>
              <a:gd name="adj" fmla="val 7692"/>
            </a:avLst>
          </a:prstGeom>
          <a:solidFill>
            <a:srgbClr val="4FB0C6"/>
          </a:solidFill>
          <a:ln/>
        </p:spPr>
      </p:sp>
      <p:sp>
        <p:nvSpPr>
          <p:cNvPr id="8" name="Text 6"/>
          <p:cNvSpPr txBox="1"/>
          <p:nvPr/>
        </p:nvSpPr>
        <p:spPr>
          <a:xfrm>
            <a:off x="2772461" y="1600200"/>
            <a:ext cx="2095805" cy="274320"/>
          </a:xfrm>
          <a:prstGeom prst="rect">
            <a:avLst/>
          </a:prstGeom>
          <a:noFill/>
          <a:ln/>
        </p:spPr>
        <p:txBody>
          <a:bodyPr wrap="square" lIns="0" tIns="0" rIns="0" bIns="0" rtlCol="0" anchor="ctr"/>
          <a:lstStyle/>
          <a:p>
            <a:pPr algn="ctr" indent="0" marL="0">
              <a:buNone/>
            </a:pPr>
            <a:r>
              <a:rPr lang="en-US" sz="1200" b="1" dirty="0">
                <a:solidFill>
                  <a:srgbClr val="FFFFFF"/>
                </a:solidFill>
              </a:rPr>
              <a:t>W4–6</a:t>
            </a:r>
            <a:endParaRPr lang="en-US" sz="1200" dirty="0"/>
          </a:p>
        </p:txBody>
      </p:sp>
      <p:sp>
        <p:nvSpPr>
          <p:cNvPr id="9" name="Text 7"/>
          <p:cNvSpPr txBox="1"/>
          <p:nvPr/>
        </p:nvSpPr>
        <p:spPr>
          <a:xfrm>
            <a:off x="2772461" y="1874520"/>
            <a:ext cx="2095805" cy="292608"/>
          </a:xfrm>
          <a:prstGeom prst="rect">
            <a:avLst/>
          </a:prstGeom>
          <a:noFill/>
          <a:ln/>
        </p:spPr>
        <p:txBody>
          <a:bodyPr wrap="square" lIns="0" tIns="0" rIns="0" bIns="0" rtlCol="0" anchor="ctr"/>
          <a:lstStyle/>
          <a:p>
            <a:pPr algn="ctr" indent="0" marL="0">
              <a:buNone/>
            </a:pPr>
            <a:r>
              <a:rPr lang="en-US" sz="1100" dirty="0">
                <a:solidFill>
                  <a:srgbClr val="FFFFFF"/>
                </a:solidFill>
              </a:rPr>
              <a:t>Baseline</a:t>
            </a:r>
            <a:endParaRPr lang="en-US" sz="1100" dirty="0"/>
          </a:p>
        </p:txBody>
      </p:sp>
      <p:sp>
        <p:nvSpPr>
          <p:cNvPr id="10" name="Shape 8"/>
          <p:cNvSpPr/>
          <p:nvPr/>
        </p:nvSpPr>
        <p:spPr>
          <a:xfrm>
            <a:off x="4996282" y="1508760"/>
            <a:ext cx="2095805" cy="713232"/>
          </a:xfrm>
          <a:prstGeom prst="roundRect">
            <a:avLst>
              <a:gd name="adj" fmla="val 7692"/>
            </a:avLst>
          </a:prstGeom>
          <a:solidFill>
            <a:srgbClr val="1C7293"/>
          </a:solidFill>
          <a:ln/>
        </p:spPr>
      </p:sp>
      <p:sp>
        <p:nvSpPr>
          <p:cNvPr id="11" name="Text 9"/>
          <p:cNvSpPr txBox="1"/>
          <p:nvPr/>
        </p:nvSpPr>
        <p:spPr>
          <a:xfrm>
            <a:off x="4996282" y="1600200"/>
            <a:ext cx="2095805" cy="274320"/>
          </a:xfrm>
          <a:prstGeom prst="rect">
            <a:avLst/>
          </a:prstGeom>
          <a:noFill/>
          <a:ln/>
        </p:spPr>
        <p:txBody>
          <a:bodyPr wrap="square" lIns="0" tIns="0" rIns="0" bIns="0" rtlCol="0" anchor="ctr"/>
          <a:lstStyle/>
          <a:p>
            <a:pPr algn="ctr" indent="0" marL="0">
              <a:buNone/>
            </a:pPr>
            <a:r>
              <a:rPr lang="en-US" sz="1200" b="1" dirty="0">
                <a:solidFill>
                  <a:srgbClr val="FFFFFF"/>
                </a:solidFill>
              </a:rPr>
              <a:t>W8–9</a:t>
            </a:r>
            <a:endParaRPr lang="en-US" sz="1200" dirty="0"/>
          </a:p>
        </p:txBody>
      </p:sp>
      <p:sp>
        <p:nvSpPr>
          <p:cNvPr id="12" name="Text 10"/>
          <p:cNvSpPr txBox="1"/>
          <p:nvPr/>
        </p:nvSpPr>
        <p:spPr>
          <a:xfrm>
            <a:off x="4996282" y="1874520"/>
            <a:ext cx="2095805" cy="292608"/>
          </a:xfrm>
          <a:prstGeom prst="rect">
            <a:avLst/>
          </a:prstGeom>
          <a:noFill/>
          <a:ln/>
        </p:spPr>
        <p:txBody>
          <a:bodyPr wrap="square" lIns="0" tIns="0" rIns="0" bIns="0" rtlCol="0" anchor="ctr"/>
          <a:lstStyle/>
          <a:p>
            <a:pPr algn="ctr" indent="0" marL="0">
              <a:buNone/>
            </a:pPr>
            <a:r>
              <a:rPr lang="en-US" sz="1100" dirty="0">
                <a:solidFill>
                  <a:srgbClr val="FFFFFF"/>
                </a:solidFill>
              </a:rPr>
              <a:t>Improvement</a:t>
            </a:r>
            <a:endParaRPr lang="en-US" sz="1100" dirty="0"/>
          </a:p>
        </p:txBody>
      </p:sp>
      <p:sp>
        <p:nvSpPr>
          <p:cNvPr id="13" name="Shape 11"/>
          <p:cNvSpPr/>
          <p:nvPr/>
        </p:nvSpPr>
        <p:spPr>
          <a:xfrm>
            <a:off x="7220102" y="1508760"/>
            <a:ext cx="2095805" cy="713232"/>
          </a:xfrm>
          <a:prstGeom prst="roundRect">
            <a:avLst>
              <a:gd name="adj" fmla="val 7692"/>
            </a:avLst>
          </a:prstGeom>
          <a:solidFill>
            <a:srgbClr val="4FB0C6"/>
          </a:solidFill>
          <a:ln/>
        </p:spPr>
      </p:sp>
      <p:sp>
        <p:nvSpPr>
          <p:cNvPr id="14" name="Text 12"/>
          <p:cNvSpPr txBox="1"/>
          <p:nvPr/>
        </p:nvSpPr>
        <p:spPr>
          <a:xfrm>
            <a:off x="7220102" y="1600200"/>
            <a:ext cx="2095805" cy="274320"/>
          </a:xfrm>
          <a:prstGeom prst="rect">
            <a:avLst/>
          </a:prstGeom>
          <a:noFill/>
          <a:ln/>
        </p:spPr>
        <p:txBody>
          <a:bodyPr wrap="square" lIns="0" tIns="0" rIns="0" bIns="0" rtlCol="0" anchor="ctr"/>
          <a:lstStyle/>
          <a:p>
            <a:pPr algn="ctr" indent="0" marL="0">
              <a:buNone/>
            </a:pPr>
            <a:r>
              <a:rPr lang="en-US" sz="1200" b="1" dirty="0">
                <a:solidFill>
                  <a:srgbClr val="FFFFFF"/>
                </a:solidFill>
              </a:rPr>
              <a:t>W10–12</a:t>
            </a:r>
            <a:endParaRPr lang="en-US" sz="1200" dirty="0"/>
          </a:p>
        </p:txBody>
      </p:sp>
      <p:sp>
        <p:nvSpPr>
          <p:cNvPr id="15" name="Text 13"/>
          <p:cNvSpPr txBox="1"/>
          <p:nvPr/>
        </p:nvSpPr>
        <p:spPr>
          <a:xfrm>
            <a:off x="7220102" y="1874520"/>
            <a:ext cx="2095805" cy="292608"/>
          </a:xfrm>
          <a:prstGeom prst="rect">
            <a:avLst/>
          </a:prstGeom>
          <a:noFill/>
          <a:ln/>
        </p:spPr>
        <p:txBody>
          <a:bodyPr wrap="square" lIns="0" tIns="0" rIns="0" bIns="0" rtlCol="0" anchor="ctr"/>
          <a:lstStyle/>
          <a:p>
            <a:pPr algn="ctr" indent="0" marL="0">
              <a:buNone/>
            </a:pPr>
            <a:r>
              <a:rPr lang="en-US" sz="1100" dirty="0">
                <a:solidFill>
                  <a:srgbClr val="FFFFFF"/>
                </a:solidFill>
              </a:rPr>
              <a:t>Experiments</a:t>
            </a:r>
            <a:endParaRPr lang="en-US" sz="1100" dirty="0"/>
          </a:p>
        </p:txBody>
      </p:sp>
      <p:sp>
        <p:nvSpPr>
          <p:cNvPr id="16" name="Shape 14"/>
          <p:cNvSpPr/>
          <p:nvPr/>
        </p:nvSpPr>
        <p:spPr>
          <a:xfrm>
            <a:off x="9443923" y="1508760"/>
            <a:ext cx="2095805" cy="713232"/>
          </a:xfrm>
          <a:prstGeom prst="roundRect">
            <a:avLst>
              <a:gd name="adj" fmla="val 7692"/>
            </a:avLst>
          </a:prstGeom>
          <a:solidFill>
            <a:srgbClr val="1C7293"/>
          </a:solidFill>
          <a:ln/>
        </p:spPr>
      </p:sp>
      <p:sp>
        <p:nvSpPr>
          <p:cNvPr id="17" name="Text 15"/>
          <p:cNvSpPr txBox="1"/>
          <p:nvPr/>
        </p:nvSpPr>
        <p:spPr>
          <a:xfrm>
            <a:off x="9443923" y="1600200"/>
            <a:ext cx="2095805" cy="274320"/>
          </a:xfrm>
          <a:prstGeom prst="rect">
            <a:avLst/>
          </a:prstGeom>
          <a:noFill/>
          <a:ln/>
        </p:spPr>
        <p:txBody>
          <a:bodyPr wrap="square" lIns="0" tIns="0" rIns="0" bIns="0" rtlCol="0" anchor="ctr"/>
          <a:lstStyle/>
          <a:p>
            <a:pPr algn="ctr" indent="0" marL="0">
              <a:buNone/>
            </a:pPr>
            <a:r>
              <a:rPr lang="en-US" sz="1200" b="1" dirty="0">
                <a:solidFill>
                  <a:srgbClr val="FFFFFF"/>
                </a:solidFill>
              </a:rPr>
              <a:t>W14–15</a:t>
            </a:r>
            <a:endParaRPr lang="en-US" sz="1200" dirty="0"/>
          </a:p>
        </p:txBody>
      </p:sp>
      <p:sp>
        <p:nvSpPr>
          <p:cNvPr id="18" name="Text 16"/>
          <p:cNvSpPr txBox="1"/>
          <p:nvPr/>
        </p:nvSpPr>
        <p:spPr>
          <a:xfrm>
            <a:off x="9443923" y="1874520"/>
            <a:ext cx="2095805" cy="292608"/>
          </a:xfrm>
          <a:prstGeom prst="rect">
            <a:avLst/>
          </a:prstGeom>
          <a:noFill/>
          <a:ln/>
        </p:spPr>
        <p:txBody>
          <a:bodyPr wrap="square" lIns="0" tIns="0" rIns="0" bIns="0" rtlCol="0" anchor="ctr"/>
          <a:lstStyle/>
          <a:p>
            <a:pPr algn="ctr" indent="0" marL="0">
              <a:buNone/>
            </a:pPr>
            <a:r>
              <a:rPr lang="en-US" sz="1100" dirty="0">
                <a:solidFill>
                  <a:srgbClr val="FFFFFF"/>
                </a:solidFill>
              </a:rPr>
              <a:t>Finalize</a:t>
            </a:r>
            <a:endParaRPr lang="en-US" sz="1100" dirty="0"/>
          </a:p>
        </p:txBody>
      </p:sp>
      <p:sp>
        <p:nvSpPr>
          <p:cNvPr id="19" name="Shape 17"/>
          <p:cNvSpPr/>
          <p:nvPr/>
        </p:nvSpPr>
        <p:spPr>
          <a:xfrm>
            <a:off x="548640" y="2697480"/>
            <a:ext cx="2601468" cy="1554480"/>
          </a:xfrm>
          <a:prstGeom prst="roundRect">
            <a:avLst>
              <a:gd name="adj" fmla="val 5294"/>
            </a:avLst>
          </a:prstGeom>
          <a:solidFill>
            <a:srgbClr val="EEF3F7"/>
          </a:solidFill>
          <a:ln w="12700">
            <a:solidFill>
              <a:srgbClr val="D5DEE6"/>
            </a:solidFill>
            <a:prstDash val="solid"/>
          </a:ln>
        </p:spPr>
      </p:sp>
      <p:sp>
        <p:nvSpPr>
          <p:cNvPr id="20" name="Shape 18"/>
          <p:cNvSpPr/>
          <p:nvPr/>
        </p:nvSpPr>
        <p:spPr>
          <a:xfrm>
            <a:off x="749808" y="2898648"/>
            <a:ext cx="868680" cy="384048"/>
          </a:xfrm>
          <a:prstGeom prst="roundRect">
            <a:avLst>
              <a:gd name="adj" fmla="val 11905"/>
            </a:avLst>
          </a:prstGeom>
          <a:solidFill>
            <a:srgbClr val="1C7293"/>
          </a:solidFill>
          <a:ln/>
        </p:spPr>
      </p:sp>
      <p:sp>
        <p:nvSpPr>
          <p:cNvPr id="21" name="Text 19"/>
          <p:cNvSpPr txBox="1"/>
          <p:nvPr/>
        </p:nvSpPr>
        <p:spPr>
          <a:xfrm>
            <a:off x="749808" y="2898648"/>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W3</a:t>
            </a:r>
            <a:endParaRPr lang="en-US" sz="1300" dirty="0"/>
          </a:p>
        </p:txBody>
      </p:sp>
      <p:sp>
        <p:nvSpPr>
          <p:cNvPr id="22" name="Text 20"/>
          <p:cNvSpPr txBox="1"/>
          <p:nvPr/>
        </p:nvSpPr>
        <p:spPr>
          <a:xfrm>
            <a:off x="749808" y="3383280"/>
            <a:ext cx="2235708" cy="365760"/>
          </a:xfrm>
          <a:prstGeom prst="rect">
            <a:avLst/>
          </a:prstGeom>
          <a:noFill/>
          <a:ln/>
        </p:spPr>
        <p:txBody>
          <a:bodyPr wrap="square" lIns="0" tIns="0" rIns="0" bIns="0" rtlCol="0" anchor="ctr"/>
          <a:lstStyle/>
          <a:p>
            <a:pPr indent="0" marL="0">
              <a:buNone/>
            </a:pPr>
            <a:r>
              <a:rPr lang="en-US" sz="1350" b="1" dirty="0">
                <a:solidFill>
                  <a:srgbClr val="13294B"/>
                </a:solidFill>
                <a:latin typeface="Calibri" pitchFamily="34" charset="0"/>
                <a:ea typeface="Calibri" pitchFamily="34" charset="-122"/>
                <a:cs typeface="Calibri" pitchFamily="34" charset="-120"/>
              </a:rPr>
              <a:t>Review 1</a:t>
            </a:r>
            <a:endParaRPr lang="en-US" sz="1350" dirty="0"/>
          </a:p>
        </p:txBody>
      </p:sp>
      <p:sp>
        <p:nvSpPr>
          <p:cNvPr id="23" name="Text 21"/>
          <p:cNvSpPr txBox="1"/>
          <p:nvPr/>
        </p:nvSpPr>
        <p:spPr>
          <a:xfrm>
            <a:off x="749808" y="3721608"/>
            <a:ext cx="2253996" cy="457200"/>
          </a:xfrm>
          <a:prstGeom prst="rect">
            <a:avLst/>
          </a:prstGeom>
          <a:noFill/>
          <a:ln/>
        </p:spPr>
        <p:txBody>
          <a:bodyPr wrap="square" lIns="0" tIns="0" rIns="0" bIns="0" rtlCol="0" anchor="t"/>
          <a:lstStyle/>
          <a:p>
            <a:pPr indent="0" marL="0">
              <a:buNone/>
            </a:pPr>
            <a:r>
              <a:rPr lang="en-US" sz="1050" dirty="0">
                <a:solidFill>
                  <a:srgbClr val="5B6B7B"/>
                </a:solidFill>
                <a:latin typeface="Calibri" pitchFamily="34" charset="0"/>
                <a:ea typeface="Calibri" pitchFamily="34" charset="-122"/>
                <a:cs typeface="Calibri" pitchFamily="34" charset="-120"/>
              </a:rPr>
              <a:t>Scope, deliverables, minimum results</a:t>
            </a:r>
            <a:endParaRPr lang="en-US" sz="1050" dirty="0"/>
          </a:p>
        </p:txBody>
      </p:sp>
      <p:sp>
        <p:nvSpPr>
          <p:cNvPr id="24" name="Shape 22"/>
          <p:cNvSpPr/>
          <p:nvPr/>
        </p:nvSpPr>
        <p:spPr>
          <a:xfrm>
            <a:off x="3378708" y="2697480"/>
            <a:ext cx="2601468" cy="1554480"/>
          </a:xfrm>
          <a:prstGeom prst="roundRect">
            <a:avLst>
              <a:gd name="adj" fmla="val 5294"/>
            </a:avLst>
          </a:prstGeom>
          <a:solidFill>
            <a:srgbClr val="EEF3F7"/>
          </a:solidFill>
          <a:ln w="12700">
            <a:solidFill>
              <a:srgbClr val="D5DEE6"/>
            </a:solidFill>
            <a:prstDash val="solid"/>
          </a:ln>
        </p:spPr>
      </p:sp>
      <p:sp>
        <p:nvSpPr>
          <p:cNvPr id="25" name="Shape 23"/>
          <p:cNvSpPr/>
          <p:nvPr/>
        </p:nvSpPr>
        <p:spPr>
          <a:xfrm>
            <a:off x="3579876" y="2898648"/>
            <a:ext cx="868680" cy="384048"/>
          </a:xfrm>
          <a:prstGeom prst="roundRect">
            <a:avLst>
              <a:gd name="adj" fmla="val 11905"/>
            </a:avLst>
          </a:prstGeom>
          <a:solidFill>
            <a:srgbClr val="1C7293"/>
          </a:solidFill>
          <a:ln/>
        </p:spPr>
      </p:sp>
      <p:sp>
        <p:nvSpPr>
          <p:cNvPr id="26" name="Text 24"/>
          <p:cNvSpPr txBox="1"/>
          <p:nvPr/>
        </p:nvSpPr>
        <p:spPr>
          <a:xfrm>
            <a:off x="3579876" y="2898648"/>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W7</a:t>
            </a:r>
            <a:endParaRPr lang="en-US" sz="1300" dirty="0"/>
          </a:p>
        </p:txBody>
      </p:sp>
      <p:sp>
        <p:nvSpPr>
          <p:cNvPr id="27" name="Text 25"/>
          <p:cNvSpPr txBox="1"/>
          <p:nvPr/>
        </p:nvSpPr>
        <p:spPr>
          <a:xfrm>
            <a:off x="3579876" y="3383280"/>
            <a:ext cx="2235708" cy="365760"/>
          </a:xfrm>
          <a:prstGeom prst="rect">
            <a:avLst/>
          </a:prstGeom>
          <a:noFill/>
          <a:ln/>
        </p:spPr>
        <p:txBody>
          <a:bodyPr wrap="square" lIns="0" tIns="0" rIns="0" bIns="0" rtlCol="0" anchor="ctr"/>
          <a:lstStyle/>
          <a:p>
            <a:pPr indent="0" marL="0">
              <a:buNone/>
            </a:pPr>
            <a:r>
              <a:rPr lang="en-US" sz="1350" b="1" dirty="0">
                <a:solidFill>
                  <a:srgbClr val="13294B"/>
                </a:solidFill>
                <a:latin typeface="Calibri" pitchFamily="34" charset="0"/>
                <a:ea typeface="Calibri" pitchFamily="34" charset="-122"/>
                <a:cs typeface="Calibri" pitchFamily="34" charset="-120"/>
              </a:rPr>
              <a:t>Review 2</a:t>
            </a:r>
            <a:endParaRPr lang="en-US" sz="1350" dirty="0"/>
          </a:p>
        </p:txBody>
      </p:sp>
      <p:sp>
        <p:nvSpPr>
          <p:cNvPr id="28" name="Text 26"/>
          <p:cNvSpPr txBox="1"/>
          <p:nvPr/>
        </p:nvSpPr>
        <p:spPr>
          <a:xfrm>
            <a:off x="3579876" y="3721608"/>
            <a:ext cx="2253996" cy="457200"/>
          </a:xfrm>
          <a:prstGeom prst="rect">
            <a:avLst/>
          </a:prstGeom>
          <a:noFill/>
          <a:ln/>
        </p:spPr>
        <p:txBody>
          <a:bodyPr wrap="square" lIns="0" tIns="0" rIns="0" bIns="0" rtlCol="0" anchor="t"/>
          <a:lstStyle/>
          <a:p>
            <a:pPr indent="0" marL="0">
              <a:buNone/>
            </a:pPr>
            <a:r>
              <a:rPr lang="en-US" sz="1050" dirty="0">
                <a:solidFill>
                  <a:srgbClr val="5B6B7B"/>
                </a:solidFill>
                <a:latin typeface="Calibri" pitchFamily="34" charset="0"/>
                <a:ea typeface="Calibri" pitchFamily="34" charset="-122"/>
                <a:cs typeface="Calibri" pitchFamily="34" charset="-120"/>
              </a:rPr>
              <a:t>Baseline reproduced + method + preliminary results</a:t>
            </a:r>
            <a:endParaRPr lang="en-US" sz="1050" dirty="0"/>
          </a:p>
        </p:txBody>
      </p:sp>
      <p:sp>
        <p:nvSpPr>
          <p:cNvPr id="29" name="Shape 27"/>
          <p:cNvSpPr/>
          <p:nvPr/>
        </p:nvSpPr>
        <p:spPr>
          <a:xfrm>
            <a:off x="6208776" y="2697480"/>
            <a:ext cx="2601468" cy="1554480"/>
          </a:xfrm>
          <a:prstGeom prst="roundRect">
            <a:avLst>
              <a:gd name="adj" fmla="val 5294"/>
            </a:avLst>
          </a:prstGeom>
          <a:solidFill>
            <a:srgbClr val="EAF2F5"/>
          </a:solidFill>
          <a:ln w="25400">
            <a:solidFill>
              <a:srgbClr val="E8A33D"/>
            </a:solidFill>
            <a:prstDash val="solid"/>
          </a:ln>
          <a:effectLst>
            <a:outerShdw sx="100000" sy="100000" kx="0" ky="0" algn="bl" rotWithShape="0" blurRad="88900" dist="25400" dir="5400000">
              <a:srgbClr val="A6B4C2">
                <a:alpha val="30000"/>
              </a:srgbClr>
            </a:outerShdw>
          </a:effectLst>
        </p:spPr>
      </p:sp>
      <p:sp>
        <p:nvSpPr>
          <p:cNvPr id="30" name="Shape 28"/>
          <p:cNvSpPr/>
          <p:nvPr/>
        </p:nvSpPr>
        <p:spPr>
          <a:xfrm>
            <a:off x="6409944" y="2898648"/>
            <a:ext cx="868680" cy="384048"/>
          </a:xfrm>
          <a:prstGeom prst="roundRect">
            <a:avLst>
              <a:gd name="adj" fmla="val 11905"/>
            </a:avLst>
          </a:prstGeom>
          <a:solidFill>
            <a:srgbClr val="E8A33D"/>
          </a:solidFill>
          <a:ln/>
        </p:spPr>
      </p:sp>
      <p:sp>
        <p:nvSpPr>
          <p:cNvPr id="31" name="Text 29"/>
          <p:cNvSpPr txBox="1"/>
          <p:nvPr/>
        </p:nvSpPr>
        <p:spPr>
          <a:xfrm>
            <a:off x="6409944" y="2898648"/>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W13</a:t>
            </a:r>
            <a:endParaRPr lang="en-US" sz="1300" dirty="0"/>
          </a:p>
        </p:txBody>
      </p:sp>
      <p:sp>
        <p:nvSpPr>
          <p:cNvPr id="32" name="Text 30"/>
          <p:cNvSpPr txBox="1"/>
          <p:nvPr/>
        </p:nvSpPr>
        <p:spPr>
          <a:xfrm>
            <a:off x="6409944" y="3383280"/>
            <a:ext cx="2235708" cy="365760"/>
          </a:xfrm>
          <a:prstGeom prst="rect">
            <a:avLst/>
          </a:prstGeom>
          <a:noFill/>
          <a:ln/>
        </p:spPr>
        <p:txBody>
          <a:bodyPr wrap="square" lIns="0" tIns="0" rIns="0" bIns="0" rtlCol="0" anchor="ctr"/>
          <a:lstStyle/>
          <a:p>
            <a:pPr indent="0" marL="0">
              <a:buNone/>
            </a:pPr>
            <a:r>
              <a:rPr lang="en-US" sz="1350" b="1" dirty="0">
                <a:solidFill>
                  <a:srgbClr val="13294B"/>
                </a:solidFill>
                <a:latin typeface="Calibri" pitchFamily="34" charset="0"/>
                <a:ea typeface="Calibri" pitchFamily="34" charset="-122"/>
                <a:cs typeface="Calibri" pitchFamily="34" charset="-120"/>
              </a:rPr>
              <a:t>Faculty Review</a:t>
            </a:r>
            <a:endParaRPr lang="en-US" sz="1350" dirty="0"/>
          </a:p>
        </p:txBody>
      </p:sp>
      <p:sp>
        <p:nvSpPr>
          <p:cNvPr id="33" name="Text 31"/>
          <p:cNvSpPr txBox="1"/>
          <p:nvPr/>
        </p:nvSpPr>
        <p:spPr>
          <a:xfrm>
            <a:off x="6409944" y="3721608"/>
            <a:ext cx="2253996" cy="457200"/>
          </a:xfrm>
          <a:prstGeom prst="rect">
            <a:avLst/>
          </a:prstGeom>
          <a:noFill/>
          <a:ln/>
        </p:spPr>
        <p:txBody>
          <a:bodyPr wrap="square" lIns="0" tIns="0" rIns="0" bIns="0" rtlCol="0" anchor="t"/>
          <a:lstStyle/>
          <a:p>
            <a:pPr indent="0" marL="0">
              <a:buNone/>
            </a:pPr>
            <a:r>
              <a:rPr lang="en-US" sz="1050" b="1" dirty="0">
                <a:solidFill>
                  <a:srgbClr val="C0504D"/>
                </a:solidFill>
                <a:latin typeface="Calibri" pitchFamily="34" charset="0"/>
                <a:ea typeface="Calibri" pitchFamily="34" charset="-122"/>
                <a:cs typeface="Calibri" pitchFamily="34" charset="-120"/>
              </a:rPr>
              <a:t>MAIN MILESTONE — most research done</a:t>
            </a:r>
            <a:endParaRPr lang="en-US" sz="1050" dirty="0"/>
          </a:p>
        </p:txBody>
      </p:sp>
      <p:sp>
        <p:nvSpPr>
          <p:cNvPr id="34" name="Shape 32"/>
          <p:cNvSpPr/>
          <p:nvPr/>
        </p:nvSpPr>
        <p:spPr>
          <a:xfrm>
            <a:off x="9038844" y="2697480"/>
            <a:ext cx="2601468" cy="1554480"/>
          </a:xfrm>
          <a:prstGeom prst="roundRect">
            <a:avLst>
              <a:gd name="adj" fmla="val 5294"/>
            </a:avLst>
          </a:prstGeom>
          <a:solidFill>
            <a:srgbClr val="EEF3F7"/>
          </a:solidFill>
          <a:ln w="12700">
            <a:solidFill>
              <a:srgbClr val="D5DEE6"/>
            </a:solidFill>
            <a:prstDash val="solid"/>
          </a:ln>
        </p:spPr>
      </p:sp>
      <p:sp>
        <p:nvSpPr>
          <p:cNvPr id="35" name="Shape 33"/>
          <p:cNvSpPr/>
          <p:nvPr/>
        </p:nvSpPr>
        <p:spPr>
          <a:xfrm>
            <a:off x="9240012" y="2898648"/>
            <a:ext cx="868680" cy="384048"/>
          </a:xfrm>
          <a:prstGeom prst="roundRect">
            <a:avLst>
              <a:gd name="adj" fmla="val 11905"/>
            </a:avLst>
          </a:prstGeom>
          <a:solidFill>
            <a:srgbClr val="1C7293"/>
          </a:solidFill>
          <a:ln/>
        </p:spPr>
      </p:sp>
      <p:sp>
        <p:nvSpPr>
          <p:cNvPr id="36" name="Text 34"/>
          <p:cNvSpPr txBox="1"/>
          <p:nvPr/>
        </p:nvSpPr>
        <p:spPr>
          <a:xfrm>
            <a:off x="9240012" y="2898648"/>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W15</a:t>
            </a:r>
            <a:endParaRPr lang="en-US" sz="1300" dirty="0"/>
          </a:p>
        </p:txBody>
      </p:sp>
      <p:sp>
        <p:nvSpPr>
          <p:cNvPr id="37" name="Text 35"/>
          <p:cNvSpPr txBox="1"/>
          <p:nvPr/>
        </p:nvSpPr>
        <p:spPr>
          <a:xfrm>
            <a:off x="9240012" y="3383280"/>
            <a:ext cx="2235708" cy="365760"/>
          </a:xfrm>
          <a:prstGeom prst="rect">
            <a:avLst/>
          </a:prstGeom>
          <a:noFill/>
          <a:ln/>
        </p:spPr>
        <p:txBody>
          <a:bodyPr wrap="square" lIns="0" tIns="0" rIns="0" bIns="0" rtlCol="0" anchor="ctr"/>
          <a:lstStyle/>
          <a:p>
            <a:pPr indent="0" marL="0">
              <a:buNone/>
            </a:pPr>
            <a:r>
              <a:rPr lang="en-US" sz="1350" b="1" dirty="0">
                <a:solidFill>
                  <a:srgbClr val="13294B"/>
                </a:solidFill>
                <a:latin typeface="Calibri" pitchFamily="34" charset="0"/>
                <a:ea typeface="Calibri" pitchFamily="34" charset="-122"/>
                <a:cs typeface="Calibri" pitchFamily="34" charset="-120"/>
              </a:rPr>
              <a:t>Final Defense</a:t>
            </a:r>
            <a:endParaRPr lang="en-US" sz="1350" dirty="0"/>
          </a:p>
        </p:txBody>
      </p:sp>
      <p:sp>
        <p:nvSpPr>
          <p:cNvPr id="38" name="Text 36"/>
          <p:cNvSpPr txBox="1"/>
          <p:nvPr/>
        </p:nvSpPr>
        <p:spPr>
          <a:xfrm>
            <a:off x="9240012" y="3721608"/>
            <a:ext cx="2253996" cy="457200"/>
          </a:xfrm>
          <a:prstGeom prst="rect">
            <a:avLst/>
          </a:prstGeom>
          <a:noFill/>
          <a:ln/>
        </p:spPr>
        <p:txBody>
          <a:bodyPr wrap="square" lIns="0" tIns="0" rIns="0" bIns="0" rtlCol="0" anchor="t"/>
          <a:lstStyle/>
          <a:p>
            <a:pPr indent="0" marL="0">
              <a:buNone/>
            </a:pPr>
            <a:r>
              <a:rPr lang="en-US" sz="1050" dirty="0">
                <a:solidFill>
                  <a:srgbClr val="5B6B7B"/>
                </a:solidFill>
                <a:latin typeface="Calibri" pitchFamily="34" charset="0"/>
                <a:ea typeface="Calibri" pitchFamily="34" charset="-122"/>
                <a:cs typeface="Calibri" pitchFamily="34" charset="-120"/>
              </a:rPr>
              <a:t>Defense + reproducibility package</a:t>
            </a:r>
            <a:endParaRPr lang="en-US" sz="1050" dirty="0"/>
          </a:p>
        </p:txBody>
      </p:sp>
      <p:sp>
        <p:nvSpPr>
          <p:cNvPr id="39" name="Shape 37"/>
          <p:cNvSpPr/>
          <p:nvPr/>
        </p:nvSpPr>
        <p:spPr>
          <a:xfrm>
            <a:off x="548640" y="4526280"/>
            <a:ext cx="10991088" cy="1234440"/>
          </a:xfrm>
          <a:prstGeom prst="roundRect">
            <a:avLst>
              <a:gd name="adj" fmla="val 6667"/>
            </a:avLst>
          </a:prstGeom>
          <a:solidFill>
            <a:srgbClr val="13294B"/>
          </a:solidFill>
          <a:ln/>
        </p:spPr>
      </p:sp>
      <p:sp>
        <p:nvSpPr>
          <p:cNvPr id="40" name="Text 38"/>
          <p:cNvSpPr txBox="1"/>
          <p:nvPr/>
        </p:nvSpPr>
        <p:spPr>
          <a:xfrm>
            <a:off x="777240" y="4663440"/>
            <a:ext cx="10515600" cy="36576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Non-negotiable milestones:  W3 · W7 · W13 · W15</a:t>
            </a:r>
            <a:endParaRPr lang="en-US" sz="1400" dirty="0"/>
          </a:p>
        </p:txBody>
      </p:sp>
      <p:sp>
        <p:nvSpPr>
          <p:cNvPr id="41" name="Text 39"/>
          <p:cNvSpPr txBox="1"/>
          <p:nvPr/>
        </p:nvSpPr>
        <p:spPr>
          <a:xfrm>
            <a:off x="777240" y="5029200"/>
            <a:ext cx="10515600" cy="6858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W13 (Faculty Review) is treated as the MAIN milestone — methodology, experiments, main results, ablation, and error &amp; hallucination analysis must be largely complete before W13. Weeks 14–15 finish the prototype, thesis, and defense.</a:t>
            </a:r>
            <a:endParaRPr lang="en-US" sz="1200" dirty="0"/>
          </a:p>
        </p:txBody>
      </p:sp>
      <p:sp>
        <p:nvSpPr>
          <p:cNvPr id="42" name="Text 40"/>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ViVQA-VLM · Week 1 Progress Report</a:t>
            </a:r>
            <a:endParaRPr lang="en-US" sz="900" dirty="0"/>
          </a:p>
        </p:txBody>
      </p:sp>
      <p:sp>
        <p:nvSpPr>
          <p:cNvPr id="43" name="Text 41"/>
          <p:cNvSpPr txBox="1"/>
          <p:nvPr/>
        </p:nvSpPr>
        <p:spPr>
          <a:xfrm>
            <a:off x="11247120" y="6455664"/>
            <a:ext cx="393192"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310896"/>
          </a:xfrm>
          <a:prstGeom prst="roundRect">
            <a:avLst>
              <a:gd name="adj" fmla="val 31250"/>
            </a:avLst>
          </a:prstGeom>
          <a:solidFill>
            <a:srgbClr val="E8A33D"/>
          </a:solidFill>
          <a:ln/>
        </p:spPr>
      </p:sp>
      <p:sp>
        <p:nvSpPr>
          <p:cNvPr id="3" name="Text 1"/>
          <p:cNvSpPr txBox="1"/>
          <p:nvPr/>
        </p:nvSpPr>
        <p:spPr>
          <a:xfrm>
            <a:off x="786384" y="329184"/>
            <a:ext cx="11064240" cy="585216"/>
          </a:xfrm>
          <a:prstGeom prst="rect">
            <a:avLst/>
          </a:prstGeom>
          <a:noFill/>
          <a:ln/>
        </p:spPr>
        <p:txBody>
          <a:bodyPr wrap="square" lIns="0" tIns="0" rIns="0" bIns="0" rtlCol="0" anchor="ctr"/>
          <a:lstStyle/>
          <a:p>
            <a:pPr algn="l" indent="0" marL="0">
              <a:buNone/>
            </a:pPr>
            <a:r>
              <a:rPr lang="en-US" sz="2800" b="1" dirty="0">
                <a:solidFill>
                  <a:srgbClr val="13294B"/>
                </a:solidFill>
                <a:latin typeface="Cambria" pitchFamily="34" charset="0"/>
                <a:ea typeface="Cambria" pitchFamily="34" charset="-122"/>
                <a:cs typeface="Cambria" pitchFamily="34" charset="-120"/>
              </a:rPr>
              <a:t>Risk Management &amp; Mitigation</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834640"/>
                <a:gridCol w="1188720"/>
                <a:gridCol w="3657600"/>
                <a:gridCol w="3410712"/>
              </a:tblGrid>
              <a:tr h="54864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Impact</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Mitigation</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Backup</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3294B"/>
                    </a:solidFill>
                  </a:tcPr>
                </a:tc>
              </a:tr>
              <a:tr h="548640">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GPU out-of-memory (model too large)</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0504D"/>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2DAD8"/>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QLoRA 4-bit; gradient checkpointing; smaller batch</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Smaller model; Colab Premium</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548640">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OCR quality poor (Vietnamese)</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b="1" dirty="0">
                          <a:solidFill>
                            <a:srgbClr val="B4832B"/>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ECD2"/>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Compare PaddleOCR ↔ VietOCR; preprocess images</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Swap engine; OCR only clear cases</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548640">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Baseline hard to reproduce</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0504D"/>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2DAD8"/>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Follow official repo/config; pin versions</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Switch VLM (BLIP-2 / Florence-2)</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548640">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Training not converging</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b="1" dirty="0">
                          <a:solidFill>
                            <a:srgbClr val="C0504D"/>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2DAD8"/>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Tune LR / rank; smaller adapter; log more</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Fall back to prompt optimization</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548640">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Dataset errors / noise</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B4832B"/>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ECD2"/>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Careful preprocessing + validation checks</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Filter noisy samples; document</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548640">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Scope creep (drift to app demo)</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b="1" dirty="0">
                          <a:solidFill>
                            <a:srgbClr val="B4832B"/>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ECD2"/>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Anchor to constraints + evaluation protocol</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l" indent="0" marL="0">
                        <a:buNone/>
                      </a:pPr>
                      <a:r>
                        <a:rPr lang="en-US" sz="1100" dirty="0">
                          <a:solidFill>
                            <a:srgbClr val="1A2230"/>
                          </a:solidFill>
                          <a:latin typeface="Calibri" pitchFamily="34" charset="0"/>
                          <a:ea typeface="Calibri" pitchFamily="34" charset="-122"/>
                          <a:cs typeface="Calibri" pitchFamily="34" charset="-120"/>
                        </a:rPr>
                        <a:t>Refocus on contribution + ablation</a:t>
                      </a:r>
                      <a:endParaRPr lang="en-US" sz="1100" dirty="0">
                        <a:latin typeface="Calibri" charset="0"/>
                        <a:ea typeface="Calibri" charset="0"/>
                        <a:cs typeface="Calibri" charset="0"/>
                      </a:endParaRPr>
                    </a:p>
                  </a:txBody>
                  <a:tcPr marL="63500" marR="63500" marT="38100" marB="3810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bl>
          </a:graphicData>
        </a:graphic>
      </p:graphicFrame>
      <p:sp>
        <p:nvSpPr>
          <p:cNvPr id="5" name="Shape 2"/>
          <p:cNvSpPr/>
          <p:nvPr/>
        </p:nvSpPr>
        <p:spPr>
          <a:xfrm>
            <a:off x="548640" y="5257800"/>
            <a:ext cx="10991088" cy="640080"/>
          </a:xfrm>
          <a:prstGeom prst="roundRect">
            <a:avLst>
              <a:gd name="adj" fmla="val 12857"/>
            </a:avLst>
          </a:prstGeom>
          <a:solidFill>
            <a:srgbClr val="EEF3F7"/>
          </a:solidFill>
          <a:ln/>
        </p:spPr>
      </p:sp>
      <p:sp>
        <p:nvSpPr>
          <p:cNvPr id="6" name="Text 3"/>
          <p:cNvSpPr txBox="1"/>
          <p:nvPr/>
        </p:nvSpPr>
        <p:spPr>
          <a:xfrm>
            <a:off x="777240" y="5257800"/>
            <a:ext cx="10515600" cy="640080"/>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 5 risks, each with a mitigation AND a concrete backup.   </a:t>
            </a:r>
            <a:pPr indent="0" marL="0">
              <a:buNone/>
            </a:pPr>
            <a:r>
              <a:rPr lang="en-US" sz="1150" dirty="0">
                <a:solidFill>
                  <a:srgbClr val="1A2230"/>
                </a:solidFill>
                <a:latin typeface="Calibri" pitchFamily="34" charset="0"/>
                <a:ea typeface="Calibri" pitchFamily="34" charset="-122"/>
                <a:cs typeface="Calibri" pitchFamily="34" charset="-120"/>
              </a:rPr>
              <a:t>Efficiency-first → QLoRA is the default answer to most GPU risks.</a:t>
            </a:r>
            <a:endParaRPr lang="en-US" sz="1150" dirty="0"/>
          </a:p>
        </p:txBody>
      </p:sp>
      <p:sp>
        <p:nvSpPr>
          <p:cNvPr id="7" name="Text 4"/>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ViVQA-VLM · Week 1 Progress Report</a:t>
            </a:r>
            <a:endParaRPr lang="en-US" sz="900" dirty="0"/>
          </a:p>
        </p:txBody>
      </p:sp>
      <p:sp>
        <p:nvSpPr>
          <p:cNvPr id="8" name="Text 5"/>
          <p:cNvSpPr txBox="1"/>
          <p:nvPr/>
        </p:nvSpPr>
        <p:spPr>
          <a:xfrm>
            <a:off x="11247120" y="6455664"/>
            <a:ext cx="393192"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548640" y="594360"/>
            <a:ext cx="640080" cy="640080"/>
          </a:xfrm>
          <a:prstGeom prst="ellipse">
            <a:avLst/>
          </a:prstGeom>
          <a:solidFill>
            <a:srgbClr val="E8A33D"/>
          </a:solidFill>
          <a:ln/>
        </p:spPr>
      </p:sp>
      <p:pic>
        <p:nvPicPr>
          <p:cNvPr id="3" name="Image 0" descr="preencoded.png">    </p:cNvPr>
          <p:cNvPicPr>
            <a:picLocks noChangeAspect="1"/>
          </p:cNvPicPr>
          <p:nvPr/>
        </p:nvPicPr>
        <p:blipFill>
          <a:blip r:embed="rId1"/>
          <a:stretch>
            <a:fillRect/>
          </a:stretch>
        </p:blipFill>
        <p:spPr>
          <a:xfrm>
            <a:off x="721462" y="767182"/>
            <a:ext cx="294437" cy="294437"/>
          </a:xfrm>
          <a:prstGeom prst="rect">
            <a:avLst/>
          </a:prstGeom>
        </p:spPr>
      </p:pic>
      <p:sp>
        <p:nvSpPr>
          <p:cNvPr id="4" name="Text 1"/>
          <p:cNvSpPr txBox="1"/>
          <p:nvPr/>
        </p:nvSpPr>
        <p:spPr>
          <a:xfrm>
            <a:off x="1371600" y="566928"/>
            <a:ext cx="100584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Q&amp;A / Discussion</a:t>
            </a:r>
            <a:endParaRPr lang="en-US" sz="3600" dirty="0"/>
          </a:p>
        </p:txBody>
      </p:sp>
      <p:sp>
        <p:nvSpPr>
          <p:cNvPr id="5" name="Text 2"/>
          <p:cNvSpPr txBox="1"/>
          <p:nvPr/>
        </p:nvSpPr>
        <p:spPr>
          <a:xfrm>
            <a:off x="1371600" y="1298448"/>
            <a:ext cx="100584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Discussion points for our mentor</a:t>
            </a:r>
            <a:endParaRPr lang="en-US" sz="1400" dirty="0"/>
          </a:p>
        </p:txBody>
      </p:sp>
      <p:sp>
        <p:nvSpPr>
          <p:cNvPr id="6" name="Text 3"/>
          <p:cNvSpPr txBox="1"/>
          <p:nvPr/>
        </p:nvSpPr>
        <p:spPr>
          <a:xfrm>
            <a:off x="548640" y="2148840"/>
            <a:ext cx="5486400" cy="36576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Decisions to confirm</a:t>
            </a:r>
            <a:endParaRPr lang="en-US" sz="1600" dirty="0"/>
          </a:p>
        </p:txBody>
      </p:sp>
      <p:sp>
        <p:nvSpPr>
          <p:cNvPr id="7" name="Text 4"/>
          <p:cNvSpPr txBox="1"/>
          <p:nvPr/>
        </p:nvSpPr>
        <p:spPr>
          <a:xfrm>
            <a:off x="548640" y="2606040"/>
            <a:ext cx="5394960" cy="2011680"/>
          </a:xfrm>
          <a:prstGeom prst="rect">
            <a:avLst/>
          </a:prstGeom>
          <a:noFill/>
          <a:ln/>
        </p:spPr>
        <p:txBody>
          <a:bodyPr wrap="square" lIns="25400" tIns="25400" rIns="25400" bIns="25400" rtlCol="0" anchor="t"/>
          <a:lstStyle/>
          <a:p>
            <a:pPr algn="l" marL="177800" indent="-1778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Baseline: Qwen2.5-VL-3B — agree, or BLIP-2 / Florence-2?</a:t>
            </a:r>
            <a:endParaRPr lang="en-US" sz="1350" dirty="0"/>
          </a:p>
          <a:p>
            <a:pPr algn="l" marL="177800" indent="-1778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Focus gaps G2 + G3 — is the scope right?</a:t>
            </a:r>
            <a:endParaRPr lang="en-US" sz="1350" dirty="0"/>
          </a:p>
          <a:p>
            <a:pPr algn="l" marL="177800" indent="-1778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First experiment: QLoRA vs. OCR-prompting?</a:t>
            </a:r>
            <a:endParaRPr lang="en-US" sz="1350" dirty="0"/>
          </a:p>
        </p:txBody>
      </p:sp>
      <p:sp>
        <p:nvSpPr>
          <p:cNvPr id="8" name="Text 5"/>
          <p:cNvSpPr txBox="1"/>
          <p:nvPr/>
        </p:nvSpPr>
        <p:spPr>
          <a:xfrm>
            <a:off x="6263640" y="2148840"/>
            <a:ext cx="5486400" cy="36576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Open questions</a:t>
            </a:r>
            <a:endParaRPr lang="en-US" sz="1600" dirty="0"/>
          </a:p>
        </p:txBody>
      </p:sp>
      <p:sp>
        <p:nvSpPr>
          <p:cNvPr id="9" name="Text 6"/>
          <p:cNvSpPr txBox="1"/>
          <p:nvPr/>
        </p:nvSpPr>
        <p:spPr>
          <a:xfrm>
            <a:off x="6263640" y="2606040"/>
            <a:ext cx="5257800" cy="2011680"/>
          </a:xfrm>
          <a:prstGeom prst="rect">
            <a:avLst/>
          </a:prstGeom>
          <a:noFill/>
          <a:ln/>
        </p:spPr>
        <p:txBody>
          <a:bodyPr wrap="square" lIns="25400" tIns="25400" rIns="25400" bIns="25400" rtlCol="0" anchor="t"/>
          <a:lstStyle/>
          <a:p>
            <a:pPr algn="l" marL="177800" indent="-1778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ViTextVQA — full dataset or start with a subset?</a:t>
            </a:r>
            <a:endParaRPr lang="en-US" sz="1350" dirty="0"/>
          </a:p>
          <a:p>
            <a:pPr algn="l" marL="177800" indent="-1778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Hallucination — POPE-style probing or a custom protocol?</a:t>
            </a:r>
            <a:endParaRPr lang="en-US" sz="1350" dirty="0"/>
          </a:p>
          <a:p>
            <a:pPr algn="l" marL="177800" indent="-1778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Human evaluation — feasible, or metrics-only?</a:t>
            </a:r>
            <a:endParaRPr lang="en-US" sz="1350" dirty="0"/>
          </a:p>
        </p:txBody>
      </p:sp>
      <p:sp>
        <p:nvSpPr>
          <p:cNvPr id="10" name="Shape 7"/>
          <p:cNvSpPr/>
          <p:nvPr/>
        </p:nvSpPr>
        <p:spPr>
          <a:xfrm>
            <a:off x="548640" y="4754880"/>
            <a:ext cx="10991088" cy="868680"/>
          </a:xfrm>
          <a:prstGeom prst="roundRect">
            <a:avLst>
              <a:gd name="adj" fmla="val 9474"/>
            </a:avLst>
          </a:prstGeom>
          <a:solidFill>
            <a:srgbClr val="1F3A5F"/>
          </a:solidFill>
          <a:ln/>
        </p:spPr>
      </p:sp>
      <p:sp>
        <p:nvSpPr>
          <p:cNvPr id="11" name="Text 8"/>
          <p:cNvSpPr txBox="1"/>
          <p:nvPr/>
        </p:nvSpPr>
        <p:spPr>
          <a:xfrm>
            <a:off x="777240" y="4754880"/>
            <a:ext cx="10515600" cy="868680"/>
          </a:xfrm>
          <a:prstGeom prst="rect">
            <a:avLst/>
          </a:prstGeom>
          <a:noFill/>
          <a:ln/>
        </p:spPr>
        <p:txBody>
          <a:bodyPr wrap="square" lIns="0" tIns="0" rIns="0" bIns="0" rtlCol="0" anchor="ctr"/>
          <a:lstStyle/>
          <a:p>
            <a:pPr indent="0" marL="0">
              <a:buNone/>
            </a:pPr>
            <a:r>
              <a:rPr lang="en-US" sz="1250" b="1" dirty="0">
                <a:solidFill>
                  <a:srgbClr val="E8A33D"/>
                </a:solidFill>
                <a:latin typeface="Calibri" pitchFamily="34" charset="0"/>
                <a:ea typeface="Calibri" pitchFamily="34" charset="-122"/>
                <a:cs typeface="Calibri" pitchFamily="34" charset="-120"/>
              </a:rPr>
              <a:t>Next steps (W2):  </a:t>
            </a:r>
            <a:pPr indent="0" marL="0">
              <a:buNone/>
            </a:pPr>
            <a:r>
              <a:rPr lang="en-US" sz="1250" dirty="0">
                <a:solidFill>
                  <a:srgbClr val="FFFFFF"/>
                </a:solidFill>
                <a:latin typeface="Calibri" pitchFamily="34" charset="0"/>
                <a:ea typeface="Calibri" pitchFamily="34" charset="-122"/>
                <a:cs typeface="Calibri" pitchFamily="34" charset="-120"/>
              </a:rPr>
              <a:t>finalize the literature matrix  ·  fix the train/val/test split  ·  run the pilot (10–20 samples)  ·  lock the baseline.</a:t>
            </a:r>
            <a:endParaRPr lang="en-US" sz="1250" dirty="0"/>
          </a:p>
        </p:txBody>
      </p:sp>
      <p:sp>
        <p:nvSpPr>
          <p:cNvPr id="12" name="Text 9"/>
          <p:cNvSpPr txBox="1"/>
          <p:nvPr/>
        </p:nvSpPr>
        <p:spPr>
          <a:xfrm>
            <a:off x="548640" y="5806440"/>
            <a:ext cx="10991088" cy="502920"/>
          </a:xfrm>
          <a:prstGeom prst="rect">
            <a:avLst/>
          </a:prstGeom>
          <a:noFill/>
          <a:ln/>
        </p:spPr>
        <p:txBody>
          <a:bodyPr wrap="square" lIns="0" tIns="0" rIns="0" bIns="0" rtlCol="0" anchor="ctr"/>
          <a:lstStyle/>
          <a:p>
            <a:pPr algn="ctr" indent="0" marL="0">
              <a:buNone/>
            </a:pPr>
            <a:r>
              <a:rPr lang="en-US" sz="2000" b="1" i="1" dirty="0">
                <a:solidFill>
                  <a:srgbClr val="E8A33D"/>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ViVQA-VLM Week 1 Progress Report</dc:title>
  <dc:subject>PptxGenJS Presentation</dc:subject>
  <dc:creator>ViVQA-VLM Team</dc:creator>
  <cp:lastModifiedBy>ViVQA-VLM Team</cp:lastModifiedBy>
  <cp:revision>1</cp:revision>
  <dcterms:created xsi:type="dcterms:W3CDTF">2026-09-03T10:08:32Z</dcterms:created>
  <dcterms:modified xsi:type="dcterms:W3CDTF">2026-09-03T10:08:32Z</dcterms:modified>
</cp:coreProperties>
</file>