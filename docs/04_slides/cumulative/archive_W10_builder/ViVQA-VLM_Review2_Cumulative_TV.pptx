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78755ca-46d3-7e72-51c0-c151b2543623}">
          <p14:sldIdLst>
            <p14:sldId id="256"/>
          </p14:sldIdLst>
        </p14:section>
        <p14:section name="Nội dung" id="{99ae20de-7588-4e5f-f10c-b2217c79d0d4}">
          <p14:sldIdLst>
            <p14:sldId id="257"/>
          </p14:sldIdLst>
        </p14:section>
        <p14:section name="A · Review 1 (đã sửa)" id="{55f3fa6c-09b0-755b-f4bf-88c1fe880c63}">
          <p14:sldIdLst>
            <p14:sldId id="258"/>
            <p14:sldId id="259"/>
            <p14:sldId id="260"/>
            <p14:sldId id="261"/>
            <p14:sldId id="262"/>
            <p14:sldId id="263"/>
            <p14:sldId id="264"/>
            <p14:sldId id="265"/>
            <p14:sldId id="266"/>
            <p14:sldId id="267"/>
            <p14:sldId id="268"/>
            <p14:sldId id="269"/>
            <p14:sldId id="270"/>
            <p14:sldId id="271"/>
          </p14:sldIdLst>
        </p14:section>
        <p14:section name="B · Tóm tắt" id="{3d18e294-95c3-c2e6-5269-15b86ba5810b}">
          <p14:sldIdLst>
            <p14:sldId id="272"/>
          </p14:sldIdLst>
        </p14:section>
        <p14:section name="B · Góp ý" id="{52176cfc-cd75-5eaf-6bd5-67815c68cc26}">
          <p14:sldIdLst>
            <p14:sldId id="273"/>
          </p14:sldIdLst>
        </p14:section>
        <p14:section name="B · Dữ liệu &amp; baseline" id="{aa86c2d7-f076-eefb-c8ad-0ee697363e79}">
          <p14:sldIdLst>
            <p14:sldId id="274"/>
            <p14:sldId id="275"/>
            <p14:sldId id="276"/>
          </p14:sldIdLst>
        </p14:section>
        <p14:section name="B · Kết quả" id="{59687d0c-436a-b5a8-0d51-86064fee6b57}">
          <p14:sldIdLst>
            <p14:sldId id="277"/>
            <p14:sldId id="278"/>
            <p14:sldId id="279"/>
          </p14:sldIdLst>
        </p14:section>
        <p14:section name="B · Cải tiến" id="{e5addb0c-ed07-b20d-3995-df6208314495}">
          <p14:sldIdLst>
            <p14:sldId id="280"/>
            <p14:sldId id="281"/>
            <p14:sldId id="282"/>
            <p14:sldId id="283"/>
            <p14:sldId id="284"/>
          </p14:sldIdLst>
        </p14:section>
        <p14:section name="B · QLoRA nhận biết OCR" id="{16624afd-1973-a46d-100c-b22b6c004701}">
          <p14:sldIdLst>
            <p14:sldId id="285"/>
            <p14:sldId id="286"/>
            <p14:sldId id="287"/>
            <p14:sldId id="288"/>
          </p14:sldIdLst>
        </p14:section>
        <p14:section name="B · Phân tích &amp; kế hoạch" id="{58b698ec-0d19-17f9-cc86-65bb67627578}">
          <p14:sldIdLst>
            <p14:sldId id="289"/>
            <p14:sldId id="290"/>
            <p14:sldId id="2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400" b="0" i="0" u="none" strike="noStrike" kern="1200" baseline="0">
                <a:solidFill>
                  <a:srgbClr val="243044"/>
                </a:solidFill>
                <a:latin typeface="+mn-lt"/>
                <a:ea typeface="+mn-ea"/>
                <a:cs typeface="+mn-cs"/>
              </a:defRPr>
            </a:pPr>
            <a:r>
              <a:rPr sz="1400" b="0" i="0" u="none" strike="noStrike">
                <a:solidFill>
                  <a:srgbClr val="243044"/>
                </a:solidFill>
                <a:latin typeface="+mn-lt"/>
              </a:rPr>
              <a:t>TextVQA val (5.000 câu), VQA accuracy</a:t>
            </a:r>
            <a:endParaRPr sz="1400" b="0" i="0" u="none" strike="noStrike">
              <a:solidFill>
                <a:srgbClr val="243044"/>
              </a:solidFill>
              <a:latin typeface="+mn-lt"/>
            </a:endParaRPr>
          </a:p>
        </c:rich>
      </c:tx>
      <c:layout/>
      <c:overlay val="0"/>
    </c:title>
    <c:autoTitleDeleted val="0"/>
    <c:plotArea>
      <c:layout/>
      <c:barChart>
        <c:barDir val="col"/>
        <c:grouping val="clustered"/>
        <c:varyColors val="0"/>
        <c:ser>
          <c:idx val="0"/>
          <c:order val="0"/>
          <c:tx>
            <c:strRef>
              <c:f>Sheet1!$B$1</c:f>
              <c:strCache>
                <c:ptCount val="1"/>
                <c:pt idx="0">
                  <c:v>VQA-Acc</c:v>
                </c:pt>
              </c:strCache>
            </c:strRef>
          </c:tx>
          <c:spPr>
            <a:solidFill>
              <a:srgbClr val="1C729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Báo cáo Qwen2.5-VL</c:v>
                </c:pt>
                <c:pt idx="1">
                  <c:v>R0 · bf16, đủ độ phân giải</c:v>
                </c:pt>
                <c:pt idx="2">
                  <c:v>R0b · 4-bit, 512 token</c:v>
                </c:pt>
              </c:strCache>
            </c:strRef>
          </c:cat>
          <c:val>
            <c:numRef>
              <c:f>Sheet1!$B$2:$B$4</c:f>
              <c:numCache>
                <c:formatCode>General</c:formatCode>
                <c:ptCount val="3"/>
                <c:pt idx="0">
                  <c:v>79.3</c:v>
                </c:pt>
                <c:pt idx="1">
                  <c:v>79.6</c:v>
                </c:pt>
                <c:pt idx="2">
                  <c:v>75.21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85"/>
          <c:min val="60"/>
        </c:scaling>
        <c:delete val="0"/>
        <c:axPos val="l"/>
        <c:majorGridlines>
          <c:spPr>
            <a:ln w="9525" cap="flat" cmpd="sng" algn="ctr">
              <a:solidFill>
                <a:srgbClr val="E2E7EE"/>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ace876d9-f781-4a33-b600-550e80fab31c}"/>
      </c:ext>
    </c:extLst>
  </c:chart>
  <c:spPr>
    <a:noFill/>
    <a:ln>
      <a:noFill/>
    </a:ln>
    <a:effectLst/>
  </c:spPr>
  <c:txPr>
    <a:bodyPr/>
    <a:lstStyle/>
    <a:p>
      <a:pPr>
        <a:defRPr lang="en-GB"/>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EM</c:v>
                </c:pt>
              </c:strCache>
            </c:strRef>
          </c:tx>
          <c:spPr>
            <a:solidFill>
              <a:srgbClr val="E8A33D"/>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số lượng</c:v>
                </c:pt>
                <c:pt idx="1">
                  <c:v>màu</c:v>
                </c:pt>
                <c:pt idx="2">
                  <c:v>đồ vật</c:v>
                </c:pt>
                <c:pt idx="3">
                  <c:v>vị trí</c:v>
                </c:pt>
              </c:strCache>
            </c:strRef>
          </c:cat>
          <c:val>
            <c:numRef>
              <c:f>Sheet1!$B$2:$B$5</c:f>
              <c:numCache>
                <c:formatCode>General</c:formatCode>
                <c:ptCount val="4"/>
                <c:pt idx="0">
                  <c:v>69.1</c:v>
                </c:pt>
                <c:pt idx="1">
                  <c:v>44.8</c:v>
                </c:pt>
                <c:pt idx="2">
                  <c:v>5.7</c:v>
                </c:pt>
                <c:pt idx="3">
                  <c:v>0.7</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c6590212-3e36-4b0c-9ac9-ab0968e2e550}"/>
      </c:ext>
    </c:extLst>
  </c:chart>
  <c:spPr>
    <a:noFill/>
    <a:ln>
      <a:noFill/>
    </a:ln>
    <a:effectLst/>
  </c:spPr>
  <c:txPr>
    <a:bodyPr/>
    <a:lstStyle/>
    <a:p>
      <a:pPr>
        <a:defRPr lang="en-GB"/>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400" b="0" i="0" u="none" strike="noStrike" kern="1200" baseline="0">
                <a:solidFill>
                  <a:srgbClr val="243044"/>
                </a:solidFill>
                <a:latin typeface="+mn-lt"/>
                <a:ea typeface="+mn-ea"/>
                <a:cs typeface="+mn-cs"/>
              </a:defRPr>
            </a:pPr>
            <a:r>
              <a:rPr sz="1400" b="0" i="0" u="none" strike="noStrike">
                <a:solidFill>
                  <a:srgbClr val="243044"/>
                </a:solidFill>
                <a:latin typeface="+mn-lt"/>
              </a:rPr>
              <a:t>Exact Match (%)</a:t>
            </a:r>
            <a:endParaRPr sz="1400" b="0" i="0" u="none" strike="noStrike">
              <a:solidFill>
                <a:srgbClr val="243044"/>
              </a:solidFill>
              <a:latin typeface="+mn-lt"/>
            </a:endParaRPr>
          </a:p>
        </c:rich>
      </c:tx>
      <c:layout/>
      <c:overlay val="0"/>
    </c:title>
    <c:autoTitleDeleted val="0"/>
    <c:plotArea>
      <c:layout/>
      <c:barChart>
        <c:barDir val="col"/>
        <c:grouping val="clustered"/>
        <c:varyColors val="0"/>
        <c:ser>
          <c:idx val="0"/>
          <c:order val="0"/>
          <c:tx>
            <c:strRef>
              <c:f>Sheet1!$B$1</c:f>
              <c:strCache>
                <c:ptCount val="1"/>
                <c:pt idx="0">
                  <c:v>B1 zero-shot</c:v>
                </c:pt>
              </c:strCache>
            </c:strRef>
          </c:tx>
          <c:spPr>
            <a:solidFill>
              <a:srgbClr val="6B7280"/>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ViVQA</c:v>
                </c:pt>
                <c:pt idx="1">
                  <c:v>ViTextVQA (2.000)</c:v>
                </c:pt>
                <c:pt idx="2">
                  <c:v>ViTextVQA đầy đủ</c:v>
                </c:pt>
              </c:strCache>
            </c:strRef>
          </c:cat>
          <c:val>
            <c:numRef>
              <c:f>Sheet1!$B$2:$B$4</c:f>
              <c:numCache>
                <c:formatCode>General</c:formatCode>
                <c:ptCount val="3"/>
                <c:pt idx="0">
                  <c:v>22.09</c:v>
                </c:pt>
                <c:pt idx="1">
                  <c:v>28.8</c:v>
                </c:pt>
                <c:pt idx="2">
                  <c:v>29.12</c:v>
                </c:pt>
              </c:numCache>
            </c:numRef>
          </c:val>
        </c:ser>
        <c:ser>
          <c:idx val="1"/>
          <c:order val="1"/>
          <c:tx>
            <c:strRef>
              <c:f>Sheet1!$C$1</c:f>
              <c:strCache>
                <c:ptCount val="1"/>
                <c:pt idx="0">
                  <c:v>B2 QLoRA 1 epoch</c:v>
                </c:pt>
              </c:strCache>
            </c:strRef>
          </c:tx>
          <c:spPr>
            <a:solidFill>
              <a:srgbClr val="1C729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ViVQA</c:v>
                </c:pt>
                <c:pt idx="1">
                  <c:v>ViTextVQA (2.000)</c:v>
                </c:pt>
                <c:pt idx="2">
                  <c:v>ViTextVQA đầy đủ</c:v>
                </c:pt>
              </c:strCache>
            </c:strRef>
          </c:cat>
          <c:val>
            <c:numRef>
              <c:f>Sheet1!$C$2:$C$4</c:f>
              <c:numCache>
                <c:formatCode>General</c:formatCode>
                <c:ptCount val="3"/>
                <c:pt idx="0">
                  <c:v>73.78</c:v>
                </c:pt>
                <c:pt idx="1">
                  <c:v>49.7</c:v>
                </c:pt>
                <c:pt idx="2">
                  <c:v>50.26</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90"/>
          <c:min val="0"/>
        </c:scaling>
        <c:delete val="0"/>
        <c:axPos val="l"/>
        <c:majorGridlines>
          <c:spPr>
            <a:ln w="9525" cap="flat" cmpd="sng" algn="ctr">
              <a:solidFill>
                <a:srgbClr val="E2E7EE"/>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1200" b="0" i="0" u="none" strike="noStrike" kern="1200" baseline="0">
              <a:solidFill>
                <a:srgbClr val="243044"/>
              </a:solidFill>
              <a:latin typeface="+mn-lt"/>
              <a:ea typeface="+mn-ea"/>
              <a:cs typeface="+mn-lt"/>
            </a:defRPr>
          </a:pPr>
        </a:p>
      </c:txPr>
    </c:legend>
    <c:plotVisOnly val="1"/>
    <c:dispBlanksAs val="span"/>
    <c:showDLblsOverMax val="0"/>
    <c:extLst>
      <c:ext uri="{0b15fc19-7d7d-44ad-8c2d-2c3a37ce22c3}">
        <chartProps xmlns="https://web.wps.cn/et/2018/main" chartId="{2bb80bfb-691a-421e-ab3f-3ee009034253}"/>
      </c:ext>
    </c:extLst>
  </c:chart>
  <c:spPr>
    <a:noFill/>
    <a:ln>
      <a:noFill/>
    </a:ln>
    <a:effectLst/>
  </c:spPr>
  <c:txPr>
    <a:bodyPr/>
    <a:lstStyle/>
    <a:p>
      <a:pPr>
        <a:defRPr lang="en-GB"/>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B1</c:v>
                </c:pt>
              </c:strCache>
            </c:strRef>
          </c:tx>
          <c:spPr>
            <a:solidFill>
              <a:srgbClr val="6B7280"/>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ViVQA</c:v>
                </c:pt>
                <c:pt idx="1">
                  <c:v>ViTextVQA (2.000)</c:v>
                </c:pt>
              </c:strCache>
            </c:strRef>
          </c:cat>
          <c:val>
            <c:numRef>
              <c:f>Sheet1!$B$2:$B$3</c:f>
              <c:numCache>
                <c:formatCode>General</c:formatCode>
                <c:ptCount val="2"/>
                <c:pt idx="0">
                  <c:v>22.09</c:v>
                </c:pt>
                <c:pt idx="1">
                  <c:v>28.8</c:v>
                </c:pt>
              </c:numCache>
            </c:numRef>
          </c:val>
        </c:ser>
        <c:ser>
          <c:idx val="1"/>
          <c:order val="1"/>
          <c:tx>
            <c:strRef>
              <c:f>Sheet1!$C$1</c:f>
              <c:strCache>
                <c:ptCount val="1"/>
                <c:pt idx="0">
                  <c:v>FS5</c:v>
                </c:pt>
              </c:strCache>
            </c:strRef>
          </c:tx>
          <c:spPr>
            <a:solidFill>
              <a:srgbClr val="E8A33D"/>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ViVQA</c:v>
                </c:pt>
                <c:pt idx="1">
                  <c:v>ViTextVQA (2.000)</c:v>
                </c:pt>
              </c:strCache>
            </c:strRef>
          </c:cat>
          <c:val>
            <c:numRef>
              <c:f>Sheet1!$C$2:$C$3</c:f>
              <c:numCache>
                <c:formatCode>General</c:formatCode>
                <c:ptCount val="2"/>
                <c:pt idx="0">
                  <c:v>20.03</c:v>
                </c:pt>
                <c:pt idx="1">
                  <c:v>27.6</c:v>
                </c:pt>
              </c:numCache>
            </c:numRef>
          </c:val>
        </c:ser>
        <c:ser>
          <c:idx val="2"/>
          <c:order val="2"/>
          <c:tx>
            <c:strRef>
              <c:f>Sheet1!$D$1</c:f>
              <c:strCache>
                <c:ptCount val="1"/>
                <c:pt idx="0">
                  <c:v>B2</c:v>
                </c:pt>
              </c:strCache>
            </c:strRef>
          </c:tx>
          <c:spPr>
            <a:solidFill>
              <a:srgbClr val="1C729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ViVQA</c:v>
                </c:pt>
                <c:pt idx="1">
                  <c:v>ViTextVQA (2.000)</c:v>
                </c:pt>
              </c:strCache>
            </c:strRef>
          </c:cat>
          <c:val>
            <c:numRef>
              <c:f>Sheet1!$D$2:$D$3</c:f>
              <c:numCache>
                <c:formatCode>General</c:formatCode>
                <c:ptCount val="2"/>
                <c:pt idx="0">
                  <c:v>73.78</c:v>
                </c:pt>
                <c:pt idx="1">
                  <c:v>49.7</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90"/>
          <c:min val="0"/>
        </c:scaling>
        <c:delete val="0"/>
        <c:axPos val="l"/>
        <c:majorGridlines>
          <c:spPr>
            <a:ln w="9525" cap="flat" cmpd="sng" algn="ctr">
              <a:solidFill>
                <a:srgbClr val="E2E7EE"/>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legend>
      <c:legendPos val="r"/>
      <c:layout/>
      <c:overlay val="0"/>
      <c:txPr>
        <a:bodyPr rot="0" spcFirstLastPara="0" vertOverflow="ellipsis" vert="horz" wrap="square" anchor="ctr" anchorCtr="1"/>
        <a:lstStyle/>
        <a:p>
          <a:pPr>
            <a:defRPr lang="en-GB" sz="1200" b="0" i="0" u="none" strike="noStrike" kern="1200" baseline="0">
              <a:solidFill>
                <a:srgbClr val="243044"/>
              </a:solidFill>
              <a:latin typeface="+mn-lt"/>
              <a:ea typeface="+mn-ea"/>
              <a:cs typeface="+mn-lt"/>
            </a:defRPr>
          </a:pPr>
        </a:p>
      </c:txPr>
    </c:legend>
    <c:plotVisOnly val="1"/>
    <c:dispBlanksAs val="span"/>
    <c:showDLblsOverMax val="0"/>
    <c:extLst>
      <c:ext uri="{0b15fc19-7d7d-44ad-8c2d-2c3a37ce22c3}">
        <chartProps xmlns="https://web.wps.cn/et/2018/main" chartId="{879da81c-65d6-487e-be48-fb18d61e2fb6}"/>
      </c:ext>
    </c:extLst>
  </c:chart>
  <c:spPr>
    <a:noFill/>
    <a:ln>
      <a:noFill/>
    </a:ln>
    <a:effectLst/>
  </c:spPr>
  <c:txPr>
    <a:bodyPr/>
    <a:lstStyle/>
    <a:p>
      <a:pPr>
        <a:defRPr lang="en-GB"/>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400" b="0" i="0" u="none" strike="noStrike" kern="1200" baseline="0">
                <a:solidFill>
                  <a:srgbClr val="243044"/>
                </a:solidFill>
                <a:latin typeface="+mn-lt"/>
                <a:ea typeface="+mn-ea"/>
                <a:cs typeface="+mn-cs"/>
              </a:defRPr>
            </a:pPr>
            <a:r>
              <a:rPr sz="1400" b="0" i="0" u="none" strike="noStrike">
                <a:solidFill>
                  <a:srgbClr val="243044"/>
                </a:solidFill>
                <a:latin typeface="+mn-lt"/>
              </a:rPr>
              <a:t>Phân loại tự động lỗi B2, full test ViTextVQA (n = 4.988)</a:t>
            </a:r>
            <a:endParaRPr sz="1400" b="0" i="0" u="none" strike="noStrike">
              <a:solidFill>
                <a:srgbClr val="243044"/>
              </a:solidFill>
              <a:latin typeface="+mn-lt"/>
            </a:endParaRPr>
          </a:p>
        </c:rich>
      </c:tx>
      <c:layout/>
      <c:overlay val="0"/>
    </c:title>
    <c:autoTitleDeleted val="0"/>
    <c:plotArea>
      <c:layout/>
      <c:barChart>
        <c:barDir val="bar"/>
        <c:grouping val="clustered"/>
        <c:varyColors val="0"/>
        <c:ser>
          <c:idx val="0"/>
          <c:order val="0"/>
          <c:tx>
            <c:strRef>
              <c:f>Sheet1!$B$1</c:f>
              <c:strCache>
                <c:ptCount val="1"/>
                <c:pt idx="0">
                  <c:v>% lỗi của B2</c:v>
                </c:pt>
              </c:strCache>
            </c:strRef>
          </c:tx>
          <c:spPr>
            <a:solidFill>
              <a:srgbClr val="1C729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khác: nội dung / vùng ảnh</c:v>
                </c:pt>
                <c:pt idx="1">
                  <c:v>lệch 1–2 ký tự</c:v>
                </c:pt>
                <c:pt idx="2">
                  <c:v>trả lời thừa chữ</c:v>
                </c:pt>
                <c:pt idx="3">
                  <c:v>trả lời thiếu chữ</c:v>
                </c:pt>
                <c:pt idx="4">
                  <c:v>chỉ sai dấu thanh</c:v>
                </c:pt>
              </c:strCache>
            </c:strRef>
          </c:cat>
          <c:val>
            <c:numRef>
              <c:f>Sheet1!$B$2:$B$6</c:f>
              <c:numCache>
                <c:formatCode>General</c:formatCode>
                <c:ptCount val="5"/>
                <c:pt idx="0">
                  <c:v>47.4</c:v>
                </c:pt>
                <c:pt idx="1">
                  <c:v>16.8</c:v>
                </c:pt>
                <c:pt idx="2">
                  <c:v>13.6</c:v>
                </c:pt>
                <c:pt idx="3">
                  <c:v>13.2</c:v>
                </c:pt>
                <c:pt idx="4">
                  <c:v>9</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60"/>
        </c:scaling>
        <c:delete val="1"/>
        <c:axPos val="t"/>
        <c:numFmt formatCode="General" sourceLinked="0"/>
        <c:majorTickMark val="out"/>
        <c:minorTickMark val="none"/>
        <c:tickLblPos val="low"/>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33c0e36-8fea-4b03-a1c0-25b6dbc6672f}"/>
      </c:ext>
    </c:extLst>
  </c:chart>
  <c:spPr>
    <a:noFill/>
    <a:ln>
      <a:noFill/>
    </a:ln>
    <a:effectLst/>
  </c:spPr>
  <c:txPr>
    <a:bodyPr/>
    <a:lstStyle/>
    <a:p>
      <a:pPr>
        <a:defRPr lang="en-GB"/>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400" b="0" i="0" u="none" strike="noStrike" kern="1200" baseline="0">
                <a:solidFill>
                  <a:srgbClr val="243044"/>
                </a:solidFill>
                <a:latin typeface="+mn-lt"/>
                <a:ea typeface="+mn-ea"/>
                <a:cs typeface="+mn-cs"/>
              </a:defRPr>
            </a:pPr>
            <a:r>
              <a:rPr sz="1400" b="0" i="0" u="none" strike="noStrike">
                <a:solidFill>
                  <a:srgbClr val="243044"/>
                </a:solidFill>
                <a:latin typeface="+mn-lt"/>
              </a:rPr>
              <a:t>EM (%), tập con 2.000 câu, 3 seed huấn luyện</a:t>
            </a:r>
            <a:endParaRPr sz="1400" b="0" i="0" u="none" strike="noStrike">
              <a:solidFill>
                <a:srgbClr val="243044"/>
              </a:solidFill>
              <a:latin typeface="+mn-lt"/>
            </a:endParaRPr>
          </a:p>
        </c:rich>
      </c:tx>
      <c:layout/>
      <c:overlay val="0"/>
    </c:title>
    <c:autoTitleDeleted val="0"/>
    <c:plotArea>
      <c:layout/>
      <c:barChart>
        <c:barDir val="col"/>
        <c:grouping val="clustered"/>
        <c:varyColors val="0"/>
        <c:ser>
          <c:idx val="0"/>
          <c:order val="0"/>
          <c:tx>
            <c:strRef>
              <c:f>Sheet1!$B$1</c:f>
              <c:strCache>
                <c:ptCount val="1"/>
                <c:pt idx="0">
                  <c:v>B2-sub (không OCR)</c:v>
                </c:pt>
              </c:strCache>
            </c:strRef>
          </c:tx>
          <c:spPr>
            <a:solidFill>
              <a:srgbClr val="6B7280"/>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seed 42</c:v>
                </c:pt>
                <c:pt idx="1">
                  <c:v>seed 43</c:v>
                </c:pt>
                <c:pt idx="2">
                  <c:v>seed 44</c:v>
                </c:pt>
              </c:strCache>
            </c:strRef>
          </c:cat>
          <c:val>
            <c:numRef>
              <c:f>Sheet1!$B$2:$B$4</c:f>
              <c:numCache>
                <c:formatCode>General</c:formatCode>
                <c:ptCount val="3"/>
                <c:pt idx="0">
                  <c:v>45.55</c:v>
                </c:pt>
                <c:pt idx="1">
                  <c:v>44.75</c:v>
                </c:pt>
                <c:pt idx="2">
                  <c:v>46.05</c:v>
                </c:pt>
              </c:numCache>
            </c:numRef>
          </c:val>
        </c:ser>
        <c:ser>
          <c:idx val="1"/>
          <c:order val="1"/>
          <c:tx>
            <c:strRef>
              <c:f>Sheet1!$C$1</c:f>
              <c:strCache>
                <c:ptCount val="1"/>
                <c:pt idx="0">
                  <c:v>B3 (nhận biết OCR)</c:v>
                </c:pt>
              </c:strCache>
            </c:strRef>
          </c:tx>
          <c:spPr>
            <a:solidFill>
              <a:srgbClr val="E8A33D"/>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seed 42</c:v>
                </c:pt>
                <c:pt idx="1">
                  <c:v>seed 43</c:v>
                </c:pt>
                <c:pt idx="2">
                  <c:v>seed 44</c:v>
                </c:pt>
              </c:strCache>
            </c:strRef>
          </c:cat>
          <c:val>
            <c:numRef>
              <c:f>Sheet1!$C$2:$C$4</c:f>
              <c:numCache>
                <c:formatCode>General</c:formatCode>
                <c:ptCount val="3"/>
                <c:pt idx="0">
                  <c:v>49.25</c:v>
                </c:pt>
                <c:pt idx="1">
                  <c:v>49</c:v>
                </c:pt>
                <c:pt idx="2">
                  <c:v>48.8</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52"/>
          <c:min val="40"/>
        </c:scaling>
        <c:delete val="0"/>
        <c:axPos val="l"/>
        <c:majorGridlines>
          <c:spPr>
            <a:ln w="9525" cap="flat" cmpd="sng" algn="ctr">
              <a:solidFill>
                <a:srgbClr val="E2E7EE"/>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1200" b="0" i="0" u="none" strike="noStrike" kern="1200" baseline="0">
              <a:solidFill>
                <a:srgbClr val="243044"/>
              </a:solidFill>
              <a:latin typeface="+mn-lt"/>
              <a:ea typeface="+mn-ea"/>
              <a:cs typeface="+mn-lt"/>
            </a:defRPr>
          </a:pPr>
        </a:p>
      </c:txPr>
    </c:legend>
    <c:plotVisOnly val="1"/>
    <c:dispBlanksAs val="span"/>
    <c:showDLblsOverMax val="0"/>
    <c:extLst>
      <c:ext uri="{0b15fc19-7d7d-44ad-8c2d-2c3a37ce22c3}">
        <chartProps xmlns="https://web.wps.cn/et/2018/main" chartId="{c60e8a84-3c94-43ea-a419-5ad01efa7ab1}"/>
      </c:ext>
    </c:extLst>
  </c:chart>
  <c:spPr>
    <a:noFill/>
    <a:ln>
      <a:noFill/>
    </a:ln>
    <a:effectLst/>
  </c:spPr>
  <c:txPr>
    <a:bodyPr/>
    <a:lstStyle/>
    <a:p>
      <a:pPr>
        <a:defRPr lang="en-GB"/>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400" b="0" i="0" u="none" strike="noStrike" kern="1200" baseline="0">
                <a:solidFill>
                  <a:srgbClr val="243044"/>
                </a:solidFill>
                <a:latin typeface="+mn-lt"/>
                <a:ea typeface="+mn-ea"/>
                <a:cs typeface="+mn-cs"/>
              </a:defRPr>
            </a:pPr>
            <a:r>
              <a:rPr sz="1400" b="0" i="0" u="none" strike="noStrike">
                <a:solidFill>
                  <a:srgbClr val="243044"/>
                </a:solidFill>
                <a:latin typeface="+mn-lt"/>
              </a:rPr>
              <a:t>EM (%) trên val sạch, ảnh không trùng train (688 câu)</a:t>
            </a:r>
            <a:endParaRPr sz="1400" b="0" i="0" u="none" strike="noStrike">
              <a:solidFill>
                <a:srgbClr val="243044"/>
              </a:solidFill>
              <a:latin typeface="+mn-lt"/>
            </a:endParaRPr>
          </a:p>
        </c:rich>
      </c:tx>
      <c:layout/>
      <c:overlay val="0"/>
    </c:title>
    <c:autoTitleDeleted val="0"/>
    <c:plotArea>
      <c:layout/>
      <c:barChart>
        <c:barDir val="bar"/>
        <c:grouping val="clustered"/>
        <c:varyColors val="0"/>
        <c:ser>
          <c:idx val="0"/>
          <c:order val="0"/>
          <c:tx>
            <c:strRef>
              <c:f>Sheet1!$B$1</c:f>
              <c:strCache>
                <c:ptCount val="1"/>
                <c:pt idx="0">
                  <c:v>EM</c:v>
                </c:pt>
              </c:strCache>
            </c:strRef>
          </c:tx>
          <c:spPr>
            <a:solidFill>
              <a:srgbClr val="6B7280"/>
            </a:solidFill>
            <a:effectLst/>
          </c:spPr>
          <c:invertIfNegative val="0"/>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E8A33D"/>
              </a:solidFill>
              <a:effectLst/>
            </c:spPr>
          </c:dPt>
          <c:dLbls>
            <c:numFmt formatCode="0.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243044"/>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C1 · B2, lịch 1 epoch</c:v>
                </c:pt>
                <c:pt idx="1">
                  <c:v>C2 · lịch 2 epoch, sau epoch 1</c:v>
                </c:pt>
                <c:pt idx="2">
                  <c:v>C3 · lịch 2 epoch, sau epoch 2</c:v>
                </c:pt>
              </c:strCache>
            </c:strRef>
          </c:cat>
          <c:val>
            <c:numRef>
              <c:f>Sheet1!$B$2:$B$4</c:f>
              <c:numCache>
                <c:formatCode>General</c:formatCode>
                <c:ptCount val="3"/>
                <c:pt idx="0">
                  <c:v>73.11</c:v>
                </c:pt>
                <c:pt idx="1">
                  <c:v>71.51</c:v>
                </c:pt>
                <c:pt idx="2">
                  <c:v>77.03</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B7280"/>
                </a:solidFill>
                <a:latin typeface="+mn-lt"/>
                <a:ea typeface="+mn-ea"/>
                <a:cs typeface="+mn-cs"/>
              </a:defRPr>
            </a:pPr>
          </a:p>
        </c:txPr>
        <c:crossAx val="2094734552"/>
        <c:crosses val="autoZero"/>
        <c:auto val="1"/>
        <c:lblAlgn val="ctr"/>
        <c:lblOffset val="100"/>
        <c:noMultiLvlLbl val="1"/>
      </c:catAx>
      <c:valAx>
        <c:axId val="2094734552"/>
        <c:scaling>
          <c:orientation val="minMax"/>
          <c:max val="80"/>
          <c:min val="60"/>
        </c:scaling>
        <c:delete val="1"/>
        <c:axPos val="t"/>
        <c:numFmt formatCode="General" sourceLinked="0"/>
        <c:majorTickMark val="out"/>
        <c:minorTickMark val="none"/>
        <c:tickLblPos val="low"/>
        <c:txPr>
          <a:bodyPr rot="-60000000" spcFirstLastPara="0" vertOverflow="ellipsis" vert="horz" wrap="square" anchor="ctr" anchorCtr="1"/>
          <a:lstStyle/>
          <a:p>
            <a:pPr>
              <a:defRPr lang="en-GB" sz="1100" b="0" i="0" u="none" strike="noStrike" kern="1200" baseline="0">
                <a:solidFill>
                  <a:srgbClr val="6B7280"/>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e73e8aba-68aa-4fc6-a3c2-772d77d6bd73}"/>
      </c:ext>
    </c:extLst>
  </c:chart>
  <c:spPr>
    <a:noFill/>
    <a:ln>
      <a:noFill/>
    </a:ln>
    <a:effectLst/>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Đây là bộ slide cộng dồn của nhóm. Phần A là nội dung Review 1, đã sửa theo góp ý của phản biện. Phần B là Review 2: tái lập baseline Qwen2.5-VL-3B, kết quả QLoRA, và phương pháp đề xuất là QLoRA nhận biết OCR. Toàn bộ số liệu đều có log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slide này cộng dồn qua các mốc. Phần A là nội dung Review 1, đã sửa theo mười góp ý của giảng viên phản biện ngày 24/09. Phần B là nội dung Review 2: tái lập baseline, QLoRA và phương pháp đề xuất. Mỗi mốc sau sẽ thêm một phần mới và sửa các phần trước theo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Ngày 24/09, giảng viên phản biện đưa ra mười góp ý. Bảng này ghi lại từng góp ý, việc nhóm đã sửa và slide tương ứng trong Phần A. Ba điểm lớn nhất: phát biểu bài toán với input và output rõ ràng; giả thuyết rút còn H1 đến H4, mỗi giả thuyết gắn với một vấn đề riêng của tiếng Việt; và chốt một phương pháp đề xuất kèm sơ đồ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trong một câu: cho một ảnh và một câu hỏi tiếng Việt, sinh ra câu trả lời tiếng Việt ngắn, đúng nội dung ảnh và đúng chính tả có dấu. Bài toán nghiên cứu là thích nghi một VLM mã nguồn mở, Qwen2.5-VL-3B, chỉ bằng QLoRA và chạy được trên một GPU Colab. Bảng bên dưới đặc tả input, output và cách đánh giá cho hai bộ dữ liệu. Đây là phần sửa cho góp ý số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 và số 2: phải nói được tiếng Việt khác tiếng Anh ở đâu, và tách tiền xử lý ra khỏi vấn đề nghiên cứu. Bốn vấn đề: V1 đọc chữ có dấu trong ảnh — dấu là nét rất nhỏ, đọc sai là đổi nghĩa; V2 trả lời sai ngôn ngữ hoặc sai định dạng; V3 thứ tự chữ và ranh giới từ, vì khoảng trắng tiếng Việt tách âm tiết chứ không tách từ; V4 hallucination. Chuẩn hoá NFC, chữ thường, dấu câu chỉ là tiền xử lý bắt buộc, không phải đóng góp.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khoảng trống từ văn liệu. G1: alignment của VLM tối ưu cho tiếng Anh. G2: VQA tiếng Việt còn yếu, nhất là scene-text — SOTA công bố trên ViTextVQA mới đạt EM 25,48 trong khi con người đạt 88. G3 là trọng tâm: chưa có nghiên cứu hệ thống nào áp dụng LoRA hay QLoRA cho VLM trên VQA tiếng Việt — trong ba paper VQA tiếng Việt nhóm khảo sát, không paper nào dùng PEFT. G4: chưa có đánh giá hallucination kiểu POPE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7: cần ba baseline và state-of-the-art cho tiếng Việt. Nhóm dùng hai loại mốc. Baseline tái lập là mô hình nhóm tự chạy lại và dùng để kết luận cải tiến — Qwen2.5-VL-3B. Baseline từ công trình trước là số trích từ paper, không chạy lại, chỉ dùng để định vị. Trên ViTextVQA có BLIP-2, PreSTU và ViTextBLIP-2 là SOTA công bố với EM 25,48. Trên ViVQA, cao nhất nhóm khảo sát được là AViVQA-TranConI với accuracy 71,04. Lưu ý: các mốc này dùng metric và thiết lập khác nhóm nên chỉ để định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câu hỏi nghiên cứu. RQ1: zero-shot đạt bao nhiêu và lỗi tiếng Việt nào chiếm ưu thế. RQ2 là trung tâm: QLoRA cải thiện bao nhiêu so với zero-shot mà không full fine-tuning. RQ3: đưa chữ OCR có dấu vào prompt có giúp đọc chữ không và có cộng hưởng với QLoRA không. RQ4: sau QLoRA, model bịa nhiều hơn hay ít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3: giả thuyết 4-bit hay VRAM không giải quyết vấn đề tiếng Việt. Nhóm rút còn bốn giả thuyết H1 đến H4, mỗi cái gắn một vấn đề V1 đến V4 và được kiểm chứng trên cùng model, cùng split, cùng seed. Hiệu quả bộ nhớ của 4-bit là đặc tính đã biết của QLoRA nên chuyển thành số đo báo cáo ở mỗi run. Cấu hình LoRA chuyển thành ablation. Ngưỡng là ngưỡng tham khảo từ văn liệu, chốt trước khi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ViVQA có 15.000 cặp hỏi–đáp trên 10.328 ảnh; nhóm tách 1.200 câu val từ train bằng seed 42, còn 10.799 câu train và 3.001 câu test. Đáp án gần như luôn ngắn nên dùng EM và VQA-Acc. ViTextVQA dùng repo chính thức: 35.159 train, 5.155 dev, 10.028 test; đáp án dài hơn và là chữ trong ảnh nên dùng thêm ANLS. Góp ý số 9: tiền xử lý áp dụng giống hệt cho mọi mẫu, rồi mới cố định split; chọn cấu hình trên dev hoặc val, chỉ báo cáo trên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4: chưa có phương pháp đề xuất và chưa có hình pipeline. Nhóm chốt một phương pháp: QLoRA trên Qwen2.5-VL-3B-Instruct với prompt tiếng Việt có chữ OCR cho ViTextVQA. Mô hình gốc đóng băng ở 4-bit, chỉ train adapter LoRA. Pipeline tám bước từ dữ liệu, tiền xử lý, OCR, chia tập cố định, ghép prompt, train và suy luận, chấm điểm, đến prototype web. Mọi thành phần khác là ablation. Ở Review 2, phương pháp này được hiện thực thành QLoRA nhận biết OCR, B3 ở Phần B mục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5 và số 6. QLoRA: trọng số gốc nén 4-bit NF4 và đóng băng; mỗi lớp được gắn hai ma trận nhỏ A và B, chỉ hai ma trận này được train; kết quả là một adapter khoảng 30 MB. Nhóm chỉ dùng QLoRA vì đó là điều kiện để chạy được trên GPU Colab, không phải biến cần so sánh, nên không so LoRA với QLoRA. Góp ý số 6: không so mô hình khác thế hệ hay khác kích thước để kết luận cải tiến; mọi kết luận chỉ trên cùng backbone Qwen2.5-VL-3B. Các mô hình khác chỉ để định vị hoặc làm ablation backbone.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8: khuyến nghị RAG và cần tính số token. Mỗi câu hỏi là một lượt độc lập gồm một ảnh và một câu hỏi, không cần bộ nhớ hội thoại. Phần lớn token là token ảnh, tối đa 512 theo cấu hình cố định. Tổng ước tính dưới khoảng một nghìn token mỗi mẫu, nhỏ hơn nhiều so với context window; giới hạn thật là VRAM. Chữ OCR trong prompt đóng vai trò truy xuất bằng chứng từ chính ảnh. RAG với kho tri thức ngoài chỉ làm nếu phân tích lỗi cho thấy nhiều câu sai do thiếu tri thức ngoài ảnh — đến Review 2, duyệt tay lỗi chưa cho thấy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10: kế hoạch chưa chi tiết. Bảng ghi công việc từng tuần và đầu ra kiểm chứng được. Bốn mốc: Review 1 tuần 3, Review 2 tuần 7, hội đồng cấp Khoa tuần 13, bảo vệ cuối kỳ tuần 15. Tiến độ thực tế và các thay đổi so với kế hoạch được trình bày ở Phần B, slide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rủi ro từ Review 1, cột trạng thái cập nhật đến Review 2. Phần lớn rủi ro cao đã được khử: model chạy 4-bit trên L4, checkpoint và resume đã kiểm, baseline đã tái lập đúng số công bố, dữ liệu ViTextVQA dùng repo chính thức. Bên phải là các ràng buộc bắt buộc: chỉ PEFT, tái lập một baseline trước, cùng split, seed và phần cứng, và hiệu quả là ràng buộc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sản phẩm: một cải tiến PEFT đã được kiểm chứng so với baseline kèm ablation, phân tích lỗi và phân tích hallucination; một prototype web; và luận văn kèm gói tái lập gồm code, adapter, config và log. Giá trị thực tiễn là đọc biển hiệu, nhãn hàng, hỗ trợ người khiếm thị. Ý nghĩa khoa học là nghiên cứu PEFT có hệ thống cho VLM tiếng Việt và đo hallucination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cần nhớ. Một: pipeline đánh giá của nhóm tái lập đúng số công bố của Qwen2.5-VL-3B trên TextVQA (79,6 so với 79,3), nên các số tiếng Việt phía sau đáng tin. Hai: QLoRA chỉ train 0,2% tham số nhưng tăng EM rất mạnh trên cả hai bộ dữ liệu, có kiểm định thống kê. Ba: trên toàn bộ test ViTextVQA, B2 vượt SOTA của paper ViTextBLIP-2. Bốn: phương pháp đề xuất, QLoRA nhận biết OCR, tăng thêm 2,5 điểm EM so với cùng QLoRA trên cùng dữ liệu, ổn định qua 3 seed và trên full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họp ngày 07/10, thầy Trí yêu cầu năm việc trước khi bàn cải tiến. Bảng này cho thấy mỗi yêu cầu được xử lý ở slide nào trong Phần B. Mười góp ý của phản biện Review 1 đã được sửa ở Phần A, xem slide tiếp thu góp ý ở đầu Phần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ViVQA được tạo từ COCO-QA, câu hỏi sinh tự động rồi dịch bằng Google Translate. Vì vậy có các điểm nhiễu N1 đến N4, ví dụ purple bị dịch thành tía. Nhóm cũng kiểm tra rò rỉ: ở ViVQA, 46% ảnh test xuất hiện trong train; ở ViTextVQA thì không có ảnh trùng nào, nên đây là phép thử tổng quát hoá sạch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baseline mà thầy yêu cầu. Ảnh đi qua vision encoder 32 khối, được gộp còn 256 đến 512 token, rồi ghép với câu hỏi đưa vào decoder 36 lớp. Toàn bộ trọng số gốc đóng băng và lượng tử 4-bit. Phần duy nhất được train là LoRA ở 4 phép chiếu q, k, v, o của self-attention — ô màu cam. Khung bên phải tóm tắt đầu vào và đầu ra của từng khối: ảnh được resize tối đa 401.408 điểm ảnh rồi cắt thành patch 14 nhân 14; patch merger gộp 2 nhân 2 patch thành 1 token 2048 chiều, ra 256 đến 512 token ảnh; prompt P0 ghép token ảnh với câu hỏi theo chat template; decoder sinh đáp án tham lam, tối đa 32 token. Lưu ý: baseline KHÔNG dùng OCR — OCR là phần cải tiến B3 ở phần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run dùng chung một giao thức: split và seed cố định, cùng prompt, cấu hình khoá trong file config, cùng hàm chuẩn hoá và metric, và log đầy đủ commit, GPU, thời gian. So sánh hai run luôn dùng kiểm định ghép cặp McNemar cho EM và bootstrap cho ANLS. Luật kết luận được chốt trước khi chạy để tránh chọn kết quả có lợi. Dòng chân trang giải thích các từ viết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chưa paper nào công bố Qwen2.5-VL-3B trên ViVQA hay ViTextVQA, nên không thể so trực tiếp. Nhóm kiểm chứng pipeline bằng một con số đã công bố: TextVQA val trong báo cáo Qwen2.5-VL là 79,3. Nhóm chạy được 79,6, nằm trong ngưỡng ±2 điểm đã chốt. Cấu hình tiết kiệm của nhóm (4-bit, 512 token) mất 4,4 điểm nhưng giảm VRAM 4,3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là baseline zero-shot chính thức. Lỗi lớn nhất là định dạng: model trả lời dài hơn đáp án chuẩn, ví dụ 'Lịch tết năm 2021' trong khi đáp án là '2021'. Trên ViTextVQA có 19% câu model đọc ra đúng đáp án nhưng EM vẫn tính sai. Theo loại câu hỏi, ViVQA rất yếu ở vị trí và đồ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của paper ViTextVQA có dòng QwenVL-7b đạt EM 28 trên 100 câu. Nhóm chạy Qwen2-VL-7B trong đúng điều kiện của baseline. Kết quả 7B kém 3B 12,6 điểm EM, p rất nhỏ, chậm hơn và tốn VRAM hơn. Nguyên nhân chính là 7B trả lời dài, trung bình 8,2 từ. Table 7 chỉ có 100 câu nên sai số khoảng ±9 điểm, không đủ để chọn giữa 3B và 7B. Vì vậy nhóm giữ Qwen2.5-VL-3B. Nguồn của từng model và paper ghi ở chân trang, kèm thư mục run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khác B1 đúng một biến: có adapter LoRA. Chỉ một epoch, EM ViVQA tăng từ 22 lên 74, ViTextVQA từ 29 lên 50 trên toàn bộ test. Cả hai đạt luật chốt trước: EM tăng và McNemar p nhỏ hơn 0,05. Chi phí rất thấp: 3 giờ train cho ViVQA, 12 giờ cho ViTextVQA, VRAM dưới 7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đối chứng. Một: ở ViVQA, trên phần test sạch chưa từng xuất hiện trong train, EM vẫn tăng từ 25 lên 69. Hai: ViTextVQA không có ảnh trùng mà vẫn tăng 21 điểm. Ba: đưa 5 ví dụ đáp án vào prompt (few-shot) không giúp gì, thậm chí giảm ở ViVQA. Vậy QLoRA học được nhiều hơn là cách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toàn bộ 10.028 câu test, B2 đạt EM 50,3 và F1 71,2, cao hơn ViTextBLIP-2 là SOTA của paper, với cận dưới khoảng tin cậy vẫn cao hơn số công bố. B1 zero-shot chỉ cao hơn về EM, còn F1 thì ngang. Chạy lại trên 2.000 câu chung cho kết quả trùng 100%. Giới hạn: paper không công bố cách chuẩn hoá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của SOTA. ViTextBLIP-2 giữ đóng băng một Vision Transformer, một hệ OCR là SwinTextSpotter dùng nguyên không fine-tune, và mô hình ngôn ngữ tiếng Việt ViT5; phần duy nhất được train là Q-Former khởi tạo từ BLIP-2, có nhiệm vụ trộn đặc trưng ảnh, câu hỏi và chữ OCR. Paper cũng chỉ ra sắp xếp chữ OCR từ trái-trên xuống phải-dưới giúp hầu hết các model. Nhóm khác ở ba điểm. Một: dùng một VLM đã được pretrain sẵn khả năng đọc chữ, Qwen2.5-VL-3B, lượng tử 4-bit. Hai: chỉ gắn LoRA, 0,2% tham số. Ba: B2 không dùng OCR ngoài — model tự đọc chữ từ ảnh; OCR được đưa vào ở B3, phần 06, dưới dạng một dòng văn bản trong prompt. Về đánh giá, paper báo EM và F1 nhưng không công bố cách chuẩn hoá; nhóm báo thêm ANLS và công khai hàm chuẩn hoá. Một lưu ý khi đọc paper: con số 25,48 / 53,95 nằm ở cột sắp xếp theo độ tin cậy OCR của Table 10, còn bảng ablation lại báo 24,83 / 52,51 cho model đầy đủ — paper không giải thích chênh lệch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tự động 4.988 câu B2 còn sai trên full test ViTextVQA. 9% chỉ sai dấu thanh, ví dụ thủy và thúy — đây là thách thức riêng của tiếng Việt. 17% chỉ lệch một hai ký tự, thường là đọc chữ hoặc số. Khoảng 27% sai về độ dài: thừa hoặc thiếu chữ so với gold. 47% còn lại sai về nội dung hoặc vùng ảnh. Nhóm đã duyệt tay 200 lỗi của B2 có xem ảnh, 4 người cùng nhãn gợi ý của AI, trưởng nhóm phân xử các chỗ lệch. Kết quả: 54% câu bị EM chấm sai thực ra đúng ý — EM quá khắt khe; 12,5% do gold nhiễu; ở ViTextVQA lỗi thật chủ yếu là đọc sai chữ 28% và đọc nhầm vùng chữ 23%; hallucination thật chỉ 7%. Chính các lỗi đọc chữ này dẫn tới phương pháp đề xuất ở phần sau. Độ đồng thuận giữa hai người gán nhãn độc lập kappa 0,62; bỏ 42 dòng có AI hỗ trợ thì kết luận không đổi. Nguồn từng con số ghi ở chân trang: lệnh tái tạo phân loại tự động và file kết quả duyệt tay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phân tích lỗi, nhóm đề xuất B3: QLoRA nhận biết OCR. Ảnh được chạy OCR trước — PaddleOCR dò vùng chữ, VietOCR đọc chữ tiếng Việt — rồi đúng một dòng 'Văn bản đọc được trong ảnh' được chèn trước câu hỏi. Điểm mấu chốt: dòng OCR có mặt cả lúc train lẫn lúc test, nên model học khi nào tin OCR, khi nào tin ảnh. Backend OCR được chọn trên dev300 bằng luật chốt trước: PaddleOCR bản Latin làm rơi dấu tiếng Việt, ví dụ 'Kiểu Thẩm' thành 'Kiu Thm'; VietOCR giữ được đáp án trong văn bản OCR ở 37,7% câu so với 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ablation bắt buộc có và không có OCR, làm thành bảng hai nhân hai trên cùng tập con và cùng 2.000 câu test. Chỉ chèn OCR lúc test cho model chưa train cùng OCR: không tăng, kể cả với zero-shot B1 và B2 ở tuần 8. Train cùng OCR mà lúc test bỏ OCR: cũng không tăng. Chỉ khi có cả hai thì EM tăng 4,35 điểm, p cỡ 10 mũ trừ 8. Tương tác là 4,9 điểm, khoảng tin cậy 3,2 đến 6,6. Vậy đóng góp không phải là thêm OCR vào prompt, mà là dạy model cách dùng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hội đồng hay đặt: một seed có phải may mắn không, và tập con có đại diện không. Ba seed huấn luyện 42, 43, 44, cùng tập con: cả ba seed B3 đều thắng B2-sub có ý nghĩa, trung bình cộng 3,57 điểm EM, độ lệch chuẩn 0,76. Trên toàn bộ 10.028 câu test, B3 thắng B2-sub 2,54 điểm, p cỡ 10 mũ trừ 14, và cao hơn ViTextBLIP-2 ở cả EM lẫn F1. Nhóm cũng đính chính: B3 dùng 23% dữ liệu vẫn thấp hơn B2 train toàn bộ 1,16 điểm; OCR bù được khoảng 69% phần mất do cắt dữ liệu. Về ANLS, mức tăng là 1,55 điểm, dưới ngưỡng 3 điểm của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ViVQA, câu hỏi là train một hay hai epoch. Val của ViVQA được tách theo câu hỏi nên 43% câu val dùng chung ảnh với train; train lâu hơn dễ nhớ ảnh và làm val đẹp giả. Vì vậy nhóm chỉ chọn epoch trên 688 câu val có ảnh chưa từng xuất hiện trong train. Lịch hai epoch sau epoch 2 hơn B2 một epoch 3,9 điểm, có ý nghĩa, nên được chọn. Chỉ khi đó mới chấm test, một lần: EM tăng từ 73,8 lên 76,6, p cỡ 10 mũ trừ 9. Kiểm tra thêm sau khi có kết quả: trên phần test sạch, ảnh và cặp hỏi đáp chưa từng thấy, mức tăng vẫn là 3,2 điểm — nên đây không phải do model nhớ ảnh. Chi phí: gấp đôi thời gian train, 6,1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với bốn giả thuyết H1 đến H4 ở Phần A. H1 được ủng hộ mạnh: QLoRA tăng 51,7 điểm EM trên ViVQA và 21,1 trên ViTextVQA. H2 chỉ ủng hộ một phần: OCR cộng hưởng mạnh với QLoRA, nhưng ANLS chỉ tăng 1,55 điểm, dưới ngưỡng 3 điểm đã đặt — nhóm báo đúng như vậy. H3 chưa được ủng hộ với dạng few-shot đã thử. H4: duyệt tay 200 lỗi của B2 cho thấy chỉ khoảng 7% là hallucination thật; nhưng H4 so với zero-shot nên cần đo B1 ở tuần 11 — vẫn để Đang chờ. Hai dòng cuối không phải giả thuyết: hiệu quả 4-bit là số đo, giữ 94,5% độ chính xác với VRAM giảm 77%; ablation cấu hình LoRA làm ở tuần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tuần 10 đến tuần 13: train QLoRA nhận biết OCR trên toàn bộ dữ liệu ViTextVQA để xem có vượt B2 không, ablation rank và module gắn LoRA, đo hallucination có hệ thống kể cả B1 và B3 để kết luận H4, adapter dùng chung là tuỳ chọn, rồi dựng prototype web: tải ảnh, chạy OCR, hỏi bằng tiếng Việt — cho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4B"/>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1554480"/>
            <a:ext cx="11094415" cy="1097280"/>
          </a:xfrm>
          <a:prstGeom prst="rect">
            <a:avLst/>
          </a:prstGeom>
          <a:noFill/>
        </p:spPr>
        <p:txBody>
          <a:bodyPr wrap="square" rtlCol="0"/>
          <a:lstStyle>
            <a:lvl1pPr marL="0" indent="0" algn="l">
              <a:buNone/>
              <a:defRPr lang="en-US" sz="5400" b="1" dirty="0">
                <a:solidFill>
                  <a:schemeClr val="bg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5400" dirty="0"/>
          </a:p>
        </p:txBody>
      </p:sp>
      <p:sp>
        <p:nvSpPr>
          <p:cNvPr id="3" name="Text 0"/>
          <p:cNvSpPr/>
          <p:nvPr>
            <p:ph type="body" idx="101" hasCustomPrompt="1"/>
          </p:nvPr>
        </p:nvSpPr>
        <p:spPr>
          <a:xfrm>
            <a:off x="548640" y="2743200"/>
            <a:ext cx="11094415" cy="3291840"/>
          </a:xfrm>
          <a:prstGeom prst="rect">
            <a:avLst/>
          </a:prstGeom>
          <a:noFill/>
        </p:spPr>
        <p:txBody>
          <a:bodyPr wrap="square" rtlCol="0"/>
          <a:lstStyle>
            <a:lvl1pPr marL="0" indent="0" algn="l">
              <a:buNone/>
              <a:defRPr lang="en-US" sz="1800" dirty="0">
                <a:solidFill>
                  <a:schemeClr val="bg1"/>
                </a:solidFill>
                <a:latin typeface="Calibri" panose="020F0502020204030204" pitchFamily="34" charset="0"/>
                <a:ea typeface="Calibri" panose="020F0502020204030204" pitchFamily="34" charset="-122"/>
                <a:cs typeface="Calibri" panose="020F0502020204030204" pitchFamily="34" charset="-120"/>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rtlCol="0"/>
          <a:lstStyle>
            <a:lvl1pPr marL="0" indent="0">
              <a:buNone/>
              <a:def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defRPr>
            </a:lvl1pPr>
          </a:lstStyle>
          <a:p>
            <a:pPr marL="0" indent="0">
              <a:buNone/>
            </a:pP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rtlCol="0"/>
          <a:lstStyle>
            <a:lvl1pPr marL="0" indent="0" algn="l">
              <a:buNone/>
              <a:def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200" dirty="0"/>
          </a:p>
        </p:txBody>
      </p:sp>
      <p:sp>
        <p:nvSpPr>
          <p:cNvPr id="4" name="Text 0"/>
          <p:cNvSpPr/>
          <p:nvPr/>
        </p:nvSpPr>
        <p:spPr>
          <a:xfrm>
            <a:off x="548640" y="6446520"/>
            <a:ext cx="9144000" cy="274320"/>
          </a:xfrm>
          <a:prstGeom prst="rect">
            <a:avLst/>
          </a:prstGeom>
          <a:noFill/>
        </p:spPr>
        <p:txBody>
          <a:bodyPr wrap="square" lIns="0" tIns="0" rIns="0" bIns="0" rtlCol="0" anchor="ctr"/>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ViVQA-VLM · Review 2 (cộng dồn: R1 đã sửa + R2) · GFA26AI35 · Đại học FPT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chart" Target="../charts/char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chart" Target="../charts/char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chart" Target="../charts/char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chart" Target="../charts/char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chart" Target="../charts/chart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chart" Target="../charts/char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1554480"/>
            <a:ext cx="11094415" cy="1097280"/>
          </a:xfrm>
          <a:prstGeom prst="rect">
            <a:avLst/>
          </a:prstGeom>
          <a:noFill/>
        </p:spPr>
        <p:txBody>
          <a:bodyPr wrap="square" lIns="0" tIns="0" rIns="0" bIns="0" rtlCol="0" anchor="b"/>
          <a:lstStyle/>
          <a:p>
            <a:pPr marL="0" indent="0" algn="l">
              <a:buNone/>
            </a:pPr>
            <a:r>
              <a:rPr lang="en-US" sz="5400" b="1" dirty="0">
                <a:solidFill>
                  <a:schemeClr val="bg1"/>
                </a:solidFill>
                <a:latin typeface="Cambria" panose="02040503050406030204" pitchFamily="34" charset="0"/>
                <a:ea typeface="Cambria" panose="02040503050406030204" pitchFamily="34" charset="-122"/>
                <a:cs typeface="Cambria" panose="02040503050406030204" pitchFamily="34" charset="-120"/>
              </a:rPr>
              <a:t>ViVQA-VLM</a:t>
            </a:r>
            <a:endParaRPr lang="en-US" sz="5400" dirty="0"/>
          </a:p>
        </p:txBody>
      </p:sp>
      <p:sp>
        <p:nvSpPr>
          <p:cNvPr id="3" name="Text 0"/>
          <p:cNvSpPr/>
          <p:nvPr>
            <p:ph type="body" idx="101" hasCustomPrompt="1"/>
          </p:nvPr>
        </p:nvSpPr>
        <p:spPr>
          <a:xfrm>
            <a:off x="548640" y="2743200"/>
            <a:ext cx="11094415" cy="3291840"/>
          </a:xfrm>
          <a:prstGeom prst="rect">
            <a:avLst/>
          </a:prstGeom>
          <a:noFill/>
        </p:spPr>
        <p:txBody>
          <a:bodyPr wrap="square" lIns="0" tIns="0" rIns="0" bIns="0" rtlCol="0" anchor="t"/>
          <a:lstStyle/>
          <a:p>
            <a:pPr marL="0" indent="0" algn="l">
              <a:buNone/>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Efficient Vietnamese Visual Question Answering using Vision-Language Models</a:t>
            </a:r>
            <a:endParaRPr lang="en-US" sz="1800" dirty="0"/>
          </a:p>
          <a:p>
            <a:pPr marL="0" indent="0" algn="l">
              <a:buNone/>
            </a:pPr>
            <a:r>
              <a:rPr lang="en-US" sz="10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endParaRPr lang="en-US" sz="1800" dirty="0"/>
          </a:p>
          <a:p>
            <a:pPr marL="0" indent="0" algn="l">
              <a:buNone/>
            </a:pPr>
            <a:r>
              <a:rPr lang="en-US" sz="1800" b="1" dirty="0">
                <a:solidFill>
                  <a:srgbClr val="E8A33D"/>
                </a:solidFill>
                <a:latin typeface="Calibri" panose="020F0502020204030204" pitchFamily="34" charset="0"/>
                <a:ea typeface="Calibri" panose="020F0502020204030204" pitchFamily="34" charset="-122"/>
                <a:cs typeface="Calibri" panose="020F0502020204030204" pitchFamily="34" charset="-120"/>
              </a:rPr>
              <a:t>Review 2 (cộng dồn)  ·  Phần A: Review 1 đã sửa  ·  Phần B: baseline, QLoRA và đề xuất QLoRA nhận biết OCR</a:t>
            </a:r>
            <a:endParaRPr lang="en-US" sz="1800" dirty="0"/>
          </a:p>
          <a:p>
            <a:pPr marL="0" indent="0" algn="l">
              <a:buNone/>
            </a:pPr>
            <a:r>
              <a:rPr lang="en-US" sz="18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endParaRPr lang="en-US" sz="1800" dirty="0"/>
          </a:p>
          <a:p>
            <a:pPr marL="0" indent="0" algn="l">
              <a:buNone/>
            </a:pPr>
            <a:r>
              <a:rPr lang="en-US" sz="1500" b="1" dirty="0">
                <a:solidFill>
                  <a:schemeClr val="bg1"/>
                </a:solidFill>
                <a:latin typeface="Calibri" panose="020F0502020204030204" pitchFamily="34" charset="0"/>
                <a:ea typeface="Calibri" panose="020F0502020204030204" pitchFamily="34" charset="-122"/>
                <a:cs typeface="Calibri" panose="020F0502020204030204" pitchFamily="34" charset="-120"/>
              </a:rPr>
              <a:t>GVHD:  </a:t>
            </a: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Đặng Ngọc Minh Đức · Phạm Minh Trí</a:t>
            </a:r>
            <a:endParaRPr lang="en-US" sz="1800" dirty="0"/>
          </a:p>
          <a:p>
            <a:pPr marL="0" indent="0" algn="l">
              <a:buNone/>
            </a:pPr>
            <a:r>
              <a:rPr lang="en-US" sz="1500" b="1" dirty="0">
                <a:solidFill>
                  <a:schemeClr val="bg1"/>
                </a:solidFill>
                <a:latin typeface="Calibri" panose="020F0502020204030204" pitchFamily="34" charset="0"/>
                <a:ea typeface="Calibri" panose="020F0502020204030204" pitchFamily="34" charset="-122"/>
                <a:cs typeface="Calibri" panose="020F0502020204030204" pitchFamily="34" charset="-120"/>
              </a:rPr>
              <a:t>Nhóm:  </a:t>
            </a: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Phạm Lê Huy Hoàng (Trưởng nhóm) · Văn Quang Trường · Trần Quốc Huân · Hồ Đắc Toàn</a:t>
            </a:r>
            <a:endParaRPr lang="en-US" sz="1800" dirty="0"/>
          </a:p>
          <a:p>
            <a:pPr marL="0" indent="0" algn="l">
              <a:buNone/>
            </a:pP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endParaRPr lang="en-US" sz="1800" dirty="0"/>
          </a:p>
          <a:p>
            <a:pPr marL="0" indent="0" algn="l">
              <a:buNone/>
            </a:pPr>
            <a:r>
              <a:rPr lang="en-US" sz="1300" dirty="0">
                <a:solidFill>
                  <a:srgbClr val="A8C4E0"/>
                </a:solidFill>
                <a:latin typeface="Calibri" panose="020F0502020204030204" pitchFamily="34" charset="0"/>
                <a:ea typeface="Calibri" panose="020F0502020204030204" pitchFamily="34" charset="-122"/>
                <a:cs typeface="Calibri" panose="020F0502020204030204" pitchFamily="34" charset="-120"/>
              </a:rPr>
              <a:t>Nhóm GFA26AI35  ·  Đại học FPT  ·  Tháng 10/2026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NỘI DUNG</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Một bộ slide cho mọi mốc review</a:t>
            </a:r>
            <a:endParaRPr lang="en-US" sz="3200" dirty="0"/>
          </a:p>
        </p:txBody>
      </p:sp>
      <p:sp>
        <p:nvSpPr>
          <p:cNvPr id="5" name="card_384"/>
          <p:cNvSpPr/>
          <p:nvPr/>
        </p:nvSpPr>
        <p:spPr>
          <a:xfrm>
            <a:off x="548640" y="1463040"/>
            <a:ext cx="5364328" cy="3657600"/>
          </a:xfrm>
          <a:prstGeom prst="roundRect">
            <a:avLst>
              <a:gd name="adj" fmla="val 2000"/>
            </a:avLst>
          </a:prstGeom>
          <a:solidFill>
            <a:schemeClr val="accent4"/>
          </a:solidFill>
          <a:ln w="12700">
            <a:solidFill>
              <a:schemeClr val="accent4"/>
            </a:solidFill>
            <a:prstDash val="solid"/>
          </a:ln>
        </p:spPr>
      </p:sp>
      <p:sp>
        <p:nvSpPr>
          <p:cNvPr id="6" name="text_385"/>
          <p:cNvSpPr txBox="1"/>
          <p:nvPr/>
        </p:nvSpPr>
        <p:spPr>
          <a:xfrm>
            <a:off x="822960" y="1645920"/>
            <a:ext cx="3535528" cy="502920"/>
          </a:xfrm>
          <a:prstGeom prst="rect">
            <a:avLst/>
          </a:prstGeom>
          <a:noFill/>
        </p:spPr>
        <p:txBody>
          <a:bodyPr wrap="square" lIns="0" tIns="0" rIns="0" bIns="0" rtlCol="0" anchor="t"/>
          <a:lstStyle/>
          <a:p>
            <a:pPr marL="0" indent="0">
              <a:buNone/>
            </a:pPr>
            <a:r>
              <a:rPr lang="en-US" sz="2200" b="1" dirty="0">
                <a:solidFill>
                  <a:schemeClr val="tx2"/>
                </a:solidFill>
                <a:latin typeface="Cambria" panose="02040503050406030204" pitchFamily="34" charset="0"/>
                <a:ea typeface="Cambria" panose="02040503050406030204" pitchFamily="34" charset="-122"/>
                <a:cs typeface="Cambria" panose="02040503050406030204" pitchFamily="34" charset="-120"/>
              </a:rPr>
              <a:t>Phần A · Review 1 (đã sửa)</a:t>
            </a:r>
            <a:endParaRPr lang="en-US" sz="2200" dirty="0"/>
          </a:p>
        </p:txBody>
      </p:sp>
      <p:sp>
        <p:nvSpPr>
          <p:cNvPr id="7" name="text_386"/>
          <p:cNvSpPr txBox="1"/>
          <p:nvPr/>
        </p:nvSpPr>
        <p:spPr>
          <a:xfrm>
            <a:off x="4175608" y="1691640"/>
            <a:ext cx="1463040" cy="457200"/>
          </a:xfrm>
          <a:prstGeom prst="rect">
            <a:avLst/>
          </a:prstGeom>
          <a:noFill/>
        </p:spPr>
        <p:txBody>
          <a:bodyPr wrap="square" lIns="0" tIns="0" rIns="0" bIns="0" rtlCol="0" anchor="t"/>
          <a:lstStyle/>
          <a:p>
            <a:pPr marL="0" indent="0" algn="r">
              <a:buNone/>
            </a:pPr>
            <a:r>
              <a:rPr lang="en-US" sz="1400" b="1" dirty="0">
                <a:solidFill>
                  <a:schemeClr val="accent1"/>
                </a:solidFill>
                <a:latin typeface="Calibri" panose="020F0502020204030204" pitchFamily="34" charset="0"/>
                <a:ea typeface="Calibri" panose="020F0502020204030204" pitchFamily="34" charset="-122"/>
                <a:cs typeface="Calibri" panose="020F0502020204030204" pitchFamily="34" charset="-120"/>
              </a:rPr>
              <a:t>slide 3–16</a:t>
            </a:r>
            <a:endParaRPr lang="en-US" sz="1400" dirty="0"/>
          </a:p>
        </p:txBody>
      </p:sp>
      <p:sp>
        <p:nvSpPr>
          <p:cNvPr id="8" name="list_387"/>
          <p:cNvSpPr txBox="1"/>
          <p:nvPr/>
        </p:nvSpPr>
        <p:spPr>
          <a:xfrm>
            <a:off x="822960" y="2377440"/>
            <a:ext cx="4815688" cy="2560320"/>
          </a:xfrm>
          <a:prstGeom prst="rect">
            <a:avLst/>
          </a:prstGeom>
          <a:noFill/>
        </p:spPr>
        <p:txBody>
          <a:bodyPr wrap="square" lIns="0" tIns="0" rIns="0" bIns="0" rtlCol="0" anchor="t"/>
          <a:lstStyle/>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Tiếp thu 10 góp ý phản biện (24/09)</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Bài toán, input/output, vấn đề tiếng Việt V1–V4</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Khoảng trống, công trình trước, RQ1–RQ4, giả thuyết H1–H4</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Dữ liệu, phương pháp đề xuất, QLoRA, ngân sách token</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Kế hoạch, rủi ro, sản phẩm, nhóm</a:t>
            </a:r>
            <a:endParaRPr lang="en-US" sz="1700" dirty="0"/>
          </a:p>
        </p:txBody>
      </p:sp>
      <p:sp>
        <p:nvSpPr>
          <p:cNvPr id="9" name="card_388"/>
          <p:cNvSpPr/>
          <p:nvPr/>
        </p:nvSpPr>
        <p:spPr>
          <a:xfrm>
            <a:off x="6278728" y="1463040"/>
            <a:ext cx="5364328" cy="3657600"/>
          </a:xfrm>
          <a:prstGeom prst="roundRect">
            <a:avLst>
              <a:gd name="adj" fmla="val 2000"/>
            </a:avLst>
          </a:prstGeom>
          <a:solidFill>
            <a:schemeClr val="accent5"/>
          </a:solidFill>
          <a:ln w="12700">
            <a:solidFill>
              <a:schemeClr val="accent5"/>
            </a:solidFill>
            <a:prstDash val="solid"/>
          </a:ln>
        </p:spPr>
      </p:sp>
      <p:sp>
        <p:nvSpPr>
          <p:cNvPr id="10" name="text_389"/>
          <p:cNvSpPr txBox="1"/>
          <p:nvPr/>
        </p:nvSpPr>
        <p:spPr>
          <a:xfrm>
            <a:off x="6553048" y="1645920"/>
            <a:ext cx="3535528" cy="502920"/>
          </a:xfrm>
          <a:prstGeom prst="rect">
            <a:avLst/>
          </a:prstGeom>
          <a:noFill/>
        </p:spPr>
        <p:txBody>
          <a:bodyPr wrap="square" lIns="0" tIns="0" rIns="0" bIns="0" rtlCol="0" anchor="t"/>
          <a:lstStyle/>
          <a:p>
            <a:pPr marL="0" indent="0">
              <a:buNone/>
            </a:pPr>
            <a:r>
              <a:rPr lang="en-US" sz="2200" b="1" dirty="0">
                <a:solidFill>
                  <a:schemeClr val="tx2"/>
                </a:solidFill>
                <a:latin typeface="Cambria" panose="02040503050406030204" pitchFamily="34" charset="0"/>
                <a:ea typeface="Cambria" panose="02040503050406030204" pitchFamily="34" charset="-122"/>
                <a:cs typeface="Cambria" panose="02040503050406030204" pitchFamily="34" charset="-120"/>
              </a:rPr>
              <a:t>Phần B · Review 2</a:t>
            </a:r>
            <a:endParaRPr lang="en-US" sz="2200" dirty="0"/>
          </a:p>
        </p:txBody>
      </p:sp>
      <p:sp>
        <p:nvSpPr>
          <p:cNvPr id="11" name="text_390"/>
          <p:cNvSpPr txBox="1"/>
          <p:nvPr/>
        </p:nvSpPr>
        <p:spPr>
          <a:xfrm>
            <a:off x="9905695" y="1691640"/>
            <a:ext cx="1463040" cy="457200"/>
          </a:xfrm>
          <a:prstGeom prst="rect">
            <a:avLst/>
          </a:prstGeom>
          <a:noFill/>
        </p:spPr>
        <p:txBody>
          <a:bodyPr wrap="square" lIns="0" tIns="0" rIns="0" bIns="0" rtlCol="0" anchor="t"/>
          <a:lstStyle/>
          <a:p>
            <a:pPr marL="0" indent="0" algn="r">
              <a:buNone/>
            </a:pPr>
            <a:r>
              <a:rPr lang="en-US" sz="1400" b="1" dirty="0">
                <a:solidFill>
                  <a:schemeClr val="accent1"/>
                </a:solidFill>
                <a:latin typeface="Calibri" panose="020F0502020204030204" pitchFamily="34" charset="0"/>
                <a:ea typeface="Calibri" panose="020F0502020204030204" pitchFamily="34" charset="-122"/>
                <a:cs typeface="Calibri" panose="020F0502020204030204" pitchFamily="34" charset="-120"/>
              </a:rPr>
              <a:t>slide 17–36</a:t>
            </a:r>
            <a:endParaRPr lang="en-US" sz="1400" dirty="0"/>
          </a:p>
        </p:txBody>
      </p:sp>
      <p:sp>
        <p:nvSpPr>
          <p:cNvPr id="12" name="list_391"/>
          <p:cNvSpPr txBox="1"/>
          <p:nvPr/>
        </p:nvSpPr>
        <p:spPr>
          <a:xfrm>
            <a:off x="6553048" y="2377440"/>
            <a:ext cx="4815688" cy="2560320"/>
          </a:xfrm>
          <a:prstGeom prst="rect">
            <a:avLst/>
          </a:prstGeom>
          <a:noFill/>
        </p:spPr>
        <p:txBody>
          <a:bodyPr wrap="square" lIns="0" tIns="0" rIns="0" bIns="0" rtlCol="0" anchor="t"/>
          <a:lstStyle/>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Tóm tắt và xử lý góp ý GVHD (07/10)</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Nhiễu dữ liệu, kiến trúc baseline, giao thức đánh giá</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Kiểm chứng R0, zero-shot B1, ablation backbone</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QLoRA B2, đối chứng, SOTA, phân tích lỗi</a:t>
            </a:r>
            <a:endParaRPr lang="en-US" sz="1700" dirty="0"/>
          </a:p>
          <a:p>
            <a:pPr marL="177800" indent="-1778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Đề xuất QLoRA nhận biết OCR B3, giả thuyết H1–H4, bước tiếp theo</a:t>
            </a:r>
            <a:endParaRPr lang="en-US" sz="1700" dirty="0"/>
          </a:p>
        </p:txBody>
      </p:sp>
      <p:sp>
        <p:nvSpPr>
          <p:cNvPr id="13" name="text_392"/>
          <p:cNvSpPr txBox="1"/>
          <p:nvPr/>
        </p:nvSpPr>
        <p:spPr>
          <a:xfrm>
            <a:off x="548640" y="5760720"/>
            <a:ext cx="11094415" cy="502920"/>
          </a:xfrm>
          <a:prstGeom prst="rect">
            <a:avLst/>
          </a:prstGeom>
          <a:noFill/>
        </p:spPr>
        <p:txBody>
          <a:bodyPr wrap="square" lIns="0" tIns="0" rIns="0" bIns="0" rtlCol="0" anchor="t"/>
          <a:lstStyle/>
          <a:p>
            <a:pPr marL="0" indent="0">
              <a:buNone/>
            </a:pPr>
            <a:r>
              <a:rPr lang="en-US" sz="1300" dirty="0">
                <a:solidFill>
                  <a:schemeClr val="accent3"/>
                </a:solidFill>
                <a:latin typeface="Calibri" panose="020F0502020204030204" pitchFamily="34" charset="0"/>
                <a:ea typeface="Calibri" panose="020F0502020204030204" pitchFamily="34" charset="-122"/>
                <a:cs typeface="Calibri" panose="020F0502020204030204" pitchFamily="34" charset="-120"/>
              </a:rPr>
              <a:t>Giả thuyết dùng một cách đánh số (H1–H4) cho mọi phần. Phần C (Review 3) và D (bảo vệ cuối) sẽ được nối thêm; các phần trước được sửa sau mỗi lần review.</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TIẾP THU GÓP Ý PHẢN BIỆN (24/09</a:t>
            </a:r>
            <a:r>
              <a:rPr lang="vi-VN" alt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/2026</a:t>
            </a: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Mười góp ý của phản biện và cách Phần A xử lý</a:t>
            </a:r>
            <a:endParaRPr lang="en-US" sz="3200" dirty="0"/>
          </a:p>
        </p:txBody>
      </p:sp>
      <p:graphicFrame>
        <p:nvGraphicFramePr>
          <p:cNvPr id="4" name="table_195"/>
          <p:cNvGraphicFramePr>
            <a:graphicFrameLocks noGrp="1"/>
          </p:cNvGraphicFramePr>
          <p:nvPr/>
        </p:nvGraphicFramePr>
        <p:xfrm>
          <a:off x="548640" y="1325880"/>
          <a:ext cx="11094415" cy="4727448"/>
        </p:xfrm>
        <a:graphic>
          <a:graphicData uri="http://schemas.openxmlformats.org/drawingml/2006/table">
            <a:tbl>
              <a:tblPr/>
              <a:tblGrid>
                <a:gridCol w="411480"/>
                <a:gridCol w="4572000"/>
                <a:gridCol w="5010912"/>
                <a:gridCol w="1097280"/>
              </a:tblGrid>
              <a:tr h="42976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Góp ý của phản biện (24/09)</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Nhóm đã sửa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Slide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Bài toán chưa rõ; chưa rõ input/output; tiếng Việt khác tiếng Anh ở đâu</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Bài toán một câu; bảng input/output; bốn vấn đề tiếng Việt V1–V4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4–5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Dấu câu, khoảng trắng, từ nối chỉ là tiền xử lý</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Tách tiền xử lý khỏi vấn đề nghiên cứu; dẫn thí nghiệm bỏ dấu</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Giả thuyết 4-bit/16-bit, VRAM chưa giải quyết vấn đề tiếng Việt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Rút còn H1–H4, mỗi cái gắn V1–V4; bộ nhớ chuyển sang số đo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Chưa có phương pháp đề xuất; chưa có hình pipeline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Chốt một phương pháp; pipeline 8 bước; mẫu prompt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Giải thích QLoRA; vì sao đưa cả LoRA và QLoRA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Giải thích QLoRA; chỉ dùng QLoRA vì ràng buộc phần cứng</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6</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So mô hình khác thế hệ, khác kích thước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vai trò mô hình; chỉ kết luận trên cùng backbone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Baseline là công trình trước; cần 3 baseline và SOTA tiếng Việt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công trình trước cho ViTextVQA và ViVQA, kèm lưu ý</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Khuyến nghị RAG; cần tính số token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Ngân sách token mỗi mẫu; RAG ngoài là tuỳ chọn có điều kiện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Tiền xử lý trước khi chia tập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Tiền xử lý → split cố định; chỉnh trên dev, báo cáo trên test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10, 11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Kế hoạch chưa chi tiết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công việc theo tuần với đầu ra kiểm chứng được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243044"/>
                          </a:solidFill>
                          <a:latin typeface="Calibri" panose="020F0502020204030204" pitchFamily="34" charset="0"/>
                          <a:ea typeface="Calibri" panose="020F0502020204030204" pitchFamily="34" charset="-122"/>
                          <a:cs typeface="Calibri" panose="020F0502020204030204" pitchFamily="34" charset="-120"/>
                        </a:rPr>
                        <a:t>14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01 · BÀI TOÁN</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Phát biểu bài toán và input / output</a:t>
            </a:r>
            <a:endParaRPr lang="en-US" sz="3200" dirty="0"/>
          </a:p>
        </p:txBody>
      </p:sp>
      <p:sp>
        <p:nvSpPr>
          <p:cNvPr id="5" name="card_1"/>
          <p:cNvSpPr/>
          <p:nvPr/>
        </p:nvSpPr>
        <p:spPr>
          <a:xfrm>
            <a:off x="548640" y="1371600"/>
            <a:ext cx="11094415" cy="960120"/>
          </a:xfrm>
          <a:prstGeom prst="roundRect">
            <a:avLst>
              <a:gd name="adj" fmla="val 7619"/>
            </a:avLst>
          </a:prstGeom>
          <a:solidFill>
            <a:schemeClr val="accent4"/>
          </a:solidFill>
          <a:ln w="12700">
            <a:solidFill>
              <a:schemeClr val="accent4"/>
            </a:solidFill>
            <a:prstDash val="solid"/>
          </a:ln>
        </p:spPr>
      </p:sp>
      <p:sp>
        <p:nvSpPr>
          <p:cNvPr id="6" name="text_2"/>
          <p:cNvSpPr txBox="1"/>
          <p:nvPr/>
        </p:nvSpPr>
        <p:spPr>
          <a:xfrm>
            <a:off x="822960" y="1371600"/>
            <a:ext cx="10545775" cy="960120"/>
          </a:xfrm>
          <a:prstGeom prst="rect">
            <a:avLst/>
          </a:prstGeom>
          <a:noFill/>
        </p:spPr>
        <p:txBody>
          <a:bodyPr wrap="square" lIns="0" tIns="0" rIns="0" bIns="0" rtlCol="0" anchor="ctr"/>
          <a:lstStyle/>
          <a:p>
            <a:pPr marL="0" indent="0">
              <a:buNone/>
            </a:pPr>
            <a:r>
              <a:rPr lang="en-US" sz="1500" b="1" dirty="0">
                <a:solidFill>
                  <a:srgbClr val="13294B"/>
                </a:solidFill>
                <a:latin typeface="Calibri" panose="020F0502020204030204" pitchFamily="34" charset="0"/>
                <a:ea typeface="Calibri" panose="020F0502020204030204" pitchFamily="34" charset="-122"/>
                <a:cs typeface="Calibri" panose="020F0502020204030204" pitchFamily="34" charset="-120"/>
              </a:rPr>
              <a:t>Bài toán  </a:t>
            </a: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Cho một ảnh và một câu hỏi tiếng Việt về ảnh, sinh câu trả lời tiếng Việt ngắn, đúng nội dung ảnh và đúng chính tả có dấu — bằng cách thích nghi một VLM mở (Qwen2.5-VL-3B) chỉ với PEFT (QLoRA), trên một GPU Colab.</a:t>
            </a:r>
            <a:endParaRPr lang="en-US" sz="1500" dirty="0"/>
          </a:p>
        </p:txBody>
      </p:sp>
      <p:sp>
        <p:nvSpPr>
          <p:cNvPr id="7" name="box_3"/>
          <p:cNvSpPr/>
          <p:nvPr/>
        </p:nvSpPr>
        <p:spPr>
          <a:xfrm>
            <a:off x="548640" y="2560320"/>
            <a:ext cx="3200400" cy="640080"/>
          </a:xfrm>
          <a:prstGeom prst="roundRect">
            <a:avLst>
              <a:gd name="adj" fmla="val 11429"/>
            </a:avLst>
          </a:prstGeom>
          <a:solidFill>
            <a:srgbClr val="F3F5F8"/>
          </a:solidFill>
          <a:ln w="12700">
            <a:solidFill>
              <a:srgbClr val="E2E7EE"/>
            </a:solidFill>
            <a:prstDash val="solid"/>
          </a:ln>
        </p:spPr>
      </p:sp>
      <p:sp>
        <p:nvSpPr>
          <p:cNvPr id="8" name="text_4"/>
          <p:cNvSpPr txBox="1"/>
          <p:nvPr/>
        </p:nvSpPr>
        <p:spPr>
          <a:xfrm>
            <a:off x="640080" y="2560320"/>
            <a:ext cx="3017520" cy="64008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Ảnh + câu hỏi tiếng Việt</a:t>
            </a:r>
            <a:endParaRPr lang="en-US" sz="1400" dirty="0"/>
          </a:p>
        </p:txBody>
      </p:sp>
      <p:sp>
        <p:nvSpPr>
          <p:cNvPr id="9" name="arrow_5"/>
          <p:cNvSpPr/>
          <p:nvPr/>
        </p:nvSpPr>
        <p:spPr>
          <a:xfrm>
            <a:off x="3848024" y="2743200"/>
            <a:ext cx="548640" cy="274320"/>
          </a:xfrm>
          <a:prstGeom prst="rightArrow">
            <a:avLst/>
          </a:prstGeom>
          <a:solidFill>
            <a:srgbClr val="1C7293"/>
          </a:solidFill>
          <a:ln w="12700">
            <a:solidFill>
              <a:srgbClr val="1C7293"/>
            </a:solidFill>
            <a:prstDash val="solid"/>
          </a:ln>
        </p:spPr>
      </p:sp>
      <p:sp>
        <p:nvSpPr>
          <p:cNvPr id="10" name="box_6"/>
          <p:cNvSpPr/>
          <p:nvPr/>
        </p:nvSpPr>
        <p:spPr>
          <a:xfrm>
            <a:off x="4495648" y="2560320"/>
            <a:ext cx="3200400" cy="640080"/>
          </a:xfrm>
          <a:prstGeom prst="roundRect">
            <a:avLst>
              <a:gd name="adj" fmla="val 11429"/>
            </a:avLst>
          </a:prstGeom>
          <a:solidFill>
            <a:srgbClr val="FBF0DA"/>
          </a:solidFill>
          <a:ln w="12700">
            <a:solidFill>
              <a:srgbClr val="E8A33D"/>
            </a:solidFill>
            <a:prstDash val="solid"/>
          </a:ln>
        </p:spPr>
      </p:sp>
      <p:sp>
        <p:nvSpPr>
          <p:cNvPr id="11" name="text_7"/>
          <p:cNvSpPr txBox="1"/>
          <p:nvPr/>
        </p:nvSpPr>
        <p:spPr>
          <a:xfrm>
            <a:off x="4587088" y="2560320"/>
            <a:ext cx="3017520" cy="64008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Qwen2.5-VL-3B (4-bit) + adapter QLoRA</a:t>
            </a:r>
            <a:endParaRPr lang="en-US" sz="1400" dirty="0"/>
          </a:p>
        </p:txBody>
      </p:sp>
      <p:sp>
        <p:nvSpPr>
          <p:cNvPr id="12" name="arrow_8"/>
          <p:cNvSpPr/>
          <p:nvPr/>
        </p:nvSpPr>
        <p:spPr>
          <a:xfrm>
            <a:off x="7795031" y="2743200"/>
            <a:ext cx="548640" cy="274320"/>
          </a:xfrm>
          <a:prstGeom prst="rightArrow">
            <a:avLst/>
          </a:prstGeom>
          <a:solidFill>
            <a:srgbClr val="1C7293"/>
          </a:solidFill>
          <a:ln w="12700">
            <a:solidFill>
              <a:srgbClr val="1C7293"/>
            </a:solidFill>
            <a:prstDash val="solid"/>
          </a:ln>
        </p:spPr>
      </p:sp>
      <p:sp>
        <p:nvSpPr>
          <p:cNvPr id="13" name="box_9"/>
          <p:cNvSpPr/>
          <p:nvPr/>
        </p:nvSpPr>
        <p:spPr>
          <a:xfrm>
            <a:off x="8442655" y="2560320"/>
            <a:ext cx="3200400" cy="640080"/>
          </a:xfrm>
          <a:prstGeom prst="roundRect">
            <a:avLst>
              <a:gd name="adj" fmla="val 11429"/>
            </a:avLst>
          </a:prstGeom>
          <a:solidFill>
            <a:srgbClr val="F3F5F8"/>
          </a:solidFill>
          <a:ln w="12700">
            <a:solidFill>
              <a:srgbClr val="E2E7EE"/>
            </a:solidFill>
            <a:prstDash val="solid"/>
          </a:ln>
        </p:spPr>
      </p:sp>
      <p:sp>
        <p:nvSpPr>
          <p:cNvPr id="14" name="text_10"/>
          <p:cNvSpPr txBox="1"/>
          <p:nvPr/>
        </p:nvSpPr>
        <p:spPr>
          <a:xfrm>
            <a:off x="8534095" y="2560320"/>
            <a:ext cx="3017520" cy="64008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Câu trả lời tiếng Việt ngắn</a:t>
            </a:r>
            <a:endParaRPr lang="en-US" sz="1400" dirty="0"/>
          </a:p>
        </p:txBody>
      </p:sp>
      <p:graphicFrame>
        <p:nvGraphicFramePr>
          <p:cNvPr id="4" name="table_11"/>
          <p:cNvGraphicFramePr>
            <a:graphicFrameLocks noGrp="1"/>
          </p:cNvGraphicFramePr>
          <p:nvPr/>
        </p:nvGraphicFramePr>
        <p:xfrm>
          <a:off x="548640" y="3429000"/>
          <a:ext cx="11094415" cy="2560320"/>
        </p:xfrm>
        <a:graphic>
          <a:graphicData uri="http://schemas.openxmlformats.org/drawingml/2006/table">
            <a:tbl>
              <a:tblPr/>
              <a:tblGrid>
                <a:gridCol w="2011680"/>
                <a:gridCol w="3291840"/>
                <a:gridCol w="2743200"/>
                <a:gridCol w="3044952"/>
              </a:tblGrid>
              <a:tr h="512064">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Thành phần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Định nghĩa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ViVQA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ViTextVQA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12064">
                <a:tc>
                  <a:txBody>
                    <a:bodyPr/>
                    <a:lstStyle/>
                    <a:p>
                      <a:pPr marL="0" indent="0">
                        <a:buNone/>
                      </a:pPr>
                      <a:r>
                        <a:rPr lang="en-US" sz="1300" b="1" dirty="0">
                          <a:solidFill>
                            <a:srgbClr val="243044"/>
                          </a:solidFill>
                          <a:latin typeface="Calibri" panose="020F0502020204030204" pitchFamily="34" charset="0"/>
                          <a:ea typeface="Calibri" panose="020F0502020204030204" pitchFamily="34" charset="-122"/>
                          <a:cs typeface="Calibri" panose="020F0502020204030204" pitchFamily="34" charset="-120"/>
                        </a:rPr>
                        <a:t>Input 1 · Ảnh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Ảnh RGB, resize theo max_pixels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Ảnh đời thường (MS COCO), ít chữ</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Ảnh có chữ tiếng Việt: biển hiệu, menu, bao bì</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marL="0" indent="0">
                        <a:buNone/>
                      </a:pPr>
                      <a:r>
                        <a:rPr lang="en-US" sz="1300" b="1" dirty="0">
                          <a:solidFill>
                            <a:srgbClr val="243044"/>
                          </a:solidFill>
                          <a:latin typeface="Calibri" panose="020F0502020204030204" pitchFamily="34" charset="0"/>
                          <a:ea typeface="Calibri" panose="020F0502020204030204" pitchFamily="34" charset="-122"/>
                          <a:cs typeface="Calibri" panose="020F0502020204030204" pitchFamily="34" charset="-120"/>
                        </a:rPr>
                        <a:t>Input 2 · Câu hỏi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Văn bản tiếng Việt, chuẩn NFC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Ngắn, sinh bán tự động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Do người viết, trung bình 9,59 từ</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marL="0" indent="0">
                        <a:buNone/>
                      </a:pPr>
                      <a:r>
                        <a:rPr lang="en-US" sz="1300" b="1" dirty="0">
                          <a:solidFill>
                            <a:srgbClr val="243044"/>
                          </a:solidFill>
                          <a:latin typeface="Calibri" panose="020F0502020204030204" pitchFamily="34" charset="0"/>
                          <a:ea typeface="Calibri" panose="020F0502020204030204" pitchFamily="34" charset="-122"/>
                          <a:cs typeface="Calibri" panose="020F0502020204030204" pitchFamily="34" charset="-120"/>
                        </a:rPr>
                        <a:t>Output · Câu trả lời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Văn bản tiếng Việt có dấu, sinh tự do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99,83% đáp án ≤ 3 từ</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Trung bình 4,18 từ; là đoạn chữ trong ảnh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marL="0" indent="0">
                        <a:buNone/>
                      </a:pPr>
                      <a:r>
                        <a:rPr lang="en-US" sz="1300" b="1" dirty="0">
                          <a:solidFill>
                            <a:srgbClr val="243044"/>
                          </a:solidFill>
                          <a:latin typeface="Calibri" panose="020F0502020204030204" pitchFamily="34" charset="0"/>
                          <a:ea typeface="Calibri" panose="020F0502020204030204" pitchFamily="34" charset="-122"/>
                          <a:cs typeface="Calibri" panose="020F0502020204030204" pitchFamily="34" charset="-120"/>
                        </a:rPr>
                        <a:t>Đánh giá</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So với đáp án chuẩn sau cùng một bước chuẩn hoá</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EM · VQA-Acc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00" dirty="0">
                          <a:solidFill>
                            <a:srgbClr val="243044"/>
                          </a:solidFill>
                          <a:latin typeface="Calibri" panose="020F0502020204030204" pitchFamily="34" charset="0"/>
                          <a:ea typeface="Calibri" panose="020F0502020204030204" pitchFamily="34" charset="-122"/>
                          <a:cs typeface="Calibri" panose="020F0502020204030204" pitchFamily="34" charset="-120"/>
                        </a:rPr>
                        <a:t>ANLS · 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01 · TIẾNG VIỆT KHÁC Ở ĐÂU</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Bốn vấn đề riêng của tiếng Việt (V1–V4)</a:t>
            </a:r>
            <a:endParaRPr lang="en-US" sz="3200" dirty="0"/>
          </a:p>
        </p:txBody>
      </p:sp>
      <p:sp>
        <p:nvSpPr>
          <p:cNvPr id="5" name="card_12"/>
          <p:cNvSpPr/>
          <p:nvPr/>
        </p:nvSpPr>
        <p:spPr>
          <a:xfrm>
            <a:off x="548640" y="1371600"/>
            <a:ext cx="2567864" cy="3154680"/>
          </a:xfrm>
          <a:prstGeom prst="roundRect">
            <a:avLst>
              <a:gd name="adj" fmla="val 2849"/>
            </a:avLst>
          </a:prstGeom>
          <a:solidFill>
            <a:schemeClr val="accent5"/>
          </a:solidFill>
          <a:ln w="12700">
            <a:solidFill>
              <a:schemeClr val="accent5"/>
            </a:solidFill>
            <a:prstDash val="solid"/>
          </a:ln>
        </p:spPr>
      </p:sp>
      <p:sp>
        <p:nvSpPr>
          <p:cNvPr id="6" name="text_13"/>
          <p:cNvSpPr txBox="1"/>
          <p:nvPr/>
        </p:nvSpPr>
        <p:spPr>
          <a:xfrm>
            <a:off x="777240" y="1508760"/>
            <a:ext cx="914400" cy="457200"/>
          </a:xfrm>
          <a:prstGeom prst="rect">
            <a:avLst/>
          </a:prstGeom>
          <a:noFill/>
        </p:spPr>
        <p:txBody>
          <a:bodyPr wrap="square" lIns="0" tIns="0" rIns="0" bIns="0" rtlCol="0" anchor="t"/>
          <a:lstStyle/>
          <a:p>
            <a:pPr marL="0" indent="0">
              <a:buNone/>
            </a:pPr>
            <a:r>
              <a:rPr lang="en-US" sz="2400" b="1" dirty="0">
                <a:solidFill>
                  <a:srgbClr val="E8A33D"/>
                </a:solidFill>
                <a:latin typeface="Cambria" panose="02040503050406030204" pitchFamily="34" charset="0"/>
                <a:ea typeface="Cambria" panose="02040503050406030204" pitchFamily="34" charset="-122"/>
                <a:cs typeface="Cambria" panose="02040503050406030204" pitchFamily="34" charset="-120"/>
              </a:rPr>
              <a:t>V1</a:t>
            </a:r>
            <a:endParaRPr lang="en-US" sz="2400" dirty="0"/>
          </a:p>
        </p:txBody>
      </p:sp>
      <p:sp>
        <p:nvSpPr>
          <p:cNvPr id="7" name="text_14"/>
          <p:cNvSpPr txBox="1"/>
          <p:nvPr/>
        </p:nvSpPr>
        <p:spPr>
          <a:xfrm>
            <a:off x="777240" y="1965960"/>
            <a:ext cx="2110664" cy="5943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Đọc chữ có dấu trong ảnh</a:t>
            </a:r>
            <a:endParaRPr lang="en-US" sz="1400" dirty="0"/>
          </a:p>
        </p:txBody>
      </p:sp>
      <p:sp>
        <p:nvSpPr>
          <p:cNvPr id="8" name="text_15"/>
          <p:cNvSpPr txBox="1"/>
          <p:nvPr/>
        </p:nvSpPr>
        <p:spPr>
          <a:xfrm>
            <a:off x="777240" y="2560320"/>
            <a:ext cx="2110664" cy="187452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Dấu là nét rất nhỏ; sai dấu là đổi nghĩa (má ≠ mà). Lỗi nhận thức ở mức pixel, chuẩn hoá văn bản không sửa được. Bằng chứng: bỏ dấu làm giảm F1 mọi baseline ViTextVQA (Nguyen et al., 2024, §7.1).</a:t>
            </a:r>
            <a:endParaRPr lang="en-US" sz="1300" dirty="0"/>
          </a:p>
        </p:txBody>
      </p:sp>
      <p:sp>
        <p:nvSpPr>
          <p:cNvPr id="9" name="card_16"/>
          <p:cNvSpPr/>
          <p:nvPr/>
        </p:nvSpPr>
        <p:spPr>
          <a:xfrm>
            <a:off x="3390824" y="1371600"/>
            <a:ext cx="2567864" cy="3154680"/>
          </a:xfrm>
          <a:prstGeom prst="roundRect">
            <a:avLst>
              <a:gd name="adj" fmla="val 2849"/>
            </a:avLst>
          </a:prstGeom>
          <a:solidFill>
            <a:schemeClr val="bg2"/>
          </a:solidFill>
          <a:ln w="12700">
            <a:solidFill>
              <a:schemeClr val="bg2"/>
            </a:solidFill>
            <a:prstDash val="solid"/>
          </a:ln>
        </p:spPr>
      </p:sp>
      <p:sp>
        <p:nvSpPr>
          <p:cNvPr id="10" name="text_17"/>
          <p:cNvSpPr txBox="1"/>
          <p:nvPr/>
        </p:nvSpPr>
        <p:spPr>
          <a:xfrm>
            <a:off x="3619424" y="1508760"/>
            <a:ext cx="914400" cy="457200"/>
          </a:xfrm>
          <a:prstGeom prst="rect">
            <a:avLst/>
          </a:prstGeom>
          <a:noFill/>
        </p:spPr>
        <p:txBody>
          <a:bodyPr wrap="square" lIns="0" tIns="0" rIns="0" bIns="0" rtlCol="0" anchor="t"/>
          <a:lstStyle/>
          <a:p>
            <a:pPr marL="0" indent="0">
              <a:buNone/>
            </a:pPr>
            <a:r>
              <a:rPr lang="en-US" sz="2400" b="1" dirty="0">
                <a:solidFill>
                  <a:srgbClr val="1C7293"/>
                </a:solidFill>
                <a:latin typeface="Cambria" panose="02040503050406030204" pitchFamily="34" charset="0"/>
                <a:ea typeface="Cambria" panose="02040503050406030204" pitchFamily="34" charset="-122"/>
                <a:cs typeface="Cambria" panose="02040503050406030204" pitchFamily="34" charset="-120"/>
              </a:rPr>
              <a:t>V2</a:t>
            </a:r>
            <a:endParaRPr lang="en-US" sz="2400" dirty="0"/>
          </a:p>
        </p:txBody>
      </p:sp>
      <p:sp>
        <p:nvSpPr>
          <p:cNvPr id="11" name="text_18"/>
          <p:cNvSpPr txBox="1"/>
          <p:nvPr/>
        </p:nvSpPr>
        <p:spPr>
          <a:xfrm>
            <a:off x="3619424" y="1965960"/>
            <a:ext cx="2110664" cy="5943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Sai ngôn ngữ hoặc sai định dạng</a:t>
            </a:r>
            <a:endParaRPr lang="en-US" sz="1400" dirty="0"/>
          </a:p>
        </p:txBody>
      </p:sp>
      <p:sp>
        <p:nvSpPr>
          <p:cNvPr id="12" name="text_19"/>
          <p:cNvSpPr txBox="1"/>
          <p:nvPr/>
        </p:nvSpPr>
        <p:spPr>
          <a:xfrm>
            <a:off x="3619424" y="2560320"/>
            <a:ext cx="2110664" cy="187452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VLM pretrain chủ yếu trên tiếng Anh/Trung dễ trả lời tiếng Anh, trộn Anh–Việt hoặc dài dòng → EM = 0 dù hiểu đúng.</a:t>
            </a:r>
            <a:endParaRPr lang="en-US" sz="1300" dirty="0"/>
          </a:p>
        </p:txBody>
      </p:sp>
      <p:sp>
        <p:nvSpPr>
          <p:cNvPr id="13" name="card_20"/>
          <p:cNvSpPr/>
          <p:nvPr/>
        </p:nvSpPr>
        <p:spPr>
          <a:xfrm>
            <a:off x="6233008" y="1371600"/>
            <a:ext cx="2567864" cy="3154680"/>
          </a:xfrm>
          <a:prstGeom prst="roundRect">
            <a:avLst>
              <a:gd name="adj" fmla="val 2849"/>
            </a:avLst>
          </a:prstGeom>
          <a:solidFill>
            <a:schemeClr val="bg2"/>
          </a:solidFill>
          <a:ln w="12700">
            <a:solidFill>
              <a:schemeClr val="bg2"/>
            </a:solidFill>
            <a:prstDash val="solid"/>
          </a:ln>
        </p:spPr>
      </p:sp>
      <p:sp>
        <p:nvSpPr>
          <p:cNvPr id="14" name="text_21"/>
          <p:cNvSpPr txBox="1"/>
          <p:nvPr/>
        </p:nvSpPr>
        <p:spPr>
          <a:xfrm>
            <a:off x="6461608" y="1508760"/>
            <a:ext cx="914400" cy="457200"/>
          </a:xfrm>
          <a:prstGeom prst="rect">
            <a:avLst/>
          </a:prstGeom>
          <a:noFill/>
        </p:spPr>
        <p:txBody>
          <a:bodyPr wrap="square" lIns="0" tIns="0" rIns="0" bIns="0" rtlCol="0" anchor="t"/>
          <a:lstStyle/>
          <a:p>
            <a:pPr marL="0" indent="0">
              <a:buNone/>
            </a:pPr>
            <a:r>
              <a:rPr lang="en-US" sz="2400" b="1" dirty="0">
                <a:solidFill>
                  <a:srgbClr val="1C7293"/>
                </a:solidFill>
                <a:latin typeface="Cambria" panose="02040503050406030204" pitchFamily="34" charset="0"/>
                <a:ea typeface="Cambria" panose="02040503050406030204" pitchFamily="34" charset="-122"/>
                <a:cs typeface="Cambria" panose="02040503050406030204" pitchFamily="34" charset="-120"/>
              </a:rPr>
              <a:t>V3</a:t>
            </a:r>
            <a:endParaRPr lang="en-US" sz="2400" dirty="0"/>
          </a:p>
        </p:txBody>
      </p:sp>
      <p:sp>
        <p:nvSpPr>
          <p:cNvPr id="15" name="text_22"/>
          <p:cNvSpPr txBox="1"/>
          <p:nvPr/>
        </p:nvSpPr>
        <p:spPr>
          <a:xfrm>
            <a:off x="6461608" y="1965960"/>
            <a:ext cx="2110664" cy="5943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Thứ tự chữ và ranh giới từ</a:t>
            </a:r>
            <a:endParaRPr lang="en-US" sz="1400" dirty="0"/>
          </a:p>
        </p:txBody>
      </p:sp>
      <p:sp>
        <p:nvSpPr>
          <p:cNvPr id="16" name="text_23"/>
          <p:cNvSpPr txBox="1"/>
          <p:nvPr/>
        </p:nvSpPr>
        <p:spPr>
          <a:xfrm>
            <a:off x="6461608" y="2560320"/>
            <a:ext cx="2110664" cy="187452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Khoảng trắng tách âm tiết, không tách từ (“thời gian” là một từ). Đọc sai thứ tự làm vỡ từ. Bằng chứng: sắp OCR trái-trên → phải-dưới giúp đa số mô hình (Nguyen et al., 2024, §6.4).</a:t>
            </a:r>
            <a:endParaRPr lang="en-US" sz="1300" dirty="0"/>
          </a:p>
        </p:txBody>
      </p:sp>
      <p:sp>
        <p:nvSpPr>
          <p:cNvPr id="17" name="card_24"/>
          <p:cNvSpPr/>
          <p:nvPr/>
        </p:nvSpPr>
        <p:spPr>
          <a:xfrm>
            <a:off x="9075191" y="1371600"/>
            <a:ext cx="2567864" cy="3154680"/>
          </a:xfrm>
          <a:prstGeom prst="roundRect">
            <a:avLst>
              <a:gd name="adj" fmla="val 2849"/>
            </a:avLst>
          </a:prstGeom>
          <a:solidFill>
            <a:schemeClr val="bg2"/>
          </a:solidFill>
          <a:ln w="12700">
            <a:solidFill>
              <a:schemeClr val="bg2"/>
            </a:solidFill>
            <a:prstDash val="solid"/>
          </a:ln>
        </p:spPr>
      </p:sp>
      <p:sp>
        <p:nvSpPr>
          <p:cNvPr id="18" name="text_25"/>
          <p:cNvSpPr txBox="1"/>
          <p:nvPr/>
        </p:nvSpPr>
        <p:spPr>
          <a:xfrm>
            <a:off x="9303791" y="1508760"/>
            <a:ext cx="914400" cy="457200"/>
          </a:xfrm>
          <a:prstGeom prst="rect">
            <a:avLst/>
          </a:prstGeom>
          <a:noFill/>
        </p:spPr>
        <p:txBody>
          <a:bodyPr wrap="square" lIns="0" tIns="0" rIns="0" bIns="0" rtlCol="0" anchor="t"/>
          <a:lstStyle/>
          <a:p>
            <a:pPr marL="0" indent="0">
              <a:buNone/>
            </a:pPr>
            <a:r>
              <a:rPr lang="en-US" sz="2400" b="1" dirty="0">
                <a:solidFill>
                  <a:srgbClr val="1C7293"/>
                </a:solidFill>
                <a:latin typeface="Cambria" panose="02040503050406030204" pitchFamily="34" charset="0"/>
                <a:ea typeface="Cambria" panose="02040503050406030204" pitchFamily="34" charset="-122"/>
                <a:cs typeface="Cambria" panose="02040503050406030204" pitchFamily="34" charset="-120"/>
              </a:rPr>
              <a:t>V4</a:t>
            </a:r>
            <a:endParaRPr lang="en-US" sz="2400" dirty="0"/>
          </a:p>
        </p:txBody>
      </p:sp>
      <p:sp>
        <p:nvSpPr>
          <p:cNvPr id="19" name="text_26"/>
          <p:cNvSpPr txBox="1"/>
          <p:nvPr/>
        </p:nvSpPr>
        <p:spPr>
          <a:xfrm>
            <a:off x="9303791" y="1965960"/>
            <a:ext cx="2110664" cy="5943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Hallucination</a:t>
            </a:r>
            <a:endParaRPr lang="en-US" sz="1400" dirty="0"/>
          </a:p>
        </p:txBody>
      </p:sp>
      <p:sp>
        <p:nvSpPr>
          <p:cNvPr id="20" name="text_27"/>
          <p:cNvSpPr txBox="1"/>
          <p:nvPr/>
        </p:nvSpPr>
        <p:spPr>
          <a:xfrm>
            <a:off x="9303791" y="2560320"/>
            <a:ext cx="2110664" cy="187452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Trả lời trôi chảy nhưng nội dung không có trong ảnh. Chưa có đánh giá hallucination kiểu POPE cho VQA tiếng Việt (G4).</a:t>
            </a:r>
            <a:endParaRPr lang="en-US" sz="1300" dirty="0"/>
          </a:p>
        </p:txBody>
      </p:sp>
      <p:sp>
        <p:nvSpPr>
          <p:cNvPr id="21" name="card_28"/>
          <p:cNvSpPr/>
          <p:nvPr/>
        </p:nvSpPr>
        <p:spPr>
          <a:xfrm>
            <a:off x="548640" y="4709160"/>
            <a:ext cx="5364328" cy="1554480"/>
          </a:xfrm>
          <a:prstGeom prst="roundRect">
            <a:avLst>
              <a:gd name="adj" fmla="val 4706"/>
            </a:avLst>
          </a:prstGeom>
          <a:solidFill>
            <a:schemeClr val="bg2"/>
          </a:solidFill>
          <a:ln w="12700">
            <a:solidFill>
              <a:schemeClr val="bg2"/>
            </a:solidFill>
            <a:prstDash val="solid"/>
          </a:ln>
        </p:spPr>
      </p:sp>
      <p:sp>
        <p:nvSpPr>
          <p:cNvPr id="22" name="text_29"/>
          <p:cNvSpPr txBox="1"/>
          <p:nvPr/>
        </p:nvSpPr>
        <p:spPr>
          <a:xfrm>
            <a:off x="777240" y="4818888"/>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Tiền xử lý — bước kỹ thuật bắt buộc, không phải đóng góp</a:t>
            </a:r>
            <a:endParaRPr lang="en-US" sz="1400" dirty="0"/>
          </a:p>
        </p:txBody>
      </p:sp>
      <p:sp>
        <p:nvSpPr>
          <p:cNvPr id="23" name="list_30"/>
          <p:cNvSpPr txBox="1"/>
          <p:nvPr/>
        </p:nvSpPr>
        <p:spPr>
          <a:xfrm>
            <a:off x="777240" y="5212080"/>
            <a:ext cx="4907128" cy="1005840"/>
          </a:xfrm>
          <a:prstGeom prst="rect">
            <a:avLst/>
          </a:prstGeom>
          <a:noFill/>
        </p:spPr>
        <p:txBody>
          <a:bodyPr wrap="square" lIns="0" tIns="0" rIns="0" bIns="0" rtlCol="0" anchor="t"/>
          <a:lstStyle/>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Chuẩn NFC, chữ thường, bỏ dấu câu thừa, gộp khoảng trắng</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Cùng một hàm chuẩn hoá cho đáp án chuẩn và đầu ra trước khi chấm</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Resize ảnh theo max_pixels</a:t>
            </a:r>
            <a:endParaRPr lang="en-US" sz="1250" dirty="0"/>
          </a:p>
        </p:txBody>
      </p:sp>
      <p:sp>
        <p:nvSpPr>
          <p:cNvPr id="24" name="card_31"/>
          <p:cNvSpPr/>
          <p:nvPr/>
        </p:nvSpPr>
        <p:spPr>
          <a:xfrm>
            <a:off x="6278728" y="4709160"/>
            <a:ext cx="5364328" cy="1554480"/>
          </a:xfrm>
          <a:prstGeom prst="roundRect">
            <a:avLst>
              <a:gd name="adj" fmla="val 4706"/>
            </a:avLst>
          </a:prstGeom>
          <a:solidFill>
            <a:schemeClr val="accent4"/>
          </a:solidFill>
          <a:ln w="12700">
            <a:solidFill>
              <a:schemeClr val="accent4"/>
            </a:solidFill>
            <a:prstDash val="solid"/>
          </a:ln>
        </p:spPr>
      </p:sp>
      <p:sp>
        <p:nvSpPr>
          <p:cNvPr id="25" name="text_32"/>
          <p:cNvSpPr txBox="1"/>
          <p:nvPr/>
        </p:nvSpPr>
        <p:spPr>
          <a:xfrm>
            <a:off x="6507328" y="4818888"/>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Vấn đề nghiên cứu — trọng tâm đề tài</a:t>
            </a:r>
            <a:endParaRPr lang="en-US" sz="1400" dirty="0"/>
          </a:p>
        </p:txBody>
      </p:sp>
      <p:sp>
        <p:nvSpPr>
          <p:cNvPr id="26" name="list_33"/>
          <p:cNvSpPr txBox="1"/>
          <p:nvPr/>
        </p:nvSpPr>
        <p:spPr>
          <a:xfrm>
            <a:off x="6507328" y="5212080"/>
            <a:ext cx="4907128" cy="1005840"/>
          </a:xfrm>
          <a:prstGeom prst="rect">
            <a:avLst/>
          </a:prstGeom>
          <a:noFill/>
        </p:spPr>
        <p:txBody>
          <a:bodyPr wrap="square" lIns="0" tIns="0" rIns="0" bIns="0" rtlCol="0" anchor="t"/>
          <a:lstStyle/>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Đọc đúng chữ có dấu từ ảnh (V1, V3)</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Trả lời đúng ngôn ngữ, đúng định dạng (V2); không bịa (V4)</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Đạt được điều đó chỉ bằng PEFT, trên một GPU Colab</a:t>
            </a:r>
            <a:endParaRPr lang="en-US" sz="125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02 · KHOẢNG TRỐNG NGHIÊN CỨU</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Bốn khoảng trống — G3 là trọng tâm</a:t>
            </a:r>
            <a:endParaRPr lang="en-US" sz="3200" dirty="0"/>
          </a:p>
        </p:txBody>
      </p:sp>
      <p:sp>
        <p:nvSpPr>
          <p:cNvPr id="5" name="card_34"/>
          <p:cNvSpPr/>
          <p:nvPr/>
        </p:nvSpPr>
        <p:spPr>
          <a:xfrm>
            <a:off x="548640" y="1371600"/>
            <a:ext cx="2567864" cy="4206240"/>
          </a:xfrm>
          <a:prstGeom prst="roundRect">
            <a:avLst>
              <a:gd name="adj" fmla="val 2849"/>
            </a:avLst>
          </a:prstGeom>
          <a:solidFill>
            <a:schemeClr val="bg2"/>
          </a:solidFill>
          <a:ln w="12700">
            <a:solidFill>
              <a:schemeClr val="bg2"/>
            </a:solidFill>
            <a:prstDash val="solid"/>
          </a:ln>
        </p:spPr>
      </p:sp>
      <p:sp>
        <p:nvSpPr>
          <p:cNvPr id="6" name="text_35"/>
          <p:cNvSpPr txBox="1"/>
          <p:nvPr/>
        </p:nvSpPr>
        <p:spPr>
          <a:xfrm>
            <a:off x="777240" y="1554480"/>
            <a:ext cx="2110664" cy="457200"/>
          </a:xfrm>
          <a:prstGeom prst="rect">
            <a:avLst/>
          </a:prstGeom>
          <a:noFill/>
        </p:spPr>
        <p:txBody>
          <a:bodyPr wrap="square" lIns="0" tIns="0" rIns="0" bIns="0" rtlCol="0" anchor="t"/>
          <a:lstStyle/>
          <a:p>
            <a:pPr marL="0" indent="0">
              <a:buNone/>
            </a:pPr>
            <a:r>
              <a:rPr lang="en-US" sz="2200" b="1" dirty="0">
                <a:solidFill>
                  <a:srgbClr val="1C7293"/>
                </a:solidFill>
                <a:latin typeface="Cambria" panose="02040503050406030204" pitchFamily="34" charset="0"/>
                <a:ea typeface="Cambria" panose="02040503050406030204" pitchFamily="34" charset="-122"/>
                <a:cs typeface="Cambria" panose="02040503050406030204" pitchFamily="34" charset="-120"/>
              </a:rPr>
              <a:t>G1</a:t>
            </a:r>
            <a:endParaRPr lang="en-US" sz="2200" dirty="0"/>
          </a:p>
        </p:txBody>
      </p:sp>
      <p:sp>
        <p:nvSpPr>
          <p:cNvPr id="7" name="text_36"/>
          <p:cNvSpPr txBox="1"/>
          <p:nvPr/>
        </p:nvSpPr>
        <p:spPr>
          <a:xfrm>
            <a:off x="777240" y="2103120"/>
            <a:ext cx="2110664" cy="77724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Tiền huấn luyện thiên lệch tiếng Anh</a:t>
            </a:r>
            <a:endParaRPr lang="en-US" sz="1500" dirty="0"/>
          </a:p>
        </p:txBody>
      </p:sp>
      <p:sp>
        <p:nvSpPr>
          <p:cNvPr id="8" name="text_37"/>
          <p:cNvSpPr txBox="1"/>
          <p:nvPr/>
        </p:nvSpPr>
        <p:spPr>
          <a:xfrm>
            <a:off x="777240" y="2926080"/>
            <a:ext cx="2110664" cy="1920240"/>
          </a:xfrm>
          <a:prstGeom prst="rect">
            <a:avLst/>
          </a:prstGeom>
          <a:noFill/>
        </p:spPr>
        <p:txBody>
          <a:bodyPr wrap="square" lIns="0" tIns="0" rIns="0" bIns="0" rtlCol="0" anchor="t"/>
          <a:lstStyle/>
          <a:p>
            <a:pPr marL="0" indent="0">
              <a:buNone/>
            </a:pPr>
            <a:r>
              <a:rPr lang="en-US" sz="1450" dirty="0">
                <a:solidFill>
                  <a:schemeClr val="tx1"/>
                </a:solidFill>
                <a:latin typeface="Calibri" panose="020F0502020204030204" pitchFamily="34" charset="0"/>
                <a:ea typeface="Calibri" panose="020F0502020204030204" pitchFamily="34" charset="-122"/>
                <a:cs typeface="Calibri" panose="020F0502020204030204" pitchFamily="34" charset="-120"/>
              </a:rPr>
              <a:t>Alignment của VLM tối ưu cho tiếng Anh; chuyển giao sang tiếng Việt chưa được nghiên cứu kỹ.</a:t>
            </a:r>
            <a:endParaRPr lang="en-US" sz="1450" dirty="0"/>
          </a:p>
        </p:txBody>
      </p:sp>
      <p:sp>
        <p:nvSpPr>
          <p:cNvPr id="9" name="text_38"/>
          <p:cNvSpPr txBox="1"/>
          <p:nvPr/>
        </p:nvSpPr>
        <p:spPr>
          <a:xfrm>
            <a:off x="777240" y="4983480"/>
            <a:ext cx="2110664" cy="457200"/>
          </a:xfrm>
          <a:prstGeom prst="rect">
            <a:avLst/>
          </a:prstGeom>
          <a:noFill/>
        </p:spPr>
        <p:txBody>
          <a:bodyPr wrap="square" lIns="0" tIns="0" rIns="0" bIns="0" rtlCol="0" anchor="b"/>
          <a:lstStyle/>
          <a:p>
            <a:pPr marL="0" indent="0">
              <a:buNone/>
            </a:pPr>
            <a:r>
              <a:rPr lang="en-US" sz="105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LLaVA-1.5 (Liu et al., CVPR 2024)</a:t>
            </a:r>
            <a:endParaRPr lang="en-US" sz="1050" dirty="0"/>
          </a:p>
        </p:txBody>
      </p:sp>
      <p:sp>
        <p:nvSpPr>
          <p:cNvPr id="10" name="card_39"/>
          <p:cNvSpPr/>
          <p:nvPr/>
        </p:nvSpPr>
        <p:spPr>
          <a:xfrm>
            <a:off x="3390824" y="1371600"/>
            <a:ext cx="2567864" cy="4206240"/>
          </a:xfrm>
          <a:prstGeom prst="roundRect">
            <a:avLst>
              <a:gd name="adj" fmla="val 2849"/>
            </a:avLst>
          </a:prstGeom>
          <a:solidFill>
            <a:schemeClr val="bg2"/>
          </a:solidFill>
          <a:ln w="12700">
            <a:solidFill>
              <a:schemeClr val="bg2"/>
            </a:solidFill>
            <a:prstDash val="solid"/>
          </a:ln>
        </p:spPr>
      </p:sp>
      <p:sp>
        <p:nvSpPr>
          <p:cNvPr id="11" name="text_40"/>
          <p:cNvSpPr txBox="1"/>
          <p:nvPr/>
        </p:nvSpPr>
        <p:spPr>
          <a:xfrm>
            <a:off x="3619424" y="1554480"/>
            <a:ext cx="2110664" cy="457200"/>
          </a:xfrm>
          <a:prstGeom prst="rect">
            <a:avLst/>
          </a:prstGeom>
          <a:noFill/>
        </p:spPr>
        <p:txBody>
          <a:bodyPr wrap="square" lIns="0" tIns="0" rIns="0" bIns="0" rtlCol="0" anchor="t"/>
          <a:lstStyle/>
          <a:p>
            <a:pPr marL="0" indent="0">
              <a:buNone/>
            </a:pPr>
            <a:r>
              <a:rPr lang="en-US" sz="2200" b="1" dirty="0">
                <a:solidFill>
                  <a:srgbClr val="1C7293"/>
                </a:solidFill>
                <a:latin typeface="Cambria" panose="02040503050406030204" pitchFamily="34" charset="0"/>
                <a:ea typeface="Cambria" panose="02040503050406030204" pitchFamily="34" charset="-122"/>
                <a:cs typeface="Cambria" panose="02040503050406030204" pitchFamily="34" charset="-120"/>
              </a:rPr>
              <a:t>G2</a:t>
            </a:r>
            <a:endParaRPr lang="en-US" sz="2200" dirty="0"/>
          </a:p>
        </p:txBody>
      </p:sp>
      <p:sp>
        <p:nvSpPr>
          <p:cNvPr id="12" name="text_41"/>
          <p:cNvSpPr txBox="1"/>
          <p:nvPr/>
        </p:nvSpPr>
        <p:spPr>
          <a:xfrm>
            <a:off x="3619424" y="2103120"/>
            <a:ext cx="2110664" cy="77724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VQA tiếng Việt yếu, nhất là scene-text</a:t>
            </a:r>
            <a:endParaRPr lang="en-US" sz="1500" dirty="0"/>
          </a:p>
        </p:txBody>
      </p:sp>
      <p:sp>
        <p:nvSpPr>
          <p:cNvPr id="13" name="text_42"/>
          <p:cNvSpPr txBox="1"/>
          <p:nvPr/>
        </p:nvSpPr>
        <p:spPr>
          <a:xfrm>
            <a:off x="3619424" y="2926080"/>
            <a:ext cx="2110664" cy="1920240"/>
          </a:xfrm>
          <a:prstGeom prst="rect">
            <a:avLst/>
          </a:prstGeom>
          <a:noFill/>
        </p:spPr>
        <p:txBody>
          <a:bodyPr wrap="square" lIns="0" tIns="0" rIns="0" bIns="0" rtlCol="0" anchor="t"/>
          <a:lstStyle/>
          <a:p>
            <a:pPr marL="0" indent="0">
              <a:buNone/>
            </a:pPr>
            <a:r>
              <a:rPr lang="en-US" sz="1450" dirty="0">
                <a:solidFill>
                  <a:schemeClr val="tx1"/>
                </a:solidFill>
                <a:latin typeface="Calibri" panose="020F0502020204030204" pitchFamily="34" charset="0"/>
                <a:ea typeface="Calibri" panose="020F0502020204030204" pitchFamily="34" charset="-122"/>
                <a:cs typeface="Calibri" panose="020F0502020204030204" pitchFamily="34" charset="-120"/>
              </a:rPr>
              <a:t>EM công bố cao nhất trên ViTextVQA là 25,48 so với 88,00 của con người; OCR, dấu thanh, code-switching còn mở.</a:t>
            </a:r>
            <a:endParaRPr lang="en-US" sz="1450" dirty="0"/>
          </a:p>
        </p:txBody>
      </p:sp>
      <p:sp>
        <p:nvSpPr>
          <p:cNvPr id="14" name="text_43"/>
          <p:cNvSpPr txBox="1"/>
          <p:nvPr/>
        </p:nvSpPr>
        <p:spPr>
          <a:xfrm>
            <a:off x="3619424" y="4983480"/>
            <a:ext cx="2110664" cy="457200"/>
          </a:xfrm>
          <a:prstGeom prst="rect">
            <a:avLst/>
          </a:prstGeom>
          <a:noFill/>
        </p:spPr>
        <p:txBody>
          <a:bodyPr wrap="square" lIns="0" tIns="0" rIns="0" bIns="0" rtlCol="0" anchor="b"/>
          <a:lstStyle/>
          <a:p>
            <a:pPr marL="0" indent="0">
              <a:buNone/>
            </a:pPr>
            <a:r>
              <a:rPr lang="en-US" sz="105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ViTextVQA (Nguyen et al., 2024)</a:t>
            </a:r>
            <a:endParaRPr lang="en-US" sz="1050" dirty="0"/>
          </a:p>
        </p:txBody>
      </p:sp>
      <p:sp>
        <p:nvSpPr>
          <p:cNvPr id="15" name="card_44"/>
          <p:cNvSpPr/>
          <p:nvPr/>
        </p:nvSpPr>
        <p:spPr>
          <a:xfrm>
            <a:off x="6233008" y="1371600"/>
            <a:ext cx="2567864" cy="4206240"/>
          </a:xfrm>
          <a:prstGeom prst="roundRect">
            <a:avLst>
              <a:gd name="adj" fmla="val 2849"/>
            </a:avLst>
          </a:prstGeom>
          <a:solidFill>
            <a:schemeClr val="accent5"/>
          </a:solidFill>
          <a:ln w="12700">
            <a:solidFill>
              <a:schemeClr val="accent5"/>
            </a:solidFill>
            <a:prstDash val="solid"/>
          </a:ln>
        </p:spPr>
      </p:sp>
      <p:sp>
        <p:nvSpPr>
          <p:cNvPr id="16" name="text_45"/>
          <p:cNvSpPr txBox="1"/>
          <p:nvPr/>
        </p:nvSpPr>
        <p:spPr>
          <a:xfrm>
            <a:off x="6461608" y="1554480"/>
            <a:ext cx="2110664" cy="457200"/>
          </a:xfrm>
          <a:prstGeom prst="rect">
            <a:avLst/>
          </a:prstGeom>
          <a:noFill/>
        </p:spPr>
        <p:txBody>
          <a:bodyPr wrap="square" lIns="0" tIns="0" rIns="0" bIns="0" rtlCol="0" anchor="t"/>
          <a:lstStyle/>
          <a:p>
            <a:pPr marL="0" indent="0">
              <a:buNone/>
            </a:pPr>
            <a:r>
              <a:rPr lang="en-US" sz="2200" b="1" dirty="0">
                <a:solidFill>
                  <a:srgbClr val="E8A33D"/>
                </a:solidFill>
                <a:latin typeface="Cambria" panose="02040503050406030204" pitchFamily="34" charset="0"/>
                <a:ea typeface="Cambria" panose="02040503050406030204" pitchFamily="34" charset="-122"/>
                <a:cs typeface="Cambria" panose="02040503050406030204" pitchFamily="34" charset="-120"/>
              </a:rPr>
              <a:t>G3  · TRỌNG TÂM</a:t>
            </a:r>
            <a:endParaRPr lang="en-US" sz="2200" dirty="0"/>
          </a:p>
        </p:txBody>
      </p:sp>
      <p:sp>
        <p:nvSpPr>
          <p:cNvPr id="17" name="text_46"/>
          <p:cNvSpPr txBox="1"/>
          <p:nvPr/>
        </p:nvSpPr>
        <p:spPr>
          <a:xfrm>
            <a:off x="6461608" y="2103120"/>
            <a:ext cx="2110664" cy="77724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PEFT cho VLM tiếng Việt chưa được khai thác</a:t>
            </a:r>
            <a:endParaRPr lang="en-US" sz="1500" dirty="0"/>
          </a:p>
        </p:txBody>
      </p:sp>
      <p:sp>
        <p:nvSpPr>
          <p:cNvPr id="18" name="text_47"/>
          <p:cNvSpPr txBox="1"/>
          <p:nvPr/>
        </p:nvSpPr>
        <p:spPr>
          <a:xfrm>
            <a:off x="6461608" y="2926080"/>
            <a:ext cx="2110664" cy="1920240"/>
          </a:xfrm>
          <a:prstGeom prst="rect">
            <a:avLst/>
          </a:prstGeom>
          <a:noFill/>
        </p:spPr>
        <p:txBody>
          <a:bodyPr wrap="square" lIns="0" tIns="0" rIns="0" bIns="0" rtlCol="0" anchor="t"/>
          <a:lstStyle/>
          <a:p>
            <a:pPr marL="0" indent="0">
              <a:buNone/>
            </a:pPr>
            <a:r>
              <a:rPr lang="en-US" sz="1450" dirty="0">
                <a:solidFill>
                  <a:schemeClr val="tx1"/>
                </a:solidFill>
                <a:latin typeface="Calibri" panose="020F0502020204030204" pitchFamily="34" charset="0"/>
                <a:ea typeface="Calibri" panose="020F0502020204030204" pitchFamily="34" charset="-122"/>
                <a:cs typeface="Calibri" panose="020F0502020204030204" pitchFamily="34" charset="-120"/>
              </a:rPr>
              <a:t>Chưa có nghiên cứu hệ thống áp dụng LoRA/QLoRA cho VLM trên VQA tiếng Việt — ba paper VQA tiếng Việt nhóm khảo sát đều không dùng PEFT.</a:t>
            </a:r>
            <a:endParaRPr lang="en-US" sz="1450" dirty="0"/>
          </a:p>
        </p:txBody>
      </p:sp>
      <p:sp>
        <p:nvSpPr>
          <p:cNvPr id="19" name="text_48"/>
          <p:cNvSpPr txBox="1"/>
          <p:nvPr/>
        </p:nvSpPr>
        <p:spPr>
          <a:xfrm>
            <a:off x="6461608" y="4983480"/>
            <a:ext cx="2110664" cy="457200"/>
          </a:xfrm>
          <a:prstGeom prst="rect">
            <a:avLst/>
          </a:prstGeom>
          <a:noFill/>
        </p:spPr>
        <p:txBody>
          <a:bodyPr wrap="square" lIns="0" tIns="0" rIns="0" bIns="0" rtlCol="0" anchor="b"/>
          <a:lstStyle/>
          <a:p>
            <a:pPr marL="0" indent="0">
              <a:buNone/>
            </a:pPr>
            <a:r>
              <a:rPr lang="en-US" sz="105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Literature Matrix (W2)</a:t>
            </a:r>
            <a:endParaRPr lang="en-US" sz="1050" dirty="0"/>
          </a:p>
        </p:txBody>
      </p:sp>
      <p:sp>
        <p:nvSpPr>
          <p:cNvPr id="20" name="card_49"/>
          <p:cNvSpPr/>
          <p:nvPr/>
        </p:nvSpPr>
        <p:spPr>
          <a:xfrm>
            <a:off x="9075191" y="1371600"/>
            <a:ext cx="2567864" cy="4206240"/>
          </a:xfrm>
          <a:prstGeom prst="roundRect">
            <a:avLst>
              <a:gd name="adj" fmla="val 2849"/>
            </a:avLst>
          </a:prstGeom>
          <a:solidFill>
            <a:schemeClr val="bg2"/>
          </a:solidFill>
          <a:ln w="12700">
            <a:solidFill>
              <a:schemeClr val="bg2"/>
            </a:solidFill>
            <a:prstDash val="solid"/>
          </a:ln>
        </p:spPr>
      </p:sp>
      <p:sp>
        <p:nvSpPr>
          <p:cNvPr id="21" name="text_50"/>
          <p:cNvSpPr txBox="1"/>
          <p:nvPr/>
        </p:nvSpPr>
        <p:spPr>
          <a:xfrm>
            <a:off x="9303791" y="1554480"/>
            <a:ext cx="2110664" cy="457200"/>
          </a:xfrm>
          <a:prstGeom prst="rect">
            <a:avLst/>
          </a:prstGeom>
          <a:noFill/>
        </p:spPr>
        <p:txBody>
          <a:bodyPr wrap="square" lIns="0" tIns="0" rIns="0" bIns="0" rtlCol="0" anchor="t"/>
          <a:lstStyle/>
          <a:p>
            <a:pPr marL="0" indent="0">
              <a:buNone/>
            </a:pPr>
            <a:r>
              <a:rPr lang="en-US" sz="2200" b="1" dirty="0">
                <a:solidFill>
                  <a:srgbClr val="1C7293"/>
                </a:solidFill>
                <a:latin typeface="Cambria" panose="02040503050406030204" pitchFamily="34" charset="0"/>
                <a:ea typeface="Cambria" panose="02040503050406030204" pitchFamily="34" charset="-122"/>
                <a:cs typeface="Cambria" panose="02040503050406030204" pitchFamily="34" charset="-120"/>
              </a:rPr>
              <a:t>G4</a:t>
            </a:r>
            <a:endParaRPr lang="en-US" sz="2200" dirty="0"/>
          </a:p>
        </p:txBody>
      </p:sp>
      <p:sp>
        <p:nvSpPr>
          <p:cNvPr id="22" name="text_51"/>
          <p:cNvSpPr txBox="1"/>
          <p:nvPr/>
        </p:nvSpPr>
        <p:spPr>
          <a:xfrm>
            <a:off x="9303791" y="2103120"/>
            <a:ext cx="2110664" cy="77724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Chưa đo hallucination cho tiếng Việt</a:t>
            </a:r>
            <a:endParaRPr lang="en-US" sz="1500" dirty="0"/>
          </a:p>
        </p:txBody>
      </p:sp>
      <p:sp>
        <p:nvSpPr>
          <p:cNvPr id="23" name="text_52"/>
          <p:cNvSpPr txBox="1"/>
          <p:nvPr/>
        </p:nvSpPr>
        <p:spPr>
          <a:xfrm>
            <a:off x="9303791" y="2926080"/>
            <a:ext cx="2110664" cy="1920240"/>
          </a:xfrm>
          <a:prstGeom prst="rect">
            <a:avLst/>
          </a:prstGeom>
          <a:noFill/>
        </p:spPr>
        <p:txBody>
          <a:bodyPr wrap="square" lIns="0" tIns="0" rIns="0" bIns="0" rtlCol="0" anchor="t"/>
          <a:lstStyle/>
          <a:p>
            <a:pPr marL="0" indent="0">
              <a:buNone/>
            </a:pPr>
            <a:r>
              <a:rPr lang="en-US" sz="1450" dirty="0">
                <a:solidFill>
                  <a:schemeClr val="tx1"/>
                </a:solidFill>
                <a:latin typeface="Calibri" panose="020F0502020204030204" pitchFamily="34" charset="0"/>
                <a:ea typeface="Calibri" panose="020F0502020204030204" pitchFamily="34" charset="-122"/>
                <a:cs typeface="Calibri" panose="020F0502020204030204" pitchFamily="34" charset="-120"/>
              </a:rPr>
              <a:t>Chưa có benchmark hallucination kiểu POPE nào được đánh giá trên dữ liệu VQA tiếng Việt.</a:t>
            </a:r>
            <a:endParaRPr lang="en-US" sz="1450" dirty="0"/>
          </a:p>
        </p:txBody>
      </p:sp>
      <p:sp>
        <p:nvSpPr>
          <p:cNvPr id="24" name="text_53"/>
          <p:cNvSpPr txBox="1"/>
          <p:nvPr/>
        </p:nvSpPr>
        <p:spPr>
          <a:xfrm>
            <a:off x="9303791" y="4983480"/>
            <a:ext cx="2110664" cy="457200"/>
          </a:xfrm>
          <a:prstGeom prst="rect">
            <a:avLst/>
          </a:prstGeom>
          <a:noFill/>
        </p:spPr>
        <p:txBody>
          <a:bodyPr wrap="square" lIns="0" tIns="0" rIns="0" bIns="0" rtlCol="0" anchor="b"/>
          <a:lstStyle/>
          <a:p>
            <a:pPr marL="0" indent="0">
              <a:buNone/>
            </a:pPr>
            <a:r>
              <a:rPr lang="en-US" sz="105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POPE (Li et al., EMNLP 2023)</a:t>
            </a:r>
            <a:endParaRPr lang="en-US" sz="1050" dirty="0"/>
          </a:p>
        </p:txBody>
      </p:sp>
      <p:sp>
        <p:nvSpPr>
          <p:cNvPr id="25" name="text_54"/>
          <p:cNvSpPr txBox="1"/>
          <p:nvPr/>
        </p:nvSpPr>
        <p:spPr>
          <a:xfrm>
            <a:off x="548640" y="5760720"/>
            <a:ext cx="11094415" cy="502920"/>
          </a:xfrm>
          <a:prstGeom prst="rect">
            <a:avLst/>
          </a:prstGeom>
          <a:noFill/>
        </p:spPr>
        <p:txBody>
          <a:bodyPr wrap="square" lIns="0" tIns="0" rIns="0" bIns="0" rtlCol="0" anchor="t"/>
          <a:lstStyle/>
          <a:p>
            <a:pPr marL="0" indent="0">
              <a:buNone/>
            </a:pPr>
            <a:r>
              <a:rPr lang="en-US" sz="1300" dirty="0">
                <a:solidFill>
                  <a:schemeClr val="accent1"/>
                </a:solidFill>
                <a:latin typeface="Calibri" panose="020F0502020204030204" pitchFamily="34" charset="0"/>
                <a:ea typeface="Calibri" panose="020F0502020204030204" pitchFamily="34" charset="-122"/>
                <a:cs typeface="Calibri" panose="020F0502020204030204" pitchFamily="34" charset="-120"/>
              </a:rPr>
              <a:t>Cách bộ slide trả lời: G2 → QLoRA nhận biết OCR trên ViTextVQA (Phần B · 06) · G3 → QLoRA trên Qwen2.5-VL-3B (Phần B · 05) · G4 → duyệt hallucination và H4 (Phần B · 05, 07).</a:t>
            </a:r>
            <a:endParaRPr lang="en-US" sz="13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03 · CÔNG TRÌNH TRƯỚC</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Công trình trước và baseline tham chiếu</a:t>
            </a:r>
            <a:endParaRPr lang="en-US" sz="3200" dirty="0"/>
          </a:p>
        </p:txBody>
      </p:sp>
      <p:graphicFrame>
        <p:nvGraphicFramePr>
          <p:cNvPr id="8" name="table_55"/>
          <p:cNvGraphicFramePr>
            <a:graphicFrameLocks noGrp="1"/>
          </p:cNvGraphicFramePr>
          <p:nvPr/>
        </p:nvGraphicFramePr>
        <p:xfrm>
          <a:off x="548640" y="1325880"/>
          <a:ext cx="11094415" cy="2304288"/>
        </p:xfrm>
        <a:graphic>
          <a:graphicData uri="http://schemas.openxmlformats.org/drawingml/2006/table">
            <a:tbl>
              <a:tblPr/>
              <a:tblGrid>
                <a:gridCol w="3291840"/>
                <a:gridCol w="4690872"/>
                <a:gridCol w="1463040"/>
                <a:gridCol w="822960"/>
                <a:gridCol w="822960"/>
              </a:tblGrid>
              <a:tr h="38404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ViTextVQA test · công trình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Hướng tiếp cận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Tham số 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BLIP-2 large (Li và cs., ICML 2023)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Encoder ảnh + LM đóng băng, train Q-Former; OCR SwinTextSpotter, LM ViT5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 8% / 1,4B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38,47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15,58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PreSTU large (Kil và cs., ICCV 2023)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T5 pretrain cho scene-text, OCR theo bố cục</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 100% / 860M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44,93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22,64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ViTextBLIP-2 (Nguyen và cs., 2024) — SOTA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BLIP-2 + OCR + caption, chỉ train Q-Former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 5% / 2,5B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b="1" dirty="0">
                          <a:solidFill>
                            <a:srgbClr val="243044"/>
                          </a:solidFill>
                          <a:latin typeface="Calibri" panose="020F0502020204030204" pitchFamily="34" charset="0"/>
                          <a:ea typeface="Calibri" panose="020F0502020204030204" pitchFamily="34" charset="-122"/>
                          <a:cs typeface="Calibri" panose="020F0502020204030204" pitchFamily="34" charset="-120"/>
                        </a:rPr>
                        <a:t>53,95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b="1" dirty="0">
                          <a:solidFill>
                            <a:srgbClr val="243044"/>
                          </a:solidFill>
                          <a:latin typeface="Calibri" panose="020F0502020204030204" pitchFamily="34" charset="0"/>
                          <a:ea typeface="Calibri" panose="020F0502020204030204" pitchFamily="34" charset="-122"/>
                          <a:cs typeface="Calibri" panose="020F0502020204030204" pitchFamily="34" charset="-120"/>
                        </a:rPr>
                        <a:t>25,48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QwenVL-7B zero-shot (cùng paper)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VLM đa ngôn ngữ, không train; 100 câu ngẫu nhiên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53,80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28,00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Con người (cùng paper)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96,42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88,00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graphicFrame>
        <p:nvGraphicFramePr>
          <p:cNvPr id="15" name="table_56"/>
          <p:cNvGraphicFramePr>
            <a:graphicFrameLocks noGrp="1"/>
          </p:cNvGraphicFramePr>
          <p:nvPr/>
        </p:nvGraphicFramePr>
        <p:xfrm>
          <a:off x="548640" y="3886200"/>
          <a:ext cx="11094415" cy="1152144"/>
        </p:xfrm>
        <a:graphic>
          <a:graphicData uri="http://schemas.openxmlformats.org/drawingml/2006/table">
            <a:tbl>
              <a:tblPr/>
              <a:tblGrid>
                <a:gridCol w="4206240"/>
                <a:gridCol w="4572000"/>
                <a:gridCol w="2313432"/>
              </a:tblGrid>
              <a:tr h="38404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ViVQA test · công trình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Hướng tiếp cận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Kết quả</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AViVQA-TranConI (Nguyen và cs., Comput. Electr. Eng. 2024)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BLIP-2 đóng băng + EfficientNet, chọn đáp án từ tập nhãn cố định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Accuracy 71,04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Multi-Vision Contextual Attention cải tiến (Bui và cs., 2025)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Attention trên nhiều đặc trưng thị giác</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Accuracy 62,41 (gốc 60)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57"/>
          <p:cNvSpPr/>
          <p:nvPr/>
        </p:nvSpPr>
        <p:spPr>
          <a:xfrm>
            <a:off x="548640" y="5166360"/>
            <a:ext cx="11094415" cy="1097280"/>
          </a:xfrm>
          <a:prstGeom prst="roundRect">
            <a:avLst>
              <a:gd name="adj" fmla="val 6667"/>
            </a:avLst>
          </a:prstGeom>
          <a:solidFill>
            <a:schemeClr val="accent5"/>
          </a:solidFill>
          <a:ln w="12700">
            <a:solidFill>
              <a:schemeClr val="accent5"/>
            </a:solidFill>
            <a:prstDash val="solid"/>
          </a:ln>
        </p:spPr>
      </p:sp>
      <p:sp>
        <p:nvSpPr>
          <p:cNvPr id="4" name="text_58"/>
          <p:cNvSpPr txBox="1"/>
          <p:nvPr/>
        </p:nvSpPr>
        <p:spPr>
          <a:xfrm>
            <a:off x="822960" y="5166360"/>
            <a:ext cx="10545775" cy="1097280"/>
          </a:xfrm>
          <a:prstGeom prst="rect">
            <a:avLst/>
          </a:prstGeom>
          <a:noFill/>
        </p:spPr>
        <p:txBody>
          <a:bodyPr wrap="square" lIns="0" tIns="0" rIns="0" bIns="0" rtlCol="0" anchor="ctr"/>
          <a:lstStyle/>
          <a:p>
            <a:pPr marL="0" indent="0">
              <a:buNone/>
            </a:pPr>
            <a:r>
              <a:rPr lang="en-US" sz="1300" b="1" dirty="0">
                <a:solidFill>
                  <a:srgbClr val="13294B"/>
                </a:solidFill>
                <a:latin typeface="Calibri" panose="020F0502020204030204" pitchFamily="34" charset="0"/>
                <a:ea typeface="Calibri" panose="020F0502020204030204" pitchFamily="34" charset="-122"/>
                <a:cs typeface="Calibri" panose="020F0502020204030204" pitchFamily="34" charset="-120"/>
              </a:rPr>
              <a:t>Lưu ý  </a:t>
            </a: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Các số này dùng metric và thiết lập khác (F1 theo token; accuracy phân loại trên tập nhãn cố định) — chỉ để định vị, không so trực tiếp. Baseline nhóm tái lập và cải tiến là Qwen2.5-VL-3B (Phần B). Bài học giữ lại: ViTextBLIP-2 hiệu quả tham số vẫn thắng full fine-tuning → ủng hộ QLoRA.</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04 · CÂU HỎI NGHIÊN CỨU</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Bốn câu hỏi nghiên cứu — RQ2 là trung tâm</a:t>
            </a:r>
            <a:endParaRPr lang="en-US" sz="3200" dirty="0"/>
          </a:p>
        </p:txBody>
      </p:sp>
      <p:sp>
        <p:nvSpPr>
          <p:cNvPr id="5" name="card_59"/>
          <p:cNvSpPr/>
          <p:nvPr/>
        </p:nvSpPr>
        <p:spPr>
          <a:xfrm>
            <a:off x="548640" y="1371600"/>
            <a:ext cx="5364328" cy="2194560"/>
          </a:xfrm>
          <a:prstGeom prst="roundRect">
            <a:avLst>
              <a:gd name="adj" fmla="val 3333"/>
            </a:avLst>
          </a:prstGeom>
          <a:solidFill>
            <a:schemeClr val="bg2"/>
          </a:solidFill>
          <a:ln w="12700">
            <a:solidFill>
              <a:schemeClr val="bg2"/>
            </a:solidFill>
            <a:prstDash val="solid"/>
          </a:ln>
        </p:spPr>
      </p:sp>
      <p:sp>
        <p:nvSpPr>
          <p:cNvPr id="6" name="text_60"/>
          <p:cNvSpPr txBox="1"/>
          <p:nvPr/>
        </p:nvSpPr>
        <p:spPr>
          <a:xfrm>
            <a:off x="822960" y="1554480"/>
            <a:ext cx="1188720" cy="502920"/>
          </a:xfrm>
          <a:prstGeom prst="rect">
            <a:avLst/>
          </a:prstGeom>
          <a:noFill/>
        </p:spPr>
        <p:txBody>
          <a:bodyPr wrap="square" lIns="0" tIns="0" rIns="0" bIns="0" rtlCol="0" anchor="t"/>
          <a:lstStyle/>
          <a:p>
            <a:pPr marL="0" indent="0">
              <a:buNone/>
            </a:pPr>
            <a:r>
              <a:rPr lang="en-US" sz="2600" b="1" dirty="0">
                <a:solidFill>
                  <a:srgbClr val="1C7293"/>
                </a:solidFill>
                <a:latin typeface="Cambria" panose="02040503050406030204" pitchFamily="34" charset="0"/>
                <a:ea typeface="Cambria" panose="02040503050406030204" pitchFamily="34" charset="-122"/>
                <a:cs typeface="Cambria" panose="02040503050406030204" pitchFamily="34" charset="-120"/>
              </a:rPr>
              <a:t>RQ1</a:t>
            </a:r>
            <a:endParaRPr lang="en-US" sz="2600" dirty="0"/>
          </a:p>
        </p:txBody>
      </p:sp>
      <p:sp>
        <p:nvSpPr>
          <p:cNvPr id="7" name="text_61"/>
          <p:cNvSpPr txBox="1"/>
          <p:nvPr/>
        </p:nvSpPr>
        <p:spPr>
          <a:xfrm>
            <a:off x="2011680" y="1600200"/>
            <a:ext cx="3626968" cy="457200"/>
          </a:xfrm>
          <a:prstGeom prst="rect">
            <a:avLst/>
          </a:prstGeom>
          <a:noFill/>
        </p:spPr>
        <p:txBody>
          <a:bodyPr wrap="square" lIns="0" tIns="0" rIns="0" bIns="0" rtlCol="0" anchor="ctr"/>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Zero-shot &amp; prompting</a:t>
            </a:r>
            <a:endParaRPr lang="en-US" sz="1600" dirty="0"/>
          </a:p>
        </p:txBody>
      </p:sp>
      <p:sp>
        <p:nvSpPr>
          <p:cNvPr id="8" name="text_62"/>
          <p:cNvSpPr txBox="1"/>
          <p:nvPr/>
        </p:nvSpPr>
        <p:spPr>
          <a:xfrm>
            <a:off x="822960" y="2194560"/>
            <a:ext cx="4815688" cy="91440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VLM đạt bao nhiêu khi zero-shot trên ViVQA / ViTextVQA, lỗi tiếng Việt nào (V1–V3) chiếm ưu thế, prompt tiếng Việt giúp được đến đâu?</a:t>
            </a:r>
            <a:endParaRPr lang="en-US" sz="1400" dirty="0"/>
          </a:p>
        </p:txBody>
      </p:sp>
      <p:sp>
        <p:nvSpPr>
          <p:cNvPr id="9" name="text_63"/>
          <p:cNvSpPr txBox="1"/>
          <p:nvPr/>
        </p:nvSpPr>
        <p:spPr>
          <a:xfrm>
            <a:off x="822960" y="3108960"/>
            <a:ext cx="4815688" cy="320040"/>
          </a:xfrm>
          <a:prstGeom prst="rect">
            <a:avLst/>
          </a:prstGeom>
          <a:noFill/>
        </p:spPr>
        <p:txBody>
          <a:bodyPr wrap="square" lIns="0" tIns="0" rIns="0" bIns="0" rtlCol="0" anchor="t"/>
          <a:lstStyle/>
          <a:p>
            <a:pPr marL="0" indent="0">
              <a:buNone/>
            </a:pPr>
            <a:r>
              <a:rPr lang="en-US" sz="12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Đo bằng: EM · VQA-Acc · ANLS</a:t>
            </a:r>
            <a:endParaRPr lang="en-US" sz="1200" dirty="0"/>
          </a:p>
        </p:txBody>
      </p:sp>
      <p:sp>
        <p:nvSpPr>
          <p:cNvPr id="10" name="card_64"/>
          <p:cNvSpPr/>
          <p:nvPr/>
        </p:nvSpPr>
        <p:spPr>
          <a:xfrm>
            <a:off x="6278728" y="1371600"/>
            <a:ext cx="5364328" cy="2194560"/>
          </a:xfrm>
          <a:prstGeom prst="roundRect">
            <a:avLst>
              <a:gd name="adj" fmla="val 3333"/>
            </a:avLst>
          </a:prstGeom>
          <a:solidFill>
            <a:schemeClr val="accent5"/>
          </a:solidFill>
          <a:ln w="12700">
            <a:solidFill>
              <a:schemeClr val="accent5"/>
            </a:solidFill>
            <a:prstDash val="solid"/>
          </a:ln>
        </p:spPr>
      </p:sp>
      <p:sp>
        <p:nvSpPr>
          <p:cNvPr id="11" name="text_65"/>
          <p:cNvSpPr txBox="1"/>
          <p:nvPr/>
        </p:nvSpPr>
        <p:spPr>
          <a:xfrm>
            <a:off x="6553048" y="1554480"/>
            <a:ext cx="1188720" cy="502920"/>
          </a:xfrm>
          <a:prstGeom prst="rect">
            <a:avLst/>
          </a:prstGeom>
          <a:noFill/>
        </p:spPr>
        <p:txBody>
          <a:bodyPr wrap="square" lIns="0" tIns="0" rIns="0" bIns="0" rtlCol="0" anchor="t"/>
          <a:lstStyle/>
          <a:p>
            <a:pPr marL="0" indent="0">
              <a:buNone/>
            </a:pPr>
            <a:r>
              <a:rPr lang="en-US" sz="2600" b="1" dirty="0">
                <a:solidFill>
                  <a:srgbClr val="E8A33D"/>
                </a:solidFill>
                <a:latin typeface="Cambria" panose="02040503050406030204" pitchFamily="34" charset="0"/>
                <a:ea typeface="Cambria" panose="02040503050406030204" pitchFamily="34" charset="-122"/>
                <a:cs typeface="Cambria" panose="02040503050406030204" pitchFamily="34" charset="-120"/>
              </a:rPr>
              <a:t>RQ2</a:t>
            </a:r>
            <a:endParaRPr lang="en-US" sz="2600" dirty="0"/>
          </a:p>
        </p:txBody>
      </p:sp>
      <p:sp>
        <p:nvSpPr>
          <p:cNvPr id="12" name="text_66"/>
          <p:cNvSpPr txBox="1"/>
          <p:nvPr/>
        </p:nvSpPr>
        <p:spPr>
          <a:xfrm>
            <a:off x="7741768" y="1600200"/>
            <a:ext cx="3626968" cy="457200"/>
          </a:xfrm>
          <a:prstGeom prst="rect">
            <a:avLst/>
          </a:prstGeom>
          <a:noFill/>
        </p:spPr>
        <p:txBody>
          <a:bodyPr wrap="square" lIns="0" tIns="0" rIns="0" bIns="0" rtlCol="0" anchor="ctr"/>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PEFT (QLoRA) so với zero-shot — trung tâm</a:t>
            </a:r>
            <a:endParaRPr lang="en-US" sz="1600" dirty="0"/>
          </a:p>
        </p:txBody>
      </p:sp>
      <p:sp>
        <p:nvSpPr>
          <p:cNvPr id="13" name="text_67"/>
          <p:cNvSpPr txBox="1"/>
          <p:nvPr/>
        </p:nvSpPr>
        <p:spPr>
          <a:xfrm>
            <a:off x="6553048" y="2194560"/>
            <a:ext cx="4815688" cy="91440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QLoRA cải thiện bao nhiêu so với zero-shot / prompting, không full fine-tuning?</a:t>
            </a:r>
            <a:endParaRPr lang="en-US" sz="1400" dirty="0"/>
          </a:p>
        </p:txBody>
      </p:sp>
      <p:sp>
        <p:nvSpPr>
          <p:cNvPr id="14" name="text_68"/>
          <p:cNvSpPr txBox="1"/>
          <p:nvPr/>
        </p:nvSpPr>
        <p:spPr>
          <a:xfrm>
            <a:off x="6553048" y="3108960"/>
            <a:ext cx="4815688" cy="320040"/>
          </a:xfrm>
          <a:prstGeom prst="rect">
            <a:avLst/>
          </a:prstGeom>
          <a:noFill/>
        </p:spPr>
        <p:txBody>
          <a:bodyPr wrap="square" lIns="0" tIns="0" rIns="0" bIns="0" rtlCol="0" anchor="t"/>
          <a:lstStyle/>
          <a:p>
            <a:pPr marL="0" indent="0">
              <a:buNone/>
            </a:pPr>
            <a:r>
              <a:rPr lang="en-US" sz="12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Đo bằng: EM · VQA-Acc · ANLS</a:t>
            </a:r>
            <a:endParaRPr lang="en-US" sz="1200" dirty="0"/>
          </a:p>
        </p:txBody>
      </p:sp>
      <p:sp>
        <p:nvSpPr>
          <p:cNvPr id="15" name="card_69"/>
          <p:cNvSpPr/>
          <p:nvPr/>
        </p:nvSpPr>
        <p:spPr>
          <a:xfrm>
            <a:off x="548640" y="3840480"/>
            <a:ext cx="5364328" cy="2194560"/>
          </a:xfrm>
          <a:prstGeom prst="roundRect">
            <a:avLst>
              <a:gd name="adj" fmla="val 3333"/>
            </a:avLst>
          </a:prstGeom>
          <a:solidFill>
            <a:schemeClr val="bg2"/>
          </a:solidFill>
          <a:ln w="12700">
            <a:solidFill>
              <a:schemeClr val="bg2"/>
            </a:solidFill>
            <a:prstDash val="solid"/>
          </a:ln>
        </p:spPr>
      </p:sp>
      <p:sp>
        <p:nvSpPr>
          <p:cNvPr id="16" name="text_70"/>
          <p:cNvSpPr txBox="1"/>
          <p:nvPr/>
        </p:nvSpPr>
        <p:spPr>
          <a:xfrm>
            <a:off x="822960" y="4023360"/>
            <a:ext cx="1188720" cy="502920"/>
          </a:xfrm>
          <a:prstGeom prst="rect">
            <a:avLst/>
          </a:prstGeom>
          <a:noFill/>
        </p:spPr>
        <p:txBody>
          <a:bodyPr wrap="square" lIns="0" tIns="0" rIns="0" bIns="0" rtlCol="0" anchor="t"/>
          <a:lstStyle/>
          <a:p>
            <a:pPr marL="0" indent="0">
              <a:buNone/>
            </a:pPr>
            <a:r>
              <a:rPr lang="en-US" sz="2600" b="1" dirty="0">
                <a:solidFill>
                  <a:srgbClr val="1C7293"/>
                </a:solidFill>
                <a:latin typeface="Cambria" panose="02040503050406030204" pitchFamily="34" charset="0"/>
                <a:ea typeface="Cambria" panose="02040503050406030204" pitchFamily="34" charset="-122"/>
                <a:cs typeface="Cambria" panose="02040503050406030204" pitchFamily="34" charset="-120"/>
              </a:rPr>
              <a:t>RQ3</a:t>
            </a:r>
            <a:endParaRPr lang="en-US" sz="2600" dirty="0"/>
          </a:p>
        </p:txBody>
      </p:sp>
      <p:sp>
        <p:nvSpPr>
          <p:cNvPr id="17" name="text_71"/>
          <p:cNvSpPr txBox="1"/>
          <p:nvPr/>
        </p:nvSpPr>
        <p:spPr>
          <a:xfrm>
            <a:off x="2011680" y="4069080"/>
            <a:ext cx="3626968" cy="457200"/>
          </a:xfrm>
          <a:prstGeom prst="rect">
            <a:avLst/>
          </a:prstGeom>
          <a:noFill/>
        </p:spPr>
        <p:txBody>
          <a:bodyPr wrap="square" lIns="0" tIns="0" rIns="0" bIns="0" rtlCol="0" anchor="ctr"/>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OCR tiếng Việt × QLoRA trên ViTextVQA</a:t>
            </a:r>
            <a:endParaRPr lang="en-US" sz="1600" dirty="0"/>
          </a:p>
        </p:txBody>
      </p:sp>
      <p:sp>
        <p:nvSpPr>
          <p:cNvPr id="18" name="text_72"/>
          <p:cNvSpPr txBox="1"/>
          <p:nvPr/>
        </p:nvSpPr>
        <p:spPr>
          <a:xfrm>
            <a:off x="822960" y="4663440"/>
            <a:ext cx="4815688" cy="91440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Chữ OCR có dấu, sắp trái-trên → phải-dưới, có giúp đọc chữ trong ảnh không, và có cộng hưởng với QLoRA không?</a:t>
            </a:r>
            <a:endParaRPr lang="en-US" sz="1400" dirty="0"/>
          </a:p>
        </p:txBody>
      </p:sp>
      <p:sp>
        <p:nvSpPr>
          <p:cNvPr id="19" name="text_73"/>
          <p:cNvSpPr txBox="1"/>
          <p:nvPr/>
        </p:nvSpPr>
        <p:spPr>
          <a:xfrm>
            <a:off x="822960" y="5577840"/>
            <a:ext cx="4815688" cy="320040"/>
          </a:xfrm>
          <a:prstGeom prst="rect">
            <a:avLst/>
          </a:prstGeom>
          <a:noFill/>
        </p:spPr>
        <p:txBody>
          <a:bodyPr wrap="square" lIns="0" tIns="0" rIns="0" bIns="0" rtlCol="0" anchor="t"/>
          <a:lstStyle/>
          <a:p>
            <a:pPr marL="0" indent="0">
              <a:buNone/>
            </a:pPr>
            <a:r>
              <a:rPr lang="en-US" sz="12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Đo bằng: ANLS · EM</a:t>
            </a:r>
            <a:endParaRPr lang="en-US" sz="1200" dirty="0"/>
          </a:p>
        </p:txBody>
      </p:sp>
      <p:sp>
        <p:nvSpPr>
          <p:cNvPr id="20" name="card_74"/>
          <p:cNvSpPr/>
          <p:nvPr/>
        </p:nvSpPr>
        <p:spPr>
          <a:xfrm>
            <a:off x="6278728" y="3840480"/>
            <a:ext cx="5364328" cy="2194560"/>
          </a:xfrm>
          <a:prstGeom prst="roundRect">
            <a:avLst>
              <a:gd name="adj" fmla="val 3333"/>
            </a:avLst>
          </a:prstGeom>
          <a:solidFill>
            <a:schemeClr val="bg2"/>
          </a:solidFill>
          <a:ln w="12700">
            <a:solidFill>
              <a:schemeClr val="bg2"/>
            </a:solidFill>
            <a:prstDash val="solid"/>
          </a:ln>
        </p:spPr>
      </p:sp>
      <p:sp>
        <p:nvSpPr>
          <p:cNvPr id="21" name="text_75"/>
          <p:cNvSpPr txBox="1"/>
          <p:nvPr/>
        </p:nvSpPr>
        <p:spPr>
          <a:xfrm>
            <a:off x="6553048" y="4023360"/>
            <a:ext cx="1188720" cy="502920"/>
          </a:xfrm>
          <a:prstGeom prst="rect">
            <a:avLst/>
          </a:prstGeom>
          <a:noFill/>
        </p:spPr>
        <p:txBody>
          <a:bodyPr wrap="square" lIns="0" tIns="0" rIns="0" bIns="0" rtlCol="0" anchor="t"/>
          <a:lstStyle/>
          <a:p>
            <a:pPr marL="0" indent="0">
              <a:buNone/>
            </a:pPr>
            <a:r>
              <a:rPr lang="en-US" sz="2600" b="1" dirty="0">
                <a:solidFill>
                  <a:srgbClr val="1C7293"/>
                </a:solidFill>
                <a:latin typeface="Cambria" panose="02040503050406030204" pitchFamily="34" charset="0"/>
                <a:ea typeface="Cambria" panose="02040503050406030204" pitchFamily="34" charset="-122"/>
                <a:cs typeface="Cambria" panose="02040503050406030204" pitchFamily="34" charset="-120"/>
              </a:rPr>
              <a:t>RQ4</a:t>
            </a:r>
            <a:endParaRPr lang="en-US" sz="2600" dirty="0"/>
          </a:p>
        </p:txBody>
      </p:sp>
      <p:sp>
        <p:nvSpPr>
          <p:cNvPr id="22" name="text_76"/>
          <p:cNvSpPr txBox="1"/>
          <p:nvPr/>
        </p:nvSpPr>
        <p:spPr>
          <a:xfrm>
            <a:off x="7741768" y="4069080"/>
            <a:ext cx="3626968" cy="457200"/>
          </a:xfrm>
          <a:prstGeom prst="rect">
            <a:avLst/>
          </a:prstGeom>
          <a:noFill/>
        </p:spPr>
        <p:txBody>
          <a:bodyPr wrap="square" lIns="0" tIns="0" rIns="0" bIns="0" rtlCol="0" anchor="ctr"/>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QLoRA và hallucination</a:t>
            </a:r>
            <a:endParaRPr lang="en-US" sz="1600" dirty="0"/>
          </a:p>
        </p:txBody>
      </p:sp>
      <p:sp>
        <p:nvSpPr>
          <p:cNvPr id="23" name="text_77"/>
          <p:cNvSpPr txBox="1"/>
          <p:nvPr/>
        </p:nvSpPr>
        <p:spPr>
          <a:xfrm>
            <a:off x="6553048" y="4663440"/>
            <a:ext cx="4815688" cy="91440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Sau khi thích nghi bằng QLoRA, model bịa nội dung nhiều hơn hay ít hơn?</a:t>
            </a:r>
            <a:endParaRPr lang="en-US" sz="1400" dirty="0"/>
          </a:p>
        </p:txBody>
      </p:sp>
      <p:sp>
        <p:nvSpPr>
          <p:cNvPr id="24" name="text_78"/>
          <p:cNvSpPr txBox="1"/>
          <p:nvPr/>
        </p:nvSpPr>
        <p:spPr>
          <a:xfrm>
            <a:off x="6553048" y="5577840"/>
            <a:ext cx="4815688" cy="320040"/>
          </a:xfrm>
          <a:prstGeom prst="rect">
            <a:avLst/>
          </a:prstGeom>
          <a:noFill/>
        </p:spPr>
        <p:txBody>
          <a:bodyPr wrap="square" lIns="0" tIns="0" rIns="0" bIns="0" rtlCol="0" anchor="t"/>
          <a:lstStyle/>
          <a:p>
            <a:pPr marL="0" indent="0">
              <a:buNone/>
            </a:pPr>
            <a:r>
              <a:rPr lang="en-US" sz="12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Đo bằng: Kiểu POPE (vi) + duyệt tay</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05 · GIẢ THUYẾT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Bốn giả thuyết, mỗi giả thuyết gắn một vấn đề tiếng Việt</a:t>
            </a:r>
            <a:endParaRPr lang="en-US" sz="3200" dirty="0"/>
          </a:p>
        </p:txBody>
      </p:sp>
      <p:graphicFrame>
        <p:nvGraphicFramePr>
          <p:cNvPr id="10" name="table_79"/>
          <p:cNvGraphicFramePr>
            <a:graphicFrameLocks noGrp="1"/>
          </p:cNvGraphicFramePr>
          <p:nvPr/>
        </p:nvGraphicFramePr>
        <p:xfrm>
          <a:off x="548640" y="1371600"/>
          <a:ext cx="11094415" cy="2834640"/>
        </p:xfrm>
        <a:graphic>
          <a:graphicData uri="http://schemas.openxmlformats.org/drawingml/2006/table">
            <a:tbl>
              <a:tblPr/>
              <a:tblGrid>
                <a:gridCol w="731520"/>
                <a:gridCol w="8531352"/>
                <a:gridCol w="1828800"/>
              </a:tblGrid>
              <a:tr h="56692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Giả thuyết (ngưỡng chốt trước khi chạy)</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Trả lời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marL="0" indent="0">
                        <a:buNone/>
                      </a:pPr>
                      <a:r>
                        <a:rPr lang="en-US" sz="1350" b="1" dirty="0">
                          <a:solidFill>
                            <a:srgbClr val="1C7293"/>
                          </a:solidFill>
                          <a:latin typeface="Calibri" panose="020F0502020204030204" pitchFamily="34" charset="0"/>
                          <a:ea typeface="Calibri" panose="020F0502020204030204" pitchFamily="34" charset="-122"/>
                          <a:cs typeface="Calibri" panose="020F0502020204030204" pitchFamily="34" charset="-120"/>
                        </a:rPr>
                        <a:t>H1</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trên Qwen2.5-VL-3B tăng EM ≥ +5 so với chính model đó zero-shot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RQ2 · V1–V3</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350" b="1" dirty="0">
                          <a:solidFill>
                            <a:srgbClr val="1C7293"/>
                          </a:solidFill>
                          <a:latin typeface="Calibri" panose="020F0502020204030204" pitchFamily="34" charset="0"/>
                          <a:ea typeface="Calibri" panose="020F0502020204030204" pitchFamily="34" charset="-122"/>
                          <a:cs typeface="Calibri" panose="020F0502020204030204" pitchFamily="34" charset="-120"/>
                        </a:rPr>
                        <a:t>H2</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Chữ OCR có dấu (trái-trên → phải-dưới) trong prompt tăng ≥ +3 ANLS trên ViTextVQA; kết hợp QLoRA cho kết quả cao nhất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RQ3 · V1, V3</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350" b="1" dirty="0">
                          <a:solidFill>
                            <a:srgbClr val="1C7293"/>
                          </a:solidFill>
                          <a:latin typeface="Calibri" panose="020F0502020204030204" pitchFamily="34" charset="0"/>
                          <a:ea typeface="Calibri" panose="020F0502020204030204" pitchFamily="34" charset="-122"/>
                          <a:cs typeface="Calibri" panose="020F0502020204030204" pitchFamily="34" charset="-120"/>
                        </a:rPr>
                        <a:t>H3</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Prompt định dạng tiếng Việt (trả lời ngắn, có dấu) tăng ≥ +3 EM và giảm câu trả lời sai ngôn ngữ / mất dấu</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RQ1 · V2</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350" b="1" dirty="0">
                          <a:solidFill>
                            <a:srgbClr val="1C7293"/>
                          </a:solidFill>
                          <a:latin typeface="Calibri" panose="020F0502020204030204" pitchFamily="34" charset="0"/>
                          <a:ea typeface="Calibri" panose="020F0502020204030204" pitchFamily="34" charset="-122"/>
                          <a:cs typeface="Calibri" panose="020F0502020204030204" pitchFamily="34" charset="-120"/>
                        </a:rPr>
                        <a:t>H4</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không làm tăng tỉ lệ hallucination so với zero-shot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350" dirty="0">
                          <a:solidFill>
                            <a:srgbClr val="243044"/>
                          </a:solidFill>
                          <a:latin typeface="Calibri" panose="020F0502020204030204" pitchFamily="34" charset="0"/>
                          <a:ea typeface="Calibri" panose="020F0502020204030204" pitchFamily="34" charset="-122"/>
                          <a:cs typeface="Calibri" panose="020F0502020204030204" pitchFamily="34" charset="-120"/>
                        </a:rPr>
                        <a:t>RQ4 · V4</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80"/>
          <p:cNvSpPr/>
          <p:nvPr/>
        </p:nvSpPr>
        <p:spPr>
          <a:xfrm>
            <a:off x="548640" y="4434840"/>
            <a:ext cx="5364328" cy="1828800"/>
          </a:xfrm>
          <a:prstGeom prst="roundRect">
            <a:avLst>
              <a:gd name="adj" fmla="val 4000"/>
            </a:avLst>
          </a:prstGeom>
          <a:solidFill>
            <a:schemeClr val="bg2"/>
          </a:solidFill>
          <a:ln w="12700">
            <a:solidFill>
              <a:schemeClr val="bg2"/>
            </a:solidFill>
            <a:prstDash val="solid"/>
          </a:ln>
        </p:spPr>
      </p:sp>
      <p:sp>
        <p:nvSpPr>
          <p:cNvPr id="7" name="text_81"/>
          <p:cNvSpPr txBox="1"/>
          <p:nvPr/>
        </p:nvSpPr>
        <p:spPr>
          <a:xfrm>
            <a:off x="777240" y="4544568"/>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Không còn là giả thuyết → đo lường hoặc ablation</a:t>
            </a:r>
            <a:endParaRPr lang="en-US" sz="1400" dirty="0"/>
          </a:p>
        </p:txBody>
      </p:sp>
      <p:sp>
        <p:nvSpPr>
          <p:cNvPr id="8" name="list_82"/>
          <p:cNvSpPr txBox="1"/>
          <p:nvPr/>
        </p:nvSpPr>
        <p:spPr>
          <a:xfrm>
            <a:off x="777240" y="4937760"/>
            <a:ext cx="4907128" cy="1280160"/>
          </a:xfrm>
          <a:prstGeom prst="rect">
            <a:avLst/>
          </a:prstGeom>
          <a:noFill/>
        </p:spPr>
        <p:txBody>
          <a:bodyPr wrap="square" lIns="0" tIns="0" rIns="0" bIns="0" rtlCol="0" anchor="t"/>
          <a:lstStyle/>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4-bit so với 16-bit: đặc tính đã biết của QLoRA (Dettmers và cs., NeurIPS 2023) → báo cáo VRAM, thời gian, số tham số train ở mỗi run</a:t>
            </a:r>
            <a:endParaRPr lang="en-US" sz="1200" dirty="0"/>
          </a:p>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Module gắn LoRA và rank → ablation A1, A2</a:t>
            </a:r>
            <a:endParaRPr lang="en-US" sz="1200" dirty="0"/>
          </a:p>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Adapter dùng chung cho 2 dataset → tuỳ chọn</a:t>
            </a:r>
            <a:endParaRPr lang="en-US" sz="1200" dirty="0"/>
          </a:p>
        </p:txBody>
      </p:sp>
      <p:sp>
        <p:nvSpPr>
          <p:cNvPr id="9" name="card_83"/>
          <p:cNvSpPr/>
          <p:nvPr/>
        </p:nvSpPr>
        <p:spPr>
          <a:xfrm>
            <a:off x="6278728" y="4434840"/>
            <a:ext cx="5364328" cy="1828800"/>
          </a:xfrm>
          <a:prstGeom prst="roundRect">
            <a:avLst>
              <a:gd name="adj" fmla="val 4000"/>
            </a:avLst>
          </a:prstGeom>
          <a:solidFill>
            <a:schemeClr val="accent4"/>
          </a:solidFill>
          <a:ln w="12700">
            <a:solidFill>
              <a:schemeClr val="accent4"/>
            </a:solidFill>
            <a:prstDash val="solid"/>
          </a:ln>
        </p:spPr>
      </p:sp>
      <p:sp>
        <p:nvSpPr>
          <p:cNvPr id="4" name="text_84"/>
          <p:cNvSpPr txBox="1"/>
          <p:nvPr/>
        </p:nvSpPr>
        <p:spPr>
          <a:xfrm>
            <a:off x="6507328" y="4544568"/>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Đối chiếu với bản Review 1 đầu tiên</a:t>
            </a:r>
            <a:endParaRPr lang="en-US" sz="1400" dirty="0"/>
          </a:p>
        </p:txBody>
      </p:sp>
      <p:sp>
        <p:nvSpPr>
          <p:cNvPr id="11" name="text_85"/>
          <p:cNvSpPr txBox="1"/>
          <p:nvPr/>
        </p:nvSpPr>
        <p:spPr>
          <a:xfrm>
            <a:off x="6507328" y="4983480"/>
            <a:ext cx="4907128" cy="1188720"/>
          </a:xfrm>
          <a:prstGeom prst="rect">
            <a:avLst/>
          </a:prstGeom>
          <a:noFill/>
        </p:spPr>
        <p:txBody>
          <a:bodyPr wrap="square" lIns="0" tIns="0" rIns="0" bIns="0" rtlCol="0" anchor="t"/>
          <a:lstStyle/>
          <a:p>
            <a:pPr marL="0" indent="0">
              <a:buNone/>
            </a:pPr>
            <a:r>
              <a:rPr lang="en-US" sz="1350" dirty="0">
                <a:solidFill>
                  <a:schemeClr val="tx1"/>
                </a:solidFill>
                <a:latin typeface="Calibri" panose="020F0502020204030204" pitchFamily="34" charset="0"/>
                <a:ea typeface="Calibri" panose="020F0502020204030204" pitchFamily="34" charset="-122"/>
                <a:cs typeface="Calibri" panose="020F0502020204030204" pitchFamily="34" charset="-120"/>
              </a:rPr>
              <a:t>H1 → H1 · H6 → H2 · H7 → H3 · H8 → H4</a:t>
            </a:r>
            <a:endParaRPr lang="en-US" sz="1350" dirty="0"/>
          </a:p>
          <a:p>
            <a:pPr marL="0" indent="0">
              <a:buNone/>
            </a:pPr>
            <a:r>
              <a:rPr lang="en-US" sz="1350" dirty="0">
                <a:solidFill>
                  <a:schemeClr val="tx1"/>
                </a:solidFill>
                <a:latin typeface="Calibri" panose="020F0502020204030204" pitchFamily="34" charset="0"/>
                <a:ea typeface="Calibri" panose="020F0502020204030204" pitchFamily="34" charset="-122"/>
                <a:cs typeface="Calibri" panose="020F0502020204030204" pitchFamily="34" charset="-120"/>
              </a:rPr>
              <a:t>H2 (4-bit) → số đo hiệu quả</a:t>
            </a:r>
            <a:endParaRPr lang="en-US" sz="1350" dirty="0"/>
          </a:p>
          <a:p>
            <a:pPr marL="0" indent="0">
              <a:buNone/>
            </a:pPr>
            <a:r>
              <a:rPr lang="en-US" sz="1350" dirty="0">
                <a:solidFill>
                  <a:schemeClr val="tx1"/>
                </a:solidFill>
                <a:latin typeface="Calibri" panose="020F0502020204030204" pitchFamily="34" charset="0"/>
                <a:ea typeface="Calibri" panose="020F0502020204030204" pitchFamily="34" charset="-122"/>
                <a:cs typeface="Calibri" panose="020F0502020204030204" pitchFamily="34" charset="-120"/>
              </a:rPr>
              <a:t>H3, H4 (cấu hình LoRA) → ablation A1, A2 · H5 → tuỳ chọn</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06 · DỮ LIỆU</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Hai bộ benchmark, split cố định, tiền xử lý trước khi chia</a:t>
            </a:r>
            <a:endParaRPr lang="en-US" sz="3200" dirty="0"/>
          </a:p>
        </p:txBody>
      </p:sp>
      <p:sp>
        <p:nvSpPr>
          <p:cNvPr id="5" name="card_86"/>
          <p:cNvSpPr/>
          <p:nvPr/>
        </p:nvSpPr>
        <p:spPr>
          <a:xfrm>
            <a:off x="548640" y="1371600"/>
            <a:ext cx="5364328" cy="3429000"/>
          </a:xfrm>
          <a:prstGeom prst="roundRect">
            <a:avLst>
              <a:gd name="adj" fmla="val 2133"/>
            </a:avLst>
          </a:prstGeom>
          <a:solidFill>
            <a:schemeClr val="bg2"/>
          </a:solidFill>
          <a:ln w="12700">
            <a:solidFill>
              <a:schemeClr val="bg2"/>
            </a:solidFill>
            <a:prstDash val="solid"/>
          </a:ln>
        </p:spPr>
      </p:sp>
      <p:sp>
        <p:nvSpPr>
          <p:cNvPr id="6" name="text_87"/>
          <p:cNvSpPr txBox="1"/>
          <p:nvPr/>
        </p:nvSpPr>
        <p:spPr>
          <a:xfrm>
            <a:off x="822960" y="1508760"/>
            <a:ext cx="4815688" cy="457200"/>
          </a:xfrm>
          <a:prstGeom prst="rect">
            <a:avLst/>
          </a:prstGeom>
          <a:noFill/>
        </p:spPr>
        <p:txBody>
          <a:bodyPr wrap="square" lIns="0" tIns="0" rIns="0" bIns="0" rtlCol="0" anchor="t"/>
          <a:lstStyle/>
          <a:p>
            <a:pPr marL="0" indent="0">
              <a:buNone/>
            </a:pPr>
            <a:r>
              <a:rPr lang="en-US" sz="2200" b="1" dirty="0">
                <a:solidFill>
                  <a:schemeClr val="tx2"/>
                </a:solidFill>
                <a:latin typeface="Cambria" panose="02040503050406030204" pitchFamily="34" charset="0"/>
                <a:ea typeface="Cambria" panose="02040503050406030204" pitchFamily="34" charset="-122"/>
                <a:cs typeface="Cambria" panose="02040503050406030204" pitchFamily="34" charset="-120"/>
              </a:rPr>
              <a:t>ViVQA</a:t>
            </a:r>
            <a:endParaRPr lang="en-US" sz="2200" dirty="0"/>
          </a:p>
        </p:txBody>
      </p:sp>
      <p:sp>
        <p:nvSpPr>
          <p:cNvPr id="7" name="text_88"/>
          <p:cNvSpPr txBox="1"/>
          <p:nvPr/>
        </p:nvSpPr>
        <p:spPr>
          <a:xfrm>
            <a:off x="822960" y="1965960"/>
            <a:ext cx="4815688" cy="274320"/>
          </a:xfrm>
          <a:prstGeom prst="rect">
            <a:avLst/>
          </a:prstGeom>
          <a:noFill/>
        </p:spPr>
        <p:txBody>
          <a:bodyPr wrap="square" lIns="0" tIns="0" rIns="0" bIns="0" rtlCol="0" anchor="t"/>
          <a:lstStyle/>
          <a:p>
            <a:pPr marL="0" indent="0">
              <a:buNone/>
            </a:pPr>
            <a:r>
              <a:rPr lang="en-US" sz="11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Tran et al., PACLIC 2021</a:t>
            </a:r>
            <a:endParaRPr lang="en-US" sz="1100" dirty="0"/>
          </a:p>
        </p:txBody>
      </p:sp>
      <p:sp>
        <p:nvSpPr>
          <p:cNvPr id="8" name="text_89"/>
          <p:cNvSpPr txBox="1"/>
          <p:nvPr/>
        </p:nvSpPr>
        <p:spPr>
          <a:xfrm>
            <a:off x="822960" y="2286000"/>
            <a:ext cx="2316404" cy="822960"/>
          </a:xfrm>
          <a:prstGeom prst="rect">
            <a:avLst/>
          </a:prstGeom>
          <a:noFill/>
        </p:spPr>
        <p:txBody>
          <a:bodyPr wrap="square" lIns="0" tIns="0" rIns="0" bIns="0" rtlCol="0" anchor="t"/>
          <a:lstStyle/>
          <a:p>
            <a:pPr marL="0" indent="0">
              <a:buNone/>
            </a:pPr>
            <a:r>
              <a:rPr lang="en-US" sz="3000" b="1" dirty="0">
                <a:solidFill>
                  <a:schemeClr val="tx2"/>
                </a:solidFill>
                <a:latin typeface="Cambria" panose="02040503050406030204" pitchFamily="34" charset="0"/>
                <a:ea typeface="Cambria" panose="02040503050406030204" pitchFamily="34" charset="-122"/>
                <a:cs typeface="Cambria" panose="02040503050406030204" pitchFamily="34" charset="-120"/>
              </a:rPr>
              <a:t>15.000</a:t>
            </a:r>
            <a:endParaRPr lang="en-US" sz="3000" dirty="0"/>
          </a:p>
        </p:txBody>
      </p:sp>
      <p:sp>
        <p:nvSpPr>
          <p:cNvPr id="9" name="text_90"/>
          <p:cNvSpPr txBox="1"/>
          <p:nvPr/>
        </p:nvSpPr>
        <p:spPr>
          <a:xfrm>
            <a:off x="822960" y="3154680"/>
            <a:ext cx="231640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cặp hỏi–đáp</a:t>
            </a:r>
            <a:endParaRPr lang="en-US" sz="1400" dirty="0"/>
          </a:p>
        </p:txBody>
      </p:sp>
      <p:sp>
        <p:nvSpPr>
          <p:cNvPr id="10" name="text_91"/>
          <p:cNvSpPr txBox="1"/>
          <p:nvPr/>
        </p:nvSpPr>
        <p:spPr>
          <a:xfrm>
            <a:off x="3230804" y="2286000"/>
            <a:ext cx="2316404" cy="822960"/>
          </a:xfrm>
          <a:prstGeom prst="rect">
            <a:avLst/>
          </a:prstGeom>
          <a:noFill/>
        </p:spPr>
        <p:txBody>
          <a:bodyPr wrap="square" lIns="0" tIns="0" rIns="0" bIns="0" rtlCol="0" anchor="t"/>
          <a:lstStyle/>
          <a:p>
            <a:pPr marL="0" indent="0">
              <a:buNone/>
            </a:pPr>
            <a:r>
              <a:rPr lang="en-US" sz="3000" b="1" dirty="0">
                <a:solidFill>
                  <a:schemeClr val="tx2"/>
                </a:solidFill>
                <a:latin typeface="Cambria" panose="02040503050406030204" pitchFamily="34" charset="0"/>
                <a:ea typeface="Cambria" panose="02040503050406030204" pitchFamily="34" charset="-122"/>
                <a:cs typeface="Cambria" panose="02040503050406030204" pitchFamily="34" charset="-120"/>
              </a:rPr>
              <a:t>10.328</a:t>
            </a:r>
            <a:endParaRPr lang="en-US" sz="3000" dirty="0"/>
          </a:p>
        </p:txBody>
      </p:sp>
      <p:sp>
        <p:nvSpPr>
          <p:cNvPr id="11" name="text_92"/>
          <p:cNvSpPr txBox="1"/>
          <p:nvPr/>
        </p:nvSpPr>
        <p:spPr>
          <a:xfrm>
            <a:off x="3230804" y="3154680"/>
            <a:ext cx="231640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ảnh (MS COCO)</a:t>
            </a:r>
            <a:endParaRPr lang="en-US" sz="1400" dirty="0"/>
          </a:p>
        </p:txBody>
      </p:sp>
      <p:sp>
        <p:nvSpPr>
          <p:cNvPr id="12" name="text_93"/>
          <p:cNvSpPr txBox="1"/>
          <p:nvPr/>
        </p:nvSpPr>
        <p:spPr>
          <a:xfrm>
            <a:off x="822960" y="3611880"/>
            <a:ext cx="4815688" cy="502920"/>
          </a:xfrm>
          <a:prstGeom prst="rect">
            <a:avLst/>
          </a:prstGeom>
          <a:noFill/>
        </p:spPr>
        <p:txBody>
          <a:bodyPr wrap="square" lIns="0" tIns="0" rIns="0" bIns="0" rtlCol="0" anchor="t"/>
          <a:lstStyle/>
          <a:p>
            <a:pPr marL="0" indent="0">
              <a:buNone/>
            </a:pPr>
            <a:r>
              <a:rPr lang="en-US" sz="1350" b="1" dirty="0">
                <a:solidFill>
                  <a:schemeClr val="tx1"/>
                </a:solidFill>
                <a:latin typeface="Calibri" panose="020F0502020204030204" pitchFamily="34" charset="0"/>
                <a:ea typeface="Calibri" panose="020F0502020204030204" pitchFamily="34" charset="-122"/>
                <a:cs typeface="Calibri" panose="020F0502020204030204" pitchFamily="34" charset="-120"/>
              </a:rPr>
              <a:t>Split (seed 42): train 10.799 · val 1.200 (tách từ train) · test 3.001</a:t>
            </a:r>
            <a:endParaRPr lang="en-US" sz="1350" dirty="0"/>
          </a:p>
        </p:txBody>
      </p:sp>
      <p:sp>
        <p:nvSpPr>
          <p:cNvPr id="13" name="text_94"/>
          <p:cNvSpPr txBox="1"/>
          <p:nvPr/>
        </p:nvSpPr>
        <p:spPr>
          <a:xfrm>
            <a:off x="822960" y="4114800"/>
            <a:ext cx="4815688" cy="59436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99,83% đáp án ≤ 3 từ → EM / VQA-Acc</a:t>
            </a:r>
            <a:endParaRPr lang="en-US" sz="1300" dirty="0"/>
          </a:p>
        </p:txBody>
      </p:sp>
      <p:sp>
        <p:nvSpPr>
          <p:cNvPr id="14" name="card_95"/>
          <p:cNvSpPr/>
          <p:nvPr/>
        </p:nvSpPr>
        <p:spPr>
          <a:xfrm>
            <a:off x="6278728" y="1371600"/>
            <a:ext cx="5364328" cy="3429000"/>
          </a:xfrm>
          <a:prstGeom prst="roundRect">
            <a:avLst>
              <a:gd name="adj" fmla="val 2133"/>
            </a:avLst>
          </a:prstGeom>
          <a:solidFill>
            <a:schemeClr val="accent4"/>
          </a:solidFill>
          <a:ln w="12700">
            <a:solidFill>
              <a:schemeClr val="accent4"/>
            </a:solidFill>
            <a:prstDash val="solid"/>
          </a:ln>
        </p:spPr>
      </p:sp>
      <p:sp>
        <p:nvSpPr>
          <p:cNvPr id="15" name="text_96"/>
          <p:cNvSpPr txBox="1"/>
          <p:nvPr/>
        </p:nvSpPr>
        <p:spPr>
          <a:xfrm>
            <a:off x="6553048" y="1508760"/>
            <a:ext cx="4815688" cy="457200"/>
          </a:xfrm>
          <a:prstGeom prst="rect">
            <a:avLst/>
          </a:prstGeom>
          <a:noFill/>
        </p:spPr>
        <p:txBody>
          <a:bodyPr wrap="square" lIns="0" tIns="0" rIns="0" bIns="0" rtlCol="0" anchor="t"/>
          <a:lstStyle/>
          <a:p>
            <a:pPr marL="0" indent="0">
              <a:buNone/>
            </a:pPr>
            <a:r>
              <a:rPr lang="en-US" sz="2200" b="1" dirty="0">
                <a:solidFill>
                  <a:schemeClr val="tx2"/>
                </a:solidFill>
                <a:latin typeface="Cambria" panose="02040503050406030204" pitchFamily="34" charset="0"/>
                <a:ea typeface="Cambria" panose="02040503050406030204" pitchFamily="34" charset="-122"/>
                <a:cs typeface="Cambria" panose="02040503050406030204" pitchFamily="34" charset="-120"/>
              </a:rPr>
              <a:t>ViTextVQA</a:t>
            </a:r>
            <a:endParaRPr lang="en-US" sz="2200" dirty="0"/>
          </a:p>
        </p:txBody>
      </p:sp>
      <p:sp>
        <p:nvSpPr>
          <p:cNvPr id="16" name="text_97"/>
          <p:cNvSpPr txBox="1"/>
          <p:nvPr/>
        </p:nvSpPr>
        <p:spPr>
          <a:xfrm>
            <a:off x="6553048" y="1965960"/>
            <a:ext cx="4815688" cy="274320"/>
          </a:xfrm>
          <a:prstGeom prst="rect">
            <a:avLst/>
          </a:prstGeom>
          <a:noFill/>
        </p:spPr>
        <p:txBody>
          <a:bodyPr wrap="square" lIns="0" tIns="0" rIns="0" bIns="0" rtlCol="0" anchor="t"/>
          <a:lstStyle/>
          <a:p>
            <a:pPr marL="0" indent="0">
              <a:buNone/>
            </a:pPr>
            <a:r>
              <a:rPr lang="en-US" sz="11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Nguyen et al., 2024 (official repo)</a:t>
            </a:r>
            <a:endParaRPr lang="en-US" sz="1100" dirty="0"/>
          </a:p>
        </p:txBody>
      </p:sp>
      <p:sp>
        <p:nvSpPr>
          <p:cNvPr id="17" name="text_98"/>
          <p:cNvSpPr txBox="1"/>
          <p:nvPr/>
        </p:nvSpPr>
        <p:spPr>
          <a:xfrm>
            <a:off x="6553048" y="2286000"/>
            <a:ext cx="2316404" cy="822960"/>
          </a:xfrm>
          <a:prstGeom prst="rect">
            <a:avLst/>
          </a:prstGeom>
          <a:noFill/>
        </p:spPr>
        <p:txBody>
          <a:bodyPr wrap="square" lIns="0" tIns="0" rIns="0" bIns="0" rtlCol="0" anchor="t"/>
          <a:lstStyle/>
          <a:p>
            <a:pPr marL="0" indent="0">
              <a:buNone/>
            </a:pPr>
            <a:r>
              <a:rPr lang="en-US" sz="3000" b="1" dirty="0">
                <a:solidFill>
                  <a:schemeClr val="tx2"/>
                </a:solidFill>
                <a:latin typeface="Cambria" panose="02040503050406030204" pitchFamily="34" charset="0"/>
                <a:ea typeface="Cambria" panose="02040503050406030204" pitchFamily="34" charset="-122"/>
                <a:cs typeface="Cambria" panose="02040503050406030204" pitchFamily="34" charset="-120"/>
              </a:rPr>
              <a:t>50.342</a:t>
            </a:r>
            <a:endParaRPr lang="en-US" sz="3000" dirty="0"/>
          </a:p>
        </p:txBody>
      </p:sp>
      <p:sp>
        <p:nvSpPr>
          <p:cNvPr id="18" name="text_99"/>
          <p:cNvSpPr txBox="1"/>
          <p:nvPr/>
        </p:nvSpPr>
        <p:spPr>
          <a:xfrm>
            <a:off x="6553048" y="3154680"/>
            <a:ext cx="231640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cặp hỏi–đáp</a:t>
            </a:r>
            <a:endParaRPr lang="en-US" sz="1400" dirty="0"/>
          </a:p>
        </p:txBody>
      </p:sp>
      <p:sp>
        <p:nvSpPr>
          <p:cNvPr id="19" name="text_100"/>
          <p:cNvSpPr txBox="1"/>
          <p:nvPr/>
        </p:nvSpPr>
        <p:spPr>
          <a:xfrm>
            <a:off x="8960891" y="2286000"/>
            <a:ext cx="2316404" cy="822960"/>
          </a:xfrm>
          <a:prstGeom prst="rect">
            <a:avLst/>
          </a:prstGeom>
          <a:noFill/>
        </p:spPr>
        <p:txBody>
          <a:bodyPr wrap="square" lIns="0" tIns="0" rIns="0" bIns="0" rtlCol="0" anchor="t"/>
          <a:lstStyle/>
          <a:p>
            <a:pPr marL="0" indent="0">
              <a:buNone/>
            </a:pPr>
            <a:r>
              <a:rPr lang="en-US" sz="3000" b="1" dirty="0">
                <a:solidFill>
                  <a:schemeClr val="tx2"/>
                </a:solidFill>
                <a:latin typeface="Cambria" panose="02040503050406030204" pitchFamily="34" charset="0"/>
                <a:ea typeface="Cambria" panose="02040503050406030204" pitchFamily="34" charset="-122"/>
                <a:cs typeface="Cambria" panose="02040503050406030204" pitchFamily="34" charset="-120"/>
              </a:rPr>
              <a:t>16.762</a:t>
            </a:r>
            <a:endParaRPr lang="en-US" sz="3000" dirty="0"/>
          </a:p>
        </p:txBody>
      </p:sp>
      <p:sp>
        <p:nvSpPr>
          <p:cNvPr id="20" name="text_101"/>
          <p:cNvSpPr txBox="1"/>
          <p:nvPr/>
        </p:nvSpPr>
        <p:spPr>
          <a:xfrm>
            <a:off x="8960891" y="3154680"/>
            <a:ext cx="231640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ảnh có chữ tiếng Việt</a:t>
            </a:r>
            <a:endParaRPr lang="en-US" sz="1400" dirty="0"/>
          </a:p>
        </p:txBody>
      </p:sp>
      <p:sp>
        <p:nvSpPr>
          <p:cNvPr id="21" name="text_102"/>
          <p:cNvSpPr txBox="1"/>
          <p:nvPr/>
        </p:nvSpPr>
        <p:spPr>
          <a:xfrm>
            <a:off x="6553048" y="3611880"/>
            <a:ext cx="4815688" cy="502920"/>
          </a:xfrm>
          <a:prstGeom prst="rect">
            <a:avLst/>
          </a:prstGeom>
          <a:noFill/>
        </p:spPr>
        <p:txBody>
          <a:bodyPr wrap="square" lIns="0" tIns="0" rIns="0" bIns="0" rtlCol="0" anchor="t"/>
          <a:lstStyle/>
          <a:p>
            <a:pPr marL="0" indent="0">
              <a:buNone/>
            </a:pPr>
            <a:r>
              <a:rPr lang="en-US" sz="1350" b="1" dirty="0">
                <a:solidFill>
                  <a:schemeClr val="tx1"/>
                </a:solidFill>
                <a:latin typeface="Calibri" panose="020F0502020204030204" pitchFamily="34" charset="0"/>
                <a:ea typeface="Calibri" panose="020F0502020204030204" pitchFamily="34" charset="-122"/>
                <a:cs typeface="Calibri" panose="020F0502020204030204" pitchFamily="34" charset="-120"/>
              </a:rPr>
              <a:t>Split chính thức: train 35.159 · dev 5.155 · test 10.028</a:t>
            </a:r>
            <a:endParaRPr lang="en-US" sz="1350" dirty="0"/>
          </a:p>
        </p:txBody>
      </p:sp>
      <p:sp>
        <p:nvSpPr>
          <p:cNvPr id="22" name="text_103"/>
          <p:cNvSpPr txBox="1"/>
          <p:nvPr/>
        </p:nvSpPr>
        <p:spPr>
          <a:xfrm>
            <a:off x="6553048" y="4114800"/>
            <a:ext cx="4815688" cy="59436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Đáp án trung bình 4,18 từ, đọc từ ảnh → ANLS (chịu lỗi ký tự)</a:t>
            </a:r>
            <a:endParaRPr lang="en-US" sz="1300" dirty="0"/>
          </a:p>
        </p:txBody>
      </p:sp>
      <p:sp>
        <p:nvSpPr>
          <p:cNvPr id="23" name="box_104"/>
          <p:cNvSpPr/>
          <p:nvPr/>
        </p:nvSpPr>
        <p:spPr>
          <a:xfrm>
            <a:off x="548640" y="5120640"/>
            <a:ext cx="2396414" cy="685800"/>
          </a:xfrm>
          <a:prstGeom prst="roundRect">
            <a:avLst>
              <a:gd name="adj" fmla="val 10667"/>
            </a:avLst>
          </a:prstGeom>
          <a:solidFill>
            <a:srgbClr val="E7F0F3"/>
          </a:solidFill>
          <a:ln w="12700">
            <a:solidFill>
              <a:srgbClr val="1C7293"/>
            </a:solidFill>
            <a:prstDash val="solid"/>
          </a:ln>
        </p:spPr>
      </p:sp>
      <p:sp>
        <p:nvSpPr>
          <p:cNvPr id="24" name="text_105"/>
          <p:cNvSpPr txBox="1"/>
          <p:nvPr/>
        </p:nvSpPr>
        <p:spPr>
          <a:xfrm>
            <a:off x="640080" y="5120640"/>
            <a:ext cx="2213534" cy="68580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Tiền xử lý (NFC, chuẩn hoá)</a:t>
            </a:r>
            <a:endParaRPr lang="en-US" sz="1400" dirty="0"/>
          </a:p>
        </p:txBody>
      </p:sp>
      <p:sp>
        <p:nvSpPr>
          <p:cNvPr id="25" name="arrow_106"/>
          <p:cNvSpPr/>
          <p:nvPr/>
        </p:nvSpPr>
        <p:spPr>
          <a:xfrm>
            <a:off x="3036494" y="5330952"/>
            <a:ext cx="320040" cy="274320"/>
          </a:xfrm>
          <a:prstGeom prst="rightArrow">
            <a:avLst/>
          </a:prstGeom>
          <a:solidFill>
            <a:srgbClr val="1C7293"/>
          </a:solidFill>
          <a:ln w="12700">
            <a:solidFill>
              <a:srgbClr val="1C7293"/>
            </a:solidFill>
            <a:prstDash val="solid"/>
          </a:ln>
        </p:spPr>
      </p:sp>
      <p:sp>
        <p:nvSpPr>
          <p:cNvPr id="26" name="box_107"/>
          <p:cNvSpPr/>
          <p:nvPr/>
        </p:nvSpPr>
        <p:spPr>
          <a:xfrm>
            <a:off x="3447974" y="5120640"/>
            <a:ext cx="2396414" cy="685800"/>
          </a:xfrm>
          <a:prstGeom prst="roundRect">
            <a:avLst>
              <a:gd name="adj" fmla="val 10667"/>
            </a:avLst>
          </a:prstGeom>
          <a:solidFill>
            <a:srgbClr val="E7F0F3"/>
          </a:solidFill>
          <a:ln w="12700">
            <a:solidFill>
              <a:srgbClr val="1C7293"/>
            </a:solidFill>
            <a:prstDash val="solid"/>
          </a:ln>
        </p:spPr>
      </p:sp>
      <p:sp>
        <p:nvSpPr>
          <p:cNvPr id="27" name="text_108"/>
          <p:cNvSpPr txBox="1"/>
          <p:nvPr/>
        </p:nvSpPr>
        <p:spPr>
          <a:xfrm>
            <a:off x="3539414" y="5120640"/>
            <a:ext cx="2213534" cy="68580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Cố định split (seed 42)</a:t>
            </a:r>
            <a:endParaRPr lang="en-US" sz="1400" dirty="0"/>
          </a:p>
        </p:txBody>
      </p:sp>
      <p:sp>
        <p:nvSpPr>
          <p:cNvPr id="28" name="arrow_109"/>
          <p:cNvSpPr/>
          <p:nvPr/>
        </p:nvSpPr>
        <p:spPr>
          <a:xfrm>
            <a:off x="5935828" y="5330952"/>
            <a:ext cx="320040" cy="274320"/>
          </a:xfrm>
          <a:prstGeom prst="rightArrow">
            <a:avLst/>
          </a:prstGeom>
          <a:solidFill>
            <a:srgbClr val="1C7293"/>
          </a:solidFill>
          <a:ln w="12700">
            <a:solidFill>
              <a:srgbClr val="1C7293"/>
            </a:solidFill>
            <a:prstDash val="solid"/>
          </a:ln>
        </p:spPr>
      </p:sp>
      <p:sp>
        <p:nvSpPr>
          <p:cNvPr id="29" name="box_110"/>
          <p:cNvSpPr/>
          <p:nvPr/>
        </p:nvSpPr>
        <p:spPr>
          <a:xfrm>
            <a:off x="6347308" y="5120640"/>
            <a:ext cx="2396414" cy="685800"/>
          </a:xfrm>
          <a:prstGeom prst="roundRect">
            <a:avLst>
              <a:gd name="adj" fmla="val 10667"/>
            </a:avLst>
          </a:prstGeom>
          <a:solidFill>
            <a:srgbClr val="E7F0F3"/>
          </a:solidFill>
          <a:ln w="12700">
            <a:solidFill>
              <a:srgbClr val="1C7293"/>
            </a:solidFill>
            <a:prstDash val="solid"/>
          </a:ln>
        </p:spPr>
      </p:sp>
      <p:sp>
        <p:nvSpPr>
          <p:cNvPr id="30" name="text_111"/>
          <p:cNvSpPr txBox="1"/>
          <p:nvPr/>
        </p:nvSpPr>
        <p:spPr>
          <a:xfrm>
            <a:off x="6438748" y="5120640"/>
            <a:ext cx="2213534" cy="68580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Chọn cấu hình trên dev / val</a:t>
            </a:r>
            <a:endParaRPr lang="en-US" sz="1400" dirty="0"/>
          </a:p>
        </p:txBody>
      </p:sp>
      <p:sp>
        <p:nvSpPr>
          <p:cNvPr id="31" name="arrow_112"/>
          <p:cNvSpPr/>
          <p:nvPr/>
        </p:nvSpPr>
        <p:spPr>
          <a:xfrm>
            <a:off x="8835161" y="5330952"/>
            <a:ext cx="320040" cy="274320"/>
          </a:xfrm>
          <a:prstGeom prst="rightArrow">
            <a:avLst/>
          </a:prstGeom>
          <a:solidFill>
            <a:srgbClr val="1C7293"/>
          </a:solidFill>
          <a:ln w="12700">
            <a:solidFill>
              <a:srgbClr val="1C7293"/>
            </a:solidFill>
            <a:prstDash val="solid"/>
          </a:ln>
        </p:spPr>
      </p:sp>
      <p:sp>
        <p:nvSpPr>
          <p:cNvPr id="32" name="box_113"/>
          <p:cNvSpPr/>
          <p:nvPr/>
        </p:nvSpPr>
        <p:spPr>
          <a:xfrm>
            <a:off x="9246641" y="5120640"/>
            <a:ext cx="2396414" cy="685800"/>
          </a:xfrm>
          <a:prstGeom prst="roundRect">
            <a:avLst>
              <a:gd name="adj" fmla="val 10667"/>
            </a:avLst>
          </a:prstGeom>
          <a:solidFill>
            <a:srgbClr val="FBF0DA"/>
          </a:solidFill>
          <a:ln w="12700">
            <a:solidFill>
              <a:srgbClr val="E8A33D"/>
            </a:solidFill>
            <a:prstDash val="solid"/>
          </a:ln>
        </p:spPr>
      </p:sp>
      <p:sp>
        <p:nvSpPr>
          <p:cNvPr id="33" name="text_114"/>
          <p:cNvSpPr txBox="1"/>
          <p:nvPr/>
        </p:nvSpPr>
        <p:spPr>
          <a:xfrm>
            <a:off x="9338081" y="5120640"/>
            <a:ext cx="2213534" cy="685800"/>
          </a:xfrm>
          <a:prstGeom prst="rect">
            <a:avLst/>
          </a:prstGeom>
          <a:noFill/>
        </p:spPr>
        <p:txBody>
          <a:bodyPr wrap="square" lIns="0" tIns="0" rIns="0" bIns="0" rtlCol="0" anchor="ctr"/>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Báo cáo trên test</a:t>
            </a:r>
            <a:endParaRPr lang="en-US" sz="1400" dirty="0"/>
          </a:p>
        </p:txBody>
      </p:sp>
      <p:sp>
        <p:nvSpPr>
          <p:cNvPr id="34" name="text_115"/>
          <p:cNvSpPr txBox="1"/>
          <p:nvPr/>
        </p:nvSpPr>
        <p:spPr>
          <a:xfrm>
            <a:off x="548640" y="5897880"/>
            <a:ext cx="11094415" cy="365760"/>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Dữ liệu test không bao giờ dùng để chọn cấu hình. Mức trùng train–test được kiểm ở Phần B · 02.</a:t>
            </a:r>
            <a:endParaRPr lang="en-US" sz="10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07 · PHƯƠNG PHÁP ĐỀ XUẤT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Một phương pháp đề xuất, pipeline 8 bước</a:t>
            </a:r>
            <a:endParaRPr lang="en-US" sz="3200" dirty="0"/>
          </a:p>
        </p:txBody>
      </p:sp>
      <p:sp>
        <p:nvSpPr>
          <p:cNvPr id="5" name="card_116"/>
          <p:cNvSpPr/>
          <p:nvPr/>
        </p:nvSpPr>
        <p:spPr>
          <a:xfrm>
            <a:off x="548640" y="1325880"/>
            <a:ext cx="11094415" cy="777240"/>
          </a:xfrm>
          <a:prstGeom prst="roundRect">
            <a:avLst>
              <a:gd name="adj" fmla="val 9412"/>
            </a:avLst>
          </a:prstGeom>
          <a:solidFill>
            <a:schemeClr val="accent5"/>
          </a:solidFill>
          <a:ln w="12700">
            <a:solidFill>
              <a:schemeClr val="accent5"/>
            </a:solidFill>
            <a:prstDash val="solid"/>
          </a:ln>
        </p:spPr>
      </p:sp>
      <p:sp>
        <p:nvSpPr>
          <p:cNvPr id="6" name="text_117"/>
          <p:cNvSpPr txBox="1"/>
          <p:nvPr/>
        </p:nvSpPr>
        <p:spPr>
          <a:xfrm>
            <a:off x="822960" y="1325880"/>
            <a:ext cx="10545775" cy="777240"/>
          </a:xfrm>
          <a:prstGeom prst="rect">
            <a:avLst/>
          </a:prstGeom>
          <a:noFill/>
        </p:spPr>
        <p:txBody>
          <a:bodyPr wrap="square" lIns="0" tIns="0" rIns="0" bIns="0" rtlCol="0" anchor="ct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Phương pháp đề xuất  </a:t>
            </a: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QLoRA trên Qwen2.5-VL-3B-Instruct + prompt tiếng Việt có chữ OCR (ViTextVQA). Model gốc đóng băng 4-bit NF4; chỉ train adapter LoRA. Hiện thực thành QLoRA nhận biết OCR (B3) ở Phần B · 06.</a:t>
            </a:r>
            <a:endParaRPr lang="en-US" sz="1400" dirty="0"/>
          </a:p>
        </p:txBody>
      </p:sp>
      <p:sp>
        <p:nvSpPr>
          <p:cNvPr id="7" name="card_118"/>
          <p:cNvSpPr/>
          <p:nvPr/>
        </p:nvSpPr>
        <p:spPr>
          <a:xfrm>
            <a:off x="548640" y="2286000"/>
            <a:ext cx="2533574" cy="1325880"/>
          </a:xfrm>
          <a:prstGeom prst="roundRect">
            <a:avLst>
              <a:gd name="adj" fmla="val 5517"/>
            </a:avLst>
          </a:prstGeom>
          <a:solidFill>
            <a:schemeClr val="bg2"/>
          </a:solidFill>
          <a:ln w="12700">
            <a:solidFill>
              <a:schemeClr val="bg2"/>
            </a:solidFill>
            <a:prstDash val="solid"/>
          </a:ln>
        </p:spPr>
      </p:sp>
      <p:sp>
        <p:nvSpPr>
          <p:cNvPr id="8" name="text_119"/>
          <p:cNvSpPr txBox="1"/>
          <p:nvPr/>
        </p:nvSpPr>
        <p:spPr>
          <a:xfrm>
            <a:off x="731520" y="23774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1 · Dữ liệu</a:t>
            </a:r>
            <a:endParaRPr lang="en-US" sz="1350" dirty="0"/>
          </a:p>
        </p:txBody>
      </p:sp>
      <p:sp>
        <p:nvSpPr>
          <p:cNvPr id="9" name="text_120"/>
          <p:cNvSpPr txBox="1"/>
          <p:nvPr/>
        </p:nvSpPr>
        <p:spPr>
          <a:xfrm>
            <a:off x="731520" y="27889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ViVQA + ViTextVQA (chính thức)</a:t>
            </a:r>
            <a:endParaRPr lang="en-US" sz="1150" dirty="0"/>
          </a:p>
        </p:txBody>
      </p:sp>
      <p:sp>
        <p:nvSpPr>
          <p:cNvPr id="10" name="arrow_121"/>
          <p:cNvSpPr/>
          <p:nvPr/>
        </p:nvSpPr>
        <p:spPr>
          <a:xfrm>
            <a:off x="3127934" y="2839212"/>
            <a:ext cx="228600" cy="219456"/>
          </a:xfrm>
          <a:prstGeom prst="rightArrow">
            <a:avLst/>
          </a:prstGeom>
          <a:solidFill>
            <a:srgbClr val="1C7293"/>
          </a:solidFill>
          <a:ln w="12700">
            <a:solidFill>
              <a:srgbClr val="1C7293"/>
            </a:solidFill>
            <a:prstDash val="solid"/>
          </a:ln>
        </p:spPr>
      </p:sp>
      <p:sp>
        <p:nvSpPr>
          <p:cNvPr id="11" name="card_122"/>
          <p:cNvSpPr/>
          <p:nvPr/>
        </p:nvSpPr>
        <p:spPr>
          <a:xfrm>
            <a:off x="3402254" y="2286000"/>
            <a:ext cx="2533574" cy="1325880"/>
          </a:xfrm>
          <a:prstGeom prst="roundRect">
            <a:avLst>
              <a:gd name="adj" fmla="val 5517"/>
            </a:avLst>
          </a:prstGeom>
          <a:solidFill>
            <a:schemeClr val="bg2"/>
          </a:solidFill>
          <a:ln w="12700">
            <a:solidFill>
              <a:schemeClr val="bg2"/>
            </a:solidFill>
            <a:prstDash val="solid"/>
          </a:ln>
        </p:spPr>
      </p:sp>
      <p:sp>
        <p:nvSpPr>
          <p:cNvPr id="12" name="text_123"/>
          <p:cNvSpPr txBox="1"/>
          <p:nvPr/>
        </p:nvSpPr>
        <p:spPr>
          <a:xfrm>
            <a:off x="3585134" y="23774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2 · Tiền xử lý</a:t>
            </a:r>
            <a:endParaRPr lang="en-US" sz="1350" dirty="0"/>
          </a:p>
        </p:txBody>
      </p:sp>
      <p:sp>
        <p:nvSpPr>
          <p:cNvPr id="13" name="text_124"/>
          <p:cNvSpPr txBox="1"/>
          <p:nvPr/>
        </p:nvSpPr>
        <p:spPr>
          <a:xfrm>
            <a:off x="3585134" y="27889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NFC, chữ thường, chuẩn hoá đáp án; resize</a:t>
            </a:r>
            <a:endParaRPr lang="en-US" sz="1150" dirty="0"/>
          </a:p>
        </p:txBody>
      </p:sp>
      <p:sp>
        <p:nvSpPr>
          <p:cNvPr id="14" name="arrow_125"/>
          <p:cNvSpPr/>
          <p:nvPr/>
        </p:nvSpPr>
        <p:spPr>
          <a:xfrm>
            <a:off x="5981548" y="2839212"/>
            <a:ext cx="228600" cy="219456"/>
          </a:xfrm>
          <a:prstGeom prst="rightArrow">
            <a:avLst/>
          </a:prstGeom>
          <a:solidFill>
            <a:srgbClr val="1C7293"/>
          </a:solidFill>
          <a:ln w="12700">
            <a:solidFill>
              <a:srgbClr val="1C7293"/>
            </a:solidFill>
            <a:prstDash val="solid"/>
          </a:ln>
        </p:spPr>
      </p:sp>
      <p:sp>
        <p:nvSpPr>
          <p:cNvPr id="15" name="card_126"/>
          <p:cNvSpPr/>
          <p:nvPr/>
        </p:nvSpPr>
        <p:spPr>
          <a:xfrm>
            <a:off x="6255868" y="2286000"/>
            <a:ext cx="2533574" cy="1325880"/>
          </a:xfrm>
          <a:prstGeom prst="roundRect">
            <a:avLst>
              <a:gd name="adj" fmla="val 5517"/>
            </a:avLst>
          </a:prstGeom>
          <a:solidFill>
            <a:schemeClr val="bg2"/>
          </a:solidFill>
          <a:ln w="12700">
            <a:solidFill>
              <a:schemeClr val="bg2"/>
            </a:solidFill>
            <a:prstDash val="solid"/>
          </a:ln>
        </p:spPr>
      </p:sp>
      <p:sp>
        <p:nvSpPr>
          <p:cNvPr id="16" name="text_127"/>
          <p:cNvSpPr txBox="1"/>
          <p:nvPr/>
        </p:nvSpPr>
        <p:spPr>
          <a:xfrm>
            <a:off x="6438748" y="23774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3 · OCR (ViTextVQA)</a:t>
            </a:r>
            <a:endParaRPr lang="en-US" sz="1350" dirty="0"/>
          </a:p>
        </p:txBody>
      </p:sp>
      <p:sp>
        <p:nvSpPr>
          <p:cNvPr id="17" name="text_128"/>
          <p:cNvSpPr txBox="1"/>
          <p:nvPr/>
        </p:nvSpPr>
        <p:spPr>
          <a:xfrm>
            <a:off x="6438748" y="27889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Đọc chữ, sắp trái-trên → phải-dưới, cache một lần</a:t>
            </a:r>
            <a:endParaRPr lang="en-US" sz="1150" dirty="0"/>
          </a:p>
        </p:txBody>
      </p:sp>
      <p:sp>
        <p:nvSpPr>
          <p:cNvPr id="18" name="arrow_129"/>
          <p:cNvSpPr/>
          <p:nvPr/>
        </p:nvSpPr>
        <p:spPr>
          <a:xfrm>
            <a:off x="8835161" y="2839212"/>
            <a:ext cx="228600" cy="219456"/>
          </a:xfrm>
          <a:prstGeom prst="rightArrow">
            <a:avLst/>
          </a:prstGeom>
          <a:solidFill>
            <a:srgbClr val="1C7293"/>
          </a:solidFill>
          <a:ln w="12700">
            <a:solidFill>
              <a:srgbClr val="1C7293"/>
            </a:solidFill>
            <a:prstDash val="solid"/>
          </a:ln>
        </p:spPr>
      </p:sp>
      <p:sp>
        <p:nvSpPr>
          <p:cNvPr id="19" name="card_130"/>
          <p:cNvSpPr/>
          <p:nvPr/>
        </p:nvSpPr>
        <p:spPr>
          <a:xfrm>
            <a:off x="9109481" y="2286000"/>
            <a:ext cx="2533574" cy="1325880"/>
          </a:xfrm>
          <a:prstGeom prst="roundRect">
            <a:avLst>
              <a:gd name="adj" fmla="val 5517"/>
            </a:avLst>
          </a:prstGeom>
          <a:solidFill>
            <a:schemeClr val="bg2"/>
          </a:solidFill>
          <a:ln w="12700">
            <a:solidFill>
              <a:schemeClr val="bg2"/>
            </a:solidFill>
            <a:prstDash val="solid"/>
          </a:ln>
        </p:spPr>
      </p:sp>
      <p:sp>
        <p:nvSpPr>
          <p:cNvPr id="20" name="text_131"/>
          <p:cNvSpPr txBox="1"/>
          <p:nvPr/>
        </p:nvSpPr>
        <p:spPr>
          <a:xfrm>
            <a:off x="9292361" y="23774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4 · Chia tập cố định</a:t>
            </a:r>
            <a:endParaRPr lang="en-US" sz="1350" dirty="0"/>
          </a:p>
        </p:txBody>
      </p:sp>
      <p:sp>
        <p:nvSpPr>
          <p:cNvPr id="21" name="text_132"/>
          <p:cNvSpPr txBox="1"/>
          <p:nvPr/>
        </p:nvSpPr>
        <p:spPr>
          <a:xfrm>
            <a:off x="9292361" y="27889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Split chính thức; val ViVQA 1.200; seed 42</a:t>
            </a:r>
            <a:endParaRPr lang="en-US" sz="1150" dirty="0"/>
          </a:p>
        </p:txBody>
      </p:sp>
      <p:sp>
        <p:nvSpPr>
          <p:cNvPr id="22" name="card_133"/>
          <p:cNvSpPr/>
          <p:nvPr/>
        </p:nvSpPr>
        <p:spPr>
          <a:xfrm>
            <a:off x="548640" y="3886200"/>
            <a:ext cx="2533574" cy="1325880"/>
          </a:xfrm>
          <a:prstGeom prst="roundRect">
            <a:avLst>
              <a:gd name="adj" fmla="val 5517"/>
            </a:avLst>
          </a:prstGeom>
          <a:solidFill>
            <a:schemeClr val="bg2"/>
          </a:solidFill>
          <a:ln w="12700">
            <a:solidFill>
              <a:schemeClr val="bg2"/>
            </a:solidFill>
            <a:prstDash val="solid"/>
          </a:ln>
        </p:spPr>
      </p:sp>
      <p:sp>
        <p:nvSpPr>
          <p:cNvPr id="23" name="text_134"/>
          <p:cNvSpPr txBox="1"/>
          <p:nvPr/>
        </p:nvSpPr>
        <p:spPr>
          <a:xfrm>
            <a:off x="731520" y="39776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5 · Ghép prompt</a:t>
            </a:r>
            <a:endParaRPr lang="en-US" sz="1350" dirty="0"/>
          </a:p>
        </p:txBody>
      </p:sp>
      <p:sp>
        <p:nvSpPr>
          <p:cNvPr id="24" name="text_135"/>
          <p:cNvSpPr txBox="1"/>
          <p:nvPr/>
        </p:nvSpPr>
        <p:spPr>
          <a:xfrm>
            <a:off x="731520" y="43891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Ảnh + câu hỏi (+ dòng OCR); OCR giới hạn theo ngân sách token</a:t>
            </a:r>
            <a:endParaRPr lang="en-US" sz="1150" dirty="0"/>
          </a:p>
        </p:txBody>
      </p:sp>
      <p:sp>
        <p:nvSpPr>
          <p:cNvPr id="25" name="arrow_136"/>
          <p:cNvSpPr/>
          <p:nvPr/>
        </p:nvSpPr>
        <p:spPr>
          <a:xfrm>
            <a:off x="3127934" y="4439412"/>
            <a:ext cx="228600" cy="219456"/>
          </a:xfrm>
          <a:prstGeom prst="rightArrow">
            <a:avLst/>
          </a:prstGeom>
          <a:solidFill>
            <a:srgbClr val="1C7293"/>
          </a:solidFill>
          <a:ln w="12700">
            <a:solidFill>
              <a:srgbClr val="1C7293"/>
            </a:solidFill>
            <a:prstDash val="solid"/>
          </a:ln>
        </p:spPr>
      </p:sp>
      <p:sp>
        <p:nvSpPr>
          <p:cNvPr id="26" name="card_137"/>
          <p:cNvSpPr/>
          <p:nvPr/>
        </p:nvSpPr>
        <p:spPr>
          <a:xfrm>
            <a:off x="3402254" y="3886200"/>
            <a:ext cx="2533574" cy="1325880"/>
          </a:xfrm>
          <a:prstGeom prst="roundRect">
            <a:avLst>
              <a:gd name="adj" fmla="val 5517"/>
            </a:avLst>
          </a:prstGeom>
          <a:solidFill>
            <a:schemeClr val="accent4"/>
          </a:solidFill>
          <a:ln w="12700">
            <a:solidFill>
              <a:schemeClr val="accent4"/>
            </a:solidFill>
            <a:prstDash val="solid"/>
          </a:ln>
        </p:spPr>
      </p:sp>
      <p:sp>
        <p:nvSpPr>
          <p:cNvPr id="27" name="text_138"/>
          <p:cNvSpPr txBox="1"/>
          <p:nvPr/>
        </p:nvSpPr>
        <p:spPr>
          <a:xfrm>
            <a:off x="3585134" y="39776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6 · Qwen2.5-VL-3B 4-bit + LoRA</a:t>
            </a:r>
            <a:endParaRPr lang="en-US" sz="1350" dirty="0"/>
          </a:p>
        </p:txBody>
      </p:sp>
      <p:sp>
        <p:nvSpPr>
          <p:cNvPr id="28" name="text_139"/>
          <p:cNvSpPr txBox="1"/>
          <p:nvPr/>
        </p:nvSpPr>
        <p:spPr>
          <a:xfrm>
            <a:off x="3585134" y="43891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Train: loss chỉ trên token đáp án; suy luận: greedy, ngắn</a:t>
            </a:r>
            <a:endParaRPr lang="en-US" sz="1150" dirty="0"/>
          </a:p>
        </p:txBody>
      </p:sp>
      <p:sp>
        <p:nvSpPr>
          <p:cNvPr id="29" name="arrow_140"/>
          <p:cNvSpPr/>
          <p:nvPr/>
        </p:nvSpPr>
        <p:spPr>
          <a:xfrm>
            <a:off x="5981548" y="4439412"/>
            <a:ext cx="228600" cy="219456"/>
          </a:xfrm>
          <a:prstGeom prst="rightArrow">
            <a:avLst/>
          </a:prstGeom>
          <a:solidFill>
            <a:srgbClr val="1C7293"/>
          </a:solidFill>
          <a:ln w="12700">
            <a:solidFill>
              <a:srgbClr val="1C7293"/>
            </a:solidFill>
            <a:prstDash val="solid"/>
          </a:ln>
        </p:spPr>
      </p:sp>
      <p:sp>
        <p:nvSpPr>
          <p:cNvPr id="30" name="card_141"/>
          <p:cNvSpPr/>
          <p:nvPr/>
        </p:nvSpPr>
        <p:spPr>
          <a:xfrm>
            <a:off x="6255868" y="3886200"/>
            <a:ext cx="2533574" cy="1325880"/>
          </a:xfrm>
          <a:prstGeom prst="roundRect">
            <a:avLst>
              <a:gd name="adj" fmla="val 5517"/>
            </a:avLst>
          </a:prstGeom>
          <a:solidFill>
            <a:schemeClr val="bg2"/>
          </a:solidFill>
          <a:ln w="12700">
            <a:solidFill>
              <a:schemeClr val="bg2"/>
            </a:solidFill>
            <a:prstDash val="solid"/>
          </a:ln>
        </p:spPr>
      </p:sp>
      <p:sp>
        <p:nvSpPr>
          <p:cNvPr id="31" name="text_142"/>
          <p:cNvSpPr txBox="1"/>
          <p:nvPr/>
        </p:nvSpPr>
        <p:spPr>
          <a:xfrm>
            <a:off x="6438748" y="39776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7 · Chấm &amp; phân tích</a:t>
            </a:r>
            <a:endParaRPr lang="en-US" sz="1350" dirty="0"/>
          </a:p>
        </p:txBody>
      </p:sp>
      <p:sp>
        <p:nvSpPr>
          <p:cNvPr id="32" name="text_143"/>
          <p:cNvSpPr txBox="1"/>
          <p:nvPr/>
        </p:nvSpPr>
        <p:spPr>
          <a:xfrm>
            <a:off x="6438748" y="43891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EM, VQA-Acc, ANLS (+F1); hallucination; lỗi V1–V4; log seed, VRAM, thời gian</a:t>
            </a:r>
            <a:endParaRPr lang="en-US" sz="1150" dirty="0"/>
          </a:p>
        </p:txBody>
      </p:sp>
      <p:sp>
        <p:nvSpPr>
          <p:cNvPr id="33" name="arrow_144"/>
          <p:cNvSpPr/>
          <p:nvPr/>
        </p:nvSpPr>
        <p:spPr>
          <a:xfrm>
            <a:off x="8835161" y="4439412"/>
            <a:ext cx="228600" cy="219456"/>
          </a:xfrm>
          <a:prstGeom prst="rightArrow">
            <a:avLst/>
          </a:prstGeom>
          <a:solidFill>
            <a:srgbClr val="1C7293"/>
          </a:solidFill>
          <a:ln w="12700">
            <a:solidFill>
              <a:srgbClr val="1C7293"/>
            </a:solidFill>
            <a:prstDash val="solid"/>
          </a:ln>
        </p:spPr>
      </p:sp>
      <p:sp>
        <p:nvSpPr>
          <p:cNvPr id="34" name="card_145"/>
          <p:cNvSpPr/>
          <p:nvPr/>
        </p:nvSpPr>
        <p:spPr>
          <a:xfrm>
            <a:off x="9109481" y="3886200"/>
            <a:ext cx="2533574" cy="1325880"/>
          </a:xfrm>
          <a:prstGeom prst="roundRect">
            <a:avLst>
              <a:gd name="adj" fmla="val 5517"/>
            </a:avLst>
          </a:prstGeom>
          <a:solidFill>
            <a:schemeClr val="bg2"/>
          </a:solidFill>
          <a:ln w="12700">
            <a:solidFill>
              <a:schemeClr val="bg2"/>
            </a:solidFill>
            <a:prstDash val="solid"/>
          </a:ln>
        </p:spPr>
      </p:sp>
      <p:sp>
        <p:nvSpPr>
          <p:cNvPr id="35" name="text_146"/>
          <p:cNvSpPr txBox="1"/>
          <p:nvPr/>
        </p:nvSpPr>
        <p:spPr>
          <a:xfrm>
            <a:off x="9292361" y="3977640"/>
            <a:ext cx="2167814" cy="411480"/>
          </a:xfrm>
          <a:prstGeom prst="rect">
            <a:avLst/>
          </a:prstGeom>
          <a:noFill/>
        </p:spPr>
        <p:txBody>
          <a:bodyPr wrap="square" lIns="0" tIns="0" rIns="0" bIns="0" rtlCol="0" anchor="t"/>
          <a:lstStyle/>
          <a:p>
            <a:pPr marL="0" indent="0">
              <a:buNone/>
            </a:pPr>
            <a:r>
              <a:rPr lang="en-US" sz="1350" b="1" dirty="0">
                <a:solidFill>
                  <a:schemeClr val="tx2"/>
                </a:solidFill>
                <a:latin typeface="Calibri" panose="020F0502020204030204" pitchFamily="34" charset="0"/>
                <a:ea typeface="Calibri" panose="020F0502020204030204" pitchFamily="34" charset="-122"/>
                <a:cs typeface="Calibri" panose="020F0502020204030204" pitchFamily="34" charset="-120"/>
              </a:rPr>
              <a:t>8 · Prototype web</a:t>
            </a:r>
            <a:endParaRPr lang="en-US" sz="1350" dirty="0"/>
          </a:p>
        </p:txBody>
      </p:sp>
      <p:sp>
        <p:nvSpPr>
          <p:cNvPr id="36" name="text_147"/>
          <p:cNvSpPr txBox="1"/>
          <p:nvPr/>
        </p:nvSpPr>
        <p:spPr>
          <a:xfrm>
            <a:off x="9292361" y="4389120"/>
            <a:ext cx="2167814" cy="777240"/>
          </a:xfrm>
          <a:prstGeom prst="rect">
            <a:avLst/>
          </a:prstGeom>
          <a:noFill/>
        </p:spPr>
        <p:txBody>
          <a:bodyPr wrap="square" lIns="0" tIns="0" rIns="0" bIns="0" rtlCol="0" anchor="t"/>
          <a:lstStyle/>
          <a:p>
            <a:pPr marL="0" indent="0">
              <a:buNone/>
            </a:pP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Tải ảnh, hỏi tiếng Việt, hiện câu trả lời + chữ OCR</a:t>
            </a:r>
            <a:endParaRPr lang="en-US" sz="1150" dirty="0"/>
          </a:p>
        </p:txBody>
      </p:sp>
      <p:sp>
        <p:nvSpPr>
          <p:cNvPr id="37" name="text_148"/>
          <p:cNvSpPr txBox="1"/>
          <p:nvPr/>
        </p:nvSpPr>
        <p:spPr>
          <a:xfrm>
            <a:off x="548640" y="5806440"/>
            <a:ext cx="11094415" cy="457200"/>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Bước 1–4 chạy một lần và được cache; bước 5–7 giống hệt cho mọi run (giao thức cố định, Phần B · 03). Dạng prompt cuối: Phần B · 06 (một dòng OCR, cùng prompt cho train và test).</a:t>
            </a:r>
            <a:endParaRPr lang="en-US" sz="10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07 · QLoRA VÀ VAI TRÒ MÔ HÌNH</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Vì sao chỉ dùng QLoRA — và mô hình nào dùng để làm gì</a:t>
            </a:r>
            <a:endParaRPr lang="en-US" sz="3200" dirty="0"/>
          </a:p>
        </p:txBody>
      </p:sp>
      <p:sp>
        <p:nvSpPr>
          <p:cNvPr id="5" name="card_149"/>
          <p:cNvSpPr/>
          <p:nvPr/>
        </p:nvSpPr>
        <p:spPr>
          <a:xfrm>
            <a:off x="548640" y="1371600"/>
            <a:ext cx="4937760" cy="2514600"/>
          </a:xfrm>
          <a:prstGeom prst="roundRect">
            <a:avLst>
              <a:gd name="adj" fmla="val 2909"/>
            </a:avLst>
          </a:prstGeom>
          <a:solidFill>
            <a:schemeClr val="bg2"/>
          </a:solidFill>
          <a:ln w="12700">
            <a:solidFill>
              <a:schemeClr val="bg2"/>
            </a:solidFill>
            <a:prstDash val="solid"/>
          </a:ln>
        </p:spPr>
      </p:sp>
      <p:sp>
        <p:nvSpPr>
          <p:cNvPr id="6" name="text_150"/>
          <p:cNvSpPr txBox="1"/>
          <p:nvPr/>
        </p:nvSpPr>
        <p:spPr>
          <a:xfrm>
            <a:off x="777240" y="1463040"/>
            <a:ext cx="4480560" cy="36576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QLoRA hoạt động thế nào</a:t>
            </a:r>
            <a:endParaRPr lang="en-US" sz="1500" dirty="0"/>
          </a:p>
        </p:txBody>
      </p:sp>
      <p:sp>
        <p:nvSpPr>
          <p:cNvPr id="7" name="list_151"/>
          <p:cNvSpPr txBox="1"/>
          <p:nvPr/>
        </p:nvSpPr>
        <p:spPr>
          <a:xfrm>
            <a:off x="777240" y="1874520"/>
            <a:ext cx="4480560" cy="1737360"/>
          </a:xfrm>
          <a:prstGeom prst="rect">
            <a:avLst/>
          </a:prstGeom>
          <a:noFill/>
        </p:spPr>
        <p:txBody>
          <a:bodyPr wrap="square" lIns="0" tIns="0" rIns="0" bIns="0" rtlCol="0" anchor="t"/>
          <a:lstStyle/>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Trọng số gốc nén 4-bit NF4 và đóng băng</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Mỗi lớp đích gắn hai ma trận nhỏ A·B (hạng r); chỉ A và B được train</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Kết quả: adapter ~30 MB gắn lên model gốc khi suy luận</a:t>
            </a:r>
            <a:endParaRPr lang="en-US" sz="1300" dirty="0"/>
          </a:p>
        </p:txBody>
      </p:sp>
      <p:sp>
        <p:nvSpPr>
          <p:cNvPr id="8" name="text_152"/>
          <p:cNvSpPr txBox="1"/>
          <p:nvPr/>
        </p:nvSpPr>
        <p:spPr>
          <a:xfrm>
            <a:off x="777240" y="3520440"/>
            <a:ext cx="4480560" cy="274320"/>
          </a:xfrm>
          <a:prstGeom prst="rect">
            <a:avLst/>
          </a:prstGeom>
          <a:noFill/>
        </p:spPr>
        <p:txBody>
          <a:bodyPr wrap="square" lIns="0" tIns="0" rIns="0" bIns="0" rtlCol="0" anchor="t"/>
          <a:lstStyle/>
          <a:p>
            <a:pPr marL="0" indent="0">
              <a:buNone/>
            </a:pPr>
            <a:r>
              <a:rPr lang="en-US" sz="1000" i="1" dirty="0">
                <a:solidFill>
                  <a:schemeClr val="accent3"/>
                </a:solidFill>
                <a:latin typeface="Calibri" panose="020F0502020204030204" pitchFamily="34" charset="0"/>
                <a:ea typeface="Calibri" panose="020F0502020204030204" pitchFamily="34" charset="-122"/>
                <a:cs typeface="Calibri" panose="020F0502020204030204" pitchFamily="34" charset="-120"/>
              </a:rPr>
              <a:t>Hu et al., LoRA, ICLR 2022 · Dettmers et al., QLoRA, NeurIPS 2023</a:t>
            </a:r>
            <a:endParaRPr lang="en-US" sz="1000" dirty="0"/>
          </a:p>
        </p:txBody>
      </p:sp>
      <p:sp>
        <p:nvSpPr>
          <p:cNvPr id="9" name="card_153"/>
          <p:cNvSpPr/>
          <p:nvPr/>
        </p:nvSpPr>
        <p:spPr>
          <a:xfrm>
            <a:off x="548640" y="4069080"/>
            <a:ext cx="4937760" cy="2194560"/>
          </a:xfrm>
          <a:prstGeom prst="roundRect">
            <a:avLst>
              <a:gd name="adj" fmla="val 3333"/>
            </a:avLst>
          </a:prstGeom>
          <a:solidFill>
            <a:schemeClr val="accent5"/>
          </a:solidFill>
          <a:ln w="12700">
            <a:solidFill>
              <a:schemeClr val="accent5"/>
            </a:solidFill>
            <a:prstDash val="solid"/>
          </a:ln>
        </p:spPr>
      </p:sp>
      <p:sp>
        <p:nvSpPr>
          <p:cNvPr id="10" name="text_154"/>
          <p:cNvSpPr txBox="1"/>
          <p:nvPr/>
        </p:nvSpPr>
        <p:spPr>
          <a:xfrm>
            <a:off x="777240" y="4160520"/>
            <a:ext cx="4480560" cy="365760"/>
          </a:xfrm>
          <a:prstGeom prst="rect">
            <a:avLst/>
          </a:prstGeom>
          <a:noFill/>
        </p:spPr>
        <p:txBody>
          <a:bodyPr wrap="square" lIns="0" tIns="0" rIns="0" bIns="0" rtlCol="0" anchor="t"/>
          <a:lstStyle/>
          <a:p>
            <a:pPr marL="0" indent="0">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Vì sao chỉ QLoRA (không so LoRA với QLoRA)</a:t>
            </a:r>
            <a:endParaRPr lang="en-US" sz="1500" dirty="0"/>
          </a:p>
        </p:txBody>
      </p:sp>
      <p:sp>
        <p:nvSpPr>
          <p:cNvPr id="11" name="text_155"/>
          <p:cNvSpPr txBox="1"/>
          <p:nvPr/>
        </p:nvSpPr>
        <p:spPr>
          <a:xfrm>
            <a:off x="777240" y="4572000"/>
            <a:ext cx="4480560" cy="164592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Trọng số 3B ở 16-bit ~7–8 GB chưa tính activation của ảnh; ở 4-bit ~2–3 GB. Lúc Review 1 GPU là Colab T4 (16 GB, không bf16); từ W7 là L4 (24 GB). QLoRA là điều kiện để chạy được, không phải biến so sánh — phép so dùng để kết luận chỉ là QLoRA so với zero-shot trên cùng model.</a:t>
            </a:r>
            <a:endParaRPr lang="en-US" sz="1300" dirty="0"/>
          </a:p>
        </p:txBody>
      </p:sp>
      <p:graphicFrame>
        <p:nvGraphicFramePr>
          <p:cNvPr id="13" name="table_156"/>
          <p:cNvGraphicFramePr>
            <a:graphicFrameLocks noGrp="1"/>
          </p:cNvGraphicFramePr>
          <p:nvPr/>
        </p:nvGraphicFramePr>
        <p:xfrm>
          <a:off x="5852160" y="1371600"/>
          <a:ext cx="5790895" cy="3291840"/>
        </p:xfrm>
        <a:graphic>
          <a:graphicData uri="http://schemas.openxmlformats.org/drawingml/2006/table">
            <a:tbl>
              <a:tblPr/>
              <a:tblGrid>
                <a:gridCol w="1965960"/>
                <a:gridCol w="2331720"/>
                <a:gridCol w="1493215"/>
              </a:tblGrid>
              <a:tr h="65836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Vai trò</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Dùng để kết luận cải tiến?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65836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Qwen2.5-VL-3B-Instruct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Baseline tái lập + nền của phương pháp đề xuất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Có — cùng model, split, seed, phần cứng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Qwen2-VL-7B-Instruct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Ablation backbone, zero-shot (Phần B · 04)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Không — khác thế hệ và kích thước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Florence-2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Dự phòng nếu baseline lỗi (không kích hoạt)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Không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BLIP-2 · PreSTU · ViTextBLIP-2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Công trình trước — số từ paper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Không — chỉ định vị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4" name="card_157"/>
          <p:cNvSpPr/>
          <p:nvPr/>
        </p:nvSpPr>
        <p:spPr>
          <a:xfrm>
            <a:off x="5852160" y="4892040"/>
            <a:ext cx="5790895" cy="1371600"/>
          </a:xfrm>
          <a:prstGeom prst="roundRect">
            <a:avLst>
              <a:gd name="adj" fmla="val 5333"/>
            </a:avLst>
          </a:prstGeom>
          <a:solidFill>
            <a:schemeClr val="accent4"/>
          </a:solidFill>
          <a:ln w="12700">
            <a:solidFill>
              <a:schemeClr val="accent4"/>
            </a:solidFill>
            <a:prstDash val="solid"/>
          </a:ln>
        </p:spPr>
      </p:sp>
      <p:sp>
        <p:nvSpPr>
          <p:cNvPr id="14" name="text_158"/>
          <p:cNvSpPr txBox="1"/>
          <p:nvPr/>
        </p:nvSpPr>
        <p:spPr>
          <a:xfrm>
            <a:off x="6126480" y="4892040"/>
            <a:ext cx="5242255" cy="1371600"/>
          </a:xfrm>
          <a:prstGeom prst="rect">
            <a:avLst/>
          </a:prstGeom>
          <a:noFill/>
        </p:spPr>
        <p:txBody>
          <a:bodyPr wrap="square" lIns="0" tIns="0" rIns="0" bIns="0" rtlCol="0" anchor="ctr"/>
          <a:lstStyle/>
          <a:p>
            <a:pPr marL="0" indent="0">
              <a:buNone/>
            </a:pPr>
            <a:r>
              <a:rPr lang="en-US" sz="1350" dirty="0">
                <a:solidFill>
                  <a:schemeClr val="tx2"/>
                </a:solidFill>
                <a:latin typeface="Calibri" panose="020F0502020204030204" pitchFamily="34" charset="0"/>
                <a:ea typeface="Calibri" panose="020F0502020204030204" pitchFamily="34" charset="-122"/>
                <a:cs typeface="Calibri" panose="020F0502020204030204" pitchFamily="34" charset="-120"/>
              </a:rPr>
              <a:t>Nguyên tắc: chỉ kết luận “cải thiện” khi cùng backbone, kích thước, split, seed và phần cứng. So mô hình khác thế hệ hay kích thước không đo được hiệu quả của phương pháp.</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07 · NGÂN SÁCH TOKEN &amp; RAG</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Ngân sách token mỗi mẫu, và vị trí của RAG</a:t>
            </a:r>
            <a:endParaRPr lang="en-US" sz="3200" dirty="0"/>
          </a:p>
        </p:txBody>
      </p:sp>
      <p:graphicFrame>
        <p:nvGraphicFramePr>
          <p:cNvPr id="14" name="table_159"/>
          <p:cNvGraphicFramePr>
            <a:graphicFrameLocks noGrp="1"/>
          </p:cNvGraphicFramePr>
          <p:nvPr/>
        </p:nvGraphicFramePr>
        <p:xfrm>
          <a:off x="548640" y="1371600"/>
          <a:ext cx="7315200" cy="3968496"/>
        </p:xfrm>
        <a:graphic>
          <a:graphicData uri="http://schemas.openxmlformats.org/drawingml/2006/table">
            <a:tbl>
              <a:tblPr/>
              <a:tblGrid>
                <a:gridCol w="1828800"/>
                <a:gridCol w="3108960"/>
                <a:gridCol w="2377440"/>
              </a:tblGrid>
              <a:tr h="56692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Thành phần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Cách tính / giới hạn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Ghi chú</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Token ảnh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 (cao/28)·(rộng/28) sau resize; chặn bởi max_pixels = 401.408 → ≤ 512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Cấu hình cố định (Phần B · 03)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Câu hỏi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Vài chục token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ViTextVQA: trung bình 9,59 từ</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Chữ OCR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Một dòng, tối đa N token (log ở mỗi run)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Chỉ ViTextVQA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Chỉ dẫn + template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Cố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Đầu ra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max_new_tokens = 32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dirty="0">
                          <a:solidFill>
                            <a:srgbClr val="243044"/>
                          </a:solidFill>
                          <a:latin typeface="Calibri" panose="020F0502020204030204" pitchFamily="34" charset="0"/>
                          <a:ea typeface="Calibri" panose="020F0502020204030204" pitchFamily="34" charset="-122"/>
                          <a:cs typeface="Calibri" panose="020F0502020204030204" pitchFamily="34" charset="-120"/>
                        </a:rPr>
                        <a:t>Đáp án: trung bình 4,18 từ</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Tổng (ước tính)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 1.000 token mỗi mẫu</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50" b="1" dirty="0">
                          <a:solidFill>
                            <a:srgbClr val="243044"/>
                          </a:solidFill>
                          <a:latin typeface="Calibri" panose="020F0502020204030204" pitchFamily="34" charset="0"/>
                          <a:ea typeface="Calibri" panose="020F0502020204030204" pitchFamily="34" charset="-122"/>
                          <a:cs typeface="Calibri" panose="020F0502020204030204" pitchFamily="34" charset="-120"/>
                        </a:rPr>
                        <a:t>Nhỏ hơn nhiều context window; giới hạn thật là VRAM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0"/>
          <p:cNvSpPr/>
          <p:nvPr/>
        </p:nvSpPr>
        <p:spPr>
          <a:xfrm>
            <a:off x="8229600" y="1371600"/>
            <a:ext cx="3413455" cy="4892040"/>
          </a:xfrm>
          <a:prstGeom prst="roundRect">
            <a:avLst>
              <a:gd name="adj" fmla="val 2143"/>
            </a:avLst>
          </a:prstGeom>
          <a:solidFill>
            <a:schemeClr val="accent4"/>
          </a:solidFill>
          <a:ln w="12700">
            <a:solidFill>
              <a:schemeClr val="accent4"/>
            </a:solidFill>
            <a:prstDash val="solid"/>
          </a:ln>
        </p:spPr>
      </p:sp>
      <p:sp>
        <p:nvSpPr>
          <p:cNvPr id="7" name="text_161"/>
          <p:cNvSpPr txBox="1"/>
          <p:nvPr/>
        </p:nvSpPr>
        <p:spPr>
          <a:xfrm>
            <a:off x="8503920" y="1508760"/>
            <a:ext cx="2864815"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RAG — tuỳ chọn, có điều kiện</a:t>
            </a:r>
            <a:endParaRPr lang="en-US" sz="1600" dirty="0"/>
          </a:p>
        </p:txBody>
      </p:sp>
      <p:sp>
        <p:nvSpPr>
          <p:cNvPr id="8" name="list_162"/>
          <p:cNvSpPr txBox="1"/>
          <p:nvPr/>
        </p:nvSpPr>
        <p:spPr>
          <a:xfrm>
            <a:off x="8503920" y="1965960"/>
            <a:ext cx="2864815" cy="4206240"/>
          </a:xfrm>
          <a:prstGeom prst="rect">
            <a:avLst/>
          </a:prstGeom>
          <a:noFill/>
        </p:spPr>
        <p:txBody>
          <a:bodyPr wrap="square" lIns="0" tIns="0" rIns="0" bIns="0" rtlCol="0" anchor="t"/>
          <a:lstStyle/>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OCR trong prompt đã là “truy xuất bằng chứng” từ chính ảnh</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RAG tri thức ngoài (embedding + FAISS, top-k) chỉ làm nếu phân tích lỗi cho thấy nhiều câu sai do thiếu tri thức ngoài ảnh</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Nếu kích hoạt: đặc tả kho tri thức, mô hình embedding, cách truy xuất và ngân sách token</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Trạng thái Review 2: duyệt 200 lỗi (Phần B · 05) cho thấy lỗi đọc chữ/định dạng, không phải thiếu tri thức → chưa kích hoạt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10 · KẾ HOẠCH</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Kế hoạch 15 tuần với đầu ra kiểm chứng được</a:t>
            </a:r>
            <a:endParaRPr lang="en-US" sz="3200" dirty="0"/>
          </a:p>
        </p:txBody>
      </p:sp>
      <p:graphicFrame>
        <p:nvGraphicFramePr>
          <p:cNvPr id="15" name="table_163"/>
          <p:cNvGraphicFramePr>
            <a:graphicFrameLocks noGrp="1"/>
          </p:cNvGraphicFramePr>
          <p:nvPr/>
        </p:nvGraphicFramePr>
        <p:xfrm>
          <a:off x="548640" y="1280160"/>
          <a:ext cx="11094415" cy="4901184"/>
        </p:xfrm>
        <a:graphic>
          <a:graphicData uri="http://schemas.openxmlformats.org/drawingml/2006/table">
            <a:tbl>
              <a:tblPr/>
              <a:tblGrid>
                <a:gridCol w="731520"/>
                <a:gridCol w="5852160"/>
                <a:gridCol w="4507992"/>
              </a:tblGrid>
              <a:tr h="306324">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Tuần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Công việc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Đầu ra kiểm chứng được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Đọc đề cương, phân vai, 10 paper nền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Báo cáo W1, kế hoạch 15 tuần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W2</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Literature Matrix; phân tích ViVQA / ViTextVQA</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Literature_Matrix.md, Dataset_Analysis.md</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W3</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Câu hỏi NC, giả thuyết, đề xuất baseline — Review 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Báo cáo + slide Review 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W4</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Môi trường Colab; zero-shot thử trên ViTextVQA</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Notebook zero-shot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W5</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ViTextVQA chính thức; tiền xử lý NFC; cố định split + test subset 2.000 câu</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Dữ liệu chính thức + log split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W6</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Zero-shot chính thức 2 dataset; phân loại lỗi V1–V4; bảng công trình trước</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baseline; Methodology (Report 4)</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W7</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Review 2: baseline + phương pháp đề xuất + QLoRA thử</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Slide Review 2; log pilot</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W8</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đầy đủ trên ViVQA; log VRAM, thời gian, số tham số</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Adapter v1; experiments/W08_*</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W9</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OCR pipeline + prompt tiếng Việt; QLoRA trên ViTextVQA</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OCR cache; adapter v2</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W10</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Chạy chính: zero-shot / prompt / QLoRA / QLoRA + OCR, cùng split, seed</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kết quả chính</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W11</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Đánh giá đầy đủ (EM, VQA-Acc, ANLS, F1); hallucination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Báo cáo metric + hallucination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W12</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Ablation (OCR, thứ tự OCR, rank / module); phân tích lỗi</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Bảng ablation; failure cases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W13</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Hội đồng cấp Khoa</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Slide + Report 6–7</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W14</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Prototype Gradio; viết thesis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050" dirty="0">
                          <a:solidFill>
                            <a:srgbClr val="243044"/>
                          </a:solidFill>
                          <a:latin typeface="Calibri" panose="020F0502020204030204" pitchFamily="34" charset="0"/>
                          <a:ea typeface="Calibri" panose="020F0502020204030204" pitchFamily="34" charset="-122"/>
                          <a:cs typeface="Calibri" panose="020F0502020204030204" pitchFamily="34" charset="-120"/>
                        </a:rPr>
                        <a:t>Demo chạy được; bản thesis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W15</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Bảo vệ cuối kỳ; gói tái lập</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buNone/>
                      </a:pPr>
                      <a:r>
                        <a:rPr lang="en-US" sz="1050" b="1" dirty="0">
                          <a:solidFill>
                            <a:srgbClr val="243044"/>
                          </a:solidFill>
                          <a:latin typeface="Calibri" panose="020F0502020204030204" pitchFamily="34" charset="0"/>
                          <a:ea typeface="Calibri" panose="020F0502020204030204" pitchFamily="34" charset="-122"/>
                          <a:cs typeface="Calibri" panose="020F0502020204030204" pitchFamily="34" charset="-120"/>
                        </a:rPr>
                        <a:t>Code, adapter, config, script suy luận, README, log</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11–12 · RỦI RO &amp; RÀNG BUỘC</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Rủi ro (trạng thái ở Review 2) và ràng buộc</a:t>
            </a:r>
            <a:endParaRPr lang="en-US" sz="3200" dirty="0"/>
          </a:p>
        </p:txBody>
      </p:sp>
      <p:graphicFrame>
        <p:nvGraphicFramePr>
          <p:cNvPr id="16" name="table_164"/>
          <p:cNvGraphicFramePr>
            <a:graphicFrameLocks noGrp="1"/>
          </p:cNvGraphicFramePr>
          <p:nvPr/>
        </p:nvGraphicFramePr>
        <p:xfrm>
          <a:off x="548640" y="1371600"/>
          <a:ext cx="7863840" cy="4389120"/>
        </p:xfrm>
        <a:graphic>
          <a:graphicData uri="http://schemas.openxmlformats.org/drawingml/2006/table">
            <a:tbl>
              <a:tblPr/>
              <a:tblGrid>
                <a:gridCol w="1828800"/>
                <a:gridCol w="868680"/>
                <a:gridCol w="2240280"/>
                <a:gridCol w="2926080"/>
              </a:tblGrid>
              <a:tr h="54864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Rủi ro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Mức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Giảm thiểu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Trạng thái ở Review 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Model quá lớn / OOM</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B42318"/>
                          </a:solidFill>
                          <a:latin typeface="Calibri" panose="020F0502020204030204" pitchFamily="34" charset="0"/>
                          <a:ea typeface="Calibri" panose="020F0502020204030204" pitchFamily="34" charset="-122"/>
                          <a:cs typeface="Calibri" panose="020F0502020204030204" pitchFamily="34" charset="-120"/>
                        </a:rPr>
                        <a:t>Cao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4-bit, model 3B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Đã khử: train ≤ 7 GB VRAM trên L4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Colab bị gián đoạn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B42318"/>
                          </a:solidFill>
                          <a:latin typeface="Calibri" panose="020F0502020204030204" pitchFamily="34" charset="0"/>
                          <a:ea typeface="Calibri" panose="020F0502020204030204" pitchFamily="34" charset="-122"/>
                          <a:cs typeface="Calibri" panose="020F0502020204030204" pitchFamily="34" charset="-120"/>
                        </a:rPr>
                        <a:t>Cao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Mount Drive, checkpoint thường xuyên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Đã khử: resume đã kiểm trên L4 (W5)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Baseline khó tái lập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B42318"/>
                          </a:solidFill>
                          <a:latin typeface="Calibri" panose="020F0502020204030204" pitchFamily="34" charset="0"/>
                          <a:ea typeface="Calibri" panose="020F0502020204030204" pitchFamily="34" charset="-122"/>
                          <a:cs typeface="Calibri" panose="020F0502020204030204" pitchFamily="34" charset="-120"/>
                        </a:rPr>
                        <a:t>Cao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Repo gốc, seed cố định</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Đã khử: TextVQA 79,6 so với 79,3 công bố (R0)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Train không hội tụ</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B42318"/>
                          </a:solidFill>
                          <a:latin typeface="Calibri" panose="020F0502020204030204" pitchFamily="34" charset="0"/>
                          <a:ea typeface="Calibri" panose="020F0502020204030204" pitchFamily="34" charset="-122"/>
                          <a:cs typeface="Calibri" panose="020F0502020204030204" pitchFamily="34" charset="-120"/>
                        </a:rPr>
                        <a:t>Cao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Quay về prompting / OCR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Không xảy ra (log loss, B2, B3)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Dữ liệu / licence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E8A33D"/>
                          </a:solidFill>
                          <a:latin typeface="Calibri" panose="020F0502020204030204" pitchFamily="34" charset="0"/>
                          <a:ea typeface="Calibri" panose="020F0502020204030204" pitchFamily="34" charset="-122"/>
                          <a:cs typeface="Calibri" panose="020F0502020204030204" pitchFamily="34" charset="-120"/>
                        </a:rPr>
                        <a:t>TB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Kiểm licence; tiền xử lý</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Đã khử: repo ViTextVQA chính thức (W5)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train chậm</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E8A33D"/>
                          </a:solidFill>
                          <a:latin typeface="Calibri" panose="020F0502020204030204" pitchFamily="34" charset="0"/>
                          <a:ea typeface="Calibri" panose="020F0502020204030204" pitchFamily="34" charset="-122"/>
                          <a:cs typeface="Calibri" panose="020F0502020204030204" pitchFamily="34" charset="-120"/>
                        </a:rPr>
                        <a:t>TB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Subset thử, gradient accumulation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Đã xử lý: tập con 8k cố định cho B3 (≈ 25% thời gian)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OCR kém</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b="1" dirty="0">
                          <a:solidFill>
                            <a:srgbClr val="E8A33D"/>
                          </a:solidFill>
                          <a:latin typeface="Calibri" panose="020F0502020204030204" pitchFamily="34" charset="0"/>
                          <a:ea typeface="Calibri" panose="020F0502020204030204" pitchFamily="34" charset="-122"/>
                          <a:cs typeface="Calibri" panose="020F0502020204030204" pitchFamily="34" charset="-120"/>
                        </a:rPr>
                        <a:t>TB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Đổi PaddleOCR ↔ VietOCR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150" dirty="0">
                          <a:solidFill>
                            <a:srgbClr val="243044"/>
                          </a:solidFill>
                          <a:latin typeface="Calibri" panose="020F0502020204030204" pitchFamily="34" charset="0"/>
                          <a:ea typeface="Calibri" panose="020F0502020204030204" pitchFamily="34" charset="-122"/>
                          <a:cs typeface="Calibri" panose="020F0502020204030204" pitchFamily="34" charset="-120"/>
                        </a:rPr>
                        <a:t>Còn mở: lỗi OCR vẫn là nguồn lỗi chính</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5"/>
          <p:cNvSpPr/>
          <p:nvPr/>
        </p:nvSpPr>
        <p:spPr>
          <a:xfrm>
            <a:off x="8778240" y="1371600"/>
            <a:ext cx="2864815" cy="4892040"/>
          </a:xfrm>
          <a:prstGeom prst="roundRect">
            <a:avLst>
              <a:gd name="adj" fmla="val 2553"/>
            </a:avLst>
          </a:prstGeom>
          <a:solidFill>
            <a:schemeClr val="accent4"/>
          </a:solidFill>
          <a:ln w="12700">
            <a:solidFill>
              <a:schemeClr val="accent4"/>
            </a:solidFill>
            <a:prstDash val="solid"/>
          </a:ln>
        </p:spPr>
      </p:sp>
      <p:sp>
        <p:nvSpPr>
          <p:cNvPr id="7" name="text_166"/>
          <p:cNvSpPr txBox="1"/>
          <p:nvPr/>
        </p:nvSpPr>
        <p:spPr>
          <a:xfrm>
            <a:off x="9006840" y="1481328"/>
            <a:ext cx="2407615"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Ràng buộc bắt buộc</a:t>
            </a:r>
            <a:endParaRPr lang="en-US" sz="1600" dirty="0"/>
          </a:p>
        </p:txBody>
      </p:sp>
      <p:sp>
        <p:nvSpPr>
          <p:cNvPr id="8" name="list_167"/>
          <p:cNvSpPr txBox="1"/>
          <p:nvPr/>
        </p:nvSpPr>
        <p:spPr>
          <a:xfrm>
            <a:off x="9006840" y="1965960"/>
            <a:ext cx="2407615" cy="4206240"/>
          </a:xfrm>
          <a:prstGeom prst="rect">
            <a:avLst/>
          </a:prstGeom>
          <a:noFill/>
        </p:spPr>
        <p:txBody>
          <a:bodyPr wrap="square" lIns="0" tIns="0" rIns="0" bIns="0" rtlCol="0" anchor="t"/>
          <a:lstStyle/>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Chỉ PEFT (LoRA / QLoRA) — không full fine-tuning</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Tái lập một baseline trước, rồi mới cải tiến</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Cùng split, seed, phần cứng cho mọi so sánh</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Hiệu quả là ràng buộc thiết kế: log VRAM, thời gian mỗi run</a:t>
            </a:r>
            <a:endParaRPr lang="en-US" sz="1300" dirty="0"/>
          </a:p>
          <a:p>
            <a:pPr marL="177800" indent="-177800">
              <a:spcAft>
                <a:spcPts val="600"/>
              </a:spcAft>
              <a:buSzPct val="100000"/>
              <a:buChar char="•"/>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Runtime: Google Colab (Pro cho training), mount Drive, log GPU mỗi run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1 · 08–09–13 · SẢN PHẨM, GIÁ TRỊ, NHÓM</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Sản phẩm dự kiến, giá trị và nhóm</a:t>
            </a:r>
            <a:endParaRPr lang="en-US" sz="3200" dirty="0"/>
          </a:p>
        </p:txBody>
      </p:sp>
      <p:sp>
        <p:nvSpPr>
          <p:cNvPr id="5" name="card_168"/>
          <p:cNvSpPr/>
          <p:nvPr/>
        </p:nvSpPr>
        <p:spPr>
          <a:xfrm>
            <a:off x="548640" y="1371600"/>
            <a:ext cx="3484778" cy="1828800"/>
          </a:xfrm>
          <a:prstGeom prst="roundRect">
            <a:avLst>
              <a:gd name="adj" fmla="val 4000"/>
            </a:avLst>
          </a:prstGeom>
          <a:solidFill>
            <a:schemeClr val="accent5"/>
          </a:solidFill>
          <a:ln w="12700">
            <a:solidFill>
              <a:schemeClr val="accent5"/>
            </a:solidFill>
            <a:prstDash val="solid"/>
          </a:ln>
        </p:spPr>
      </p:sp>
      <p:sp>
        <p:nvSpPr>
          <p:cNvPr id="6" name="text_169"/>
          <p:cNvSpPr txBox="1"/>
          <p:nvPr/>
        </p:nvSpPr>
        <p:spPr>
          <a:xfrm>
            <a:off x="777240" y="1508760"/>
            <a:ext cx="302757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Đóng góp nghiên cứu</a:t>
            </a:r>
            <a:endParaRPr lang="en-US" sz="1600" dirty="0"/>
          </a:p>
        </p:txBody>
      </p:sp>
      <p:sp>
        <p:nvSpPr>
          <p:cNvPr id="7" name="text_170"/>
          <p:cNvSpPr txBox="1"/>
          <p:nvPr/>
        </p:nvSpPr>
        <p:spPr>
          <a:xfrm>
            <a:off x="777240" y="1965960"/>
            <a:ext cx="3027578" cy="114300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 1 cải tiến PEFT đã kiểm chứng so với baseline tái lập, kèm ablation, phân tích lỗi và hallucination</a:t>
            </a:r>
            <a:endParaRPr lang="en-US" sz="1300" dirty="0"/>
          </a:p>
        </p:txBody>
      </p:sp>
      <p:sp>
        <p:nvSpPr>
          <p:cNvPr id="8" name="card_171"/>
          <p:cNvSpPr/>
          <p:nvPr/>
        </p:nvSpPr>
        <p:spPr>
          <a:xfrm>
            <a:off x="4353458" y="1371600"/>
            <a:ext cx="3484778" cy="1828800"/>
          </a:xfrm>
          <a:prstGeom prst="roundRect">
            <a:avLst>
              <a:gd name="adj" fmla="val 4000"/>
            </a:avLst>
          </a:prstGeom>
          <a:solidFill>
            <a:schemeClr val="bg2"/>
          </a:solidFill>
          <a:ln w="12700">
            <a:solidFill>
              <a:schemeClr val="bg2"/>
            </a:solidFill>
            <a:prstDash val="solid"/>
          </a:ln>
        </p:spPr>
      </p:sp>
      <p:sp>
        <p:nvSpPr>
          <p:cNvPr id="9" name="text_172"/>
          <p:cNvSpPr txBox="1"/>
          <p:nvPr/>
        </p:nvSpPr>
        <p:spPr>
          <a:xfrm>
            <a:off x="4582058" y="1508760"/>
            <a:ext cx="302757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Prototype web</a:t>
            </a:r>
            <a:endParaRPr lang="en-US" sz="1600" dirty="0"/>
          </a:p>
        </p:txBody>
      </p:sp>
      <p:sp>
        <p:nvSpPr>
          <p:cNvPr id="10" name="text_173"/>
          <p:cNvSpPr txBox="1"/>
          <p:nvPr/>
        </p:nvSpPr>
        <p:spPr>
          <a:xfrm>
            <a:off x="4582058" y="1965960"/>
            <a:ext cx="3027578" cy="114300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Tải ảnh, hỏi tiếng Việt, nhận câu trả lời kèm chữ OCR làm bằng chứng</a:t>
            </a:r>
            <a:endParaRPr lang="en-US" sz="1300" dirty="0"/>
          </a:p>
        </p:txBody>
      </p:sp>
      <p:sp>
        <p:nvSpPr>
          <p:cNvPr id="11" name="card_174"/>
          <p:cNvSpPr/>
          <p:nvPr/>
        </p:nvSpPr>
        <p:spPr>
          <a:xfrm>
            <a:off x="8158277" y="1371600"/>
            <a:ext cx="3484778" cy="1828800"/>
          </a:xfrm>
          <a:prstGeom prst="roundRect">
            <a:avLst>
              <a:gd name="adj" fmla="val 4000"/>
            </a:avLst>
          </a:prstGeom>
          <a:solidFill>
            <a:schemeClr val="bg2"/>
          </a:solidFill>
          <a:ln w="12700">
            <a:solidFill>
              <a:schemeClr val="bg2"/>
            </a:solidFill>
            <a:prstDash val="solid"/>
          </a:ln>
        </p:spPr>
      </p:sp>
      <p:sp>
        <p:nvSpPr>
          <p:cNvPr id="12" name="text_175"/>
          <p:cNvSpPr txBox="1"/>
          <p:nvPr/>
        </p:nvSpPr>
        <p:spPr>
          <a:xfrm>
            <a:off x="8386877" y="1508760"/>
            <a:ext cx="302757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Luận văn + gói tái lập</a:t>
            </a:r>
            <a:endParaRPr lang="en-US" sz="1600" dirty="0"/>
          </a:p>
        </p:txBody>
      </p:sp>
      <p:sp>
        <p:nvSpPr>
          <p:cNvPr id="13" name="text_176"/>
          <p:cNvSpPr txBox="1"/>
          <p:nvPr/>
        </p:nvSpPr>
        <p:spPr>
          <a:xfrm>
            <a:off x="8386877" y="1965960"/>
            <a:ext cx="3027578" cy="1143000"/>
          </a:xfrm>
          <a:prstGeom prst="rect">
            <a:avLst/>
          </a:prstGeom>
          <a:noFill/>
        </p:spPr>
        <p:txBody>
          <a:bodyPr wrap="square" lIns="0" tIns="0" rIns="0" bIns="0" rtlCol="0" anchor="t"/>
          <a:lstStyle/>
          <a:p>
            <a:pPr marL="0" indent="0">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Code, adapter LoRA, config, script suy luận, log thí nghiệm</a:t>
            </a:r>
            <a:endParaRPr lang="en-US" sz="1300" dirty="0"/>
          </a:p>
        </p:txBody>
      </p:sp>
      <p:sp>
        <p:nvSpPr>
          <p:cNvPr id="14" name="card_177"/>
          <p:cNvSpPr/>
          <p:nvPr/>
        </p:nvSpPr>
        <p:spPr>
          <a:xfrm>
            <a:off x="548640" y="3429000"/>
            <a:ext cx="5364328" cy="1600200"/>
          </a:xfrm>
          <a:prstGeom prst="roundRect">
            <a:avLst>
              <a:gd name="adj" fmla="val 4571"/>
            </a:avLst>
          </a:prstGeom>
          <a:solidFill>
            <a:schemeClr val="bg2"/>
          </a:solidFill>
          <a:ln w="12700">
            <a:solidFill>
              <a:schemeClr val="bg2"/>
            </a:solidFill>
            <a:prstDash val="solid"/>
          </a:ln>
        </p:spPr>
      </p:sp>
      <p:sp>
        <p:nvSpPr>
          <p:cNvPr id="15" name="text_178"/>
          <p:cNvSpPr txBox="1"/>
          <p:nvPr/>
        </p:nvSpPr>
        <p:spPr>
          <a:xfrm>
            <a:off x="777240" y="3520440"/>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Giá trị thực tiễn</a:t>
            </a:r>
            <a:endParaRPr lang="en-US" sz="1400" dirty="0"/>
          </a:p>
        </p:txBody>
      </p:sp>
      <p:sp>
        <p:nvSpPr>
          <p:cNvPr id="16" name="list_179"/>
          <p:cNvSpPr txBox="1"/>
          <p:nvPr/>
        </p:nvSpPr>
        <p:spPr>
          <a:xfrm>
            <a:off x="777240" y="3886200"/>
            <a:ext cx="4907128" cy="1097280"/>
          </a:xfrm>
          <a:prstGeom prst="rect">
            <a:avLst/>
          </a:prstGeom>
          <a:noFill/>
        </p:spPr>
        <p:txBody>
          <a:bodyPr wrap="square" lIns="0" tIns="0" rIns="0" bIns="0" rtlCol="0" anchor="t"/>
          <a:lstStyle/>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Đọc biển hiệu, nhãn hàng, giá cả trong ảnh tiếng Việt</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Công nghệ hỗ trợ người khiếm thị</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Thực đơn, biểu mẫu, tài liệu tiếng Việt</a:t>
            </a:r>
            <a:endParaRPr lang="en-US" sz="1250" dirty="0"/>
          </a:p>
        </p:txBody>
      </p:sp>
      <p:sp>
        <p:nvSpPr>
          <p:cNvPr id="17" name="card_180"/>
          <p:cNvSpPr/>
          <p:nvPr/>
        </p:nvSpPr>
        <p:spPr>
          <a:xfrm>
            <a:off x="6278728" y="3429000"/>
            <a:ext cx="5364328" cy="1600200"/>
          </a:xfrm>
          <a:prstGeom prst="roundRect">
            <a:avLst>
              <a:gd name="adj" fmla="val 4571"/>
            </a:avLst>
          </a:prstGeom>
          <a:solidFill>
            <a:schemeClr val="accent4"/>
          </a:solidFill>
          <a:ln w="12700">
            <a:solidFill>
              <a:schemeClr val="accent4"/>
            </a:solidFill>
            <a:prstDash val="solid"/>
          </a:ln>
        </p:spPr>
      </p:sp>
      <p:sp>
        <p:nvSpPr>
          <p:cNvPr id="18" name="text_181"/>
          <p:cNvSpPr txBox="1"/>
          <p:nvPr/>
        </p:nvSpPr>
        <p:spPr>
          <a:xfrm>
            <a:off x="6507328" y="3520440"/>
            <a:ext cx="4907128" cy="365760"/>
          </a:xfrm>
          <a:prstGeom prst="rect">
            <a:avLst/>
          </a:prstGeom>
          <a:noFill/>
        </p:spPr>
        <p:txBody>
          <a:bodyPr wrap="square" lIns="0" tIns="0" rIns="0" bIns="0" rtlCol="0" anchor="t"/>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Ý nghĩa khoa học</a:t>
            </a:r>
            <a:endParaRPr lang="en-US" sz="1400" dirty="0"/>
          </a:p>
        </p:txBody>
      </p:sp>
      <p:sp>
        <p:nvSpPr>
          <p:cNvPr id="19" name="list_182"/>
          <p:cNvSpPr txBox="1"/>
          <p:nvPr/>
        </p:nvSpPr>
        <p:spPr>
          <a:xfrm>
            <a:off x="6507328" y="3886200"/>
            <a:ext cx="4907128" cy="1097280"/>
          </a:xfrm>
          <a:prstGeom prst="rect">
            <a:avLst/>
          </a:prstGeom>
          <a:noFill/>
        </p:spPr>
        <p:txBody>
          <a:bodyPr wrap="square" lIns="0" tIns="0" rIns="0" bIns="0" rtlCol="0" anchor="t"/>
          <a:lstStyle/>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Nghiên cứu PEFT có hệ thống cho VLM tiếng Việt (G3)</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Xử lý đặc thù tiếng Việt: dấu, ngôn ngữ đầu ra, thứ tự OCR (V1–V3)</a:t>
            </a:r>
            <a:endParaRPr lang="en-US" sz="1250" dirty="0"/>
          </a:p>
          <a:p>
            <a:pPr marL="177800" indent="-177800">
              <a:spcAft>
                <a:spcPts val="200"/>
              </a:spcAft>
              <a:buSzPct val="100000"/>
              <a:buChar char="•"/>
            </a:pPr>
            <a:r>
              <a:rPr lang="en-US" sz="1250" dirty="0">
                <a:solidFill>
                  <a:schemeClr val="tx1"/>
                </a:solidFill>
                <a:latin typeface="Calibri" panose="020F0502020204030204" pitchFamily="34" charset="0"/>
                <a:ea typeface="Calibri" panose="020F0502020204030204" pitchFamily="34" charset="-122"/>
                <a:cs typeface="Calibri" panose="020F0502020204030204" pitchFamily="34" charset="-120"/>
              </a:rPr>
              <a:t>Đo hallucination cho VQA tiếng Việt (G4); quy trình tái lập được</a:t>
            </a:r>
            <a:endParaRPr lang="en-US" sz="1250" dirty="0"/>
          </a:p>
        </p:txBody>
      </p:sp>
      <p:sp>
        <p:nvSpPr>
          <p:cNvPr id="20" name="card_183"/>
          <p:cNvSpPr/>
          <p:nvPr/>
        </p:nvSpPr>
        <p:spPr>
          <a:xfrm>
            <a:off x="548640" y="5257800"/>
            <a:ext cx="2602154" cy="1005840"/>
          </a:xfrm>
          <a:prstGeom prst="roundRect">
            <a:avLst>
              <a:gd name="adj" fmla="val 7273"/>
            </a:avLst>
          </a:prstGeom>
          <a:solidFill>
            <a:schemeClr val="bg2"/>
          </a:solidFill>
          <a:ln w="12700">
            <a:solidFill>
              <a:schemeClr val="bg2"/>
            </a:solidFill>
            <a:prstDash val="solid"/>
          </a:ln>
        </p:spPr>
      </p:sp>
      <p:sp>
        <p:nvSpPr>
          <p:cNvPr id="21" name="text_184"/>
          <p:cNvSpPr txBox="1"/>
          <p:nvPr/>
        </p:nvSpPr>
        <p:spPr>
          <a:xfrm>
            <a:off x="731520" y="5367528"/>
            <a:ext cx="2236394" cy="411480"/>
          </a:xfrm>
          <a:prstGeom prst="rect">
            <a:avLst/>
          </a:prstGeom>
          <a:noFill/>
        </p:spPr>
        <p:txBody>
          <a:bodyPr wrap="square" lIns="0" tIns="0" rIns="0" bIns="0" rtlCol="0" anchor="t"/>
          <a:lstStyle/>
          <a:p>
            <a:pPr marL="0" indent="0">
              <a:buNone/>
            </a:pPr>
            <a:r>
              <a:rPr lang="en-US" sz="1250" b="1" dirty="0">
                <a:solidFill>
                  <a:schemeClr val="tx2"/>
                </a:solidFill>
                <a:latin typeface="Calibri" panose="020F0502020204030204" pitchFamily="34" charset="0"/>
                <a:ea typeface="Calibri" panose="020F0502020204030204" pitchFamily="34" charset="-122"/>
                <a:cs typeface="Calibri" panose="020F0502020204030204" pitchFamily="34" charset="-120"/>
              </a:rPr>
              <a:t>SE182670 · Phạm Lê Huy Hoàng</a:t>
            </a:r>
            <a:endParaRPr lang="en-US" sz="1250" dirty="0"/>
          </a:p>
        </p:txBody>
      </p:sp>
      <p:sp>
        <p:nvSpPr>
          <p:cNvPr id="22" name="text_185"/>
          <p:cNvSpPr txBox="1"/>
          <p:nvPr/>
        </p:nvSpPr>
        <p:spPr>
          <a:xfrm>
            <a:off x="731520" y="5788152"/>
            <a:ext cx="2236394" cy="365760"/>
          </a:xfrm>
          <a:prstGeom prst="rect">
            <a:avLst/>
          </a:prstGeom>
          <a:noFill/>
        </p:spPr>
        <p:txBody>
          <a:bodyPr wrap="square" lIns="0" tIns="0" rIns="0" bIns="0" rtlCol="0" anchor="t"/>
          <a:lstStyle/>
          <a:p>
            <a:pPr marL="0" indent="0">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Trưởng nhóm · PEFT / training</a:t>
            </a:r>
            <a:endParaRPr lang="en-US" sz="1200" dirty="0"/>
          </a:p>
        </p:txBody>
      </p:sp>
      <p:sp>
        <p:nvSpPr>
          <p:cNvPr id="23" name="card_186"/>
          <p:cNvSpPr/>
          <p:nvPr/>
        </p:nvSpPr>
        <p:spPr>
          <a:xfrm>
            <a:off x="3379394" y="5257800"/>
            <a:ext cx="2602154" cy="1005840"/>
          </a:xfrm>
          <a:prstGeom prst="roundRect">
            <a:avLst>
              <a:gd name="adj" fmla="val 7273"/>
            </a:avLst>
          </a:prstGeom>
          <a:solidFill>
            <a:schemeClr val="bg2"/>
          </a:solidFill>
          <a:ln w="12700">
            <a:solidFill>
              <a:schemeClr val="bg2"/>
            </a:solidFill>
            <a:prstDash val="solid"/>
          </a:ln>
        </p:spPr>
      </p:sp>
      <p:sp>
        <p:nvSpPr>
          <p:cNvPr id="24" name="text_187"/>
          <p:cNvSpPr txBox="1"/>
          <p:nvPr/>
        </p:nvSpPr>
        <p:spPr>
          <a:xfrm>
            <a:off x="3562274" y="5367528"/>
            <a:ext cx="2236394" cy="411480"/>
          </a:xfrm>
          <a:prstGeom prst="rect">
            <a:avLst/>
          </a:prstGeom>
          <a:noFill/>
        </p:spPr>
        <p:txBody>
          <a:bodyPr wrap="square" lIns="0" tIns="0" rIns="0" bIns="0" rtlCol="0" anchor="t"/>
          <a:lstStyle/>
          <a:p>
            <a:pPr marL="0" indent="0">
              <a:buNone/>
            </a:pPr>
            <a:r>
              <a:rPr lang="en-US" sz="1250" b="1" dirty="0">
                <a:solidFill>
                  <a:schemeClr val="tx2"/>
                </a:solidFill>
                <a:latin typeface="Calibri" panose="020F0502020204030204" pitchFamily="34" charset="0"/>
                <a:ea typeface="Calibri" panose="020F0502020204030204" pitchFamily="34" charset="-122"/>
                <a:cs typeface="Calibri" panose="020F0502020204030204" pitchFamily="34" charset="-120"/>
              </a:rPr>
              <a:t>SE182458 · Văn Quang Trường</a:t>
            </a:r>
            <a:endParaRPr lang="en-US" sz="1250" dirty="0"/>
          </a:p>
        </p:txBody>
      </p:sp>
      <p:sp>
        <p:nvSpPr>
          <p:cNvPr id="25" name="text_188"/>
          <p:cNvSpPr txBox="1"/>
          <p:nvPr/>
        </p:nvSpPr>
        <p:spPr>
          <a:xfrm>
            <a:off x="3562274" y="5788152"/>
            <a:ext cx="2236394" cy="365760"/>
          </a:xfrm>
          <a:prstGeom prst="rect">
            <a:avLst/>
          </a:prstGeom>
          <a:noFill/>
        </p:spPr>
        <p:txBody>
          <a:bodyPr wrap="square" lIns="0" tIns="0" rIns="0" bIns="0" rtlCol="0" anchor="t"/>
          <a:lstStyle/>
          <a:p>
            <a:pPr marL="0" indent="0">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Đánh giá / triển khai</a:t>
            </a:r>
            <a:endParaRPr lang="en-US" sz="1200" dirty="0"/>
          </a:p>
        </p:txBody>
      </p:sp>
      <p:sp>
        <p:nvSpPr>
          <p:cNvPr id="26" name="card_189"/>
          <p:cNvSpPr/>
          <p:nvPr/>
        </p:nvSpPr>
        <p:spPr>
          <a:xfrm>
            <a:off x="6210148" y="5257800"/>
            <a:ext cx="2602154" cy="1005840"/>
          </a:xfrm>
          <a:prstGeom prst="roundRect">
            <a:avLst>
              <a:gd name="adj" fmla="val 7273"/>
            </a:avLst>
          </a:prstGeom>
          <a:solidFill>
            <a:schemeClr val="bg2"/>
          </a:solidFill>
          <a:ln w="12700">
            <a:solidFill>
              <a:schemeClr val="bg2"/>
            </a:solidFill>
            <a:prstDash val="solid"/>
          </a:ln>
        </p:spPr>
      </p:sp>
      <p:sp>
        <p:nvSpPr>
          <p:cNvPr id="27" name="text_190"/>
          <p:cNvSpPr txBox="1"/>
          <p:nvPr/>
        </p:nvSpPr>
        <p:spPr>
          <a:xfrm>
            <a:off x="6393028" y="5367528"/>
            <a:ext cx="2236394" cy="411480"/>
          </a:xfrm>
          <a:prstGeom prst="rect">
            <a:avLst/>
          </a:prstGeom>
          <a:noFill/>
        </p:spPr>
        <p:txBody>
          <a:bodyPr wrap="square" lIns="0" tIns="0" rIns="0" bIns="0" rtlCol="0" anchor="t"/>
          <a:lstStyle/>
          <a:p>
            <a:pPr marL="0" indent="0">
              <a:buNone/>
            </a:pPr>
            <a:r>
              <a:rPr lang="en-US" sz="1250" b="1" dirty="0">
                <a:solidFill>
                  <a:schemeClr val="tx2"/>
                </a:solidFill>
                <a:latin typeface="Calibri" panose="020F0502020204030204" pitchFamily="34" charset="0"/>
                <a:ea typeface="Calibri" panose="020F0502020204030204" pitchFamily="34" charset="-122"/>
                <a:cs typeface="Calibri" panose="020F0502020204030204" pitchFamily="34" charset="-120"/>
              </a:rPr>
              <a:t>SE193642 · Trần Quốc Huân</a:t>
            </a:r>
            <a:endParaRPr lang="en-US" sz="1250" dirty="0"/>
          </a:p>
        </p:txBody>
      </p:sp>
      <p:sp>
        <p:nvSpPr>
          <p:cNvPr id="28" name="text_191"/>
          <p:cNvSpPr txBox="1"/>
          <p:nvPr/>
        </p:nvSpPr>
        <p:spPr>
          <a:xfrm>
            <a:off x="6393028" y="5788152"/>
            <a:ext cx="2236394" cy="365760"/>
          </a:xfrm>
          <a:prstGeom prst="rect">
            <a:avLst/>
          </a:prstGeom>
          <a:noFill/>
        </p:spPr>
        <p:txBody>
          <a:bodyPr wrap="square" lIns="0" tIns="0" rIns="0" bIns="0" rtlCol="0" anchor="t"/>
          <a:lstStyle/>
          <a:p>
            <a:pPr marL="0" indent="0">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Dữ liệu / OCR</a:t>
            </a:r>
            <a:endParaRPr lang="en-US" sz="1200" dirty="0"/>
          </a:p>
        </p:txBody>
      </p:sp>
      <p:sp>
        <p:nvSpPr>
          <p:cNvPr id="29" name="card_192"/>
          <p:cNvSpPr/>
          <p:nvPr/>
        </p:nvSpPr>
        <p:spPr>
          <a:xfrm>
            <a:off x="9040901" y="5257800"/>
            <a:ext cx="2602154" cy="1005840"/>
          </a:xfrm>
          <a:prstGeom prst="roundRect">
            <a:avLst>
              <a:gd name="adj" fmla="val 7273"/>
            </a:avLst>
          </a:prstGeom>
          <a:solidFill>
            <a:schemeClr val="bg2"/>
          </a:solidFill>
          <a:ln w="12700">
            <a:solidFill>
              <a:schemeClr val="bg2"/>
            </a:solidFill>
            <a:prstDash val="solid"/>
          </a:ln>
        </p:spPr>
      </p:sp>
      <p:sp>
        <p:nvSpPr>
          <p:cNvPr id="30" name="text_193"/>
          <p:cNvSpPr txBox="1"/>
          <p:nvPr/>
        </p:nvSpPr>
        <p:spPr>
          <a:xfrm>
            <a:off x="9223781" y="5367528"/>
            <a:ext cx="2236394" cy="411480"/>
          </a:xfrm>
          <a:prstGeom prst="rect">
            <a:avLst/>
          </a:prstGeom>
          <a:noFill/>
        </p:spPr>
        <p:txBody>
          <a:bodyPr wrap="square" lIns="0" tIns="0" rIns="0" bIns="0" rtlCol="0" anchor="t"/>
          <a:lstStyle/>
          <a:p>
            <a:pPr marL="0" indent="0">
              <a:buNone/>
            </a:pPr>
            <a:r>
              <a:rPr lang="en-US" sz="1250" b="1" dirty="0">
                <a:solidFill>
                  <a:schemeClr val="tx2"/>
                </a:solidFill>
                <a:latin typeface="Calibri" panose="020F0502020204030204" pitchFamily="34" charset="0"/>
                <a:ea typeface="Calibri" panose="020F0502020204030204" pitchFamily="34" charset="-122"/>
                <a:cs typeface="Calibri" panose="020F0502020204030204" pitchFamily="34" charset="-120"/>
              </a:rPr>
              <a:t>SE183249 · Hồ Đắc Toàn</a:t>
            </a:r>
            <a:endParaRPr lang="en-US" sz="1250" dirty="0"/>
          </a:p>
        </p:txBody>
      </p:sp>
      <p:sp>
        <p:nvSpPr>
          <p:cNvPr id="31" name="text_194"/>
          <p:cNvSpPr txBox="1"/>
          <p:nvPr/>
        </p:nvSpPr>
        <p:spPr>
          <a:xfrm>
            <a:off x="9223781" y="5788152"/>
            <a:ext cx="2236394" cy="365760"/>
          </a:xfrm>
          <a:prstGeom prst="rect">
            <a:avLst/>
          </a:prstGeom>
          <a:noFill/>
        </p:spPr>
        <p:txBody>
          <a:bodyPr wrap="square" lIns="0" tIns="0" rIns="0" bIns="0" rtlCol="0" anchor="t"/>
          <a:lstStyle/>
          <a:p>
            <a:pPr marL="0" indent="0">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VLM / baseline</a:t>
            </a:r>
            <a:endParaRPr lang="en-US" sz="12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TÓM TẮT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Bốn kết quả chính của mốc này</a:t>
            </a:r>
            <a:endParaRPr lang="en-US" sz="3200" dirty="0"/>
          </a:p>
        </p:txBody>
      </p:sp>
      <p:sp>
        <p:nvSpPr>
          <p:cNvPr id="5" name="card_196"/>
          <p:cNvSpPr/>
          <p:nvPr/>
        </p:nvSpPr>
        <p:spPr>
          <a:xfrm>
            <a:off x="548640" y="1600200"/>
            <a:ext cx="2533574" cy="2651760"/>
          </a:xfrm>
          <a:prstGeom prst="roundRect">
            <a:avLst>
              <a:gd name="adj" fmla="val 2887"/>
            </a:avLst>
          </a:prstGeom>
          <a:solidFill>
            <a:schemeClr val="bg2"/>
          </a:solidFill>
          <a:ln w="12700">
            <a:solidFill>
              <a:schemeClr val="bg2"/>
            </a:solidFill>
            <a:prstDash val="solid"/>
          </a:ln>
        </p:spPr>
      </p:sp>
      <p:sp>
        <p:nvSpPr>
          <p:cNvPr id="6" name="text_197"/>
          <p:cNvSpPr txBox="1"/>
          <p:nvPr/>
        </p:nvSpPr>
        <p:spPr>
          <a:xfrm>
            <a:off x="822960" y="2011680"/>
            <a:ext cx="1984934" cy="822960"/>
          </a:xfrm>
          <a:prstGeom prst="rect">
            <a:avLst/>
          </a:prstGeom>
          <a:noFill/>
        </p:spPr>
        <p:txBody>
          <a:bodyPr wrap="square" lIns="0" tIns="0" rIns="0" bIns="0" rtlCol="0" anchor="t"/>
          <a:lstStyle/>
          <a:p>
            <a:pPr marL="0" indent="0">
              <a:buNone/>
            </a:pPr>
            <a:r>
              <a:rPr lang="en-US" sz="36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79,6</a:t>
            </a:r>
            <a:endParaRPr lang="en-US" sz="3600" dirty="0"/>
          </a:p>
        </p:txBody>
      </p:sp>
      <p:sp>
        <p:nvSpPr>
          <p:cNvPr id="7" name="text_198"/>
          <p:cNvSpPr txBox="1"/>
          <p:nvPr/>
        </p:nvSpPr>
        <p:spPr>
          <a:xfrm>
            <a:off x="822960" y="2880360"/>
            <a:ext cx="198493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Kiểm chứng pipeline — TextVQA val, Qwen2.5-VL-3B; báo cáo chính thức ghi 79,3</a:t>
            </a:r>
            <a:endParaRPr lang="en-US" sz="1400" dirty="0"/>
          </a:p>
        </p:txBody>
      </p:sp>
      <p:sp>
        <p:nvSpPr>
          <p:cNvPr id="8" name="card_199"/>
          <p:cNvSpPr/>
          <p:nvPr/>
        </p:nvSpPr>
        <p:spPr>
          <a:xfrm>
            <a:off x="3402254" y="1600200"/>
            <a:ext cx="2533574" cy="2651760"/>
          </a:xfrm>
          <a:prstGeom prst="roundRect">
            <a:avLst>
              <a:gd name="adj" fmla="val 2887"/>
            </a:avLst>
          </a:prstGeom>
          <a:solidFill>
            <a:schemeClr val="bg2"/>
          </a:solidFill>
          <a:ln w="12700">
            <a:solidFill>
              <a:schemeClr val="bg2"/>
            </a:solidFill>
            <a:prstDash val="solid"/>
          </a:ln>
        </p:spPr>
      </p:sp>
      <p:sp>
        <p:nvSpPr>
          <p:cNvPr id="9" name="text_200"/>
          <p:cNvSpPr txBox="1"/>
          <p:nvPr/>
        </p:nvSpPr>
        <p:spPr>
          <a:xfrm>
            <a:off x="3676574" y="2011680"/>
            <a:ext cx="1984934" cy="822960"/>
          </a:xfrm>
          <a:prstGeom prst="rect">
            <a:avLst/>
          </a:prstGeom>
          <a:noFill/>
        </p:spPr>
        <p:txBody>
          <a:bodyPr wrap="square" lIns="0" tIns="0" rIns="0" bIns="0" rtlCol="0" anchor="t"/>
          <a:lstStyle/>
          <a:p>
            <a:pPr marL="0" indent="0">
              <a:buNone/>
            </a:pPr>
            <a:r>
              <a:rPr lang="en-US" sz="3600" b="1" dirty="0">
                <a:solidFill>
                  <a:schemeClr val="tx2"/>
                </a:solidFill>
                <a:latin typeface="Cambria" panose="02040503050406030204" pitchFamily="34" charset="0"/>
                <a:ea typeface="Cambria" panose="02040503050406030204" pitchFamily="34" charset="-122"/>
                <a:cs typeface="Cambria" panose="02040503050406030204" pitchFamily="34" charset="-120"/>
              </a:rPr>
              <a:t>+21,1</a:t>
            </a:r>
            <a:endParaRPr lang="en-US" sz="3600" dirty="0"/>
          </a:p>
        </p:txBody>
      </p:sp>
      <p:sp>
        <p:nvSpPr>
          <p:cNvPr id="10" name="text_201"/>
          <p:cNvSpPr txBox="1"/>
          <p:nvPr/>
        </p:nvSpPr>
        <p:spPr>
          <a:xfrm>
            <a:off x="3676574" y="2880360"/>
            <a:ext cx="198493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EM nhờ QLoRA so với zero-shot, full test ViTextVQA (+51,7 ở ViVQA); p ≈ 0</a:t>
            </a:r>
            <a:endParaRPr lang="en-US" sz="1400" dirty="0"/>
          </a:p>
        </p:txBody>
      </p:sp>
      <p:sp>
        <p:nvSpPr>
          <p:cNvPr id="11" name="card_202"/>
          <p:cNvSpPr/>
          <p:nvPr/>
        </p:nvSpPr>
        <p:spPr>
          <a:xfrm>
            <a:off x="6255868" y="1600200"/>
            <a:ext cx="2533574" cy="2651760"/>
          </a:xfrm>
          <a:prstGeom prst="roundRect">
            <a:avLst>
              <a:gd name="adj" fmla="val 2887"/>
            </a:avLst>
          </a:prstGeom>
          <a:solidFill>
            <a:schemeClr val="bg2"/>
          </a:solidFill>
          <a:ln w="12700">
            <a:solidFill>
              <a:schemeClr val="bg2"/>
            </a:solidFill>
            <a:prstDash val="solid"/>
          </a:ln>
        </p:spPr>
      </p:sp>
      <p:sp>
        <p:nvSpPr>
          <p:cNvPr id="12" name="text_203"/>
          <p:cNvSpPr txBox="1"/>
          <p:nvPr/>
        </p:nvSpPr>
        <p:spPr>
          <a:xfrm>
            <a:off x="6530188" y="2011680"/>
            <a:ext cx="1984934" cy="822960"/>
          </a:xfrm>
          <a:prstGeom prst="rect">
            <a:avLst/>
          </a:prstGeom>
          <a:noFill/>
        </p:spPr>
        <p:txBody>
          <a:bodyPr wrap="square" lIns="0" tIns="0" rIns="0" bIns="0" rtlCol="0" anchor="t"/>
          <a:lstStyle/>
          <a:p>
            <a:pPr marL="0" indent="0">
              <a:buNone/>
            </a:pPr>
            <a:r>
              <a:rPr lang="en-US" sz="3600" b="1" dirty="0">
                <a:solidFill>
                  <a:schemeClr val="tx2"/>
                </a:solidFill>
                <a:latin typeface="Cambria" panose="02040503050406030204" pitchFamily="34" charset="0"/>
                <a:ea typeface="Cambria" panose="02040503050406030204" pitchFamily="34" charset="-122"/>
                <a:cs typeface="Cambria" panose="02040503050406030204" pitchFamily="34" charset="-120"/>
              </a:rPr>
              <a:t>50,3</a:t>
            </a:r>
            <a:endParaRPr lang="en-US" sz="3600" dirty="0"/>
          </a:p>
        </p:txBody>
      </p:sp>
      <p:sp>
        <p:nvSpPr>
          <p:cNvPr id="13" name="text_204"/>
          <p:cNvSpPr txBox="1"/>
          <p:nvPr/>
        </p:nvSpPr>
        <p:spPr>
          <a:xfrm>
            <a:off x="6530188" y="2880360"/>
            <a:ext cx="198493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EM trên full test ViTextVQA so với 25,5 của SOTA công bố ViTextBLIP-2</a:t>
            </a:r>
            <a:endParaRPr lang="en-US" sz="1400" dirty="0"/>
          </a:p>
        </p:txBody>
      </p:sp>
      <p:sp>
        <p:nvSpPr>
          <p:cNvPr id="14" name="card_205"/>
          <p:cNvSpPr/>
          <p:nvPr/>
        </p:nvSpPr>
        <p:spPr>
          <a:xfrm>
            <a:off x="9109481" y="1600200"/>
            <a:ext cx="2533574" cy="2651760"/>
          </a:xfrm>
          <a:prstGeom prst="roundRect">
            <a:avLst>
              <a:gd name="adj" fmla="val 2887"/>
            </a:avLst>
          </a:prstGeom>
          <a:solidFill>
            <a:schemeClr val="accent5"/>
          </a:solidFill>
          <a:ln w="12700">
            <a:solidFill>
              <a:schemeClr val="accent5"/>
            </a:solidFill>
            <a:prstDash val="solid"/>
          </a:ln>
        </p:spPr>
      </p:sp>
      <p:sp>
        <p:nvSpPr>
          <p:cNvPr id="15" name="text_206"/>
          <p:cNvSpPr txBox="1"/>
          <p:nvPr/>
        </p:nvSpPr>
        <p:spPr>
          <a:xfrm>
            <a:off x="9383801" y="2011680"/>
            <a:ext cx="1984934" cy="822960"/>
          </a:xfrm>
          <a:prstGeom prst="rect">
            <a:avLst/>
          </a:prstGeom>
          <a:noFill/>
        </p:spPr>
        <p:txBody>
          <a:bodyPr wrap="square" lIns="0" tIns="0" rIns="0" bIns="0" rtlCol="0" anchor="t"/>
          <a:lstStyle/>
          <a:p>
            <a:pPr marL="0" indent="0">
              <a:buNone/>
            </a:pPr>
            <a:r>
              <a:rPr lang="en-US" sz="36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+2,5</a:t>
            </a:r>
            <a:endParaRPr lang="en-US" sz="3600" dirty="0"/>
          </a:p>
        </p:txBody>
      </p:sp>
      <p:sp>
        <p:nvSpPr>
          <p:cNvPr id="16" name="text_207"/>
          <p:cNvSpPr txBox="1"/>
          <p:nvPr/>
        </p:nvSpPr>
        <p:spPr>
          <a:xfrm>
            <a:off x="9383801" y="2880360"/>
            <a:ext cx="1984934"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EM nhờ QLoRA nhận biết OCR so với cùng QLoRA không OCR (full test, p = 10⁻¹⁴; ổn định qua 3 seed)</a:t>
            </a:r>
            <a:endParaRPr lang="en-US" sz="1400" dirty="0"/>
          </a:p>
        </p:txBody>
      </p:sp>
      <p:sp>
        <p:nvSpPr>
          <p:cNvPr id="17" name="card_208"/>
          <p:cNvSpPr/>
          <p:nvPr/>
        </p:nvSpPr>
        <p:spPr>
          <a:xfrm>
            <a:off x="548640" y="4572000"/>
            <a:ext cx="11094415" cy="960120"/>
          </a:xfrm>
          <a:prstGeom prst="roundRect">
            <a:avLst>
              <a:gd name="adj" fmla="val 7619"/>
            </a:avLst>
          </a:prstGeom>
          <a:solidFill>
            <a:schemeClr val="accent4"/>
          </a:solidFill>
          <a:ln w="12700">
            <a:solidFill>
              <a:schemeClr val="accent4"/>
            </a:solidFill>
            <a:prstDash val="solid"/>
          </a:ln>
        </p:spPr>
      </p:sp>
      <p:sp>
        <p:nvSpPr>
          <p:cNvPr id="18" name="text_209"/>
          <p:cNvSpPr txBox="1"/>
          <p:nvPr/>
        </p:nvSpPr>
        <p:spPr>
          <a:xfrm>
            <a:off x="868680" y="4572000"/>
            <a:ext cx="10454335" cy="960120"/>
          </a:xfrm>
          <a:prstGeom prst="rect">
            <a:avLst/>
          </a:prstGeom>
          <a:noFill/>
        </p:spPr>
        <p:txBody>
          <a:bodyPr wrap="square" lIns="0" tIns="0" rIns="0" bIns="0" rtlCol="0" anchor="ctr"/>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Hiệu quả theo thiết kế: QLoRA chỉ train 7,37 triệu tham số (0,196%), adapter 29,5 MB, trên một GPU NVIDIA L4 — không full fine-tuning.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01 · XỬ LÝ GÓP Ý</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Góp ý của GVHD (07/10) và việc nhóm đã làm</a:t>
            </a:r>
            <a:endParaRPr lang="en-US" sz="3200" dirty="0"/>
          </a:p>
        </p:txBody>
      </p:sp>
      <p:graphicFrame>
        <p:nvGraphicFramePr>
          <p:cNvPr id="19" name="table_210"/>
          <p:cNvGraphicFramePr>
            <a:graphicFrameLocks noGrp="1"/>
          </p:cNvGraphicFramePr>
          <p:nvPr/>
        </p:nvGraphicFramePr>
        <p:xfrm>
          <a:off x="548640" y="1508760"/>
          <a:ext cx="11094415" cy="3401568"/>
        </p:xfrm>
        <a:graphic>
          <a:graphicData uri="http://schemas.openxmlformats.org/drawingml/2006/table">
            <a:tbl>
              <a:tblPr/>
              <a:tblGrid>
                <a:gridCol w="3291840"/>
                <a:gridCol w="6675120"/>
                <a:gridCol w="1124712"/>
              </a:tblGrid>
              <a:tr h="56692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Góp ý</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Việc đã làm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Slide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Chưa có sơ đồ kiến trúc baseline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Sơ đồ từng thành phần của Qwen2.5-VL-3B và vị trí gắn LoRA (Hình 7A)</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Giải thích dataset và nhiễu</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Quy trình tạo ViVQA + điểm nhiễu N1–N4 (Hình 6A); kiểm tra rò rỉ train–test; duyệt tay 400 mẫu</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19, 29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Chạy lại baseline với phương pháp đánh giá rõ ràng</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Giao thức cố định (Hình 7B); kiểm chứng pipeline bằng số đã công bố (R0); B1 zero-shot trên 2 dataset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21–23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Nắm SOTA</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So với ViTextBLIP-2 trên full test; kiểm dòng LMM ở Table 7 bằng Qwen2-VL-7B (R1)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24, 27–28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Chạy thí nghiệm rồi mới bàn cải tiến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QLoRA (B2) + ba đối chứng; sau đó phương pháp đề xuất QLoRA nhận biết OCR (B3) kèm ablation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25–33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02 · HIỂU DỮ LIỆU</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ViVQA được dịch máy — nhiễu nằm sẵn trong dữ liệu</a:t>
            </a:r>
            <a:endParaRPr lang="en-US" sz="3200" dirty="0"/>
          </a:p>
        </p:txBody>
      </p:sp>
      <p:pic>
        <p:nvPicPr>
          <p:cNvPr id="5" name="figure_211" descr="a6"/>
          <p:cNvPicPr>
            <a:picLocks noChangeAspect="1"/>
          </p:cNvPicPr>
          <p:nvPr/>
        </p:nvPicPr>
        <p:blipFill>
          <a:blip r:embed="rId1"/>
          <a:stretch>
            <a:fillRect/>
          </a:stretch>
        </p:blipFill>
        <p:spPr>
          <a:xfrm>
            <a:off x="1144641" y="1371600"/>
            <a:ext cx="9902414" cy="3840480"/>
          </a:xfrm>
          <a:prstGeom prst="rect">
            <a:avLst/>
          </a:prstGeom>
        </p:spPr>
      </p:pic>
      <p:sp>
        <p:nvSpPr>
          <p:cNvPr id="6" name="card_212"/>
          <p:cNvSpPr/>
          <p:nvPr/>
        </p:nvSpPr>
        <p:spPr>
          <a:xfrm>
            <a:off x="548640" y="5486400"/>
            <a:ext cx="5364328" cy="777240"/>
          </a:xfrm>
          <a:prstGeom prst="roundRect">
            <a:avLst>
              <a:gd name="adj" fmla="val 9412"/>
            </a:avLst>
          </a:prstGeom>
          <a:solidFill>
            <a:schemeClr val="bg2"/>
          </a:solidFill>
          <a:ln w="12700">
            <a:solidFill>
              <a:schemeClr val="bg2"/>
            </a:solidFill>
            <a:prstDash val="solid"/>
          </a:ln>
        </p:spPr>
      </p:sp>
      <p:sp>
        <p:nvSpPr>
          <p:cNvPr id="7" name="text_213"/>
          <p:cNvSpPr txBox="1"/>
          <p:nvPr/>
        </p:nvSpPr>
        <p:spPr>
          <a:xfrm>
            <a:off x="822960" y="5623560"/>
            <a:ext cx="4815688" cy="502920"/>
          </a:xfrm>
          <a:prstGeom prst="rect">
            <a:avLst/>
          </a:prstGeom>
          <a:noFill/>
        </p:spPr>
        <p:txBody>
          <a:bodyPr wrap="square" lIns="0" tIns="0" rIns="0" bIns="0" rtlCol="0" anchor="ct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ViVQA  </a:t>
            </a: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1.274 / 2.789 ảnh test cũng có trong train; 99,4% đáp án test thuộc 333 đáp án của train (từ vựng đóng)</a:t>
            </a:r>
            <a:endParaRPr lang="en-US" sz="1400" dirty="0"/>
          </a:p>
        </p:txBody>
      </p:sp>
      <p:sp>
        <p:nvSpPr>
          <p:cNvPr id="8" name="card_214"/>
          <p:cNvSpPr/>
          <p:nvPr/>
        </p:nvSpPr>
        <p:spPr>
          <a:xfrm>
            <a:off x="6278728" y="5486400"/>
            <a:ext cx="5364328" cy="777240"/>
          </a:xfrm>
          <a:prstGeom prst="roundRect">
            <a:avLst>
              <a:gd name="adj" fmla="val 9412"/>
            </a:avLst>
          </a:prstGeom>
          <a:solidFill>
            <a:schemeClr val="accent4"/>
          </a:solidFill>
          <a:ln w="12700">
            <a:solidFill>
              <a:schemeClr val="accent4"/>
            </a:solidFill>
            <a:prstDash val="solid"/>
          </a:ln>
        </p:spPr>
      </p:sp>
      <p:sp>
        <p:nvSpPr>
          <p:cNvPr id="9" name="text_215"/>
          <p:cNvSpPr txBox="1"/>
          <p:nvPr/>
        </p:nvSpPr>
        <p:spPr>
          <a:xfrm>
            <a:off x="6553048" y="5623560"/>
            <a:ext cx="4815688" cy="502920"/>
          </a:xfrm>
          <a:prstGeom prst="rect">
            <a:avLst/>
          </a:prstGeom>
          <a:noFill/>
        </p:spPr>
        <p:txBody>
          <a:bodyPr wrap="square" lIns="0" tIns="0" rIns="0" bIns="0" rtlCol="0" anchor="ct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ViTextVQA  </a:t>
            </a: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0 ảnh trùng giữa train/dev và test; 46% đáp án test có trong train → phép thử tổng quát hoá sạch hơn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03 · KIẾN TRÚC BASELINE</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Qwen2.5-VL-3B-Instruct</a:t>
            </a:r>
            <a:endParaRPr lang="en-US" sz="3200" dirty="0"/>
          </a:p>
        </p:txBody>
      </p:sp>
      <p:pic>
        <p:nvPicPr>
          <p:cNvPr id="5" name="figure_216" descr="a7"/>
          <p:cNvPicPr>
            <a:picLocks noChangeAspect="1"/>
          </p:cNvPicPr>
          <p:nvPr/>
        </p:nvPicPr>
        <p:blipFill>
          <a:blip r:embed="rId1"/>
          <a:stretch>
            <a:fillRect/>
          </a:stretch>
        </p:blipFill>
        <p:spPr>
          <a:xfrm>
            <a:off x="548640" y="1325880"/>
            <a:ext cx="7589520" cy="4328624"/>
          </a:xfrm>
          <a:prstGeom prst="rect">
            <a:avLst/>
          </a:prstGeom>
        </p:spPr>
      </p:pic>
      <p:sp>
        <p:nvSpPr>
          <p:cNvPr id="6" name="card_217"/>
          <p:cNvSpPr/>
          <p:nvPr/>
        </p:nvSpPr>
        <p:spPr>
          <a:xfrm>
            <a:off x="8503920" y="1325880"/>
            <a:ext cx="3139135" cy="1691640"/>
          </a:xfrm>
          <a:prstGeom prst="roundRect">
            <a:avLst>
              <a:gd name="adj" fmla="val 4324"/>
            </a:avLst>
          </a:prstGeom>
          <a:solidFill>
            <a:schemeClr val="accent5"/>
          </a:solidFill>
          <a:ln w="12700">
            <a:solidFill>
              <a:schemeClr val="accent5"/>
            </a:solidFill>
            <a:prstDash val="solid"/>
          </a:ln>
        </p:spPr>
      </p:sp>
      <p:sp>
        <p:nvSpPr>
          <p:cNvPr id="7" name="text_218"/>
          <p:cNvSpPr txBox="1"/>
          <p:nvPr/>
        </p:nvSpPr>
        <p:spPr>
          <a:xfrm>
            <a:off x="8732520" y="1417320"/>
            <a:ext cx="268193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Được train (QLoRA)</a:t>
            </a:r>
            <a:endParaRPr lang="en-US" sz="1600" dirty="0"/>
          </a:p>
        </p:txBody>
      </p:sp>
      <p:sp>
        <p:nvSpPr>
          <p:cNvPr id="8" name="list_219"/>
          <p:cNvSpPr txBox="1"/>
          <p:nvPr/>
        </p:nvSpPr>
        <p:spPr>
          <a:xfrm>
            <a:off x="8732520" y="1783080"/>
            <a:ext cx="2681935" cy="1188720"/>
          </a:xfrm>
          <a:prstGeom prst="rect">
            <a:avLst/>
          </a:prstGeom>
          <a:noFill/>
        </p:spPr>
        <p:txBody>
          <a:bodyPr wrap="square" lIns="0" tIns="0" rIns="0" bIns="0" rtlCol="0" anchor="t"/>
          <a:lstStyle/>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LoRA r = 16, α = 32 trên q, k, v, o</a:t>
            </a:r>
            <a:endParaRPr lang="en-US" sz="1200" dirty="0"/>
          </a:p>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7.372.800 tham số = 0,196% · 29,5 MB</a:t>
            </a:r>
            <a:endParaRPr lang="en-US" sz="1200" dirty="0"/>
          </a:p>
          <a:p>
            <a:pPr marL="177800" indent="-177800">
              <a:spcAft>
                <a:spcPts val="200"/>
              </a:spcAft>
              <a:buSzPct val="100000"/>
              <a:buChar char="•"/>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Còn lại đóng băng, LLM 4-bit NF4</a:t>
            </a:r>
            <a:endParaRPr lang="en-US" sz="1200" dirty="0"/>
          </a:p>
        </p:txBody>
      </p:sp>
      <p:sp>
        <p:nvSpPr>
          <p:cNvPr id="9" name="card_220"/>
          <p:cNvSpPr/>
          <p:nvPr/>
        </p:nvSpPr>
        <p:spPr>
          <a:xfrm>
            <a:off x="8503920" y="3154680"/>
            <a:ext cx="3139135" cy="3108960"/>
          </a:xfrm>
          <a:prstGeom prst="roundRect">
            <a:avLst>
              <a:gd name="adj" fmla="val 2353"/>
            </a:avLst>
          </a:prstGeom>
          <a:solidFill>
            <a:schemeClr val="bg2"/>
          </a:solidFill>
          <a:ln w="12700">
            <a:solidFill>
              <a:schemeClr val="bg2"/>
            </a:solidFill>
            <a:prstDash val="solid"/>
          </a:ln>
        </p:spPr>
      </p:sp>
      <p:sp>
        <p:nvSpPr>
          <p:cNvPr id="10" name="text_221"/>
          <p:cNvSpPr txBox="1"/>
          <p:nvPr/>
        </p:nvSpPr>
        <p:spPr>
          <a:xfrm>
            <a:off x="8732520" y="3246120"/>
            <a:ext cx="268193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Luồng dữ liệu (vào → ra)</a:t>
            </a:r>
            <a:endParaRPr lang="en-US" sz="1600" dirty="0"/>
          </a:p>
        </p:txBody>
      </p:sp>
      <p:sp>
        <p:nvSpPr>
          <p:cNvPr id="11" name="text_222"/>
          <p:cNvSpPr txBox="1"/>
          <p:nvPr/>
        </p:nvSpPr>
        <p:spPr>
          <a:xfrm>
            <a:off x="8732520" y="3639312"/>
            <a:ext cx="2681935" cy="2103120"/>
          </a:xfrm>
          <a:prstGeom prst="rect">
            <a:avLst/>
          </a:prstGeom>
          <a:noFill/>
        </p:spPr>
        <p:txBody>
          <a:bodyPr wrap="square" lIns="0" tIns="0" rIns="0" bIns="0" rtlCol="0" anchor="t"/>
          <a:lstStyle/>
          <a:p>
            <a:pPr marL="0" indent="0">
              <a:buNone/>
            </a:pPr>
            <a:r>
              <a:rPr lang="en-US" sz="1150" b="1" dirty="0">
                <a:solidFill>
                  <a:srgbClr val="13294B"/>
                </a:solidFill>
                <a:latin typeface="Calibri" panose="020F0502020204030204" pitchFamily="34" charset="0"/>
                <a:ea typeface="Calibri" panose="020F0502020204030204" pitchFamily="34" charset="-122"/>
                <a:cs typeface="Calibri" panose="020F0502020204030204" pitchFamily="34" charset="-120"/>
              </a:rPr>
              <a:t>1 · Ảnh → ViT: </a:t>
            </a: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 401.408 px → patch 14×14 → 32 khối</a:t>
            </a:r>
            <a:endParaRPr lang="en-US" sz="1150" dirty="0"/>
          </a:p>
          <a:p>
            <a:pPr marL="0" indent="0">
              <a:buNone/>
            </a:pPr>
            <a:r>
              <a:rPr lang="en-US" sz="300" dirty="0">
                <a:solidFill>
                  <a:schemeClr val="tx1"/>
                </a:solidFill>
                <a:latin typeface="Calibri" panose="020F0502020204030204" pitchFamily="34" charset="0"/>
                <a:ea typeface="Calibri" panose="020F0502020204030204" pitchFamily="34" charset="-122"/>
                <a:cs typeface="Calibri" panose="020F0502020204030204" pitchFamily="34" charset="-120"/>
              </a:rPr>
              <a:t> </a:t>
            </a:r>
            <a:endParaRPr lang="en-US" sz="1150" dirty="0"/>
          </a:p>
          <a:p>
            <a:pPr marL="0" indent="0">
              <a:buNone/>
            </a:pPr>
            <a:r>
              <a:rPr lang="en-US" sz="1150" b="1" dirty="0">
                <a:solidFill>
                  <a:srgbClr val="13294B"/>
                </a:solidFill>
                <a:latin typeface="Calibri" panose="020F0502020204030204" pitchFamily="34" charset="0"/>
                <a:ea typeface="Calibri" panose="020F0502020204030204" pitchFamily="34" charset="-122"/>
                <a:cs typeface="Calibri" panose="020F0502020204030204" pitchFamily="34" charset="-120"/>
              </a:rPr>
              <a:t>2 · Patch merger: </a:t>
            </a: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2×2 patch → 1 token (2048 chiều) → 256–512 token ảnh</a:t>
            </a:r>
            <a:endParaRPr lang="en-US" sz="1150" dirty="0"/>
          </a:p>
          <a:p>
            <a:pPr marL="0" indent="0">
              <a:buNone/>
            </a:pPr>
            <a:r>
              <a:rPr lang="en-US" sz="300" dirty="0">
                <a:solidFill>
                  <a:schemeClr val="tx1"/>
                </a:solidFill>
                <a:latin typeface="Calibri" panose="020F0502020204030204" pitchFamily="34" charset="0"/>
                <a:ea typeface="Calibri" panose="020F0502020204030204" pitchFamily="34" charset="-122"/>
                <a:cs typeface="Calibri" panose="020F0502020204030204" pitchFamily="34" charset="-120"/>
              </a:rPr>
              <a:t> </a:t>
            </a:r>
            <a:endParaRPr lang="en-US" sz="1150" dirty="0"/>
          </a:p>
          <a:p>
            <a:pPr marL="0" indent="0">
              <a:buNone/>
            </a:pPr>
            <a:r>
              <a:rPr lang="en-US" sz="1150" b="1" dirty="0">
                <a:solidFill>
                  <a:srgbClr val="13294B"/>
                </a:solidFill>
                <a:latin typeface="Calibri" panose="020F0502020204030204" pitchFamily="34" charset="0"/>
                <a:ea typeface="Calibri" panose="020F0502020204030204" pitchFamily="34" charset="-122"/>
                <a:cs typeface="Calibri" panose="020F0502020204030204" pitchFamily="34" charset="-120"/>
              </a:rPr>
              <a:t>3 · Prompt P0: </a:t>
            </a: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chat template + token ảnh + câu hỏi tiếng Việt</a:t>
            </a:r>
            <a:endParaRPr lang="en-US" sz="1150" dirty="0"/>
          </a:p>
          <a:p>
            <a:pPr marL="0" indent="0">
              <a:buNone/>
            </a:pPr>
            <a:r>
              <a:rPr lang="en-US" sz="300" dirty="0">
                <a:solidFill>
                  <a:schemeClr val="tx1"/>
                </a:solidFill>
                <a:latin typeface="Calibri" panose="020F0502020204030204" pitchFamily="34" charset="0"/>
                <a:ea typeface="Calibri" panose="020F0502020204030204" pitchFamily="34" charset="-122"/>
                <a:cs typeface="Calibri" panose="020F0502020204030204" pitchFamily="34" charset="-120"/>
              </a:rPr>
              <a:t> </a:t>
            </a:r>
            <a:endParaRPr lang="en-US" sz="1150" dirty="0"/>
          </a:p>
          <a:p>
            <a:pPr marL="0" indent="0">
              <a:buNone/>
            </a:pPr>
            <a:r>
              <a:rPr lang="en-US" sz="1150" b="1" dirty="0">
                <a:solidFill>
                  <a:srgbClr val="13294B"/>
                </a:solidFill>
                <a:latin typeface="Calibri" panose="020F0502020204030204" pitchFamily="34" charset="0"/>
                <a:ea typeface="Calibri" panose="020F0502020204030204" pitchFamily="34" charset="-122"/>
                <a:cs typeface="Calibri" panose="020F0502020204030204" pitchFamily="34" charset="-120"/>
              </a:rPr>
              <a:t>4 · Decoder (+LoRA): </a:t>
            </a:r>
            <a:r>
              <a:rPr lang="en-US" sz="1150" dirty="0">
                <a:solidFill>
                  <a:schemeClr val="tx1"/>
                </a:solidFill>
                <a:latin typeface="Calibri" panose="020F0502020204030204" pitchFamily="34" charset="0"/>
                <a:ea typeface="Calibri" panose="020F0502020204030204" pitchFamily="34" charset="-122"/>
                <a:cs typeface="Calibri" panose="020F0502020204030204" pitchFamily="34" charset="-120"/>
              </a:rPr>
              <a:t>sinh tham lam, ≤ 32 token → chuẩn hoá → EM / ANLS</a:t>
            </a:r>
            <a:endParaRPr lang="en-US" sz="1150" dirty="0"/>
          </a:p>
        </p:txBody>
      </p:sp>
      <p:sp>
        <p:nvSpPr>
          <p:cNvPr id="12" name="text_223"/>
          <p:cNvSpPr txBox="1"/>
          <p:nvPr/>
        </p:nvSpPr>
        <p:spPr>
          <a:xfrm>
            <a:off x="8732520" y="5760720"/>
            <a:ext cx="2681935" cy="411480"/>
          </a:xfrm>
          <a:prstGeom prst="rect">
            <a:avLst/>
          </a:prstGeom>
          <a:noFill/>
        </p:spPr>
        <p:txBody>
          <a:bodyPr wrap="square" lIns="0" tIns="0" rIns="0" bIns="0" rtlCol="0" anchor="t"/>
          <a:lstStyle/>
          <a:p>
            <a:pPr marL="0" indent="0">
              <a:buNone/>
            </a:pPr>
            <a:r>
              <a:rPr lang="en-US" sz="1100" i="1" dirty="0">
                <a:solidFill>
                  <a:srgbClr val="1C7293"/>
                </a:solidFill>
                <a:latin typeface="Calibri" panose="020F0502020204030204" pitchFamily="34" charset="0"/>
                <a:ea typeface="Calibri" panose="020F0502020204030204" pitchFamily="34" charset="-122"/>
                <a:cs typeface="Calibri" panose="020F0502020204030204" pitchFamily="34" charset="-120"/>
              </a:rPr>
              <a:t>Baseline không dùng OCR — OCR là cải tiến B3 (Phần 06).</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03 · GIAO THỨC ĐÁNH GIÁ</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Mọi run theo một giao thức cố định</a:t>
            </a:r>
            <a:endParaRPr lang="en-US" sz="3200" dirty="0"/>
          </a:p>
        </p:txBody>
      </p:sp>
      <p:pic>
        <p:nvPicPr>
          <p:cNvPr id="5" name="figure_224" descr="b7"/>
          <p:cNvPicPr>
            <a:picLocks noChangeAspect="1"/>
          </p:cNvPicPr>
          <p:nvPr/>
        </p:nvPicPr>
        <p:blipFill>
          <a:blip r:embed="rId1"/>
          <a:stretch>
            <a:fillRect/>
          </a:stretch>
        </p:blipFill>
        <p:spPr>
          <a:xfrm>
            <a:off x="548640" y="1325880"/>
            <a:ext cx="11094415" cy="2161935"/>
          </a:xfrm>
          <a:prstGeom prst="rect">
            <a:avLst/>
          </a:prstGeom>
        </p:spPr>
      </p:pic>
      <p:sp>
        <p:nvSpPr>
          <p:cNvPr id="6" name="card_225"/>
          <p:cNvSpPr/>
          <p:nvPr/>
        </p:nvSpPr>
        <p:spPr>
          <a:xfrm>
            <a:off x="548640" y="3762135"/>
            <a:ext cx="3454298" cy="1998585"/>
          </a:xfrm>
          <a:prstGeom prst="roundRect">
            <a:avLst>
              <a:gd name="adj" fmla="val 3660"/>
            </a:avLst>
          </a:prstGeom>
          <a:solidFill>
            <a:schemeClr val="bg2"/>
          </a:solidFill>
          <a:ln w="12700">
            <a:solidFill>
              <a:schemeClr val="bg2"/>
            </a:solidFill>
            <a:prstDash val="solid"/>
          </a:ln>
        </p:spPr>
      </p:sp>
      <p:sp>
        <p:nvSpPr>
          <p:cNvPr id="7" name="text_226"/>
          <p:cNvSpPr txBox="1"/>
          <p:nvPr/>
        </p:nvSpPr>
        <p:spPr>
          <a:xfrm>
            <a:off x="777240" y="3899295"/>
            <a:ext cx="2997098"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Cấu hình cố định</a:t>
            </a:r>
            <a:endParaRPr lang="en-US" sz="1600" dirty="0"/>
          </a:p>
        </p:txBody>
      </p:sp>
      <p:sp>
        <p:nvSpPr>
          <p:cNvPr id="8" name="list_227"/>
          <p:cNvSpPr txBox="1"/>
          <p:nvPr/>
        </p:nvSpPr>
        <p:spPr>
          <a:xfrm>
            <a:off x="777240" y="4310775"/>
            <a:ext cx="2997098" cy="1358505"/>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Tính bf16, 4-bit NF4 + double quant</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Tối đa 512 token ảnh</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Greedy, 32 token sinh</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Seed 42 · NVIDIA L4</a:t>
            </a:r>
            <a:endParaRPr lang="en-US" sz="1400" dirty="0"/>
          </a:p>
        </p:txBody>
      </p:sp>
      <p:sp>
        <p:nvSpPr>
          <p:cNvPr id="9" name="card_228"/>
          <p:cNvSpPr/>
          <p:nvPr/>
        </p:nvSpPr>
        <p:spPr>
          <a:xfrm>
            <a:off x="4368698" y="3762135"/>
            <a:ext cx="3454298" cy="1998585"/>
          </a:xfrm>
          <a:prstGeom prst="roundRect">
            <a:avLst>
              <a:gd name="adj" fmla="val 3660"/>
            </a:avLst>
          </a:prstGeom>
          <a:solidFill>
            <a:schemeClr val="bg2"/>
          </a:solidFill>
          <a:ln w="12700">
            <a:solidFill>
              <a:schemeClr val="bg2"/>
            </a:solidFill>
            <a:prstDash val="solid"/>
          </a:ln>
        </p:spPr>
      </p:sp>
      <p:sp>
        <p:nvSpPr>
          <p:cNvPr id="10" name="text_229"/>
          <p:cNvSpPr txBox="1"/>
          <p:nvPr/>
        </p:nvSpPr>
        <p:spPr>
          <a:xfrm>
            <a:off x="4597298" y="3899295"/>
            <a:ext cx="2997098"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Metric</a:t>
            </a:r>
            <a:endParaRPr lang="en-US" sz="1600" dirty="0"/>
          </a:p>
        </p:txBody>
      </p:sp>
      <p:sp>
        <p:nvSpPr>
          <p:cNvPr id="11" name="list_230"/>
          <p:cNvSpPr txBox="1"/>
          <p:nvPr/>
        </p:nvSpPr>
        <p:spPr>
          <a:xfrm>
            <a:off x="4597298" y="4310775"/>
            <a:ext cx="2997098" cy="1358505"/>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Chính: EM, VQA-Acc, ANLS</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Phụ: token-F1 (để so với paper)</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Chuẩn hoá tiếng Việt đối xứng, giữ dấu thanh</a:t>
            </a:r>
            <a:endParaRPr lang="en-US" sz="1400" dirty="0"/>
          </a:p>
        </p:txBody>
      </p:sp>
      <p:sp>
        <p:nvSpPr>
          <p:cNvPr id="12" name="card_231"/>
          <p:cNvSpPr/>
          <p:nvPr/>
        </p:nvSpPr>
        <p:spPr>
          <a:xfrm>
            <a:off x="8188757" y="3762135"/>
            <a:ext cx="3454298" cy="1998585"/>
          </a:xfrm>
          <a:prstGeom prst="roundRect">
            <a:avLst>
              <a:gd name="adj" fmla="val 3660"/>
            </a:avLst>
          </a:prstGeom>
          <a:solidFill>
            <a:schemeClr val="bg2"/>
          </a:solidFill>
          <a:ln w="12700">
            <a:solidFill>
              <a:schemeClr val="bg2"/>
            </a:solidFill>
            <a:prstDash val="solid"/>
          </a:ln>
        </p:spPr>
      </p:sp>
      <p:sp>
        <p:nvSpPr>
          <p:cNvPr id="13" name="text_232"/>
          <p:cNvSpPr txBox="1"/>
          <p:nvPr/>
        </p:nvSpPr>
        <p:spPr>
          <a:xfrm>
            <a:off x="8417357" y="3899295"/>
            <a:ext cx="2997098"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Thống kê</a:t>
            </a:r>
            <a:endParaRPr lang="en-US" sz="1600" dirty="0"/>
          </a:p>
        </p:txBody>
      </p:sp>
      <p:sp>
        <p:nvSpPr>
          <p:cNvPr id="14" name="list_233"/>
          <p:cNvSpPr txBox="1"/>
          <p:nvPr/>
        </p:nvSpPr>
        <p:spPr>
          <a:xfrm>
            <a:off x="8417357" y="4310775"/>
            <a:ext cx="2997098" cy="1358505"/>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Kiểm định McNemar chính xác, ghép cặp (EM)</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CI95 bootstrap ghép cặp (ANLS)</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Luật kết luận chốt trước mỗi run</a:t>
            </a:r>
            <a:endParaRPr lang="en-US" sz="1400" dirty="0"/>
          </a:p>
        </p:txBody>
      </p:sp>
      <p:sp>
        <p:nvSpPr>
          <p:cNvPr id="15" name="text_234"/>
          <p:cNvSpPr txBox="1"/>
          <p:nvPr/>
        </p:nvSpPr>
        <p:spPr>
          <a:xfrm>
            <a:off x="548640" y="5833872"/>
            <a:ext cx="11094415" cy="548640"/>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EM = Exact Match (khớp tuyệt đối) · VQA-Acc = VQA Accuracy (min(số gold khớp / 3, 1); = EM khi chỉ có 1 gold) · ANLS = Average Normalized Levenshtein Similarity (ngưỡng 0,5) · F1 = F1 theo token · bf16 = bfloat16 · NF4 = 4-bit NormalFloat (QLoRA) · CI95 = khoảng tin cậy 95% · McNemar = kiểm định ghép cặp trên các câu chỉ một run đúng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04 · KIỂM CHỨNG PIPELINE (R0)</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Pipeline của nhóm tái lập được số đã công bố</a:t>
            </a:r>
            <a:endParaRPr lang="en-US" sz="3200" dirty="0"/>
          </a:p>
        </p:txBody>
      </p:sp>
      <p:graphicFrame>
        <p:nvGraphicFramePr>
          <p:cNvPr id="5" name="chart_235"/>
          <p:cNvGraphicFramePr/>
          <p:nvPr/>
        </p:nvGraphicFramePr>
        <p:xfrm>
          <a:off x="548640" y="1371600"/>
          <a:ext cx="6583680" cy="4846320"/>
        </p:xfrm>
        <a:graphic>
          <a:graphicData uri="http://schemas.openxmlformats.org/drawingml/2006/chart">
            <c:chart xmlns:c="http://schemas.openxmlformats.org/drawingml/2006/chart" xmlns:r="http://schemas.openxmlformats.org/officeDocument/2006/relationships" r:id="rId1"/>
          </a:graphicData>
        </a:graphic>
      </p:graphicFrame>
      <p:sp>
        <p:nvSpPr>
          <p:cNvPr id="6" name="card_236"/>
          <p:cNvSpPr/>
          <p:nvPr/>
        </p:nvSpPr>
        <p:spPr>
          <a:xfrm>
            <a:off x="7498080" y="1371600"/>
            <a:ext cx="4144975" cy="2240280"/>
          </a:xfrm>
          <a:prstGeom prst="roundRect">
            <a:avLst>
              <a:gd name="adj" fmla="val 3265"/>
            </a:avLst>
          </a:prstGeom>
          <a:solidFill>
            <a:schemeClr val="accent4"/>
          </a:solidFill>
          <a:ln w="12700">
            <a:solidFill>
              <a:schemeClr val="accent4"/>
            </a:solidFill>
            <a:prstDash val="solid"/>
          </a:ln>
        </p:spPr>
      </p:sp>
      <p:sp>
        <p:nvSpPr>
          <p:cNvPr id="7" name="text_237"/>
          <p:cNvSpPr txBox="1"/>
          <p:nvPr/>
        </p:nvSpPr>
        <p:spPr>
          <a:xfrm>
            <a:off x="7772400" y="1508760"/>
            <a:ext cx="359633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Luật chốt trước khi chạy</a:t>
            </a:r>
            <a:endParaRPr lang="en-US" sz="1600" dirty="0"/>
          </a:p>
        </p:txBody>
      </p:sp>
      <p:sp>
        <p:nvSpPr>
          <p:cNvPr id="8" name="text_238"/>
          <p:cNvSpPr txBox="1"/>
          <p:nvPr/>
        </p:nvSpPr>
        <p:spPr>
          <a:xfrm>
            <a:off x="7772400" y="1920240"/>
            <a:ext cx="3596335" cy="1554480"/>
          </a:xfrm>
          <a:prstGeom prst="rect">
            <a:avLst/>
          </a:prstGeom>
          <a:noFill/>
        </p:spPr>
        <p:txBody>
          <a:bodyPr wrap="square" lIns="0" tIns="0" rIns="0" bIns="0" rtlCol="0" anchor="t"/>
          <a:lstStyle/>
          <a:p>
            <a:pPr marL="0" indent="0">
              <a:buNone/>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Tái lập được nếu |nhóm − 79,3| ≤ 2,0 trên toàn bộ val → 79,6 (+0,3): đạt.</a:t>
            </a:r>
            <a:endParaRPr lang="en-US" sz="1500" dirty="0"/>
          </a:p>
        </p:txBody>
      </p:sp>
      <p:sp>
        <p:nvSpPr>
          <p:cNvPr id="9" name="card_239"/>
          <p:cNvSpPr/>
          <p:nvPr/>
        </p:nvSpPr>
        <p:spPr>
          <a:xfrm>
            <a:off x="7498080" y="3794760"/>
            <a:ext cx="4144975" cy="2423160"/>
          </a:xfrm>
          <a:prstGeom prst="roundRect">
            <a:avLst>
              <a:gd name="adj" fmla="val 3019"/>
            </a:avLst>
          </a:prstGeom>
          <a:solidFill>
            <a:schemeClr val="bg2"/>
          </a:solidFill>
          <a:ln w="12700">
            <a:solidFill>
              <a:schemeClr val="bg2"/>
            </a:solidFill>
            <a:prstDash val="solid"/>
          </a:ln>
        </p:spPr>
      </p:sp>
      <p:sp>
        <p:nvSpPr>
          <p:cNvPr id="10" name="text_240"/>
          <p:cNvSpPr txBox="1"/>
          <p:nvPr/>
        </p:nvSpPr>
        <p:spPr>
          <a:xfrm>
            <a:off x="7772400" y="3931920"/>
            <a:ext cx="359633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Cái giá của cấu hình tiết kiệm</a:t>
            </a:r>
            <a:endParaRPr lang="en-US" sz="1600" dirty="0"/>
          </a:p>
        </p:txBody>
      </p:sp>
      <p:sp>
        <p:nvSpPr>
          <p:cNvPr id="11" name="list_241"/>
          <p:cNvSpPr txBox="1"/>
          <p:nvPr/>
        </p:nvSpPr>
        <p:spPr>
          <a:xfrm>
            <a:off x="7772400" y="4343400"/>
            <a:ext cx="3596335" cy="1737360"/>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−4,4 điểm accuracy</a:t>
            </a:r>
            <a:endParaRPr lang="en-US" sz="1500" dirty="0"/>
          </a:p>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VRAM 10,9 → 2,5 GB (ít hơn 4,3 lần)</a:t>
            </a:r>
            <a:endParaRPr lang="en-US" sz="1500" dirty="0"/>
          </a:p>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Giữ 94,5% độ chính xác — báo cáo như số đo hiệu quả, không phải giả thuyết (Phần 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04 · BASELINE ZERO-SHOT (B1)</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Zero-shot sai chủ yếu ở định dạng câu trả lời</a:t>
            </a:r>
            <a:endParaRPr lang="en-US" sz="3200" dirty="0"/>
          </a:p>
        </p:txBody>
      </p:sp>
      <p:graphicFrame>
        <p:nvGraphicFramePr>
          <p:cNvPr id="24" name="table_242"/>
          <p:cNvGraphicFramePr>
            <a:graphicFrameLocks noGrp="1"/>
          </p:cNvGraphicFramePr>
          <p:nvPr/>
        </p:nvGraphicFramePr>
        <p:xfrm>
          <a:off x="548640" y="1417320"/>
          <a:ext cx="6035040" cy="1828800"/>
        </p:xfrm>
        <a:graphic>
          <a:graphicData uri="http://schemas.openxmlformats.org/drawingml/2006/table">
            <a:tbl>
              <a:tblPr/>
              <a:tblGrid>
                <a:gridCol w="3017520"/>
                <a:gridCol w="1005840"/>
                <a:gridCol w="1005840"/>
                <a:gridCol w="1005840"/>
              </a:tblGrid>
              <a:tr h="45720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Tập test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ANLS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ViVQA (3.001)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22,1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28,6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38,1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ViTextVQA tập con (2.000)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28,8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47,5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ViTextVQA đầy đủ (10.028)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29,1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47,6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43"/>
          <p:cNvSpPr/>
          <p:nvPr/>
        </p:nvSpPr>
        <p:spPr>
          <a:xfrm>
            <a:off x="548640" y="3520440"/>
            <a:ext cx="6035040" cy="2743200"/>
          </a:xfrm>
          <a:prstGeom prst="roundRect">
            <a:avLst>
              <a:gd name="adj" fmla="val 2667"/>
            </a:avLst>
          </a:prstGeom>
          <a:solidFill>
            <a:schemeClr val="bg2"/>
          </a:solidFill>
          <a:ln w="12700">
            <a:solidFill>
              <a:schemeClr val="bg2"/>
            </a:solidFill>
            <a:prstDash val="solid"/>
          </a:ln>
        </p:spPr>
      </p:sp>
      <p:sp>
        <p:nvSpPr>
          <p:cNvPr id="7" name="text_244"/>
          <p:cNvSpPr txBox="1"/>
          <p:nvPr/>
        </p:nvSpPr>
        <p:spPr>
          <a:xfrm>
            <a:off x="822960" y="3657600"/>
            <a:ext cx="5486400"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ViVQA EM theo loại câu hỏi</a:t>
            </a:r>
            <a:endParaRPr lang="en-US" sz="1600" dirty="0"/>
          </a:p>
        </p:txBody>
      </p:sp>
      <p:graphicFrame>
        <p:nvGraphicFramePr>
          <p:cNvPr id="8" name="chart_245"/>
          <p:cNvGraphicFramePr/>
          <p:nvPr/>
        </p:nvGraphicFramePr>
        <p:xfrm>
          <a:off x="731520" y="4023360"/>
          <a:ext cx="5669280" cy="2148840"/>
        </p:xfrm>
        <a:graphic>
          <a:graphicData uri="http://schemas.openxmlformats.org/drawingml/2006/chart">
            <c:chart xmlns:c="http://schemas.openxmlformats.org/drawingml/2006/chart" xmlns:r="http://schemas.openxmlformats.org/officeDocument/2006/relationships" r:id="rId1"/>
          </a:graphicData>
        </a:graphic>
      </p:graphicFrame>
      <p:sp>
        <p:nvSpPr>
          <p:cNvPr id="9" name="card_246"/>
          <p:cNvSpPr/>
          <p:nvPr/>
        </p:nvSpPr>
        <p:spPr>
          <a:xfrm>
            <a:off x="6949440" y="1417320"/>
            <a:ext cx="4693615" cy="4846320"/>
          </a:xfrm>
          <a:prstGeom prst="roundRect">
            <a:avLst>
              <a:gd name="adj" fmla="val 1559"/>
            </a:avLst>
          </a:prstGeom>
          <a:solidFill>
            <a:schemeClr val="accent5"/>
          </a:solidFill>
          <a:ln w="12700">
            <a:solidFill>
              <a:schemeClr val="accent5"/>
            </a:solidFill>
            <a:prstDash val="solid"/>
          </a:ln>
        </p:spPr>
      </p:sp>
      <p:sp>
        <p:nvSpPr>
          <p:cNvPr id="10" name="text_247"/>
          <p:cNvSpPr txBox="1"/>
          <p:nvPr/>
        </p:nvSpPr>
        <p:spPr>
          <a:xfrm>
            <a:off x="7223760" y="1554480"/>
            <a:ext cx="414497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Lỗi chính: trả lời dài dòng</a:t>
            </a:r>
            <a:endParaRPr lang="en-US" sz="1600" dirty="0"/>
          </a:p>
        </p:txBody>
      </p:sp>
      <p:sp>
        <p:nvSpPr>
          <p:cNvPr id="11" name="list_248"/>
          <p:cNvSpPr txBox="1"/>
          <p:nvPr/>
        </p:nvSpPr>
        <p:spPr>
          <a:xfrm>
            <a:off x="7223760" y="2011680"/>
            <a:ext cx="4144975" cy="4114800"/>
          </a:xfrm>
          <a:prstGeom prst="rect">
            <a:avLst/>
          </a:prstGeom>
          <a:noFill/>
        </p:spPr>
        <p:txBody>
          <a:bodyPr wrap="square" lIns="0" tIns="0" rIns="0" bIns="0" rtlCol="0" anchor="t"/>
          <a:lstStyle/>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Số từ mỗi câu trả lời: 2,9 so với gold 1,6 (ViVQA); 5,5 so với 3,7 (ViTextVQA)</a:t>
            </a:r>
            <a:endParaRPr lang="en-US" sz="1500" dirty="0"/>
          </a:p>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19% câu trả lời ViTextVQA chứa đáp án gold nhưng vẫn trượt EM</a:t>
            </a:r>
            <a:endParaRPr lang="en-US" sz="1500" dirty="0"/>
          </a:p>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“Lịch tết năm 2021” so với gold “2021”</a:t>
            </a:r>
            <a:endParaRPr lang="en-US" sz="1500" dirty="0"/>
          </a:p>
          <a:p>
            <a:pPr marL="177800" indent="-177800">
              <a:spcAft>
                <a:spcPts val="600"/>
              </a:spcAft>
              <a:buSzPct val="100000"/>
              <a:buChar char="•"/>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Ngoài ra: chen tiếng Anh (“truck”), hallucination, gold nhiễu (“tía”)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04 · ABLATION BACKBONE (R1)</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Model lớn hơn không tốt hơn ở bài này</a:t>
            </a:r>
            <a:endParaRPr lang="en-US" sz="3200" dirty="0"/>
          </a:p>
        </p:txBody>
      </p:sp>
      <p:graphicFrame>
        <p:nvGraphicFramePr>
          <p:cNvPr id="25" name="table_249"/>
          <p:cNvGraphicFramePr>
            <a:graphicFrameLocks noGrp="1"/>
          </p:cNvGraphicFramePr>
          <p:nvPr/>
        </p:nvGraphicFramePr>
        <p:xfrm>
          <a:off x="548640" y="1417320"/>
          <a:ext cx="11094415" cy="2377440"/>
        </p:xfrm>
        <a:graphic>
          <a:graphicData uri="http://schemas.openxmlformats.org/drawingml/2006/table">
            <a:tbl>
              <a:tblPr/>
              <a:tblGrid>
                <a:gridCol w="4599432"/>
                <a:gridCol w="1097280"/>
                <a:gridCol w="1097280"/>
                <a:gridCol w="1280160"/>
                <a:gridCol w="1280160"/>
                <a:gridCol w="1737360"/>
              </a:tblGrid>
              <a:tr h="47548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Run (ViTextVQA, 2.000 câu)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từ</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 / câu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VRAM GB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75488">
                <a:tc>
                  <a:txBody>
                    <a:bodyPr/>
                    <a:lstStyle/>
                    <a:p>
                      <a:pPr marL="0" indent="0" algn="l">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B1 · Qwen2.5-VL-3B [1] · 4-bit · 512 token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28,8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53,8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5,5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0,86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b="1" dirty="0">
                          <a:solidFill>
                            <a:srgbClr val="243044"/>
                          </a:solidFill>
                          <a:latin typeface="Calibri" panose="020F0502020204030204" pitchFamily="34" charset="0"/>
                          <a:ea typeface="Calibri" panose="020F0502020204030204" pitchFamily="34" charset="-122"/>
                          <a:cs typeface="Calibri" panose="020F0502020204030204" pitchFamily="34" charset="-120"/>
                        </a:rPr>
                        <a:t>≈ 2,5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R1b · Qwen2-VL-7B [2] · 4-bit · 512 token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16,2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41,3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8,0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1,02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6,2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R1 · Qwen2-VL-7B [2] · bf16 · đủ độ phân giải</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16,7</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43,5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8,2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2,85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20,3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Paper ViTextVQA [3] Table 7 · “QwenVL-7b” (100 câu)</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28,0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50"/>
          <p:cNvSpPr/>
          <p:nvPr/>
        </p:nvSpPr>
        <p:spPr>
          <a:xfrm>
            <a:off x="548640" y="4023360"/>
            <a:ext cx="3454298" cy="1691640"/>
          </a:xfrm>
          <a:prstGeom prst="roundRect">
            <a:avLst>
              <a:gd name="adj" fmla="val 4324"/>
            </a:avLst>
          </a:prstGeom>
          <a:solidFill>
            <a:schemeClr val="bg2"/>
          </a:solidFill>
          <a:ln w="12700">
            <a:solidFill>
              <a:schemeClr val="bg2"/>
            </a:solidFill>
            <a:prstDash val="solid"/>
          </a:ln>
        </p:spPr>
      </p:sp>
      <p:sp>
        <p:nvSpPr>
          <p:cNvPr id="7" name="text_251"/>
          <p:cNvSpPr txBox="1"/>
          <p:nvPr/>
        </p:nvSpPr>
        <p:spPr>
          <a:xfrm>
            <a:off x="777240" y="41605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7B &lt; 3B trong cùng điều kiện</a:t>
            </a:r>
            <a:endParaRPr lang="en-US" sz="1600" dirty="0"/>
          </a:p>
        </p:txBody>
      </p:sp>
      <p:sp>
        <p:nvSpPr>
          <p:cNvPr id="8" name="text_252"/>
          <p:cNvSpPr txBox="1"/>
          <p:nvPr/>
        </p:nvSpPr>
        <p:spPr>
          <a:xfrm>
            <a:off x="777240" y="461772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−12,6 EM, McNemar p ≈ 10⁻³³; tăng độ phân giải không giúp (R1 = R1b, p = 0,45)</a:t>
            </a:r>
            <a:endParaRPr lang="en-US" sz="1400" dirty="0"/>
          </a:p>
        </p:txBody>
      </p:sp>
      <p:sp>
        <p:nvSpPr>
          <p:cNvPr id="9" name="card_253"/>
          <p:cNvSpPr/>
          <p:nvPr/>
        </p:nvSpPr>
        <p:spPr>
          <a:xfrm>
            <a:off x="4368698" y="4023360"/>
            <a:ext cx="3454298" cy="1691640"/>
          </a:xfrm>
          <a:prstGeom prst="roundRect">
            <a:avLst>
              <a:gd name="adj" fmla="val 4324"/>
            </a:avLst>
          </a:prstGeom>
          <a:solidFill>
            <a:schemeClr val="bg2"/>
          </a:solidFill>
          <a:ln w="12700">
            <a:solidFill>
              <a:schemeClr val="bg2"/>
            </a:solidFill>
            <a:prstDash val="solid"/>
          </a:ln>
        </p:spPr>
      </p:sp>
      <p:sp>
        <p:nvSpPr>
          <p:cNvPr id="10" name="text_254"/>
          <p:cNvSpPr txBox="1"/>
          <p:nvPr/>
        </p:nvSpPr>
        <p:spPr>
          <a:xfrm>
            <a:off x="4597298" y="41605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Vì sao: tuân thủ chỉ dẫn</a:t>
            </a:r>
            <a:endParaRPr lang="en-US" sz="1600" dirty="0"/>
          </a:p>
        </p:txBody>
      </p:sp>
      <p:sp>
        <p:nvSpPr>
          <p:cNvPr id="11" name="text_255"/>
          <p:cNvSpPr txBox="1"/>
          <p:nvPr/>
        </p:nvSpPr>
        <p:spPr>
          <a:xfrm>
            <a:off x="4597298" y="461772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7B trả lời 8,2 từ so với gold 3,7 — EM trượt dù đọc đúng chữ</a:t>
            </a:r>
            <a:endParaRPr lang="en-US" sz="1400" dirty="0"/>
          </a:p>
        </p:txBody>
      </p:sp>
      <p:sp>
        <p:nvSpPr>
          <p:cNvPr id="12" name="card_256"/>
          <p:cNvSpPr/>
          <p:nvPr/>
        </p:nvSpPr>
        <p:spPr>
          <a:xfrm>
            <a:off x="8188757" y="4023360"/>
            <a:ext cx="3454298" cy="1691640"/>
          </a:xfrm>
          <a:prstGeom prst="roundRect">
            <a:avLst>
              <a:gd name="adj" fmla="val 4324"/>
            </a:avLst>
          </a:prstGeom>
          <a:solidFill>
            <a:schemeClr val="accent4"/>
          </a:solidFill>
          <a:ln w="12700">
            <a:solidFill>
              <a:schemeClr val="accent4"/>
            </a:solidFill>
            <a:prstDash val="solid"/>
          </a:ln>
        </p:spPr>
      </p:sp>
      <p:sp>
        <p:nvSpPr>
          <p:cNvPr id="13" name="text_257"/>
          <p:cNvSpPr txBox="1"/>
          <p:nvPr/>
        </p:nvSpPr>
        <p:spPr>
          <a:xfrm>
            <a:off x="8417357" y="41605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Table 7 không đủ để quyết định</a:t>
            </a:r>
            <a:endParaRPr lang="en-US" sz="1600" dirty="0"/>
          </a:p>
        </p:txBody>
      </p:sp>
      <p:sp>
        <p:nvSpPr>
          <p:cNvPr id="14" name="text_258"/>
          <p:cNvSpPr txBox="1"/>
          <p:nvPr/>
        </p:nvSpPr>
        <p:spPr>
          <a:xfrm>
            <a:off x="8417357" y="461772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n = 100 → ±9 EM; B1 đã nhất quán với nó. Quyết định: giữ Qwen2.5-VL-3B</a:t>
            </a:r>
            <a:endParaRPr lang="en-US" sz="1400" dirty="0"/>
          </a:p>
        </p:txBody>
      </p:sp>
      <p:sp>
        <p:nvSpPr>
          <p:cNvPr id="15" name="text_259"/>
          <p:cNvSpPr txBox="1"/>
          <p:nvPr/>
        </p:nvSpPr>
        <p:spPr>
          <a:xfrm>
            <a:off x="548640" y="5806440"/>
            <a:ext cx="11094415" cy="566928"/>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[1] Bai và cs., Qwen2.5-VL Technical Report, arXiv:2502.13923, 2025 · [2] Wang và cs., Qwen2-VL, arXiv:2409.12191, 2024 · [3] Nguyen và cs., ViTextVQA, arXiv:2404.10652, 2024 (bản mở rộng: Expert Systems with Applications, 2025). Run của nhóm: experiments/W07_B1_zeroshot_…_test2000, W07_R1_…, W07_R1b_… (cùng 2.000 câu, seed 42).</a:t>
            </a:r>
            <a:endParaRPr lang="en-US" sz="10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05 · QLoRA (B2)</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QLoRA một epoch: tăng lớn và có ý nghĩa thống kê</a:t>
            </a:r>
            <a:endParaRPr lang="en-US" sz="3200" dirty="0"/>
          </a:p>
        </p:txBody>
      </p:sp>
      <p:graphicFrame>
        <p:nvGraphicFramePr>
          <p:cNvPr id="5" name="chart_260"/>
          <p:cNvGraphicFramePr/>
          <p:nvPr/>
        </p:nvGraphicFramePr>
        <p:xfrm>
          <a:off x="548640" y="1371600"/>
          <a:ext cx="6766560" cy="48920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6" name="table_261"/>
          <p:cNvGraphicFramePr>
            <a:graphicFrameLocks noGrp="1"/>
          </p:cNvGraphicFramePr>
          <p:nvPr/>
        </p:nvGraphicFramePr>
        <p:xfrm>
          <a:off x="7680960" y="1371600"/>
          <a:ext cx="4325112" cy="2286000"/>
        </p:xfrm>
        <a:graphic>
          <a:graphicData uri="http://schemas.openxmlformats.org/drawingml/2006/table">
            <a:tbl>
              <a:tblPr/>
              <a:tblGrid>
                <a:gridCol w="1828800"/>
                <a:gridCol w="1243584"/>
                <a:gridCol w="1252728"/>
              </a:tblGrid>
              <a:tr h="45720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Chi phí</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ViVQA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ViTextVQA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Mẫu train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10.799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35.159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Thời gian train (L4)</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3,0 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12,0 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VRAM đỉnh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6,6 GB</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6,9 GB</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Suy luận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0,57 s / câu</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1,0 s / câu</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62"/>
          <p:cNvSpPr/>
          <p:nvPr/>
        </p:nvSpPr>
        <p:spPr>
          <a:xfrm>
            <a:off x="7680960" y="3886200"/>
            <a:ext cx="3962095" cy="2377440"/>
          </a:xfrm>
          <a:prstGeom prst="roundRect">
            <a:avLst>
              <a:gd name="adj" fmla="val 3077"/>
            </a:avLst>
          </a:prstGeom>
          <a:solidFill>
            <a:schemeClr val="accent4"/>
          </a:solidFill>
          <a:ln w="12700">
            <a:solidFill>
              <a:schemeClr val="accent4"/>
            </a:solidFill>
            <a:prstDash val="solid"/>
          </a:ln>
        </p:spPr>
      </p:sp>
      <p:sp>
        <p:nvSpPr>
          <p:cNvPr id="8" name="text_263"/>
          <p:cNvSpPr txBox="1"/>
          <p:nvPr/>
        </p:nvSpPr>
        <p:spPr>
          <a:xfrm>
            <a:off x="7909560" y="4023360"/>
            <a:ext cx="350489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Luật chốt trước khi chạy</a:t>
            </a:r>
            <a:endParaRPr lang="en-US" sz="1600" dirty="0"/>
          </a:p>
        </p:txBody>
      </p:sp>
      <p:sp>
        <p:nvSpPr>
          <p:cNvPr id="9" name="text_264"/>
          <p:cNvSpPr txBox="1"/>
          <p:nvPr/>
        </p:nvSpPr>
        <p:spPr>
          <a:xfrm>
            <a:off x="7909560" y="4434840"/>
            <a:ext cx="3504895" cy="17373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Cải thiện nếu EM tăng và McNemar p &lt; 0,05 → đạt trên cả hai dataset (ViTextVQA đầy đủ: 2.543 so với 423 câu chỉ một model đúng).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05 · ĐỐI CHỨNG</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Mức tăng là thật, không do rò rỉ, không chỉ do định dạng</a:t>
            </a:r>
            <a:endParaRPr lang="en-US" sz="3200" dirty="0"/>
          </a:p>
        </p:txBody>
      </p:sp>
      <p:sp>
        <p:nvSpPr>
          <p:cNvPr id="5" name="card_265"/>
          <p:cNvSpPr/>
          <p:nvPr/>
        </p:nvSpPr>
        <p:spPr>
          <a:xfrm>
            <a:off x="548640" y="1371600"/>
            <a:ext cx="3566160" cy="2331720"/>
          </a:xfrm>
          <a:prstGeom prst="roundRect">
            <a:avLst>
              <a:gd name="adj" fmla="val 3137"/>
            </a:avLst>
          </a:prstGeom>
          <a:solidFill>
            <a:schemeClr val="bg2"/>
          </a:solidFill>
          <a:ln w="12700">
            <a:solidFill>
              <a:schemeClr val="bg2"/>
            </a:solidFill>
            <a:prstDash val="solid"/>
          </a:ln>
        </p:spPr>
      </p:sp>
      <p:sp>
        <p:nvSpPr>
          <p:cNvPr id="6" name="text_266"/>
          <p:cNvSpPr txBox="1"/>
          <p:nvPr/>
        </p:nvSpPr>
        <p:spPr>
          <a:xfrm>
            <a:off x="777240" y="1481328"/>
            <a:ext cx="3108960"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Phân tầng rò rỉ ViVQA</a:t>
            </a:r>
            <a:endParaRPr lang="en-US" sz="1600" dirty="0"/>
          </a:p>
        </p:txBody>
      </p:sp>
      <p:sp>
        <p:nvSpPr>
          <p:cNvPr id="7" name="text_267"/>
          <p:cNvSpPr txBox="1"/>
          <p:nvPr/>
        </p:nvSpPr>
        <p:spPr>
          <a:xfrm>
            <a:off x="777240" y="1920240"/>
            <a:ext cx="3108960" cy="169164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Tập sạch (n = 1.219): </a:t>
            </a:r>
            <a:r>
              <a:rPr lang="en-US" sz="1400" b="1" dirty="0">
                <a:solidFill>
                  <a:srgbClr val="1C7293"/>
                </a:solidFill>
                <a:latin typeface="Calibri" panose="020F0502020204030204" pitchFamily="34" charset="0"/>
                <a:ea typeface="Calibri" panose="020F0502020204030204" pitchFamily="34" charset="-122"/>
                <a:cs typeface="Calibri" panose="020F0502020204030204" pitchFamily="34" charset="-120"/>
              </a:rPr>
              <a:t>EM 25,0 → 69,1</a:t>
            </a:r>
            <a:endParaRPr lang="en-US" sz="1400" dirty="0"/>
          </a:p>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Mốc đoán theo phân bố đáp án: 14,4</a:t>
            </a:r>
            <a:endParaRPr lang="en-US" sz="1400" dirty="0"/>
          </a:p>
        </p:txBody>
      </p:sp>
      <p:sp>
        <p:nvSpPr>
          <p:cNvPr id="8" name="card_268"/>
          <p:cNvSpPr/>
          <p:nvPr/>
        </p:nvSpPr>
        <p:spPr>
          <a:xfrm>
            <a:off x="548640" y="3931920"/>
            <a:ext cx="3566160" cy="2331720"/>
          </a:xfrm>
          <a:prstGeom prst="roundRect">
            <a:avLst>
              <a:gd name="adj" fmla="val 3137"/>
            </a:avLst>
          </a:prstGeom>
          <a:solidFill>
            <a:schemeClr val="bg2"/>
          </a:solidFill>
          <a:ln w="12700">
            <a:solidFill>
              <a:schemeClr val="bg2"/>
            </a:solidFill>
            <a:prstDash val="solid"/>
          </a:ln>
        </p:spPr>
      </p:sp>
      <p:sp>
        <p:nvSpPr>
          <p:cNvPr id="9" name="text_269"/>
          <p:cNvSpPr txBox="1"/>
          <p:nvPr/>
        </p:nvSpPr>
        <p:spPr>
          <a:xfrm>
            <a:off x="777240" y="4041648"/>
            <a:ext cx="3108960"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ViTextVQA: không trùng ảnh</a:t>
            </a:r>
            <a:endParaRPr lang="en-US" sz="1600" dirty="0"/>
          </a:p>
        </p:txBody>
      </p:sp>
      <p:sp>
        <p:nvSpPr>
          <p:cNvPr id="10" name="text_270"/>
          <p:cNvSpPr txBox="1"/>
          <p:nvPr/>
        </p:nvSpPr>
        <p:spPr>
          <a:xfrm>
            <a:off x="777240" y="4480560"/>
            <a:ext cx="3108960" cy="169164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0 ảnh trùng train–test, </a:t>
            </a:r>
            <a:r>
              <a:rPr lang="en-US" sz="1400" b="1" dirty="0">
                <a:solidFill>
                  <a:srgbClr val="1C7293"/>
                </a:solidFill>
                <a:latin typeface="Calibri" panose="020F0502020204030204" pitchFamily="34" charset="0"/>
                <a:ea typeface="Calibri" panose="020F0502020204030204" pitchFamily="34" charset="-122"/>
                <a:cs typeface="Calibri" panose="020F0502020204030204" pitchFamily="34" charset="-120"/>
              </a:rPr>
              <a:t>vẫn +21,1 EM trên full test</a:t>
            </a:r>
            <a:endParaRPr lang="en-US" sz="1400" dirty="0"/>
          </a:p>
        </p:txBody>
      </p:sp>
      <p:sp>
        <p:nvSpPr>
          <p:cNvPr id="11" name="card_271"/>
          <p:cNvSpPr/>
          <p:nvPr/>
        </p:nvSpPr>
        <p:spPr>
          <a:xfrm>
            <a:off x="4480560" y="1371600"/>
            <a:ext cx="7162495" cy="4892040"/>
          </a:xfrm>
          <a:prstGeom prst="roundRect">
            <a:avLst>
              <a:gd name="adj" fmla="val 1495"/>
            </a:avLst>
          </a:prstGeom>
          <a:solidFill>
            <a:schemeClr val="bg2"/>
          </a:solidFill>
          <a:ln w="12700">
            <a:solidFill>
              <a:schemeClr val="bg2"/>
            </a:solidFill>
            <a:prstDash val="solid"/>
          </a:ln>
        </p:spPr>
      </p:sp>
      <p:sp>
        <p:nvSpPr>
          <p:cNvPr id="12" name="text_272"/>
          <p:cNvSpPr txBox="1"/>
          <p:nvPr/>
        </p:nvSpPr>
        <p:spPr>
          <a:xfrm>
            <a:off x="4754880" y="1481328"/>
            <a:ext cx="661385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Đối chứng few-shot: 5 ví dụ chữ trong prompt (FS5)</a:t>
            </a:r>
            <a:endParaRPr lang="en-US" sz="1600" dirty="0"/>
          </a:p>
        </p:txBody>
      </p:sp>
      <p:graphicFrame>
        <p:nvGraphicFramePr>
          <p:cNvPr id="13" name="chart_273"/>
          <p:cNvGraphicFramePr/>
          <p:nvPr/>
        </p:nvGraphicFramePr>
        <p:xfrm>
          <a:off x="4617720" y="1874520"/>
          <a:ext cx="6888175"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14" name="text_274"/>
          <p:cNvSpPr txBox="1"/>
          <p:nvPr/>
        </p:nvSpPr>
        <p:spPr>
          <a:xfrm>
            <a:off x="4754880" y="5166360"/>
            <a:ext cx="6613855" cy="100584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Few-shot làm câu trả lời ngắn lại nhưng mất nội dung (EM −2,1 ở ViVQA, p = 0,004; −1,2 ở ViTextVQA, không ý nghĩa). B2 vượt FS5 ở cả hai (p ≈ 0) → QLoRA học nhiều hơn định dạng.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05 · SO VỚI SOTA</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Full test ViTextVQA: cao hơn SOTA đã công bố</a:t>
            </a:r>
            <a:endParaRPr lang="en-US" sz="3200" dirty="0"/>
          </a:p>
        </p:txBody>
      </p:sp>
      <p:graphicFrame>
        <p:nvGraphicFramePr>
          <p:cNvPr id="28" name="table_275"/>
          <p:cNvGraphicFramePr>
            <a:graphicFrameLocks noGrp="1"/>
          </p:cNvGraphicFramePr>
          <p:nvPr/>
        </p:nvGraphicFramePr>
        <p:xfrm>
          <a:off x="548640" y="1417320"/>
          <a:ext cx="11094415" cy="2267712"/>
        </p:xfrm>
        <a:graphic>
          <a:graphicData uri="http://schemas.openxmlformats.org/drawingml/2006/table">
            <a:tbl>
              <a:tblPr/>
              <a:tblGrid>
                <a:gridCol w="3657600"/>
                <a:gridCol w="2331720"/>
                <a:gridCol w="2331720"/>
                <a:gridCol w="2770632"/>
              </a:tblGrid>
              <a:tr h="56692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(full test, 10.028 câu)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 [CI95]</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[CI95]</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 với SOTA (luật: cận dưới CI95 &gt; số công bố)</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ViTextBLIP-2 · Nguyen và cs. [3], Table 6 (có train)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25,48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53,95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B1 · Qwen2.5-VL-3B zero-shot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29,12 [28,23; 29,99]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53,89 [53,11; 54,66]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cao hơn về EM; F1 ngang</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marL="0" indent="0" algn="l">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B2 · + QLoRA, 1 epoch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marL="0" indent="0" algn="ctr">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50,26 [49,27; 51,23]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marL="0" indent="0" algn="ctr">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71,16 [70,42; 71,89]</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marL="0" indent="0" algn="l">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cao hơn cả EM và F1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card_276"/>
          <p:cNvSpPr/>
          <p:nvPr/>
        </p:nvSpPr>
        <p:spPr>
          <a:xfrm>
            <a:off x="548640" y="3886200"/>
            <a:ext cx="3454298" cy="1691640"/>
          </a:xfrm>
          <a:prstGeom prst="roundRect">
            <a:avLst>
              <a:gd name="adj" fmla="val 4324"/>
            </a:avLst>
          </a:prstGeom>
          <a:solidFill>
            <a:schemeClr val="bg2"/>
          </a:solidFill>
          <a:ln w="12700">
            <a:solidFill>
              <a:schemeClr val="bg2"/>
            </a:solidFill>
            <a:prstDash val="solid"/>
          </a:ln>
        </p:spPr>
      </p:sp>
      <p:sp>
        <p:nvSpPr>
          <p:cNvPr id="7" name="text_277"/>
          <p:cNvSpPr txBox="1"/>
          <p:nvPr/>
        </p:nvSpPr>
        <p:spPr>
          <a:xfrm>
            <a:off x="777240" y="402336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Tái lập được</a:t>
            </a:r>
            <a:endParaRPr lang="en-US" sz="1600" dirty="0"/>
          </a:p>
        </p:txBody>
      </p:sp>
      <p:sp>
        <p:nvSpPr>
          <p:cNvPr id="8" name="text_278"/>
          <p:cNvSpPr txBox="1"/>
          <p:nvPr/>
        </p:nvSpPr>
        <p:spPr>
          <a:xfrm>
            <a:off x="777240" y="448056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Dự đoán full test trùng 100% với các run tập con trên 2.000 câu chung.</a:t>
            </a:r>
            <a:endParaRPr lang="en-US" sz="1400" dirty="0"/>
          </a:p>
        </p:txBody>
      </p:sp>
      <p:sp>
        <p:nvSpPr>
          <p:cNvPr id="9" name="card_279"/>
          <p:cNvSpPr/>
          <p:nvPr/>
        </p:nvSpPr>
        <p:spPr>
          <a:xfrm>
            <a:off x="4368698" y="3886200"/>
            <a:ext cx="3454298" cy="1691640"/>
          </a:xfrm>
          <a:prstGeom prst="roundRect">
            <a:avLst>
              <a:gd name="adj" fmla="val 4324"/>
            </a:avLst>
          </a:prstGeom>
          <a:solidFill>
            <a:schemeClr val="bg2"/>
          </a:solidFill>
          <a:ln w="12700">
            <a:solidFill>
              <a:schemeClr val="bg2"/>
            </a:solidFill>
            <a:prstDash val="solid"/>
          </a:ln>
        </p:spPr>
      </p:sp>
      <p:sp>
        <p:nvSpPr>
          <p:cNvPr id="10" name="text_280"/>
          <p:cNvSpPr txBox="1"/>
          <p:nvPr/>
        </p:nvSpPr>
        <p:spPr>
          <a:xfrm>
            <a:off x="4597298" y="402336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Công bằng về loại</a:t>
            </a:r>
            <a:endParaRPr lang="en-US" sz="1600" dirty="0"/>
          </a:p>
        </p:txBody>
      </p:sp>
      <p:sp>
        <p:nvSpPr>
          <p:cNvPr id="11" name="text_281"/>
          <p:cNvSpPr txBox="1"/>
          <p:nvPr/>
        </p:nvSpPr>
        <p:spPr>
          <a:xfrm>
            <a:off x="4597298" y="448056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Cả B2 và ViTextBLIP-2 đều được train trên tập train ViTextVQA.</a:t>
            </a:r>
            <a:endParaRPr lang="en-US" sz="1400" dirty="0"/>
          </a:p>
        </p:txBody>
      </p:sp>
      <p:sp>
        <p:nvSpPr>
          <p:cNvPr id="12" name="card_282"/>
          <p:cNvSpPr/>
          <p:nvPr/>
        </p:nvSpPr>
        <p:spPr>
          <a:xfrm>
            <a:off x="8188757" y="3886200"/>
            <a:ext cx="3454298" cy="1691640"/>
          </a:xfrm>
          <a:prstGeom prst="roundRect">
            <a:avLst>
              <a:gd name="adj" fmla="val 4324"/>
            </a:avLst>
          </a:prstGeom>
          <a:solidFill>
            <a:schemeClr val="accent5"/>
          </a:solidFill>
          <a:ln w="12700">
            <a:solidFill>
              <a:schemeClr val="accent5"/>
            </a:solidFill>
            <a:prstDash val="solid"/>
          </a:ln>
        </p:spPr>
      </p:sp>
      <p:sp>
        <p:nvSpPr>
          <p:cNvPr id="13" name="text_283"/>
          <p:cNvSpPr txBox="1"/>
          <p:nvPr/>
        </p:nvSpPr>
        <p:spPr>
          <a:xfrm>
            <a:off x="8417357" y="402336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Giới hạn</a:t>
            </a:r>
            <a:endParaRPr lang="en-US" sz="1600" dirty="0"/>
          </a:p>
        </p:txBody>
      </p:sp>
      <p:sp>
        <p:nvSpPr>
          <p:cNvPr id="14" name="text_284"/>
          <p:cNvSpPr txBox="1"/>
          <p:nvPr/>
        </p:nvSpPr>
        <p:spPr>
          <a:xfrm>
            <a:off x="8417357" y="4480560"/>
            <a:ext cx="2997098" cy="96012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Paper không công bố cách chuẩn hoá đáp án; phép so giả định cách chấm tương đương.</a:t>
            </a:r>
            <a:endParaRPr lang="en-US" sz="1400" dirty="0"/>
          </a:p>
        </p:txBody>
      </p:sp>
      <p:sp>
        <p:nvSpPr>
          <p:cNvPr id="15" name="text_285"/>
          <p:cNvSpPr txBox="1"/>
          <p:nvPr/>
        </p:nvSpPr>
        <p:spPr>
          <a:xfrm>
            <a:off x="548640" y="5760720"/>
            <a:ext cx="11094415" cy="457200"/>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[3] Nguyen và cs., ViTextVQA, arXiv:2404.10652, 2024. CI95 = bootstrap ghép cặp, 10.000 lần lấy mẫu, seed 42. Số của nhóm: experiments/W07_B1_zeroshot_…_testfull, W07_B2_eval_…_testfull, W07_fulltest_summary_L4_seed42.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05 · CÁCH LÀM CỦA SOTA SO VỚI NHÓM</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ViTextBLIP-2 làm thế nào — và nhóm khác ở đâu</a:t>
            </a:r>
            <a:endParaRPr lang="en-US" sz="3200" dirty="0"/>
          </a:p>
        </p:txBody>
      </p:sp>
      <p:graphicFrame>
        <p:nvGraphicFramePr>
          <p:cNvPr id="29" name="table_286"/>
          <p:cNvGraphicFramePr>
            <a:graphicFrameLocks noGrp="1"/>
          </p:cNvGraphicFramePr>
          <p:nvPr/>
        </p:nvGraphicFramePr>
        <p:xfrm>
          <a:off x="548640" y="1325880"/>
          <a:ext cx="11094415" cy="4114800"/>
        </p:xfrm>
        <a:graphic>
          <a:graphicData uri="http://schemas.openxmlformats.org/drawingml/2006/table">
            <a:tbl>
              <a:tblPr/>
              <a:tblGrid>
                <a:gridCol w="2011680"/>
                <a:gridCol w="4572000"/>
                <a:gridCol w="4507992"/>
              </a:tblGrid>
              <a:tr h="45720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Khía cạnh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ViTextBLIP-2 (SOTA, paper [3])</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Nhóm: B2 = Qwen2.5-VL-3B + QLoRA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Thị giác</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ViT pretrained, đóng băng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ViT của Qwen2.5-VL (32 khối), đóng băng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Chữ trong ảnh (OCR)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SwinTextSpotter [4], không fine-tune, bộ ký tự tiếng Việt; token OCR trộn như đặc trưng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Không dùng OCR ngoài — VLM tự đọc chữ từ ảnh (OCR thêm ở B3, Phần 06)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Mô hình ngôn ngữ</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ViT5 [5] (T5 tiếng Việt), đóng băng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Decoder Qwen2.5-3B, 36 lớp, 4-bit NF4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Phần được train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Q-Former (khởi tạo từ BLIP-2) trộn ảnh, câu hỏi và OCR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LoRA trên q, k, v, o: 7,37 triệu tham số (0,196%)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Xử lý dữ liệu</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Sắp chữ OCR trái-trên → phải-dưới (giúp hầu hết model)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Split chính thức; chuẩn hoá tiếng Việt (NFC, chữ thường, giữ dấu thanh)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Dữ liệu train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Toàn bộ train ViTextVQA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Toàn bộ train ViTextVQA, 1 epoch (3,03 h trên 1 L4)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Metric</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EM, F1; không công bố cách chuẩn hoá</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200" dirty="0">
                          <a:solidFill>
                            <a:srgbClr val="243044"/>
                          </a:solidFill>
                          <a:latin typeface="Calibri" panose="020F0502020204030204" pitchFamily="34" charset="0"/>
                          <a:ea typeface="Calibri" panose="020F0502020204030204" pitchFamily="34" charset="-122"/>
                          <a:cs typeface="Calibri" panose="020F0502020204030204" pitchFamily="34" charset="-120"/>
                        </a:rPr>
                        <a:t>EM, ANLS (+ F1 để so); hàm chuẩn hoá công khai trong code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buNone/>
                      </a:pPr>
                      <a:r>
                        <a:rPr lang="en-US" sz="1200" b="1" dirty="0">
                          <a:solidFill>
                            <a:srgbClr val="13294B"/>
                          </a:solidFill>
                          <a:latin typeface="Calibri" panose="020F0502020204030204" pitchFamily="34" charset="0"/>
                          <a:ea typeface="Calibri" panose="020F0502020204030204" pitchFamily="34" charset="-122"/>
                          <a:cs typeface="Calibri" panose="020F0502020204030204" pitchFamily="34" charset="-120"/>
                        </a:rPr>
                        <a:t>Full test (EM / F1)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marL="0" indent="0">
                        <a:buNone/>
                      </a:pPr>
                      <a:r>
                        <a:rPr lang="en-US" sz="1200" b="1" dirty="0">
                          <a:solidFill>
                            <a:srgbClr val="243044"/>
                          </a:solidFill>
                          <a:latin typeface="Calibri" panose="020F0502020204030204" pitchFamily="34" charset="0"/>
                          <a:ea typeface="Calibri" panose="020F0502020204030204" pitchFamily="34" charset="-122"/>
                          <a:cs typeface="Calibri" panose="020F0502020204030204" pitchFamily="34" charset="-120"/>
                        </a:rPr>
                        <a:t>25,48 / 53,95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marL="0" indent="0">
                        <a:buNone/>
                      </a:pPr>
                      <a:r>
                        <a:rPr lang="en-US" sz="1200" b="1" dirty="0">
                          <a:solidFill>
                            <a:srgbClr val="243044"/>
                          </a:solidFill>
                          <a:latin typeface="Calibri" panose="020F0502020204030204" pitchFamily="34" charset="0"/>
                          <a:ea typeface="Calibri" panose="020F0502020204030204" pitchFamily="34" charset="-122"/>
                          <a:cs typeface="Calibri" panose="020F0502020204030204" pitchFamily="34" charset="-120"/>
                        </a:rPr>
                        <a:t>50,26 / 71,16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text_287"/>
          <p:cNvSpPr txBox="1"/>
          <p:nvPr/>
        </p:nvSpPr>
        <p:spPr>
          <a:xfrm>
            <a:off x="548640" y="5760720"/>
            <a:ext cx="11094415" cy="566928"/>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[3] Nguyen và cs., ViTextVQA, arXiv:2404.10652, 2024 (bản mở rộng ESWA 2025) · [4] Huang và cs., SwinTextSpotter, CVPR 2022 · [5] Phan và cs., ViT5, NAACL SRW 2022. Lưu ý: số 25,48 / 53,95 của paper nằm ở cột “OCR confidence” trong Table 10; bảng ablation báo 24,83 / 52,51 cho model đầy đủ.</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05 · PHÂN TÍCH LỖI &amp; HALLUCINATION</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B2 còn sai ở đâu</a:t>
            </a:r>
            <a:endParaRPr lang="en-US" sz="3200" dirty="0"/>
          </a:p>
        </p:txBody>
      </p:sp>
      <p:graphicFrame>
        <p:nvGraphicFramePr>
          <p:cNvPr id="5" name="chart_288"/>
          <p:cNvGraphicFramePr/>
          <p:nvPr/>
        </p:nvGraphicFramePr>
        <p:xfrm>
          <a:off x="548640" y="1325880"/>
          <a:ext cx="6400800" cy="27889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30" name="table_289"/>
          <p:cNvGraphicFramePr>
            <a:graphicFrameLocks noGrp="1"/>
          </p:cNvGraphicFramePr>
          <p:nvPr/>
        </p:nvGraphicFramePr>
        <p:xfrm>
          <a:off x="548640" y="4224528"/>
          <a:ext cx="6400800" cy="1609344"/>
        </p:xfrm>
        <a:graphic>
          <a:graphicData uri="http://schemas.openxmlformats.org/drawingml/2006/table">
            <a:tbl>
              <a:tblPr/>
              <a:tblGrid>
                <a:gridCol w="1645920"/>
                <a:gridCol w="2240280"/>
                <a:gridCol w="2514600"/>
              </a:tblGrid>
              <a:tr h="402336">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Nhóm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B2 trả lời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Gold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0233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dấu thanh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đặng việt thủy</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đặng việt thúy</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lệch ký tự</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372 . 568 . 177</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372 . 566 . 177</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thiếu chữ</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nhân dân quận 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ủy ban nhân dân quận 2</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90"/>
          <p:cNvSpPr/>
          <p:nvPr/>
        </p:nvSpPr>
        <p:spPr>
          <a:xfrm>
            <a:off x="7315200" y="1371600"/>
            <a:ext cx="4327855" cy="4526280"/>
          </a:xfrm>
          <a:prstGeom prst="roundRect">
            <a:avLst>
              <a:gd name="adj" fmla="val 1690"/>
            </a:avLst>
          </a:prstGeom>
          <a:solidFill>
            <a:schemeClr val="bg2"/>
          </a:solidFill>
          <a:ln w="12700">
            <a:solidFill>
              <a:schemeClr val="bg2"/>
            </a:solidFill>
            <a:prstDash val="solid"/>
          </a:ln>
        </p:spPr>
      </p:sp>
      <p:sp>
        <p:nvSpPr>
          <p:cNvPr id="8" name="text_291"/>
          <p:cNvSpPr txBox="1"/>
          <p:nvPr/>
        </p:nvSpPr>
        <p:spPr>
          <a:xfrm>
            <a:off x="7589520" y="1508760"/>
            <a:ext cx="3779215" cy="68580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Duyệt tay 200 lỗi B2 (đã phân xử)</a:t>
            </a:r>
            <a:endParaRPr lang="en-US" sz="1600" dirty="0"/>
          </a:p>
        </p:txBody>
      </p:sp>
      <p:sp>
        <p:nvSpPr>
          <p:cNvPr id="9" name="list_292"/>
          <p:cNvSpPr txBox="1"/>
          <p:nvPr/>
        </p:nvSpPr>
        <p:spPr>
          <a:xfrm>
            <a:off x="7589520" y="2194560"/>
            <a:ext cx="3779215" cy="361188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54% thực ra đúng ý: EM quá khắt khe (ViVQA 62%, ViTextVQA 46%)</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Gold nhiễu: 12,5% (ViVQA 19%)</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Lỗi thật ở ViTextVQA: đọc sai chữ 28%, nhầm vùng chữ 23%, dấu thanh 8%</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Hallucination (không có trong ảnh): 7% số lỗi (CI95 4–11%)</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4 người + nhãn gợi ý của AI; κ = 0,62 (2 người độc lập); bỏ 42 dòng có AI hỗ trợ, kết luận không đổi</a:t>
            </a:r>
            <a:endParaRPr lang="en-US" sz="1400" dirty="0"/>
          </a:p>
        </p:txBody>
      </p:sp>
      <p:sp>
        <p:nvSpPr>
          <p:cNvPr id="10" name="text_293"/>
          <p:cNvSpPr txBox="1"/>
          <p:nvPr/>
        </p:nvSpPr>
        <p:spPr>
          <a:xfrm>
            <a:off x="548640" y="5852160"/>
            <a:ext cx="11094415" cy="502920"/>
          </a:xfrm>
          <a:prstGeom prst="rect">
            <a:avLst/>
          </a:prstGeom>
          <a:noFill/>
        </p:spPr>
        <p:txBody>
          <a:bodyPr wrap="square" lIns="0" tIns="0" rIns="0" bIns="0" rtlCol="0" anchor="b"/>
          <a:lstStyle/>
          <a:p>
            <a:pPr marL="0" indent="0">
              <a:buNone/>
            </a:pPr>
            <a:r>
              <a:rPr lang="en-US" sz="1000" dirty="0">
                <a:solidFill>
                  <a:schemeClr val="accent3"/>
                </a:solidFill>
                <a:latin typeface="Calibri" panose="020F0502020204030204" pitchFamily="34" charset="0"/>
                <a:ea typeface="Calibri" panose="020F0502020204030204" pitchFamily="34" charset="-122"/>
                <a:cs typeface="Calibri" panose="020F0502020204030204" pitchFamily="34" charset="-120"/>
              </a:rPr>
              <a:t>Nguồn — phân loại tự động: python -m src.eval.answer_format --buckets trên experiments/W07_B2_eval_qlora_r16_ep1_vitextvqa_testfull_… (4.988 = 10.028 − 5.040 câu đúng). Duyệt tay: docs/W07/audit/W07_error_audit_final.json (nhãn ở docs/W07/audit/labels/, tính bằng compute_error_audit.py).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06 · PHƯƠNG PHÁP ĐỀ XUẤT (B3)</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QLoRA nhận biết OCR: dạy model dùng văn bản OCR</a:t>
            </a:r>
            <a:endParaRPr lang="en-US" sz="3200" dirty="0"/>
          </a:p>
        </p:txBody>
      </p:sp>
      <p:sp>
        <p:nvSpPr>
          <p:cNvPr id="5" name="card_294"/>
          <p:cNvSpPr/>
          <p:nvPr/>
        </p:nvSpPr>
        <p:spPr>
          <a:xfrm>
            <a:off x="548640" y="1417320"/>
            <a:ext cx="1984797" cy="1188720"/>
          </a:xfrm>
          <a:prstGeom prst="roundRect">
            <a:avLst>
              <a:gd name="adj" fmla="val 6154"/>
            </a:avLst>
          </a:prstGeom>
          <a:solidFill>
            <a:schemeClr val="bg2"/>
          </a:solidFill>
          <a:ln w="12700">
            <a:solidFill>
              <a:schemeClr val="bg2"/>
            </a:solidFill>
            <a:prstDash val="solid"/>
          </a:ln>
        </p:spPr>
      </p:sp>
      <p:sp>
        <p:nvSpPr>
          <p:cNvPr id="6" name="text_295"/>
          <p:cNvSpPr txBox="1"/>
          <p:nvPr/>
        </p:nvSpPr>
        <p:spPr>
          <a:xfrm>
            <a:off x="640080" y="1527048"/>
            <a:ext cx="1801917" cy="384048"/>
          </a:xfrm>
          <a:prstGeom prst="rect">
            <a:avLst/>
          </a:prstGeom>
          <a:noFill/>
        </p:spPr>
        <p:txBody>
          <a:bodyPr wrap="square" lIns="0" tIns="0" rIns="0" bIns="0" rtlCol="0" anchor="t"/>
          <a:lstStyle/>
          <a:p>
            <a:pPr marL="0" indent="0" algn="ctr">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Ảnh</a:t>
            </a:r>
            <a:endParaRPr lang="en-US" sz="1500" dirty="0"/>
          </a:p>
        </p:txBody>
      </p:sp>
      <p:sp>
        <p:nvSpPr>
          <p:cNvPr id="7" name="text_296"/>
          <p:cNvSpPr txBox="1"/>
          <p:nvPr/>
        </p:nvSpPr>
        <p:spPr>
          <a:xfrm>
            <a:off x="685800" y="1984248"/>
            <a:ext cx="1710477" cy="548640"/>
          </a:xfrm>
          <a:prstGeom prst="rect">
            <a:avLst/>
          </a:prstGeom>
          <a:noFill/>
        </p:spPr>
        <p:txBody>
          <a:bodyPr wrap="square" lIns="0" tIns="0" rIns="0" bIns="0" rtlCol="0" anchor="t"/>
          <a:lstStyle/>
          <a:p>
            <a:pPr marL="0" indent="0" algn="ctr">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chữ trong ảnh</a:t>
            </a:r>
            <a:endParaRPr lang="en-US" sz="1200" dirty="0"/>
          </a:p>
        </p:txBody>
      </p:sp>
      <p:sp>
        <p:nvSpPr>
          <p:cNvPr id="8" name="arrow_297"/>
          <p:cNvSpPr/>
          <p:nvPr/>
        </p:nvSpPr>
        <p:spPr>
          <a:xfrm>
            <a:off x="2579157" y="1911096"/>
            <a:ext cx="201168" cy="201168"/>
          </a:xfrm>
          <a:prstGeom prst="rightArrow">
            <a:avLst/>
          </a:prstGeom>
          <a:solidFill>
            <a:srgbClr val="6B7280"/>
          </a:solidFill>
          <a:ln w="12700">
            <a:solidFill>
              <a:srgbClr val="6B7280"/>
            </a:solidFill>
            <a:prstDash val="solid"/>
          </a:ln>
        </p:spPr>
      </p:sp>
      <p:sp>
        <p:nvSpPr>
          <p:cNvPr id="9" name="card_298"/>
          <p:cNvSpPr/>
          <p:nvPr/>
        </p:nvSpPr>
        <p:spPr>
          <a:xfrm>
            <a:off x="2826045" y="1417320"/>
            <a:ext cx="1984797" cy="1188720"/>
          </a:xfrm>
          <a:prstGeom prst="roundRect">
            <a:avLst>
              <a:gd name="adj" fmla="val 6154"/>
            </a:avLst>
          </a:prstGeom>
          <a:solidFill>
            <a:schemeClr val="bg2"/>
          </a:solidFill>
          <a:ln w="12700">
            <a:solidFill>
              <a:schemeClr val="bg2"/>
            </a:solidFill>
            <a:prstDash val="solid"/>
          </a:ln>
        </p:spPr>
      </p:sp>
      <p:sp>
        <p:nvSpPr>
          <p:cNvPr id="10" name="text_299"/>
          <p:cNvSpPr txBox="1"/>
          <p:nvPr/>
        </p:nvSpPr>
        <p:spPr>
          <a:xfrm>
            <a:off x="2917485" y="1527048"/>
            <a:ext cx="1801917" cy="384048"/>
          </a:xfrm>
          <a:prstGeom prst="rect">
            <a:avLst/>
          </a:prstGeom>
          <a:noFill/>
        </p:spPr>
        <p:txBody>
          <a:bodyPr wrap="square" lIns="0" tIns="0" rIns="0" bIns="0" rtlCol="0" anchor="t"/>
          <a:lstStyle/>
          <a:p>
            <a:pPr marL="0" indent="0" algn="ctr">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PaddleOCR</a:t>
            </a:r>
            <a:endParaRPr lang="en-US" sz="1500" dirty="0"/>
          </a:p>
        </p:txBody>
      </p:sp>
      <p:sp>
        <p:nvSpPr>
          <p:cNvPr id="11" name="text_300"/>
          <p:cNvSpPr txBox="1"/>
          <p:nvPr/>
        </p:nvSpPr>
        <p:spPr>
          <a:xfrm>
            <a:off x="2963205" y="1984248"/>
            <a:ext cx="1710477" cy="548640"/>
          </a:xfrm>
          <a:prstGeom prst="rect">
            <a:avLst/>
          </a:prstGeom>
          <a:noFill/>
        </p:spPr>
        <p:txBody>
          <a:bodyPr wrap="square" lIns="0" tIns="0" rIns="0" bIns="0" rtlCol="0" anchor="t"/>
          <a:lstStyle/>
          <a:p>
            <a:pPr marL="0" indent="0" algn="ctr">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dò dòng chữ</a:t>
            </a:r>
            <a:endParaRPr lang="en-US" sz="1200" dirty="0"/>
          </a:p>
        </p:txBody>
      </p:sp>
      <p:sp>
        <p:nvSpPr>
          <p:cNvPr id="12" name="arrow_301"/>
          <p:cNvSpPr/>
          <p:nvPr/>
        </p:nvSpPr>
        <p:spPr>
          <a:xfrm>
            <a:off x="4856561" y="1911096"/>
            <a:ext cx="201168" cy="201168"/>
          </a:xfrm>
          <a:prstGeom prst="rightArrow">
            <a:avLst/>
          </a:prstGeom>
          <a:solidFill>
            <a:srgbClr val="6B7280"/>
          </a:solidFill>
          <a:ln w="12700">
            <a:solidFill>
              <a:srgbClr val="6B7280"/>
            </a:solidFill>
            <a:prstDash val="solid"/>
          </a:ln>
        </p:spPr>
      </p:sp>
      <p:sp>
        <p:nvSpPr>
          <p:cNvPr id="13" name="card_302"/>
          <p:cNvSpPr/>
          <p:nvPr/>
        </p:nvSpPr>
        <p:spPr>
          <a:xfrm>
            <a:off x="5103449" y="1417320"/>
            <a:ext cx="1984797" cy="1188720"/>
          </a:xfrm>
          <a:prstGeom prst="roundRect">
            <a:avLst>
              <a:gd name="adj" fmla="val 6154"/>
            </a:avLst>
          </a:prstGeom>
          <a:solidFill>
            <a:schemeClr val="bg2"/>
          </a:solidFill>
          <a:ln w="12700">
            <a:solidFill>
              <a:schemeClr val="bg2"/>
            </a:solidFill>
            <a:prstDash val="solid"/>
          </a:ln>
        </p:spPr>
      </p:sp>
      <p:sp>
        <p:nvSpPr>
          <p:cNvPr id="14" name="text_303"/>
          <p:cNvSpPr txBox="1"/>
          <p:nvPr/>
        </p:nvSpPr>
        <p:spPr>
          <a:xfrm>
            <a:off x="5194889" y="1527048"/>
            <a:ext cx="1801917" cy="384048"/>
          </a:xfrm>
          <a:prstGeom prst="rect">
            <a:avLst/>
          </a:prstGeom>
          <a:noFill/>
        </p:spPr>
        <p:txBody>
          <a:bodyPr wrap="square" lIns="0" tIns="0" rIns="0" bIns="0" rtlCol="0" anchor="t"/>
          <a:lstStyle/>
          <a:p>
            <a:pPr marL="0" indent="0" algn="ctr">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VietOCR</a:t>
            </a:r>
            <a:endParaRPr lang="en-US" sz="1500" dirty="0"/>
          </a:p>
        </p:txBody>
      </p:sp>
      <p:sp>
        <p:nvSpPr>
          <p:cNvPr id="15" name="text_304"/>
          <p:cNvSpPr txBox="1"/>
          <p:nvPr/>
        </p:nvSpPr>
        <p:spPr>
          <a:xfrm>
            <a:off x="5240609" y="1984248"/>
            <a:ext cx="1710477" cy="548640"/>
          </a:xfrm>
          <a:prstGeom prst="rect">
            <a:avLst/>
          </a:prstGeom>
          <a:noFill/>
        </p:spPr>
        <p:txBody>
          <a:bodyPr wrap="square" lIns="0" tIns="0" rIns="0" bIns="0" rtlCol="0" anchor="t"/>
          <a:lstStyle/>
          <a:p>
            <a:pPr marL="0" indent="0" algn="ctr">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đọc tiếng Việt, giữ dấu</a:t>
            </a:r>
            <a:endParaRPr lang="en-US" sz="1200" dirty="0"/>
          </a:p>
        </p:txBody>
      </p:sp>
      <p:sp>
        <p:nvSpPr>
          <p:cNvPr id="16" name="arrow_305"/>
          <p:cNvSpPr/>
          <p:nvPr/>
        </p:nvSpPr>
        <p:spPr>
          <a:xfrm>
            <a:off x="7133966" y="1911096"/>
            <a:ext cx="201168" cy="201168"/>
          </a:xfrm>
          <a:prstGeom prst="rightArrow">
            <a:avLst/>
          </a:prstGeom>
          <a:solidFill>
            <a:srgbClr val="6B7280"/>
          </a:solidFill>
          <a:ln w="12700">
            <a:solidFill>
              <a:srgbClr val="6B7280"/>
            </a:solidFill>
            <a:prstDash val="solid"/>
          </a:ln>
        </p:spPr>
      </p:sp>
      <p:sp>
        <p:nvSpPr>
          <p:cNvPr id="17" name="card_306"/>
          <p:cNvSpPr/>
          <p:nvPr/>
        </p:nvSpPr>
        <p:spPr>
          <a:xfrm>
            <a:off x="7380854" y="1417320"/>
            <a:ext cx="1984797" cy="1188720"/>
          </a:xfrm>
          <a:prstGeom prst="roundRect">
            <a:avLst>
              <a:gd name="adj" fmla="val 6154"/>
            </a:avLst>
          </a:prstGeom>
          <a:solidFill>
            <a:schemeClr val="accent4"/>
          </a:solidFill>
          <a:ln w="12700">
            <a:solidFill>
              <a:schemeClr val="accent4"/>
            </a:solidFill>
            <a:prstDash val="solid"/>
          </a:ln>
        </p:spPr>
      </p:sp>
      <p:sp>
        <p:nvSpPr>
          <p:cNvPr id="18" name="text_307"/>
          <p:cNvSpPr txBox="1"/>
          <p:nvPr/>
        </p:nvSpPr>
        <p:spPr>
          <a:xfrm>
            <a:off x="7472294" y="1527048"/>
            <a:ext cx="1801917" cy="384048"/>
          </a:xfrm>
          <a:prstGeom prst="rect">
            <a:avLst/>
          </a:prstGeom>
          <a:noFill/>
        </p:spPr>
        <p:txBody>
          <a:bodyPr wrap="square" lIns="0" tIns="0" rIns="0" bIns="0" rtlCol="0" anchor="t"/>
          <a:lstStyle/>
          <a:p>
            <a:pPr marL="0" indent="0" algn="ctr">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Prompt</a:t>
            </a:r>
            <a:endParaRPr lang="en-US" sz="1500" dirty="0"/>
          </a:p>
        </p:txBody>
      </p:sp>
      <p:sp>
        <p:nvSpPr>
          <p:cNvPr id="19" name="text_308"/>
          <p:cNvSpPr txBox="1"/>
          <p:nvPr/>
        </p:nvSpPr>
        <p:spPr>
          <a:xfrm>
            <a:off x="7518014" y="1984248"/>
            <a:ext cx="1710477" cy="548640"/>
          </a:xfrm>
          <a:prstGeom prst="rect">
            <a:avLst/>
          </a:prstGeom>
          <a:noFill/>
        </p:spPr>
        <p:txBody>
          <a:bodyPr wrap="square" lIns="0" tIns="0" rIns="0" bIns="0" rtlCol="0" anchor="t"/>
          <a:lstStyle/>
          <a:p>
            <a:pPr marL="0" indent="0" algn="ctr">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1 dòng OCR + câu hỏi</a:t>
            </a:r>
            <a:endParaRPr lang="en-US" sz="1200" dirty="0"/>
          </a:p>
        </p:txBody>
      </p:sp>
      <p:sp>
        <p:nvSpPr>
          <p:cNvPr id="20" name="arrow_309"/>
          <p:cNvSpPr/>
          <p:nvPr/>
        </p:nvSpPr>
        <p:spPr>
          <a:xfrm>
            <a:off x="9411371" y="1911096"/>
            <a:ext cx="201168" cy="201168"/>
          </a:xfrm>
          <a:prstGeom prst="rightArrow">
            <a:avLst/>
          </a:prstGeom>
          <a:solidFill>
            <a:srgbClr val="6B7280"/>
          </a:solidFill>
          <a:ln w="12700">
            <a:solidFill>
              <a:srgbClr val="6B7280"/>
            </a:solidFill>
            <a:prstDash val="solid"/>
          </a:ln>
        </p:spPr>
      </p:sp>
      <p:sp>
        <p:nvSpPr>
          <p:cNvPr id="21" name="card_310"/>
          <p:cNvSpPr/>
          <p:nvPr/>
        </p:nvSpPr>
        <p:spPr>
          <a:xfrm>
            <a:off x="9658259" y="1417320"/>
            <a:ext cx="1984797" cy="1188720"/>
          </a:xfrm>
          <a:prstGeom prst="roundRect">
            <a:avLst>
              <a:gd name="adj" fmla="val 6154"/>
            </a:avLst>
          </a:prstGeom>
          <a:solidFill>
            <a:schemeClr val="accent5"/>
          </a:solidFill>
          <a:ln w="12700">
            <a:solidFill>
              <a:schemeClr val="accent5"/>
            </a:solidFill>
            <a:prstDash val="solid"/>
          </a:ln>
        </p:spPr>
      </p:sp>
      <p:sp>
        <p:nvSpPr>
          <p:cNvPr id="22" name="text_311"/>
          <p:cNvSpPr txBox="1"/>
          <p:nvPr/>
        </p:nvSpPr>
        <p:spPr>
          <a:xfrm>
            <a:off x="9749699" y="1527048"/>
            <a:ext cx="1801917" cy="384048"/>
          </a:xfrm>
          <a:prstGeom prst="rect">
            <a:avLst/>
          </a:prstGeom>
          <a:noFill/>
        </p:spPr>
        <p:txBody>
          <a:bodyPr wrap="square" lIns="0" tIns="0" rIns="0" bIns="0" rtlCol="0" anchor="t"/>
          <a:lstStyle/>
          <a:p>
            <a:pPr marL="0" indent="0" algn="ctr">
              <a:buNone/>
            </a:pPr>
            <a:r>
              <a:rPr lang="en-US" sz="1500" b="1" dirty="0">
                <a:solidFill>
                  <a:schemeClr val="tx2"/>
                </a:solidFill>
                <a:latin typeface="Calibri" panose="020F0502020204030204" pitchFamily="34" charset="0"/>
                <a:ea typeface="Calibri" panose="020F0502020204030204" pitchFamily="34" charset="-122"/>
                <a:cs typeface="Calibri" panose="020F0502020204030204" pitchFamily="34" charset="-120"/>
              </a:rPr>
              <a:t>Qwen2.5-VL + LoRA</a:t>
            </a:r>
            <a:endParaRPr lang="en-US" sz="1500" dirty="0"/>
          </a:p>
        </p:txBody>
      </p:sp>
      <p:sp>
        <p:nvSpPr>
          <p:cNvPr id="23" name="text_312"/>
          <p:cNvSpPr txBox="1"/>
          <p:nvPr/>
        </p:nvSpPr>
        <p:spPr>
          <a:xfrm>
            <a:off x="9795419" y="1984248"/>
            <a:ext cx="1710477" cy="548640"/>
          </a:xfrm>
          <a:prstGeom prst="rect">
            <a:avLst/>
          </a:prstGeom>
          <a:noFill/>
        </p:spPr>
        <p:txBody>
          <a:bodyPr wrap="square" lIns="0" tIns="0" rIns="0" bIns="0" rtlCol="0" anchor="t"/>
          <a:lstStyle/>
          <a:p>
            <a:pPr marL="0" indent="0" algn="ctr">
              <a:buNone/>
            </a:pPr>
            <a:r>
              <a:rPr lang="en-US" sz="1200" dirty="0">
                <a:solidFill>
                  <a:schemeClr val="tx1"/>
                </a:solidFill>
                <a:latin typeface="Calibri" panose="020F0502020204030204" pitchFamily="34" charset="0"/>
                <a:ea typeface="Calibri" panose="020F0502020204030204" pitchFamily="34" charset="-122"/>
                <a:cs typeface="Calibri" panose="020F0502020204030204" pitchFamily="34" charset="-120"/>
              </a:rPr>
              <a:t>LoRA train cùng dòng OCR</a:t>
            </a:r>
            <a:endParaRPr lang="en-US" sz="1200" dirty="0"/>
          </a:p>
        </p:txBody>
      </p:sp>
      <p:sp>
        <p:nvSpPr>
          <p:cNvPr id="24" name="card_313"/>
          <p:cNvSpPr/>
          <p:nvPr/>
        </p:nvSpPr>
        <p:spPr>
          <a:xfrm>
            <a:off x="548640" y="2834640"/>
            <a:ext cx="11094415" cy="685800"/>
          </a:xfrm>
          <a:prstGeom prst="roundRect">
            <a:avLst>
              <a:gd name="adj" fmla="val 10667"/>
            </a:avLst>
          </a:prstGeom>
          <a:solidFill>
            <a:schemeClr val="bg2"/>
          </a:solidFill>
          <a:ln w="12700">
            <a:solidFill>
              <a:schemeClr val="bg2"/>
            </a:solidFill>
            <a:prstDash val="solid"/>
          </a:ln>
        </p:spPr>
      </p:sp>
      <p:sp>
        <p:nvSpPr>
          <p:cNvPr id="25" name="text_314"/>
          <p:cNvSpPr txBox="1"/>
          <p:nvPr/>
        </p:nvSpPr>
        <p:spPr>
          <a:xfrm>
            <a:off x="822960" y="2834640"/>
            <a:ext cx="10545775" cy="685800"/>
          </a:xfrm>
          <a:prstGeom prst="rect">
            <a:avLst/>
          </a:prstGeom>
          <a:noFill/>
        </p:spPr>
        <p:txBody>
          <a:bodyPr wrap="square" lIns="0" tIns="0" rIns="0" bIns="0" rtlCol="0" anchor="ct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Dòng prompt:  </a:t>
            </a:r>
            <a:r>
              <a:rPr lang="en-US" sz="1300" dirty="0">
                <a:solidFill>
                  <a:schemeClr val="tx1"/>
                </a:solidFill>
                <a:latin typeface="Courier New" panose="02070309020205020404" pitchFamily="34" charset="0"/>
                <a:ea typeface="Courier New" panose="02070309020205020404" pitchFamily="34" charset="-122"/>
                <a:cs typeface="Courier New" panose="02070309020205020404" pitchFamily="34" charset="-120"/>
              </a:rPr>
              <a:t>Văn bản đọc được trong ảnh: NHÀ THUỐC TÂM AN | 0919 467 868 …   Câu hỏi: tên nhà thuốc là gì?</a:t>
            </a:r>
            <a:endParaRPr lang="en-US" sz="1400" dirty="0"/>
          </a:p>
        </p:txBody>
      </p:sp>
      <p:sp>
        <p:nvSpPr>
          <p:cNvPr id="26" name="card_315"/>
          <p:cNvSpPr/>
          <p:nvPr/>
        </p:nvSpPr>
        <p:spPr>
          <a:xfrm>
            <a:off x="548640" y="3794760"/>
            <a:ext cx="3454298" cy="2468880"/>
          </a:xfrm>
          <a:prstGeom prst="roundRect">
            <a:avLst>
              <a:gd name="adj" fmla="val 2963"/>
            </a:avLst>
          </a:prstGeom>
          <a:solidFill>
            <a:schemeClr val="bg2"/>
          </a:solidFill>
          <a:ln w="12700">
            <a:solidFill>
              <a:schemeClr val="bg2"/>
            </a:solidFill>
            <a:prstDash val="solid"/>
          </a:ln>
        </p:spPr>
      </p:sp>
      <p:sp>
        <p:nvSpPr>
          <p:cNvPr id="27" name="text_316"/>
          <p:cNvSpPr txBox="1"/>
          <p:nvPr/>
        </p:nvSpPr>
        <p:spPr>
          <a:xfrm>
            <a:off x="777240" y="39319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Vì sao OCR</a:t>
            </a:r>
            <a:endParaRPr lang="en-US" sz="1600" dirty="0"/>
          </a:p>
        </p:txBody>
      </p:sp>
      <p:sp>
        <p:nvSpPr>
          <p:cNvPr id="28" name="list_317"/>
          <p:cNvSpPr txBox="1"/>
          <p:nvPr/>
        </p:nvSpPr>
        <p:spPr>
          <a:xfrm>
            <a:off x="777240" y="4389120"/>
            <a:ext cx="2997098"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Lỗi thật của B2 ở ViTextVQA: đọc sai chữ 28%, nhầm vùng chữ 23%, sai dấu 8%</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Chữ tiếng Việt trong ảnh là gap nghiên cứu G2</a:t>
            </a:r>
            <a:endParaRPr lang="en-US" sz="1400" dirty="0"/>
          </a:p>
        </p:txBody>
      </p:sp>
      <p:sp>
        <p:nvSpPr>
          <p:cNvPr id="29" name="card_318"/>
          <p:cNvSpPr/>
          <p:nvPr/>
        </p:nvSpPr>
        <p:spPr>
          <a:xfrm>
            <a:off x="4368698" y="3794760"/>
            <a:ext cx="3454298" cy="2468880"/>
          </a:xfrm>
          <a:prstGeom prst="roundRect">
            <a:avLst>
              <a:gd name="adj" fmla="val 2963"/>
            </a:avLst>
          </a:prstGeom>
          <a:solidFill>
            <a:schemeClr val="bg2"/>
          </a:solidFill>
          <a:ln w="12700">
            <a:solidFill>
              <a:schemeClr val="bg2"/>
            </a:solidFill>
            <a:prstDash val="solid"/>
          </a:ln>
        </p:spPr>
      </p:sp>
      <p:sp>
        <p:nvSpPr>
          <p:cNvPr id="30" name="text_319"/>
          <p:cNvSpPr txBox="1"/>
          <p:nvPr/>
        </p:nvSpPr>
        <p:spPr>
          <a:xfrm>
            <a:off x="4597298" y="39319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Chọn OCR (luật chốt, dev300)</a:t>
            </a:r>
            <a:endParaRPr lang="en-US" sz="1600" dirty="0"/>
          </a:p>
        </p:txBody>
      </p:sp>
      <p:sp>
        <p:nvSpPr>
          <p:cNvPr id="31" name="list_320"/>
          <p:cNvSpPr txBox="1"/>
          <p:nvPr/>
        </p:nvSpPr>
        <p:spPr>
          <a:xfrm>
            <a:off x="4597298" y="4389120"/>
            <a:ext cx="2997098"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PaddleOCR bản Latin làm rơi dấu: “Kiểu Thẩm” → “Kiu Thm”</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Đáp án nằm trong văn bản OCR: VietOCR 37,7% so với 27,0% (p = 0,0008) → VietOCR</a:t>
            </a:r>
            <a:endParaRPr lang="en-US" sz="1400" dirty="0"/>
          </a:p>
        </p:txBody>
      </p:sp>
      <p:sp>
        <p:nvSpPr>
          <p:cNvPr id="32" name="card_321"/>
          <p:cNvSpPr/>
          <p:nvPr/>
        </p:nvSpPr>
        <p:spPr>
          <a:xfrm>
            <a:off x="8188757" y="3794760"/>
            <a:ext cx="3454298" cy="2468880"/>
          </a:xfrm>
          <a:prstGeom prst="roundRect">
            <a:avLst>
              <a:gd name="adj" fmla="val 2963"/>
            </a:avLst>
          </a:prstGeom>
          <a:solidFill>
            <a:schemeClr val="accent4"/>
          </a:solidFill>
          <a:ln w="12700">
            <a:solidFill>
              <a:schemeClr val="accent4"/>
            </a:solidFill>
            <a:prstDash val="solid"/>
          </a:ln>
        </p:spPr>
      </p:sp>
      <p:sp>
        <p:nvSpPr>
          <p:cNvPr id="33" name="text_322"/>
          <p:cNvSpPr txBox="1"/>
          <p:nvPr/>
        </p:nvSpPr>
        <p:spPr>
          <a:xfrm>
            <a:off x="8417357" y="3931920"/>
            <a:ext cx="2997098" cy="41148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Train gì</a:t>
            </a:r>
            <a:endParaRPr lang="en-US" sz="1600" dirty="0"/>
          </a:p>
        </p:txBody>
      </p:sp>
      <p:sp>
        <p:nvSpPr>
          <p:cNvPr id="34" name="list_323"/>
          <p:cNvSpPr txBox="1"/>
          <p:nvPr/>
        </p:nvSpPr>
        <p:spPr>
          <a:xfrm>
            <a:off x="8417357" y="4389120"/>
            <a:ext cx="2997098" cy="173736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QLoRA y hệt B2 (r = 16, 0,196% tham số); chỉ thêm dòng OCR vào prompt</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Phép thử có kiểm soát: tập con 8.000 câu, B3 so với B2-sub (cùng tập, không OCR)</a:t>
            </a:r>
            <a:endParaRPr lang="en-US" sz="14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06 · ABLATION: OCR LÚC TRAIN × OCR LÚC TEST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OCR chỉ giúp khi model được train cùng OCR</a:t>
            </a:r>
            <a:endParaRPr lang="en-US" sz="3200" dirty="0"/>
          </a:p>
        </p:txBody>
      </p:sp>
      <p:sp>
        <p:nvSpPr>
          <p:cNvPr id="5" name="text_324"/>
          <p:cNvSpPr txBox="1"/>
          <p:nvPr/>
        </p:nvSpPr>
        <p:spPr>
          <a:xfrm>
            <a:off x="2331720" y="1371600"/>
            <a:ext cx="2240280" cy="365760"/>
          </a:xfrm>
          <a:prstGeom prst="rect">
            <a:avLst/>
          </a:prstGeom>
          <a:noFill/>
        </p:spPr>
        <p:txBody>
          <a:bodyPr wrap="square" lIns="0" tIns="0" rIns="0" bIns="0" rtlCol="0" anchor="t"/>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Test không OCR</a:t>
            </a:r>
            <a:endParaRPr lang="en-US" sz="1400" dirty="0"/>
          </a:p>
        </p:txBody>
      </p:sp>
      <p:sp>
        <p:nvSpPr>
          <p:cNvPr id="6" name="text_325"/>
          <p:cNvSpPr txBox="1"/>
          <p:nvPr/>
        </p:nvSpPr>
        <p:spPr>
          <a:xfrm>
            <a:off x="4709160" y="1371600"/>
            <a:ext cx="2240280" cy="365760"/>
          </a:xfrm>
          <a:prstGeom prst="rect">
            <a:avLst/>
          </a:prstGeom>
          <a:noFill/>
        </p:spPr>
        <p:txBody>
          <a:bodyPr wrap="square" lIns="0" tIns="0" rIns="0" bIns="0" rtlCol="0" anchor="t"/>
          <a:lstStyle/>
          <a:p>
            <a:pPr marL="0" indent="0" algn="ctr">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Test có OCR</a:t>
            </a:r>
            <a:endParaRPr lang="en-US" sz="1400" dirty="0"/>
          </a:p>
        </p:txBody>
      </p:sp>
      <p:sp>
        <p:nvSpPr>
          <p:cNvPr id="7" name="text_326"/>
          <p:cNvSpPr txBox="1"/>
          <p:nvPr/>
        </p:nvSpPr>
        <p:spPr>
          <a:xfrm>
            <a:off x="548640" y="1783080"/>
            <a:ext cx="1691640" cy="1417320"/>
          </a:xfrm>
          <a:prstGeom prst="rect">
            <a:avLst/>
          </a:prstGeom>
          <a:noFill/>
        </p:spPr>
        <p:txBody>
          <a:bodyPr wrap="square" lIns="0" tIns="0" rIns="0" bIns="0" rtlCol="0" anchor="ctr"/>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Train không OCR</a:t>
            </a:r>
            <a:endParaRPr lang="en-US" sz="1400" dirty="0"/>
          </a:p>
        </p:txBody>
      </p:sp>
      <p:sp>
        <p:nvSpPr>
          <p:cNvPr id="8" name="text_327"/>
          <p:cNvSpPr txBox="1"/>
          <p:nvPr/>
        </p:nvSpPr>
        <p:spPr>
          <a:xfrm>
            <a:off x="548640" y="3337560"/>
            <a:ext cx="1691640" cy="1417320"/>
          </a:xfrm>
          <a:prstGeom prst="rect">
            <a:avLst/>
          </a:prstGeom>
          <a:noFill/>
        </p:spPr>
        <p:txBody>
          <a:bodyPr wrap="square" lIns="0" tIns="0" rIns="0" bIns="0" rtlCol="0" anchor="ctr"/>
          <a:lstStyle/>
          <a:p>
            <a:pPr marL="0" indent="0">
              <a:buNone/>
            </a:pPr>
            <a:r>
              <a:rPr lang="en-US" sz="1400" b="1" dirty="0">
                <a:solidFill>
                  <a:schemeClr val="tx2"/>
                </a:solidFill>
                <a:latin typeface="Calibri" panose="020F0502020204030204" pitchFamily="34" charset="0"/>
                <a:ea typeface="Calibri" panose="020F0502020204030204" pitchFamily="34" charset="-122"/>
                <a:cs typeface="Calibri" panose="020F0502020204030204" pitchFamily="34" charset="-120"/>
              </a:rPr>
              <a:t>Train có OCR</a:t>
            </a:r>
            <a:endParaRPr lang="en-US" sz="1400" dirty="0"/>
          </a:p>
        </p:txBody>
      </p:sp>
      <p:sp>
        <p:nvSpPr>
          <p:cNvPr id="9" name="card_328"/>
          <p:cNvSpPr/>
          <p:nvPr/>
        </p:nvSpPr>
        <p:spPr>
          <a:xfrm>
            <a:off x="2331720" y="1783080"/>
            <a:ext cx="2240280" cy="1417320"/>
          </a:xfrm>
          <a:prstGeom prst="roundRect">
            <a:avLst>
              <a:gd name="adj" fmla="val 5161"/>
            </a:avLst>
          </a:prstGeom>
          <a:solidFill>
            <a:schemeClr val="bg2"/>
          </a:solidFill>
          <a:ln w="12700">
            <a:solidFill>
              <a:schemeClr val="bg2"/>
            </a:solidFill>
            <a:prstDash val="solid"/>
          </a:ln>
        </p:spPr>
      </p:sp>
      <p:sp>
        <p:nvSpPr>
          <p:cNvPr id="10" name="text_329"/>
          <p:cNvSpPr txBox="1"/>
          <p:nvPr/>
        </p:nvSpPr>
        <p:spPr>
          <a:xfrm>
            <a:off x="2331720" y="1947672"/>
            <a:ext cx="2240280" cy="685800"/>
          </a:xfrm>
          <a:prstGeom prst="rect">
            <a:avLst/>
          </a:prstGeom>
          <a:noFill/>
        </p:spPr>
        <p:txBody>
          <a:bodyPr wrap="square" lIns="0" tIns="0" rIns="0" bIns="0" rtlCol="0" anchor="t"/>
          <a:lstStyle/>
          <a:p>
            <a:pPr marL="0" indent="0" algn="ctr">
              <a:buNone/>
            </a:pPr>
            <a:r>
              <a:rPr lang="en-US" sz="3400" b="1" dirty="0">
                <a:solidFill>
                  <a:schemeClr val="tx2"/>
                </a:solidFill>
                <a:latin typeface="Cambria" panose="02040503050406030204" pitchFamily="34" charset="0"/>
                <a:ea typeface="Cambria" panose="02040503050406030204" pitchFamily="34" charset="-122"/>
                <a:cs typeface="Cambria" panose="02040503050406030204" pitchFamily="34" charset="-120"/>
              </a:rPr>
              <a:t>45,55</a:t>
            </a:r>
            <a:endParaRPr lang="en-US" sz="3400" dirty="0"/>
          </a:p>
        </p:txBody>
      </p:sp>
      <p:sp>
        <p:nvSpPr>
          <p:cNvPr id="11" name="text_330"/>
          <p:cNvSpPr txBox="1"/>
          <p:nvPr/>
        </p:nvSpPr>
        <p:spPr>
          <a:xfrm>
            <a:off x="2423160" y="2651760"/>
            <a:ext cx="2057400" cy="411480"/>
          </a:xfrm>
          <a:prstGeom prst="rect">
            <a:avLst/>
          </a:prstGeom>
          <a:noFill/>
        </p:spPr>
        <p:txBody>
          <a:bodyPr wrap="square" lIns="0" tIns="0" rIns="0" bIns="0" rtlCol="0" anchor="t"/>
          <a:lstStyle/>
          <a:p>
            <a:pPr marL="0" indent="0" algn="ctr">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B2-sub</a:t>
            </a:r>
            <a:endParaRPr lang="en-US" sz="1300" dirty="0"/>
          </a:p>
        </p:txBody>
      </p:sp>
      <p:sp>
        <p:nvSpPr>
          <p:cNvPr id="12" name="card_331"/>
          <p:cNvSpPr/>
          <p:nvPr/>
        </p:nvSpPr>
        <p:spPr>
          <a:xfrm>
            <a:off x="4709160" y="1783080"/>
            <a:ext cx="2240280" cy="1417320"/>
          </a:xfrm>
          <a:prstGeom prst="roundRect">
            <a:avLst>
              <a:gd name="adj" fmla="val 5161"/>
            </a:avLst>
          </a:prstGeom>
          <a:solidFill>
            <a:schemeClr val="bg2"/>
          </a:solidFill>
          <a:ln w="12700">
            <a:solidFill>
              <a:schemeClr val="bg2"/>
            </a:solidFill>
            <a:prstDash val="solid"/>
          </a:ln>
        </p:spPr>
      </p:sp>
      <p:sp>
        <p:nvSpPr>
          <p:cNvPr id="13" name="text_332"/>
          <p:cNvSpPr txBox="1"/>
          <p:nvPr/>
        </p:nvSpPr>
        <p:spPr>
          <a:xfrm>
            <a:off x="4709160" y="1947672"/>
            <a:ext cx="2240280" cy="685800"/>
          </a:xfrm>
          <a:prstGeom prst="rect">
            <a:avLst/>
          </a:prstGeom>
          <a:noFill/>
        </p:spPr>
        <p:txBody>
          <a:bodyPr wrap="square" lIns="0" tIns="0" rIns="0" bIns="0" rtlCol="0" anchor="t"/>
          <a:lstStyle/>
          <a:p>
            <a:pPr marL="0" indent="0" algn="ctr">
              <a:buNone/>
            </a:pPr>
            <a:r>
              <a:rPr lang="en-US" sz="3400" b="1" dirty="0">
                <a:solidFill>
                  <a:schemeClr val="tx2"/>
                </a:solidFill>
                <a:latin typeface="Cambria" panose="02040503050406030204" pitchFamily="34" charset="0"/>
                <a:ea typeface="Cambria" panose="02040503050406030204" pitchFamily="34" charset="-122"/>
                <a:cs typeface="Cambria" panose="02040503050406030204" pitchFamily="34" charset="-120"/>
              </a:rPr>
              <a:t>44,90</a:t>
            </a:r>
            <a:endParaRPr lang="en-US" sz="3400" dirty="0"/>
          </a:p>
        </p:txBody>
      </p:sp>
      <p:sp>
        <p:nvSpPr>
          <p:cNvPr id="14" name="text_333"/>
          <p:cNvSpPr txBox="1"/>
          <p:nvPr/>
        </p:nvSpPr>
        <p:spPr>
          <a:xfrm>
            <a:off x="4800600" y="2651760"/>
            <a:ext cx="2057400" cy="411480"/>
          </a:xfrm>
          <a:prstGeom prst="rect">
            <a:avLst/>
          </a:prstGeom>
          <a:noFill/>
        </p:spPr>
        <p:txBody>
          <a:bodyPr wrap="square" lIns="0" tIns="0" rIns="0" bIns="0" rtlCol="0" anchor="t"/>
          <a:lstStyle/>
          <a:p>
            <a:pPr marL="0" indent="0" algn="ctr">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B2-sub + OCR lúc test</a:t>
            </a:r>
            <a:endParaRPr lang="en-US" sz="1300" dirty="0"/>
          </a:p>
        </p:txBody>
      </p:sp>
      <p:sp>
        <p:nvSpPr>
          <p:cNvPr id="15" name="card_334"/>
          <p:cNvSpPr/>
          <p:nvPr/>
        </p:nvSpPr>
        <p:spPr>
          <a:xfrm>
            <a:off x="2331720" y="3337560"/>
            <a:ext cx="2240280" cy="1417320"/>
          </a:xfrm>
          <a:prstGeom prst="roundRect">
            <a:avLst>
              <a:gd name="adj" fmla="val 5161"/>
            </a:avLst>
          </a:prstGeom>
          <a:solidFill>
            <a:schemeClr val="bg2"/>
          </a:solidFill>
          <a:ln w="12700">
            <a:solidFill>
              <a:schemeClr val="bg2"/>
            </a:solidFill>
            <a:prstDash val="solid"/>
          </a:ln>
        </p:spPr>
      </p:sp>
      <p:sp>
        <p:nvSpPr>
          <p:cNvPr id="16" name="text_335"/>
          <p:cNvSpPr txBox="1"/>
          <p:nvPr/>
        </p:nvSpPr>
        <p:spPr>
          <a:xfrm>
            <a:off x="2331720" y="3502152"/>
            <a:ext cx="2240280" cy="685800"/>
          </a:xfrm>
          <a:prstGeom prst="rect">
            <a:avLst/>
          </a:prstGeom>
          <a:noFill/>
        </p:spPr>
        <p:txBody>
          <a:bodyPr wrap="square" lIns="0" tIns="0" rIns="0" bIns="0" rtlCol="0" anchor="t"/>
          <a:lstStyle/>
          <a:p>
            <a:pPr marL="0" indent="0" algn="ctr">
              <a:buNone/>
            </a:pPr>
            <a:r>
              <a:rPr lang="en-US" sz="3400" b="1" dirty="0">
                <a:solidFill>
                  <a:schemeClr val="tx2"/>
                </a:solidFill>
                <a:latin typeface="Cambria" panose="02040503050406030204" pitchFamily="34" charset="0"/>
                <a:ea typeface="Cambria" panose="02040503050406030204" pitchFamily="34" charset="-122"/>
                <a:cs typeface="Cambria" panose="02040503050406030204" pitchFamily="34" charset="-120"/>
              </a:rPr>
              <a:t>45,00</a:t>
            </a:r>
            <a:endParaRPr lang="en-US" sz="3400" dirty="0"/>
          </a:p>
        </p:txBody>
      </p:sp>
      <p:sp>
        <p:nvSpPr>
          <p:cNvPr id="17" name="text_336"/>
          <p:cNvSpPr txBox="1"/>
          <p:nvPr/>
        </p:nvSpPr>
        <p:spPr>
          <a:xfrm>
            <a:off x="2423160" y="4206240"/>
            <a:ext cx="2057400" cy="411480"/>
          </a:xfrm>
          <a:prstGeom prst="rect">
            <a:avLst/>
          </a:prstGeom>
          <a:noFill/>
        </p:spPr>
        <p:txBody>
          <a:bodyPr wrap="square" lIns="0" tIns="0" rIns="0" bIns="0" rtlCol="0" anchor="t"/>
          <a:lstStyle/>
          <a:p>
            <a:pPr marL="0" indent="0" algn="ctr">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B3, bỏ OCR lúc test</a:t>
            </a:r>
            <a:endParaRPr lang="en-US" sz="1300" dirty="0"/>
          </a:p>
        </p:txBody>
      </p:sp>
      <p:sp>
        <p:nvSpPr>
          <p:cNvPr id="18" name="card_337"/>
          <p:cNvSpPr/>
          <p:nvPr/>
        </p:nvSpPr>
        <p:spPr>
          <a:xfrm>
            <a:off x="4709160" y="3337560"/>
            <a:ext cx="2240280" cy="1417320"/>
          </a:xfrm>
          <a:prstGeom prst="roundRect">
            <a:avLst>
              <a:gd name="adj" fmla="val 5161"/>
            </a:avLst>
          </a:prstGeom>
          <a:solidFill>
            <a:schemeClr val="accent5"/>
          </a:solidFill>
          <a:ln w="12700">
            <a:solidFill>
              <a:schemeClr val="accent5"/>
            </a:solidFill>
            <a:prstDash val="solid"/>
          </a:ln>
        </p:spPr>
      </p:sp>
      <p:sp>
        <p:nvSpPr>
          <p:cNvPr id="19" name="text_338"/>
          <p:cNvSpPr txBox="1"/>
          <p:nvPr/>
        </p:nvSpPr>
        <p:spPr>
          <a:xfrm>
            <a:off x="4709160" y="3502152"/>
            <a:ext cx="2240280" cy="685800"/>
          </a:xfrm>
          <a:prstGeom prst="rect">
            <a:avLst/>
          </a:prstGeom>
          <a:noFill/>
        </p:spPr>
        <p:txBody>
          <a:bodyPr wrap="square" lIns="0" tIns="0" rIns="0" bIns="0" rtlCol="0" anchor="t"/>
          <a:lstStyle/>
          <a:p>
            <a:pPr marL="0" indent="0" algn="ctr">
              <a:buNone/>
            </a:pPr>
            <a:r>
              <a:rPr lang="en-US" sz="34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49,25</a:t>
            </a:r>
            <a:endParaRPr lang="en-US" sz="3400" dirty="0"/>
          </a:p>
        </p:txBody>
      </p:sp>
      <p:sp>
        <p:nvSpPr>
          <p:cNvPr id="20" name="text_339"/>
          <p:cNvSpPr txBox="1"/>
          <p:nvPr/>
        </p:nvSpPr>
        <p:spPr>
          <a:xfrm>
            <a:off x="4800600" y="4206240"/>
            <a:ext cx="2057400" cy="411480"/>
          </a:xfrm>
          <a:prstGeom prst="rect">
            <a:avLst/>
          </a:prstGeom>
          <a:noFill/>
        </p:spPr>
        <p:txBody>
          <a:bodyPr wrap="square" lIns="0" tIns="0" rIns="0" bIns="0" rtlCol="0" anchor="t"/>
          <a:lstStyle/>
          <a:p>
            <a:pPr marL="0" indent="0" algn="ctr">
              <a:buNone/>
            </a:pPr>
            <a:r>
              <a:rPr lang="en-US" sz="1300" dirty="0">
                <a:solidFill>
                  <a:schemeClr val="tx1"/>
                </a:solidFill>
                <a:latin typeface="Calibri" panose="020F0502020204030204" pitchFamily="34" charset="0"/>
                <a:ea typeface="Calibri" panose="020F0502020204030204" pitchFamily="34" charset="-122"/>
                <a:cs typeface="Calibri" panose="020F0502020204030204" pitchFamily="34" charset="-120"/>
              </a:rPr>
              <a:t>B3 (đề xuất)</a:t>
            </a:r>
            <a:endParaRPr lang="en-US" sz="1300" dirty="0"/>
          </a:p>
        </p:txBody>
      </p:sp>
      <p:sp>
        <p:nvSpPr>
          <p:cNvPr id="21" name="text_340"/>
          <p:cNvSpPr txBox="1"/>
          <p:nvPr/>
        </p:nvSpPr>
        <p:spPr>
          <a:xfrm>
            <a:off x="2331720" y="4864608"/>
            <a:ext cx="4617720" cy="320040"/>
          </a:xfrm>
          <a:prstGeom prst="rect">
            <a:avLst/>
          </a:prstGeom>
          <a:noFill/>
        </p:spPr>
        <p:txBody>
          <a:bodyPr wrap="square" lIns="0" tIns="0" rIns="0" bIns="0" rtlCol="0" anchor="t"/>
          <a:lstStyle/>
          <a:p>
            <a:pPr marL="0" indent="0" algn="ctr">
              <a:buNone/>
            </a:pPr>
            <a:r>
              <a:rPr lang="en-US" sz="1200" dirty="0">
                <a:solidFill>
                  <a:schemeClr val="accent3"/>
                </a:solidFill>
                <a:latin typeface="Calibri" panose="020F0502020204030204" pitchFamily="34" charset="0"/>
                <a:ea typeface="Calibri" panose="020F0502020204030204" pitchFamily="34" charset="-122"/>
                <a:cs typeface="Calibri" panose="020F0502020204030204" pitchFamily="34" charset="-120"/>
              </a:rPr>
              <a:t>EM (%), ViTextVQA tập con test (2.000 câu), seed 42</a:t>
            </a:r>
            <a:endParaRPr lang="en-US" sz="1200" dirty="0"/>
          </a:p>
        </p:txBody>
      </p:sp>
      <p:sp>
        <p:nvSpPr>
          <p:cNvPr id="22" name="card_341"/>
          <p:cNvSpPr/>
          <p:nvPr/>
        </p:nvSpPr>
        <p:spPr>
          <a:xfrm>
            <a:off x="7360920" y="1371600"/>
            <a:ext cx="4282135" cy="2103120"/>
          </a:xfrm>
          <a:prstGeom prst="roundRect">
            <a:avLst>
              <a:gd name="adj" fmla="val 3478"/>
            </a:avLst>
          </a:prstGeom>
          <a:solidFill>
            <a:schemeClr val="bg2"/>
          </a:solidFill>
          <a:ln w="12700">
            <a:solidFill>
              <a:schemeClr val="bg2"/>
            </a:solidFill>
            <a:prstDash val="solid"/>
          </a:ln>
        </p:spPr>
      </p:sp>
      <p:sp>
        <p:nvSpPr>
          <p:cNvPr id="23" name="text_342"/>
          <p:cNvSpPr txBox="1"/>
          <p:nvPr/>
        </p:nvSpPr>
        <p:spPr>
          <a:xfrm>
            <a:off x="7589520" y="1481328"/>
            <a:ext cx="382493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Kiểm định ghép cặp (McNemar, EM)</a:t>
            </a:r>
            <a:endParaRPr lang="en-US" sz="1600" dirty="0"/>
          </a:p>
        </p:txBody>
      </p:sp>
      <p:sp>
        <p:nvSpPr>
          <p:cNvPr id="24" name="list_343"/>
          <p:cNvSpPr txBox="1"/>
          <p:nvPr/>
        </p:nvSpPr>
        <p:spPr>
          <a:xfrm>
            <a:off x="7589520" y="1874520"/>
            <a:ext cx="3824935" cy="155448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Chỉ OCR lúc test: −0,65 (p = 0,49)</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Chỉ OCR lúc train: −0,55 (p = 0,35)</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Cả train lẫn test: +4,35 (p = 2 × 10⁻⁸)</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Bỏ OCR khỏi B3: −4,25 (p = 4 × 10⁻⁹)</a:t>
            </a:r>
            <a:endParaRPr lang="en-US" sz="1400" dirty="0"/>
          </a:p>
        </p:txBody>
      </p:sp>
      <p:sp>
        <p:nvSpPr>
          <p:cNvPr id="25" name="card_344"/>
          <p:cNvSpPr/>
          <p:nvPr/>
        </p:nvSpPr>
        <p:spPr>
          <a:xfrm>
            <a:off x="7360920" y="3657600"/>
            <a:ext cx="4282135" cy="1280160"/>
          </a:xfrm>
          <a:prstGeom prst="roundRect">
            <a:avLst>
              <a:gd name="adj" fmla="val 5714"/>
            </a:avLst>
          </a:prstGeom>
          <a:solidFill>
            <a:schemeClr val="accent4"/>
          </a:solidFill>
          <a:ln w="12700">
            <a:solidFill>
              <a:schemeClr val="accent4"/>
            </a:solidFill>
            <a:prstDash val="solid"/>
          </a:ln>
        </p:spPr>
      </p:sp>
      <p:sp>
        <p:nvSpPr>
          <p:cNvPr id="26" name="text_345"/>
          <p:cNvSpPr txBox="1"/>
          <p:nvPr/>
        </p:nvSpPr>
        <p:spPr>
          <a:xfrm>
            <a:off x="7589520" y="3657600"/>
            <a:ext cx="3824935" cy="1280160"/>
          </a:xfrm>
          <a:prstGeom prst="rect">
            <a:avLst/>
          </a:prstGeom>
          <a:noFill/>
        </p:spPr>
        <p:txBody>
          <a:bodyPr wrap="square" lIns="0" tIns="0" rIns="0" bIns="0" rtlCol="0" anchor="ctr"/>
          <a:lstStyle/>
          <a:p>
            <a:pPr marL="0" indent="0">
              <a:buNone/>
            </a:pPr>
            <a:r>
              <a:rPr lang="en-US" sz="1500" b="1" dirty="0">
                <a:solidFill>
                  <a:srgbClr val="13294B"/>
                </a:solidFill>
                <a:latin typeface="Calibri" panose="020F0502020204030204" pitchFamily="34" charset="0"/>
                <a:ea typeface="Calibri" panose="020F0502020204030204" pitchFamily="34" charset="-122"/>
                <a:cs typeface="Calibri" panose="020F0502020204030204" pitchFamily="34" charset="-120"/>
              </a:rPr>
              <a:t>Tương tác +4,9 EM </a:t>
            </a: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(CI95 +3,2 đến +6,6) → cần OCR ở cả train lẫn test</a:t>
            </a:r>
            <a:endParaRPr lang="en-US" sz="1500" dirty="0"/>
          </a:p>
        </p:txBody>
      </p:sp>
      <p:sp>
        <p:nvSpPr>
          <p:cNvPr id="27" name="card_346"/>
          <p:cNvSpPr/>
          <p:nvPr/>
        </p:nvSpPr>
        <p:spPr>
          <a:xfrm>
            <a:off x="548640" y="5349240"/>
            <a:ext cx="11094415" cy="914400"/>
          </a:xfrm>
          <a:prstGeom prst="roundRect">
            <a:avLst>
              <a:gd name="adj" fmla="val 8000"/>
            </a:avLst>
          </a:prstGeom>
          <a:solidFill>
            <a:schemeClr val="accent5"/>
          </a:solidFill>
          <a:ln w="12700">
            <a:solidFill>
              <a:schemeClr val="accent5"/>
            </a:solidFill>
            <a:prstDash val="solid"/>
          </a:ln>
        </p:spPr>
      </p:sp>
      <p:sp>
        <p:nvSpPr>
          <p:cNvPr id="28" name="text_347"/>
          <p:cNvSpPr txBox="1"/>
          <p:nvPr/>
        </p:nvSpPr>
        <p:spPr>
          <a:xfrm>
            <a:off x="822960" y="5349240"/>
            <a:ext cx="10545775" cy="914400"/>
          </a:xfrm>
          <a:prstGeom prst="rect">
            <a:avLst/>
          </a:prstGeom>
          <a:noFill/>
        </p:spPr>
        <p:txBody>
          <a:bodyPr wrap="square" lIns="0" tIns="0" rIns="0" bIns="0" rtlCol="0" anchor="ctr"/>
          <a:lstStyle/>
          <a:p>
            <a:pPr marL="0" indent="0">
              <a:buNone/>
            </a:pPr>
            <a:r>
              <a:rPr lang="en-US" sz="1500" b="1" dirty="0">
                <a:solidFill>
                  <a:srgbClr val="13294B"/>
                </a:solidFill>
                <a:latin typeface="Calibri" panose="020F0502020204030204" pitchFamily="34" charset="0"/>
                <a:ea typeface="Calibri" panose="020F0502020204030204" pitchFamily="34" charset="-122"/>
                <a:cs typeface="Calibri" panose="020F0502020204030204" pitchFamily="34" charset="-120"/>
              </a:rPr>
              <a:t>Kết luận  </a:t>
            </a: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đóng góp không phải “thêm OCR vào prompt” — mà là dùng QLoRA dạy model khi nào tin OCR, khi nào tin ảnh.</a:t>
            </a:r>
            <a:endParaRPr lang="en-US" sz="1500" dirty="0"/>
          </a:p>
        </p:txBody>
      </p:sp>
      <p:sp>
        <p:nvSpPr>
          <p:cNvPr id="4"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06 · ĐỘ VỮNG</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Mức tăng giữ vững qua các seed và trên full test</a:t>
            </a:r>
            <a:endParaRPr lang="en-US" sz="3200" dirty="0"/>
          </a:p>
        </p:txBody>
      </p:sp>
      <p:graphicFrame>
        <p:nvGraphicFramePr>
          <p:cNvPr id="5" name="chart_348"/>
          <p:cNvGraphicFramePr/>
          <p:nvPr/>
        </p:nvGraphicFramePr>
        <p:xfrm>
          <a:off x="548640" y="1371600"/>
          <a:ext cx="5120640" cy="3657600"/>
        </p:xfrm>
        <a:graphic>
          <a:graphicData uri="http://schemas.openxmlformats.org/drawingml/2006/chart">
            <c:chart xmlns:c="http://schemas.openxmlformats.org/drawingml/2006/chart" xmlns:r="http://schemas.openxmlformats.org/officeDocument/2006/relationships" r:id="rId1"/>
          </a:graphicData>
        </a:graphic>
      </p:graphicFrame>
      <p:sp>
        <p:nvSpPr>
          <p:cNvPr id="6" name="card_349"/>
          <p:cNvSpPr/>
          <p:nvPr/>
        </p:nvSpPr>
        <p:spPr>
          <a:xfrm>
            <a:off x="548640" y="5212080"/>
            <a:ext cx="5120640" cy="1051560"/>
          </a:xfrm>
          <a:prstGeom prst="roundRect">
            <a:avLst>
              <a:gd name="adj" fmla="val 6957"/>
            </a:avLst>
          </a:prstGeom>
          <a:solidFill>
            <a:schemeClr val="accent4"/>
          </a:solidFill>
          <a:ln w="12700">
            <a:solidFill>
              <a:schemeClr val="accent4"/>
            </a:solidFill>
            <a:prstDash val="solid"/>
          </a:ln>
        </p:spPr>
      </p:sp>
      <p:sp>
        <p:nvSpPr>
          <p:cNvPr id="7" name="text_350"/>
          <p:cNvSpPr txBox="1"/>
          <p:nvPr/>
        </p:nvSpPr>
        <p:spPr>
          <a:xfrm>
            <a:off x="777240" y="5212080"/>
            <a:ext cx="4663440" cy="1051560"/>
          </a:xfrm>
          <a:prstGeom prst="rect">
            <a:avLst/>
          </a:prstGeom>
          <a:noFill/>
        </p:spPr>
        <p:txBody>
          <a:bodyPr wrap="square" lIns="0" tIns="0" rIns="0" bIns="0" rtlCol="0" anchor="ct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+3,57 ± 0,76 EM</a:t>
            </a: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 · cả 3 seed p ≤ 1,4 × 10⁻⁴ → ổn định (luật chốt trước)</a:t>
            </a:r>
            <a:endParaRPr lang="en-US" sz="1400" dirty="0"/>
          </a:p>
        </p:txBody>
      </p:sp>
      <p:graphicFrame>
        <p:nvGraphicFramePr>
          <p:cNvPr id="33" name="table_351"/>
          <p:cNvGraphicFramePr>
            <a:graphicFrameLocks noGrp="1"/>
          </p:cNvGraphicFramePr>
          <p:nvPr/>
        </p:nvGraphicFramePr>
        <p:xfrm>
          <a:off x="6035040" y="1371600"/>
          <a:ext cx="5608015" cy="2286000"/>
        </p:xfrm>
        <a:graphic>
          <a:graphicData uri="http://schemas.openxmlformats.org/drawingml/2006/table">
            <a:tbl>
              <a:tblPr/>
              <a:tblGrid>
                <a:gridCol w="2331720"/>
                <a:gridCol w="1325880"/>
                <a:gridCol w="1005840"/>
                <a:gridCol w="941832"/>
              </a:tblGrid>
              <a:tr h="45720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Full test (10.028 câu)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Dữ liệu 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ViTextBLIP-2 (paper)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toàn bộ</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25,48</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53,95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B2-sub</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23%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46,56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67,83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marL="0" indent="0" algn="l">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B3 (nhận biết OCR)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lgn="ctr">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23%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lgn="ctr">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49,10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marL="0" indent="0" algn="ctr">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70,03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457200">
                <a:tc>
                  <a:txBody>
                    <a:bodyPr/>
                    <a:lstStyle/>
                    <a:p>
                      <a:pPr marL="0" indent="0" algn="l">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B2 (QLoRA, không OCR)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100%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50,26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lgn="ctr">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71,16</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9" name="card_352"/>
          <p:cNvSpPr/>
          <p:nvPr/>
        </p:nvSpPr>
        <p:spPr>
          <a:xfrm>
            <a:off x="6035040" y="3886200"/>
            <a:ext cx="5608015" cy="2377440"/>
          </a:xfrm>
          <a:prstGeom prst="roundRect">
            <a:avLst>
              <a:gd name="adj" fmla="val 3077"/>
            </a:avLst>
          </a:prstGeom>
          <a:solidFill>
            <a:schemeClr val="bg2"/>
          </a:solidFill>
          <a:ln w="12700">
            <a:solidFill>
              <a:schemeClr val="bg2"/>
            </a:solidFill>
            <a:prstDash val="solid"/>
          </a:ln>
        </p:spPr>
      </p:sp>
      <p:sp>
        <p:nvSpPr>
          <p:cNvPr id="10" name="list_353"/>
          <p:cNvSpPr txBox="1"/>
          <p:nvPr/>
        </p:nvSpPr>
        <p:spPr>
          <a:xfrm>
            <a:off x="6263640" y="4023360"/>
            <a:ext cx="5150815" cy="214884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B3 so với B2-sub: +2,54 EM (672 so với 417 câu chỉ một model đúng, p = 10⁻¹⁴)</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Cao hơn ViTextBLIP-2 cả EM và F1 (cận dưới CI95 48,1 / 69,3)</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Đính chính: vẫn thấp hơn B2 dữ liệu đầy đủ 1,16 EM (p = 0,003); OCR bù ≈ 69% phần mất do cắt dữ liệu với 25% thời gian train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06 · ViVQA: ĐỘ DÀI HUẤN LUYỆN</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ViVQA: epoch thứ hai có ích — chọn mà không chạm test</a:t>
            </a:r>
            <a:endParaRPr lang="en-US" sz="3200" dirty="0"/>
          </a:p>
        </p:txBody>
      </p:sp>
      <p:graphicFrame>
        <p:nvGraphicFramePr>
          <p:cNvPr id="5" name="chart_354"/>
          <p:cNvGraphicFramePr/>
          <p:nvPr/>
        </p:nvGraphicFramePr>
        <p:xfrm>
          <a:off x="548640" y="1371600"/>
          <a:ext cx="6400800" cy="3291840"/>
        </p:xfrm>
        <a:graphic>
          <a:graphicData uri="http://schemas.openxmlformats.org/drawingml/2006/chart">
            <c:chart xmlns:c="http://schemas.openxmlformats.org/drawingml/2006/chart" xmlns:r="http://schemas.openxmlformats.org/officeDocument/2006/relationships" r:id="rId1"/>
          </a:graphicData>
        </a:graphic>
      </p:graphicFrame>
      <p:sp>
        <p:nvSpPr>
          <p:cNvPr id="6" name="card_355"/>
          <p:cNvSpPr/>
          <p:nvPr/>
        </p:nvSpPr>
        <p:spPr>
          <a:xfrm>
            <a:off x="548640" y="4846320"/>
            <a:ext cx="6400800" cy="1417320"/>
          </a:xfrm>
          <a:prstGeom prst="roundRect">
            <a:avLst>
              <a:gd name="adj" fmla="val 5161"/>
            </a:avLst>
          </a:prstGeom>
          <a:solidFill>
            <a:schemeClr val="accent4"/>
          </a:solidFill>
          <a:ln w="12700">
            <a:solidFill>
              <a:schemeClr val="accent4"/>
            </a:solidFill>
            <a:prstDash val="solid"/>
          </a:ln>
        </p:spPr>
      </p:sp>
      <p:sp>
        <p:nvSpPr>
          <p:cNvPr id="7" name="text_356"/>
          <p:cNvSpPr txBox="1"/>
          <p:nvPr/>
        </p:nvSpPr>
        <p:spPr>
          <a:xfrm>
            <a:off x="777240" y="4846320"/>
            <a:ext cx="5943600" cy="1417320"/>
          </a:xfrm>
          <a:prstGeom prst="rect">
            <a:avLst/>
          </a:prstGeom>
          <a:noFill/>
        </p:spPr>
        <p:txBody>
          <a:bodyPr wrap="square" lIns="0" tIns="0" rIns="0" bIns="0" rtlCol="0" anchor="ctr"/>
          <a:lstStyle/>
          <a:p>
            <a:pPr marL="0" indent="0">
              <a:buNone/>
            </a:pPr>
            <a:r>
              <a:rPr lang="en-US" sz="1400" dirty="0">
                <a:solidFill>
                  <a:schemeClr val="tx2"/>
                </a:solidFill>
                <a:latin typeface="Calibri" panose="020F0502020204030204" pitchFamily="34" charset="0"/>
                <a:ea typeface="Calibri" panose="020F0502020204030204" pitchFamily="34" charset="-122"/>
                <a:cs typeface="Calibri" panose="020F0502020204030204" pitchFamily="34" charset="-120"/>
              </a:rPr>
              <a:t>Luật chốt trước: EM cao nhất trên val sạch; giữ C1 trừ khi hơn có ý nghĩa → C3 (+3,9 EM, p = 1,4 × 10⁻⁴)</a:t>
            </a:r>
            <a:endParaRPr lang="en-US" sz="1400" dirty="0"/>
          </a:p>
        </p:txBody>
      </p:sp>
      <p:sp>
        <p:nvSpPr>
          <p:cNvPr id="8" name="card_357"/>
          <p:cNvSpPr/>
          <p:nvPr/>
        </p:nvSpPr>
        <p:spPr>
          <a:xfrm>
            <a:off x="7315200" y="1371600"/>
            <a:ext cx="4327855" cy="2377440"/>
          </a:xfrm>
          <a:prstGeom prst="roundRect">
            <a:avLst>
              <a:gd name="adj" fmla="val 3077"/>
            </a:avLst>
          </a:prstGeom>
          <a:solidFill>
            <a:schemeClr val="accent5"/>
          </a:solidFill>
          <a:ln w="12700">
            <a:solidFill>
              <a:schemeClr val="accent5"/>
            </a:solidFill>
            <a:prstDash val="solid"/>
          </a:ln>
        </p:spPr>
      </p:sp>
      <p:sp>
        <p:nvSpPr>
          <p:cNvPr id="9" name="text_358"/>
          <p:cNvSpPr txBox="1"/>
          <p:nvPr/>
        </p:nvSpPr>
        <p:spPr>
          <a:xfrm>
            <a:off x="7589520" y="1508760"/>
            <a:ext cx="3779215" cy="822960"/>
          </a:xfrm>
          <a:prstGeom prst="rect">
            <a:avLst/>
          </a:prstGeom>
          <a:noFill/>
        </p:spPr>
        <p:txBody>
          <a:bodyPr wrap="square" lIns="0" tIns="0" rIns="0" bIns="0" rtlCol="0" anchor="t"/>
          <a:lstStyle/>
          <a:p>
            <a:pPr marL="0" indent="0">
              <a:buNone/>
            </a:pPr>
            <a:r>
              <a:rPr lang="en-US" sz="4000" b="1" dirty="0">
                <a:solidFill>
                  <a:schemeClr val="tx2"/>
                </a:solidFill>
                <a:latin typeface="Cambria" panose="02040503050406030204" pitchFamily="34" charset="0"/>
                <a:ea typeface="Cambria" panose="02040503050406030204" pitchFamily="34" charset="-122"/>
                <a:cs typeface="Cambria" panose="02040503050406030204" pitchFamily="34" charset="-120"/>
              </a:rPr>
              <a:t>73,8 → 76,6</a:t>
            </a:r>
            <a:endParaRPr lang="en-US" sz="4000" dirty="0"/>
          </a:p>
        </p:txBody>
      </p:sp>
      <p:sp>
        <p:nvSpPr>
          <p:cNvPr id="10" name="text_359"/>
          <p:cNvSpPr txBox="1"/>
          <p:nvPr/>
        </p:nvSpPr>
        <p:spPr>
          <a:xfrm>
            <a:off x="7589520" y="2377440"/>
            <a:ext cx="3779215" cy="822960"/>
          </a:xfrm>
          <a:prstGeom prst="rect">
            <a:avLst/>
          </a:prstGeom>
          <a:noFill/>
        </p:spPr>
        <p:txBody>
          <a:bodyPr wrap="square" lIns="0" tIns="0" rIns="0" bIns="0" rtlCol="0" anchor="t"/>
          <a:lstStyle/>
          <a:p>
            <a:pPr marL="0" indent="0">
              <a:buNone/>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EM test ViVQA (3.001 câu), chạm một lần: +2,9, p = 4,6 × 10⁻⁹</a:t>
            </a:r>
            <a:endParaRPr lang="en-US" sz="1400" dirty="0"/>
          </a:p>
        </p:txBody>
      </p:sp>
      <p:sp>
        <p:nvSpPr>
          <p:cNvPr id="11" name="text_360"/>
          <p:cNvSpPr txBox="1"/>
          <p:nvPr/>
        </p:nvSpPr>
        <p:spPr>
          <a:xfrm>
            <a:off x="7589520" y="2926080"/>
            <a:ext cx="3779215" cy="777240"/>
          </a:xfrm>
          <a:prstGeom prst="rect">
            <a:avLst/>
          </a:prstGeom>
          <a:noFill/>
        </p:spPr>
        <p:txBody>
          <a:bodyPr wrap="square" lIns="0" tIns="0" rIns="0" bIns="0" rtlCol="0" anchor="t"/>
          <a:lstStyle/>
          <a:p>
            <a:pPr marL="0" indent="0">
              <a:buNone/>
            </a:pPr>
            <a:r>
              <a:rPr lang="en-US" sz="1300" i="1" dirty="0">
                <a:solidFill>
                  <a:schemeClr val="tx1"/>
                </a:solidFill>
                <a:latin typeface="Calibri" panose="020F0502020204030204" pitchFamily="34" charset="0"/>
                <a:ea typeface="Calibri" panose="020F0502020204030204" pitchFamily="34" charset="-122"/>
                <a:cs typeface="Calibri" panose="020F0502020204030204" pitchFamily="34" charset="-120"/>
              </a:rPr>
              <a:t>Không phải nhớ ảnh (kiểm sau): trên phần test sạch — ảnh và cặp hỏi–đáp chưa thấy, n = 1.219 — +3,2 EM (69,1 → 72,3, p = 1,5 × 10⁻⁴)</a:t>
            </a:r>
            <a:endParaRPr lang="en-US" sz="1300" dirty="0"/>
          </a:p>
        </p:txBody>
      </p:sp>
      <p:sp>
        <p:nvSpPr>
          <p:cNvPr id="12" name="card_361"/>
          <p:cNvSpPr/>
          <p:nvPr/>
        </p:nvSpPr>
        <p:spPr>
          <a:xfrm>
            <a:off x="7315200" y="3931920"/>
            <a:ext cx="4327855" cy="2331720"/>
          </a:xfrm>
          <a:prstGeom prst="roundRect">
            <a:avLst>
              <a:gd name="adj" fmla="val 3137"/>
            </a:avLst>
          </a:prstGeom>
          <a:solidFill>
            <a:schemeClr val="bg2"/>
          </a:solidFill>
          <a:ln w="12700">
            <a:solidFill>
              <a:schemeClr val="bg2"/>
            </a:solidFill>
            <a:prstDash val="solid"/>
          </a:ln>
        </p:spPr>
      </p:sp>
      <p:sp>
        <p:nvSpPr>
          <p:cNvPr id="13" name="text_362"/>
          <p:cNvSpPr txBox="1"/>
          <p:nvPr/>
        </p:nvSpPr>
        <p:spPr>
          <a:xfrm>
            <a:off x="7589520" y="4041648"/>
            <a:ext cx="3779215" cy="365760"/>
          </a:xfrm>
          <a:prstGeom prst="rect">
            <a:avLst/>
          </a:prstGeom>
          <a:noFill/>
        </p:spPr>
        <p:txBody>
          <a:bodyPr wrap="square" lIns="0" tIns="0" rIns="0" bIns="0" rtlCol="0" anchor="t"/>
          <a:lstStyle/>
          <a:p>
            <a:pPr marL="0" indent="0">
              <a:buNone/>
            </a:pPr>
            <a:r>
              <a:rPr lang="en-US" sz="1600" b="1" dirty="0">
                <a:solidFill>
                  <a:schemeClr val="tx2"/>
                </a:solidFill>
                <a:latin typeface="Calibri" panose="020F0502020204030204" pitchFamily="34" charset="0"/>
                <a:ea typeface="Calibri" panose="020F0502020204030204" pitchFamily="34" charset="-122"/>
                <a:cs typeface="Calibri" panose="020F0502020204030204" pitchFamily="34" charset="-120"/>
              </a:rPr>
              <a:t>Vì sao dùng val sạch</a:t>
            </a:r>
            <a:endParaRPr lang="en-US" sz="1600" dirty="0"/>
          </a:p>
        </p:txBody>
      </p:sp>
      <p:sp>
        <p:nvSpPr>
          <p:cNvPr id="14" name="list_363"/>
          <p:cNvSpPr txBox="1"/>
          <p:nvPr/>
        </p:nvSpPr>
        <p:spPr>
          <a:xfrm>
            <a:off x="7589520" y="4434840"/>
            <a:ext cx="3779215" cy="1783080"/>
          </a:xfrm>
          <a:prstGeom prst="rect">
            <a:avLst/>
          </a:prstGeom>
          <a:noFill/>
        </p:spPr>
        <p:txBody>
          <a:bodyPr wrap="square" lIns="0" tIns="0" rIns="0" bIns="0" rtlCol="0" anchor="t"/>
          <a:lstStyle/>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512 / 1.200 câu val dùng chung ảnh với train</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Train lâu hơn nhớ ảnh → val thường thiên vị</a:t>
            </a:r>
            <a:endParaRPr lang="en-US" sz="1400" dirty="0"/>
          </a:p>
          <a:p>
            <a:pPr marL="177800" indent="-177800">
              <a:spcAft>
                <a:spcPts val="600"/>
              </a:spcAft>
              <a:buSzPct val="100000"/>
              <a:buChar char="•"/>
            </a:pPr>
            <a:r>
              <a:rPr lang="en-US" sz="1400" dirty="0">
                <a:solidFill>
                  <a:schemeClr val="tx1"/>
                </a:solidFill>
                <a:latin typeface="Calibri" panose="020F0502020204030204" pitchFamily="34" charset="0"/>
                <a:ea typeface="Calibri" panose="020F0502020204030204" pitchFamily="34" charset="-122"/>
                <a:cs typeface="Calibri" panose="020F0502020204030204" pitchFamily="34" charset="-120"/>
              </a:rPr>
              <a:t>Chi phí: 6,1 giờ thay vì 3,0 giờ trên một L4</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07 · GIẢ THUYẾT</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Bằng chứng đến thời điểm này</a:t>
            </a:r>
            <a:endParaRPr lang="en-US" sz="3200" dirty="0"/>
          </a:p>
        </p:txBody>
      </p:sp>
      <p:graphicFrame>
        <p:nvGraphicFramePr>
          <p:cNvPr id="35" name="table_364"/>
          <p:cNvGraphicFramePr>
            <a:graphicFrameLocks noGrp="1"/>
          </p:cNvGraphicFramePr>
          <p:nvPr/>
        </p:nvGraphicFramePr>
        <p:xfrm>
          <a:off x="548640" y="1371600"/>
          <a:ext cx="11094415" cy="3456432"/>
        </p:xfrm>
        <a:graphic>
          <a:graphicData uri="http://schemas.openxmlformats.org/drawingml/2006/table">
            <a:tbl>
              <a:tblPr/>
              <a:tblGrid>
                <a:gridCol w="4754880"/>
                <a:gridCol w="4507992"/>
                <a:gridCol w="1828800"/>
              </a:tblGrid>
              <a:tr h="493776">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Giả thuyết (Phần A, đánh số mới)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Bằng chứng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Trạng thái</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H1  QLoRA ≥ +5 EM so với zero-shot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+51,7 (ViVQA), +21,1 (ViTextVQA đầy đủ), p ≈ 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1C7293"/>
                          </a:solidFill>
                          <a:latin typeface="Calibri" panose="020F0502020204030204" pitchFamily="34" charset="0"/>
                          <a:ea typeface="Calibri" panose="020F0502020204030204" pitchFamily="34" charset="-122"/>
                          <a:cs typeface="Calibri" panose="020F0502020204030204" pitchFamily="34" charset="-120"/>
                        </a:rPr>
                        <a:t>Ủng hộ</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H2  Chữ OCR ≥ +3 ANLS, tốt nhất khi kết hợp QLoRA</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Cộng hưởng: tương tác +4,9 EM; nhưng ANLS +1,55 ± 0,40 (&lt; +3)</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E8A33D"/>
                          </a:solidFill>
                          <a:latin typeface="Calibri" panose="020F0502020204030204" pitchFamily="34" charset="0"/>
                          <a:ea typeface="Calibri" panose="020F0502020204030204" pitchFamily="34" charset="-122"/>
                          <a:cs typeface="Calibri" panose="020F0502020204030204" pitchFamily="34" charset="-120"/>
                        </a:rPr>
                        <a:t>Một phần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H3  Prompt định dạng tiếng Việt ≥ +3 EM</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Dạng few-shot: −2,1 / −1,2 EM</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B42318"/>
                          </a:solidFill>
                          <a:latin typeface="Calibri" panose="020F0502020204030204" pitchFamily="34" charset="0"/>
                          <a:ea typeface="Calibri" panose="020F0502020204030204" pitchFamily="34" charset="-122"/>
                          <a:cs typeface="Calibri" panose="020F0502020204030204" pitchFamily="34" charset="-120"/>
                        </a:rPr>
                        <a:t>Chưa ủng hộ</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H4  QLoRA không làm tăng hallucination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Duyệt tay: 7% lỗi của B2 là hallucination (CI 4–11%); so với B1 ở W11</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6B7280"/>
                          </a:solidFill>
                          <a:latin typeface="Calibri" panose="020F0502020204030204" pitchFamily="34" charset="0"/>
                          <a:ea typeface="Calibri" panose="020F0502020204030204" pitchFamily="34" charset="-122"/>
                          <a:cs typeface="Calibri" panose="020F0502020204030204" pitchFamily="34" charset="-120"/>
                        </a:rPr>
                        <a:t>Đang chờ</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Hiệu quả (số đo, không phải giả thuyết)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4-bit giữ 94,5% độ chính xác; VRAM −77% (R0 so với R0b)</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13294B"/>
                          </a:solidFill>
                          <a:latin typeface="Calibri" panose="020F0502020204030204" pitchFamily="34" charset="0"/>
                          <a:ea typeface="Calibri" panose="020F0502020204030204" pitchFamily="34" charset="-122"/>
                          <a:cs typeface="Calibri" panose="020F0502020204030204" pitchFamily="34" charset="-120"/>
                        </a:rPr>
                        <a:t>Đã đo</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Ablation A1, A2  rank, module gắn LoRA</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dirty="0">
                          <a:solidFill>
                            <a:srgbClr val="243044"/>
                          </a:solidFill>
                          <a:latin typeface="Calibri" panose="020F0502020204030204" pitchFamily="34" charset="0"/>
                          <a:ea typeface="Calibri" panose="020F0502020204030204" pitchFamily="34" charset="-122"/>
                          <a:cs typeface="Calibri" panose="020F0502020204030204" pitchFamily="34" charset="-120"/>
                        </a:rPr>
                        <a:t>Kế hoạch W10</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marL="0" indent="0">
                        <a:buNone/>
                      </a:pPr>
                      <a:r>
                        <a:rPr lang="en-US" sz="1400" b="1" dirty="0">
                          <a:solidFill>
                            <a:srgbClr val="6B7280"/>
                          </a:solidFill>
                          <a:latin typeface="Calibri" panose="020F0502020204030204" pitchFamily="34" charset="0"/>
                          <a:ea typeface="Calibri" panose="020F0502020204030204" pitchFamily="34" charset="-122"/>
                          <a:cs typeface="Calibri" panose="020F0502020204030204" pitchFamily="34" charset="-120"/>
                        </a:rPr>
                        <a:t>Kế hoạch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365"/>
          <p:cNvSpPr/>
          <p:nvPr/>
        </p:nvSpPr>
        <p:spPr>
          <a:xfrm>
            <a:off x="548640" y="5120640"/>
            <a:ext cx="11094415" cy="1143000"/>
          </a:xfrm>
          <a:prstGeom prst="roundRect">
            <a:avLst>
              <a:gd name="adj" fmla="val 6400"/>
            </a:avLst>
          </a:prstGeom>
          <a:solidFill>
            <a:schemeClr val="accent4"/>
          </a:solidFill>
          <a:ln w="12700">
            <a:solidFill>
              <a:schemeClr val="accent4"/>
            </a:solidFill>
            <a:prstDash val="solid"/>
          </a:ln>
        </p:spPr>
      </p:sp>
      <p:sp>
        <p:nvSpPr>
          <p:cNvPr id="7" name="text_366"/>
          <p:cNvSpPr txBox="1"/>
          <p:nvPr/>
        </p:nvSpPr>
        <p:spPr>
          <a:xfrm>
            <a:off x="868680" y="5120640"/>
            <a:ext cx="10454335" cy="1143000"/>
          </a:xfrm>
          <a:prstGeom prst="rect">
            <a:avLst/>
          </a:prstGeom>
          <a:noFill/>
        </p:spPr>
        <p:txBody>
          <a:bodyPr wrap="square" lIns="0" tIns="0" rIns="0" bIns="0" rtlCol="0" anchor="ctr"/>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RQ1: zero-shot EM 22,1 (ViVQA), 29,1 (ViTextVQA).  RQ2: QLoRA +51,7 / +21,1 EM.  RQ3: QLoRA nhận biết OCR +2,5 EM so với cùng QLoRA (full test).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292608"/>
            <a:ext cx="11094415" cy="274320"/>
          </a:xfrm>
          <a:prstGeom prst="rect">
            <a:avLst/>
          </a:prstGeom>
          <a:noFill/>
        </p:spPr>
        <p:txBody>
          <a:bodyPr wrap="square" lIns="0" tIns="0" rIns="0" bIns="0" rtlCol="0"/>
          <a:lstStyle/>
          <a:p>
            <a:pPr marL="0" indent="0">
              <a:buNone/>
            </a:pPr>
            <a:r>
              <a:rPr lang="en-US" sz="1100" b="1" kern="0" spc="200" dirty="0">
                <a:solidFill>
                  <a:schemeClr val="accent1"/>
                </a:solidFill>
                <a:latin typeface="Calibri" panose="020F0502020204030204" pitchFamily="34" charset="0"/>
                <a:ea typeface="Calibri" panose="020F0502020204030204" pitchFamily="34" charset="-122"/>
                <a:cs typeface="Calibri" panose="020F0502020204030204" pitchFamily="34" charset="-120"/>
              </a:rPr>
              <a:t>REVIEW 2 · PHẦN 07 · BƯỚC TIẾP THEO</a:t>
            </a:r>
            <a:endParaRPr lang="en-US" sz="1100" dirty="0"/>
          </a:p>
        </p:txBody>
      </p:sp>
      <p:sp>
        <p:nvSpPr>
          <p:cNvPr id="3" name="Text 0"/>
          <p:cNvSpPr/>
          <p:nvPr>
            <p:ph type="title" idx="101" hasCustomPrompt="1"/>
          </p:nvPr>
        </p:nvSpPr>
        <p:spPr>
          <a:xfrm>
            <a:off x="548640" y="566928"/>
            <a:ext cx="11094415" cy="640080"/>
          </a:xfrm>
          <a:prstGeom prst="rect">
            <a:avLst/>
          </a:prstGeom>
          <a:noFill/>
        </p:spPr>
        <p:txBody>
          <a:bodyPr wrap="square" lIns="0" tIns="0" rIns="0" bIns="0" rtlCol="0" anchor="t"/>
          <a:lstStyle/>
          <a:p>
            <a:pPr marL="0" indent="0" algn="l">
              <a:buNone/>
            </a:pPr>
            <a:r>
              <a:rPr lang="en-US" sz="3200" b="1" dirty="0">
                <a:solidFill>
                  <a:schemeClr val="tx2"/>
                </a:solidFill>
                <a:latin typeface="Cambria" panose="02040503050406030204" pitchFamily="34" charset="0"/>
                <a:ea typeface="Cambria" panose="02040503050406030204" pitchFamily="34" charset="-122"/>
                <a:cs typeface="Cambria" panose="02040503050406030204" pitchFamily="34" charset="-120"/>
              </a:rPr>
              <a:t>Kế hoạch đến Review 3 (tuần 13)</a:t>
            </a:r>
            <a:endParaRPr lang="en-US" sz="3200" dirty="0"/>
          </a:p>
        </p:txBody>
      </p:sp>
      <p:sp>
        <p:nvSpPr>
          <p:cNvPr id="5" name="card_367"/>
          <p:cNvSpPr/>
          <p:nvPr/>
        </p:nvSpPr>
        <p:spPr>
          <a:xfrm>
            <a:off x="548640" y="1600200"/>
            <a:ext cx="2533574" cy="3108960"/>
          </a:xfrm>
          <a:prstGeom prst="roundRect">
            <a:avLst>
              <a:gd name="adj" fmla="val 2887"/>
            </a:avLst>
          </a:prstGeom>
          <a:solidFill>
            <a:schemeClr val="accent4"/>
          </a:solidFill>
          <a:ln w="12700">
            <a:solidFill>
              <a:schemeClr val="accent4"/>
            </a:solidFill>
            <a:prstDash val="solid"/>
          </a:ln>
        </p:spPr>
      </p:sp>
      <p:sp>
        <p:nvSpPr>
          <p:cNvPr id="6" name="dot_368"/>
          <p:cNvSpPr/>
          <p:nvPr/>
        </p:nvSpPr>
        <p:spPr>
          <a:xfrm>
            <a:off x="822960" y="1874520"/>
            <a:ext cx="868680" cy="868680"/>
          </a:xfrm>
          <a:prstGeom prst="ellipse">
            <a:avLst/>
          </a:prstGeom>
          <a:solidFill>
            <a:srgbClr val="1C7293"/>
          </a:solidFill>
          <a:ln w="12700">
            <a:solidFill>
              <a:srgbClr val="FFFFFF"/>
            </a:solidFill>
            <a:prstDash val="solid"/>
          </a:ln>
        </p:spPr>
      </p:sp>
      <p:sp>
        <p:nvSpPr>
          <p:cNvPr id="7" name="text_369"/>
          <p:cNvSpPr txBox="1"/>
          <p:nvPr/>
        </p:nvSpPr>
        <p:spPr>
          <a:xfrm>
            <a:off x="822960" y="1874520"/>
            <a:ext cx="868680" cy="86868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W10</a:t>
            </a:r>
            <a:endParaRPr lang="en-US" sz="1400" dirty="0"/>
          </a:p>
        </p:txBody>
      </p:sp>
      <p:sp>
        <p:nvSpPr>
          <p:cNvPr id="8" name="text_370"/>
          <p:cNvSpPr txBox="1"/>
          <p:nvPr/>
        </p:nvSpPr>
        <p:spPr>
          <a:xfrm>
            <a:off x="822960" y="2971800"/>
            <a:ext cx="1984934" cy="1554480"/>
          </a:xfrm>
          <a:prstGeom prst="rect">
            <a:avLst/>
          </a:prstGeom>
          <a:noFill/>
        </p:spPr>
        <p:txBody>
          <a:bodyPr wrap="square" lIns="0" tIns="0" rIns="0" bIns="0" rtlCol="0" anchor="t"/>
          <a:lstStyle/>
          <a:p>
            <a:pPr marL="0" indent="0">
              <a:buNone/>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QLoRA nhận biết OCR trên toàn bộ train ViTextVQA; ablation rank và module gắn LoRA (ablation A1, A2)</a:t>
            </a:r>
            <a:endParaRPr lang="en-US" sz="1500" dirty="0"/>
          </a:p>
        </p:txBody>
      </p:sp>
      <p:sp>
        <p:nvSpPr>
          <p:cNvPr id="9" name="card_371"/>
          <p:cNvSpPr/>
          <p:nvPr/>
        </p:nvSpPr>
        <p:spPr>
          <a:xfrm>
            <a:off x="3402254" y="1600200"/>
            <a:ext cx="2533574" cy="3108960"/>
          </a:xfrm>
          <a:prstGeom prst="roundRect">
            <a:avLst>
              <a:gd name="adj" fmla="val 2887"/>
            </a:avLst>
          </a:prstGeom>
          <a:solidFill>
            <a:schemeClr val="bg2"/>
          </a:solidFill>
          <a:ln w="12700">
            <a:solidFill>
              <a:schemeClr val="bg2"/>
            </a:solidFill>
            <a:prstDash val="solid"/>
          </a:ln>
        </p:spPr>
      </p:sp>
      <p:sp>
        <p:nvSpPr>
          <p:cNvPr id="10" name="dot_372"/>
          <p:cNvSpPr/>
          <p:nvPr/>
        </p:nvSpPr>
        <p:spPr>
          <a:xfrm>
            <a:off x="3676574" y="1874520"/>
            <a:ext cx="868680" cy="868680"/>
          </a:xfrm>
          <a:prstGeom prst="ellipse">
            <a:avLst/>
          </a:prstGeom>
          <a:solidFill>
            <a:srgbClr val="13294B"/>
          </a:solidFill>
          <a:ln w="12700">
            <a:solidFill>
              <a:srgbClr val="FFFFFF"/>
            </a:solidFill>
            <a:prstDash val="solid"/>
          </a:ln>
        </p:spPr>
      </p:sp>
      <p:sp>
        <p:nvSpPr>
          <p:cNvPr id="11" name="text_373"/>
          <p:cNvSpPr txBox="1"/>
          <p:nvPr/>
        </p:nvSpPr>
        <p:spPr>
          <a:xfrm>
            <a:off x="3676574" y="1874520"/>
            <a:ext cx="868680" cy="86868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W11</a:t>
            </a:r>
            <a:endParaRPr lang="en-US" sz="1400" dirty="0"/>
          </a:p>
        </p:txBody>
      </p:sp>
      <p:sp>
        <p:nvSpPr>
          <p:cNvPr id="12" name="text_374"/>
          <p:cNvSpPr txBox="1"/>
          <p:nvPr/>
        </p:nvSpPr>
        <p:spPr>
          <a:xfrm>
            <a:off x="3676574" y="2971800"/>
            <a:ext cx="1984934" cy="1554480"/>
          </a:xfrm>
          <a:prstGeom prst="rect">
            <a:avLst/>
          </a:prstGeom>
          <a:noFill/>
        </p:spPr>
        <p:txBody>
          <a:bodyPr wrap="square" lIns="0" tIns="0" rIns="0" bIns="0" rtlCol="0" anchor="t"/>
          <a:lstStyle/>
          <a:p>
            <a:pPr marL="0" indent="0">
              <a:buNone/>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Đo hallucination có hệ thống, kể cả B1 và B3 (H4); adapter dùng chung cho 2 dataset (tuỳ chọn)</a:t>
            </a:r>
            <a:endParaRPr lang="en-US" sz="1500" dirty="0"/>
          </a:p>
        </p:txBody>
      </p:sp>
      <p:sp>
        <p:nvSpPr>
          <p:cNvPr id="13" name="card_375"/>
          <p:cNvSpPr/>
          <p:nvPr/>
        </p:nvSpPr>
        <p:spPr>
          <a:xfrm>
            <a:off x="6255868" y="1600200"/>
            <a:ext cx="2533574" cy="3108960"/>
          </a:xfrm>
          <a:prstGeom prst="roundRect">
            <a:avLst>
              <a:gd name="adj" fmla="val 2887"/>
            </a:avLst>
          </a:prstGeom>
          <a:solidFill>
            <a:schemeClr val="bg2"/>
          </a:solidFill>
          <a:ln w="12700">
            <a:solidFill>
              <a:schemeClr val="bg2"/>
            </a:solidFill>
            <a:prstDash val="solid"/>
          </a:ln>
        </p:spPr>
      </p:sp>
      <p:sp>
        <p:nvSpPr>
          <p:cNvPr id="14" name="dot_376"/>
          <p:cNvSpPr/>
          <p:nvPr/>
        </p:nvSpPr>
        <p:spPr>
          <a:xfrm>
            <a:off x="6530188" y="1874520"/>
            <a:ext cx="868680" cy="868680"/>
          </a:xfrm>
          <a:prstGeom prst="ellipse">
            <a:avLst/>
          </a:prstGeom>
          <a:solidFill>
            <a:srgbClr val="13294B"/>
          </a:solidFill>
          <a:ln w="12700">
            <a:solidFill>
              <a:srgbClr val="FFFFFF"/>
            </a:solidFill>
            <a:prstDash val="solid"/>
          </a:ln>
        </p:spPr>
      </p:sp>
      <p:sp>
        <p:nvSpPr>
          <p:cNvPr id="15" name="text_377"/>
          <p:cNvSpPr txBox="1"/>
          <p:nvPr/>
        </p:nvSpPr>
        <p:spPr>
          <a:xfrm>
            <a:off x="6530188" y="1874520"/>
            <a:ext cx="868680" cy="86868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W12</a:t>
            </a:r>
            <a:endParaRPr lang="en-US" sz="1400" dirty="0"/>
          </a:p>
        </p:txBody>
      </p:sp>
      <p:sp>
        <p:nvSpPr>
          <p:cNvPr id="16" name="text_378"/>
          <p:cNvSpPr txBox="1"/>
          <p:nvPr/>
        </p:nvSpPr>
        <p:spPr>
          <a:xfrm>
            <a:off x="6530188" y="2971800"/>
            <a:ext cx="1984934" cy="1554480"/>
          </a:xfrm>
          <a:prstGeom prst="rect">
            <a:avLst/>
          </a:prstGeom>
          <a:noFill/>
        </p:spPr>
        <p:txBody>
          <a:bodyPr wrap="square" lIns="0" tIns="0" rIns="0" bIns="0" rtlCol="0" anchor="t"/>
          <a:lstStyle/>
          <a:p>
            <a:pPr marL="0" indent="0">
              <a:buNone/>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Prototype web: tải ảnh → OCR → trả lời tiếng Việt</a:t>
            </a:r>
            <a:endParaRPr lang="en-US" sz="1500" dirty="0"/>
          </a:p>
        </p:txBody>
      </p:sp>
      <p:sp>
        <p:nvSpPr>
          <p:cNvPr id="17" name="card_379"/>
          <p:cNvSpPr/>
          <p:nvPr/>
        </p:nvSpPr>
        <p:spPr>
          <a:xfrm>
            <a:off x="9109481" y="1600200"/>
            <a:ext cx="2533574" cy="3108960"/>
          </a:xfrm>
          <a:prstGeom prst="roundRect">
            <a:avLst>
              <a:gd name="adj" fmla="val 2887"/>
            </a:avLst>
          </a:prstGeom>
          <a:solidFill>
            <a:schemeClr val="bg2"/>
          </a:solidFill>
          <a:ln w="12700">
            <a:solidFill>
              <a:schemeClr val="bg2"/>
            </a:solidFill>
            <a:prstDash val="solid"/>
          </a:ln>
        </p:spPr>
      </p:sp>
      <p:sp>
        <p:nvSpPr>
          <p:cNvPr id="18" name="dot_380"/>
          <p:cNvSpPr/>
          <p:nvPr/>
        </p:nvSpPr>
        <p:spPr>
          <a:xfrm>
            <a:off x="9383801" y="1874520"/>
            <a:ext cx="868680" cy="868680"/>
          </a:xfrm>
          <a:prstGeom prst="ellipse">
            <a:avLst/>
          </a:prstGeom>
          <a:solidFill>
            <a:srgbClr val="13294B"/>
          </a:solidFill>
          <a:ln w="12700">
            <a:solidFill>
              <a:srgbClr val="FFFFFF"/>
            </a:solidFill>
            <a:prstDash val="solid"/>
          </a:ln>
        </p:spPr>
      </p:sp>
      <p:sp>
        <p:nvSpPr>
          <p:cNvPr id="19" name="text_381"/>
          <p:cNvSpPr txBox="1"/>
          <p:nvPr/>
        </p:nvSpPr>
        <p:spPr>
          <a:xfrm>
            <a:off x="9383801" y="1874520"/>
            <a:ext cx="868680" cy="868680"/>
          </a:xfrm>
          <a:prstGeom prst="rect">
            <a:avLst/>
          </a:prstGeom>
          <a:noFill/>
        </p:spPr>
        <p:txBody>
          <a:bodyPr wrap="square" lIns="0" tIns="0" rIns="0" bIns="0" rtlCol="0" anchor="ctr"/>
          <a:lstStyle/>
          <a:p>
            <a:pPr marL="0" indent="0" algn="ctr">
              <a:buNone/>
            </a:pPr>
            <a:r>
              <a:rPr lang="en-US" sz="1400" b="1" dirty="0">
                <a:solidFill>
                  <a:schemeClr val="bg1"/>
                </a:solidFill>
                <a:latin typeface="Calibri" panose="020F0502020204030204" pitchFamily="34" charset="0"/>
                <a:ea typeface="Calibri" panose="020F0502020204030204" pitchFamily="34" charset="-122"/>
                <a:cs typeface="Calibri" panose="020F0502020204030204" pitchFamily="34" charset="-120"/>
              </a:rPr>
              <a:t>W13</a:t>
            </a:r>
            <a:endParaRPr lang="en-US" sz="1400" dirty="0"/>
          </a:p>
        </p:txBody>
      </p:sp>
      <p:sp>
        <p:nvSpPr>
          <p:cNvPr id="20" name="text_382"/>
          <p:cNvSpPr txBox="1"/>
          <p:nvPr/>
        </p:nvSpPr>
        <p:spPr>
          <a:xfrm>
            <a:off x="9383801" y="2971800"/>
            <a:ext cx="1984934" cy="1554480"/>
          </a:xfrm>
          <a:prstGeom prst="rect">
            <a:avLst/>
          </a:prstGeom>
          <a:noFill/>
        </p:spPr>
        <p:txBody>
          <a:bodyPr wrap="square" lIns="0" tIns="0" rIns="0" bIns="0" rtlCol="0" anchor="t"/>
          <a:lstStyle/>
          <a:p>
            <a:pPr marL="0" indent="0">
              <a:buNone/>
            </a:pPr>
            <a:r>
              <a:rPr lang="en-US" sz="1500" dirty="0">
                <a:solidFill>
                  <a:schemeClr val="tx1"/>
                </a:solidFill>
                <a:latin typeface="Calibri" panose="020F0502020204030204" pitchFamily="34" charset="0"/>
                <a:ea typeface="Calibri" panose="020F0502020204030204" pitchFamily="34" charset="-122"/>
                <a:cs typeface="Calibri" panose="020F0502020204030204" pitchFamily="34" charset="-120"/>
              </a:rPr>
              <a:t>Review 3: bộ slide này + Phần C (kết quả cuối, ablation, phân tích lỗi, demo trực tiếp)</a:t>
            </a:r>
            <a:endParaRPr lang="en-US" sz="1500" dirty="0"/>
          </a:p>
        </p:txBody>
      </p:sp>
      <p:sp>
        <p:nvSpPr>
          <p:cNvPr id="21" name="text_383"/>
          <p:cNvSpPr txBox="1"/>
          <p:nvPr/>
        </p:nvSpPr>
        <p:spPr>
          <a:xfrm>
            <a:off x="548640" y="5029200"/>
            <a:ext cx="11094415" cy="411480"/>
          </a:xfrm>
          <a:prstGeom prst="rect">
            <a:avLst/>
          </a:prstGeom>
          <a:noFill/>
        </p:spPr>
        <p:txBody>
          <a:bodyPr wrap="square" lIns="0" tIns="0" rIns="0" bIns="0" rtlCol="0" anchor="t"/>
          <a:lstStyle/>
          <a:p>
            <a:pPr marL="0" indent="0">
              <a:buNone/>
            </a:pPr>
            <a:r>
              <a:rPr lang="en-US" sz="1400" dirty="0">
                <a:solidFill>
                  <a:schemeClr val="accent3"/>
                </a:solidFill>
                <a:latin typeface="Calibri" panose="020F0502020204030204" pitchFamily="34" charset="0"/>
                <a:ea typeface="Calibri" panose="020F0502020204030204" pitchFamily="34" charset="-122"/>
                <a:cs typeface="Calibri" panose="020F0502020204030204" pitchFamily="34" charset="-120"/>
              </a:rPr>
              <a:t>Mọi run giữ giao thức cố định, chỉ PEFT, và luật kết luận chốt trước.</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p:spPr>
        <p:txBody>
          <a:bodyPr/>
          <a:lstStyle>
            <a:lvl1pPr>
              <a:defRPr sz="1000">
                <a:solidFill>
                  <a:srgbClr val="6B7280"/>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1554480"/>
            <a:ext cx="11094415" cy="1097280"/>
          </a:xfrm>
          <a:prstGeom prst="rect">
            <a:avLst/>
          </a:prstGeom>
          <a:noFill/>
        </p:spPr>
        <p:txBody>
          <a:bodyPr wrap="square" lIns="0" tIns="0" rIns="0" bIns="0" rtlCol="0" anchor="b"/>
          <a:lstStyle/>
          <a:p>
            <a:pPr marL="0" indent="0" algn="l">
              <a:buNone/>
            </a:pPr>
            <a:r>
              <a:rPr lang="en-US" sz="5400" b="1" dirty="0">
                <a:solidFill>
                  <a:schemeClr val="bg1"/>
                </a:solidFill>
                <a:latin typeface="Cambria" panose="02040503050406030204" pitchFamily="34" charset="0"/>
                <a:ea typeface="Cambria" panose="02040503050406030204" pitchFamily="34" charset="-122"/>
                <a:cs typeface="Cambria" panose="02040503050406030204" pitchFamily="34" charset="-120"/>
              </a:rPr>
              <a:t>Cảm ơn hội đồng</a:t>
            </a:r>
            <a:endParaRPr lang="en-US" sz="5400" dirty="0"/>
          </a:p>
        </p:txBody>
      </p:sp>
      <p:sp>
        <p:nvSpPr>
          <p:cNvPr id="3" name="Text 0"/>
          <p:cNvSpPr/>
          <p:nvPr>
            <p:ph type="body" idx="101" hasCustomPrompt="1"/>
          </p:nvPr>
        </p:nvSpPr>
        <p:spPr>
          <a:xfrm>
            <a:off x="548640" y="2743200"/>
            <a:ext cx="11094415" cy="3291840"/>
          </a:xfrm>
          <a:prstGeom prst="rect">
            <a:avLst/>
          </a:prstGeom>
          <a:noFill/>
        </p:spPr>
        <p:txBody>
          <a:bodyPr wrap="square" lIns="0" tIns="0" rIns="0" bIns="0" rtlCol="0" anchor="t"/>
          <a:lstStyle/>
          <a:p>
            <a:pPr marL="0" indent="0" algn="l">
              <a:buNone/>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Nhóm rất mong nhận được góp ý.</a:t>
            </a:r>
            <a:endParaRPr lang="en-US" sz="1800" dirty="0"/>
          </a:p>
          <a:p>
            <a:pPr marL="0" indent="0" algn="l">
              <a:buNone/>
            </a:pPr>
            <a:r>
              <a:rPr lang="en-US" sz="1200" dirty="0">
                <a:solidFill>
                  <a:schemeClr val="bg1"/>
                </a:solidFill>
                <a:latin typeface="Calibri" panose="020F0502020204030204" pitchFamily="34" charset="0"/>
                <a:ea typeface="Calibri" panose="020F0502020204030204" pitchFamily="34" charset="-122"/>
                <a:cs typeface="Calibri" panose="020F0502020204030204" pitchFamily="34" charset="-120"/>
              </a:rPr>
              <a:t> </a:t>
            </a:r>
            <a:endParaRPr lang="en-US" sz="1800" dirty="0"/>
          </a:p>
          <a:p>
            <a:pPr marL="0" indent="0" algn="l">
              <a:buNone/>
            </a:pPr>
            <a:r>
              <a:rPr lang="en-US" sz="1500" dirty="0">
                <a:solidFill>
                  <a:srgbClr val="A8C4E0"/>
                </a:solidFill>
                <a:latin typeface="Calibri" panose="020F0502020204030204" pitchFamily="34" charset="0"/>
                <a:ea typeface="Calibri" panose="020F0502020204030204" pitchFamily="34" charset="-122"/>
                <a:cs typeface="Calibri" panose="020F0502020204030204" pitchFamily="34" charset="-120"/>
              </a:rPr>
              <a:t>Mọi con số trong bài đều có log và tái lập được (seed, config và giao thức đánh giá cố định).</a:t>
            </a:r>
            <a:endParaRPr lang="en-US" sz="1800" dirty="0"/>
          </a:p>
        </p:txBody>
      </p:sp>
    </p:spTree>
  </p:cSld>
  <p:clrMapOvr>
    <a:masterClrMapping/>
  </p:clrMapOvr>
</p:sld>
</file>

<file path=ppt/theme/theme1.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27510</Words>
  <Application>WPS Presentation</Application>
  <PresentationFormat>On-screen Show (16:9)</PresentationFormat>
  <Paragraphs>1583</Paragraphs>
  <Slides>36</Slides>
  <Notes>36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36</vt:i4>
      </vt:variant>
    </vt:vector>
  </HeadingPairs>
  <TitlesOfParts>
    <vt:vector size="52" baseType="lpstr">
      <vt:lpstr>Arial</vt:lpstr>
      <vt:lpstr>SimSun</vt:lpstr>
      <vt:lpstr>Wingdings</vt:lpstr>
      <vt:lpstr>Calibri</vt:lpstr>
      <vt:lpstr>Cambria</vt:lpstr>
      <vt:lpstr>Cambria</vt:lpstr>
      <vt:lpstr>Cambria</vt:lpstr>
      <vt:lpstr>Calibri</vt:lpstr>
      <vt:lpstr>Calibri</vt:lpstr>
      <vt:lpstr>Calibri</vt:lpstr>
      <vt:lpstr>Microsoft YaHei</vt:lpstr>
      <vt:lpstr>Arial Unicode MS</vt:lpstr>
      <vt:lpstr>Courier New</vt:lpstr>
      <vt:lpstr>Courier New</vt:lpstr>
      <vt:lpstr>Courier New</vt:lpstr>
      <vt:lpstr>ViVQA-VLM Review</vt:lpstr>
      <vt:lpstr>ViVQA-VLM</vt:lpstr>
      <vt:lpstr>Một bộ slide cho mọi mốc review</vt:lpstr>
      <vt:lpstr>Mười góp ý của phản biện và cách Phần A xử lý</vt:lpstr>
      <vt:lpstr>Phát biểu bài toán và input / output</vt:lpstr>
      <vt:lpstr>Bốn vấn đề riêng của tiếng Việt (V1–V4)</vt:lpstr>
      <vt:lpstr>Bốn khoảng trống — G3 là trọng tâm</vt:lpstr>
      <vt:lpstr>Công trình trước và baseline tham chiếu</vt:lpstr>
      <vt:lpstr>Bốn câu hỏi nghiên cứu — RQ2 là trung tâm</vt:lpstr>
      <vt:lpstr>Bốn giả thuyết, mỗi giả thuyết gắn một vấn đề tiếng Việt</vt:lpstr>
      <vt:lpstr>Hai bộ benchmark, split cố định, tiền xử lý trước khi chia</vt:lpstr>
      <vt:lpstr>Một phương pháp đề xuất, pipeline 8 bước</vt:lpstr>
      <vt:lpstr>Vì sao chỉ dùng QLoRA — và mô hình nào dùng để làm gì</vt:lpstr>
      <vt:lpstr>Ngân sách token mỗi mẫu, và vị trí của RAG</vt:lpstr>
      <vt:lpstr>Kế hoạch 15 tuần với đầu ra kiểm chứng được</vt:lpstr>
      <vt:lpstr>Rủi ro (trạng thái ở Review 2) và ràng buộc</vt:lpstr>
      <vt:lpstr>Sản phẩm dự kiến, giá trị và nhóm</vt:lpstr>
      <vt:lpstr>Bốn kết quả chính của mốc này</vt:lpstr>
      <vt:lpstr>Góp ý của GVHD (07/10) và việc nhóm đã làm</vt:lpstr>
      <vt:lpstr>ViVQA được dịch máy — nhiễu nằm sẵn trong dữ liệu</vt:lpstr>
      <vt:lpstr>Qwen2.5-VL-3B-Instruct</vt:lpstr>
      <vt:lpstr>Mọi run theo một giao thức cố định</vt:lpstr>
      <vt:lpstr>Pipeline của nhóm tái lập được số đã công bố</vt:lpstr>
      <vt:lpstr>Zero-shot sai chủ yếu ở định dạng câu trả lời</vt:lpstr>
      <vt:lpstr>Model lớn hơn không tốt hơn ở bài này</vt:lpstr>
      <vt:lpstr>QLoRA một epoch: tăng lớn và có ý nghĩa thống kê</vt:lpstr>
      <vt:lpstr>Mức tăng là thật, không do rò rỉ, không chỉ do định dạng</vt:lpstr>
      <vt:lpstr>Full test ViTextVQA: cao hơn SOTA đã công bố</vt:lpstr>
      <vt:lpstr>ViTextBLIP-2 làm thế nào — và nhóm khác ở đâu</vt:lpstr>
      <vt:lpstr>B2 còn sai ở đâu</vt:lpstr>
      <vt:lpstr>QLoRA nhận biết OCR: dạy model dùng văn bản OCR</vt:lpstr>
      <vt:lpstr>OCR chỉ giúp khi model được train cùng OCR</vt:lpstr>
      <vt:lpstr>Mức tăng giữ vững qua các seed và trên full test</vt:lpstr>
      <vt:lpstr>ViVQA: epoch thứ hai có ích — chọn mà không chạm test</vt:lpstr>
      <vt:lpstr>Bằng chứng đến thời điểm này</vt:lpstr>
      <vt:lpstr>Kế hoạch đến Review 3 (tuần 13)</vt:lpstr>
      <vt:lpstr>Cảm ơn hội đồng</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Review 2 (cumulative)</dc:title>
  <dc:creator>Phạm Lê Huy Hoàng</dc:creator>
  <dc:subject>PptxGenJS Presentation</dc:subject>
  <cp:lastModifiedBy>Phạm Lê Huy Hoàng</cp:lastModifiedBy>
  <cp:revision>2</cp:revision>
  <dcterms:created xsi:type="dcterms:W3CDTF">2026-10-20T12:01:00Z</dcterms:created>
  <dcterms:modified xsi:type="dcterms:W3CDTF">2026-10-20T12:36:30Z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E4BCCA55D9F0491EB047571EC4C61FC1_12</vt:lpwstr>
  </property>
  <property fmtid="{D5CDD505-2E9C-101B-9397-08002B2CF9AE}" pid="3" name="KSOProductBuildVer">
    <vt:lpwstr>2057-12.2.0.23206</vt:lpwstr>
  </property>
</Properties>
</file>