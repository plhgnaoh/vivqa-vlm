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2.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3.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charts/chart4.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5.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charts/chart6.xml" ContentType="application/vnd.openxmlformats-officedocument.drawingml.chart+xml"/>
  <Override PartName="/ppt/slideMasters/slideMaster33.xml" ContentType="application/vnd.openxmlformats-officedocument.presentationml.slideMaster+xml"/>
  <Override PartName="/ppt/slides/slide33.xml" ContentType="application/vnd.openxmlformats-officedocument.presentationml.slide+xml"/>
  <Override PartName="/ppt/charts/chart7.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098612d-1d60-0f27-7590-a309c28199bf}">
          <p14:sldIdLst>
            <p14:sldId id="256"/>
          </p14:sldIdLst>
        </p14:section>
        <p14:section name="Contents" id="{72487c52-524a-e724-91ca-a42ad7250414}">
          <p14:sldIdLst>
            <p14:sldId id="257"/>
          </p14:sldIdLst>
        </p14:section>
        <p14:section name="A · Review 1 (revised)" id="{9a515993-581e-7889-539c-30ae01065b96}">
          <p14:sldIdLst>
            <p14:sldId id="258"/>
            <p14:sldId id="259"/>
            <p14:sldId id="260"/>
            <p14:sldId id="261"/>
            <p14:sldId id="262"/>
            <p14:sldId id="263"/>
            <p14:sldId id="264"/>
            <p14:sldId id="265"/>
            <p14:sldId id="266"/>
            <p14:sldId id="267"/>
            <p14:sldId id="268"/>
            <p14:sldId id="269"/>
            <p14:sldId id="270"/>
            <p14:sldId id="271"/>
          </p14:sldIdLst>
        </p14:section>
        <p14:section name="B · Summary" id="{8bf943f3-2d58-a94d-9a3f-bb03de610853}">
          <p14:sldIdLst>
            <p14:sldId id="272"/>
          </p14:sldIdLst>
        </p14:section>
        <p14:section name="B · Feedback" id="{4d26b81e-e78a-2a43-6ca9-1007281af2f6}">
          <p14:sldIdLst>
            <p14:sldId id="273"/>
          </p14:sldIdLst>
        </p14:section>
        <p14:section name="B · Data &amp; baseline" id="{ded36f27-a651-490a-251c-ccc63059ad58}">
          <p14:sldIdLst>
            <p14:sldId id="274"/>
            <p14:sldId id="275"/>
            <p14:sldId id="276"/>
          </p14:sldIdLst>
        </p14:section>
        <p14:section name="B · Results" id="{f7a02288-aaed-b222-7c29-922bb604bd00}">
          <p14:sldIdLst>
            <p14:sldId id="277"/>
            <p14:sldId id="278"/>
            <p14:sldId id="279"/>
          </p14:sldIdLst>
        </p14:section>
        <p14:section name="B · Improvement" id="{3fb10158-fc22-8f2a-9ac7-3ecbd405feba}">
          <p14:sldIdLst>
            <p14:sldId id="280"/>
            <p14:sldId id="281"/>
            <p14:sldId id="282"/>
            <p14:sldId id="283"/>
            <p14:sldId id="284"/>
          </p14:sldIdLst>
        </p14:section>
        <p14:section name="B · OCR-aware QLoRA" id="{56f3b999-a28a-67ba-585d-4c576979978e}">
          <p14:sldIdLst>
            <p14:sldId id="285"/>
            <p14:sldId id="286"/>
            <p14:sldId id="287"/>
            <p14:sldId id="288"/>
          </p14:sldIdLst>
        </p14:section>
        <p14:section name="B · Analysis &amp; plan" id="{894fdc7d-b682-5620-7ac1-9fbde1d432bc}">
          <p14:sldIdLst>
            <p14:sldId id="289"/>
            <p14:sldId id="290"/>
            <p14:sldId id="2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044"/>
                </a:solidFill>
                <a:latin typeface="+mn-lt"/>
              </a:defRPr>
            </a:pPr>
            <a:r>
              <a:rPr sz="1400" b="0" i="0" u="none" strike="noStrike">
                <a:solidFill>
                  <a:srgbClr val="243044"/>
                </a:solidFill>
                <a:latin typeface="+mn-lt"/>
              </a:rPr>
              <a:t>TextVQA val (5,000 questions), VQA accuracy</a:t>
            </a:r>
          </a:p>
        </c:rich>
      </c:tx>
      <c:layout/>
      <c:overlay val="0"/>
    </c:title>
    <c:autoTitleDeleted val="0"/>
    <c:plotArea>
      <c:layout/>
      <c:barChart>
        <c:barDir val="col"/>
        <c:grouping val="clustered"/>
        <c:varyColors val="0"/>
        <c:ser>
          <c:idx val="0"/>
          <c:order val="0"/>
          <c:tx>
            <c:strRef>
              <c:f>Sheet1!$B$1</c:f>
              <c:strCache>
                <c:ptCount val="1"/>
                <c:pt idx="0">
                  <c:v>VQA-Acc</c:v>
                </c:pt>
              </c:strCache>
            </c:strRef>
          </c:tx>
          <c:spPr>
            <a:solidFill>
              <a:srgbClr val="1C7293"/>
            </a:solidFill>
            <a:effectLst/>
          </c:spPr>
          <c:invertIfNegative val="0"/>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Sheet1!$A$2:$A$4</c:f>
              <c:multiLvlStrCache>
                <c:ptCount val="3"/>
                <c:lvl>
                  <c:pt idx="0">
                    <c:v>Qwen2.5-VL report</c:v>
                  </c:pt>
                  <c:pt idx="1">
                    <c:v>R0 · bf16, full res.</c:v>
                  </c:pt>
                  <c:pt idx="2">
                    <c:v>R0b · 4-bit, 512 tok.</c:v>
                  </c:pt>
                </c:lvl>
              </c:multiLvlStrCache>
            </c:multiLvlStrRef>
          </c:cat>
          <c:val>
            <c:numRef>
              <c:f>Sheet1!$B$2:$B$4</c:f>
              <c:numCache>
                <c:formatCode>General</c:formatCode>
                <c:ptCount val="3"/>
                <c:pt idx="0">
                  <c:v>79.3</c:v>
                </c:pt>
                <c:pt idx="1">
                  <c:v>79.6</c:v>
                </c:pt>
                <c:pt idx="2">
                  <c:v>75.21</c:v>
                </c:pt>
              </c:numCache>
            </c:numRef>
          </c:val>
        </c:ser>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85"/>
          <c:min val="60"/>
        </c:scaling>
        <c:delete val="0"/>
        <c:axPos val="l"/>
        <c:majorGridlines>
          <c:spPr>
            <a:ln w="9525" cap="flat">
              <a:solidFill>
                <a:srgbClr val="E2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EM</c:v>
                </c:pt>
              </c:strCache>
            </c:strRef>
          </c:tx>
          <c:spPr>
            <a:solidFill>
              <a:srgbClr val="E8A33D"/>
            </a:solidFill>
            <a:effectLst/>
          </c:spPr>
          <c:invertIfNegative val="0"/>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Sheet1!$A$2:$A$5</c:f>
              <c:multiLvlStrCache>
                <c:ptCount val="4"/>
                <c:lvl>
                  <c:pt idx="0">
                    <c:v>number</c:v>
                  </c:pt>
                  <c:pt idx="1">
                    <c:v>color</c:v>
                  </c:pt>
                  <c:pt idx="2">
                    <c:v>object</c:v>
                  </c:pt>
                  <c:pt idx="3">
                    <c:v>location</c:v>
                  </c:pt>
                </c:lvl>
              </c:multiLvlStrCache>
            </c:multiLvlStrRef>
          </c:cat>
          <c:val>
            <c:numRef>
              <c:f>Sheet1!$B$2:$B$5</c:f>
              <c:numCache>
                <c:formatCode>General</c:formatCode>
                <c:ptCount val="4"/>
                <c:pt idx="0">
                  <c:v>69.1</c:v>
                </c:pt>
                <c:pt idx="1">
                  <c:v>44.8</c:v>
                </c:pt>
                <c:pt idx="2">
                  <c:v>5.7</c:v>
                </c:pt>
                <c:pt idx="3">
                  <c:v>0.7</c:v>
                </c:pt>
              </c:numCache>
            </c:numRef>
          </c:val>
        </c:ser>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8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044"/>
                </a:solidFill>
                <a:latin typeface="+mn-lt"/>
              </a:defRPr>
            </a:pPr>
            <a:r>
              <a:rPr sz="1400" b="0" i="0" u="none" strike="noStrike">
                <a:solidFill>
                  <a:srgbClr val="243044"/>
                </a:solidFill>
                <a:latin typeface="+mn-lt"/>
              </a:rPr>
              <a:t>Exact Match (%)</a:t>
            </a:r>
          </a:p>
        </c:rich>
      </c:tx>
      <c:layout/>
      <c:overlay val="0"/>
    </c:title>
    <c:autoTitleDeleted val="0"/>
    <c:plotArea>
      <c:layout/>
      <c:barChart>
        <c:barDir val="col"/>
        <c:grouping val="clustered"/>
        <c:varyColors val="0"/>
        <c:ser>
          <c:idx val="0"/>
          <c:order val="0"/>
          <c:tx>
            <c:strRef>
              <c:f>Sheet1!$B$1</c:f>
              <c:strCache>
                <c:ptCount val="1"/>
                <c:pt idx="0">
                  <c:v>B1 zero-shot</c:v>
                </c:pt>
              </c:strCache>
            </c:strRef>
          </c:tx>
          <c:spPr>
            <a:solidFill>
              <a:srgbClr val="6B7280"/>
            </a:solidFill>
            <a:effectLst/>
          </c:spPr>
          <c:invertIfNegative val="0"/>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Sheet1!$A$2:$A$4</c:f>
              <c:multiLvlStrCache>
                <c:ptCount val="3"/>
                <c:lvl>
                  <c:pt idx="0">
                    <c:v>ViVQA</c:v>
                  </c:pt>
                  <c:pt idx="1">
                    <c:v>ViTextVQA (2,000)</c:v>
                  </c:pt>
                  <c:pt idx="2">
                    <c:v>ViTextVQA full</c:v>
                  </c:pt>
                </c:lvl>
              </c:multiLvlStrCache>
            </c:multiLvlStrRef>
          </c:cat>
          <c:val>
            <c:numRef>
              <c:f>Sheet1!$B$2:$B$4</c:f>
              <c:numCache>
                <c:formatCode>General</c:formatCode>
                <c:ptCount val="3"/>
                <c:pt idx="0">
                  <c:v>22.09</c:v>
                </c:pt>
                <c:pt idx="1">
                  <c:v>28.8</c:v>
                </c:pt>
                <c:pt idx="2">
                  <c:v>29.12</c:v>
                </c:pt>
              </c:numCache>
            </c:numRef>
          </c:val>
        </c:ser>
        <c:ser>
          <c:idx val="1"/>
          <c:order val="1"/>
          <c:tx>
            <c:strRef>
              <c:f>Sheet1!$C$1</c:f>
              <c:strCache>
                <c:ptCount val="1"/>
                <c:pt idx="0">
                  <c:v>B2 QLoRA 1 epoch</c:v>
                </c:pt>
              </c:strCache>
            </c:strRef>
          </c:tx>
          <c:spPr>
            <a:solidFill>
              <a:srgbClr val="1C7293"/>
            </a:solidFill>
            <a:effectLst/>
          </c:spPr>
          <c:invertIfNegative val="0"/>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Sheet1!$A$2:$A$4</c:f>
              <c:multiLvlStrCache>
                <c:ptCount val="3"/>
                <c:lvl>
                  <c:pt idx="0">
                    <c:v>ViVQA</c:v>
                  </c:pt>
                  <c:pt idx="1">
                    <c:v>ViTextVQA (2,000)</c:v>
                  </c:pt>
                  <c:pt idx="2">
                    <c:v>ViTextVQA full</c:v>
                  </c:pt>
                </c:lvl>
              </c:multiLvlStrCache>
            </c:multiLvlStrRef>
          </c:cat>
          <c:val>
            <c:numRef>
              <c:f>Sheet1!$C$2:$C$4</c:f>
              <c:numCache>
                <c:formatCode>General</c:formatCode>
                <c:ptCount val="3"/>
                <c:pt idx="0">
                  <c:v>73.78</c:v>
                </c:pt>
                <c:pt idx="1">
                  <c:v>49.7</c:v>
                </c:pt>
                <c:pt idx="2">
                  <c:v>50.26</c:v>
                </c:pt>
              </c:numCache>
            </c:numRef>
          </c:val>
        </c:ser>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90"/>
          <c:min val="0"/>
        </c:scaling>
        <c:delete val="0"/>
        <c:axPos val="l"/>
        <c:majorGridlines>
          <c:spPr>
            <a:ln w="9525" cap="flat">
              <a:solidFill>
                <a:srgbClr val="E2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4304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B1</c:v>
                </c:pt>
              </c:strCache>
            </c:strRef>
          </c:tx>
          <c:spPr>
            <a:solidFill>
              <a:srgbClr val="6B7280"/>
            </a:solidFill>
            <a:effectLst/>
          </c:spPr>
          <c:invertIfNegative val="0"/>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Sheet1!$A$2:$A$3</c:f>
              <c:multiLvlStrCache>
                <c:ptCount val="2"/>
                <c:lvl>
                  <c:pt idx="0">
                    <c:v>ViVQA</c:v>
                  </c:pt>
                  <c:pt idx="1">
                    <c:v>ViTextVQA (2,000)</c:v>
                  </c:pt>
                </c:lvl>
              </c:multiLvlStrCache>
            </c:multiLvlStrRef>
          </c:cat>
          <c:val>
            <c:numRef>
              <c:f>Sheet1!$B$2:$B$3</c:f>
              <c:numCache>
                <c:formatCode>General</c:formatCode>
                <c:ptCount val="2"/>
                <c:pt idx="0">
                  <c:v>22.09</c:v>
                </c:pt>
                <c:pt idx="1">
                  <c:v>28.8</c:v>
                </c:pt>
              </c:numCache>
            </c:numRef>
          </c:val>
        </c:ser>
        <c:ser>
          <c:idx val="1"/>
          <c:order val="1"/>
          <c:tx>
            <c:strRef>
              <c:f>Sheet1!$C$1</c:f>
              <c:strCache>
                <c:ptCount val="1"/>
                <c:pt idx="0">
                  <c:v>FS5</c:v>
                </c:pt>
              </c:strCache>
            </c:strRef>
          </c:tx>
          <c:spPr>
            <a:solidFill>
              <a:srgbClr val="E8A33D"/>
            </a:solidFill>
            <a:effectLst/>
          </c:spPr>
          <c:invertIfNegative val="0"/>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Sheet1!$A$2:$A$3</c:f>
              <c:multiLvlStrCache>
                <c:ptCount val="2"/>
                <c:lvl>
                  <c:pt idx="0">
                    <c:v>ViVQA</c:v>
                  </c:pt>
                  <c:pt idx="1">
                    <c:v>ViTextVQA (2,000)</c:v>
                  </c:pt>
                </c:lvl>
              </c:multiLvlStrCache>
            </c:multiLvlStrRef>
          </c:cat>
          <c:val>
            <c:numRef>
              <c:f>Sheet1!$C$2:$C$3</c:f>
              <c:numCache>
                <c:formatCode>General</c:formatCode>
                <c:ptCount val="2"/>
                <c:pt idx="0">
                  <c:v>20.03</c:v>
                </c:pt>
                <c:pt idx="1">
                  <c:v>27.6</c:v>
                </c:pt>
              </c:numCache>
            </c:numRef>
          </c:val>
        </c:ser>
        <c:ser>
          <c:idx val="2"/>
          <c:order val="2"/>
          <c:tx>
            <c:strRef>
              <c:f>Sheet1!$D$1</c:f>
              <c:strCache>
                <c:ptCount val="1"/>
                <c:pt idx="0">
                  <c:v>B2</c:v>
                </c:pt>
              </c:strCache>
            </c:strRef>
          </c:tx>
          <c:spPr>
            <a:solidFill>
              <a:srgbClr val="1C7293"/>
            </a:solidFill>
            <a:effectLst/>
          </c:spPr>
          <c:invertIfNegative val="0"/>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Sheet1!$A$2:$A$3</c:f>
              <c:multiLvlStrCache>
                <c:ptCount val="2"/>
                <c:lvl>
                  <c:pt idx="0">
                    <c:v>ViVQA</c:v>
                  </c:pt>
                  <c:pt idx="1">
                    <c:v>ViTextVQA (2,000)</c:v>
                  </c:pt>
                </c:lvl>
              </c:multiLvlStrCache>
            </c:multiLvlStrRef>
          </c:cat>
          <c:val>
            <c:numRef>
              <c:f>Sheet1!$D$2:$D$3</c:f>
              <c:numCache>
                <c:formatCode>General</c:formatCode>
                <c:ptCount val="2"/>
                <c:pt idx="0">
                  <c:v>73.78</c:v>
                </c:pt>
                <c:pt idx="1">
                  <c:v>49.7</c:v>
                </c:pt>
              </c:numCache>
            </c:numRef>
          </c:val>
        </c:ser>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90"/>
          <c:min val="0"/>
        </c:scaling>
        <c:delete val="0"/>
        <c:axPos val="l"/>
        <c:majorGridlines>
          <c:spPr>
            <a:ln w="9525" cap="flat">
              <a:solidFill>
                <a:srgbClr val="E2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r"/>
      <c:overlay val="0"/>
      <c:txPr>
        <a:bodyPr/>
        <a:lstStyle/>
        <a:p>
          <a:pPr>
            <a:defRPr sz="1200">
              <a:solidFill>
                <a:srgbClr val="24304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044"/>
                </a:solidFill>
                <a:latin typeface="+mn-lt"/>
              </a:defRPr>
            </a:pPr>
            <a:r>
              <a:rPr sz="1400" b="0" i="0" u="none" strike="noStrike">
                <a:solidFill>
                  <a:srgbClr val="243044"/>
                </a:solidFill>
                <a:latin typeface="+mn-lt"/>
              </a:rPr>
              <a:t>Automatic buckets, B2 errors on full ViTextVQA test (n = 4,988)</a:t>
            </a:r>
          </a:p>
        </c:rich>
      </c:tx>
      <c:layout/>
      <c:overlay val="0"/>
    </c:title>
    <c:autoTitleDeleted val="0"/>
    <c:plotArea>
      <c:layout/>
      <c:barChart>
        <c:barDir val="bar"/>
        <c:grouping val="clustered"/>
        <c:varyColors val="0"/>
        <c:ser>
          <c:idx val="0"/>
          <c:order val="0"/>
          <c:tx>
            <c:strRef>
              <c:f>Sheet1!$B$1</c:f>
              <c:strCache>
                <c:ptCount val="1"/>
                <c:pt idx="0">
                  <c:v>% of B2 errors</c:v>
                </c:pt>
              </c:strCache>
            </c:strRef>
          </c:tx>
          <c:spPr>
            <a:solidFill>
              <a:srgbClr val="1C7293"/>
            </a:solidFill>
            <a:effectLst/>
          </c:spPr>
          <c:invertIfNegative val="0"/>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Sheet1!$A$2:$A$6</c:f>
              <c:multiLvlStrCache>
                <c:ptCount val="5"/>
                <c:lvl>
                  <c:pt idx="0">
                    <c:v>other: content / region</c:v>
                  </c:pt>
                  <c:pt idx="1">
                    <c:v>1–2 characters off</c:v>
                  </c:pt>
                  <c:pt idx="2">
                    <c:v>answer too long</c:v>
                  </c:pt>
                  <c:pt idx="3">
                    <c:v>answer too short</c:v>
                  </c:pt>
                  <c:pt idx="4">
                    <c:v>tone marks only</c:v>
                  </c:pt>
                </c:lvl>
              </c:multiLvlStrCache>
            </c:multiLvlStrRef>
          </c:cat>
          <c:val>
            <c:numRef>
              <c:f>Sheet1!$B$2:$B$6</c:f>
              <c:numCache>
                <c:formatCode>General</c:formatCode>
                <c:ptCount val="5"/>
                <c:pt idx="0">
                  <c:v>47.4</c:v>
                </c:pt>
                <c:pt idx="1">
                  <c:v>16.8</c:v>
                </c:pt>
                <c:pt idx="2">
                  <c:v>13.6</c:v>
                </c:pt>
                <c:pt idx="3">
                  <c:v>13.2</c:v>
                </c:pt>
                <c:pt idx="4">
                  <c:v>9</c:v>
                </c:pt>
              </c:numCache>
            </c:numRef>
          </c:val>
        </c:ser>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6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044"/>
                </a:solidFill>
                <a:latin typeface="+mn-lt"/>
              </a:defRPr>
            </a:pPr>
            <a:r>
              <a:rPr sz="1400" b="0" i="0" u="none" strike="noStrike">
                <a:solidFill>
                  <a:srgbClr val="243044"/>
                </a:solidFill>
                <a:latin typeface="+mn-lt"/>
              </a:rPr>
              <a:t>EM (%), test subset 2,000 q., 3 training seeds</a:t>
            </a:r>
          </a:p>
        </c:rich>
      </c:tx>
      <c:layout/>
      <c:overlay val="0"/>
    </c:title>
    <c:autoTitleDeleted val="0"/>
    <c:plotArea>
      <c:layout/>
      <c:barChart>
        <c:barDir val="col"/>
        <c:grouping val="clustered"/>
        <c:varyColors val="0"/>
        <c:ser>
          <c:idx val="0"/>
          <c:order val="0"/>
          <c:tx>
            <c:strRef>
              <c:f>Sheet1!$B$1</c:f>
              <c:strCache>
                <c:ptCount val="1"/>
                <c:pt idx="0">
                  <c:v>B2-sub (no OCR)</c:v>
                </c:pt>
              </c:strCache>
            </c:strRef>
          </c:tx>
          <c:spPr>
            <a:solidFill>
              <a:srgbClr val="6B7280"/>
            </a:solidFill>
            <a:effectLst/>
          </c:spPr>
          <c:invertIfNegative val="0"/>
          <c:dLbls>
            <c:numFmt formatCode="0.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Sheet1!$A$2:$A$4</c:f>
              <c:multiLvlStrCache>
                <c:ptCount val="3"/>
                <c:lvl>
                  <c:pt idx="0">
                    <c:v>seed 42</c:v>
                  </c:pt>
                  <c:pt idx="1">
                    <c:v>seed 43</c:v>
                  </c:pt>
                  <c:pt idx="2">
                    <c:v>seed 44</c:v>
                  </c:pt>
                </c:lvl>
              </c:multiLvlStrCache>
            </c:multiLvlStrRef>
          </c:cat>
          <c:val>
            <c:numRef>
              <c:f>Sheet1!$B$2:$B$4</c:f>
              <c:numCache>
                <c:formatCode>General</c:formatCode>
                <c:ptCount val="3"/>
                <c:pt idx="0">
                  <c:v>45.55</c:v>
                </c:pt>
                <c:pt idx="1">
                  <c:v>44.75</c:v>
                </c:pt>
                <c:pt idx="2">
                  <c:v>46.05</c:v>
                </c:pt>
              </c:numCache>
            </c:numRef>
          </c:val>
        </c:ser>
        <c:ser>
          <c:idx val="1"/>
          <c:order val="1"/>
          <c:tx>
            <c:strRef>
              <c:f>Sheet1!$C$1</c:f>
              <c:strCache>
                <c:ptCount val="1"/>
                <c:pt idx="0">
                  <c:v>B3 (OCR-aware)</c:v>
                </c:pt>
              </c:strCache>
            </c:strRef>
          </c:tx>
          <c:spPr>
            <a:solidFill>
              <a:srgbClr val="E8A33D"/>
            </a:solidFill>
            <a:effectLst/>
          </c:spPr>
          <c:invertIfNegative val="0"/>
          <c:dLbls>
            <c:numFmt formatCode="0.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cat>
            <c:multiLvlStrRef>
              <c:f>Sheet1!$A$2:$A$4</c:f>
              <c:multiLvlStrCache>
                <c:ptCount val="3"/>
                <c:lvl>
                  <c:pt idx="0">
                    <c:v>seed 42</c:v>
                  </c:pt>
                  <c:pt idx="1">
                    <c:v>seed 43</c:v>
                  </c:pt>
                  <c:pt idx="2">
                    <c:v>seed 44</c:v>
                  </c:pt>
                </c:lvl>
              </c:multiLvlStrCache>
            </c:multiLvlStrRef>
          </c:cat>
          <c:val>
            <c:numRef>
              <c:f>Sheet1!$C$2:$C$4</c:f>
              <c:numCache>
                <c:formatCode>General</c:formatCode>
                <c:ptCount val="3"/>
                <c:pt idx="0">
                  <c:v>49.25</c:v>
                </c:pt>
                <c:pt idx="1">
                  <c:v>49</c:v>
                </c:pt>
                <c:pt idx="2">
                  <c:v>48.8</c:v>
                </c:pt>
              </c:numCache>
            </c:numRef>
          </c:val>
        </c:ser>
        <c:dLbls>
          <c:numFmt formatCode="0.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52"/>
          <c:min val="40"/>
        </c:scaling>
        <c:delete val="0"/>
        <c:axPos val="l"/>
        <c:majorGridlines>
          <c:spPr>
            <a:ln w="9525" cap="flat">
              <a:solidFill>
                <a:srgbClr val="E2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4304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044"/>
                </a:solidFill>
                <a:latin typeface="+mn-lt"/>
              </a:defRPr>
            </a:pPr>
            <a:r>
              <a:rPr sz="1400" b="0" i="0" u="none" strike="noStrike">
                <a:solidFill>
                  <a:srgbClr val="243044"/>
                </a:solidFill>
                <a:latin typeface="+mn-lt"/>
              </a:rPr>
              <a:t>EM (%) on image-disjoint val (688 q.)</a:t>
            </a:r>
          </a:p>
        </c:rich>
      </c:tx>
      <c:layout/>
      <c:overlay val="0"/>
    </c:title>
    <c:autoTitleDeleted val="0"/>
    <c:plotArea>
      <c:layout/>
      <c:barChart>
        <c:barDir val="bar"/>
        <c:grouping val="clustered"/>
        <c:varyColors val="0"/>
        <c:ser>
          <c:idx val="0"/>
          <c:order val="0"/>
          <c:tx>
            <c:strRef>
              <c:f>Sheet1!$B$1</c:f>
              <c:strCache>
                <c:ptCount val="1"/>
                <c:pt idx="0">
                  <c:v>EM</c:v>
                </c:pt>
              </c:strCache>
            </c:strRef>
          </c:tx>
          <c:spPr>
            <a:solidFill>
              <a:srgbClr val="6B7280"/>
            </a:solidFill>
            <a:effectLst/>
          </c:spPr>
          <c:invertIfNegative val="0"/>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dPt>
            <c:idx val="0"/>
            <c:invertIfNegative val="0"/>
            <c:bubble3D val="0"/>
            <c:spPr>
              <a:solidFill>
                <a:srgbClr val="6B7280"/>
              </a:solidFill>
              <a:effectLst/>
            </c:spPr>
          </c:dPt>
          <c:dPt>
            <c:idx val="1"/>
            <c:invertIfNegative val="0"/>
            <c:bubble3D val="0"/>
            <c:spPr>
              <a:solidFill>
                <a:srgbClr val="6B7280"/>
              </a:solidFill>
              <a:effectLst/>
            </c:spPr>
          </c:dPt>
          <c:dPt>
            <c:idx val="2"/>
            <c:invertIfNegative val="0"/>
            <c:bubble3D val="0"/>
            <c:spPr>
              <a:solidFill>
                <a:srgbClr val="E8A33D"/>
              </a:solidFill>
              <a:effectLst/>
            </c:spPr>
          </c:dPt>
          <c:cat>
            <c:multiLvlStrRef>
              <c:f>Sheet1!$A$2:$A$4</c:f>
              <c:multiLvlStrCache>
                <c:ptCount val="3"/>
                <c:lvl>
                  <c:pt idx="0">
                    <c:v>C1 · B2, 1-epoch schedule</c:v>
                  </c:pt>
                  <c:pt idx="1">
                    <c:v>C2 · 2-epoch schedule, after epoch 1</c:v>
                  </c:pt>
                  <c:pt idx="2">
                    <c:v>C3 · 2-epoch schedule, after epoch 2</c:v>
                  </c:pt>
                </c:lvl>
              </c:multiLvlStrCache>
            </c:multiLvlStrRef>
          </c:cat>
          <c:val>
            <c:numRef>
              <c:f>Sheet1!$B$2:$B$4</c:f>
              <c:numCache>
                <c:formatCode>General</c:formatCode>
                <c:ptCount val="3"/>
                <c:pt idx="0">
                  <c:v>73.11</c:v>
                </c:pt>
                <c:pt idx="1">
                  <c:v>71.51</c:v>
                </c:pt>
                <c:pt idx="2">
                  <c:v>77.03</c:v>
                </c:pt>
              </c:numCache>
            </c:numRef>
          </c:val>
        </c:ser>
        <c:dLbls>
          <c:numFmt formatCode="0.0" sourceLinked="0"/>
          <c:txPr>
            <a:bodyPr/>
            <a:lstStyle/>
            <a:p>
              <a:pPr>
                <a:defRPr b="0" i="0" strike="noStrike" sz="1200" u="none">
                  <a:solidFill>
                    <a:srgbClr val="24304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80"/>
          <c:min val="6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hội đồng. Đây là bộ slide cộng dồn của nhóm. Phần A là nội dung Review 1, đã sửa theo góp ý của phản biện. Phần B là Review 2: tái lập baseline Qwen2.5-VL-3B, kết quả QLoRA, và phương pháp đề xuất là QLoRA nhận biết OCR. Toàn bộ số liệu đều có log và có thể chạy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Bộ slide này cộng dồn qua các mốc. Phần A là nội dung Review 1, đã sửa theo mười góp ý của giảng viên phản biện ngày 24/09. Phần B là nội dung Review 2: tái lập baseline, QLoRA và phương pháp đề xuất. Mỗi mốc sau sẽ thêm một phần mới và sửa các phần trước theo góp 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Ngày 24/09, giảng viên phản biện đưa ra mười góp ý. Bảng này ghi lại từng góp ý, việc nhóm đã sửa và slide tương ứng trong Phần A. Ba điểm lớn nhất: phát biểu bài toán với input và output rõ ràng; giả thuyết rút còn H1 đến H4, mỗi giả thuyết gắn với một vấn đề riêng của tiếng Việt; và chốt một phương pháp đề xuất kèm sơ đồ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toán trong một câu: cho một ảnh và một câu hỏi tiếng Việt, sinh ra câu trả lời tiếng Việt ngắn, đúng nội dung ảnh và đúng chính tả có dấu. Bài toán nghiên cứu là thích nghi một VLM mã nguồn mở, Qwen2.5-VL-3B, chỉ bằng QLoRA và chạy được trên một GPU Colab. Bảng bên dưới đặc tả input, output và cách đánh giá cho hai bộ dữ liệu. Đây là phần sửa cho góp ý số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Góp ý số 1 và số 2: phải nói được tiếng Việt khác tiếng Anh ở đâu, và tách tiền xử lý ra khỏi vấn đề nghiên cứu. Bốn vấn đề: V1 đọc chữ có dấu trong ảnh — dấu là nét rất nhỏ, đọc sai là đổi nghĩa; V2 trả lời sai ngôn ngữ hoặc sai định dạng; V3 thứ tự chữ và ranh giới từ, vì khoảng trắng tiếng Việt tách âm tiết chứ không tách từ; V4 hallucination. Chuẩn hoá NFC, chữ thường, dấu câu chỉ là tiền xử lý bắt buộc, không phải đóng góp.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khoảng trống từ văn liệu. G1: alignment của VLM tối ưu cho tiếng Anh. G2: VQA tiếng Việt còn yếu, nhất là scene-text — SOTA công bố trên ViTextVQA mới đạt EM 25,48 trong khi con người đạt 88. G3 là trọng tâm: chưa có nghiên cứu hệ thống nào áp dụng LoRA hay QLoRA cho VLM trên VQA tiếng Việt — trong ba paper VQA tiếng Việt nhóm khảo sát, không paper nào dùng PEFT. G4: chưa có đánh giá hallucination kiểu POPE cho tiếng Việt.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Góp ý số 7: cần ba baseline và state-of-the-art cho tiếng Việt. Nhóm dùng hai loại mốc. Baseline tái lập là mô hình nhóm tự chạy lại và dùng để kết luận cải tiến — Qwen2.5-VL-3B. Baseline từ công trình trước là số trích từ paper, không chạy lại, chỉ dùng để định vị. Trên ViTextVQA có BLIP-2, PreSTU và ViTextBLIP-2 là SOTA công bố với EM 25,48. Trên ViVQA, cao nhất nhóm khảo sát được là AViVQA-TranConI với accuracy 71,04. Lưu ý: các mốc này dùng metric và thiết lập khác nhóm nên chỉ để định vị.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câu hỏi nghiên cứu. RQ1: zero-shot đạt bao nhiêu và lỗi tiếng Việt nào chiếm ưu thế. RQ2 là trung tâm: QLoRA cải thiện bao nhiêu so với zero-shot mà không full fine-tuning. RQ3: đưa chữ OCR có dấu vào prompt có giúp đọc chữ không và có cộng hưởng với QLoRA không. RQ4: sau QLoRA, model bịa nhiều hơn hay ít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Góp ý số 3: giả thuyết 4-bit hay VRAM không giải quyết vấn đề tiếng Việt. Nhóm rút còn bốn giả thuyết H1 đến H4, mỗi cái gắn một vấn đề V1 đến V4 và được kiểm chứng trên cùng model, cùng split, cùng seed. Hiệu quả bộ nhớ của 4-bit là đặc tính đã biết của QLoRA nên chuyển thành số đo báo cáo ở mỗi run. Cấu hình LoRA chuyển thành ablation. Ngưỡng là ngưỡng tham khảo từ văn liệu, chốt trước khi chạy.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bộ dữ liệu. ViVQA có 15.000 cặp hỏi–đáp trên 10.328 ảnh; nhóm tách 1.200 câu val từ train bằng seed 42, còn 10.799 câu train và 3.001 câu test. Đáp án gần như luôn ngắn nên dùng EM và VQA-Acc. ViTextVQA dùng repo chính thức: 35.159 train, 5.155 dev, 10.028 test; đáp án dài hơn và là chữ trong ảnh nên dùng thêm ANLS. Góp ý số 9: tiền xử lý áp dụng giống hệt cho mọi mẫu, rồi mới cố định split; chọn cấu hình trên dev hoặc val, chỉ báo cáo trên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Góp ý số 4: chưa có phương pháp đề xuất và chưa có hình pipeline. Nhóm chốt một phương pháp: QLoRA trên Qwen2.5-VL-3B-Instruct với prompt tiếng Việt có chữ OCR cho ViTextVQA. Mô hình gốc đóng băng ở 4-bit, chỉ train adapter LoRA. Pipeline tám bước từ dữ liệu, tiền xử lý, OCR, chia tập cố định, ghép prompt, train và suy luận, chấm điểm, đến prototype web. Mọi thành phần khác là ablation. Ở Review 2, phương pháp này được hiện thực thành QLoRA nhận biết OCR, B3 ở Phần B mục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Góp ý số 5 và số 6. QLoRA: trọng số gốc nén 4-bit NF4 và đóng băng; mỗi lớp được gắn hai ma trận nhỏ A và B, chỉ hai ma trận này được train; kết quả là một adapter khoảng 30 MB. Nhóm chỉ dùng QLoRA vì đó là điều kiện để chạy được trên GPU Colab, không phải biến cần so sánh, nên không so LoRA với QLoRA. Góp ý số 6: không so mô hình khác thế hệ hay khác kích thước để kết luận cải tiến; mọi kết luận chỉ trên cùng backbone Qwen2.5-VL-3B. Các mô hình khác chỉ để định vị hoặc làm ablation backbone.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Góp ý số 8: khuyến nghị RAG và cần tính số token. Mỗi câu hỏi là một lượt độc lập gồm một ảnh và một câu hỏi, không cần bộ nhớ hội thoại. Phần lớn token là token ảnh, tối đa 512 theo cấu hình cố định. Tổng ước tính dưới khoảng một nghìn token mỗi mẫu, nhỏ hơn nhiều so với context window; giới hạn thật là VRAM. Chữ OCR trong prompt đóng vai trò truy xuất bằng chứng từ chính ảnh. RAG với kho tri thức ngoài chỉ làm nếu phân tích lỗi cho thấy nhiều câu sai do thiếu tri thức ngoài ảnh — đến Review 2, duyệt tay lỗi chưa cho thấy điều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Góp ý số 10: kế hoạch chưa chi tiết. Bảng ghi công việc từng tuần và đầu ra kiểm chứng được. Bốn mốc: Review 1 tuần 3, Review 2 tuần 7, hội đồng cấp Khoa tuần 13, bảo vệ cuối kỳ tuần 15. Tiến độ thực tế và các thay đổi so với kế hoạch được trình bày ở Phần B, slide bước tiếp theo.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trận rủi ro từ Review 1, cột trạng thái cập nhật đến Review 2. Phần lớn rủi ro cao đã được khử: model chạy 4-bit trên L4, checkpoint và resume đã kiểm, baseline đã tái lập đúng số công bố, dữ liệu ViTextVQA dùng repo chính thức. Bên phải là các ràng buộc bắt buộc: chỉ PEFT, tái lập một baseline trước, cùng split, seed và phần cứng, và hiệu quả là ràng buộc thiết kế.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nhóm sản phẩm: một cải tiến PEFT đã được kiểm chứng so với baseline kèm ablation, phân tích lỗi và phân tích hallucination; một prototype web; và luận văn kèm gói tái lập gồm code, adapter, config và log. Giá trị thực tiễn là đọc biển hiệu, nhãn hàng, hỗ trợ người khiếm thị. Ý nghĩa khoa học là nghiên cứu PEFT có hệ thống cho VLM tiếng Việt và đo hallucination cho tiếng Việt.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con số cần nhớ. Một: pipeline đánh giá của nhóm tái lập đúng số công bố của Qwen2.5-VL-3B trên TextVQA (79,6 so với 79,3), nên các số tiếng Việt phía sau đáng tin. Hai: QLoRA chỉ train 0,2% tham số nhưng tăng EM rất mạnh trên cả hai bộ dữ liệu, có kiểm định thống kê. Ba: trên toàn bộ test ViTextVQA, B2 vượt SOTA của paper ViTextBLIP-2. Bốn: phương pháp đề xuất, QLoRA nhận biết OCR, tăng thêm 2,5 điểm EM so với cùng QLoRA trên cùng dữ liệu, ổn định qua 3 seed và trên full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 buổi họp ngày 07/10, thầy Trí yêu cầu năm việc trước khi bàn cải tiến. Bảng này cho thấy mỗi yêu cầu được xử lý ở slide nào trong Phần B. Mười góp ý của phản biện Review 1 đã được sửa ở Phần A, xem slide tiếp thu góp ý ở đầu Phần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ViVQA được tạo từ COCO-QA, câu hỏi sinh tự động rồi dịch bằng Google Translate. Vì vậy có các điểm nhiễu N1 đến N4, ví dụ purple bị dịch thành tía. Nhóm cũng kiểm tra rò rỉ: ở ViVQA, 46% ảnh test xuất hiện trong train; ở ViTextVQA thì không có ảnh trùng nào, nên đây là phép thử tổng quát hoá sạch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sơ đồ baseline mà thầy yêu cầu. Ảnh đi qua vision encoder 32 khối, được gộp còn 256 đến 512 token, rồi ghép với câu hỏi đưa vào decoder 36 lớp. Toàn bộ trọng số gốc đóng băng và lượng tử 4-bit. Phần duy nhất được train là LoRA ở 4 phép chiếu q, k, v, o của self-attention — ô màu cam. Khung bên phải tóm tắt đầu vào và đầu ra của từng khối: ảnh được resize tối đa 401.408 điểm ảnh rồi cắt thành patch 14 nhân 14; patch merger gộp 2 nhân 2 patch thành 1 token 2048 chiều, ra 256 đến 512 token ảnh; prompt P0 ghép token ảnh với câu hỏi theo chat template; decoder sinh đáp án tham lam, tối đa 32 token. Lưu ý: baseline KHÔNG dùng OCR — OCR là phần cải tiến B3 ở phần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Mọi run dùng chung một giao thức: split và seed cố định, cùng prompt, cấu hình khoá trong file config, cùng hàm chuẩn hoá và metric, và log đầy đủ commit, GPU, thời gian. So sánh hai run luôn dùng kiểm định ghép cặp McNemar cho EM và bootstrap cho ANLS. Luật kết luận được chốt trước khi chạy để tránh chọn kết quả có lợi. Dòng chân trang giải thích các từ viết tắt.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Vấn đề: chưa paper nào công bố Qwen2.5-VL-3B trên ViVQA hay ViTextVQA, nên không thể so trực tiếp. Nhóm kiểm chứng pipeline bằng một con số đã công bố: TextVQA val trong báo cáo Qwen2.5-VL là 79,3. Nhóm chạy được 79,6, nằm trong ngưỡng ±2 điểm đã chốt. Cấu hình tiết kiệm của nhóm (4-bit, 512 token) mất 4,4 điểm nhưng giảm VRAM 4,3 lần.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B1 là baseline zero-shot chính thức. Lỗi lớn nhất là định dạng: model trả lời dài hơn đáp án chuẩn, ví dụ 'Lịch tết năm 2021' trong khi đáp án là '2021'. Trên ViTextVQA có 19% câu model đọc ra đúng đáp án nhưng EM vẫn tính sai. Theo loại câu hỏi, ViVQA rất yếu ở vị trí và đồ vật.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7 của paper ViTextVQA có dòng QwenVL-7b đạt EM 28 trên 100 câu. Nhóm chạy Qwen2-VL-7B trong đúng điều kiện của baseline. Kết quả 7B kém 3B 12,6 điểm EM, p rất nhỏ, chậm hơn và tốn VRAM hơn. Nguyên nhân chính là 7B trả lời dài, trung bình 8,2 từ. Table 7 chỉ có 100 câu nên sai số khoảng ±9 điểm, không đủ để chọn giữa 3B và 7B. Vì vậy nhóm giữ Qwen2.5-VL-3B. Nguồn của từng model và paper ghi ở chân trang, kèm thư mục run trong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B2 khác B1 đúng một biến: có adapter LoRA. Chỉ một epoch, EM ViVQA tăng từ 22 lên 74, ViTextVQA từ 29 lên 50 trên toàn bộ test. Cả hai đạt luật chốt trước: EM tăng và McNemar p nhỏ hơn 0,05. Chi phí rất thấp: 3 giờ train cho ViVQA, 12 giờ cho ViTextVQA, VRAM dưới 7 GB.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phép đối chứng. Một: ở ViVQA, trên phần test sạch chưa từng xuất hiện trong train, EM vẫn tăng từ 25 lên 69. Hai: ViTextVQA không có ảnh trùng mà vẫn tăng 21 điểm. Ba: đưa 5 ví dụ đáp án vào prompt (few-shot) không giúp gì, thậm chí giảm ở ViVQA. Vậy QLoRA học được nhiều hơn là cách trả lời ngắn.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Trên toàn bộ 10.028 câu test, B2 đạt EM 50,3 và F1 71,2, cao hơn ViTextBLIP-2 là SOTA của paper, với cận dưới khoảng tin cậy vẫn cao hơn số công bố. B1 zero-shot chỉ cao hơn về EM, còn F1 thì ngang. Chạy lại trên 2.000 câu chung cho kết quả trùng 100%. Giới hạn: paper không công bố cách chuẩn hoá đáp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quy trình của SOTA. ViTextBLIP-2 giữ đóng băng một Vision Transformer, một hệ OCR là SwinTextSpotter dùng nguyên không fine-tune, và mô hình ngôn ngữ tiếng Việt ViT5; phần duy nhất được train là Q-Former khởi tạo từ BLIP-2, có nhiệm vụ trộn đặc trưng ảnh, câu hỏi và chữ OCR. Paper cũng chỉ ra sắp xếp chữ OCR từ trái-trên xuống phải-dưới giúp hầu hết các model. Nhóm khác ở ba điểm. Một: dùng một VLM đã được pretrain sẵn khả năng đọc chữ, Qwen2.5-VL-3B, lượng tử 4-bit. Hai: chỉ gắn LoRA, 0,2% tham số. Ba: B2 không dùng OCR ngoài — model tự đọc chữ từ ảnh; OCR được đưa vào ở B3, phần 06, dưới dạng một dòng văn bản trong prompt. Về đánh giá, paper báo EM và F1 nhưng không công bố cách chuẩn hoá; nhóm báo thêm ANLS và công khai hàm chuẩn hoá. Một lưu ý khi đọc paper: con số 25,48 / 53,95 nằm ở cột sắp xếp theo độ tin cậy OCR của Table 10, còn bảng ablation lại báo 24,83 / 52,51 cho model đầy đủ — paper không giải thích chênh lệch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loại tự động 4.988 câu B2 còn sai trên full test ViTextVQA. 9% chỉ sai dấu thanh, ví dụ thủy và thúy — đây là thách thức riêng của tiếng Việt. 17% chỉ lệch một hai ký tự, thường là đọc chữ hoặc số. Khoảng 27% sai về độ dài: thừa hoặc thiếu chữ so với gold. 47% còn lại sai về nội dung hoặc vùng ảnh. Nhóm đã duyệt tay 200 lỗi của B2 có xem ảnh, 4 người cùng nhãn gợi ý của AI, trưởng nhóm phân xử các chỗ lệch. Kết quả: 54% câu bị EM chấm sai thực ra đúng ý — EM quá khắt khe; 12,5% do gold nhiễu; ở ViTextVQA lỗi thật chủ yếu là đọc sai chữ 28% và đọc nhầm vùng chữ 23%; hallucination thật chỉ 7%. Chính các lỗi đọc chữ này dẫn tới phương pháp đề xuất ở phần sau. Độ đồng thuận giữa hai người gán nhãn độc lập kappa 0,62; bỏ 42 dòng có AI hỗ trợ thì kết luận không đổi. Nguồn từng con số ghi ở chân trang: lệnh tái tạo phân loại tự động và file kết quả duyệt tay trong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phân tích lỗi, nhóm đề xuất B3: QLoRA nhận biết OCR. Ảnh được chạy OCR trước — PaddleOCR dò vùng chữ, VietOCR đọc chữ tiếng Việt — rồi đúng một dòng 'Văn bản đọc được trong ảnh' được chèn trước câu hỏi. Điểm mấu chốt: dòng OCR có mặt cả lúc train lẫn lúc test, nên model học khi nào tin OCR, khi nào tin ảnh. Backend OCR được chọn trên dev300 bằng luật chốt trước: PaddleOCR bản Latin làm rơi dấu tiếng Việt, ví dụ 'Kiểu Thẩm' thành 'Kiu Thm'; VietOCR giữ được đáp án trong văn bản OCR ở 37,7% câu so với 27,0%.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ablation bắt buộc có và không có OCR, làm thành bảng hai nhân hai trên cùng tập con và cùng 2.000 câu test. Chỉ chèn OCR lúc test cho model chưa train cùng OCR: không tăng, kể cả với zero-shot B1 và B2 ở tuần 8. Train cùng OCR mà lúc test bỏ OCR: cũng không tăng. Chỉ khi có cả hai thì EM tăng 4,35 điểm, p cỡ 10 mũ trừ 8. Tương tác là 4,9 điểm, khoảng tin cậy 3,2 đến 6,6. Vậy đóng góp không phải là thêm OCR vào prompt, mà là dạy model cách dùng OCR.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câu hỏi hội đồng hay đặt: một seed có phải may mắn không, và tập con có đại diện không. Ba seed huấn luyện 42, 43, 44, cùng tập con: cả ba seed B3 đều thắng B2-sub có ý nghĩa, trung bình cộng 3,57 điểm EM, độ lệch chuẩn 0,76. Trên toàn bộ 10.028 câu test, B3 thắng B2-sub 2,54 điểm, p cỡ 10 mũ trừ 14, và cao hơn ViTextBLIP-2 ở cả EM lẫn F1. Nhóm cũng đính chính: B3 dùng 23% dữ liệu vẫn thấp hơn B2 train toàn bộ 1,16 điểm; OCR bù được khoảng 69% phần mất do cắt dữ liệu. Về ANLS, mức tăng là 1,55 điểm, dưới ngưỡng 3 điểm của H2.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Với ViVQA, câu hỏi là train một hay hai epoch. Val của ViVQA được tách theo câu hỏi nên 43% câu val dùng chung ảnh với train; train lâu hơn dễ nhớ ảnh và làm val đẹp giả. Vì vậy nhóm chỉ chọn epoch trên 688 câu val có ảnh chưa từng xuất hiện trong train. Lịch hai epoch sau epoch 2 hơn B2 một epoch 3,9 điểm, có ý nghĩa, nên được chọn. Chỉ khi đó mới chấm test, một lần: EM tăng từ 73,8 lên 76,6, p cỡ 10 mũ trừ 9. Kiểm tra thêm sau khi có kết quả: trên phần test sạch, ảnh và cặp hỏi đáp chưa từng thấy, mức tăng vẫn là 3,2 điểm — nên đây không phải do model nhớ ảnh. Chi phí: gấp đôi thời gian train, 6,1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Đối chiếu với bốn giả thuyết H1 đến H4 ở Phần A. H1 được ủng hộ mạnh: QLoRA tăng 51,7 điểm EM trên ViVQA và 21,1 trên ViTextVQA. H2 chỉ ủng hộ một phần: OCR cộng hưởng mạnh với QLoRA, nhưng ANLS chỉ tăng 1,55 điểm, dưới ngưỡng 3 điểm đã đặt — nhóm báo đúng như vậy. H3 chưa được ủng hộ với dạng few-shot đã thử. H4: duyệt tay 200 lỗi của B2 cho thấy chỉ khoảng 7% là hallucination thật; nhưng H4 so với zero-shot nên cần đo B1 ở tuần 11 — vẫn để Đang chờ. Hai dòng cuối không phải giả thuyết: hiệu quả 4-bit là số đo, giữ 94,5% độ chính xác với VRAM giảm 77%; ablation cấu hình LoRA làm ở tuần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tuần 10 đến tuần 13: train QLoRA nhận biết OCR trên toàn bộ dữ liệu ViTextVQA để xem có vượt B2 không, ablation rank và module gắn LoRA, đo hallucination có hệ thống kể cả B1 và B3 để kết luận H4, adapter dùng chung là tuỳ chọn, rồi dựng prototype web: tải ảnh, chạy OCR, hỏi bằng tiếng Việt — cho Review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Cảm ơn hội đồng đã lắng nghe. Nhóm sẵn sàng trả lời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3294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11094415" cy="109728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3" name="Text 0"/>
          <p:cNvSpPr/>
          <p:nvPr>
            <p:ph idx="101" type="body" hasCustomPrompt="1"/>
          </p:nvPr>
        </p:nvSpPr>
        <p:spPr>
          <a:xfrm>
            <a:off x="548640" y="2743200"/>
            <a:ext cx="11094415" cy="3291840"/>
          </a:xfrm>
          <a:prstGeom prst="rect">
            <a:avLst/>
          </a:prstGeom>
          <a:noFill/>
          <a:ln/>
        </p:spPr>
        <p:txBody>
          <a:bodyPr wrap="square" rtlCol="0"/>
          <a:lstStyle>
            <a:lvl1pPr algn="l" indent="0" marL="0">
              <a:buNone/>
              <a:defRPr lang="en-US" sz="1800" dirty="0">
                <a:solidFill>
                  <a:schemeClr val="bg1"/>
                </a:solidFill>
                <a:latin typeface="Calibri" pitchFamily="34" charset="0"/>
                <a:ea typeface="Calibri" pitchFamily="34" charset="-122"/>
                <a:cs typeface="Calibri" pitchFamily="34" charset="-120"/>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rtlCol="0"/>
          <a:lstStyle>
            <a:lvl1pPr indent="0" marL="0">
              <a:buNone/>
              <a:defRPr lang="en-US" sz="1100" b="1" spc="200" kern="0" dirty="0">
                <a:solidFill>
                  <a:schemeClr val="accent1"/>
                </a:solidFill>
                <a:latin typeface="Calibri" pitchFamily="34" charset="0"/>
                <a:ea typeface="Calibri" pitchFamily="34" charset="-122"/>
                <a:cs typeface="Calibri" pitchFamily="34" charset="-120"/>
              </a:defRPr>
            </a:lvl1pPr>
          </a:lstStyle>
          <a:p>
            <a:pPr indent="0" marL="0">
              <a:buNone/>
            </a:pP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4" name="Text 0"/>
          <p:cNvSpPr/>
          <p:nvPr/>
        </p:nvSpPr>
        <p:spPr>
          <a:xfrm>
            <a:off x="548640" y="6446520"/>
            <a:ext cx="9144000" cy="274320"/>
          </a:xfrm>
          <a:prstGeom prst="rect">
            <a:avLst/>
          </a:prstGeom>
          <a:noFill/>
          <a:ln/>
        </p:spPr>
        <p:txBody>
          <a:bodyPr wrap="square" lIns="0" tIns="0" rIns="0" bIns="0" rtlCol="0" anchor="ctr"/>
          <a:lstStyle/>
          <a:p>
            <a:pPr indent="0" marL="0">
              <a:buNone/>
            </a:pPr>
            <a:r>
              <a:rPr lang="en-US" sz="1000" dirty="0">
                <a:solidFill>
                  <a:schemeClr val="accent3"/>
                </a:solidFill>
                <a:latin typeface="Calibri" pitchFamily="34" charset="0"/>
                <a:ea typeface="Calibri" pitchFamily="34" charset="-122"/>
                <a:cs typeface="Calibri" pitchFamily="34" charset="-120"/>
              </a:rPr>
              <a:t>ViVQA-VLM · Review 2 (cumulative: R1 revised + R2) · GFA26AI35 · FPT University</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11094415" cy="109728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ViVQA-VLM</a:t>
            </a:r>
            <a:endParaRPr lang="en-US" sz="5400" dirty="0"/>
          </a:p>
        </p:txBody>
      </p:sp>
      <p:sp>
        <p:nvSpPr>
          <p:cNvPr id="3" name="Text 0"/>
          <p:cNvSpPr/>
          <p:nvPr>
            <p:ph idx="101" type="body" hasCustomPrompt="1"/>
          </p:nvPr>
        </p:nvSpPr>
        <p:spPr>
          <a:xfrm>
            <a:off x="548640" y="2743200"/>
            <a:ext cx="11094415" cy="3291840"/>
          </a:xfrm>
          <a:prstGeom prst="rect">
            <a:avLst/>
          </a:prstGeom>
          <a:noFill/>
          <a:ln/>
        </p:spPr>
        <p:txBody>
          <a:bodyPr wrap="square" lIns="0" tIns="0" rIns="0" bIns="0" rtlCol="0" anchor="t"/>
          <a:lstStyle/>
          <a:p>
            <a:pPr algn="l" indent="0" marL="0">
              <a:buNone/>
            </a:pPr>
            <a:r>
              <a:rPr lang="en-US" sz="2000" dirty="0">
                <a:solidFill>
                  <a:schemeClr val="bg1"/>
                </a:solidFill>
                <a:latin typeface="Calibri" pitchFamily="34" charset="0"/>
                <a:ea typeface="Calibri" pitchFamily="34" charset="-122"/>
                <a:cs typeface="Calibri" pitchFamily="34" charset="-120"/>
              </a:rPr>
              <a:t>Efficient Vietnamese Visual Question Answering using Vision-Language Models</a:t>
            </a:r>
            <a:endParaRPr lang="en-US" sz="1800" dirty="0"/>
          </a:p>
          <a:p>
            <a:pPr algn="l" indent="0" marL="0">
              <a:buNone/>
            </a:pPr>
            <a:r>
              <a:rPr lang="en-US" sz="1000" dirty="0">
                <a:solidFill>
                  <a:schemeClr val="bg1"/>
                </a:solidFill>
                <a:latin typeface="Calibri" pitchFamily="34" charset="0"/>
                <a:ea typeface="Calibri" pitchFamily="34" charset="-122"/>
                <a:cs typeface="Calibri" pitchFamily="34" charset="-120"/>
              </a:rPr>
              <a:t> </a:t>
            </a:r>
            <a:endParaRPr lang="en-US" sz="1800" dirty="0"/>
          </a:p>
          <a:p>
            <a:pPr algn="l" indent="0" marL="0">
              <a:buNone/>
            </a:pPr>
            <a:r>
              <a:rPr lang="en-US" sz="1800" b="1" dirty="0">
                <a:solidFill>
                  <a:srgbClr val="E8A33D"/>
                </a:solidFill>
                <a:latin typeface="Calibri" pitchFamily="34" charset="0"/>
                <a:ea typeface="Calibri" pitchFamily="34" charset="-122"/>
                <a:cs typeface="Calibri" pitchFamily="34" charset="-120"/>
              </a:rPr>
              <a:t>Review 2 (cumulative)  ·  Part A: Review 1, revised  ·  Part B: baseline, QLoRA and the proposed OCR-aware QLoRA</a:t>
            </a:r>
            <a:endParaRPr lang="en-US" sz="1800" dirty="0"/>
          </a:p>
          <a:p>
            <a:pPr algn="l" indent="0" marL="0">
              <a:buNone/>
            </a:pPr>
            <a:r>
              <a:rPr lang="en-US" sz="1800" dirty="0">
                <a:solidFill>
                  <a:schemeClr val="bg1"/>
                </a:solidFill>
                <a:latin typeface="Calibri" pitchFamily="34" charset="0"/>
                <a:ea typeface="Calibri" pitchFamily="34" charset="-122"/>
                <a:cs typeface="Calibri" pitchFamily="34" charset="-120"/>
              </a:rPr>
              <a:t> </a:t>
            </a:r>
            <a:endParaRPr lang="en-US" sz="1800" dirty="0"/>
          </a:p>
          <a:p>
            <a:pPr algn="l" indent="0" marL="0">
              <a:buNone/>
            </a:pPr>
            <a:r>
              <a:rPr lang="en-US" sz="1500" b="1" dirty="0">
                <a:solidFill>
                  <a:schemeClr val="bg1"/>
                </a:solidFill>
                <a:latin typeface="Calibri" pitchFamily="34" charset="0"/>
                <a:ea typeface="Calibri" pitchFamily="34" charset="-122"/>
                <a:cs typeface="Calibri" pitchFamily="34" charset="-120"/>
              </a:rPr>
              <a:t>Supervisors:  </a:t>
            </a:r>
            <a:pPr algn="l" indent="0" marL="0">
              <a:buNone/>
            </a:pPr>
            <a:r>
              <a:rPr lang="en-US" sz="1500" dirty="0">
                <a:solidFill>
                  <a:schemeClr val="bg1"/>
                </a:solidFill>
                <a:latin typeface="Calibri" pitchFamily="34" charset="0"/>
                <a:ea typeface="Calibri" pitchFamily="34" charset="-122"/>
                <a:cs typeface="Calibri" pitchFamily="34" charset="-120"/>
              </a:rPr>
              <a:t>Đặng Ngọc Minh Đức · Phạm Minh Trí</a:t>
            </a:r>
            <a:endParaRPr lang="en-US" sz="1800" dirty="0"/>
          </a:p>
          <a:p>
            <a:pPr algn="l" indent="0" marL="0">
              <a:buNone/>
            </a:pPr>
            <a:r>
              <a:rPr lang="en-US" sz="1500" b="1" dirty="0">
                <a:solidFill>
                  <a:schemeClr val="bg1"/>
                </a:solidFill>
                <a:latin typeface="Calibri" pitchFamily="34" charset="0"/>
                <a:ea typeface="Calibri" pitchFamily="34" charset="-122"/>
                <a:cs typeface="Calibri" pitchFamily="34" charset="-120"/>
              </a:rPr>
              <a:t>Team:  </a:t>
            </a:r>
            <a:pPr algn="l" indent="0" marL="0">
              <a:buNone/>
            </a:pPr>
            <a:r>
              <a:rPr lang="en-US" sz="1500" dirty="0">
                <a:solidFill>
                  <a:schemeClr val="bg1"/>
                </a:solidFill>
                <a:latin typeface="Calibri" pitchFamily="34" charset="0"/>
                <a:ea typeface="Calibri" pitchFamily="34" charset="-122"/>
                <a:cs typeface="Calibri" pitchFamily="34" charset="-120"/>
              </a:rPr>
              <a:t>Phạm Lê Huy Hoàng (Leader) · Văn Quang Trường · Trần Quốc Huân · Hồ Đắc Toàn</a:t>
            </a:r>
            <a:endParaRPr lang="en-US" sz="1800" dirty="0"/>
          </a:p>
          <a:p>
            <a:pPr algn="l" indent="0" marL="0">
              <a:buNone/>
            </a:pPr>
            <a:r>
              <a:rPr lang="en-US" sz="1500" dirty="0">
                <a:solidFill>
                  <a:schemeClr val="bg1"/>
                </a:solidFill>
                <a:latin typeface="Calibri" pitchFamily="34" charset="0"/>
                <a:ea typeface="Calibri" pitchFamily="34" charset="-122"/>
                <a:cs typeface="Calibri" pitchFamily="34" charset="-120"/>
              </a:rPr>
              <a:t> </a:t>
            </a:r>
            <a:endParaRPr lang="en-US" sz="1800" dirty="0"/>
          </a:p>
          <a:p>
            <a:pPr algn="l" indent="0" marL="0">
              <a:buNone/>
            </a:pPr>
            <a:r>
              <a:rPr lang="en-US" sz="1300" dirty="0">
                <a:solidFill>
                  <a:srgbClr val="A8C4E0"/>
                </a:solidFill>
                <a:latin typeface="Calibri" pitchFamily="34" charset="0"/>
                <a:ea typeface="Calibri" pitchFamily="34" charset="-122"/>
                <a:cs typeface="Calibri" pitchFamily="34" charset="-120"/>
              </a:rPr>
              <a:t>Group GFA26AI35  ·  FPT University  ·  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CONTENTS</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One deck, every review</a:t>
            </a:r>
            <a:endParaRPr lang="en-US" sz="3200" dirty="0"/>
          </a:p>
        </p:txBody>
      </p:sp>
      <p:sp>
        <p:nvSpPr>
          <p:cNvPr id="5" name="card_384"/>
          <p:cNvSpPr/>
          <p:nvPr/>
        </p:nvSpPr>
        <p:spPr>
          <a:xfrm>
            <a:off x="548640" y="1463040"/>
            <a:ext cx="5364328" cy="3657600"/>
          </a:xfrm>
          <a:prstGeom prst="roundRect">
            <a:avLst>
              <a:gd name="adj" fmla="val 2000"/>
            </a:avLst>
          </a:prstGeom>
          <a:solidFill>
            <a:schemeClr val="accent4"/>
          </a:solidFill>
          <a:ln w="12700">
            <a:solidFill>
              <a:schemeClr val="accent4"/>
            </a:solidFill>
            <a:prstDash val="solid"/>
          </a:ln>
        </p:spPr>
      </p:sp>
      <p:sp>
        <p:nvSpPr>
          <p:cNvPr id="6" name="text_385"/>
          <p:cNvSpPr txBox="1"/>
          <p:nvPr/>
        </p:nvSpPr>
        <p:spPr>
          <a:xfrm>
            <a:off x="822960" y="1645920"/>
            <a:ext cx="3535528" cy="50292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Part A · Review 1 (revised)</a:t>
            </a:r>
            <a:endParaRPr lang="en-US" sz="2200" dirty="0"/>
          </a:p>
        </p:txBody>
      </p:sp>
      <p:sp>
        <p:nvSpPr>
          <p:cNvPr id="7" name="text_386"/>
          <p:cNvSpPr txBox="1"/>
          <p:nvPr/>
        </p:nvSpPr>
        <p:spPr>
          <a:xfrm>
            <a:off x="4175608" y="1691640"/>
            <a:ext cx="1463040" cy="457200"/>
          </a:xfrm>
          <a:prstGeom prst="rect">
            <a:avLst/>
          </a:prstGeom>
          <a:noFill/>
          <a:ln/>
        </p:spPr>
        <p:txBody>
          <a:bodyPr wrap="square" lIns="0" tIns="0" rIns="0" bIns="0" rtlCol="0" anchor="t"/>
          <a:lstStyle/>
          <a:p>
            <a:pPr algn="r" indent="0" marL="0">
              <a:buNone/>
            </a:pPr>
            <a:r>
              <a:rPr lang="en-US" sz="1400" b="1" dirty="0">
                <a:solidFill>
                  <a:schemeClr val="accent1"/>
                </a:solidFill>
                <a:latin typeface="Calibri" pitchFamily="34" charset="0"/>
                <a:ea typeface="Calibri" pitchFamily="34" charset="-122"/>
                <a:cs typeface="Calibri" pitchFamily="34" charset="-120"/>
              </a:rPr>
              <a:t>slides 3–16</a:t>
            </a:r>
            <a:endParaRPr lang="en-US" sz="1400" dirty="0"/>
          </a:p>
        </p:txBody>
      </p:sp>
      <p:sp>
        <p:nvSpPr>
          <p:cNvPr id="8" name="list_387"/>
          <p:cNvSpPr txBox="1"/>
          <p:nvPr/>
        </p:nvSpPr>
        <p:spPr>
          <a:xfrm>
            <a:off x="822960" y="2377440"/>
            <a:ext cx="4815688" cy="2560320"/>
          </a:xfrm>
          <a:prstGeom prst="rect">
            <a:avLst/>
          </a:prstGeom>
          <a:noFill/>
          <a:ln/>
        </p:spPr>
        <p:txBody>
          <a:bodyPr wrap="square" lIns="0" tIns="0" rIns="0" bIns="0" rtlCol="0" anchor="t"/>
          <a:lstStyle/>
          <a:p>
            <a:pPr marL="177800" indent="-1778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Response to the 10 reviewer comments (24/09)</a:t>
            </a:r>
            <a:endParaRPr lang="en-US" sz="1700" dirty="0"/>
          </a:p>
          <a:p>
            <a:pPr marL="177800" indent="-1778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Problem, input/output, Vietnamese problems V1–V4</a:t>
            </a:r>
            <a:endParaRPr lang="en-US" sz="1700" dirty="0"/>
          </a:p>
          <a:p>
            <a:pPr marL="177800" indent="-1778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Gaps, prior work, RQ1–RQ4, hypotheses H1–H4</a:t>
            </a:r>
            <a:endParaRPr lang="en-US" sz="1700" dirty="0"/>
          </a:p>
          <a:p>
            <a:pPr marL="177800" indent="-1778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Data, proposed method, QLoRA, token budget</a:t>
            </a:r>
            <a:endParaRPr lang="en-US" sz="1700" dirty="0"/>
          </a:p>
          <a:p>
            <a:pPr marL="177800" indent="-1778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Plan, risks, outputs, team</a:t>
            </a:r>
            <a:endParaRPr lang="en-US" sz="1700" dirty="0"/>
          </a:p>
        </p:txBody>
      </p:sp>
      <p:sp>
        <p:nvSpPr>
          <p:cNvPr id="9" name="card_388"/>
          <p:cNvSpPr/>
          <p:nvPr/>
        </p:nvSpPr>
        <p:spPr>
          <a:xfrm>
            <a:off x="6278728" y="1463040"/>
            <a:ext cx="5364328" cy="3657600"/>
          </a:xfrm>
          <a:prstGeom prst="roundRect">
            <a:avLst>
              <a:gd name="adj" fmla="val 2000"/>
            </a:avLst>
          </a:prstGeom>
          <a:solidFill>
            <a:schemeClr val="accent5"/>
          </a:solidFill>
          <a:ln w="12700">
            <a:solidFill>
              <a:schemeClr val="accent5"/>
            </a:solidFill>
            <a:prstDash val="solid"/>
          </a:ln>
        </p:spPr>
      </p:sp>
      <p:sp>
        <p:nvSpPr>
          <p:cNvPr id="10" name="text_389"/>
          <p:cNvSpPr txBox="1"/>
          <p:nvPr/>
        </p:nvSpPr>
        <p:spPr>
          <a:xfrm>
            <a:off x="6553048" y="1645920"/>
            <a:ext cx="3535528" cy="50292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Part B · Review 2</a:t>
            </a:r>
            <a:endParaRPr lang="en-US" sz="2200" dirty="0"/>
          </a:p>
        </p:txBody>
      </p:sp>
      <p:sp>
        <p:nvSpPr>
          <p:cNvPr id="11" name="text_390"/>
          <p:cNvSpPr txBox="1"/>
          <p:nvPr/>
        </p:nvSpPr>
        <p:spPr>
          <a:xfrm>
            <a:off x="9905695" y="1691640"/>
            <a:ext cx="1463040" cy="457200"/>
          </a:xfrm>
          <a:prstGeom prst="rect">
            <a:avLst/>
          </a:prstGeom>
          <a:noFill/>
          <a:ln/>
        </p:spPr>
        <p:txBody>
          <a:bodyPr wrap="square" lIns="0" tIns="0" rIns="0" bIns="0" rtlCol="0" anchor="t"/>
          <a:lstStyle/>
          <a:p>
            <a:pPr algn="r" indent="0" marL="0">
              <a:buNone/>
            </a:pPr>
            <a:r>
              <a:rPr lang="en-US" sz="1400" b="1" dirty="0">
                <a:solidFill>
                  <a:schemeClr val="accent1"/>
                </a:solidFill>
                <a:latin typeface="Calibri" pitchFamily="34" charset="0"/>
                <a:ea typeface="Calibri" pitchFamily="34" charset="-122"/>
                <a:cs typeface="Calibri" pitchFamily="34" charset="-120"/>
              </a:rPr>
              <a:t>slides 17–36</a:t>
            </a:r>
            <a:endParaRPr lang="en-US" sz="1400" dirty="0"/>
          </a:p>
        </p:txBody>
      </p:sp>
      <p:sp>
        <p:nvSpPr>
          <p:cNvPr id="12" name="list_391"/>
          <p:cNvSpPr txBox="1"/>
          <p:nvPr/>
        </p:nvSpPr>
        <p:spPr>
          <a:xfrm>
            <a:off x="6553048" y="2377440"/>
            <a:ext cx="4815688" cy="2560320"/>
          </a:xfrm>
          <a:prstGeom prst="rect">
            <a:avLst/>
          </a:prstGeom>
          <a:noFill/>
          <a:ln/>
        </p:spPr>
        <p:txBody>
          <a:bodyPr wrap="square" lIns="0" tIns="0" rIns="0" bIns="0" rtlCol="0" anchor="t"/>
          <a:lstStyle/>
          <a:p>
            <a:pPr marL="177800" indent="-1778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Summary and response to advisor feedback (07/10)</a:t>
            </a:r>
            <a:endParaRPr lang="en-US" sz="1700" dirty="0"/>
          </a:p>
          <a:p>
            <a:pPr marL="177800" indent="-1778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Dataset noise, baseline architecture, evaluation protocol</a:t>
            </a:r>
            <a:endParaRPr lang="en-US" sz="1700" dirty="0"/>
          </a:p>
          <a:p>
            <a:pPr marL="177800" indent="-1778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R0 pipeline check, zero-shot B1, backbone ablation</a:t>
            </a:r>
            <a:endParaRPr lang="en-US" sz="1700" dirty="0"/>
          </a:p>
          <a:p>
            <a:pPr marL="177800" indent="-1778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QLoRA B2, controls, SOTA, error analysis</a:t>
            </a:r>
            <a:endParaRPr lang="en-US" sz="1700" dirty="0"/>
          </a:p>
          <a:p>
            <a:pPr marL="177800" indent="-177800">
              <a:spcAft>
                <a:spcPts val="800"/>
              </a:spcAft>
              <a:buSzPct val="100000"/>
              <a:buChar char="•"/>
            </a:pPr>
            <a:r>
              <a:rPr lang="en-US" sz="1700" dirty="0">
                <a:solidFill>
                  <a:schemeClr val="tx1"/>
                </a:solidFill>
                <a:latin typeface="Calibri" pitchFamily="34" charset="0"/>
                <a:ea typeface="Calibri" pitchFamily="34" charset="-122"/>
                <a:cs typeface="Calibri" pitchFamily="34" charset="-120"/>
              </a:rPr>
              <a:t>Proposed OCR-aware QLoRA B3, hypotheses H1–H4, next steps</a:t>
            </a:r>
            <a:endParaRPr lang="en-US" sz="1700" dirty="0"/>
          </a:p>
        </p:txBody>
      </p:sp>
      <p:sp>
        <p:nvSpPr>
          <p:cNvPr id="13" name="text_392"/>
          <p:cNvSpPr txBox="1"/>
          <p:nvPr/>
        </p:nvSpPr>
        <p:spPr>
          <a:xfrm>
            <a:off x="548640" y="5760720"/>
            <a:ext cx="11094415" cy="502920"/>
          </a:xfrm>
          <a:prstGeom prst="rect">
            <a:avLst/>
          </a:prstGeom>
          <a:noFill/>
          <a:ln/>
        </p:spPr>
        <p:txBody>
          <a:bodyPr wrap="square" lIns="0" tIns="0" rIns="0" bIns="0" rtlCol="0" anchor="t"/>
          <a:lstStyle/>
          <a:p>
            <a:pPr indent="0" marL="0">
              <a:buNone/>
            </a:pPr>
            <a:r>
              <a:rPr lang="en-US" sz="1300" dirty="0">
                <a:solidFill>
                  <a:schemeClr val="accent3"/>
                </a:solidFill>
                <a:latin typeface="Calibri" pitchFamily="34" charset="0"/>
                <a:ea typeface="Calibri" pitchFamily="34" charset="-122"/>
                <a:cs typeface="Calibri" pitchFamily="34" charset="-120"/>
              </a:rPr>
              <a:t>Hypotheses use one numbering (H1–H4) across all parts. Parts C (Review 3) and D (final defense) will be appended; earlier parts are revised after each review.</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1 · RESPONSE TO REVIEWER FEEDBACK (24/09)</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Ten reviewer comments and how Part A addresses them</a:t>
            </a:r>
            <a:endParaRPr lang="en-US" sz="3200" dirty="0"/>
          </a:p>
        </p:txBody>
      </p:sp>
      <p:graphicFrame>
        <p:nvGraphicFramePr>
          <p:cNvPr id="4" name="table_195"/>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411480"/>
                <a:gridCol w="4572000"/>
                <a:gridCol w="5010912"/>
                <a:gridCol w="1097280"/>
              </a:tblGrid>
              <a:tr h="4297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Reviewer comment (24/09)</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changed</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Slide</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429768">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Problem unclear; input/output unclear; how Vietnamese differs from English</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One-sentence task; input/output table; four Vietnamese problems V1–V4</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4–5</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29768">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Punctuation, spaces, connectives are only preprocessing</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Preprocessing separated from the research problem; diacritics-removal evidence cited</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29768">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4-bit/16-bit and VRAM hypotheses do not address Vietnamese</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Reduced to H1–H4, each tied to V1–V4; memory moved to measurements</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9</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29768">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No proposed method; no pipeline figure</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One method fixed; 8-step pipeline; prompt template</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11</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29768">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Explain QLoRA; why both LoRA and QLoRA</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QLoRA explained; QLoRA only, because of the hardware</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29768">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Comparing models of different generation / size</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Model-role table; conclusions only on the same backbone</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29768">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Baselines = prior work; need 3 baselines and Vietnamese SOTA</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Prior-work tables for ViTextVQA and ViVQA, with caveats</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29768">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8</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Consider RAG; count tokens</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Token budget per sample; external RAG optional and conditional</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13</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29768">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9</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Preprocess before splitting</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Preprocess → fixed split; tune on dev, report on test</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10, 11</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29768">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Plan not detailed</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Week-by-week table with verifiable outputs</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b="1" dirty="0">
                          <a:solidFill>
                            <a:srgbClr val="243044"/>
                          </a:solidFill>
                          <a:latin typeface="Calibri" pitchFamily="34" charset="0"/>
                          <a:ea typeface="Calibri" pitchFamily="34" charset="-122"/>
                          <a:cs typeface="Calibri" pitchFamily="34" charset="-120"/>
                        </a:rPr>
                        <a:t>14</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1 · 01 · PROBLEM</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Problem statement and input / output</a:t>
            </a:r>
            <a:endParaRPr lang="en-US" sz="3200" dirty="0"/>
          </a:p>
        </p:txBody>
      </p:sp>
      <p:sp>
        <p:nvSpPr>
          <p:cNvPr id="5" name="card_1"/>
          <p:cNvSpPr/>
          <p:nvPr/>
        </p:nvSpPr>
        <p:spPr>
          <a:xfrm>
            <a:off x="548640" y="1371600"/>
            <a:ext cx="11094415" cy="960120"/>
          </a:xfrm>
          <a:prstGeom prst="roundRect">
            <a:avLst>
              <a:gd name="adj" fmla="val 7619"/>
            </a:avLst>
          </a:prstGeom>
          <a:solidFill>
            <a:schemeClr val="accent4"/>
          </a:solidFill>
          <a:ln w="12700">
            <a:solidFill>
              <a:schemeClr val="accent4"/>
            </a:solidFill>
            <a:prstDash val="solid"/>
          </a:ln>
        </p:spPr>
      </p:sp>
      <p:sp>
        <p:nvSpPr>
          <p:cNvPr id="6" name="text_2"/>
          <p:cNvSpPr txBox="1"/>
          <p:nvPr/>
        </p:nvSpPr>
        <p:spPr>
          <a:xfrm>
            <a:off x="822960" y="1371600"/>
            <a:ext cx="10545775" cy="960120"/>
          </a:xfrm>
          <a:prstGeom prst="rect">
            <a:avLst/>
          </a:prstGeom>
          <a:noFill/>
          <a:ln/>
        </p:spPr>
        <p:txBody>
          <a:bodyPr wrap="square" lIns="0" tIns="0" rIns="0" bIns="0" rtlCol="0" anchor="ctr"/>
          <a:lstStyle/>
          <a:p>
            <a:pPr indent="0" marL="0">
              <a:buNone/>
            </a:pPr>
            <a:r>
              <a:rPr lang="en-US" sz="1500" b="1" dirty="0">
                <a:solidFill>
                  <a:srgbClr val="13294B"/>
                </a:solidFill>
                <a:latin typeface="Calibri" pitchFamily="34" charset="0"/>
                <a:ea typeface="Calibri" pitchFamily="34" charset="-122"/>
                <a:cs typeface="Calibri" pitchFamily="34" charset="-120"/>
              </a:rPr>
              <a:t>Task  </a:t>
            </a:r>
            <a:pPr indent="0" marL="0">
              <a:buNone/>
            </a:pPr>
            <a:r>
              <a:rPr lang="en-US" sz="1500" dirty="0">
                <a:solidFill>
                  <a:schemeClr val="tx1"/>
                </a:solidFill>
                <a:latin typeface="Calibri" pitchFamily="34" charset="0"/>
                <a:ea typeface="Calibri" pitchFamily="34" charset="-122"/>
                <a:cs typeface="Calibri" pitchFamily="34" charset="-120"/>
              </a:rPr>
              <a:t>Given an image and a Vietnamese question about it, generate a short Vietnamese answer that is faithful to the image and correctly spelled with tone marks — adapting an open VLM (Qwen2.5-VL-3B) with PEFT (QLoRA) only, on a single Colab GPU.</a:t>
            </a:r>
            <a:endParaRPr lang="en-US" sz="1500" dirty="0"/>
          </a:p>
        </p:txBody>
      </p:sp>
      <p:sp>
        <p:nvSpPr>
          <p:cNvPr id="7" name="box_3"/>
          <p:cNvSpPr/>
          <p:nvPr/>
        </p:nvSpPr>
        <p:spPr>
          <a:xfrm>
            <a:off x="548640" y="2560320"/>
            <a:ext cx="3200400" cy="640080"/>
          </a:xfrm>
          <a:prstGeom prst="roundRect">
            <a:avLst>
              <a:gd name="adj" fmla="val 11429"/>
            </a:avLst>
          </a:prstGeom>
          <a:solidFill>
            <a:srgbClr val="F3F5F8"/>
          </a:solidFill>
          <a:ln w="12700">
            <a:solidFill>
              <a:srgbClr val="E2E7EE"/>
            </a:solidFill>
            <a:prstDash val="solid"/>
          </a:ln>
        </p:spPr>
      </p:sp>
      <p:sp>
        <p:nvSpPr>
          <p:cNvPr id="8" name="text_4"/>
          <p:cNvSpPr txBox="1"/>
          <p:nvPr/>
        </p:nvSpPr>
        <p:spPr>
          <a:xfrm>
            <a:off x="640080" y="2560320"/>
            <a:ext cx="3017520" cy="640080"/>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Image + Vietnamese question</a:t>
            </a:r>
            <a:endParaRPr lang="en-US" sz="1400" dirty="0"/>
          </a:p>
        </p:txBody>
      </p:sp>
      <p:sp>
        <p:nvSpPr>
          <p:cNvPr id="9" name="arrow_5"/>
          <p:cNvSpPr/>
          <p:nvPr/>
        </p:nvSpPr>
        <p:spPr>
          <a:xfrm>
            <a:off x="3848024" y="2743200"/>
            <a:ext cx="548640" cy="274320"/>
          </a:xfrm>
          <a:prstGeom prst="rightArrow">
            <a:avLst/>
          </a:prstGeom>
          <a:solidFill>
            <a:srgbClr val="1C7293"/>
          </a:solidFill>
          <a:ln w="12700">
            <a:solidFill>
              <a:srgbClr val="1C7293"/>
            </a:solidFill>
            <a:prstDash val="solid"/>
          </a:ln>
        </p:spPr>
      </p:sp>
      <p:sp>
        <p:nvSpPr>
          <p:cNvPr id="10" name="box_6"/>
          <p:cNvSpPr/>
          <p:nvPr/>
        </p:nvSpPr>
        <p:spPr>
          <a:xfrm>
            <a:off x="4495648" y="2560320"/>
            <a:ext cx="3200400" cy="640080"/>
          </a:xfrm>
          <a:prstGeom prst="roundRect">
            <a:avLst>
              <a:gd name="adj" fmla="val 11429"/>
            </a:avLst>
          </a:prstGeom>
          <a:solidFill>
            <a:srgbClr val="FBF0DA"/>
          </a:solidFill>
          <a:ln w="12700">
            <a:solidFill>
              <a:srgbClr val="E8A33D"/>
            </a:solidFill>
            <a:prstDash val="solid"/>
          </a:ln>
        </p:spPr>
      </p:sp>
      <p:sp>
        <p:nvSpPr>
          <p:cNvPr id="11" name="text_7"/>
          <p:cNvSpPr txBox="1"/>
          <p:nvPr/>
        </p:nvSpPr>
        <p:spPr>
          <a:xfrm>
            <a:off x="4587088" y="2560320"/>
            <a:ext cx="3017520" cy="640080"/>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Qwen2.5-VL-3B (4-bit) + QLoRA adapter</a:t>
            </a:r>
            <a:endParaRPr lang="en-US" sz="1400" dirty="0"/>
          </a:p>
        </p:txBody>
      </p:sp>
      <p:sp>
        <p:nvSpPr>
          <p:cNvPr id="12" name="arrow_8"/>
          <p:cNvSpPr/>
          <p:nvPr/>
        </p:nvSpPr>
        <p:spPr>
          <a:xfrm>
            <a:off x="7795031" y="2743200"/>
            <a:ext cx="548640" cy="274320"/>
          </a:xfrm>
          <a:prstGeom prst="rightArrow">
            <a:avLst/>
          </a:prstGeom>
          <a:solidFill>
            <a:srgbClr val="1C7293"/>
          </a:solidFill>
          <a:ln w="12700">
            <a:solidFill>
              <a:srgbClr val="1C7293"/>
            </a:solidFill>
            <a:prstDash val="solid"/>
          </a:ln>
        </p:spPr>
      </p:sp>
      <p:sp>
        <p:nvSpPr>
          <p:cNvPr id="13" name="box_9"/>
          <p:cNvSpPr/>
          <p:nvPr/>
        </p:nvSpPr>
        <p:spPr>
          <a:xfrm>
            <a:off x="8442655" y="2560320"/>
            <a:ext cx="3200400" cy="640080"/>
          </a:xfrm>
          <a:prstGeom prst="roundRect">
            <a:avLst>
              <a:gd name="adj" fmla="val 11429"/>
            </a:avLst>
          </a:prstGeom>
          <a:solidFill>
            <a:srgbClr val="F3F5F8"/>
          </a:solidFill>
          <a:ln w="12700">
            <a:solidFill>
              <a:srgbClr val="E2E7EE"/>
            </a:solidFill>
            <a:prstDash val="solid"/>
          </a:ln>
        </p:spPr>
      </p:sp>
      <p:sp>
        <p:nvSpPr>
          <p:cNvPr id="14" name="text_10"/>
          <p:cNvSpPr txBox="1"/>
          <p:nvPr/>
        </p:nvSpPr>
        <p:spPr>
          <a:xfrm>
            <a:off x="8534095" y="2560320"/>
            <a:ext cx="3017520" cy="640080"/>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Short Vietnamese answer</a:t>
            </a:r>
            <a:endParaRPr lang="en-US" sz="1400" dirty="0"/>
          </a:p>
        </p:txBody>
      </p:sp>
      <p:graphicFrame>
        <p:nvGraphicFramePr>
          <p:cNvPr id="5" name="table_11"/>
          <p:cNvGraphicFramePr>
            <a:graphicFrameLocks noGrp="1"/>
          </p:cNvGraphicFramePr>
          <p:nvPr>
            <p:extLst>
              <p:ext uri="{D42A27DB-BD31-4B8C-83A1-F6EECF244321}">
                <p14:modId xmlns:p14="http://schemas.microsoft.com/office/powerpoint/2010/main" val="1579011935"/>
              </p:ext>
            </p:extLst>
          </p:nvPr>
        </p:nvGraphicFramePr>
        <p:xfrm>
          <a:off x="548640" y="3429000"/>
          <a:ext cx="11094415" cy="914400"/>
        </p:xfrm>
        <a:graphic>
          <a:graphicData uri="http://schemas.openxmlformats.org/drawingml/2006/table">
            <a:tbl>
              <a:tblPr/>
              <a:tblGrid>
                <a:gridCol w="2011680"/>
                <a:gridCol w="3291840"/>
                <a:gridCol w="2743200"/>
                <a:gridCol w="3044952"/>
              </a:tblGrid>
              <a:tr h="51206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Component</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Definition</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ViVQA</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ViTextVQA</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512064">
                <a:tc>
                  <a:txBody>
                    <a:bodyPr/>
                    <a:lstStyle/>
                    <a:p>
                      <a:pPr indent="0" marL="0">
                        <a:buNone/>
                      </a:pPr>
                      <a:r>
                        <a:rPr lang="en-US" sz="1300" b="1" dirty="0">
                          <a:solidFill>
                            <a:srgbClr val="243044"/>
                          </a:solidFill>
                          <a:latin typeface="Calibri" pitchFamily="34" charset="0"/>
                          <a:ea typeface="Calibri" pitchFamily="34" charset="-122"/>
                          <a:cs typeface="Calibri" pitchFamily="34" charset="-120"/>
                        </a:rPr>
                        <a:t>Input 1 · Image</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00" dirty="0">
                          <a:solidFill>
                            <a:srgbClr val="243044"/>
                          </a:solidFill>
                          <a:latin typeface="Calibri" pitchFamily="34" charset="0"/>
                          <a:ea typeface="Calibri" pitchFamily="34" charset="-122"/>
                          <a:cs typeface="Calibri" pitchFamily="34" charset="-120"/>
                        </a:rPr>
                        <a:t>RGB image, resized under max_pixels</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00" dirty="0">
                          <a:solidFill>
                            <a:srgbClr val="243044"/>
                          </a:solidFill>
                          <a:latin typeface="Calibri" pitchFamily="34" charset="0"/>
                          <a:ea typeface="Calibri" pitchFamily="34" charset="-122"/>
                          <a:cs typeface="Calibri" pitchFamily="34" charset="-120"/>
                        </a:rPr>
                        <a:t>Everyday photos (MS COCO), not text-centric</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00" dirty="0">
                          <a:solidFill>
                            <a:srgbClr val="243044"/>
                          </a:solidFill>
                          <a:latin typeface="Calibri" pitchFamily="34" charset="0"/>
                          <a:ea typeface="Calibri" pitchFamily="34" charset="-122"/>
                          <a:cs typeface="Calibri" pitchFamily="34" charset="-120"/>
                        </a:rPr>
                        <a:t>Vietnamese scene text: signs, menus, packaging</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12064">
                <a:tc>
                  <a:txBody>
                    <a:bodyPr/>
                    <a:lstStyle/>
                    <a:p>
                      <a:pPr indent="0" marL="0">
                        <a:buNone/>
                      </a:pPr>
                      <a:r>
                        <a:rPr lang="en-US" sz="1300" b="1" dirty="0">
                          <a:solidFill>
                            <a:srgbClr val="243044"/>
                          </a:solidFill>
                          <a:latin typeface="Calibri" pitchFamily="34" charset="0"/>
                          <a:ea typeface="Calibri" pitchFamily="34" charset="-122"/>
                          <a:cs typeface="Calibri" pitchFamily="34" charset="-120"/>
                        </a:rPr>
                        <a:t>Input 2 · Question</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00" dirty="0">
                          <a:solidFill>
                            <a:srgbClr val="243044"/>
                          </a:solidFill>
                          <a:latin typeface="Calibri" pitchFamily="34" charset="0"/>
                          <a:ea typeface="Calibri" pitchFamily="34" charset="-122"/>
                          <a:cs typeface="Calibri" pitchFamily="34" charset="-120"/>
                        </a:rPr>
                        <a:t>Vietnamese text, Unicode NFC</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00" dirty="0">
                          <a:solidFill>
                            <a:srgbClr val="243044"/>
                          </a:solidFill>
                          <a:latin typeface="Calibri" pitchFamily="34" charset="0"/>
                          <a:ea typeface="Calibri" pitchFamily="34" charset="-122"/>
                          <a:cs typeface="Calibri" pitchFamily="34" charset="-120"/>
                        </a:rPr>
                        <a:t>Short, semi-automatically generated</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00" dirty="0">
                          <a:solidFill>
                            <a:srgbClr val="243044"/>
                          </a:solidFill>
                          <a:latin typeface="Calibri" pitchFamily="34" charset="0"/>
                          <a:ea typeface="Calibri" pitchFamily="34" charset="-122"/>
                          <a:cs typeface="Calibri" pitchFamily="34" charset="-120"/>
                        </a:rPr>
                        <a:t>Human-written, 9.59 words on average</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12064">
                <a:tc>
                  <a:txBody>
                    <a:bodyPr/>
                    <a:lstStyle/>
                    <a:p>
                      <a:pPr indent="0" marL="0">
                        <a:buNone/>
                      </a:pPr>
                      <a:r>
                        <a:rPr lang="en-US" sz="1300" b="1" dirty="0">
                          <a:solidFill>
                            <a:srgbClr val="243044"/>
                          </a:solidFill>
                          <a:latin typeface="Calibri" pitchFamily="34" charset="0"/>
                          <a:ea typeface="Calibri" pitchFamily="34" charset="-122"/>
                          <a:cs typeface="Calibri" pitchFamily="34" charset="-120"/>
                        </a:rPr>
                        <a:t>Output · Answer</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00" dirty="0">
                          <a:solidFill>
                            <a:srgbClr val="243044"/>
                          </a:solidFill>
                          <a:latin typeface="Calibri" pitchFamily="34" charset="0"/>
                          <a:ea typeface="Calibri" pitchFamily="34" charset="-122"/>
                          <a:cs typeface="Calibri" pitchFamily="34" charset="-120"/>
                        </a:rPr>
                        <a:t>Free-form Vietnamese text with tone marks</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00" dirty="0">
                          <a:solidFill>
                            <a:srgbClr val="243044"/>
                          </a:solidFill>
                          <a:latin typeface="Calibri" pitchFamily="34" charset="0"/>
                          <a:ea typeface="Calibri" pitchFamily="34" charset="-122"/>
                          <a:cs typeface="Calibri" pitchFamily="34" charset="-120"/>
                        </a:rPr>
                        <a:t>99.83% of answers ≤ 3 words</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00" dirty="0">
                          <a:solidFill>
                            <a:srgbClr val="243044"/>
                          </a:solidFill>
                          <a:latin typeface="Calibri" pitchFamily="34" charset="0"/>
                          <a:ea typeface="Calibri" pitchFamily="34" charset="-122"/>
                          <a:cs typeface="Calibri" pitchFamily="34" charset="-120"/>
                        </a:rPr>
                        <a:t>4.18 words on average; a span of text in the image</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12064">
                <a:tc>
                  <a:txBody>
                    <a:bodyPr/>
                    <a:lstStyle/>
                    <a:p>
                      <a:pPr indent="0" marL="0">
                        <a:buNone/>
                      </a:pPr>
                      <a:r>
                        <a:rPr lang="en-US" sz="1300" b="1" dirty="0">
                          <a:solidFill>
                            <a:srgbClr val="243044"/>
                          </a:solidFill>
                          <a:latin typeface="Calibri" pitchFamily="34" charset="0"/>
                          <a:ea typeface="Calibri" pitchFamily="34" charset="-122"/>
                          <a:cs typeface="Calibri" pitchFamily="34" charset="-120"/>
                        </a:rPr>
                        <a:t>Evaluation</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00" dirty="0">
                          <a:solidFill>
                            <a:srgbClr val="243044"/>
                          </a:solidFill>
                          <a:latin typeface="Calibri" pitchFamily="34" charset="0"/>
                          <a:ea typeface="Calibri" pitchFamily="34" charset="-122"/>
                          <a:cs typeface="Calibri" pitchFamily="34" charset="-120"/>
                        </a:rPr>
                        <a:t>Compared with gold after the same normalization</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00" dirty="0">
                          <a:solidFill>
                            <a:srgbClr val="243044"/>
                          </a:solidFill>
                          <a:latin typeface="Calibri" pitchFamily="34" charset="0"/>
                          <a:ea typeface="Calibri" pitchFamily="34" charset="-122"/>
                          <a:cs typeface="Calibri" pitchFamily="34" charset="-120"/>
                        </a:rPr>
                        <a:t>EM · VQA-Acc</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00" dirty="0">
                          <a:solidFill>
                            <a:srgbClr val="243044"/>
                          </a:solidFill>
                          <a:latin typeface="Calibri" pitchFamily="34" charset="0"/>
                          <a:ea typeface="Calibri" pitchFamily="34" charset="-122"/>
                          <a:cs typeface="Calibri" pitchFamily="34" charset="-120"/>
                        </a:rPr>
                        <a:t>ANLS · EM</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1 · 01 · WHY VIETNAMESE IS DIFFERENT</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Four Vietnamese-specific problems (V1–V4)</a:t>
            </a:r>
            <a:endParaRPr lang="en-US" sz="3200" dirty="0"/>
          </a:p>
        </p:txBody>
      </p:sp>
      <p:sp>
        <p:nvSpPr>
          <p:cNvPr id="5" name="card_12"/>
          <p:cNvSpPr/>
          <p:nvPr/>
        </p:nvSpPr>
        <p:spPr>
          <a:xfrm>
            <a:off x="548640" y="1371600"/>
            <a:ext cx="2567864" cy="3154680"/>
          </a:xfrm>
          <a:prstGeom prst="roundRect">
            <a:avLst>
              <a:gd name="adj" fmla="val 2849"/>
            </a:avLst>
          </a:prstGeom>
          <a:solidFill>
            <a:schemeClr val="accent5"/>
          </a:solidFill>
          <a:ln w="12700">
            <a:solidFill>
              <a:schemeClr val="accent5"/>
            </a:solidFill>
            <a:prstDash val="solid"/>
          </a:ln>
        </p:spPr>
      </p:sp>
      <p:sp>
        <p:nvSpPr>
          <p:cNvPr id="6" name="text_13"/>
          <p:cNvSpPr txBox="1"/>
          <p:nvPr/>
        </p:nvSpPr>
        <p:spPr>
          <a:xfrm>
            <a:off x="777240" y="1508760"/>
            <a:ext cx="914400" cy="457200"/>
          </a:xfrm>
          <a:prstGeom prst="rect">
            <a:avLst/>
          </a:prstGeom>
          <a:noFill/>
          <a:ln/>
        </p:spPr>
        <p:txBody>
          <a:bodyPr wrap="square" lIns="0" tIns="0" rIns="0" bIns="0" rtlCol="0" anchor="t"/>
          <a:lstStyle/>
          <a:p>
            <a:pPr indent="0" marL="0">
              <a:buNone/>
            </a:pPr>
            <a:r>
              <a:rPr lang="en-US" sz="2400" b="1" dirty="0">
                <a:solidFill>
                  <a:srgbClr val="E8A33D"/>
                </a:solidFill>
                <a:latin typeface="Cambria" pitchFamily="34" charset="0"/>
                <a:ea typeface="Cambria" pitchFamily="34" charset="-122"/>
                <a:cs typeface="Cambria" pitchFamily="34" charset="-120"/>
              </a:rPr>
              <a:t>V1</a:t>
            </a:r>
            <a:endParaRPr lang="en-US" sz="2400" dirty="0"/>
          </a:p>
        </p:txBody>
      </p:sp>
      <p:sp>
        <p:nvSpPr>
          <p:cNvPr id="7" name="text_14"/>
          <p:cNvSpPr txBox="1"/>
          <p:nvPr/>
        </p:nvSpPr>
        <p:spPr>
          <a:xfrm>
            <a:off x="777240" y="1965960"/>
            <a:ext cx="2110664" cy="5943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Reading tone-marked text in images</a:t>
            </a:r>
            <a:endParaRPr lang="en-US" sz="1400" dirty="0"/>
          </a:p>
        </p:txBody>
      </p:sp>
      <p:sp>
        <p:nvSpPr>
          <p:cNvPr id="8" name="text_15"/>
          <p:cNvSpPr txBox="1"/>
          <p:nvPr/>
        </p:nvSpPr>
        <p:spPr>
          <a:xfrm>
            <a:off x="777240" y="2560320"/>
            <a:ext cx="2110664" cy="1874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Tone marks are tiny strokes; a wrong mark changes the word (má ≠ mà). A pixel-level perception error that text normalization cannot fix. Evidence: removing diacritics lowers F1 of every ViTextVQA baseline (Nguyen et al., 2024, §7.1).</a:t>
            </a:r>
            <a:endParaRPr lang="en-US" sz="1300" dirty="0"/>
          </a:p>
        </p:txBody>
      </p:sp>
      <p:sp>
        <p:nvSpPr>
          <p:cNvPr id="9" name="card_16"/>
          <p:cNvSpPr/>
          <p:nvPr/>
        </p:nvSpPr>
        <p:spPr>
          <a:xfrm>
            <a:off x="3390824" y="1371600"/>
            <a:ext cx="2567864" cy="3154680"/>
          </a:xfrm>
          <a:prstGeom prst="roundRect">
            <a:avLst>
              <a:gd name="adj" fmla="val 2849"/>
            </a:avLst>
          </a:prstGeom>
          <a:solidFill>
            <a:schemeClr val="bg2"/>
          </a:solidFill>
          <a:ln w="12700">
            <a:solidFill>
              <a:schemeClr val="bg2"/>
            </a:solidFill>
            <a:prstDash val="solid"/>
          </a:ln>
        </p:spPr>
      </p:sp>
      <p:sp>
        <p:nvSpPr>
          <p:cNvPr id="10" name="text_17"/>
          <p:cNvSpPr txBox="1"/>
          <p:nvPr/>
        </p:nvSpPr>
        <p:spPr>
          <a:xfrm>
            <a:off x="3619424" y="1508760"/>
            <a:ext cx="914400" cy="457200"/>
          </a:xfrm>
          <a:prstGeom prst="rect">
            <a:avLst/>
          </a:prstGeom>
          <a:noFill/>
          <a:ln/>
        </p:spPr>
        <p:txBody>
          <a:bodyPr wrap="square" lIns="0" tIns="0" rIns="0" bIns="0" rtlCol="0" anchor="t"/>
          <a:lstStyle/>
          <a:p>
            <a:pPr indent="0" marL="0">
              <a:buNone/>
            </a:pPr>
            <a:r>
              <a:rPr lang="en-US" sz="2400" b="1" dirty="0">
                <a:solidFill>
                  <a:srgbClr val="1C7293"/>
                </a:solidFill>
                <a:latin typeface="Cambria" pitchFamily="34" charset="0"/>
                <a:ea typeface="Cambria" pitchFamily="34" charset="-122"/>
                <a:cs typeface="Cambria" pitchFamily="34" charset="-120"/>
              </a:rPr>
              <a:t>V2</a:t>
            </a:r>
            <a:endParaRPr lang="en-US" sz="2400" dirty="0"/>
          </a:p>
        </p:txBody>
      </p:sp>
      <p:sp>
        <p:nvSpPr>
          <p:cNvPr id="11" name="text_18"/>
          <p:cNvSpPr txBox="1"/>
          <p:nvPr/>
        </p:nvSpPr>
        <p:spPr>
          <a:xfrm>
            <a:off x="3619424" y="1965960"/>
            <a:ext cx="2110664" cy="5943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Wrong language or wrong format</a:t>
            </a:r>
            <a:endParaRPr lang="en-US" sz="1400" dirty="0"/>
          </a:p>
        </p:txBody>
      </p:sp>
      <p:sp>
        <p:nvSpPr>
          <p:cNvPr id="12" name="text_19"/>
          <p:cNvSpPr txBox="1"/>
          <p:nvPr/>
        </p:nvSpPr>
        <p:spPr>
          <a:xfrm>
            <a:off x="3619424" y="2560320"/>
            <a:ext cx="2110664" cy="1874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VLMs pretrained mostly on English/Chinese answer in English, mix languages (code-switching) or answer verbosely → EM = 0 even when the content is right.</a:t>
            </a:r>
            <a:endParaRPr lang="en-US" sz="1300" dirty="0"/>
          </a:p>
        </p:txBody>
      </p:sp>
      <p:sp>
        <p:nvSpPr>
          <p:cNvPr id="13" name="card_20"/>
          <p:cNvSpPr/>
          <p:nvPr/>
        </p:nvSpPr>
        <p:spPr>
          <a:xfrm>
            <a:off x="6233008" y="1371600"/>
            <a:ext cx="2567864" cy="3154680"/>
          </a:xfrm>
          <a:prstGeom prst="roundRect">
            <a:avLst>
              <a:gd name="adj" fmla="val 2849"/>
            </a:avLst>
          </a:prstGeom>
          <a:solidFill>
            <a:schemeClr val="bg2"/>
          </a:solidFill>
          <a:ln w="12700">
            <a:solidFill>
              <a:schemeClr val="bg2"/>
            </a:solidFill>
            <a:prstDash val="solid"/>
          </a:ln>
        </p:spPr>
      </p:sp>
      <p:sp>
        <p:nvSpPr>
          <p:cNvPr id="14" name="text_21"/>
          <p:cNvSpPr txBox="1"/>
          <p:nvPr/>
        </p:nvSpPr>
        <p:spPr>
          <a:xfrm>
            <a:off x="6461608" y="1508760"/>
            <a:ext cx="914400" cy="457200"/>
          </a:xfrm>
          <a:prstGeom prst="rect">
            <a:avLst/>
          </a:prstGeom>
          <a:noFill/>
          <a:ln/>
        </p:spPr>
        <p:txBody>
          <a:bodyPr wrap="square" lIns="0" tIns="0" rIns="0" bIns="0" rtlCol="0" anchor="t"/>
          <a:lstStyle/>
          <a:p>
            <a:pPr indent="0" marL="0">
              <a:buNone/>
            </a:pPr>
            <a:r>
              <a:rPr lang="en-US" sz="2400" b="1" dirty="0">
                <a:solidFill>
                  <a:srgbClr val="1C7293"/>
                </a:solidFill>
                <a:latin typeface="Cambria" pitchFamily="34" charset="0"/>
                <a:ea typeface="Cambria" pitchFamily="34" charset="-122"/>
                <a:cs typeface="Cambria" pitchFamily="34" charset="-120"/>
              </a:rPr>
              <a:t>V3</a:t>
            </a:r>
            <a:endParaRPr lang="en-US" sz="2400" dirty="0"/>
          </a:p>
        </p:txBody>
      </p:sp>
      <p:sp>
        <p:nvSpPr>
          <p:cNvPr id="15" name="text_22"/>
          <p:cNvSpPr txBox="1"/>
          <p:nvPr/>
        </p:nvSpPr>
        <p:spPr>
          <a:xfrm>
            <a:off x="6461608" y="1965960"/>
            <a:ext cx="2110664" cy="5943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Text order and word boundaries</a:t>
            </a:r>
            <a:endParaRPr lang="en-US" sz="1400" dirty="0"/>
          </a:p>
        </p:txBody>
      </p:sp>
      <p:sp>
        <p:nvSpPr>
          <p:cNvPr id="16" name="text_23"/>
          <p:cNvSpPr txBox="1"/>
          <p:nvPr/>
        </p:nvSpPr>
        <p:spPr>
          <a:xfrm>
            <a:off x="6461608" y="2560320"/>
            <a:ext cx="2110664" cy="1874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Spaces separate syllables, not words (“thời gian” is one word). Text read in the wrong order breaks words. Evidence: top-left → bottom-right OCR order helps most models (Nguyen et al., 2024, §6.4).</a:t>
            </a:r>
            <a:endParaRPr lang="en-US" sz="1300" dirty="0"/>
          </a:p>
        </p:txBody>
      </p:sp>
      <p:sp>
        <p:nvSpPr>
          <p:cNvPr id="17" name="card_24"/>
          <p:cNvSpPr/>
          <p:nvPr/>
        </p:nvSpPr>
        <p:spPr>
          <a:xfrm>
            <a:off x="9075191" y="1371600"/>
            <a:ext cx="2567864" cy="3154680"/>
          </a:xfrm>
          <a:prstGeom prst="roundRect">
            <a:avLst>
              <a:gd name="adj" fmla="val 2849"/>
            </a:avLst>
          </a:prstGeom>
          <a:solidFill>
            <a:schemeClr val="bg2"/>
          </a:solidFill>
          <a:ln w="12700">
            <a:solidFill>
              <a:schemeClr val="bg2"/>
            </a:solidFill>
            <a:prstDash val="solid"/>
          </a:ln>
        </p:spPr>
      </p:sp>
      <p:sp>
        <p:nvSpPr>
          <p:cNvPr id="18" name="text_25"/>
          <p:cNvSpPr txBox="1"/>
          <p:nvPr/>
        </p:nvSpPr>
        <p:spPr>
          <a:xfrm>
            <a:off x="9303791" y="1508760"/>
            <a:ext cx="914400" cy="457200"/>
          </a:xfrm>
          <a:prstGeom prst="rect">
            <a:avLst/>
          </a:prstGeom>
          <a:noFill/>
          <a:ln/>
        </p:spPr>
        <p:txBody>
          <a:bodyPr wrap="square" lIns="0" tIns="0" rIns="0" bIns="0" rtlCol="0" anchor="t"/>
          <a:lstStyle/>
          <a:p>
            <a:pPr indent="0" marL="0">
              <a:buNone/>
            </a:pPr>
            <a:r>
              <a:rPr lang="en-US" sz="2400" b="1" dirty="0">
                <a:solidFill>
                  <a:srgbClr val="1C7293"/>
                </a:solidFill>
                <a:latin typeface="Cambria" pitchFamily="34" charset="0"/>
                <a:ea typeface="Cambria" pitchFamily="34" charset="-122"/>
                <a:cs typeface="Cambria" pitchFamily="34" charset="-120"/>
              </a:rPr>
              <a:t>V4</a:t>
            </a:r>
            <a:endParaRPr lang="en-US" sz="2400" dirty="0"/>
          </a:p>
        </p:txBody>
      </p:sp>
      <p:sp>
        <p:nvSpPr>
          <p:cNvPr id="19" name="text_26"/>
          <p:cNvSpPr txBox="1"/>
          <p:nvPr/>
        </p:nvSpPr>
        <p:spPr>
          <a:xfrm>
            <a:off x="9303791" y="1965960"/>
            <a:ext cx="2110664" cy="5943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Hallucination</a:t>
            </a:r>
            <a:endParaRPr lang="en-US" sz="1400" dirty="0"/>
          </a:p>
        </p:txBody>
      </p:sp>
      <p:sp>
        <p:nvSpPr>
          <p:cNvPr id="20" name="text_27"/>
          <p:cNvSpPr txBox="1"/>
          <p:nvPr/>
        </p:nvSpPr>
        <p:spPr>
          <a:xfrm>
            <a:off x="9303791" y="2560320"/>
            <a:ext cx="2110664" cy="1874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Fluent answers about objects or text that are not in the image. No POPE-style hallucination evaluation exists yet for Vietnamese VQA (gap G4).</a:t>
            </a:r>
            <a:endParaRPr lang="en-US" sz="1300" dirty="0"/>
          </a:p>
        </p:txBody>
      </p:sp>
      <p:sp>
        <p:nvSpPr>
          <p:cNvPr id="21" name="card_28"/>
          <p:cNvSpPr/>
          <p:nvPr/>
        </p:nvSpPr>
        <p:spPr>
          <a:xfrm>
            <a:off x="548640" y="4709160"/>
            <a:ext cx="5364328" cy="1554480"/>
          </a:xfrm>
          <a:prstGeom prst="roundRect">
            <a:avLst>
              <a:gd name="adj" fmla="val 4706"/>
            </a:avLst>
          </a:prstGeom>
          <a:solidFill>
            <a:schemeClr val="bg2"/>
          </a:solidFill>
          <a:ln w="12700">
            <a:solidFill>
              <a:schemeClr val="bg2"/>
            </a:solidFill>
            <a:prstDash val="solid"/>
          </a:ln>
        </p:spPr>
      </p:sp>
      <p:sp>
        <p:nvSpPr>
          <p:cNvPr id="22" name="text_29"/>
          <p:cNvSpPr txBox="1"/>
          <p:nvPr/>
        </p:nvSpPr>
        <p:spPr>
          <a:xfrm>
            <a:off x="777240" y="4818888"/>
            <a:ext cx="4907128" cy="3657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Preprocessing — required engineering, not a contribution</a:t>
            </a:r>
            <a:endParaRPr lang="en-US" sz="1400" dirty="0"/>
          </a:p>
        </p:txBody>
      </p:sp>
      <p:sp>
        <p:nvSpPr>
          <p:cNvPr id="23" name="list_30"/>
          <p:cNvSpPr txBox="1"/>
          <p:nvPr/>
        </p:nvSpPr>
        <p:spPr>
          <a:xfrm>
            <a:off x="777240" y="5212080"/>
            <a:ext cx="4907128" cy="1005840"/>
          </a:xfrm>
          <a:prstGeom prst="rect">
            <a:avLst/>
          </a:prstGeom>
          <a:noFill/>
          <a:ln/>
        </p:spPr>
        <p:txBody>
          <a:bodyPr wrap="square" lIns="0" tIns="0" rIns="0" bIns="0" rtlCol="0" anchor="t"/>
          <a:lstStyle/>
          <a:p>
            <a:pPr marL="177800" indent="-177800">
              <a:spcAft>
                <a:spcPts val="200"/>
              </a:spcAft>
              <a:buSzPct val="100000"/>
              <a:buChar char="•"/>
            </a:pPr>
            <a:r>
              <a:rPr lang="en-US" sz="1250" dirty="0">
                <a:solidFill>
                  <a:schemeClr val="tx1"/>
                </a:solidFill>
                <a:latin typeface="Calibri" pitchFamily="34" charset="0"/>
                <a:ea typeface="Calibri" pitchFamily="34" charset="-122"/>
                <a:cs typeface="Calibri" pitchFamily="34" charset="-120"/>
              </a:rPr>
              <a:t>Unicode NFC, lowercase, strip punctuation, collapse spaces</a:t>
            </a:r>
            <a:endParaRPr lang="en-US" sz="1250" dirty="0"/>
          </a:p>
          <a:p>
            <a:pPr marL="177800" indent="-177800">
              <a:spcAft>
                <a:spcPts val="200"/>
              </a:spcAft>
              <a:buSzPct val="100000"/>
              <a:buChar char="•"/>
            </a:pPr>
            <a:r>
              <a:rPr lang="en-US" sz="1250" dirty="0">
                <a:solidFill>
                  <a:schemeClr val="tx1"/>
                </a:solidFill>
                <a:latin typeface="Calibri" pitchFamily="34" charset="0"/>
                <a:ea typeface="Calibri" pitchFamily="34" charset="-122"/>
                <a:cs typeface="Calibri" pitchFamily="34" charset="-120"/>
              </a:rPr>
              <a:t>Same normalization for gold and prediction before scoring</a:t>
            </a:r>
            <a:endParaRPr lang="en-US" sz="1250" dirty="0"/>
          </a:p>
          <a:p>
            <a:pPr marL="177800" indent="-177800">
              <a:spcAft>
                <a:spcPts val="200"/>
              </a:spcAft>
              <a:buSzPct val="100000"/>
              <a:buChar char="•"/>
            </a:pPr>
            <a:r>
              <a:rPr lang="en-US" sz="1250" dirty="0">
                <a:solidFill>
                  <a:schemeClr val="tx1"/>
                </a:solidFill>
                <a:latin typeface="Calibri" pitchFamily="34" charset="0"/>
                <a:ea typeface="Calibri" pitchFamily="34" charset="-122"/>
                <a:cs typeface="Calibri" pitchFamily="34" charset="-120"/>
              </a:rPr>
              <a:t>Resize images under max_pixels</a:t>
            </a:r>
            <a:endParaRPr lang="en-US" sz="1250" dirty="0"/>
          </a:p>
        </p:txBody>
      </p:sp>
      <p:sp>
        <p:nvSpPr>
          <p:cNvPr id="24" name="card_31"/>
          <p:cNvSpPr/>
          <p:nvPr/>
        </p:nvSpPr>
        <p:spPr>
          <a:xfrm>
            <a:off x="6278728" y="4709160"/>
            <a:ext cx="5364328" cy="1554480"/>
          </a:xfrm>
          <a:prstGeom prst="roundRect">
            <a:avLst>
              <a:gd name="adj" fmla="val 4706"/>
            </a:avLst>
          </a:prstGeom>
          <a:solidFill>
            <a:schemeClr val="accent4"/>
          </a:solidFill>
          <a:ln w="12700">
            <a:solidFill>
              <a:schemeClr val="accent4"/>
            </a:solidFill>
            <a:prstDash val="solid"/>
          </a:ln>
        </p:spPr>
      </p:sp>
      <p:sp>
        <p:nvSpPr>
          <p:cNvPr id="25" name="text_32"/>
          <p:cNvSpPr txBox="1"/>
          <p:nvPr/>
        </p:nvSpPr>
        <p:spPr>
          <a:xfrm>
            <a:off x="6507328" y="4818888"/>
            <a:ext cx="4907128" cy="3657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Research problem — the focus of the thesis</a:t>
            </a:r>
            <a:endParaRPr lang="en-US" sz="1400" dirty="0"/>
          </a:p>
        </p:txBody>
      </p:sp>
      <p:sp>
        <p:nvSpPr>
          <p:cNvPr id="26" name="list_33"/>
          <p:cNvSpPr txBox="1"/>
          <p:nvPr/>
        </p:nvSpPr>
        <p:spPr>
          <a:xfrm>
            <a:off x="6507328" y="5212080"/>
            <a:ext cx="4907128" cy="1005840"/>
          </a:xfrm>
          <a:prstGeom prst="rect">
            <a:avLst/>
          </a:prstGeom>
          <a:noFill/>
          <a:ln/>
        </p:spPr>
        <p:txBody>
          <a:bodyPr wrap="square" lIns="0" tIns="0" rIns="0" bIns="0" rtlCol="0" anchor="t"/>
          <a:lstStyle/>
          <a:p>
            <a:pPr marL="177800" indent="-177800">
              <a:spcAft>
                <a:spcPts val="200"/>
              </a:spcAft>
              <a:buSzPct val="100000"/>
              <a:buChar char="•"/>
            </a:pPr>
            <a:r>
              <a:rPr lang="en-US" sz="1250" dirty="0">
                <a:solidFill>
                  <a:schemeClr val="tx1"/>
                </a:solidFill>
                <a:latin typeface="Calibri" pitchFamily="34" charset="0"/>
                <a:ea typeface="Calibri" pitchFamily="34" charset="-122"/>
                <a:cs typeface="Calibri" pitchFamily="34" charset="-120"/>
              </a:rPr>
              <a:t>Read tone-marked text correctly from the image (V1, V3)</a:t>
            </a:r>
            <a:endParaRPr lang="en-US" sz="1250" dirty="0"/>
          </a:p>
          <a:p>
            <a:pPr marL="177800" indent="-177800">
              <a:spcAft>
                <a:spcPts val="200"/>
              </a:spcAft>
              <a:buSzPct val="100000"/>
              <a:buChar char="•"/>
            </a:pPr>
            <a:r>
              <a:rPr lang="en-US" sz="1250" dirty="0">
                <a:solidFill>
                  <a:schemeClr val="tx1"/>
                </a:solidFill>
                <a:latin typeface="Calibri" pitchFamily="34" charset="0"/>
                <a:ea typeface="Calibri" pitchFamily="34" charset="-122"/>
                <a:cs typeface="Calibri" pitchFamily="34" charset="-120"/>
              </a:rPr>
              <a:t>Answer in the right language and format (V2); do not hallucinate (V4)</a:t>
            </a:r>
            <a:endParaRPr lang="en-US" sz="1250" dirty="0"/>
          </a:p>
          <a:p>
            <a:pPr marL="177800" indent="-177800">
              <a:spcAft>
                <a:spcPts val="200"/>
              </a:spcAft>
              <a:buSzPct val="100000"/>
              <a:buChar char="•"/>
            </a:pPr>
            <a:r>
              <a:rPr lang="en-US" sz="1250" dirty="0">
                <a:solidFill>
                  <a:schemeClr val="tx1"/>
                </a:solidFill>
                <a:latin typeface="Calibri" pitchFamily="34" charset="0"/>
                <a:ea typeface="Calibri" pitchFamily="34" charset="-122"/>
                <a:cs typeface="Calibri" pitchFamily="34" charset="-120"/>
              </a:rPr>
              <a:t>Achieve this with PEFT only, on one Colab GPU</a:t>
            </a:r>
            <a:endParaRPr lang="en-US" sz="125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1 · 02 · RESEARCH GAPS</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Four gaps — G3 is the focus</a:t>
            </a:r>
            <a:endParaRPr lang="en-US" sz="3200" dirty="0"/>
          </a:p>
        </p:txBody>
      </p:sp>
      <p:sp>
        <p:nvSpPr>
          <p:cNvPr id="5" name="card_34"/>
          <p:cNvSpPr/>
          <p:nvPr/>
        </p:nvSpPr>
        <p:spPr>
          <a:xfrm>
            <a:off x="548640" y="1371600"/>
            <a:ext cx="2567864" cy="4206240"/>
          </a:xfrm>
          <a:prstGeom prst="roundRect">
            <a:avLst>
              <a:gd name="adj" fmla="val 2849"/>
            </a:avLst>
          </a:prstGeom>
          <a:solidFill>
            <a:schemeClr val="bg2"/>
          </a:solidFill>
          <a:ln w="12700">
            <a:solidFill>
              <a:schemeClr val="bg2"/>
            </a:solidFill>
            <a:prstDash val="solid"/>
          </a:ln>
        </p:spPr>
      </p:sp>
      <p:sp>
        <p:nvSpPr>
          <p:cNvPr id="6" name="text_35"/>
          <p:cNvSpPr txBox="1"/>
          <p:nvPr/>
        </p:nvSpPr>
        <p:spPr>
          <a:xfrm>
            <a:off x="777240" y="1554480"/>
            <a:ext cx="2110664" cy="457200"/>
          </a:xfrm>
          <a:prstGeom prst="rect">
            <a:avLst/>
          </a:prstGeom>
          <a:noFill/>
          <a:ln/>
        </p:spPr>
        <p:txBody>
          <a:bodyPr wrap="square" lIns="0" tIns="0" rIns="0" bIns="0" rtlCol="0" anchor="t"/>
          <a:lstStyle/>
          <a:p>
            <a:pPr indent="0" marL="0">
              <a:buNone/>
            </a:pPr>
            <a:r>
              <a:rPr lang="en-US" sz="2200" b="1" dirty="0">
                <a:solidFill>
                  <a:srgbClr val="1C7293"/>
                </a:solidFill>
                <a:latin typeface="Cambria" pitchFamily="34" charset="0"/>
                <a:ea typeface="Cambria" pitchFamily="34" charset="-122"/>
                <a:cs typeface="Cambria" pitchFamily="34" charset="-120"/>
              </a:rPr>
              <a:t>G1</a:t>
            </a:r>
            <a:endParaRPr lang="en-US" sz="2200" dirty="0"/>
          </a:p>
        </p:txBody>
      </p:sp>
      <p:sp>
        <p:nvSpPr>
          <p:cNvPr id="7" name="text_36"/>
          <p:cNvSpPr txBox="1"/>
          <p:nvPr/>
        </p:nvSpPr>
        <p:spPr>
          <a:xfrm>
            <a:off x="777240" y="2103120"/>
            <a:ext cx="2110664" cy="7772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English-biased pretraining</a:t>
            </a:r>
            <a:endParaRPr lang="en-US" sz="1500" dirty="0"/>
          </a:p>
        </p:txBody>
      </p:sp>
      <p:sp>
        <p:nvSpPr>
          <p:cNvPr id="8" name="text_37"/>
          <p:cNvSpPr txBox="1"/>
          <p:nvPr/>
        </p:nvSpPr>
        <p:spPr>
          <a:xfrm>
            <a:off x="777240" y="2926080"/>
            <a:ext cx="2110664" cy="1920240"/>
          </a:xfrm>
          <a:prstGeom prst="rect">
            <a:avLst/>
          </a:prstGeom>
          <a:noFill/>
          <a:ln/>
        </p:spPr>
        <p:txBody>
          <a:bodyPr wrap="square" lIns="0" tIns="0" rIns="0" bIns="0" rtlCol="0" anchor="t"/>
          <a:lstStyle/>
          <a:p>
            <a:pPr indent="0" marL="0">
              <a:buNone/>
            </a:pPr>
            <a:r>
              <a:rPr lang="en-US" sz="1450" dirty="0">
                <a:solidFill>
                  <a:schemeClr val="tx1"/>
                </a:solidFill>
                <a:latin typeface="Calibri" pitchFamily="34" charset="0"/>
                <a:ea typeface="Calibri" pitchFamily="34" charset="-122"/>
                <a:cs typeface="Calibri" pitchFamily="34" charset="-120"/>
              </a:rPr>
              <a:t>VLM alignment is optimized for English; transfer to Vietnamese is under-studied.</a:t>
            </a:r>
            <a:endParaRPr lang="en-US" sz="1450" dirty="0"/>
          </a:p>
        </p:txBody>
      </p:sp>
      <p:sp>
        <p:nvSpPr>
          <p:cNvPr id="9" name="text_38"/>
          <p:cNvSpPr txBox="1"/>
          <p:nvPr/>
        </p:nvSpPr>
        <p:spPr>
          <a:xfrm>
            <a:off x="777240" y="4983480"/>
            <a:ext cx="2110664" cy="457200"/>
          </a:xfrm>
          <a:prstGeom prst="rect">
            <a:avLst/>
          </a:prstGeom>
          <a:noFill/>
          <a:ln/>
        </p:spPr>
        <p:txBody>
          <a:bodyPr wrap="square" lIns="0" tIns="0" rIns="0" bIns="0" rtlCol="0" anchor="b"/>
          <a:lstStyle/>
          <a:p>
            <a:pPr indent="0" marL="0">
              <a:buNone/>
            </a:pPr>
            <a:r>
              <a:rPr lang="en-US" sz="1050" i="1" dirty="0">
                <a:solidFill>
                  <a:schemeClr val="accent3"/>
                </a:solidFill>
                <a:latin typeface="Calibri" pitchFamily="34" charset="0"/>
                <a:ea typeface="Calibri" pitchFamily="34" charset="-122"/>
                <a:cs typeface="Calibri" pitchFamily="34" charset="-120"/>
              </a:rPr>
              <a:t>LLaVA-1.5 (Liu et al., CVPR 2024)</a:t>
            </a:r>
            <a:endParaRPr lang="en-US" sz="1050" dirty="0"/>
          </a:p>
        </p:txBody>
      </p:sp>
      <p:sp>
        <p:nvSpPr>
          <p:cNvPr id="10" name="card_39"/>
          <p:cNvSpPr/>
          <p:nvPr/>
        </p:nvSpPr>
        <p:spPr>
          <a:xfrm>
            <a:off x="3390824" y="1371600"/>
            <a:ext cx="2567864" cy="4206240"/>
          </a:xfrm>
          <a:prstGeom prst="roundRect">
            <a:avLst>
              <a:gd name="adj" fmla="val 2849"/>
            </a:avLst>
          </a:prstGeom>
          <a:solidFill>
            <a:schemeClr val="bg2"/>
          </a:solidFill>
          <a:ln w="12700">
            <a:solidFill>
              <a:schemeClr val="bg2"/>
            </a:solidFill>
            <a:prstDash val="solid"/>
          </a:ln>
        </p:spPr>
      </p:sp>
      <p:sp>
        <p:nvSpPr>
          <p:cNvPr id="11" name="text_40"/>
          <p:cNvSpPr txBox="1"/>
          <p:nvPr/>
        </p:nvSpPr>
        <p:spPr>
          <a:xfrm>
            <a:off x="3619424" y="1554480"/>
            <a:ext cx="2110664" cy="457200"/>
          </a:xfrm>
          <a:prstGeom prst="rect">
            <a:avLst/>
          </a:prstGeom>
          <a:noFill/>
          <a:ln/>
        </p:spPr>
        <p:txBody>
          <a:bodyPr wrap="square" lIns="0" tIns="0" rIns="0" bIns="0" rtlCol="0" anchor="t"/>
          <a:lstStyle/>
          <a:p>
            <a:pPr indent="0" marL="0">
              <a:buNone/>
            </a:pPr>
            <a:r>
              <a:rPr lang="en-US" sz="2200" b="1" dirty="0">
                <a:solidFill>
                  <a:srgbClr val="1C7293"/>
                </a:solidFill>
                <a:latin typeface="Cambria" pitchFamily="34" charset="0"/>
                <a:ea typeface="Cambria" pitchFamily="34" charset="-122"/>
                <a:cs typeface="Cambria" pitchFamily="34" charset="-120"/>
              </a:rPr>
              <a:t>G2</a:t>
            </a:r>
            <a:endParaRPr lang="en-US" sz="2200" dirty="0"/>
          </a:p>
        </p:txBody>
      </p:sp>
      <p:sp>
        <p:nvSpPr>
          <p:cNvPr id="12" name="text_41"/>
          <p:cNvSpPr txBox="1"/>
          <p:nvPr/>
        </p:nvSpPr>
        <p:spPr>
          <a:xfrm>
            <a:off x="3619424" y="2103120"/>
            <a:ext cx="2110664" cy="7772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Weak Vietnamese VQA, especially scene text</a:t>
            </a:r>
            <a:endParaRPr lang="en-US" sz="1500" dirty="0"/>
          </a:p>
        </p:txBody>
      </p:sp>
      <p:sp>
        <p:nvSpPr>
          <p:cNvPr id="13" name="text_42"/>
          <p:cNvSpPr txBox="1"/>
          <p:nvPr/>
        </p:nvSpPr>
        <p:spPr>
          <a:xfrm>
            <a:off x="3619424" y="2926080"/>
            <a:ext cx="2110664" cy="1920240"/>
          </a:xfrm>
          <a:prstGeom prst="rect">
            <a:avLst/>
          </a:prstGeom>
          <a:noFill/>
          <a:ln/>
        </p:spPr>
        <p:txBody>
          <a:bodyPr wrap="square" lIns="0" tIns="0" rIns="0" bIns="0" rtlCol="0" anchor="t"/>
          <a:lstStyle/>
          <a:p>
            <a:pPr indent="0" marL="0">
              <a:buNone/>
            </a:pPr>
            <a:r>
              <a:rPr lang="en-US" sz="1450" dirty="0">
                <a:solidFill>
                  <a:schemeClr val="tx1"/>
                </a:solidFill>
                <a:latin typeface="Calibri" pitchFamily="34" charset="0"/>
                <a:ea typeface="Calibri" pitchFamily="34" charset="-122"/>
                <a:cs typeface="Calibri" pitchFamily="34" charset="-120"/>
              </a:rPr>
              <a:t>Best published ViTextVQA EM is 25.48 vs 88.00 for humans; OCR, tone marks and code-switching remain open.</a:t>
            </a:r>
            <a:endParaRPr lang="en-US" sz="1450" dirty="0"/>
          </a:p>
        </p:txBody>
      </p:sp>
      <p:sp>
        <p:nvSpPr>
          <p:cNvPr id="14" name="text_43"/>
          <p:cNvSpPr txBox="1"/>
          <p:nvPr/>
        </p:nvSpPr>
        <p:spPr>
          <a:xfrm>
            <a:off x="3619424" y="4983480"/>
            <a:ext cx="2110664" cy="457200"/>
          </a:xfrm>
          <a:prstGeom prst="rect">
            <a:avLst/>
          </a:prstGeom>
          <a:noFill/>
          <a:ln/>
        </p:spPr>
        <p:txBody>
          <a:bodyPr wrap="square" lIns="0" tIns="0" rIns="0" bIns="0" rtlCol="0" anchor="b"/>
          <a:lstStyle/>
          <a:p>
            <a:pPr indent="0" marL="0">
              <a:buNone/>
            </a:pPr>
            <a:r>
              <a:rPr lang="en-US" sz="1050" i="1" dirty="0">
                <a:solidFill>
                  <a:schemeClr val="accent3"/>
                </a:solidFill>
                <a:latin typeface="Calibri" pitchFamily="34" charset="0"/>
                <a:ea typeface="Calibri" pitchFamily="34" charset="-122"/>
                <a:cs typeface="Calibri" pitchFamily="34" charset="-120"/>
              </a:rPr>
              <a:t>ViTextVQA (Nguyen et al., 2024)</a:t>
            </a:r>
            <a:endParaRPr lang="en-US" sz="1050" dirty="0"/>
          </a:p>
        </p:txBody>
      </p:sp>
      <p:sp>
        <p:nvSpPr>
          <p:cNvPr id="15" name="card_44"/>
          <p:cNvSpPr/>
          <p:nvPr/>
        </p:nvSpPr>
        <p:spPr>
          <a:xfrm>
            <a:off x="6233008" y="1371600"/>
            <a:ext cx="2567864" cy="4206240"/>
          </a:xfrm>
          <a:prstGeom prst="roundRect">
            <a:avLst>
              <a:gd name="adj" fmla="val 2849"/>
            </a:avLst>
          </a:prstGeom>
          <a:solidFill>
            <a:schemeClr val="accent5"/>
          </a:solidFill>
          <a:ln w="12700">
            <a:solidFill>
              <a:schemeClr val="accent5"/>
            </a:solidFill>
            <a:prstDash val="solid"/>
          </a:ln>
        </p:spPr>
      </p:sp>
      <p:sp>
        <p:nvSpPr>
          <p:cNvPr id="16" name="text_45"/>
          <p:cNvSpPr txBox="1"/>
          <p:nvPr/>
        </p:nvSpPr>
        <p:spPr>
          <a:xfrm>
            <a:off x="6461608" y="1554480"/>
            <a:ext cx="2110664" cy="457200"/>
          </a:xfrm>
          <a:prstGeom prst="rect">
            <a:avLst/>
          </a:prstGeom>
          <a:noFill/>
          <a:ln/>
        </p:spPr>
        <p:txBody>
          <a:bodyPr wrap="square" lIns="0" tIns="0" rIns="0" bIns="0" rtlCol="0" anchor="t"/>
          <a:lstStyle/>
          <a:p>
            <a:pPr indent="0" marL="0">
              <a:buNone/>
            </a:pPr>
            <a:r>
              <a:rPr lang="en-US" sz="2200" b="1" dirty="0">
                <a:solidFill>
                  <a:srgbClr val="E8A33D"/>
                </a:solidFill>
                <a:latin typeface="Cambria" pitchFamily="34" charset="0"/>
                <a:ea typeface="Cambria" pitchFamily="34" charset="-122"/>
                <a:cs typeface="Cambria" pitchFamily="34" charset="-120"/>
              </a:rPr>
              <a:t>G3  · FOCUS</a:t>
            </a:r>
            <a:endParaRPr lang="en-US" sz="2200" dirty="0"/>
          </a:p>
        </p:txBody>
      </p:sp>
      <p:sp>
        <p:nvSpPr>
          <p:cNvPr id="17" name="text_46"/>
          <p:cNvSpPr txBox="1"/>
          <p:nvPr/>
        </p:nvSpPr>
        <p:spPr>
          <a:xfrm>
            <a:off x="6461608" y="2103120"/>
            <a:ext cx="2110664" cy="7772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PEFT for Vietnamese VLMs is unexplored</a:t>
            </a:r>
            <a:endParaRPr lang="en-US" sz="1500" dirty="0"/>
          </a:p>
        </p:txBody>
      </p:sp>
      <p:sp>
        <p:nvSpPr>
          <p:cNvPr id="18" name="text_47"/>
          <p:cNvSpPr txBox="1"/>
          <p:nvPr/>
        </p:nvSpPr>
        <p:spPr>
          <a:xfrm>
            <a:off x="6461608" y="2926080"/>
            <a:ext cx="2110664" cy="1920240"/>
          </a:xfrm>
          <a:prstGeom prst="rect">
            <a:avLst/>
          </a:prstGeom>
          <a:noFill/>
          <a:ln/>
        </p:spPr>
        <p:txBody>
          <a:bodyPr wrap="square" lIns="0" tIns="0" rIns="0" bIns="0" rtlCol="0" anchor="t"/>
          <a:lstStyle/>
          <a:p>
            <a:pPr indent="0" marL="0">
              <a:buNone/>
            </a:pPr>
            <a:r>
              <a:rPr lang="en-US" sz="1450" dirty="0">
                <a:solidFill>
                  <a:schemeClr val="tx1"/>
                </a:solidFill>
                <a:latin typeface="Calibri" pitchFamily="34" charset="0"/>
                <a:ea typeface="Calibri" pitchFamily="34" charset="-122"/>
                <a:cs typeface="Calibri" pitchFamily="34" charset="-120"/>
              </a:rPr>
              <a:t>No systematic study applies LoRA/QLoRA to a VLM for Vietnamese VQA — none of the three Vietnamese VQA papers we surveyed uses PEFT.</a:t>
            </a:r>
            <a:endParaRPr lang="en-US" sz="1450" dirty="0"/>
          </a:p>
        </p:txBody>
      </p:sp>
      <p:sp>
        <p:nvSpPr>
          <p:cNvPr id="19" name="text_48"/>
          <p:cNvSpPr txBox="1"/>
          <p:nvPr/>
        </p:nvSpPr>
        <p:spPr>
          <a:xfrm>
            <a:off x="6461608" y="4983480"/>
            <a:ext cx="2110664" cy="457200"/>
          </a:xfrm>
          <a:prstGeom prst="rect">
            <a:avLst/>
          </a:prstGeom>
          <a:noFill/>
          <a:ln/>
        </p:spPr>
        <p:txBody>
          <a:bodyPr wrap="square" lIns="0" tIns="0" rIns="0" bIns="0" rtlCol="0" anchor="b"/>
          <a:lstStyle/>
          <a:p>
            <a:pPr indent="0" marL="0">
              <a:buNone/>
            </a:pPr>
            <a:r>
              <a:rPr lang="en-US" sz="1050" i="1" dirty="0">
                <a:solidFill>
                  <a:schemeClr val="accent3"/>
                </a:solidFill>
                <a:latin typeface="Calibri" pitchFamily="34" charset="0"/>
                <a:ea typeface="Calibri" pitchFamily="34" charset="-122"/>
                <a:cs typeface="Calibri" pitchFamily="34" charset="-120"/>
              </a:rPr>
              <a:t>Literature Matrix (W2)</a:t>
            </a:r>
            <a:endParaRPr lang="en-US" sz="1050" dirty="0"/>
          </a:p>
        </p:txBody>
      </p:sp>
      <p:sp>
        <p:nvSpPr>
          <p:cNvPr id="20" name="card_49"/>
          <p:cNvSpPr/>
          <p:nvPr/>
        </p:nvSpPr>
        <p:spPr>
          <a:xfrm>
            <a:off x="9075191" y="1371600"/>
            <a:ext cx="2567864" cy="4206240"/>
          </a:xfrm>
          <a:prstGeom prst="roundRect">
            <a:avLst>
              <a:gd name="adj" fmla="val 2849"/>
            </a:avLst>
          </a:prstGeom>
          <a:solidFill>
            <a:schemeClr val="bg2"/>
          </a:solidFill>
          <a:ln w="12700">
            <a:solidFill>
              <a:schemeClr val="bg2"/>
            </a:solidFill>
            <a:prstDash val="solid"/>
          </a:ln>
        </p:spPr>
      </p:sp>
      <p:sp>
        <p:nvSpPr>
          <p:cNvPr id="21" name="text_50"/>
          <p:cNvSpPr txBox="1"/>
          <p:nvPr/>
        </p:nvSpPr>
        <p:spPr>
          <a:xfrm>
            <a:off x="9303791" y="1554480"/>
            <a:ext cx="2110664" cy="457200"/>
          </a:xfrm>
          <a:prstGeom prst="rect">
            <a:avLst/>
          </a:prstGeom>
          <a:noFill/>
          <a:ln/>
        </p:spPr>
        <p:txBody>
          <a:bodyPr wrap="square" lIns="0" tIns="0" rIns="0" bIns="0" rtlCol="0" anchor="t"/>
          <a:lstStyle/>
          <a:p>
            <a:pPr indent="0" marL="0">
              <a:buNone/>
            </a:pPr>
            <a:r>
              <a:rPr lang="en-US" sz="2200" b="1" dirty="0">
                <a:solidFill>
                  <a:srgbClr val="1C7293"/>
                </a:solidFill>
                <a:latin typeface="Cambria" pitchFamily="34" charset="0"/>
                <a:ea typeface="Cambria" pitchFamily="34" charset="-122"/>
                <a:cs typeface="Cambria" pitchFamily="34" charset="-120"/>
              </a:rPr>
              <a:t>G4</a:t>
            </a:r>
            <a:endParaRPr lang="en-US" sz="2200" dirty="0"/>
          </a:p>
        </p:txBody>
      </p:sp>
      <p:sp>
        <p:nvSpPr>
          <p:cNvPr id="22" name="text_51"/>
          <p:cNvSpPr txBox="1"/>
          <p:nvPr/>
        </p:nvSpPr>
        <p:spPr>
          <a:xfrm>
            <a:off x="9303791" y="2103120"/>
            <a:ext cx="2110664" cy="77724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Hallucination not measured for Vietnamese</a:t>
            </a:r>
            <a:endParaRPr lang="en-US" sz="1500" dirty="0"/>
          </a:p>
        </p:txBody>
      </p:sp>
      <p:sp>
        <p:nvSpPr>
          <p:cNvPr id="23" name="text_52"/>
          <p:cNvSpPr txBox="1"/>
          <p:nvPr/>
        </p:nvSpPr>
        <p:spPr>
          <a:xfrm>
            <a:off x="9303791" y="2926080"/>
            <a:ext cx="2110664" cy="1920240"/>
          </a:xfrm>
          <a:prstGeom prst="rect">
            <a:avLst/>
          </a:prstGeom>
          <a:noFill/>
          <a:ln/>
        </p:spPr>
        <p:txBody>
          <a:bodyPr wrap="square" lIns="0" tIns="0" rIns="0" bIns="0" rtlCol="0" anchor="t"/>
          <a:lstStyle/>
          <a:p>
            <a:pPr indent="0" marL="0">
              <a:buNone/>
            </a:pPr>
            <a:r>
              <a:rPr lang="en-US" sz="1450" dirty="0">
                <a:solidFill>
                  <a:schemeClr val="tx1"/>
                </a:solidFill>
                <a:latin typeface="Calibri" pitchFamily="34" charset="0"/>
                <a:ea typeface="Calibri" pitchFamily="34" charset="-122"/>
                <a:cs typeface="Calibri" pitchFamily="34" charset="-120"/>
              </a:rPr>
              <a:t>No POPE-style hallucination benchmark has been evaluated on Vietnamese VQA data.</a:t>
            </a:r>
            <a:endParaRPr lang="en-US" sz="1450" dirty="0"/>
          </a:p>
        </p:txBody>
      </p:sp>
      <p:sp>
        <p:nvSpPr>
          <p:cNvPr id="24" name="text_53"/>
          <p:cNvSpPr txBox="1"/>
          <p:nvPr/>
        </p:nvSpPr>
        <p:spPr>
          <a:xfrm>
            <a:off x="9303791" y="4983480"/>
            <a:ext cx="2110664" cy="457200"/>
          </a:xfrm>
          <a:prstGeom prst="rect">
            <a:avLst/>
          </a:prstGeom>
          <a:noFill/>
          <a:ln/>
        </p:spPr>
        <p:txBody>
          <a:bodyPr wrap="square" lIns="0" tIns="0" rIns="0" bIns="0" rtlCol="0" anchor="b"/>
          <a:lstStyle/>
          <a:p>
            <a:pPr indent="0" marL="0">
              <a:buNone/>
            </a:pPr>
            <a:r>
              <a:rPr lang="en-US" sz="1050" i="1" dirty="0">
                <a:solidFill>
                  <a:schemeClr val="accent3"/>
                </a:solidFill>
                <a:latin typeface="Calibri" pitchFamily="34" charset="0"/>
                <a:ea typeface="Calibri" pitchFamily="34" charset="-122"/>
                <a:cs typeface="Calibri" pitchFamily="34" charset="-120"/>
              </a:rPr>
              <a:t>POPE (Li et al., EMNLP 2023)</a:t>
            </a:r>
            <a:endParaRPr lang="en-US" sz="1050" dirty="0"/>
          </a:p>
        </p:txBody>
      </p:sp>
      <p:sp>
        <p:nvSpPr>
          <p:cNvPr id="25" name="text_54"/>
          <p:cNvSpPr txBox="1"/>
          <p:nvPr/>
        </p:nvSpPr>
        <p:spPr>
          <a:xfrm>
            <a:off x="548640" y="5760720"/>
            <a:ext cx="11094415" cy="502920"/>
          </a:xfrm>
          <a:prstGeom prst="rect">
            <a:avLst/>
          </a:prstGeom>
          <a:noFill/>
          <a:ln/>
        </p:spPr>
        <p:txBody>
          <a:bodyPr wrap="square" lIns="0" tIns="0" rIns="0" bIns="0" rtlCol="0" anchor="t"/>
          <a:lstStyle/>
          <a:p>
            <a:pPr indent="0" marL="0">
              <a:buNone/>
            </a:pPr>
            <a:r>
              <a:rPr lang="en-US" sz="1300" dirty="0">
                <a:solidFill>
                  <a:schemeClr val="accent1"/>
                </a:solidFill>
                <a:latin typeface="Calibri" pitchFamily="34" charset="0"/>
                <a:ea typeface="Calibri" pitchFamily="34" charset="-122"/>
                <a:cs typeface="Calibri" pitchFamily="34" charset="-120"/>
              </a:rPr>
              <a:t>How the deck answers them: G2 → OCR-aware QLoRA on ViTextVQA (Part B · 06) · G3 → QLoRA on Qwen2.5-VL-3B (Part B · 05) · G4 → hallucination audit and H4 (Part B · 05, 07).</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1 · 03 · PRIOR WORK</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Prior work and reference baselines</a:t>
            </a:r>
            <a:endParaRPr lang="en-US" sz="3200" dirty="0"/>
          </a:p>
        </p:txBody>
      </p:sp>
      <p:graphicFrame>
        <p:nvGraphicFramePr>
          <p:cNvPr id="8" name="table_55"/>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3291840"/>
                <a:gridCol w="4690872"/>
                <a:gridCol w="1463040"/>
                <a:gridCol w="822960"/>
                <a:gridCol w="82296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ViTextVQA test · work</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Approach</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Trained params</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EM</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384048">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BLIP-2 large (Li et al., ICML 2023)</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Frozen image encoder + LM, train Q-Former; OCR SwinTextSpotter, LM ViT5</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 8% / 1.4B</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38.47</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15.58</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84048">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PreSTU large (Kil et al., ICCV 2023)</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T5 pretrained for scene text, layout-ordered OCR</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 100% / 860M</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44.93</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22.64</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84048">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ViTextBLIP-2 (Nguyen et al., 2024) — SOTA</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BLIP-2 + OCR + caption, train Q-Former only</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 5% / 2.5B</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b="1" dirty="0">
                          <a:solidFill>
                            <a:srgbClr val="243044"/>
                          </a:solidFill>
                          <a:latin typeface="Calibri" pitchFamily="34" charset="0"/>
                          <a:ea typeface="Calibri" pitchFamily="34" charset="-122"/>
                          <a:cs typeface="Calibri" pitchFamily="34" charset="-120"/>
                        </a:rPr>
                        <a:t>53.95</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b="1" dirty="0">
                          <a:solidFill>
                            <a:srgbClr val="243044"/>
                          </a:solidFill>
                          <a:latin typeface="Calibri" pitchFamily="34" charset="0"/>
                          <a:ea typeface="Calibri" pitchFamily="34" charset="-122"/>
                          <a:cs typeface="Calibri" pitchFamily="34" charset="-120"/>
                        </a:rPr>
                        <a:t>25.48</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84048">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QwenVL-7B zero-shot (same paper)</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Multilingual VLM, no training; 100 random questions</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53.80</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28.00</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84048">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Human (same paper)</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96.42</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88.00</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graphicFrame>
        <p:nvGraphicFramePr>
          <p:cNvPr id="15" name="table_56"/>
          <p:cNvGraphicFramePr>
            <a:graphicFrameLocks noGrp="1"/>
          </p:cNvGraphicFramePr>
          <p:nvPr>
            <p:extLst>
              <p:ext uri="{D42A27DB-BD31-4B8C-83A1-F6EECF244321}">
                <p14:modId xmlns:p14="http://schemas.microsoft.com/office/powerpoint/2010/main" val="1579011935"/>
              </p:ext>
            </p:extLst>
          </p:nvPr>
        </p:nvGraphicFramePr>
        <p:xfrm>
          <a:off x="548640" y="3886200"/>
          <a:ext cx="11094415" cy="914400"/>
        </p:xfrm>
        <a:graphic>
          <a:graphicData uri="http://schemas.openxmlformats.org/drawingml/2006/table">
            <a:tbl>
              <a:tblPr/>
              <a:tblGrid>
                <a:gridCol w="4206240"/>
                <a:gridCol w="4572000"/>
                <a:gridCol w="2313432"/>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ViVQA test · work</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Approach</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Result</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384048">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AViVQA-TranConI (Nguyen et al., Comput. Electr. Eng. 2024)</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Frozen BLIP-2 + EfficientNet, picks an answer from a fixed label set</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Accuracy 71.04</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84048">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Improved Multi-Vision Contextual Attention (Bui et al., 2025)</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Attention over several visual features</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Accuracy 62.41 (original 60)</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7" name="card_57"/>
          <p:cNvSpPr/>
          <p:nvPr/>
        </p:nvSpPr>
        <p:spPr>
          <a:xfrm>
            <a:off x="548640" y="5166360"/>
            <a:ext cx="11094415" cy="1097280"/>
          </a:xfrm>
          <a:prstGeom prst="roundRect">
            <a:avLst>
              <a:gd name="adj" fmla="val 6667"/>
            </a:avLst>
          </a:prstGeom>
          <a:solidFill>
            <a:schemeClr val="accent5"/>
          </a:solidFill>
          <a:ln w="12700">
            <a:solidFill>
              <a:schemeClr val="accent5"/>
            </a:solidFill>
            <a:prstDash val="solid"/>
          </a:ln>
        </p:spPr>
      </p:sp>
      <p:sp>
        <p:nvSpPr>
          <p:cNvPr id="8" name="text_58"/>
          <p:cNvSpPr txBox="1"/>
          <p:nvPr/>
        </p:nvSpPr>
        <p:spPr>
          <a:xfrm>
            <a:off x="822960" y="5166360"/>
            <a:ext cx="10545775" cy="1097280"/>
          </a:xfrm>
          <a:prstGeom prst="rect">
            <a:avLst/>
          </a:prstGeom>
          <a:noFill/>
          <a:ln/>
        </p:spPr>
        <p:txBody>
          <a:bodyPr wrap="square" lIns="0" tIns="0" rIns="0" bIns="0" rtlCol="0" anchor="ctr"/>
          <a:lstStyle/>
          <a:p>
            <a:pPr indent="0" marL="0">
              <a:buNone/>
            </a:pPr>
            <a:r>
              <a:rPr lang="en-US" sz="1300" b="1" dirty="0">
                <a:solidFill>
                  <a:srgbClr val="13294B"/>
                </a:solidFill>
                <a:latin typeface="Calibri" pitchFamily="34" charset="0"/>
                <a:ea typeface="Calibri" pitchFamily="34" charset="-122"/>
                <a:cs typeface="Calibri" pitchFamily="34" charset="-120"/>
              </a:rPr>
              <a:t>Caution  </a:t>
            </a:r>
            <a:pPr indent="0" marL="0">
              <a:buNone/>
            </a:pPr>
            <a:r>
              <a:rPr lang="en-US" sz="1300" dirty="0">
                <a:solidFill>
                  <a:schemeClr val="tx1"/>
                </a:solidFill>
                <a:latin typeface="Calibri" pitchFamily="34" charset="0"/>
                <a:ea typeface="Calibri" pitchFamily="34" charset="-122"/>
                <a:cs typeface="Calibri" pitchFamily="34" charset="-120"/>
              </a:rPr>
              <a:t>These numbers use other metrics and settings (token-F1; classification accuracy over a fixed label set) — used to position our results, not as head-to-head comparisons. The baseline we reproduce and improve on is Qwen2.5-VL-3B (Part B). Lesson kept: parameter-efficient ViTextBLIP-2 beats full fine-tuning → supports QLoRA.</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1 · 04 · RESEARCH QUESTIONS</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Four research questions — RQ2 is central</a:t>
            </a:r>
            <a:endParaRPr lang="en-US" sz="3200" dirty="0"/>
          </a:p>
        </p:txBody>
      </p:sp>
      <p:sp>
        <p:nvSpPr>
          <p:cNvPr id="5" name="card_59"/>
          <p:cNvSpPr/>
          <p:nvPr/>
        </p:nvSpPr>
        <p:spPr>
          <a:xfrm>
            <a:off x="548640" y="1371600"/>
            <a:ext cx="5364328" cy="2194560"/>
          </a:xfrm>
          <a:prstGeom prst="roundRect">
            <a:avLst>
              <a:gd name="adj" fmla="val 3333"/>
            </a:avLst>
          </a:prstGeom>
          <a:solidFill>
            <a:schemeClr val="bg2"/>
          </a:solidFill>
          <a:ln w="12700">
            <a:solidFill>
              <a:schemeClr val="bg2"/>
            </a:solidFill>
            <a:prstDash val="solid"/>
          </a:ln>
        </p:spPr>
      </p:sp>
      <p:sp>
        <p:nvSpPr>
          <p:cNvPr id="6" name="text_60"/>
          <p:cNvSpPr txBox="1"/>
          <p:nvPr/>
        </p:nvSpPr>
        <p:spPr>
          <a:xfrm>
            <a:off x="822960" y="1554480"/>
            <a:ext cx="1188720" cy="502920"/>
          </a:xfrm>
          <a:prstGeom prst="rect">
            <a:avLst/>
          </a:prstGeom>
          <a:noFill/>
          <a:ln/>
        </p:spPr>
        <p:txBody>
          <a:bodyPr wrap="square" lIns="0" tIns="0" rIns="0" bIns="0" rtlCol="0" anchor="t"/>
          <a:lstStyle/>
          <a:p>
            <a:pPr indent="0" marL="0">
              <a:buNone/>
            </a:pPr>
            <a:r>
              <a:rPr lang="en-US" sz="2600" b="1" dirty="0">
                <a:solidFill>
                  <a:srgbClr val="1C7293"/>
                </a:solidFill>
                <a:latin typeface="Cambria" pitchFamily="34" charset="0"/>
                <a:ea typeface="Cambria" pitchFamily="34" charset="-122"/>
                <a:cs typeface="Cambria" pitchFamily="34" charset="-120"/>
              </a:rPr>
              <a:t>RQ1</a:t>
            </a:r>
            <a:endParaRPr lang="en-US" sz="2600" dirty="0"/>
          </a:p>
        </p:txBody>
      </p:sp>
      <p:sp>
        <p:nvSpPr>
          <p:cNvPr id="7" name="text_61"/>
          <p:cNvSpPr txBox="1"/>
          <p:nvPr/>
        </p:nvSpPr>
        <p:spPr>
          <a:xfrm>
            <a:off x="2011680" y="1600200"/>
            <a:ext cx="3626968" cy="45720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Zero-shot &amp; prompting</a:t>
            </a:r>
            <a:endParaRPr lang="en-US" sz="1600" dirty="0"/>
          </a:p>
        </p:txBody>
      </p:sp>
      <p:sp>
        <p:nvSpPr>
          <p:cNvPr id="8" name="text_62"/>
          <p:cNvSpPr txBox="1"/>
          <p:nvPr/>
        </p:nvSpPr>
        <p:spPr>
          <a:xfrm>
            <a:off x="822960" y="2194560"/>
            <a:ext cx="4815688"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How well does the VLM do zero-shot on ViVQA / ViTextVQA, which Vietnamese error types (V1–V3) dominate, and how far does Vietnamese prompting help?</a:t>
            </a:r>
            <a:endParaRPr lang="en-US" sz="1400" dirty="0"/>
          </a:p>
        </p:txBody>
      </p:sp>
      <p:sp>
        <p:nvSpPr>
          <p:cNvPr id="9" name="text_63"/>
          <p:cNvSpPr txBox="1"/>
          <p:nvPr/>
        </p:nvSpPr>
        <p:spPr>
          <a:xfrm>
            <a:off x="822960" y="3108960"/>
            <a:ext cx="4815688" cy="320040"/>
          </a:xfrm>
          <a:prstGeom prst="rect">
            <a:avLst/>
          </a:prstGeom>
          <a:noFill/>
          <a:ln/>
        </p:spPr>
        <p:txBody>
          <a:bodyPr wrap="square" lIns="0" tIns="0" rIns="0" bIns="0" rtlCol="0" anchor="t"/>
          <a:lstStyle/>
          <a:p>
            <a:pPr indent="0" marL="0">
              <a:buNone/>
            </a:pPr>
            <a:r>
              <a:rPr lang="en-US" sz="1200" i="1" dirty="0">
                <a:solidFill>
                  <a:schemeClr val="accent3"/>
                </a:solidFill>
                <a:latin typeface="Calibri" pitchFamily="34" charset="0"/>
                <a:ea typeface="Calibri" pitchFamily="34" charset="-122"/>
                <a:cs typeface="Calibri" pitchFamily="34" charset="-120"/>
              </a:rPr>
              <a:t>Measured by: EM · VQA-Acc · ANLS</a:t>
            </a:r>
            <a:endParaRPr lang="en-US" sz="1200" dirty="0"/>
          </a:p>
        </p:txBody>
      </p:sp>
      <p:sp>
        <p:nvSpPr>
          <p:cNvPr id="10" name="card_64"/>
          <p:cNvSpPr/>
          <p:nvPr/>
        </p:nvSpPr>
        <p:spPr>
          <a:xfrm>
            <a:off x="6278728" y="1371600"/>
            <a:ext cx="5364328" cy="2194560"/>
          </a:xfrm>
          <a:prstGeom prst="roundRect">
            <a:avLst>
              <a:gd name="adj" fmla="val 3333"/>
            </a:avLst>
          </a:prstGeom>
          <a:solidFill>
            <a:schemeClr val="accent5"/>
          </a:solidFill>
          <a:ln w="12700">
            <a:solidFill>
              <a:schemeClr val="accent5"/>
            </a:solidFill>
            <a:prstDash val="solid"/>
          </a:ln>
        </p:spPr>
      </p:sp>
      <p:sp>
        <p:nvSpPr>
          <p:cNvPr id="11" name="text_65"/>
          <p:cNvSpPr txBox="1"/>
          <p:nvPr/>
        </p:nvSpPr>
        <p:spPr>
          <a:xfrm>
            <a:off x="6553048" y="1554480"/>
            <a:ext cx="1188720" cy="502920"/>
          </a:xfrm>
          <a:prstGeom prst="rect">
            <a:avLst/>
          </a:prstGeom>
          <a:noFill/>
          <a:ln/>
        </p:spPr>
        <p:txBody>
          <a:bodyPr wrap="square" lIns="0" tIns="0" rIns="0" bIns="0" rtlCol="0" anchor="t"/>
          <a:lstStyle/>
          <a:p>
            <a:pPr indent="0" marL="0">
              <a:buNone/>
            </a:pPr>
            <a:r>
              <a:rPr lang="en-US" sz="2600" b="1" dirty="0">
                <a:solidFill>
                  <a:srgbClr val="E8A33D"/>
                </a:solidFill>
                <a:latin typeface="Cambria" pitchFamily="34" charset="0"/>
                <a:ea typeface="Cambria" pitchFamily="34" charset="-122"/>
                <a:cs typeface="Cambria" pitchFamily="34" charset="-120"/>
              </a:rPr>
              <a:t>RQ2</a:t>
            </a:r>
            <a:endParaRPr lang="en-US" sz="2600" dirty="0"/>
          </a:p>
        </p:txBody>
      </p:sp>
      <p:sp>
        <p:nvSpPr>
          <p:cNvPr id="12" name="text_66"/>
          <p:cNvSpPr txBox="1"/>
          <p:nvPr/>
        </p:nvSpPr>
        <p:spPr>
          <a:xfrm>
            <a:off x="7741768" y="1600200"/>
            <a:ext cx="3626968" cy="45720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PEFT (QLoRA) vs zero-shot — central</a:t>
            </a:r>
            <a:endParaRPr lang="en-US" sz="1600" dirty="0"/>
          </a:p>
        </p:txBody>
      </p:sp>
      <p:sp>
        <p:nvSpPr>
          <p:cNvPr id="13" name="text_67"/>
          <p:cNvSpPr txBox="1"/>
          <p:nvPr/>
        </p:nvSpPr>
        <p:spPr>
          <a:xfrm>
            <a:off x="6553048" y="2194560"/>
            <a:ext cx="4815688"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How much does QLoRA improve over zero-shot / prompting, without full fine-tuning?</a:t>
            </a:r>
            <a:endParaRPr lang="en-US" sz="1400" dirty="0"/>
          </a:p>
        </p:txBody>
      </p:sp>
      <p:sp>
        <p:nvSpPr>
          <p:cNvPr id="14" name="text_68"/>
          <p:cNvSpPr txBox="1"/>
          <p:nvPr/>
        </p:nvSpPr>
        <p:spPr>
          <a:xfrm>
            <a:off x="6553048" y="3108960"/>
            <a:ext cx="4815688" cy="320040"/>
          </a:xfrm>
          <a:prstGeom prst="rect">
            <a:avLst/>
          </a:prstGeom>
          <a:noFill/>
          <a:ln/>
        </p:spPr>
        <p:txBody>
          <a:bodyPr wrap="square" lIns="0" tIns="0" rIns="0" bIns="0" rtlCol="0" anchor="t"/>
          <a:lstStyle/>
          <a:p>
            <a:pPr indent="0" marL="0">
              <a:buNone/>
            </a:pPr>
            <a:r>
              <a:rPr lang="en-US" sz="1200" i="1" dirty="0">
                <a:solidFill>
                  <a:schemeClr val="accent3"/>
                </a:solidFill>
                <a:latin typeface="Calibri" pitchFamily="34" charset="0"/>
                <a:ea typeface="Calibri" pitchFamily="34" charset="-122"/>
                <a:cs typeface="Calibri" pitchFamily="34" charset="-120"/>
              </a:rPr>
              <a:t>Measured by: EM · VQA-Acc · ANLS</a:t>
            </a:r>
            <a:endParaRPr lang="en-US" sz="1200" dirty="0"/>
          </a:p>
        </p:txBody>
      </p:sp>
      <p:sp>
        <p:nvSpPr>
          <p:cNvPr id="15" name="card_69"/>
          <p:cNvSpPr/>
          <p:nvPr/>
        </p:nvSpPr>
        <p:spPr>
          <a:xfrm>
            <a:off x="548640" y="3840480"/>
            <a:ext cx="5364328" cy="2194560"/>
          </a:xfrm>
          <a:prstGeom prst="roundRect">
            <a:avLst>
              <a:gd name="adj" fmla="val 3333"/>
            </a:avLst>
          </a:prstGeom>
          <a:solidFill>
            <a:schemeClr val="bg2"/>
          </a:solidFill>
          <a:ln w="12700">
            <a:solidFill>
              <a:schemeClr val="bg2"/>
            </a:solidFill>
            <a:prstDash val="solid"/>
          </a:ln>
        </p:spPr>
      </p:sp>
      <p:sp>
        <p:nvSpPr>
          <p:cNvPr id="16" name="text_70"/>
          <p:cNvSpPr txBox="1"/>
          <p:nvPr/>
        </p:nvSpPr>
        <p:spPr>
          <a:xfrm>
            <a:off x="822960" y="4023360"/>
            <a:ext cx="1188720" cy="502920"/>
          </a:xfrm>
          <a:prstGeom prst="rect">
            <a:avLst/>
          </a:prstGeom>
          <a:noFill/>
          <a:ln/>
        </p:spPr>
        <p:txBody>
          <a:bodyPr wrap="square" lIns="0" tIns="0" rIns="0" bIns="0" rtlCol="0" anchor="t"/>
          <a:lstStyle/>
          <a:p>
            <a:pPr indent="0" marL="0">
              <a:buNone/>
            </a:pPr>
            <a:r>
              <a:rPr lang="en-US" sz="2600" b="1" dirty="0">
                <a:solidFill>
                  <a:srgbClr val="1C7293"/>
                </a:solidFill>
                <a:latin typeface="Cambria" pitchFamily="34" charset="0"/>
                <a:ea typeface="Cambria" pitchFamily="34" charset="-122"/>
                <a:cs typeface="Cambria" pitchFamily="34" charset="-120"/>
              </a:rPr>
              <a:t>RQ3</a:t>
            </a:r>
            <a:endParaRPr lang="en-US" sz="2600" dirty="0"/>
          </a:p>
        </p:txBody>
      </p:sp>
      <p:sp>
        <p:nvSpPr>
          <p:cNvPr id="17" name="text_71"/>
          <p:cNvSpPr txBox="1"/>
          <p:nvPr/>
        </p:nvSpPr>
        <p:spPr>
          <a:xfrm>
            <a:off x="2011680" y="4069080"/>
            <a:ext cx="3626968" cy="45720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Vietnamese OCR × QLoRA on ViTextVQA</a:t>
            </a:r>
            <a:endParaRPr lang="en-US" sz="1600" dirty="0"/>
          </a:p>
        </p:txBody>
      </p:sp>
      <p:sp>
        <p:nvSpPr>
          <p:cNvPr id="18" name="text_72"/>
          <p:cNvSpPr txBox="1"/>
          <p:nvPr/>
        </p:nvSpPr>
        <p:spPr>
          <a:xfrm>
            <a:off x="822960" y="4663440"/>
            <a:ext cx="4815688"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Does tone-marked OCR text, ordered top-left → bottom-right, help read text in the image, and does it work together with QLoRA?</a:t>
            </a:r>
            <a:endParaRPr lang="en-US" sz="1400" dirty="0"/>
          </a:p>
        </p:txBody>
      </p:sp>
      <p:sp>
        <p:nvSpPr>
          <p:cNvPr id="19" name="text_73"/>
          <p:cNvSpPr txBox="1"/>
          <p:nvPr/>
        </p:nvSpPr>
        <p:spPr>
          <a:xfrm>
            <a:off x="822960" y="5577840"/>
            <a:ext cx="4815688" cy="320040"/>
          </a:xfrm>
          <a:prstGeom prst="rect">
            <a:avLst/>
          </a:prstGeom>
          <a:noFill/>
          <a:ln/>
        </p:spPr>
        <p:txBody>
          <a:bodyPr wrap="square" lIns="0" tIns="0" rIns="0" bIns="0" rtlCol="0" anchor="t"/>
          <a:lstStyle/>
          <a:p>
            <a:pPr indent="0" marL="0">
              <a:buNone/>
            </a:pPr>
            <a:r>
              <a:rPr lang="en-US" sz="1200" i="1" dirty="0">
                <a:solidFill>
                  <a:schemeClr val="accent3"/>
                </a:solidFill>
                <a:latin typeface="Calibri" pitchFamily="34" charset="0"/>
                <a:ea typeface="Calibri" pitchFamily="34" charset="-122"/>
                <a:cs typeface="Calibri" pitchFamily="34" charset="-120"/>
              </a:rPr>
              <a:t>Measured by: ANLS · EM</a:t>
            </a:r>
            <a:endParaRPr lang="en-US" sz="1200" dirty="0"/>
          </a:p>
        </p:txBody>
      </p:sp>
      <p:sp>
        <p:nvSpPr>
          <p:cNvPr id="20" name="card_74"/>
          <p:cNvSpPr/>
          <p:nvPr/>
        </p:nvSpPr>
        <p:spPr>
          <a:xfrm>
            <a:off x="6278728" y="3840480"/>
            <a:ext cx="5364328" cy="2194560"/>
          </a:xfrm>
          <a:prstGeom prst="roundRect">
            <a:avLst>
              <a:gd name="adj" fmla="val 3333"/>
            </a:avLst>
          </a:prstGeom>
          <a:solidFill>
            <a:schemeClr val="bg2"/>
          </a:solidFill>
          <a:ln w="12700">
            <a:solidFill>
              <a:schemeClr val="bg2"/>
            </a:solidFill>
            <a:prstDash val="solid"/>
          </a:ln>
        </p:spPr>
      </p:sp>
      <p:sp>
        <p:nvSpPr>
          <p:cNvPr id="21" name="text_75"/>
          <p:cNvSpPr txBox="1"/>
          <p:nvPr/>
        </p:nvSpPr>
        <p:spPr>
          <a:xfrm>
            <a:off x="6553048" y="4023360"/>
            <a:ext cx="1188720" cy="502920"/>
          </a:xfrm>
          <a:prstGeom prst="rect">
            <a:avLst/>
          </a:prstGeom>
          <a:noFill/>
          <a:ln/>
        </p:spPr>
        <p:txBody>
          <a:bodyPr wrap="square" lIns="0" tIns="0" rIns="0" bIns="0" rtlCol="0" anchor="t"/>
          <a:lstStyle/>
          <a:p>
            <a:pPr indent="0" marL="0">
              <a:buNone/>
            </a:pPr>
            <a:r>
              <a:rPr lang="en-US" sz="2600" b="1" dirty="0">
                <a:solidFill>
                  <a:srgbClr val="1C7293"/>
                </a:solidFill>
                <a:latin typeface="Cambria" pitchFamily="34" charset="0"/>
                <a:ea typeface="Cambria" pitchFamily="34" charset="-122"/>
                <a:cs typeface="Cambria" pitchFamily="34" charset="-120"/>
              </a:rPr>
              <a:t>RQ4</a:t>
            </a:r>
            <a:endParaRPr lang="en-US" sz="2600" dirty="0"/>
          </a:p>
        </p:txBody>
      </p:sp>
      <p:sp>
        <p:nvSpPr>
          <p:cNvPr id="22" name="text_76"/>
          <p:cNvSpPr txBox="1"/>
          <p:nvPr/>
        </p:nvSpPr>
        <p:spPr>
          <a:xfrm>
            <a:off x="7741768" y="4069080"/>
            <a:ext cx="3626968" cy="45720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QLoRA and hallucination</a:t>
            </a:r>
            <a:endParaRPr lang="en-US" sz="1600" dirty="0"/>
          </a:p>
        </p:txBody>
      </p:sp>
      <p:sp>
        <p:nvSpPr>
          <p:cNvPr id="23" name="text_77"/>
          <p:cNvSpPr txBox="1"/>
          <p:nvPr/>
        </p:nvSpPr>
        <p:spPr>
          <a:xfrm>
            <a:off x="6553048" y="4663440"/>
            <a:ext cx="4815688" cy="91440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After QLoRA adaptation, does the model invent more or less content that is not in the image?</a:t>
            </a:r>
            <a:endParaRPr lang="en-US" sz="1400" dirty="0"/>
          </a:p>
        </p:txBody>
      </p:sp>
      <p:sp>
        <p:nvSpPr>
          <p:cNvPr id="24" name="text_78"/>
          <p:cNvSpPr txBox="1"/>
          <p:nvPr/>
        </p:nvSpPr>
        <p:spPr>
          <a:xfrm>
            <a:off x="6553048" y="5577840"/>
            <a:ext cx="4815688" cy="320040"/>
          </a:xfrm>
          <a:prstGeom prst="rect">
            <a:avLst/>
          </a:prstGeom>
          <a:noFill/>
          <a:ln/>
        </p:spPr>
        <p:txBody>
          <a:bodyPr wrap="square" lIns="0" tIns="0" rIns="0" bIns="0" rtlCol="0" anchor="t"/>
          <a:lstStyle/>
          <a:p>
            <a:pPr indent="0" marL="0">
              <a:buNone/>
            </a:pPr>
            <a:r>
              <a:rPr lang="en-US" sz="1200" i="1" dirty="0">
                <a:solidFill>
                  <a:schemeClr val="accent3"/>
                </a:solidFill>
                <a:latin typeface="Calibri" pitchFamily="34" charset="0"/>
                <a:ea typeface="Calibri" pitchFamily="34" charset="-122"/>
                <a:cs typeface="Calibri" pitchFamily="34" charset="-120"/>
              </a:rPr>
              <a:t>Measured by: POPE-style (vi) + manual audit</a:t>
            </a:r>
            <a:endParaRPr lang="en-US" sz="1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1 · 05 · HYPOTHESES</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Four hypotheses, each tied to a Vietnamese problem</a:t>
            </a:r>
            <a:endParaRPr lang="en-US" sz="3200" dirty="0"/>
          </a:p>
        </p:txBody>
      </p:sp>
      <p:graphicFrame>
        <p:nvGraphicFramePr>
          <p:cNvPr id="10" name="table_79"/>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731520"/>
                <a:gridCol w="8531352"/>
                <a:gridCol w="1828800"/>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ID</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Hypothesis (threshold fixed before running)</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Answers</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566928">
                <a:tc>
                  <a:txBody>
                    <a:bodyPr/>
                    <a:lstStyle/>
                    <a:p>
                      <a:pPr indent="0" marL="0">
                        <a:buNone/>
                      </a:pPr>
                      <a:r>
                        <a:rPr lang="en-US" sz="1350" b="1" dirty="0">
                          <a:solidFill>
                            <a:srgbClr val="1C7293"/>
                          </a:solidFill>
                          <a:latin typeface="Calibri" pitchFamily="34" charset="0"/>
                          <a:ea typeface="Calibri" pitchFamily="34" charset="-122"/>
                          <a:cs typeface="Calibri" pitchFamily="34" charset="-120"/>
                        </a:rPr>
                        <a:t>H1</a:t>
                      </a:r>
                      <a:endParaRPr lang="en-US" sz="13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50" dirty="0">
                          <a:solidFill>
                            <a:srgbClr val="243044"/>
                          </a:solidFill>
                          <a:latin typeface="Calibri" pitchFamily="34" charset="0"/>
                          <a:ea typeface="Calibri" pitchFamily="34" charset="-122"/>
                          <a:cs typeface="Calibri" pitchFamily="34" charset="-120"/>
                        </a:rPr>
                        <a:t>QLoRA on Qwen2.5-VL-3B improves EM by ≥ +5 over the same model zero-shot</a:t>
                      </a:r>
                      <a:endParaRPr lang="en-US" sz="13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50" dirty="0">
                          <a:solidFill>
                            <a:srgbClr val="243044"/>
                          </a:solidFill>
                          <a:latin typeface="Calibri" pitchFamily="34" charset="0"/>
                          <a:ea typeface="Calibri" pitchFamily="34" charset="-122"/>
                          <a:cs typeface="Calibri" pitchFamily="34" charset="-120"/>
                        </a:rPr>
                        <a:t>RQ2 · V1–V3</a:t>
                      </a:r>
                      <a:endParaRPr lang="en-US" sz="13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indent="0" marL="0">
                        <a:buNone/>
                      </a:pPr>
                      <a:r>
                        <a:rPr lang="en-US" sz="1350" b="1" dirty="0">
                          <a:solidFill>
                            <a:srgbClr val="1C7293"/>
                          </a:solidFill>
                          <a:latin typeface="Calibri" pitchFamily="34" charset="0"/>
                          <a:ea typeface="Calibri" pitchFamily="34" charset="-122"/>
                          <a:cs typeface="Calibri" pitchFamily="34" charset="-120"/>
                        </a:rPr>
                        <a:t>H2</a:t>
                      </a:r>
                      <a:endParaRPr lang="en-US" sz="13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50" dirty="0">
                          <a:solidFill>
                            <a:srgbClr val="243044"/>
                          </a:solidFill>
                          <a:latin typeface="Calibri" pitchFamily="34" charset="0"/>
                          <a:ea typeface="Calibri" pitchFamily="34" charset="-122"/>
                          <a:cs typeface="Calibri" pitchFamily="34" charset="-120"/>
                        </a:rPr>
                        <a:t>Tone-marked OCR text (top-left → bottom-right) in the prompt adds ≥ +3 ANLS on ViTextVQA; combined with QLoRA it gives the best result</a:t>
                      </a:r>
                      <a:endParaRPr lang="en-US" sz="13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50" dirty="0">
                          <a:solidFill>
                            <a:srgbClr val="243044"/>
                          </a:solidFill>
                          <a:latin typeface="Calibri" pitchFamily="34" charset="0"/>
                          <a:ea typeface="Calibri" pitchFamily="34" charset="-122"/>
                          <a:cs typeface="Calibri" pitchFamily="34" charset="-120"/>
                        </a:rPr>
                        <a:t>RQ3 · V1, V3</a:t>
                      </a:r>
                      <a:endParaRPr lang="en-US" sz="13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indent="0" marL="0">
                        <a:buNone/>
                      </a:pPr>
                      <a:r>
                        <a:rPr lang="en-US" sz="1350" b="1" dirty="0">
                          <a:solidFill>
                            <a:srgbClr val="1C7293"/>
                          </a:solidFill>
                          <a:latin typeface="Calibri" pitchFamily="34" charset="0"/>
                          <a:ea typeface="Calibri" pitchFamily="34" charset="-122"/>
                          <a:cs typeface="Calibri" pitchFamily="34" charset="-120"/>
                        </a:rPr>
                        <a:t>H3</a:t>
                      </a:r>
                      <a:endParaRPr lang="en-US" sz="13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50" dirty="0">
                          <a:solidFill>
                            <a:srgbClr val="243044"/>
                          </a:solidFill>
                          <a:latin typeface="Calibri" pitchFamily="34" charset="0"/>
                          <a:ea typeface="Calibri" pitchFamily="34" charset="-122"/>
                          <a:cs typeface="Calibri" pitchFamily="34" charset="-120"/>
                        </a:rPr>
                        <a:t>A Vietnamese format prompt (short answer, with tone marks) adds ≥ +3 EM and reduces wrong-language / missing-diacritic answers</a:t>
                      </a:r>
                      <a:endParaRPr lang="en-US" sz="13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50" dirty="0">
                          <a:solidFill>
                            <a:srgbClr val="243044"/>
                          </a:solidFill>
                          <a:latin typeface="Calibri" pitchFamily="34" charset="0"/>
                          <a:ea typeface="Calibri" pitchFamily="34" charset="-122"/>
                          <a:cs typeface="Calibri" pitchFamily="34" charset="-120"/>
                        </a:rPr>
                        <a:t>RQ1 · V2</a:t>
                      </a:r>
                      <a:endParaRPr lang="en-US" sz="13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indent="0" marL="0">
                        <a:buNone/>
                      </a:pPr>
                      <a:r>
                        <a:rPr lang="en-US" sz="1350" b="1" dirty="0">
                          <a:solidFill>
                            <a:srgbClr val="1C7293"/>
                          </a:solidFill>
                          <a:latin typeface="Calibri" pitchFamily="34" charset="0"/>
                          <a:ea typeface="Calibri" pitchFamily="34" charset="-122"/>
                          <a:cs typeface="Calibri" pitchFamily="34" charset="-120"/>
                        </a:rPr>
                        <a:t>H4</a:t>
                      </a:r>
                      <a:endParaRPr lang="en-US" sz="13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50" dirty="0">
                          <a:solidFill>
                            <a:srgbClr val="243044"/>
                          </a:solidFill>
                          <a:latin typeface="Calibri" pitchFamily="34" charset="0"/>
                          <a:ea typeface="Calibri" pitchFamily="34" charset="-122"/>
                          <a:cs typeface="Calibri" pitchFamily="34" charset="-120"/>
                        </a:rPr>
                        <a:t>QLoRA does not increase the hallucination rate compared with zero-shot</a:t>
                      </a:r>
                      <a:endParaRPr lang="en-US" sz="13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350" dirty="0">
                          <a:solidFill>
                            <a:srgbClr val="243044"/>
                          </a:solidFill>
                          <a:latin typeface="Calibri" pitchFamily="34" charset="0"/>
                          <a:ea typeface="Calibri" pitchFamily="34" charset="-122"/>
                          <a:cs typeface="Calibri" pitchFamily="34" charset="-120"/>
                        </a:rPr>
                        <a:t>RQ4 · V4</a:t>
                      </a:r>
                      <a:endParaRPr lang="en-US" sz="13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6" name="card_80"/>
          <p:cNvSpPr/>
          <p:nvPr/>
        </p:nvSpPr>
        <p:spPr>
          <a:xfrm>
            <a:off x="548640" y="4434840"/>
            <a:ext cx="5364328" cy="1828800"/>
          </a:xfrm>
          <a:prstGeom prst="roundRect">
            <a:avLst>
              <a:gd name="adj" fmla="val 4000"/>
            </a:avLst>
          </a:prstGeom>
          <a:solidFill>
            <a:schemeClr val="bg2"/>
          </a:solidFill>
          <a:ln w="12700">
            <a:solidFill>
              <a:schemeClr val="bg2"/>
            </a:solidFill>
            <a:prstDash val="solid"/>
          </a:ln>
        </p:spPr>
      </p:sp>
      <p:sp>
        <p:nvSpPr>
          <p:cNvPr id="7" name="text_81"/>
          <p:cNvSpPr txBox="1"/>
          <p:nvPr/>
        </p:nvSpPr>
        <p:spPr>
          <a:xfrm>
            <a:off x="777240" y="4544568"/>
            <a:ext cx="4907128" cy="3657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No longer hypotheses → measured or ablated</a:t>
            </a:r>
            <a:endParaRPr lang="en-US" sz="1400" dirty="0"/>
          </a:p>
        </p:txBody>
      </p:sp>
      <p:sp>
        <p:nvSpPr>
          <p:cNvPr id="8" name="list_82"/>
          <p:cNvSpPr txBox="1"/>
          <p:nvPr/>
        </p:nvSpPr>
        <p:spPr>
          <a:xfrm>
            <a:off x="777240" y="4937760"/>
            <a:ext cx="4907128" cy="1280160"/>
          </a:xfrm>
          <a:prstGeom prst="rect">
            <a:avLst/>
          </a:prstGeom>
          <a:noFill/>
          <a:ln/>
        </p:spPr>
        <p:txBody>
          <a:bodyPr wrap="square" lIns="0" tIns="0" rIns="0" bIns="0" rtlCol="0" anchor="t"/>
          <a:lstStyle/>
          <a:p>
            <a:pPr marL="177800" indent="-177800">
              <a:spcAft>
                <a:spcPts val="200"/>
              </a:spcAft>
              <a:buSzPct val="100000"/>
              <a:buChar char="•"/>
            </a:pPr>
            <a:r>
              <a:rPr lang="en-US" sz="1200" dirty="0">
                <a:solidFill>
                  <a:schemeClr val="tx1"/>
                </a:solidFill>
                <a:latin typeface="Calibri" pitchFamily="34" charset="0"/>
                <a:ea typeface="Calibri" pitchFamily="34" charset="-122"/>
                <a:cs typeface="Calibri" pitchFamily="34" charset="-120"/>
              </a:rPr>
              <a:t>4-bit vs 16-bit memory: a known QLoRA property (Dettmers et al., NeurIPS 2023) → VRAM, time and trained parameters are reported for every run</a:t>
            </a:r>
            <a:endParaRPr lang="en-US" sz="1200" dirty="0"/>
          </a:p>
          <a:p>
            <a:pPr marL="177800" indent="-177800">
              <a:spcAft>
                <a:spcPts val="200"/>
              </a:spcAft>
              <a:buSzPct val="100000"/>
              <a:buChar char="•"/>
            </a:pPr>
            <a:r>
              <a:rPr lang="en-US" sz="1200" dirty="0">
                <a:solidFill>
                  <a:schemeClr val="tx1"/>
                </a:solidFill>
                <a:latin typeface="Calibri" pitchFamily="34" charset="0"/>
                <a:ea typeface="Calibri" pitchFamily="34" charset="-122"/>
                <a:cs typeface="Calibri" pitchFamily="34" charset="-120"/>
              </a:rPr>
              <a:t>LoRA target modules and rank → ablations A1, A2</a:t>
            </a:r>
            <a:endParaRPr lang="en-US" sz="1200" dirty="0"/>
          </a:p>
          <a:p>
            <a:pPr marL="177800" indent="-177800">
              <a:spcAft>
                <a:spcPts val="200"/>
              </a:spcAft>
              <a:buSzPct val="100000"/>
              <a:buChar char="•"/>
            </a:pPr>
            <a:r>
              <a:rPr lang="en-US" sz="1200" dirty="0">
                <a:solidFill>
                  <a:schemeClr val="tx1"/>
                </a:solidFill>
                <a:latin typeface="Calibri" pitchFamily="34" charset="0"/>
                <a:ea typeface="Calibri" pitchFamily="34" charset="-122"/>
                <a:cs typeface="Calibri" pitchFamily="34" charset="-120"/>
              </a:rPr>
              <a:t>Shared adapter across datasets → optional</a:t>
            </a:r>
            <a:endParaRPr lang="en-US" sz="1200" dirty="0"/>
          </a:p>
        </p:txBody>
      </p:sp>
      <p:sp>
        <p:nvSpPr>
          <p:cNvPr id="9" name="card_83"/>
          <p:cNvSpPr/>
          <p:nvPr/>
        </p:nvSpPr>
        <p:spPr>
          <a:xfrm>
            <a:off x="6278728" y="4434840"/>
            <a:ext cx="5364328" cy="1828800"/>
          </a:xfrm>
          <a:prstGeom prst="roundRect">
            <a:avLst>
              <a:gd name="adj" fmla="val 4000"/>
            </a:avLst>
          </a:prstGeom>
          <a:solidFill>
            <a:schemeClr val="accent4"/>
          </a:solidFill>
          <a:ln w="12700">
            <a:solidFill>
              <a:schemeClr val="accent4"/>
            </a:solidFill>
            <a:prstDash val="solid"/>
          </a:ln>
        </p:spPr>
      </p:sp>
      <p:sp>
        <p:nvSpPr>
          <p:cNvPr id="10" name="text_84"/>
          <p:cNvSpPr txBox="1"/>
          <p:nvPr/>
        </p:nvSpPr>
        <p:spPr>
          <a:xfrm>
            <a:off x="6507328" y="4544568"/>
            <a:ext cx="4907128" cy="3657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Mapping from the first Review 1 version</a:t>
            </a:r>
            <a:endParaRPr lang="en-US" sz="1400" dirty="0"/>
          </a:p>
        </p:txBody>
      </p:sp>
      <p:sp>
        <p:nvSpPr>
          <p:cNvPr id="11" name="text_85"/>
          <p:cNvSpPr txBox="1"/>
          <p:nvPr/>
        </p:nvSpPr>
        <p:spPr>
          <a:xfrm>
            <a:off x="6507328" y="4983480"/>
            <a:ext cx="4907128" cy="1188720"/>
          </a:xfrm>
          <a:prstGeom prst="rect">
            <a:avLst/>
          </a:prstGeom>
          <a:noFill/>
          <a:ln/>
        </p:spPr>
        <p:txBody>
          <a:bodyPr wrap="square" lIns="0" tIns="0" rIns="0" bIns="0" rtlCol="0" anchor="t"/>
          <a:lstStyle/>
          <a:p>
            <a:pPr indent="0" marL="0">
              <a:buNone/>
            </a:pPr>
            <a:r>
              <a:rPr lang="en-US" sz="1350" dirty="0">
                <a:solidFill>
                  <a:schemeClr val="tx1"/>
                </a:solidFill>
                <a:latin typeface="Calibri" pitchFamily="34" charset="0"/>
                <a:ea typeface="Calibri" pitchFamily="34" charset="-122"/>
                <a:cs typeface="Calibri" pitchFamily="34" charset="-120"/>
              </a:rPr>
              <a:t>H1 → H1 · H6 → H2 · H7 → H3 · H8 → H4</a:t>
            </a:r>
            <a:endParaRPr lang="en-US" sz="1350" dirty="0"/>
          </a:p>
          <a:p>
            <a:pPr indent="0" marL="0">
              <a:buNone/>
            </a:pPr>
            <a:r>
              <a:rPr lang="en-US" sz="1350" dirty="0">
                <a:solidFill>
                  <a:schemeClr val="tx1"/>
                </a:solidFill>
                <a:latin typeface="Calibri" pitchFamily="34" charset="0"/>
                <a:ea typeface="Calibri" pitchFamily="34" charset="-122"/>
                <a:cs typeface="Calibri" pitchFamily="34" charset="-120"/>
              </a:rPr>
              <a:t>H2 (4-bit) → efficiency measurement</a:t>
            </a:r>
            <a:endParaRPr lang="en-US" sz="1350" dirty="0"/>
          </a:p>
          <a:p>
            <a:pPr indent="0" marL="0">
              <a:buNone/>
            </a:pPr>
            <a:r>
              <a:rPr lang="en-US" sz="1350" dirty="0">
                <a:solidFill>
                  <a:schemeClr val="tx1"/>
                </a:solidFill>
                <a:latin typeface="Calibri" pitchFamily="34" charset="0"/>
                <a:ea typeface="Calibri" pitchFamily="34" charset="-122"/>
                <a:cs typeface="Calibri" pitchFamily="34" charset="-120"/>
              </a:rPr>
              <a:t>H3, H4 (LoRA config) → ablations A1, A2 · H5 → optional</a:t>
            </a:r>
            <a:endParaRPr lang="en-US" sz="135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1 · 06 · DATA</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Two benchmarks, fixed splits, preprocessing before the split</a:t>
            </a:r>
            <a:endParaRPr lang="en-US" sz="3200" dirty="0"/>
          </a:p>
        </p:txBody>
      </p:sp>
      <p:sp>
        <p:nvSpPr>
          <p:cNvPr id="5" name="card_86"/>
          <p:cNvSpPr/>
          <p:nvPr/>
        </p:nvSpPr>
        <p:spPr>
          <a:xfrm>
            <a:off x="548640" y="1371600"/>
            <a:ext cx="5364328" cy="3429000"/>
          </a:xfrm>
          <a:prstGeom prst="roundRect">
            <a:avLst>
              <a:gd name="adj" fmla="val 2133"/>
            </a:avLst>
          </a:prstGeom>
          <a:solidFill>
            <a:schemeClr val="bg2"/>
          </a:solidFill>
          <a:ln w="12700">
            <a:solidFill>
              <a:schemeClr val="bg2"/>
            </a:solidFill>
            <a:prstDash val="solid"/>
          </a:ln>
        </p:spPr>
      </p:sp>
      <p:sp>
        <p:nvSpPr>
          <p:cNvPr id="6" name="text_87"/>
          <p:cNvSpPr txBox="1"/>
          <p:nvPr/>
        </p:nvSpPr>
        <p:spPr>
          <a:xfrm>
            <a:off x="822960" y="1508760"/>
            <a:ext cx="4815688"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ViVQA</a:t>
            </a:r>
            <a:endParaRPr lang="en-US" sz="2200" dirty="0"/>
          </a:p>
        </p:txBody>
      </p:sp>
      <p:sp>
        <p:nvSpPr>
          <p:cNvPr id="7" name="text_88"/>
          <p:cNvSpPr txBox="1"/>
          <p:nvPr/>
        </p:nvSpPr>
        <p:spPr>
          <a:xfrm>
            <a:off x="822960" y="1965960"/>
            <a:ext cx="4815688" cy="274320"/>
          </a:xfrm>
          <a:prstGeom prst="rect">
            <a:avLst/>
          </a:prstGeom>
          <a:noFill/>
          <a:ln/>
        </p:spPr>
        <p:txBody>
          <a:bodyPr wrap="square" lIns="0" tIns="0" rIns="0" bIns="0" rtlCol="0" anchor="t"/>
          <a:lstStyle/>
          <a:p>
            <a:pPr indent="0" marL="0">
              <a:buNone/>
            </a:pPr>
            <a:r>
              <a:rPr lang="en-US" sz="1100" i="1" dirty="0">
                <a:solidFill>
                  <a:schemeClr val="accent3"/>
                </a:solidFill>
                <a:latin typeface="Calibri" pitchFamily="34" charset="0"/>
                <a:ea typeface="Calibri" pitchFamily="34" charset="-122"/>
                <a:cs typeface="Calibri" pitchFamily="34" charset="-120"/>
              </a:rPr>
              <a:t>Tran et al., PACLIC 2021</a:t>
            </a:r>
            <a:endParaRPr lang="en-US" sz="1100" dirty="0"/>
          </a:p>
        </p:txBody>
      </p:sp>
      <p:sp>
        <p:nvSpPr>
          <p:cNvPr id="8" name="text_89"/>
          <p:cNvSpPr txBox="1"/>
          <p:nvPr/>
        </p:nvSpPr>
        <p:spPr>
          <a:xfrm>
            <a:off x="822960" y="2286000"/>
            <a:ext cx="2316404" cy="82296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15,000</a:t>
            </a:r>
            <a:endParaRPr lang="en-US" sz="3000" dirty="0"/>
          </a:p>
        </p:txBody>
      </p:sp>
      <p:sp>
        <p:nvSpPr>
          <p:cNvPr id="9" name="text_90"/>
          <p:cNvSpPr txBox="1"/>
          <p:nvPr/>
        </p:nvSpPr>
        <p:spPr>
          <a:xfrm>
            <a:off x="822960" y="3154680"/>
            <a:ext cx="2316404"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QA pairs</a:t>
            </a:r>
            <a:endParaRPr lang="en-US" sz="1400" dirty="0"/>
          </a:p>
        </p:txBody>
      </p:sp>
      <p:sp>
        <p:nvSpPr>
          <p:cNvPr id="10" name="text_91"/>
          <p:cNvSpPr txBox="1"/>
          <p:nvPr/>
        </p:nvSpPr>
        <p:spPr>
          <a:xfrm>
            <a:off x="3230804" y="2286000"/>
            <a:ext cx="2316404" cy="82296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10,328</a:t>
            </a:r>
            <a:endParaRPr lang="en-US" sz="3000" dirty="0"/>
          </a:p>
        </p:txBody>
      </p:sp>
      <p:sp>
        <p:nvSpPr>
          <p:cNvPr id="11" name="text_92"/>
          <p:cNvSpPr txBox="1"/>
          <p:nvPr/>
        </p:nvSpPr>
        <p:spPr>
          <a:xfrm>
            <a:off x="3230804" y="3154680"/>
            <a:ext cx="2316404"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images (MS COCO)</a:t>
            </a:r>
            <a:endParaRPr lang="en-US" sz="1400" dirty="0"/>
          </a:p>
        </p:txBody>
      </p:sp>
      <p:sp>
        <p:nvSpPr>
          <p:cNvPr id="12" name="text_93"/>
          <p:cNvSpPr txBox="1"/>
          <p:nvPr/>
        </p:nvSpPr>
        <p:spPr>
          <a:xfrm>
            <a:off x="822960" y="3611880"/>
            <a:ext cx="4815688" cy="502920"/>
          </a:xfrm>
          <a:prstGeom prst="rect">
            <a:avLst/>
          </a:prstGeom>
          <a:noFill/>
          <a:ln/>
        </p:spPr>
        <p:txBody>
          <a:bodyPr wrap="square" lIns="0" tIns="0" rIns="0" bIns="0" rtlCol="0" anchor="t"/>
          <a:lstStyle/>
          <a:p>
            <a:pPr indent="0" marL="0">
              <a:buNone/>
            </a:pPr>
            <a:r>
              <a:rPr lang="en-US" sz="1350" b="1" dirty="0">
                <a:solidFill>
                  <a:schemeClr val="tx1"/>
                </a:solidFill>
                <a:latin typeface="Calibri" pitchFamily="34" charset="0"/>
                <a:ea typeface="Calibri" pitchFamily="34" charset="-122"/>
                <a:cs typeface="Calibri" pitchFamily="34" charset="-120"/>
              </a:rPr>
              <a:t>Split (seed 42): train 10,799 · val 1,200 (taken from train) · test 3,001</a:t>
            </a:r>
            <a:endParaRPr lang="en-US" sz="1350" dirty="0"/>
          </a:p>
        </p:txBody>
      </p:sp>
      <p:sp>
        <p:nvSpPr>
          <p:cNvPr id="13" name="text_94"/>
          <p:cNvSpPr txBox="1"/>
          <p:nvPr/>
        </p:nvSpPr>
        <p:spPr>
          <a:xfrm>
            <a:off x="822960" y="4114800"/>
            <a:ext cx="4815688" cy="5943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99.83% of answers ≤ 3 words → EM / VQA-Acc</a:t>
            </a:r>
            <a:endParaRPr lang="en-US" sz="1300" dirty="0"/>
          </a:p>
        </p:txBody>
      </p:sp>
      <p:sp>
        <p:nvSpPr>
          <p:cNvPr id="14" name="card_95"/>
          <p:cNvSpPr/>
          <p:nvPr/>
        </p:nvSpPr>
        <p:spPr>
          <a:xfrm>
            <a:off x="6278728" y="1371600"/>
            <a:ext cx="5364328" cy="3429000"/>
          </a:xfrm>
          <a:prstGeom prst="roundRect">
            <a:avLst>
              <a:gd name="adj" fmla="val 2133"/>
            </a:avLst>
          </a:prstGeom>
          <a:solidFill>
            <a:schemeClr val="accent4"/>
          </a:solidFill>
          <a:ln w="12700">
            <a:solidFill>
              <a:schemeClr val="accent4"/>
            </a:solidFill>
            <a:prstDash val="solid"/>
          </a:ln>
        </p:spPr>
      </p:sp>
      <p:sp>
        <p:nvSpPr>
          <p:cNvPr id="15" name="text_96"/>
          <p:cNvSpPr txBox="1"/>
          <p:nvPr/>
        </p:nvSpPr>
        <p:spPr>
          <a:xfrm>
            <a:off x="6553048" y="1508760"/>
            <a:ext cx="4815688"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ViTextVQA</a:t>
            </a:r>
            <a:endParaRPr lang="en-US" sz="2200" dirty="0"/>
          </a:p>
        </p:txBody>
      </p:sp>
      <p:sp>
        <p:nvSpPr>
          <p:cNvPr id="16" name="text_97"/>
          <p:cNvSpPr txBox="1"/>
          <p:nvPr/>
        </p:nvSpPr>
        <p:spPr>
          <a:xfrm>
            <a:off x="6553048" y="1965960"/>
            <a:ext cx="4815688" cy="274320"/>
          </a:xfrm>
          <a:prstGeom prst="rect">
            <a:avLst/>
          </a:prstGeom>
          <a:noFill/>
          <a:ln/>
        </p:spPr>
        <p:txBody>
          <a:bodyPr wrap="square" lIns="0" tIns="0" rIns="0" bIns="0" rtlCol="0" anchor="t"/>
          <a:lstStyle/>
          <a:p>
            <a:pPr indent="0" marL="0">
              <a:buNone/>
            </a:pPr>
            <a:r>
              <a:rPr lang="en-US" sz="1100" i="1" dirty="0">
                <a:solidFill>
                  <a:schemeClr val="accent3"/>
                </a:solidFill>
                <a:latin typeface="Calibri" pitchFamily="34" charset="0"/>
                <a:ea typeface="Calibri" pitchFamily="34" charset="-122"/>
                <a:cs typeface="Calibri" pitchFamily="34" charset="-120"/>
              </a:rPr>
              <a:t>Nguyen et al., 2024 (official repo)</a:t>
            </a:r>
            <a:endParaRPr lang="en-US" sz="1100" dirty="0"/>
          </a:p>
        </p:txBody>
      </p:sp>
      <p:sp>
        <p:nvSpPr>
          <p:cNvPr id="17" name="text_98"/>
          <p:cNvSpPr txBox="1"/>
          <p:nvPr/>
        </p:nvSpPr>
        <p:spPr>
          <a:xfrm>
            <a:off x="6553048" y="2286000"/>
            <a:ext cx="2316404" cy="82296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50,342</a:t>
            </a:r>
            <a:endParaRPr lang="en-US" sz="3000" dirty="0"/>
          </a:p>
        </p:txBody>
      </p:sp>
      <p:sp>
        <p:nvSpPr>
          <p:cNvPr id="18" name="text_99"/>
          <p:cNvSpPr txBox="1"/>
          <p:nvPr/>
        </p:nvSpPr>
        <p:spPr>
          <a:xfrm>
            <a:off x="6553048" y="3154680"/>
            <a:ext cx="2316404"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QA pairs</a:t>
            </a:r>
            <a:endParaRPr lang="en-US" sz="1400" dirty="0"/>
          </a:p>
        </p:txBody>
      </p:sp>
      <p:sp>
        <p:nvSpPr>
          <p:cNvPr id="19" name="text_100"/>
          <p:cNvSpPr txBox="1"/>
          <p:nvPr/>
        </p:nvSpPr>
        <p:spPr>
          <a:xfrm>
            <a:off x="8960891" y="2286000"/>
            <a:ext cx="2316404" cy="822960"/>
          </a:xfrm>
          <a:prstGeom prst="rect">
            <a:avLst/>
          </a:prstGeom>
          <a:noFill/>
          <a:ln/>
        </p:spPr>
        <p:txBody>
          <a:bodyPr wrap="square" lIns="0" tIns="0" rIns="0" bIns="0" rtlCol="0" anchor="t"/>
          <a:lstStyle/>
          <a:p>
            <a:pPr indent="0" marL="0">
              <a:buNone/>
            </a:pPr>
            <a:r>
              <a:rPr lang="en-US" sz="3000" b="1" dirty="0">
                <a:solidFill>
                  <a:schemeClr val="tx2"/>
                </a:solidFill>
                <a:latin typeface="Cambria" pitchFamily="34" charset="0"/>
                <a:ea typeface="Cambria" pitchFamily="34" charset="-122"/>
                <a:cs typeface="Cambria" pitchFamily="34" charset="-120"/>
              </a:rPr>
              <a:t>16,762</a:t>
            </a:r>
            <a:endParaRPr lang="en-US" sz="3000" dirty="0"/>
          </a:p>
        </p:txBody>
      </p:sp>
      <p:sp>
        <p:nvSpPr>
          <p:cNvPr id="20" name="text_101"/>
          <p:cNvSpPr txBox="1"/>
          <p:nvPr/>
        </p:nvSpPr>
        <p:spPr>
          <a:xfrm>
            <a:off x="8960891" y="3154680"/>
            <a:ext cx="2316404"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images with Vietnamese text</a:t>
            </a:r>
            <a:endParaRPr lang="en-US" sz="1400" dirty="0"/>
          </a:p>
        </p:txBody>
      </p:sp>
      <p:sp>
        <p:nvSpPr>
          <p:cNvPr id="21" name="text_102"/>
          <p:cNvSpPr txBox="1"/>
          <p:nvPr/>
        </p:nvSpPr>
        <p:spPr>
          <a:xfrm>
            <a:off x="6553048" y="3611880"/>
            <a:ext cx="4815688" cy="502920"/>
          </a:xfrm>
          <a:prstGeom prst="rect">
            <a:avLst/>
          </a:prstGeom>
          <a:noFill/>
          <a:ln/>
        </p:spPr>
        <p:txBody>
          <a:bodyPr wrap="square" lIns="0" tIns="0" rIns="0" bIns="0" rtlCol="0" anchor="t"/>
          <a:lstStyle/>
          <a:p>
            <a:pPr indent="0" marL="0">
              <a:buNone/>
            </a:pPr>
            <a:r>
              <a:rPr lang="en-US" sz="1350" b="1" dirty="0">
                <a:solidFill>
                  <a:schemeClr val="tx1"/>
                </a:solidFill>
                <a:latin typeface="Calibri" pitchFamily="34" charset="0"/>
                <a:ea typeface="Calibri" pitchFamily="34" charset="-122"/>
                <a:cs typeface="Calibri" pitchFamily="34" charset="-120"/>
              </a:rPr>
              <a:t>Official split: train 35,159 · dev 5,155 · test 10,028</a:t>
            </a:r>
            <a:endParaRPr lang="en-US" sz="1350" dirty="0"/>
          </a:p>
        </p:txBody>
      </p:sp>
      <p:sp>
        <p:nvSpPr>
          <p:cNvPr id="22" name="text_103"/>
          <p:cNvSpPr txBox="1"/>
          <p:nvPr/>
        </p:nvSpPr>
        <p:spPr>
          <a:xfrm>
            <a:off x="6553048" y="4114800"/>
            <a:ext cx="4815688" cy="59436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Answers 4.18 words on average, read from the image → ANLS (tolerates character errors)</a:t>
            </a:r>
            <a:endParaRPr lang="en-US" sz="1300" dirty="0"/>
          </a:p>
        </p:txBody>
      </p:sp>
      <p:sp>
        <p:nvSpPr>
          <p:cNvPr id="23" name="box_104"/>
          <p:cNvSpPr/>
          <p:nvPr/>
        </p:nvSpPr>
        <p:spPr>
          <a:xfrm>
            <a:off x="548640" y="5120640"/>
            <a:ext cx="2396414" cy="685800"/>
          </a:xfrm>
          <a:prstGeom prst="roundRect">
            <a:avLst>
              <a:gd name="adj" fmla="val 10667"/>
            </a:avLst>
          </a:prstGeom>
          <a:solidFill>
            <a:srgbClr val="E7F0F3"/>
          </a:solidFill>
          <a:ln w="12700">
            <a:solidFill>
              <a:srgbClr val="1C7293"/>
            </a:solidFill>
            <a:prstDash val="solid"/>
          </a:ln>
        </p:spPr>
      </p:sp>
      <p:sp>
        <p:nvSpPr>
          <p:cNvPr id="24" name="text_105"/>
          <p:cNvSpPr txBox="1"/>
          <p:nvPr/>
        </p:nvSpPr>
        <p:spPr>
          <a:xfrm>
            <a:off x="640080" y="5120640"/>
            <a:ext cx="2213534" cy="685800"/>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Preprocess (NFC, normalize)</a:t>
            </a:r>
            <a:endParaRPr lang="en-US" sz="1400" dirty="0"/>
          </a:p>
        </p:txBody>
      </p:sp>
      <p:sp>
        <p:nvSpPr>
          <p:cNvPr id="25" name="arrow_106"/>
          <p:cNvSpPr/>
          <p:nvPr/>
        </p:nvSpPr>
        <p:spPr>
          <a:xfrm>
            <a:off x="3036494" y="5330952"/>
            <a:ext cx="320040" cy="274320"/>
          </a:xfrm>
          <a:prstGeom prst="rightArrow">
            <a:avLst/>
          </a:prstGeom>
          <a:solidFill>
            <a:srgbClr val="1C7293"/>
          </a:solidFill>
          <a:ln w="12700">
            <a:solidFill>
              <a:srgbClr val="1C7293"/>
            </a:solidFill>
            <a:prstDash val="solid"/>
          </a:ln>
        </p:spPr>
      </p:sp>
      <p:sp>
        <p:nvSpPr>
          <p:cNvPr id="26" name="box_107"/>
          <p:cNvSpPr/>
          <p:nvPr/>
        </p:nvSpPr>
        <p:spPr>
          <a:xfrm>
            <a:off x="3447974" y="5120640"/>
            <a:ext cx="2396414" cy="685800"/>
          </a:xfrm>
          <a:prstGeom prst="roundRect">
            <a:avLst>
              <a:gd name="adj" fmla="val 10667"/>
            </a:avLst>
          </a:prstGeom>
          <a:solidFill>
            <a:srgbClr val="E7F0F3"/>
          </a:solidFill>
          <a:ln w="12700">
            <a:solidFill>
              <a:srgbClr val="1C7293"/>
            </a:solidFill>
            <a:prstDash val="solid"/>
          </a:ln>
        </p:spPr>
      </p:sp>
      <p:sp>
        <p:nvSpPr>
          <p:cNvPr id="27" name="text_108"/>
          <p:cNvSpPr txBox="1"/>
          <p:nvPr/>
        </p:nvSpPr>
        <p:spPr>
          <a:xfrm>
            <a:off x="3539414" y="5120640"/>
            <a:ext cx="2213534" cy="685800"/>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Fix split (seed 42)</a:t>
            </a:r>
            <a:endParaRPr lang="en-US" sz="1400" dirty="0"/>
          </a:p>
        </p:txBody>
      </p:sp>
      <p:sp>
        <p:nvSpPr>
          <p:cNvPr id="28" name="arrow_109"/>
          <p:cNvSpPr/>
          <p:nvPr/>
        </p:nvSpPr>
        <p:spPr>
          <a:xfrm>
            <a:off x="5935828" y="5330952"/>
            <a:ext cx="320040" cy="274320"/>
          </a:xfrm>
          <a:prstGeom prst="rightArrow">
            <a:avLst/>
          </a:prstGeom>
          <a:solidFill>
            <a:srgbClr val="1C7293"/>
          </a:solidFill>
          <a:ln w="12700">
            <a:solidFill>
              <a:srgbClr val="1C7293"/>
            </a:solidFill>
            <a:prstDash val="solid"/>
          </a:ln>
        </p:spPr>
      </p:sp>
      <p:sp>
        <p:nvSpPr>
          <p:cNvPr id="29" name="box_110"/>
          <p:cNvSpPr/>
          <p:nvPr/>
        </p:nvSpPr>
        <p:spPr>
          <a:xfrm>
            <a:off x="6347308" y="5120640"/>
            <a:ext cx="2396414" cy="685800"/>
          </a:xfrm>
          <a:prstGeom prst="roundRect">
            <a:avLst>
              <a:gd name="adj" fmla="val 10667"/>
            </a:avLst>
          </a:prstGeom>
          <a:solidFill>
            <a:srgbClr val="E7F0F3"/>
          </a:solidFill>
          <a:ln w="12700">
            <a:solidFill>
              <a:srgbClr val="1C7293"/>
            </a:solidFill>
            <a:prstDash val="solid"/>
          </a:ln>
        </p:spPr>
      </p:sp>
      <p:sp>
        <p:nvSpPr>
          <p:cNvPr id="30" name="text_111"/>
          <p:cNvSpPr txBox="1"/>
          <p:nvPr/>
        </p:nvSpPr>
        <p:spPr>
          <a:xfrm>
            <a:off x="6438748" y="5120640"/>
            <a:ext cx="2213534" cy="685800"/>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Tune on dev / val</a:t>
            </a:r>
            <a:endParaRPr lang="en-US" sz="1400" dirty="0"/>
          </a:p>
        </p:txBody>
      </p:sp>
      <p:sp>
        <p:nvSpPr>
          <p:cNvPr id="31" name="arrow_112"/>
          <p:cNvSpPr/>
          <p:nvPr/>
        </p:nvSpPr>
        <p:spPr>
          <a:xfrm>
            <a:off x="8835161" y="5330952"/>
            <a:ext cx="320040" cy="274320"/>
          </a:xfrm>
          <a:prstGeom prst="rightArrow">
            <a:avLst/>
          </a:prstGeom>
          <a:solidFill>
            <a:srgbClr val="1C7293"/>
          </a:solidFill>
          <a:ln w="12700">
            <a:solidFill>
              <a:srgbClr val="1C7293"/>
            </a:solidFill>
            <a:prstDash val="solid"/>
          </a:ln>
        </p:spPr>
      </p:sp>
      <p:sp>
        <p:nvSpPr>
          <p:cNvPr id="32" name="box_113"/>
          <p:cNvSpPr/>
          <p:nvPr/>
        </p:nvSpPr>
        <p:spPr>
          <a:xfrm>
            <a:off x="9246641" y="5120640"/>
            <a:ext cx="2396414" cy="685800"/>
          </a:xfrm>
          <a:prstGeom prst="roundRect">
            <a:avLst>
              <a:gd name="adj" fmla="val 10667"/>
            </a:avLst>
          </a:prstGeom>
          <a:solidFill>
            <a:srgbClr val="FBF0DA"/>
          </a:solidFill>
          <a:ln w="12700">
            <a:solidFill>
              <a:srgbClr val="E8A33D"/>
            </a:solidFill>
            <a:prstDash val="solid"/>
          </a:ln>
        </p:spPr>
      </p:sp>
      <p:sp>
        <p:nvSpPr>
          <p:cNvPr id="33" name="text_114"/>
          <p:cNvSpPr txBox="1"/>
          <p:nvPr/>
        </p:nvSpPr>
        <p:spPr>
          <a:xfrm>
            <a:off x="9338081" y="5120640"/>
            <a:ext cx="2213534" cy="685800"/>
          </a:xfrm>
          <a:prstGeom prst="rect">
            <a:avLst/>
          </a:prstGeom>
          <a:noFill/>
          <a:ln/>
        </p:spPr>
        <p:txBody>
          <a:bodyPr wrap="square" lIns="0" tIns="0" rIns="0" bIns="0" rtlCol="0" anchor="ctr"/>
          <a:lstStyle/>
          <a:p>
            <a:pPr algn="ctr" indent="0" marL="0">
              <a:buNone/>
            </a:pPr>
            <a:r>
              <a:rPr lang="en-US" sz="1400" b="1" dirty="0">
                <a:solidFill>
                  <a:schemeClr val="tx2"/>
                </a:solidFill>
                <a:latin typeface="Calibri" pitchFamily="34" charset="0"/>
                <a:ea typeface="Calibri" pitchFamily="34" charset="-122"/>
                <a:cs typeface="Calibri" pitchFamily="34" charset="-120"/>
              </a:rPr>
              <a:t>Report on test</a:t>
            </a:r>
            <a:endParaRPr lang="en-US" sz="1400" dirty="0"/>
          </a:p>
        </p:txBody>
      </p:sp>
      <p:sp>
        <p:nvSpPr>
          <p:cNvPr id="34" name="text_115"/>
          <p:cNvSpPr txBox="1"/>
          <p:nvPr/>
        </p:nvSpPr>
        <p:spPr>
          <a:xfrm>
            <a:off x="548640" y="5897880"/>
            <a:ext cx="11094415" cy="365760"/>
          </a:xfrm>
          <a:prstGeom prst="rect">
            <a:avLst/>
          </a:prstGeom>
          <a:noFill/>
          <a:ln/>
        </p:spPr>
        <p:txBody>
          <a:bodyPr wrap="square" lIns="0" tIns="0" rIns="0" bIns="0" rtlCol="0" anchor="b"/>
          <a:lstStyle/>
          <a:p>
            <a:pPr indent="0" marL="0">
              <a:buNone/>
            </a:pPr>
            <a:r>
              <a:rPr lang="en-US" sz="1000" dirty="0">
                <a:solidFill>
                  <a:schemeClr val="accent3"/>
                </a:solidFill>
                <a:latin typeface="Calibri" pitchFamily="34" charset="0"/>
                <a:ea typeface="Calibri" pitchFamily="34" charset="-122"/>
                <a:cs typeface="Calibri" pitchFamily="34" charset="-120"/>
              </a:rPr>
              <a:t>Test data is never used to choose a configuration. Train–test overlap is checked in Part B · 02.</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1 · 07 · PROPOSED METHOD</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One proposed method, an 8-step pipeline</a:t>
            </a:r>
            <a:endParaRPr lang="en-US" sz="3200" dirty="0"/>
          </a:p>
        </p:txBody>
      </p:sp>
      <p:sp>
        <p:nvSpPr>
          <p:cNvPr id="5" name="card_116"/>
          <p:cNvSpPr/>
          <p:nvPr/>
        </p:nvSpPr>
        <p:spPr>
          <a:xfrm>
            <a:off x="548640" y="1325880"/>
            <a:ext cx="11094415" cy="777240"/>
          </a:xfrm>
          <a:prstGeom prst="roundRect">
            <a:avLst>
              <a:gd name="adj" fmla="val 9412"/>
            </a:avLst>
          </a:prstGeom>
          <a:solidFill>
            <a:schemeClr val="accent5"/>
          </a:solidFill>
          <a:ln w="12700">
            <a:solidFill>
              <a:schemeClr val="accent5"/>
            </a:solidFill>
            <a:prstDash val="solid"/>
          </a:ln>
        </p:spPr>
      </p:sp>
      <p:sp>
        <p:nvSpPr>
          <p:cNvPr id="6" name="text_117"/>
          <p:cNvSpPr txBox="1"/>
          <p:nvPr/>
        </p:nvSpPr>
        <p:spPr>
          <a:xfrm>
            <a:off x="822960" y="1325880"/>
            <a:ext cx="10545775" cy="777240"/>
          </a:xfrm>
          <a:prstGeom prst="rect">
            <a:avLst/>
          </a:prstGeom>
          <a:noFill/>
          <a:ln/>
        </p:spPr>
        <p:txBody>
          <a:bodyPr wrap="square" lIns="0" tIns="0" rIns="0" bIns="0" rtlCol="0" anchor="ctr"/>
          <a:lstStyle/>
          <a:p>
            <a:pPr indent="0" marL="0">
              <a:buNone/>
            </a:pPr>
            <a:r>
              <a:rPr lang="en-US" sz="1400" b="1" dirty="0">
                <a:solidFill>
                  <a:srgbClr val="13294B"/>
                </a:solidFill>
                <a:latin typeface="Calibri" pitchFamily="34" charset="0"/>
                <a:ea typeface="Calibri" pitchFamily="34" charset="-122"/>
                <a:cs typeface="Calibri" pitchFamily="34" charset="-120"/>
              </a:rPr>
              <a:t>Proposed method  </a:t>
            </a:r>
            <a:pPr indent="0" marL="0">
              <a:buNone/>
            </a:pPr>
            <a:r>
              <a:rPr lang="en-US" sz="1400" dirty="0">
                <a:solidFill>
                  <a:schemeClr val="tx1"/>
                </a:solidFill>
                <a:latin typeface="Calibri" pitchFamily="34" charset="0"/>
                <a:ea typeface="Calibri" pitchFamily="34" charset="-122"/>
                <a:cs typeface="Calibri" pitchFamily="34" charset="-120"/>
              </a:rPr>
              <a:t>QLoRA on Qwen2.5-VL-3B-Instruct + Vietnamese prompt with OCR text (ViTextVQA). Base model frozen in 4-bit NF4; only LoRA adapters are trained. Realised as OCR-aware QLoRA (B3) in Part B · 06.</a:t>
            </a:r>
            <a:endParaRPr lang="en-US" sz="1400" dirty="0"/>
          </a:p>
        </p:txBody>
      </p:sp>
      <p:sp>
        <p:nvSpPr>
          <p:cNvPr id="7" name="card_118"/>
          <p:cNvSpPr/>
          <p:nvPr/>
        </p:nvSpPr>
        <p:spPr>
          <a:xfrm>
            <a:off x="548640" y="2286000"/>
            <a:ext cx="2533574" cy="1325880"/>
          </a:xfrm>
          <a:prstGeom prst="roundRect">
            <a:avLst>
              <a:gd name="adj" fmla="val 5517"/>
            </a:avLst>
          </a:prstGeom>
          <a:solidFill>
            <a:schemeClr val="bg2"/>
          </a:solidFill>
          <a:ln w="12700">
            <a:solidFill>
              <a:schemeClr val="bg2"/>
            </a:solidFill>
            <a:prstDash val="solid"/>
          </a:ln>
        </p:spPr>
      </p:sp>
      <p:sp>
        <p:nvSpPr>
          <p:cNvPr id="8" name="text_119"/>
          <p:cNvSpPr txBox="1"/>
          <p:nvPr/>
        </p:nvSpPr>
        <p:spPr>
          <a:xfrm>
            <a:off x="731520" y="2377440"/>
            <a:ext cx="2167814" cy="411480"/>
          </a:xfrm>
          <a:prstGeom prst="rect">
            <a:avLst/>
          </a:prstGeom>
          <a:noFill/>
          <a:ln/>
        </p:spPr>
        <p:txBody>
          <a:bodyPr wrap="square" lIns="0" tIns="0" rIns="0" bIns="0" rtlCol="0" anchor="t"/>
          <a:lstStyle/>
          <a:p>
            <a:pPr indent="0" marL="0">
              <a:buNone/>
            </a:pPr>
            <a:r>
              <a:rPr lang="en-US" sz="1350" b="1" dirty="0">
                <a:solidFill>
                  <a:schemeClr val="tx2"/>
                </a:solidFill>
                <a:latin typeface="Calibri" pitchFamily="34" charset="0"/>
                <a:ea typeface="Calibri" pitchFamily="34" charset="-122"/>
                <a:cs typeface="Calibri" pitchFamily="34" charset="-120"/>
              </a:rPr>
              <a:t>1 · Data</a:t>
            </a:r>
            <a:endParaRPr lang="en-US" sz="1350" dirty="0"/>
          </a:p>
        </p:txBody>
      </p:sp>
      <p:sp>
        <p:nvSpPr>
          <p:cNvPr id="9" name="text_120"/>
          <p:cNvSpPr txBox="1"/>
          <p:nvPr/>
        </p:nvSpPr>
        <p:spPr>
          <a:xfrm>
            <a:off x="731520" y="2788920"/>
            <a:ext cx="2167814" cy="77724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ViVQA + ViTextVQA (official)</a:t>
            </a:r>
            <a:endParaRPr lang="en-US" sz="1150" dirty="0"/>
          </a:p>
        </p:txBody>
      </p:sp>
      <p:sp>
        <p:nvSpPr>
          <p:cNvPr id="10" name="arrow_121"/>
          <p:cNvSpPr/>
          <p:nvPr/>
        </p:nvSpPr>
        <p:spPr>
          <a:xfrm>
            <a:off x="3127934" y="2839212"/>
            <a:ext cx="228600" cy="219456"/>
          </a:xfrm>
          <a:prstGeom prst="rightArrow">
            <a:avLst/>
          </a:prstGeom>
          <a:solidFill>
            <a:srgbClr val="1C7293"/>
          </a:solidFill>
          <a:ln w="12700">
            <a:solidFill>
              <a:srgbClr val="1C7293"/>
            </a:solidFill>
            <a:prstDash val="solid"/>
          </a:ln>
        </p:spPr>
      </p:sp>
      <p:sp>
        <p:nvSpPr>
          <p:cNvPr id="11" name="card_122"/>
          <p:cNvSpPr/>
          <p:nvPr/>
        </p:nvSpPr>
        <p:spPr>
          <a:xfrm>
            <a:off x="3402254" y="2286000"/>
            <a:ext cx="2533574" cy="1325880"/>
          </a:xfrm>
          <a:prstGeom prst="roundRect">
            <a:avLst>
              <a:gd name="adj" fmla="val 5517"/>
            </a:avLst>
          </a:prstGeom>
          <a:solidFill>
            <a:schemeClr val="bg2"/>
          </a:solidFill>
          <a:ln w="12700">
            <a:solidFill>
              <a:schemeClr val="bg2"/>
            </a:solidFill>
            <a:prstDash val="solid"/>
          </a:ln>
        </p:spPr>
      </p:sp>
      <p:sp>
        <p:nvSpPr>
          <p:cNvPr id="12" name="text_123"/>
          <p:cNvSpPr txBox="1"/>
          <p:nvPr/>
        </p:nvSpPr>
        <p:spPr>
          <a:xfrm>
            <a:off x="3585134" y="2377440"/>
            <a:ext cx="2167814" cy="411480"/>
          </a:xfrm>
          <a:prstGeom prst="rect">
            <a:avLst/>
          </a:prstGeom>
          <a:noFill/>
          <a:ln/>
        </p:spPr>
        <p:txBody>
          <a:bodyPr wrap="square" lIns="0" tIns="0" rIns="0" bIns="0" rtlCol="0" anchor="t"/>
          <a:lstStyle/>
          <a:p>
            <a:pPr indent="0" marL="0">
              <a:buNone/>
            </a:pPr>
            <a:r>
              <a:rPr lang="en-US" sz="1350" b="1" dirty="0">
                <a:solidFill>
                  <a:schemeClr val="tx2"/>
                </a:solidFill>
                <a:latin typeface="Calibri" pitchFamily="34" charset="0"/>
                <a:ea typeface="Calibri" pitchFamily="34" charset="-122"/>
                <a:cs typeface="Calibri" pitchFamily="34" charset="-120"/>
              </a:rPr>
              <a:t>2 · Preprocess</a:t>
            </a:r>
            <a:endParaRPr lang="en-US" sz="1350" dirty="0"/>
          </a:p>
        </p:txBody>
      </p:sp>
      <p:sp>
        <p:nvSpPr>
          <p:cNvPr id="13" name="text_124"/>
          <p:cNvSpPr txBox="1"/>
          <p:nvPr/>
        </p:nvSpPr>
        <p:spPr>
          <a:xfrm>
            <a:off x="3585134" y="2788920"/>
            <a:ext cx="2167814" cy="77724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NFC, lowercase, normalize answers; resize</a:t>
            </a:r>
            <a:endParaRPr lang="en-US" sz="1150" dirty="0"/>
          </a:p>
        </p:txBody>
      </p:sp>
      <p:sp>
        <p:nvSpPr>
          <p:cNvPr id="14" name="arrow_125"/>
          <p:cNvSpPr/>
          <p:nvPr/>
        </p:nvSpPr>
        <p:spPr>
          <a:xfrm>
            <a:off x="5981548" y="2839212"/>
            <a:ext cx="228600" cy="219456"/>
          </a:xfrm>
          <a:prstGeom prst="rightArrow">
            <a:avLst/>
          </a:prstGeom>
          <a:solidFill>
            <a:srgbClr val="1C7293"/>
          </a:solidFill>
          <a:ln w="12700">
            <a:solidFill>
              <a:srgbClr val="1C7293"/>
            </a:solidFill>
            <a:prstDash val="solid"/>
          </a:ln>
        </p:spPr>
      </p:sp>
      <p:sp>
        <p:nvSpPr>
          <p:cNvPr id="15" name="card_126"/>
          <p:cNvSpPr/>
          <p:nvPr/>
        </p:nvSpPr>
        <p:spPr>
          <a:xfrm>
            <a:off x="6255868" y="2286000"/>
            <a:ext cx="2533574" cy="1325880"/>
          </a:xfrm>
          <a:prstGeom prst="roundRect">
            <a:avLst>
              <a:gd name="adj" fmla="val 5517"/>
            </a:avLst>
          </a:prstGeom>
          <a:solidFill>
            <a:schemeClr val="bg2"/>
          </a:solidFill>
          <a:ln w="12700">
            <a:solidFill>
              <a:schemeClr val="bg2"/>
            </a:solidFill>
            <a:prstDash val="solid"/>
          </a:ln>
        </p:spPr>
      </p:sp>
      <p:sp>
        <p:nvSpPr>
          <p:cNvPr id="16" name="text_127"/>
          <p:cNvSpPr txBox="1"/>
          <p:nvPr/>
        </p:nvSpPr>
        <p:spPr>
          <a:xfrm>
            <a:off x="6438748" y="2377440"/>
            <a:ext cx="2167814" cy="411480"/>
          </a:xfrm>
          <a:prstGeom prst="rect">
            <a:avLst/>
          </a:prstGeom>
          <a:noFill/>
          <a:ln/>
        </p:spPr>
        <p:txBody>
          <a:bodyPr wrap="square" lIns="0" tIns="0" rIns="0" bIns="0" rtlCol="0" anchor="t"/>
          <a:lstStyle/>
          <a:p>
            <a:pPr indent="0" marL="0">
              <a:buNone/>
            </a:pPr>
            <a:r>
              <a:rPr lang="en-US" sz="1350" b="1" dirty="0">
                <a:solidFill>
                  <a:schemeClr val="tx2"/>
                </a:solidFill>
                <a:latin typeface="Calibri" pitchFamily="34" charset="0"/>
                <a:ea typeface="Calibri" pitchFamily="34" charset="-122"/>
                <a:cs typeface="Calibri" pitchFamily="34" charset="-120"/>
              </a:rPr>
              <a:t>3 · OCR (ViTextVQA)</a:t>
            </a:r>
            <a:endParaRPr lang="en-US" sz="1350" dirty="0"/>
          </a:p>
        </p:txBody>
      </p:sp>
      <p:sp>
        <p:nvSpPr>
          <p:cNvPr id="17" name="text_128"/>
          <p:cNvSpPr txBox="1"/>
          <p:nvPr/>
        </p:nvSpPr>
        <p:spPr>
          <a:xfrm>
            <a:off x="6438748" y="2788920"/>
            <a:ext cx="2167814" cy="77724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Read text, order top-left → bottom-right, cache once</a:t>
            </a:r>
            <a:endParaRPr lang="en-US" sz="1150" dirty="0"/>
          </a:p>
        </p:txBody>
      </p:sp>
      <p:sp>
        <p:nvSpPr>
          <p:cNvPr id="18" name="arrow_129"/>
          <p:cNvSpPr/>
          <p:nvPr/>
        </p:nvSpPr>
        <p:spPr>
          <a:xfrm>
            <a:off x="8835161" y="2839212"/>
            <a:ext cx="228600" cy="219456"/>
          </a:xfrm>
          <a:prstGeom prst="rightArrow">
            <a:avLst/>
          </a:prstGeom>
          <a:solidFill>
            <a:srgbClr val="1C7293"/>
          </a:solidFill>
          <a:ln w="12700">
            <a:solidFill>
              <a:srgbClr val="1C7293"/>
            </a:solidFill>
            <a:prstDash val="solid"/>
          </a:ln>
        </p:spPr>
      </p:sp>
      <p:sp>
        <p:nvSpPr>
          <p:cNvPr id="19" name="card_130"/>
          <p:cNvSpPr/>
          <p:nvPr/>
        </p:nvSpPr>
        <p:spPr>
          <a:xfrm>
            <a:off x="9109481" y="2286000"/>
            <a:ext cx="2533574" cy="1325880"/>
          </a:xfrm>
          <a:prstGeom prst="roundRect">
            <a:avLst>
              <a:gd name="adj" fmla="val 5517"/>
            </a:avLst>
          </a:prstGeom>
          <a:solidFill>
            <a:schemeClr val="bg2"/>
          </a:solidFill>
          <a:ln w="12700">
            <a:solidFill>
              <a:schemeClr val="bg2"/>
            </a:solidFill>
            <a:prstDash val="solid"/>
          </a:ln>
        </p:spPr>
      </p:sp>
      <p:sp>
        <p:nvSpPr>
          <p:cNvPr id="20" name="text_131"/>
          <p:cNvSpPr txBox="1"/>
          <p:nvPr/>
        </p:nvSpPr>
        <p:spPr>
          <a:xfrm>
            <a:off x="9292361" y="2377440"/>
            <a:ext cx="2167814" cy="411480"/>
          </a:xfrm>
          <a:prstGeom prst="rect">
            <a:avLst/>
          </a:prstGeom>
          <a:noFill/>
          <a:ln/>
        </p:spPr>
        <p:txBody>
          <a:bodyPr wrap="square" lIns="0" tIns="0" rIns="0" bIns="0" rtlCol="0" anchor="t"/>
          <a:lstStyle/>
          <a:p>
            <a:pPr indent="0" marL="0">
              <a:buNone/>
            </a:pPr>
            <a:r>
              <a:rPr lang="en-US" sz="1350" b="1" dirty="0">
                <a:solidFill>
                  <a:schemeClr val="tx2"/>
                </a:solidFill>
                <a:latin typeface="Calibri" pitchFamily="34" charset="0"/>
                <a:ea typeface="Calibri" pitchFamily="34" charset="-122"/>
                <a:cs typeface="Calibri" pitchFamily="34" charset="-120"/>
              </a:rPr>
              <a:t>4 · Fixed split</a:t>
            </a:r>
            <a:endParaRPr lang="en-US" sz="1350" dirty="0"/>
          </a:p>
        </p:txBody>
      </p:sp>
      <p:sp>
        <p:nvSpPr>
          <p:cNvPr id="21" name="text_132"/>
          <p:cNvSpPr txBox="1"/>
          <p:nvPr/>
        </p:nvSpPr>
        <p:spPr>
          <a:xfrm>
            <a:off x="9292361" y="2788920"/>
            <a:ext cx="2167814" cy="77724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Official splits; ViVQA val 1,200; seed 42</a:t>
            </a:r>
            <a:endParaRPr lang="en-US" sz="1150" dirty="0"/>
          </a:p>
        </p:txBody>
      </p:sp>
      <p:sp>
        <p:nvSpPr>
          <p:cNvPr id="22" name="card_133"/>
          <p:cNvSpPr/>
          <p:nvPr/>
        </p:nvSpPr>
        <p:spPr>
          <a:xfrm>
            <a:off x="548640" y="3886200"/>
            <a:ext cx="2533574" cy="1325880"/>
          </a:xfrm>
          <a:prstGeom prst="roundRect">
            <a:avLst>
              <a:gd name="adj" fmla="val 5517"/>
            </a:avLst>
          </a:prstGeom>
          <a:solidFill>
            <a:schemeClr val="bg2"/>
          </a:solidFill>
          <a:ln w="12700">
            <a:solidFill>
              <a:schemeClr val="bg2"/>
            </a:solidFill>
            <a:prstDash val="solid"/>
          </a:ln>
        </p:spPr>
      </p:sp>
      <p:sp>
        <p:nvSpPr>
          <p:cNvPr id="23" name="text_134"/>
          <p:cNvSpPr txBox="1"/>
          <p:nvPr/>
        </p:nvSpPr>
        <p:spPr>
          <a:xfrm>
            <a:off x="731520" y="3977640"/>
            <a:ext cx="2167814" cy="411480"/>
          </a:xfrm>
          <a:prstGeom prst="rect">
            <a:avLst/>
          </a:prstGeom>
          <a:noFill/>
          <a:ln/>
        </p:spPr>
        <p:txBody>
          <a:bodyPr wrap="square" lIns="0" tIns="0" rIns="0" bIns="0" rtlCol="0" anchor="t"/>
          <a:lstStyle/>
          <a:p>
            <a:pPr indent="0" marL="0">
              <a:buNone/>
            </a:pPr>
            <a:r>
              <a:rPr lang="en-US" sz="1350" b="1" dirty="0">
                <a:solidFill>
                  <a:schemeClr val="tx2"/>
                </a:solidFill>
                <a:latin typeface="Calibri" pitchFamily="34" charset="0"/>
                <a:ea typeface="Calibri" pitchFamily="34" charset="-122"/>
                <a:cs typeface="Calibri" pitchFamily="34" charset="-120"/>
              </a:rPr>
              <a:t>5 · Prompt builder</a:t>
            </a:r>
            <a:endParaRPr lang="en-US" sz="1350" dirty="0"/>
          </a:p>
        </p:txBody>
      </p:sp>
      <p:sp>
        <p:nvSpPr>
          <p:cNvPr id="24" name="text_135"/>
          <p:cNvSpPr txBox="1"/>
          <p:nvPr/>
        </p:nvSpPr>
        <p:spPr>
          <a:xfrm>
            <a:off x="731520" y="4389120"/>
            <a:ext cx="2167814" cy="77724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Image + question (+ OCR line); OCR capped by a token budget</a:t>
            </a:r>
            <a:endParaRPr lang="en-US" sz="1150" dirty="0"/>
          </a:p>
        </p:txBody>
      </p:sp>
      <p:sp>
        <p:nvSpPr>
          <p:cNvPr id="25" name="arrow_136"/>
          <p:cNvSpPr/>
          <p:nvPr/>
        </p:nvSpPr>
        <p:spPr>
          <a:xfrm>
            <a:off x="3127934" y="4439412"/>
            <a:ext cx="228600" cy="219456"/>
          </a:xfrm>
          <a:prstGeom prst="rightArrow">
            <a:avLst/>
          </a:prstGeom>
          <a:solidFill>
            <a:srgbClr val="1C7293"/>
          </a:solidFill>
          <a:ln w="12700">
            <a:solidFill>
              <a:srgbClr val="1C7293"/>
            </a:solidFill>
            <a:prstDash val="solid"/>
          </a:ln>
        </p:spPr>
      </p:sp>
      <p:sp>
        <p:nvSpPr>
          <p:cNvPr id="26" name="card_137"/>
          <p:cNvSpPr/>
          <p:nvPr/>
        </p:nvSpPr>
        <p:spPr>
          <a:xfrm>
            <a:off x="3402254" y="3886200"/>
            <a:ext cx="2533574" cy="1325880"/>
          </a:xfrm>
          <a:prstGeom prst="roundRect">
            <a:avLst>
              <a:gd name="adj" fmla="val 5517"/>
            </a:avLst>
          </a:prstGeom>
          <a:solidFill>
            <a:schemeClr val="accent4"/>
          </a:solidFill>
          <a:ln w="12700">
            <a:solidFill>
              <a:schemeClr val="accent4"/>
            </a:solidFill>
            <a:prstDash val="solid"/>
          </a:ln>
        </p:spPr>
      </p:sp>
      <p:sp>
        <p:nvSpPr>
          <p:cNvPr id="27" name="text_138"/>
          <p:cNvSpPr txBox="1"/>
          <p:nvPr/>
        </p:nvSpPr>
        <p:spPr>
          <a:xfrm>
            <a:off x="3585134" y="3977640"/>
            <a:ext cx="2167814" cy="411480"/>
          </a:xfrm>
          <a:prstGeom prst="rect">
            <a:avLst/>
          </a:prstGeom>
          <a:noFill/>
          <a:ln/>
        </p:spPr>
        <p:txBody>
          <a:bodyPr wrap="square" lIns="0" tIns="0" rIns="0" bIns="0" rtlCol="0" anchor="t"/>
          <a:lstStyle/>
          <a:p>
            <a:pPr indent="0" marL="0">
              <a:buNone/>
            </a:pPr>
            <a:r>
              <a:rPr lang="en-US" sz="1350" b="1" dirty="0">
                <a:solidFill>
                  <a:schemeClr val="tx2"/>
                </a:solidFill>
                <a:latin typeface="Calibri" pitchFamily="34" charset="0"/>
                <a:ea typeface="Calibri" pitchFamily="34" charset="-122"/>
                <a:cs typeface="Calibri" pitchFamily="34" charset="-120"/>
              </a:rPr>
              <a:t>6 · Qwen2.5-VL-3B 4-bit + LoRA</a:t>
            </a:r>
            <a:endParaRPr lang="en-US" sz="1350" dirty="0"/>
          </a:p>
        </p:txBody>
      </p:sp>
      <p:sp>
        <p:nvSpPr>
          <p:cNvPr id="28" name="text_139"/>
          <p:cNvSpPr txBox="1"/>
          <p:nvPr/>
        </p:nvSpPr>
        <p:spPr>
          <a:xfrm>
            <a:off x="3585134" y="4389120"/>
            <a:ext cx="2167814" cy="77724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Train: loss on answer tokens only; infer: greedy, short</a:t>
            </a:r>
            <a:endParaRPr lang="en-US" sz="1150" dirty="0"/>
          </a:p>
        </p:txBody>
      </p:sp>
      <p:sp>
        <p:nvSpPr>
          <p:cNvPr id="29" name="arrow_140"/>
          <p:cNvSpPr/>
          <p:nvPr/>
        </p:nvSpPr>
        <p:spPr>
          <a:xfrm>
            <a:off x="5981548" y="4439412"/>
            <a:ext cx="228600" cy="219456"/>
          </a:xfrm>
          <a:prstGeom prst="rightArrow">
            <a:avLst/>
          </a:prstGeom>
          <a:solidFill>
            <a:srgbClr val="1C7293"/>
          </a:solidFill>
          <a:ln w="12700">
            <a:solidFill>
              <a:srgbClr val="1C7293"/>
            </a:solidFill>
            <a:prstDash val="solid"/>
          </a:ln>
        </p:spPr>
      </p:sp>
      <p:sp>
        <p:nvSpPr>
          <p:cNvPr id="30" name="card_141"/>
          <p:cNvSpPr/>
          <p:nvPr/>
        </p:nvSpPr>
        <p:spPr>
          <a:xfrm>
            <a:off x="6255868" y="3886200"/>
            <a:ext cx="2533574" cy="1325880"/>
          </a:xfrm>
          <a:prstGeom prst="roundRect">
            <a:avLst>
              <a:gd name="adj" fmla="val 5517"/>
            </a:avLst>
          </a:prstGeom>
          <a:solidFill>
            <a:schemeClr val="bg2"/>
          </a:solidFill>
          <a:ln w="12700">
            <a:solidFill>
              <a:schemeClr val="bg2"/>
            </a:solidFill>
            <a:prstDash val="solid"/>
          </a:ln>
        </p:spPr>
      </p:sp>
      <p:sp>
        <p:nvSpPr>
          <p:cNvPr id="31" name="text_142"/>
          <p:cNvSpPr txBox="1"/>
          <p:nvPr/>
        </p:nvSpPr>
        <p:spPr>
          <a:xfrm>
            <a:off x="6438748" y="3977640"/>
            <a:ext cx="2167814" cy="411480"/>
          </a:xfrm>
          <a:prstGeom prst="rect">
            <a:avLst/>
          </a:prstGeom>
          <a:noFill/>
          <a:ln/>
        </p:spPr>
        <p:txBody>
          <a:bodyPr wrap="square" lIns="0" tIns="0" rIns="0" bIns="0" rtlCol="0" anchor="t"/>
          <a:lstStyle/>
          <a:p>
            <a:pPr indent="0" marL="0">
              <a:buNone/>
            </a:pPr>
            <a:r>
              <a:rPr lang="en-US" sz="1350" b="1" dirty="0">
                <a:solidFill>
                  <a:schemeClr val="tx2"/>
                </a:solidFill>
                <a:latin typeface="Calibri" pitchFamily="34" charset="0"/>
                <a:ea typeface="Calibri" pitchFamily="34" charset="-122"/>
                <a:cs typeface="Calibri" pitchFamily="34" charset="-120"/>
              </a:rPr>
              <a:t>7 · Score &amp; analyse</a:t>
            </a:r>
            <a:endParaRPr lang="en-US" sz="1350" dirty="0"/>
          </a:p>
        </p:txBody>
      </p:sp>
      <p:sp>
        <p:nvSpPr>
          <p:cNvPr id="32" name="text_143"/>
          <p:cNvSpPr txBox="1"/>
          <p:nvPr/>
        </p:nvSpPr>
        <p:spPr>
          <a:xfrm>
            <a:off x="6438748" y="4389120"/>
            <a:ext cx="2167814" cy="77724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EM, VQA-Acc, ANLS (+F1); hallucination; error types V1–V4; log seed, VRAM, time</a:t>
            </a:r>
            <a:endParaRPr lang="en-US" sz="1150" dirty="0"/>
          </a:p>
        </p:txBody>
      </p:sp>
      <p:sp>
        <p:nvSpPr>
          <p:cNvPr id="33" name="arrow_144"/>
          <p:cNvSpPr/>
          <p:nvPr/>
        </p:nvSpPr>
        <p:spPr>
          <a:xfrm>
            <a:off x="8835161" y="4439412"/>
            <a:ext cx="228600" cy="219456"/>
          </a:xfrm>
          <a:prstGeom prst="rightArrow">
            <a:avLst/>
          </a:prstGeom>
          <a:solidFill>
            <a:srgbClr val="1C7293"/>
          </a:solidFill>
          <a:ln w="12700">
            <a:solidFill>
              <a:srgbClr val="1C7293"/>
            </a:solidFill>
            <a:prstDash val="solid"/>
          </a:ln>
        </p:spPr>
      </p:sp>
      <p:sp>
        <p:nvSpPr>
          <p:cNvPr id="34" name="card_145"/>
          <p:cNvSpPr/>
          <p:nvPr/>
        </p:nvSpPr>
        <p:spPr>
          <a:xfrm>
            <a:off x="9109481" y="3886200"/>
            <a:ext cx="2533574" cy="1325880"/>
          </a:xfrm>
          <a:prstGeom prst="roundRect">
            <a:avLst>
              <a:gd name="adj" fmla="val 5517"/>
            </a:avLst>
          </a:prstGeom>
          <a:solidFill>
            <a:schemeClr val="bg2"/>
          </a:solidFill>
          <a:ln w="12700">
            <a:solidFill>
              <a:schemeClr val="bg2"/>
            </a:solidFill>
            <a:prstDash val="solid"/>
          </a:ln>
        </p:spPr>
      </p:sp>
      <p:sp>
        <p:nvSpPr>
          <p:cNvPr id="35" name="text_146"/>
          <p:cNvSpPr txBox="1"/>
          <p:nvPr/>
        </p:nvSpPr>
        <p:spPr>
          <a:xfrm>
            <a:off x="9292361" y="3977640"/>
            <a:ext cx="2167814" cy="411480"/>
          </a:xfrm>
          <a:prstGeom prst="rect">
            <a:avLst/>
          </a:prstGeom>
          <a:noFill/>
          <a:ln/>
        </p:spPr>
        <p:txBody>
          <a:bodyPr wrap="square" lIns="0" tIns="0" rIns="0" bIns="0" rtlCol="0" anchor="t"/>
          <a:lstStyle/>
          <a:p>
            <a:pPr indent="0" marL="0">
              <a:buNone/>
            </a:pPr>
            <a:r>
              <a:rPr lang="en-US" sz="1350" b="1" dirty="0">
                <a:solidFill>
                  <a:schemeClr val="tx2"/>
                </a:solidFill>
                <a:latin typeface="Calibri" pitchFamily="34" charset="0"/>
                <a:ea typeface="Calibri" pitchFamily="34" charset="-122"/>
                <a:cs typeface="Calibri" pitchFamily="34" charset="-120"/>
              </a:rPr>
              <a:t>8 · Web prototype</a:t>
            </a:r>
            <a:endParaRPr lang="en-US" sz="1350" dirty="0"/>
          </a:p>
        </p:txBody>
      </p:sp>
      <p:sp>
        <p:nvSpPr>
          <p:cNvPr id="36" name="text_147"/>
          <p:cNvSpPr txBox="1"/>
          <p:nvPr/>
        </p:nvSpPr>
        <p:spPr>
          <a:xfrm>
            <a:off x="9292361" y="4389120"/>
            <a:ext cx="2167814" cy="777240"/>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Upload image, ask in Vietnamese, show answer + OCR text</a:t>
            </a:r>
            <a:endParaRPr lang="en-US" sz="1150" dirty="0"/>
          </a:p>
        </p:txBody>
      </p:sp>
      <p:sp>
        <p:nvSpPr>
          <p:cNvPr id="37" name="text_148"/>
          <p:cNvSpPr txBox="1"/>
          <p:nvPr/>
        </p:nvSpPr>
        <p:spPr>
          <a:xfrm>
            <a:off x="548640" y="5806440"/>
            <a:ext cx="11094415" cy="457200"/>
          </a:xfrm>
          <a:prstGeom prst="rect">
            <a:avLst/>
          </a:prstGeom>
          <a:noFill/>
          <a:ln/>
        </p:spPr>
        <p:txBody>
          <a:bodyPr wrap="square" lIns="0" tIns="0" rIns="0" bIns="0" rtlCol="0" anchor="b"/>
          <a:lstStyle/>
          <a:p>
            <a:pPr indent="0" marL="0">
              <a:buNone/>
            </a:pPr>
            <a:r>
              <a:rPr lang="en-US" sz="1000" dirty="0">
                <a:solidFill>
                  <a:schemeClr val="accent3"/>
                </a:solidFill>
                <a:latin typeface="Calibri" pitchFamily="34" charset="0"/>
                <a:ea typeface="Calibri" pitchFamily="34" charset="-122"/>
                <a:cs typeface="Calibri" pitchFamily="34" charset="-120"/>
              </a:rPr>
              <a:t>Steps 1–4 run once and are cached; steps 5–7 are identical for every run (frozen protocol, Part B · 03). Final prompt form: Part B · 06 (one OCR line, same prompt for training and testing).</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1 · 07 · QLoRA AND MODEL ROLES</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Why QLoRA only — and which model is used for what</a:t>
            </a:r>
            <a:endParaRPr lang="en-US" sz="3200" dirty="0"/>
          </a:p>
        </p:txBody>
      </p:sp>
      <p:sp>
        <p:nvSpPr>
          <p:cNvPr id="5" name="card_149"/>
          <p:cNvSpPr/>
          <p:nvPr/>
        </p:nvSpPr>
        <p:spPr>
          <a:xfrm>
            <a:off x="548640" y="1371600"/>
            <a:ext cx="4937760" cy="2514600"/>
          </a:xfrm>
          <a:prstGeom prst="roundRect">
            <a:avLst>
              <a:gd name="adj" fmla="val 2909"/>
            </a:avLst>
          </a:prstGeom>
          <a:solidFill>
            <a:schemeClr val="bg2"/>
          </a:solidFill>
          <a:ln w="12700">
            <a:solidFill>
              <a:schemeClr val="bg2"/>
            </a:solidFill>
            <a:prstDash val="solid"/>
          </a:ln>
        </p:spPr>
      </p:sp>
      <p:sp>
        <p:nvSpPr>
          <p:cNvPr id="6" name="text_150"/>
          <p:cNvSpPr txBox="1"/>
          <p:nvPr/>
        </p:nvSpPr>
        <p:spPr>
          <a:xfrm>
            <a:off x="777240" y="1463040"/>
            <a:ext cx="4480560" cy="36576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How QLoRA works</a:t>
            </a:r>
            <a:endParaRPr lang="en-US" sz="1500" dirty="0"/>
          </a:p>
        </p:txBody>
      </p:sp>
      <p:sp>
        <p:nvSpPr>
          <p:cNvPr id="7" name="list_151"/>
          <p:cNvSpPr txBox="1"/>
          <p:nvPr/>
        </p:nvSpPr>
        <p:spPr>
          <a:xfrm>
            <a:off x="777240" y="1874520"/>
            <a:ext cx="4480560" cy="17373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Base weights quantized to 4-bit NF4 and frozen</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Each target layer gets two small matrices A·B (rank r); only A and B are trained</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Result: a ~30 MB adapter loaded on top of the base model</a:t>
            </a:r>
            <a:endParaRPr lang="en-US" sz="1300" dirty="0"/>
          </a:p>
        </p:txBody>
      </p:sp>
      <p:sp>
        <p:nvSpPr>
          <p:cNvPr id="8" name="text_152"/>
          <p:cNvSpPr txBox="1"/>
          <p:nvPr/>
        </p:nvSpPr>
        <p:spPr>
          <a:xfrm>
            <a:off x="777240" y="3520440"/>
            <a:ext cx="4480560" cy="274320"/>
          </a:xfrm>
          <a:prstGeom prst="rect">
            <a:avLst/>
          </a:prstGeom>
          <a:noFill/>
          <a:ln/>
        </p:spPr>
        <p:txBody>
          <a:bodyPr wrap="square" lIns="0" tIns="0" rIns="0" bIns="0" rtlCol="0" anchor="t"/>
          <a:lstStyle/>
          <a:p>
            <a:pPr indent="0" marL="0">
              <a:buNone/>
            </a:pPr>
            <a:r>
              <a:rPr lang="en-US" sz="1000" i="1" dirty="0">
                <a:solidFill>
                  <a:schemeClr val="accent3"/>
                </a:solidFill>
                <a:latin typeface="Calibri" pitchFamily="34" charset="0"/>
                <a:ea typeface="Calibri" pitchFamily="34" charset="-122"/>
                <a:cs typeface="Calibri" pitchFamily="34" charset="-120"/>
              </a:rPr>
              <a:t>Hu et al., LoRA, ICLR 2022 · Dettmers et al., QLoRA, NeurIPS 2023</a:t>
            </a:r>
            <a:endParaRPr lang="en-US" sz="1000" dirty="0"/>
          </a:p>
        </p:txBody>
      </p:sp>
      <p:sp>
        <p:nvSpPr>
          <p:cNvPr id="9" name="card_153"/>
          <p:cNvSpPr/>
          <p:nvPr/>
        </p:nvSpPr>
        <p:spPr>
          <a:xfrm>
            <a:off x="548640" y="4069080"/>
            <a:ext cx="4937760" cy="2194560"/>
          </a:xfrm>
          <a:prstGeom prst="roundRect">
            <a:avLst>
              <a:gd name="adj" fmla="val 3333"/>
            </a:avLst>
          </a:prstGeom>
          <a:solidFill>
            <a:schemeClr val="accent5"/>
          </a:solidFill>
          <a:ln w="12700">
            <a:solidFill>
              <a:schemeClr val="accent5"/>
            </a:solidFill>
            <a:prstDash val="solid"/>
          </a:ln>
        </p:spPr>
      </p:sp>
      <p:sp>
        <p:nvSpPr>
          <p:cNvPr id="10" name="text_154"/>
          <p:cNvSpPr txBox="1"/>
          <p:nvPr/>
        </p:nvSpPr>
        <p:spPr>
          <a:xfrm>
            <a:off x="777240" y="4160520"/>
            <a:ext cx="4480560" cy="365760"/>
          </a:xfrm>
          <a:prstGeom prst="rect">
            <a:avLst/>
          </a:prstGeom>
          <a:noFill/>
          <a:ln/>
        </p:spPr>
        <p:txBody>
          <a:bodyPr wrap="square" lIns="0" tIns="0" rIns="0" bIns="0" rtlCol="0" anchor="t"/>
          <a:lstStyle/>
          <a:p>
            <a:pPr indent="0" marL="0">
              <a:buNone/>
            </a:pPr>
            <a:r>
              <a:rPr lang="en-US" sz="1500" b="1" dirty="0">
                <a:solidFill>
                  <a:schemeClr val="tx2"/>
                </a:solidFill>
                <a:latin typeface="Calibri" pitchFamily="34" charset="0"/>
                <a:ea typeface="Calibri" pitchFamily="34" charset="-122"/>
                <a:cs typeface="Calibri" pitchFamily="34" charset="-120"/>
              </a:rPr>
              <a:t>Why only QLoRA (no LoRA vs QLoRA study)</a:t>
            </a:r>
            <a:endParaRPr lang="en-US" sz="1500" dirty="0"/>
          </a:p>
        </p:txBody>
      </p:sp>
      <p:sp>
        <p:nvSpPr>
          <p:cNvPr id="11" name="text_155"/>
          <p:cNvSpPr txBox="1"/>
          <p:nvPr/>
        </p:nvSpPr>
        <p:spPr>
          <a:xfrm>
            <a:off x="777240" y="4572000"/>
            <a:ext cx="4480560" cy="16459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3B weights take ~7–8 GB in 16-bit before image activations; ~2–3 GB in 4-bit. At Review 1 the GPU was a Colab T4 (16 GB, no bf16); from W7 an L4 (24 GB). QLoRA is the condition for running on this hardware, not a variable — the only comparison used for conclusions is QLoRA vs zero-shot on the same model.</a:t>
            </a:r>
            <a:endParaRPr lang="en-US" sz="1300" dirty="0"/>
          </a:p>
        </p:txBody>
      </p:sp>
      <p:graphicFrame>
        <p:nvGraphicFramePr>
          <p:cNvPr id="13" name="table_156"/>
          <p:cNvGraphicFramePr>
            <a:graphicFrameLocks noGrp="1"/>
          </p:cNvGraphicFramePr>
          <p:nvPr>
            <p:extLst>
              <p:ext uri="{D42A27DB-BD31-4B8C-83A1-F6EECF244321}">
                <p14:modId xmlns:p14="http://schemas.microsoft.com/office/powerpoint/2010/main" val="1579011935"/>
              </p:ext>
            </p:extLst>
          </p:nvPr>
        </p:nvGraphicFramePr>
        <p:xfrm>
          <a:off x="5852160" y="1371600"/>
          <a:ext cx="5790895" cy="914400"/>
        </p:xfrm>
        <a:graphic>
          <a:graphicData uri="http://schemas.openxmlformats.org/drawingml/2006/table">
            <a:tbl>
              <a:tblPr/>
              <a:tblGrid>
                <a:gridCol w="1965960"/>
                <a:gridCol w="2331720"/>
                <a:gridCol w="1493215"/>
              </a:tblGrid>
              <a:tr h="6583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Role</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Used to claim improvement?</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658368">
                <a:tc>
                  <a:txBody>
                    <a:bodyPr/>
                    <a:lstStyle/>
                    <a:p>
                      <a:pPr indent="0" marL="0">
                        <a:buNone/>
                      </a:pPr>
                      <a:r>
                        <a:rPr lang="en-US" sz="1250" b="1" dirty="0">
                          <a:solidFill>
                            <a:srgbClr val="243044"/>
                          </a:solidFill>
                          <a:latin typeface="Calibri" pitchFamily="34" charset="0"/>
                          <a:ea typeface="Calibri" pitchFamily="34" charset="-122"/>
                          <a:cs typeface="Calibri" pitchFamily="34" charset="-120"/>
                        </a:rPr>
                        <a:t>Qwen2.5-VL-3B-Instruct</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dirty="0">
                          <a:solidFill>
                            <a:srgbClr val="243044"/>
                          </a:solidFill>
                          <a:latin typeface="Calibri" pitchFamily="34" charset="0"/>
                          <a:ea typeface="Calibri" pitchFamily="34" charset="-122"/>
                          <a:cs typeface="Calibri" pitchFamily="34" charset="-120"/>
                        </a:rPr>
                        <a:t>Reproduced baseline + base of the proposed method</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dirty="0">
                          <a:solidFill>
                            <a:srgbClr val="243044"/>
                          </a:solidFill>
                          <a:latin typeface="Calibri" pitchFamily="34" charset="0"/>
                          <a:ea typeface="Calibri" pitchFamily="34" charset="-122"/>
                          <a:cs typeface="Calibri" pitchFamily="34" charset="-120"/>
                        </a:rPr>
                        <a:t>Yes — same model, split, seed, hardware</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658368">
                <a:tc>
                  <a:txBody>
                    <a:bodyPr/>
                    <a:lstStyle/>
                    <a:p>
                      <a:pPr indent="0" marL="0">
                        <a:buNone/>
                      </a:pPr>
                      <a:r>
                        <a:rPr lang="en-US" sz="1250" b="1" dirty="0">
                          <a:solidFill>
                            <a:srgbClr val="243044"/>
                          </a:solidFill>
                          <a:latin typeface="Calibri" pitchFamily="34" charset="0"/>
                          <a:ea typeface="Calibri" pitchFamily="34" charset="-122"/>
                          <a:cs typeface="Calibri" pitchFamily="34" charset="-120"/>
                        </a:rPr>
                        <a:t>Qwen2-VL-7B-Instruct</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dirty="0">
                          <a:solidFill>
                            <a:srgbClr val="243044"/>
                          </a:solidFill>
                          <a:latin typeface="Calibri" pitchFamily="34" charset="0"/>
                          <a:ea typeface="Calibri" pitchFamily="34" charset="-122"/>
                          <a:cs typeface="Calibri" pitchFamily="34" charset="-120"/>
                        </a:rPr>
                        <a:t>Backbone ablation, zero-shot (Part B · 04)</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dirty="0">
                          <a:solidFill>
                            <a:srgbClr val="243044"/>
                          </a:solidFill>
                          <a:latin typeface="Calibri" pitchFamily="34" charset="0"/>
                          <a:ea typeface="Calibri" pitchFamily="34" charset="-122"/>
                          <a:cs typeface="Calibri" pitchFamily="34" charset="-120"/>
                        </a:rPr>
                        <a:t>No — other generation and size</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658368">
                <a:tc>
                  <a:txBody>
                    <a:bodyPr/>
                    <a:lstStyle/>
                    <a:p>
                      <a:pPr indent="0" marL="0">
                        <a:buNone/>
                      </a:pPr>
                      <a:r>
                        <a:rPr lang="en-US" sz="1250" b="1" dirty="0">
                          <a:solidFill>
                            <a:srgbClr val="243044"/>
                          </a:solidFill>
                          <a:latin typeface="Calibri" pitchFamily="34" charset="0"/>
                          <a:ea typeface="Calibri" pitchFamily="34" charset="-122"/>
                          <a:cs typeface="Calibri" pitchFamily="34" charset="-120"/>
                        </a:rPr>
                        <a:t>Florence-2</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dirty="0">
                          <a:solidFill>
                            <a:srgbClr val="243044"/>
                          </a:solidFill>
                          <a:latin typeface="Calibri" pitchFamily="34" charset="0"/>
                          <a:ea typeface="Calibri" pitchFamily="34" charset="-122"/>
                          <a:cs typeface="Calibri" pitchFamily="34" charset="-120"/>
                        </a:rPr>
                        <a:t>Fallback if the baseline failed (not activated)</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dirty="0">
                          <a:solidFill>
                            <a:srgbClr val="243044"/>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658368">
                <a:tc>
                  <a:txBody>
                    <a:bodyPr/>
                    <a:lstStyle/>
                    <a:p>
                      <a:pPr indent="0" marL="0">
                        <a:buNone/>
                      </a:pPr>
                      <a:r>
                        <a:rPr lang="en-US" sz="1250" b="1" dirty="0">
                          <a:solidFill>
                            <a:srgbClr val="243044"/>
                          </a:solidFill>
                          <a:latin typeface="Calibri" pitchFamily="34" charset="0"/>
                          <a:ea typeface="Calibri" pitchFamily="34" charset="-122"/>
                          <a:cs typeface="Calibri" pitchFamily="34" charset="-120"/>
                        </a:rPr>
                        <a:t>BLIP-2 · PreSTU · ViTextBLIP-2</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dirty="0">
                          <a:solidFill>
                            <a:srgbClr val="243044"/>
                          </a:solidFill>
                          <a:latin typeface="Calibri" pitchFamily="34" charset="0"/>
                          <a:ea typeface="Calibri" pitchFamily="34" charset="-122"/>
                          <a:cs typeface="Calibri" pitchFamily="34" charset="-120"/>
                        </a:rPr>
                        <a:t>Prior work — numbers from the papers</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dirty="0">
                          <a:solidFill>
                            <a:srgbClr val="243044"/>
                          </a:solidFill>
                          <a:latin typeface="Calibri" pitchFamily="34" charset="0"/>
                          <a:ea typeface="Calibri" pitchFamily="34" charset="-122"/>
                          <a:cs typeface="Calibri" pitchFamily="34" charset="-120"/>
                        </a:rPr>
                        <a:t>No — positioning only</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13" name="card_157"/>
          <p:cNvSpPr/>
          <p:nvPr/>
        </p:nvSpPr>
        <p:spPr>
          <a:xfrm>
            <a:off x="5852160" y="4892040"/>
            <a:ext cx="5790895" cy="1371600"/>
          </a:xfrm>
          <a:prstGeom prst="roundRect">
            <a:avLst>
              <a:gd name="adj" fmla="val 5333"/>
            </a:avLst>
          </a:prstGeom>
          <a:solidFill>
            <a:schemeClr val="accent4"/>
          </a:solidFill>
          <a:ln w="12700">
            <a:solidFill>
              <a:schemeClr val="accent4"/>
            </a:solidFill>
            <a:prstDash val="solid"/>
          </a:ln>
        </p:spPr>
      </p:sp>
      <p:sp>
        <p:nvSpPr>
          <p:cNvPr id="14" name="text_158"/>
          <p:cNvSpPr txBox="1"/>
          <p:nvPr/>
        </p:nvSpPr>
        <p:spPr>
          <a:xfrm>
            <a:off x="6126480" y="4892040"/>
            <a:ext cx="5242255" cy="1371600"/>
          </a:xfrm>
          <a:prstGeom prst="rect">
            <a:avLst/>
          </a:prstGeom>
          <a:noFill/>
          <a:ln/>
        </p:spPr>
        <p:txBody>
          <a:bodyPr wrap="square" lIns="0" tIns="0" rIns="0" bIns="0" rtlCol="0" anchor="ctr"/>
          <a:lstStyle/>
          <a:p>
            <a:pPr indent="0" marL="0">
              <a:buNone/>
            </a:pPr>
            <a:r>
              <a:rPr lang="en-US" sz="1350" dirty="0">
                <a:solidFill>
                  <a:schemeClr val="tx2"/>
                </a:solidFill>
                <a:latin typeface="Calibri" pitchFamily="34" charset="0"/>
                <a:ea typeface="Calibri" pitchFamily="34" charset="-122"/>
                <a:cs typeface="Calibri" pitchFamily="34" charset="-120"/>
              </a:rPr>
              <a:t>Principle: claim an improvement only on the same backbone, size, split, seed and hardware. Comparing models of another generation or size does not measure the method.</a:t>
            </a:r>
            <a:endParaRPr lang="en-US" sz="135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1 · 07 · TOKEN BUDGET &amp; RAG</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Token budget per sample, and where RAG fits</a:t>
            </a:r>
            <a:endParaRPr lang="en-US" sz="3200" dirty="0"/>
          </a:p>
        </p:txBody>
      </p:sp>
      <p:graphicFrame>
        <p:nvGraphicFramePr>
          <p:cNvPr id="14" name="table_159"/>
          <p:cNvGraphicFramePr>
            <a:graphicFrameLocks noGrp="1"/>
          </p:cNvGraphicFramePr>
          <p:nvPr>
            <p:extLst>
              <p:ext uri="{D42A27DB-BD31-4B8C-83A1-F6EECF244321}">
                <p14:modId xmlns:p14="http://schemas.microsoft.com/office/powerpoint/2010/main" val="1579011935"/>
              </p:ext>
            </p:extLst>
          </p:nvPr>
        </p:nvGraphicFramePr>
        <p:xfrm>
          <a:off x="548640" y="1371600"/>
          <a:ext cx="7315200" cy="914400"/>
        </p:xfrm>
        <a:graphic>
          <a:graphicData uri="http://schemas.openxmlformats.org/drawingml/2006/table">
            <a:tbl>
              <a:tblPr/>
              <a:tblGrid>
                <a:gridCol w="1828800"/>
                <a:gridCol w="3108960"/>
                <a:gridCol w="2377440"/>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Component</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How it is counted / capped</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Note</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566928">
                <a:tc>
                  <a:txBody>
                    <a:bodyPr/>
                    <a:lstStyle/>
                    <a:p>
                      <a:pPr indent="0" marL="0">
                        <a:buNone/>
                      </a:pPr>
                      <a:r>
                        <a:rPr lang="en-US" sz="1250" b="1" dirty="0">
                          <a:solidFill>
                            <a:srgbClr val="243044"/>
                          </a:solidFill>
                          <a:latin typeface="Calibri" pitchFamily="34" charset="0"/>
                          <a:ea typeface="Calibri" pitchFamily="34" charset="-122"/>
                          <a:cs typeface="Calibri" pitchFamily="34" charset="-120"/>
                        </a:rPr>
                        <a:t>Visual tokens</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dirty="0">
                          <a:solidFill>
                            <a:srgbClr val="243044"/>
                          </a:solidFill>
                          <a:latin typeface="Calibri" pitchFamily="34" charset="0"/>
                          <a:ea typeface="Calibri" pitchFamily="34" charset="-122"/>
                          <a:cs typeface="Calibri" pitchFamily="34" charset="-120"/>
                        </a:rPr>
                        <a:t>≈ (H/28)·(W/28) after resize; capped by max_pixels = 401,408 → ≤ 512</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dirty="0">
                          <a:solidFill>
                            <a:srgbClr val="243044"/>
                          </a:solidFill>
                          <a:latin typeface="Calibri" pitchFamily="34" charset="0"/>
                          <a:ea typeface="Calibri" pitchFamily="34" charset="-122"/>
                          <a:cs typeface="Calibri" pitchFamily="34" charset="-120"/>
                        </a:rPr>
                        <a:t>Frozen config (Part B · 03)</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indent="0" marL="0">
                        <a:buNone/>
                      </a:pPr>
                      <a:r>
                        <a:rPr lang="en-US" sz="1250" b="1" dirty="0">
                          <a:solidFill>
                            <a:srgbClr val="243044"/>
                          </a:solidFill>
                          <a:latin typeface="Calibri" pitchFamily="34" charset="0"/>
                          <a:ea typeface="Calibri" pitchFamily="34" charset="-122"/>
                          <a:cs typeface="Calibri" pitchFamily="34" charset="-120"/>
                        </a:rPr>
                        <a:t>Question</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dirty="0">
                          <a:solidFill>
                            <a:srgbClr val="243044"/>
                          </a:solidFill>
                          <a:latin typeface="Calibri" pitchFamily="34" charset="0"/>
                          <a:ea typeface="Calibri" pitchFamily="34" charset="-122"/>
                          <a:cs typeface="Calibri" pitchFamily="34" charset="-120"/>
                        </a:rPr>
                        <a:t>A few dozen tokens</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dirty="0">
                          <a:solidFill>
                            <a:srgbClr val="243044"/>
                          </a:solidFill>
                          <a:latin typeface="Calibri" pitchFamily="34" charset="0"/>
                          <a:ea typeface="Calibri" pitchFamily="34" charset="-122"/>
                          <a:cs typeface="Calibri" pitchFamily="34" charset="-120"/>
                        </a:rPr>
                        <a:t>ViTextVQA: 9.59 words on average</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indent="0" marL="0">
                        <a:buNone/>
                      </a:pPr>
                      <a:r>
                        <a:rPr lang="en-US" sz="1250" b="1" dirty="0">
                          <a:solidFill>
                            <a:srgbClr val="243044"/>
                          </a:solidFill>
                          <a:latin typeface="Calibri" pitchFamily="34" charset="0"/>
                          <a:ea typeface="Calibri" pitchFamily="34" charset="-122"/>
                          <a:cs typeface="Calibri" pitchFamily="34" charset="-120"/>
                        </a:rPr>
                        <a:t>OCR text</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dirty="0">
                          <a:solidFill>
                            <a:srgbClr val="243044"/>
                          </a:solidFill>
                          <a:latin typeface="Calibri" pitchFamily="34" charset="0"/>
                          <a:ea typeface="Calibri" pitchFamily="34" charset="-122"/>
                          <a:cs typeface="Calibri" pitchFamily="34" charset="-120"/>
                        </a:rPr>
                        <a:t>One line, capped at N tokens (logged per run)</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dirty="0">
                          <a:solidFill>
                            <a:srgbClr val="243044"/>
                          </a:solidFill>
                          <a:latin typeface="Calibri" pitchFamily="34" charset="0"/>
                          <a:ea typeface="Calibri" pitchFamily="34" charset="-122"/>
                          <a:cs typeface="Calibri" pitchFamily="34" charset="-120"/>
                        </a:rPr>
                        <a:t>ViTextVQA only</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indent="0" marL="0">
                        <a:buNone/>
                      </a:pPr>
                      <a:r>
                        <a:rPr lang="en-US" sz="1250" b="1" dirty="0">
                          <a:solidFill>
                            <a:srgbClr val="243044"/>
                          </a:solidFill>
                          <a:latin typeface="Calibri" pitchFamily="34" charset="0"/>
                          <a:ea typeface="Calibri" pitchFamily="34" charset="-122"/>
                          <a:cs typeface="Calibri" pitchFamily="34" charset="-120"/>
                        </a:rPr>
                        <a:t>Instruction + template</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dirty="0">
                          <a:solidFill>
                            <a:srgbClr val="243044"/>
                          </a:solidFill>
                          <a:latin typeface="Calibri" pitchFamily="34" charset="0"/>
                          <a:ea typeface="Calibri" pitchFamily="34" charset="-122"/>
                          <a:cs typeface="Calibri" pitchFamily="34" charset="-120"/>
                        </a:rPr>
                        <a:t>Fixed</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dirty="0">
                          <a:solidFill>
                            <a:srgbClr val="243044"/>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indent="0" marL="0">
                        <a:buNone/>
                      </a:pPr>
                      <a:r>
                        <a:rPr lang="en-US" sz="1250" b="1" dirty="0">
                          <a:solidFill>
                            <a:srgbClr val="243044"/>
                          </a:solidFill>
                          <a:latin typeface="Calibri" pitchFamily="34" charset="0"/>
                          <a:ea typeface="Calibri" pitchFamily="34" charset="-122"/>
                          <a:cs typeface="Calibri" pitchFamily="34" charset="-120"/>
                        </a:rPr>
                        <a:t>Output</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dirty="0">
                          <a:solidFill>
                            <a:srgbClr val="243044"/>
                          </a:solidFill>
                          <a:latin typeface="Calibri" pitchFamily="34" charset="0"/>
                          <a:ea typeface="Calibri" pitchFamily="34" charset="-122"/>
                          <a:cs typeface="Calibri" pitchFamily="34" charset="-120"/>
                        </a:rPr>
                        <a:t>max_new_tokens = 32</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dirty="0">
                          <a:solidFill>
                            <a:srgbClr val="243044"/>
                          </a:solidFill>
                          <a:latin typeface="Calibri" pitchFamily="34" charset="0"/>
                          <a:ea typeface="Calibri" pitchFamily="34" charset="-122"/>
                          <a:cs typeface="Calibri" pitchFamily="34" charset="-120"/>
                        </a:rPr>
                        <a:t>Answers: 4.18 words on average</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indent="0" marL="0">
                        <a:buNone/>
                      </a:pPr>
                      <a:r>
                        <a:rPr lang="en-US" sz="1250" b="1" dirty="0">
                          <a:solidFill>
                            <a:srgbClr val="243044"/>
                          </a:solidFill>
                          <a:latin typeface="Calibri" pitchFamily="34" charset="0"/>
                          <a:ea typeface="Calibri" pitchFamily="34" charset="-122"/>
                          <a:cs typeface="Calibri" pitchFamily="34" charset="-120"/>
                        </a:rPr>
                        <a:t>Total (estimate)</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b="1" dirty="0">
                          <a:solidFill>
                            <a:srgbClr val="243044"/>
                          </a:solidFill>
                          <a:latin typeface="Calibri" pitchFamily="34" charset="0"/>
                          <a:ea typeface="Calibri" pitchFamily="34" charset="-122"/>
                          <a:cs typeface="Calibri" pitchFamily="34" charset="-120"/>
                        </a:rPr>
                        <a:t>≲ 1,000 tokens per sample</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50" b="1" dirty="0">
                          <a:solidFill>
                            <a:srgbClr val="243044"/>
                          </a:solidFill>
                          <a:latin typeface="Calibri" pitchFamily="34" charset="0"/>
                          <a:ea typeface="Calibri" pitchFamily="34" charset="-122"/>
                          <a:cs typeface="Calibri" pitchFamily="34" charset="-120"/>
                        </a:rPr>
                        <a:t>Far below the context window; the real limit is VRAM</a:t>
                      </a:r>
                      <a:endParaRPr lang="en-US" sz="12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6" name="card_160"/>
          <p:cNvSpPr/>
          <p:nvPr/>
        </p:nvSpPr>
        <p:spPr>
          <a:xfrm>
            <a:off x="8229600" y="1371600"/>
            <a:ext cx="3413455" cy="4892040"/>
          </a:xfrm>
          <a:prstGeom prst="roundRect">
            <a:avLst>
              <a:gd name="adj" fmla="val 2143"/>
            </a:avLst>
          </a:prstGeom>
          <a:solidFill>
            <a:schemeClr val="accent4"/>
          </a:solidFill>
          <a:ln w="12700">
            <a:solidFill>
              <a:schemeClr val="accent4"/>
            </a:solidFill>
            <a:prstDash val="solid"/>
          </a:ln>
        </p:spPr>
      </p:sp>
      <p:sp>
        <p:nvSpPr>
          <p:cNvPr id="7" name="text_161"/>
          <p:cNvSpPr txBox="1"/>
          <p:nvPr/>
        </p:nvSpPr>
        <p:spPr>
          <a:xfrm>
            <a:off x="8503920" y="1508760"/>
            <a:ext cx="2864815"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RAG — optional, conditional</a:t>
            </a:r>
            <a:endParaRPr lang="en-US" sz="1600" dirty="0"/>
          </a:p>
        </p:txBody>
      </p:sp>
      <p:sp>
        <p:nvSpPr>
          <p:cNvPr id="8" name="list_162"/>
          <p:cNvSpPr txBox="1"/>
          <p:nvPr/>
        </p:nvSpPr>
        <p:spPr>
          <a:xfrm>
            <a:off x="8503920" y="1965960"/>
            <a:ext cx="2864815" cy="42062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OCR in the prompt already retrieves evidence from the image itself</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External-knowledge RAG (embeddings + FAISS, top-k) only if the error analysis shows many errors need knowledge outside the image</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If triggered: specify knowledge base, embedding model, retrieval and token budget</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Status at Review 2: the 200-error audit (Part B · 05) shows reading/format errors, not missing knowledge → not triggered</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1 · 10 · PLAN</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15-week plan with verifiable outputs</a:t>
            </a:r>
            <a:endParaRPr lang="en-US" sz="3200" dirty="0"/>
          </a:p>
        </p:txBody>
      </p:sp>
      <p:graphicFrame>
        <p:nvGraphicFramePr>
          <p:cNvPr id="15" name="table_163"/>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731520"/>
                <a:gridCol w="5852160"/>
                <a:gridCol w="4507992"/>
              </a:tblGrid>
              <a:tr h="30632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Week</a:t>
                      </a:r>
                      <a:endParaRPr lang="en-US" sz="130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Planned work</a:t>
                      </a:r>
                      <a:endParaRPr lang="en-US" sz="130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Verifiable output</a:t>
                      </a:r>
                      <a:endParaRPr lang="en-US" sz="130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306324">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W1</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Read the proposal, roles, 10 core papers</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W1 report, 15-week plan</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06324">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W2</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Literature matrix; analyse ViVQA / ViTextVQA</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Literature_Matrix.md, Dataset_Analysis.md</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06324">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W3</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RQs, hypotheses, baseline proposal — Review 1</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Review 1 report + slides</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r>
              <a:tr h="306324">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W4</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Colab setup; zero-shot pilot on ViTextVQA</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Zero-shot notebook</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06324">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W5</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Official ViTextVQA; NFC preprocessing; fixed split + 2,000-question test subset</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Official data + split log</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06324">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W6</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Official zero-shot on both datasets; V1–V4 error types; prior-work table</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Baseline table; Methodology (Report 4)</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06324">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W7</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Review 2: baseline + proposed method + QLoRA pilot</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Review 2 slides; pilot run logs</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r>
              <a:tr h="306324">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W8</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Full QLoRA on ViVQA; log VRAM, time, trained params</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Adapter v1; experiments/W08_*</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06324">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W9</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OCR pipeline + Vietnamese prompt; QLoRA on ViTextVQA</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OCR cache; adapter v2</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06324">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W10</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Main runs: zero-shot / prompt / QLoRA / QLoRA + OCR, same split and seed</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Main results table</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06324">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W11</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Full evaluation (EM, VQA-Acc, ANLS, F1); hallucination</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Metric + hallucination report</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06324">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W12</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Ablations (OCR, OCR order, rank / target modules); error analysis</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Ablation table; failure cases</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06324">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W13</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Faculty-level review</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Slides + Report 6–7</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r>
              <a:tr h="306324">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W14</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Gradio prototype; write the thesis</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050" dirty="0">
                          <a:solidFill>
                            <a:srgbClr val="243044"/>
                          </a:solidFill>
                          <a:latin typeface="Calibri" pitchFamily="34" charset="0"/>
                          <a:ea typeface="Calibri" pitchFamily="34" charset="-122"/>
                          <a:cs typeface="Calibri" pitchFamily="34" charset="-120"/>
                        </a:rPr>
                        <a:t>Working demo; thesis draft</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306324">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W15</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Final defense; reproducibility package</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c>
                  <a:txBody>
                    <a:bodyPr/>
                    <a:lstStyle/>
                    <a:p>
                      <a:pPr indent="0" marL="0">
                        <a:buNone/>
                      </a:pPr>
                      <a:r>
                        <a:rPr lang="en-US" sz="1050" b="1" dirty="0">
                          <a:solidFill>
                            <a:srgbClr val="243044"/>
                          </a:solidFill>
                          <a:latin typeface="Calibri" pitchFamily="34" charset="0"/>
                          <a:ea typeface="Calibri" pitchFamily="34" charset="-122"/>
                          <a:cs typeface="Calibri" pitchFamily="34" charset="-120"/>
                        </a:rPr>
                        <a:t>Code, adapters, configs, inference script, README, logs</a:t>
                      </a:r>
                      <a:endParaRPr lang="en-US" sz="1050" dirty="0">
                        <a:latin typeface="Calibri" charset="0"/>
                        <a:ea typeface="Calibri" charset="0"/>
                        <a:cs typeface="Calibri" charset="0"/>
                      </a:endParaRPr>
                    </a:p>
                  </a:txBody>
                  <a:tcPr marL="76200" marR="76200" marT="12700" marB="127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1 · 11–12 · RISKS &amp; CONSTRAINTS</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Risks (status at Review 2) and constraints</a:t>
            </a:r>
            <a:endParaRPr lang="en-US" sz="3200" dirty="0"/>
          </a:p>
        </p:txBody>
      </p:sp>
      <p:graphicFrame>
        <p:nvGraphicFramePr>
          <p:cNvPr id="16" name="table_164"/>
          <p:cNvGraphicFramePr>
            <a:graphicFrameLocks noGrp="1"/>
          </p:cNvGraphicFramePr>
          <p:nvPr>
            <p:extLst>
              <p:ext uri="{D42A27DB-BD31-4B8C-83A1-F6EECF244321}">
                <p14:modId xmlns:p14="http://schemas.microsoft.com/office/powerpoint/2010/main" val="1579011935"/>
              </p:ext>
            </p:extLst>
          </p:nvPr>
        </p:nvGraphicFramePr>
        <p:xfrm>
          <a:off x="548640" y="1371600"/>
          <a:ext cx="7863840" cy="914400"/>
        </p:xfrm>
        <a:graphic>
          <a:graphicData uri="http://schemas.openxmlformats.org/drawingml/2006/table">
            <a:tbl>
              <a:tblPr/>
              <a:tblGrid>
                <a:gridCol w="1828800"/>
                <a:gridCol w="868680"/>
                <a:gridCol w="2240280"/>
                <a:gridCol w="2926080"/>
              </a:tblGrid>
              <a:tr h="54864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Risk</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Level</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Mitigation</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Status at Review 2</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548640">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Model too large / OOM</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b="1" dirty="0">
                          <a:solidFill>
                            <a:srgbClr val="B42318"/>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QLoRA 4-bit, 3B model</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Resolved: training ≤ 7 GB VRAM on L4</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48640">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Colab interruption</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b="1" dirty="0">
                          <a:solidFill>
                            <a:srgbClr val="B42318"/>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Drive mount, frequent checkpoints</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Resolved: resume verified on L4 (W5)</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48640">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Baseline hard to reproduce</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b="1" dirty="0">
                          <a:solidFill>
                            <a:srgbClr val="B42318"/>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Official repo, fixed seed</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Resolved: TextVQA 79.6 vs 79.3 reported (R0)</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48640">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Training does not converge</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b="1" dirty="0">
                          <a:solidFill>
                            <a:srgbClr val="B42318"/>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Fall back to prompting / OCR</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Not observed (loss logs, B2, B3)</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48640">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Dataset / licence</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b="1" dirty="0">
                          <a:solidFill>
                            <a:srgbClr val="E8A33D"/>
                          </a:solidFill>
                          <a:latin typeface="Calibri" pitchFamily="34" charset="0"/>
                          <a:ea typeface="Calibri" pitchFamily="34" charset="-122"/>
                          <a:cs typeface="Calibri" pitchFamily="34" charset="-120"/>
                        </a:rPr>
                        <a:t>Medium</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Check licence; preprocessing</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Resolved: official ViTextVQA repo (W5)</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48640">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Slow QLoRA training</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b="1" dirty="0">
                          <a:solidFill>
                            <a:srgbClr val="E8A33D"/>
                          </a:solidFill>
                          <a:latin typeface="Calibri" pitchFamily="34" charset="0"/>
                          <a:ea typeface="Calibri" pitchFamily="34" charset="-122"/>
                          <a:cs typeface="Calibri" pitchFamily="34" charset="-120"/>
                        </a:rPr>
                        <a:t>Medium</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Pilot subsets, gradient accumulation</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Managed: fixed 8k subset for B3 (≈ 25% time)</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48640">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Poor OCR</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b="1" dirty="0">
                          <a:solidFill>
                            <a:srgbClr val="E8A33D"/>
                          </a:solidFill>
                          <a:latin typeface="Calibri" pitchFamily="34" charset="0"/>
                          <a:ea typeface="Calibri" pitchFamily="34" charset="-122"/>
                          <a:cs typeface="Calibri" pitchFamily="34" charset="-120"/>
                        </a:rPr>
                        <a:t>Medium</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Swap PaddleOCR ↔ VietOCR</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150" dirty="0">
                          <a:solidFill>
                            <a:srgbClr val="243044"/>
                          </a:solidFill>
                          <a:latin typeface="Calibri" pitchFamily="34" charset="0"/>
                          <a:ea typeface="Calibri" pitchFamily="34" charset="-122"/>
                          <a:cs typeface="Calibri" pitchFamily="34" charset="-120"/>
                        </a:rPr>
                        <a:t>Open: OCR errors remain a main error source</a:t>
                      </a:r>
                      <a:endParaRPr lang="en-US" sz="115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6" name="card_165"/>
          <p:cNvSpPr/>
          <p:nvPr/>
        </p:nvSpPr>
        <p:spPr>
          <a:xfrm>
            <a:off x="8778240" y="1371600"/>
            <a:ext cx="2864815" cy="4892040"/>
          </a:xfrm>
          <a:prstGeom prst="roundRect">
            <a:avLst>
              <a:gd name="adj" fmla="val 2553"/>
            </a:avLst>
          </a:prstGeom>
          <a:solidFill>
            <a:schemeClr val="accent4"/>
          </a:solidFill>
          <a:ln w="12700">
            <a:solidFill>
              <a:schemeClr val="accent4"/>
            </a:solidFill>
            <a:prstDash val="solid"/>
          </a:ln>
        </p:spPr>
      </p:sp>
      <p:sp>
        <p:nvSpPr>
          <p:cNvPr id="7" name="text_166"/>
          <p:cNvSpPr txBox="1"/>
          <p:nvPr/>
        </p:nvSpPr>
        <p:spPr>
          <a:xfrm>
            <a:off x="9006840" y="1481328"/>
            <a:ext cx="2407615"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Hard constraints</a:t>
            </a:r>
            <a:endParaRPr lang="en-US" sz="1600" dirty="0"/>
          </a:p>
        </p:txBody>
      </p:sp>
      <p:sp>
        <p:nvSpPr>
          <p:cNvPr id="8" name="list_167"/>
          <p:cNvSpPr txBox="1"/>
          <p:nvPr/>
        </p:nvSpPr>
        <p:spPr>
          <a:xfrm>
            <a:off x="9006840" y="1965960"/>
            <a:ext cx="2407615" cy="42062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PEFT only (LoRA / QLoRA) — no full fine-tuning</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Reproduce one baseline first, then improve</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Same split, seed and hardware for every comparison</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Efficiency is a design constraint: VRAM and time logged every run</a:t>
            </a:r>
            <a:endParaRPr lang="en-US" sz="1300" dirty="0"/>
          </a:p>
          <a:p>
            <a:pPr marL="177800" indent="-1778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Runtime: Google Colab (Pro for training), Drive mounted, GPU logged every run</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1 · 08–09–13 · OUTPUTS, VALUE, TEAM</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Expected outputs, value and team</a:t>
            </a:r>
            <a:endParaRPr lang="en-US" sz="3200" dirty="0"/>
          </a:p>
        </p:txBody>
      </p:sp>
      <p:sp>
        <p:nvSpPr>
          <p:cNvPr id="5" name="card_168"/>
          <p:cNvSpPr/>
          <p:nvPr/>
        </p:nvSpPr>
        <p:spPr>
          <a:xfrm>
            <a:off x="548640" y="1371600"/>
            <a:ext cx="3484778" cy="1828800"/>
          </a:xfrm>
          <a:prstGeom prst="roundRect">
            <a:avLst>
              <a:gd name="adj" fmla="val 4000"/>
            </a:avLst>
          </a:prstGeom>
          <a:solidFill>
            <a:schemeClr val="accent5"/>
          </a:solidFill>
          <a:ln w="12700">
            <a:solidFill>
              <a:schemeClr val="accent5"/>
            </a:solidFill>
            <a:prstDash val="solid"/>
          </a:ln>
        </p:spPr>
      </p:sp>
      <p:sp>
        <p:nvSpPr>
          <p:cNvPr id="6" name="text_169"/>
          <p:cNvSpPr txBox="1"/>
          <p:nvPr/>
        </p:nvSpPr>
        <p:spPr>
          <a:xfrm>
            <a:off x="777240" y="1508760"/>
            <a:ext cx="302757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Research contribution</a:t>
            </a:r>
            <a:endParaRPr lang="en-US" sz="1600" dirty="0"/>
          </a:p>
        </p:txBody>
      </p:sp>
      <p:sp>
        <p:nvSpPr>
          <p:cNvPr id="7" name="text_170"/>
          <p:cNvSpPr txBox="1"/>
          <p:nvPr/>
        </p:nvSpPr>
        <p:spPr>
          <a:xfrm>
            <a:off x="777240" y="1965960"/>
            <a:ext cx="3027578" cy="11430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 1 validated PEFT improvement over the reproduced baseline, with ablation, error and hallucination analysis</a:t>
            </a:r>
            <a:endParaRPr lang="en-US" sz="1300" dirty="0"/>
          </a:p>
        </p:txBody>
      </p:sp>
      <p:sp>
        <p:nvSpPr>
          <p:cNvPr id="8" name="card_171"/>
          <p:cNvSpPr/>
          <p:nvPr/>
        </p:nvSpPr>
        <p:spPr>
          <a:xfrm>
            <a:off x="4353458" y="1371600"/>
            <a:ext cx="3484778" cy="1828800"/>
          </a:xfrm>
          <a:prstGeom prst="roundRect">
            <a:avLst>
              <a:gd name="adj" fmla="val 4000"/>
            </a:avLst>
          </a:prstGeom>
          <a:solidFill>
            <a:schemeClr val="bg2"/>
          </a:solidFill>
          <a:ln w="12700">
            <a:solidFill>
              <a:schemeClr val="bg2"/>
            </a:solidFill>
            <a:prstDash val="solid"/>
          </a:ln>
        </p:spPr>
      </p:sp>
      <p:sp>
        <p:nvSpPr>
          <p:cNvPr id="9" name="text_172"/>
          <p:cNvSpPr txBox="1"/>
          <p:nvPr/>
        </p:nvSpPr>
        <p:spPr>
          <a:xfrm>
            <a:off x="4582058" y="1508760"/>
            <a:ext cx="302757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Web prototype</a:t>
            </a:r>
            <a:endParaRPr lang="en-US" sz="1600" dirty="0"/>
          </a:p>
        </p:txBody>
      </p:sp>
      <p:sp>
        <p:nvSpPr>
          <p:cNvPr id="10" name="text_173"/>
          <p:cNvSpPr txBox="1"/>
          <p:nvPr/>
        </p:nvSpPr>
        <p:spPr>
          <a:xfrm>
            <a:off x="4582058" y="1965960"/>
            <a:ext cx="3027578" cy="11430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Upload a Vietnamese image, ask in Vietnamese, get the answer with the OCR text as evidence</a:t>
            </a:r>
            <a:endParaRPr lang="en-US" sz="1300" dirty="0"/>
          </a:p>
        </p:txBody>
      </p:sp>
      <p:sp>
        <p:nvSpPr>
          <p:cNvPr id="11" name="card_174"/>
          <p:cNvSpPr/>
          <p:nvPr/>
        </p:nvSpPr>
        <p:spPr>
          <a:xfrm>
            <a:off x="8158277" y="1371600"/>
            <a:ext cx="3484778" cy="1828800"/>
          </a:xfrm>
          <a:prstGeom prst="roundRect">
            <a:avLst>
              <a:gd name="adj" fmla="val 4000"/>
            </a:avLst>
          </a:prstGeom>
          <a:solidFill>
            <a:schemeClr val="bg2"/>
          </a:solidFill>
          <a:ln w="12700">
            <a:solidFill>
              <a:schemeClr val="bg2"/>
            </a:solidFill>
            <a:prstDash val="solid"/>
          </a:ln>
        </p:spPr>
      </p:sp>
      <p:sp>
        <p:nvSpPr>
          <p:cNvPr id="12" name="text_175"/>
          <p:cNvSpPr txBox="1"/>
          <p:nvPr/>
        </p:nvSpPr>
        <p:spPr>
          <a:xfrm>
            <a:off x="8386877" y="1508760"/>
            <a:ext cx="302757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Thesis + reproducibility package</a:t>
            </a:r>
            <a:endParaRPr lang="en-US" sz="1600" dirty="0"/>
          </a:p>
        </p:txBody>
      </p:sp>
      <p:sp>
        <p:nvSpPr>
          <p:cNvPr id="13" name="text_176"/>
          <p:cNvSpPr txBox="1"/>
          <p:nvPr/>
        </p:nvSpPr>
        <p:spPr>
          <a:xfrm>
            <a:off x="8386877" y="1965960"/>
            <a:ext cx="3027578" cy="114300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Code, LoRA adapters, configs, inference script, experiment logs</a:t>
            </a:r>
            <a:endParaRPr lang="en-US" sz="1300" dirty="0"/>
          </a:p>
        </p:txBody>
      </p:sp>
      <p:sp>
        <p:nvSpPr>
          <p:cNvPr id="14" name="card_177"/>
          <p:cNvSpPr/>
          <p:nvPr/>
        </p:nvSpPr>
        <p:spPr>
          <a:xfrm>
            <a:off x="548640" y="3429000"/>
            <a:ext cx="5364328" cy="1600200"/>
          </a:xfrm>
          <a:prstGeom prst="roundRect">
            <a:avLst>
              <a:gd name="adj" fmla="val 4571"/>
            </a:avLst>
          </a:prstGeom>
          <a:solidFill>
            <a:schemeClr val="bg2"/>
          </a:solidFill>
          <a:ln w="12700">
            <a:solidFill>
              <a:schemeClr val="bg2"/>
            </a:solidFill>
            <a:prstDash val="solid"/>
          </a:ln>
        </p:spPr>
      </p:sp>
      <p:sp>
        <p:nvSpPr>
          <p:cNvPr id="15" name="text_178"/>
          <p:cNvSpPr txBox="1"/>
          <p:nvPr/>
        </p:nvSpPr>
        <p:spPr>
          <a:xfrm>
            <a:off x="777240" y="3520440"/>
            <a:ext cx="4907128" cy="3657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Practical value</a:t>
            </a:r>
            <a:endParaRPr lang="en-US" sz="1400" dirty="0"/>
          </a:p>
        </p:txBody>
      </p:sp>
      <p:sp>
        <p:nvSpPr>
          <p:cNvPr id="16" name="list_179"/>
          <p:cNvSpPr txBox="1"/>
          <p:nvPr/>
        </p:nvSpPr>
        <p:spPr>
          <a:xfrm>
            <a:off x="777240" y="3886200"/>
            <a:ext cx="4907128" cy="1097280"/>
          </a:xfrm>
          <a:prstGeom prst="rect">
            <a:avLst/>
          </a:prstGeom>
          <a:noFill/>
          <a:ln/>
        </p:spPr>
        <p:txBody>
          <a:bodyPr wrap="square" lIns="0" tIns="0" rIns="0" bIns="0" rtlCol="0" anchor="t"/>
          <a:lstStyle/>
          <a:p>
            <a:pPr marL="177800" indent="-177800">
              <a:spcAft>
                <a:spcPts val="200"/>
              </a:spcAft>
              <a:buSzPct val="100000"/>
              <a:buChar char="•"/>
            </a:pPr>
            <a:r>
              <a:rPr lang="en-US" sz="1250" dirty="0">
                <a:solidFill>
                  <a:schemeClr val="tx1"/>
                </a:solidFill>
                <a:latin typeface="Calibri" pitchFamily="34" charset="0"/>
                <a:ea typeface="Calibri" pitchFamily="34" charset="-122"/>
                <a:cs typeface="Calibri" pitchFamily="34" charset="-120"/>
              </a:rPr>
              <a:t>Read signs, labels and prices in Vietnamese photos</a:t>
            </a:r>
            <a:endParaRPr lang="en-US" sz="1250" dirty="0"/>
          </a:p>
          <a:p>
            <a:pPr marL="177800" indent="-177800">
              <a:spcAft>
                <a:spcPts val="200"/>
              </a:spcAft>
              <a:buSzPct val="100000"/>
              <a:buChar char="•"/>
            </a:pPr>
            <a:r>
              <a:rPr lang="en-US" sz="1250" dirty="0">
                <a:solidFill>
                  <a:schemeClr val="tx1"/>
                </a:solidFill>
                <a:latin typeface="Calibri" pitchFamily="34" charset="0"/>
                <a:ea typeface="Calibri" pitchFamily="34" charset="-122"/>
                <a:cs typeface="Calibri" pitchFamily="34" charset="-120"/>
              </a:rPr>
              <a:t>Assistive technology for visually impaired users</a:t>
            </a:r>
            <a:endParaRPr lang="en-US" sz="1250" dirty="0"/>
          </a:p>
          <a:p>
            <a:pPr marL="177800" indent="-177800">
              <a:spcAft>
                <a:spcPts val="200"/>
              </a:spcAft>
              <a:buSzPct val="100000"/>
              <a:buChar char="•"/>
            </a:pPr>
            <a:r>
              <a:rPr lang="en-US" sz="1250" dirty="0">
                <a:solidFill>
                  <a:schemeClr val="tx1"/>
                </a:solidFill>
                <a:latin typeface="Calibri" pitchFamily="34" charset="0"/>
                <a:ea typeface="Calibri" pitchFamily="34" charset="-122"/>
                <a:cs typeface="Calibri" pitchFamily="34" charset="-120"/>
              </a:rPr>
              <a:t>Menus, forms and documents in Vietnamese</a:t>
            </a:r>
            <a:endParaRPr lang="en-US" sz="1250" dirty="0"/>
          </a:p>
        </p:txBody>
      </p:sp>
      <p:sp>
        <p:nvSpPr>
          <p:cNvPr id="17" name="card_180"/>
          <p:cNvSpPr/>
          <p:nvPr/>
        </p:nvSpPr>
        <p:spPr>
          <a:xfrm>
            <a:off x="6278728" y="3429000"/>
            <a:ext cx="5364328" cy="1600200"/>
          </a:xfrm>
          <a:prstGeom prst="roundRect">
            <a:avLst>
              <a:gd name="adj" fmla="val 4571"/>
            </a:avLst>
          </a:prstGeom>
          <a:solidFill>
            <a:schemeClr val="accent4"/>
          </a:solidFill>
          <a:ln w="12700">
            <a:solidFill>
              <a:schemeClr val="accent4"/>
            </a:solidFill>
            <a:prstDash val="solid"/>
          </a:ln>
        </p:spPr>
      </p:sp>
      <p:sp>
        <p:nvSpPr>
          <p:cNvPr id="18" name="text_181"/>
          <p:cNvSpPr txBox="1"/>
          <p:nvPr/>
        </p:nvSpPr>
        <p:spPr>
          <a:xfrm>
            <a:off x="6507328" y="3520440"/>
            <a:ext cx="4907128" cy="36576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Scientific value</a:t>
            </a:r>
            <a:endParaRPr lang="en-US" sz="1400" dirty="0"/>
          </a:p>
        </p:txBody>
      </p:sp>
      <p:sp>
        <p:nvSpPr>
          <p:cNvPr id="19" name="list_182"/>
          <p:cNvSpPr txBox="1"/>
          <p:nvPr/>
        </p:nvSpPr>
        <p:spPr>
          <a:xfrm>
            <a:off x="6507328" y="3886200"/>
            <a:ext cx="4907128" cy="1097280"/>
          </a:xfrm>
          <a:prstGeom prst="rect">
            <a:avLst/>
          </a:prstGeom>
          <a:noFill/>
          <a:ln/>
        </p:spPr>
        <p:txBody>
          <a:bodyPr wrap="square" lIns="0" tIns="0" rIns="0" bIns="0" rtlCol="0" anchor="t"/>
          <a:lstStyle/>
          <a:p>
            <a:pPr marL="177800" indent="-177800">
              <a:spcAft>
                <a:spcPts val="200"/>
              </a:spcAft>
              <a:buSzPct val="100000"/>
              <a:buChar char="•"/>
            </a:pPr>
            <a:r>
              <a:rPr lang="en-US" sz="1250" dirty="0">
                <a:solidFill>
                  <a:schemeClr val="tx1"/>
                </a:solidFill>
                <a:latin typeface="Calibri" pitchFamily="34" charset="0"/>
                <a:ea typeface="Calibri" pitchFamily="34" charset="-122"/>
                <a:cs typeface="Calibri" pitchFamily="34" charset="-120"/>
              </a:rPr>
              <a:t>Systematic PEFT study for a Vietnamese VLM (G3)</a:t>
            </a:r>
            <a:endParaRPr lang="en-US" sz="1250" dirty="0"/>
          </a:p>
          <a:p>
            <a:pPr marL="177800" indent="-177800">
              <a:spcAft>
                <a:spcPts val="200"/>
              </a:spcAft>
              <a:buSzPct val="100000"/>
              <a:buChar char="•"/>
            </a:pPr>
            <a:r>
              <a:rPr lang="en-US" sz="1250" dirty="0">
                <a:solidFill>
                  <a:schemeClr val="tx1"/>
                </a:solidFill>
                <a:latin typeface="Calibri" pitchFamily="34" charset="0"/>
                <a:ea typeface="Calibri" pitchFamily="34" charset="-122"/>
                <a:cs typeface="Calibri" pitchFamily="34" charset="-120"/>
              </a:rPr>
              <a:t>Vietnamese-specific handling: tone marks, output language, OCR order (V1–V3)</a:t>
            </a:r>
            <a:endParaRPr lang="en-US" sz="1250" dirty="0"/>
          </a:p>
          <a:p>
            <a:pPr marL="177800" indent="-177800">
              <a:spcAft>
                <a:spcPts val="200"/>
              </a:spcAft>
              <a:buSzPct val="100000"/>
              <a:buChar char="•"/>
            </a:pPr>
            <a:r>
              <a:rPr lang="en-US" sz="1250" dirty="0">
                <a:solidFill>
                  <a:schemeClr val="tx1"/>
                </a:solidFill>
                <a:latin typeface="Calibri" pitchFamily="34" charset="0"/>
                <a:ea typeface="Calibri" pitchFamily="34" charset="-122"/>
                <a:cs typeface="Calibri" pitchFamily="34" charset="-120"/>
              </a:rPr>
              <a:t>Hallucination measurement for Vietnamese VQA (G4); reproducible protocol</a:t>
            </a:r>
            <a:endParaRPr lang="en-US" sz="1250" dirty="0"/>
          </a:p>
        </p:txBody>
      </p:sp>
      <p:sp>
        <p:nvSpPr>
          <p:cNvPr id="20" name="card_183"/>
          <p:cNvSpPr/>
          <p:nvPr/>
        </p:nvSpPr>
        <p:spPr>
          <a:xfrm>
            <a:off x="548640" y="5257800"/>
            <a:ext cx="2602154" cy="1005840"/>
          </a:xfrm>
          <a:prstGeom prst="roundRect">
            <a:avLst>
              <a:gd name="adj" fmla="val 7273"/>
            </a:avLst>
          </a:prstGeom>
          <a:solidFill>
            <a:schemeClr val="bg2"/>
          </a:solidFill>
          <a:ln w="12700">
            <a:solidFill>
              <a:schemeClr val="bg2"/>
            </a:solidFill>
            <a:prstDash val="solid"/>
          </a:ln>
        </p:spPr>
      </p:sp>
      <p:sp>
        <p:nvSpPr>
          <p:cNvPr id="21" name="text_184"/>
          <p:cNvSpPr txBox="1"/>
          <p:nvPr/>
        </p:nvSpPr>
        <p:spPr>
          <a:xfrm>
            <a:off x="731520" y="5367528"/>
            <a:ext cx="2236394" cy="411480"/>
          </a:xfrm>
          <a:prstGeom prst="rect">
            <a:avLst/>
          </a:prstGeom>
          <a:noFill/>
          <a:ln/>
        </p:spPr>
        <p:txBody>
          <a:bodyPr wrap="square" lIns="0" tIns="0" rIns="0" bIns="0" rtlCol="0" anchor="t"/>
          <a:lstStyle/>
          <a:p>
            <a:pPr indent="0" marL="0">
              <a:buNone/>
            </a:pPr>
            <a:r>
              <a:rPr lang="en-US" sz="1250" b="1" dirty="0">
                <a:solidFill>
                  <a:schemeClr val="tx2"/>
                </a:solidFill>
                <a:latin typeface="Calibri" pitchFamily="34" charset="0"/>
                <a:ea typeface="Calibri" pitchFamily="34" charset="-122"/>
                <a:cs typeface="Calibri" pitchFamily="34" charset="-120"/>
              </a:rPr>
              <a:t>SE182670 · Phạm Lê Huy Hoàng</a:t>
            </a:r>
            <a:endParaRPr lang="en-US" sz="1250" dirty="0"/>
          </a:p>
        </p:txBody>
      </p:sp>
      <p:sp>
        <p:nvSpPr>
          <p:cNvPr id="22" name="text_185"/>
          <p:cNvSpPr txBox="1"/>
          <p:nvPr/>
        </p:nvSpPr>
        <p:spPr>
          <a:xfrm>
            <a:off x="731520" y="5788152"/>
            <a:ext cx="2236394" cy="3657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Leader · PEFT / training</a:t>
            </a:r>
            <a:endParaRPr lang="en-US" sz="1200" dirty="0"/>
          </a:p>
        </p:txBody>
      </p:sp>
      <p:sp>
        <p:nvSpPr>
          <p:cNvPr id="23" name="card_186"/>
          <p:cNvSpPr/>
          <p:nvPr/>
        </p:nvSpPr>
        <p:spPr>
          <a:xfrm>
            <a:off x="3379394" y="5257800"/>
            <a:ext cx="2602154" cy="1005840"/>
          </a:xfrm>
          <a:prstGeom prst="roundRect">
            <a:avLst>
              <a:gd name="adj" fmla="val 7273"/>
            </a:avLst>
          </a:prstGeom>
          <a:solidFill>
            <a:schemeClr val="bg2"/>
          </a:solidFill>
          <a:ln w="12700">
            <a:solidFill>
              <a:schemeClr val="bg2"/>
            </a:solidFill>
            <a:prstDash val="solid"/>
          </a:ln>
        </p:spPr>
      </p:sp>
      <p:sp>
        <p:nvSpPr>
          <p:cNvPr id="24" name="text_187"/>
          <p:cNvSpPr txBox="1"/>
          <p:nvPr/>
        </p:nvSpPr>
        <p:spPr>
          <a:xfrm>
            <a:off x="3562274" y="5367528"/>
            <a:ext cx="2236394" cy="411480"/>
          </a:xfrm>
          <a:prstGeom prst="rect">
            <a:avLst/>
          </a:prstGeom>
          <a:noFill/>
          <a:ln/>
        </p:spPr>
        <p:txBody>
          <a:bodyPr wrap="square" lIns="0" tIns="0" rIns="0" bIns="0" rtlCol="0" anchor="t"/>
          <a:lstStyle/>
          <a:p>
            <a:pPr indent="0" marL="0">
              <a:buNone/>
            </a:pPr>
            <a:r>
              <a:rPr lang="en-US" sz="1250" b="1" dirty="0">
                <a:solidFill>
                  <a:schemeClr val="tx2"/>
                </a:solidFill>
                <a:latin typeface="Calibri" pitchFamily="34" charset="0"/>
                <a:ea typeface="Calibri" pitchFamily="34" charset="-122"/>
                <a:cs typeface="Calibri" pitchFamily="34" charset="-120"/>
              </a:rPr>
              <a:t>SE182458 · Văn Quang Trường</a:t>
            </a:r>
            <a:endParaRPr lang="en-US" sz="1250" dirty="0"/>
          </a:p>
        </p:txBody>
      </p:sp>
      <p:sp>
        <p:nvSpPr>
          <p:cNvPr id="25" name="text_188"/>
          <p:cNvSpPr txBox="1"/>
          <p:nvPr/>
        </p:nvSpPr>
        <p:spPr>
          <a:xfrm>
            <a:off x="3562274" y="5788152"/>
            <a:ext cx="2236394" cy="3657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Evaluation / deployment</a:t>
            </a:r>
            <a:endParaRPr lang="en-US" sz="1200" dirty="0"/>
          </a:p>
        </p:txBody>
      </p:sp>
      <p:sp>
        <p:nvSpPr>
          <p:cNvPr id="26" name="card_189"/>
          <p:cNvSpPr/>
          <p:nvPr/>
        </p:nvSpPr>
        <p:spPr>
          <a:xfrm>
            <a:off x="6210148" y="5257800"/>
            <a:ext cx="2602154" cy="1005840"/>
          </a:xfrm>
          <a:prstGeom prst="roundRect">
            <a:avLst>
              <a:gd name="adj" fmla="val 7273"/>
            </a:avLst>
          </a:prstGeom>
          <a:solidFill>
            <a:schemeClr val="bg2"/>
          </a:solidFill>
          <a:ln w="12700">
            <a:solidFill>
              <a:schemeClr val="bg2"/>
            </a:solidFill>
            <a:prstDash val="solid"/>
          </a:ln>
        </p:spPr>
      </p:sp>
      <p:sp>
        <p:nvSpPr>
          <p:cNvPr id="27" name="text_190"/>
          <p:cNvSpPr txBox="1"/>
          <p:nvPr/>
        </p:nvSpPr>
        <p:spPr>
          <a:xfrm>
            <a:off x="6393028" y="5367528"/>
            <a:ext cx="2236394" cy="411480"/>
          </a:xfrm>
          <a:prstGeom prst="rect">
            <a:avLst/>
          </a:prstGeom>
          <a:noFill/>
          <a:ln/>
        </p:spPr>
        <p:txBody>
          <a:bodyPr wrap="square" lIns="0" tIns="0" rIns="0" bIns="0" rtlCol="0" anchor="t"/>
          <a:lstStyle/>
          <a:p>
            <a:pPr indent="0" marL="0">
              <a:buNone/>
            </a:pPr>
            <a:r>
              <a:rPr lang="en-US" sz="1250" b="1" dirty="0">
                <a:solidFill>
                  <a:schemeClr val="tx2"/>
                </a:solidFill>
                <a:latin typeface="Calibri" pitchFamily="34" charset="0"/>
                <a:ea typeface="Calibri" pitchFamily="34" charset="-122"/>
                <a:cs typeface="Calibri" pitchFamily="34" charset="-120"/>
              </a:rPr>
              <a:t>SE193642 · Trần Quốc Huân</a:t>
            </a:r>
            <a:endParaRPr lang="en-US" sz="1250" dirty="0"/>
          </a:p>
        </p:txBody>
      </p:sp>
      <p:sp>
        <p:nvSpPr>
          <p:cNvPr id="28" name="text_191"/>
          <p:cNvSpPr txBox="1"/>
          <p:nvPr/>
        </p:nvSpPr>
        <p:spPr>
          <a:xfrm>
            <a:off x="6393028" y="5788152"/>
            <a:ext cx="2236394" cy="3657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Dataset / OCR</a:t>
            </a:r>
            <a:endParaRPr lang="en-US" sz="1200" dirty="0"/>
          </a:p>
        </p:txBody>
      </p:sp>
      <p:sp>
        <p:nvSpPr>
          <p:cNvPr id="29" name="card_192"/>
          <p:cNvSpPr/>
          <p:nvPr/>
        </p:nvSpPr>
        <p:spPr>
          <a:xfrm>
            <a:off x="9040901" y="5257800"/>
            <a:ext cx="2602154" cy="1005840"/>
          </a:xfrm>
          <a:prstGeom prst="roundRect">
            <a:avLst>
              <a:gd name="adj" fmla="val 7273"/>
            </a:avLst>
          </a:prstGeom>
          <a:solidFill>
            <a:schemeClr val="bg2"/>
          </a:solidFill>
          <a:ln w="12700">
            <a:solidFill>
              <a:schemeClr val="bg2"/>
            </a:solidFill>
            <a:prstDash val="solid"/>
          </a:ln>
        </p:spPr>
      </p:sp>
      <p:sp>
        <p:nvSpPr>
          <p:cNvPr id="30" name="text_193"/>
          <p:cNvSpPr txBox="1"/>
          <p:nvPr/>
        </p:nvSpPr>
        <p:spPr>
          <a:xfrm>
            <a:off x="9223781" y="5367528"/>
            <a:ext cx="2236394" cy="411480"/>
          </a:xfrm>
          <a:prstGeom prst="rect">
            <a:avLst/>
          </a:prstGeom>
          <a:noFill/>
          <a:ln/>
        </p:spPr>
        <p:txBody>
          <a:bodyPr wrap="square" lIns="0" tIns="0" rIns="0" bIns="0" rtlCol="0" anchor="t"/>
          <a:lstStyle/>
          <a:p>
            <a:pPr indent="0" marL="0">
              <a:buNone/>
            </a:pPr>
            <a:r>
              <a:rPr lang="en-US" sz="1250" b="1" dirty="0">
                <a:solidFill>
                  <a:schemeClr val="tx2"/>
                </a:solidFill>
                <a:latin typeface="Calibri" pitchFamily="34" charset="0"/>
                <a:ea typeface="Calibri" pitchFamily="34" charset="-122"/>
                <a:cs typeface="Calibri" pitchFamily="34" charset="-120"/>
              </a:rPr>
              <a:t>SE183249 · Hồ Đắc Toàn</a:t>
            </a:r>
            <a:endParaRPr lang="en-US" sz="1250" dirty="0"/>
          </a:p>
        </p:txBody>
      </p:sp>
      <p:sp>
        <p:nvSpPr>
          <p:cNvPr id="31" name="text_194"/>
          <p:cNvSpPr txBox="1"/>
          <p:nvPr/>
        </p:nvSpPr>
        <p:spPr>
          <a:xfrm>
            <a:off x="9223781" y="5788152"/>
            <a:ext cx="2236394" cy="365760"/>
          </a:xfrm>
          <a:prstGeom prst="rect">
            <a:avLst/>
          </a:prstGeom>
          <a:noFill/>
          <a:ln/>
        </p:spPr>
        <p:txBody>
          <a:bodyPr wrap="square" lIns="0" tIns="0" rIns="0" bIns="0" rtlCol="0" anchor="t"/>
          <a:lstStyle/>
          <a:p>
            <a:pPr indent="0" marL="0">
              <a:buNone/>
            </a:pPr>
            <a:r>
              <a:rPr lang="en-US" sz="1200" dirty="0">
                <a:solidFill>
                  <a:schemeClr val="tx1"/>
                </a:solidFill>
                <a:latin typeface="Calibri" pitchFamily="34" charset="0"/>
                <a:ea typeface="Calibri" pitchFamily="34" charset="-122"/>
                <a:cs typeface="Calibri" pitchFamily="34" charset="-120"/>
              </a:rPr>
              <a:t>VLM / baseline</a:t>
            </a:r>
            <a:endParaRPr lang="en-US" sz="1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SUMMARY</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Four results of this milestone</a:t>
            </a:r>
            <a:endParaRPr lang="en-US" sz="3200" dirty="0"/>
          </a:p>
        </p:txBody>
      </p:sp>
      <p:sp>
        <p:nvSpPr>
          <p:cNvPr id="5" name="card_196"/>
          <p:cNvSpPr/>
          <p:nvPr/>
        </p:nvSpPr>
        <p:spPr>
          <a:xfrm>
            <a:off x="548640" y="1600200"/>
            <a:ext cx="2533574" cy="2651760"/>
          </a:xfrm>
          <a:prstGeom prst="roundRect">
            <a:avLst>
              <a:gd name="adj" fmla="val 2887"/>
            </a:avLst>
          </a:prstGeom>
          <a:solidFill>
            <a:schemeClr val="bg2"/>
          </a:solidFill>
          <a:ln w="12700">
            <a:solidFill>
              <a:schemeClr val="bg2"/>
            </a:solidFill>
            <a:prstDash val="solid"/>
          </a:ln>
        </p:spPr>
      </p:sp>
      <p:sp>
        <p:nvSpPr>
          <p:cNvPr id="6" name="text_197"/>
          <p:cNvSpPr txBox="1"/>
          <p:nvPr/>
        </p:nvSpPr>
        <p:spPr>
          <a:xfrm>
            <a:off x="822960" y="2011680"/>
            <a:ext cx="1984934" cy="822960"/>
          </a:xfrm>
          <a:prstGeom prst="rect">
            <a:avLst/>
          </a:prstGeom>
          <a:noFill/>
          <a:ln/>
        </p:spPr>
        <p:txBody>
          <a:bodyPr wrap="square" lIns="0" tIns="0" rIns="0" bIns="0" rtlCol="0" anchor="t"/>
          <a:lstStyle/>
          <a:p>
            <a:pPr indent="0" marL="0">
              <a:buNone/>
            </a:pPr>
            <a:r>
              <a:rPr lang="en-US" sz="3600" b="1" dirty="0">
                <a:solidFill>
                  <a:schemeClr val="accent1"/>
                </a:solidFill>
                <a:latin typeface="Cambria" pitchFamily="34" charset="0"/>
                <a:ea typeface="Cambria" pitchFamily="34" charset="-122"/>
                <a:cs typeface="Cambria" pitchFamily="34" charset="-120"/>
              </a:rPr>
              <a:t>79.6</a:t>
            </a:r>
            <a:endParaRPr lang="en-US" sz="3600" dirty="0"/>
          </a:p>
        </p:txBody>
      </p:sp>
      <p:sp>
        <p:nvSpPr>
          <p:cNvPr id="7" name="text_198"/>
          <p:cNvSpPr txBox="1"/>
          <p:nvPr/>
        </p:nvSpPr>
        <p:spPr>
          <a:xfrm>
            <a:off x="822960" y="2880360"/>
            <a:ext cx="1984934"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Pipeline check — TextVQA val, Qwen2.5-VL-3B; the official report gives 79.3</a:t>
            </a:r>
            <a:endParaRPr lang="en-US" sz="1400" dirty="0"/>
          </a:p>
        </p:txBody>
      </p:sp>
      <p:sp>
        <p:nvSpPr>
          <p:cNvPr id="8" name="card_199"/>
          <p:cNvSpPr/>
          <p:nvPr/>
        </p:nvSpPr>
        <p:spPr>
          <a:xfrm>
            <a:off x="3402254" y="1600200"/>
            <a:ext cx="2533574" cy="2651760"/>
          </a:xfrm>
          <a:prstGeom prst="roundRect">
            <a:avLst>
              <a:gd name="adj" fmla="val 2887"/>
            </a:avLst>
          </a:prstGeom>
          <a:solidFill>
            <a:schemeClr val="bg2"/>
          </a:solidFill>
          <a:ln w="12700">
            <a:solidFill>
              <a:schemeClr val="bg2"/>
            </a:solidFill>
            <a:prstDash val="solid"/>
          </a:ln>
        </p:spPr>
      </p:sp>
      <p:sp>
        <p:nvSpPr>
          <p:cNvPr id="9" name="text_200"/>
          <p:cNvSpPr txBox="1"/>
          <p:nvPr/>
        </p:nvSpPr>
        <p:spPr>
          <a:xfrm>
            <a:off x="3676574" y="2011680"/>
            <a:ext cx="1984934" cy="822960"/>
          </a:xfrm>
          <a:prstGeom prst="rect">
            <a:avLst/>
          </a:prstGeom>
          <a:noFill/>
          <a:ln/>
        </p:spPr>
        <p:txBody>
          <a:bodyPr wrap="square" lIns="0" tIns="0" rIns="0" bIns="0" rtlCol="0" anchor="t"/>
          <a:lstStyle/>
          <a:p>
            <a:pPr indent="0" marL="0">
              <a:buNone/>
            </a:pPr>
            <a:r>
              <a:rPr lang="en-US" sz="3600" b="1" dirty="0">
                <a:solidFill>
                  <a:schemeClr val="tx2"/>
                </a:solidFill>
                <a:latin typeface="Cambria" pitchFamily="34" charset="0"/>
                <a:ea typeface="Cambria" pitchFamily="34" charset="-122"/>
                <a:cs typeface="Cambria" pitchFamily="34" charset="-120"/>
              </a:rPr>
              <a:t>+21.1</a:t>
            </a:r>
            <a:endParaRPr lang="en-US" sz="3600" dirty="0"/>
          </a:p>
        </p:txBody>
      </p:sp>
      <p:sp>
        <p:nvSpPr>
          <p:cNvPr id="10" name="text_201"/>
          <p:cNvSpPr txBox="1"/>
          <p:nvPr/>
        </p:nvSpPr>
        <p:spPr>
          <a:xfrm>
            <a:off x="3676574" y="2880360"/>
            <a:ext cx="1984934"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EM from QLoRA over zero-shot, full ViTextVQA test (+51.7 on ViVQA); p ≈ 0</a:t>
            </a:r>
            <a:endParaRPr lang="en-US" sz="1400" dirty="0"/>
          </a:p>
        </p:txBody>
      </p:sp>
      <p:sp>
        <p:nvSpPr>
          <p:cNvPr id="11" name="card_202"/>
          <p:cNvSpPr/>
          <p:nvPr/>
        </p:nvSpPr>
        <p:spPr>
          <a:xfrm>
            <a:off x="6255868" y="1600200"/>
            <a:ext cx="2533574" cy="2651760"/>
          </a:xfrm>
          <a:prstGeom prst="roundRect">
            <a:avLst>
              <a:gd name="adj" fmla="val 2887"/>
            </a:avLst>
          </a:prstGeom>
          <a:solidFill>
            <a:schemeClr val="bg2"/>
          </a:solidFill>
          <a:ln w="12700">
            <a:solidFill>
              <a:schemeClr val="bg2"/>
            </a:solidFill>
            <a:prstDash val="solid"/>
          </a:ln>
        </p:spPr>
      </p:sp>
      <p:sp>
        <p:nvSpPr>
          <p:cNvPr id="12" name="text_203"/>
          <p:cNvSpPr txBox="1"/>
          <p:nvPr/>
        </p:nvSpPr>
        <p:spPr>
          <a:xfrm>
            <a:off x="6530188" y="2011680"/>
            <a:ext cx="1984934" cy="822960"/>
          </a:xfrm>
          <a:prstGeom prst="rect">
            <a:avLst/>
          </a:prstGeom>
          <a:noFill/>
          <a:ln/>
        </p:spPr>
        <p:txBody>
          <a:bodyPr wrap="square" lIns="0" tIns="0" rIns="0" bIns="0" rtlCol="0" anchor="t"/>
          <a:lstStyle/>
          <a:p>
            <a:pPr indent="0" marL="0">
              <a:buNone/>
            </a:pPr>
            <a:r>
              <a:rPr lang="en-US" sz="3600" b="1" dirty="0">
                <a:solidFill>
                  <a:schemeClr val="tx2"/>
                </a:solidFill>
                <a:latin typeface="Cambria" pitchFamily="34" charset="0"/>
                <a:ea typeface="Cambria" pitchFamily="34" charset="-122"/>
                <a:cs typeface="Cambria" pitchFamily="34" charset="-120"/>
              </a:rPr>
              <a:t>50.3</a:t>
            </a:r>
            <a:endParaRPr lang="en-US" sz="3600" dirty="0"/>
          </a:p>
        </p:txBody>
      </p:sp>
      <p:sp>
        <p:nvSpPr>
          <p:cNvPr id="13" name="text_204"/>
          <p:cNvSpPr txBox="1"/>
          <p:nvPr/>
        </p:nvSpPr>
        <p:spPr>
          <a:xfrm>
            <a:off x="6530188" y="2880360"/>
            <a:ext cx="1984934"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EM on the full ViTextVQA test vs 25.5 for the published SOTA ViTextBLIP-2</a:t>
            </a:r>
            <a:endParaRPr lang="en-US" sz="1400" dirty="0"/>
          </a:p>
        </p:txBody>
      </p:sp>
      <p:sp>
        <p:nvSpPr>
          <p:cNvPr id="14" name="card_205"/>
          <p:cNvSpPr/>
          <p:nvPr/>
        </p:nvSpPr>
        <p:spPr>
          <a:xfrm>
            <a:off x="9109481" y="1600200"/>
            <a:ext cx="2533574" cy="2651760"/>
          </a:xfrm>
          <a:prstGeom prst="roundRect">
            <a:avLst>
              <a:gd name="adj" fmla="val 2887"/>
            </a:avLst>
          </a:prstGeom>
          <a:solidFill>
            <a:schemeClr val="accent5"/>
          </a:solidFill>
          <a:ln w="12700">
            <a:solidFill>
              <a:schemeClr val="accent5"/>
            </a:solidFill>
            <a:prstDash val="solid"/>
          </a:ln>
        </p:spPr>
      </p:sp>
      <p:sp>
        <p:nvSpPr>
          <p:cNvPr id="15" name="text_206"/>
          <p:cNvSpPr txBox="1"/>
          <p:nvPr/>
        </p:nvSpPr>
        <p:spPr>
          <a:xfrm>
            <a:off x="9383801" y="2011680"/>
            <a:ext cx="1984934" cy="822960"/>
          </a:xfrm>
          <a:prstGeom prst="rect">
            <a:avLst/>
          </a:prstGeom>
          <a:noFill/>
          <a:ln/>
        </p:spPr>
        <p:txBody>
          <a:bodyPr wrap="square" lIns="0" tIns="0" rIns="0" bIns="0" rtlCol="0" anchor="t"/>
          <a:lstStyle/>
          <a:p>
            <a:pPr indent="0" marL="0">
              <a:buNone/>
            </a:pPr>
            <a:r>
              <a:rPr lang="en-US" sz="3600" b="1" dirty="0">
                <a:solidFill>
                  <a:schemeClr val="accent2"/>
                </a:solidFill>
                <a:latin typeface="Cambria" pitchFamily="34" charset="0"/>
                <a:ea typeface="Cambria" pitchFamily="34" charset="-122"/>
                <a:cs typeface="Cambria" pitchFamily="34" charset="-120"/>
              </a:rPr>
              <a:t>+2.5</a:t>
            </a:r>
            <a:endParaRPr lang="en-US" sz="3600" dirty="0"/>
          </a:p>
        </p:txBody>
      </p:sp>
      <p:sp>
        <p:nvSpPr>
          <p:cNvPr id="16" name="text_207"/>
          <p:cNvSpPr txBox="1"/>
          <p:nvPr/>
        </p:nvSpPr>
        <p:spPr>
          <a:xfrm>
            <a:off x="9383801" y="2880360"/>
            <a:ext cx="1984934"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EM from OCR-aware QLoRA vs the same QLoRA without OCR (full test, p = 10⁻¹⁴; stable over 3 seeds)</a:t>
            </a:r>
            <a:endParaRPr lang="en-US" sz="1400" dirty="0"/>
          </a:p>
        </p:txBody>
      </p:sp>
      <p:sp>
        <p:nvSpPr>
          <p:cNvPr id="17" name="card_208"/>
          <p:cNvSpPr/>
          <p:nvPr/>
        </p:nvSpPr>
        <p:spPr>
          <a:xfrm>
            <a:off x="548640" y="4572000"/>
            <a:ext cx="11094415" cy="960120"/>
          </a:xfrm>
          <a:prstGeom prst="roundRect">
            <a:avLst>
              <a:gd name="adj" fmla="val 7619"/>
            </a:avLst>
          </a:prstGeom>
          <a:solidFill>
            <a:schemeClr val="accent4"/>
          </a:solidFill>
          <a:ln w="12700">
            <a:solidFill>
              <a:schemeClr val="accent4"/>
            </a:solidFill>
            <a:prstDash val="solid"/>
          </a:ln>
        </p:spPr>
      </p:sp>
      <p:sp>
        <p:nvSpPr>
          <p:cNvPr id="18" name="text_209"/>
          <p:cNvSpPr txBox="1"/>
          <p:nvPr/>
        </p:nvSpPr>
        <p:spPr>
          <a:xfrm>
            <a:off x="868680" y="4572000"/>
            <a:ext cx="10454335" cy="960120"/>
          </a:xfrm>
          <a:prstGeom prst="rect">
            <a:avLst/>
          </a:prstGeom>
          <a:noFill/>
          <a:ln/>
        </p:spPr>
        <p:txBody>
          <a:bodyPr wrap="square" lIns="0" tIns="0" rIns="0" bIns="0" rtlCol="0" anchor="ctr"/>
          <a:lstStyle/>
          <a:p>
            <a:pPr indent="0" marL="0">
              <a:buNone/>
            </a:pPr>
            <a:r>
              <a:rPr lang="en-US" sz="1600" dirty="0">
                <a:solidFill>
                  <a:schemeClr val="tx2"/>
                </a:solidFill>
                <a:latin typeface="Calibri" pitchFamily="34" charset="0"/>
                <a:ea typeface="Calibri" pitchFamily="34" charset="-122"/>
                <a:cs typeface="Calibri" pitchFamily="34" charset="-120"/>
              </a:rPr>
              <a:t>Efficient by design: QLoRA trains 7.37 M parameters (0.196%), a 29.5 MB adapter, on a single NVIDIA L4 GPU — no full fine-tuning.</a:t>
            </a:r>
            <a:endParaRPr lang="en-US" sz="16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PART 01 · RESPONSE TO FEEDBACK</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Advisor feedback (07/10) and what we did</a:t>
            </a:r>
            <a:endParaRPr lang="en-US" sz="3200" dirty="0"/>
          </a:p>
        </p:txBody>
      </p:sp>
      <p:graphicFrame>
        <p:nvGraphicFramePr>
          <p:cNvPr id="19" name="table_21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3291840"/>
                <a:gridCol w="6675120"/>
                <a:gridCol w="1124712"/>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Feedback</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Action</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Slide</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566928">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No baseline architecture diagram</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Component-level diagram of Qwen2.5-VL-3B with LoRA placement (Fig. 7A)</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Explain the dataset and its noise</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ViVQA build pipeline + noise points N1–N4 (Fig. 6A); train–test leakage check; 400-sample manual audit</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19, 29</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Re-run the baseline with a stated evaluation method</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Frozen protocol (Fig. 7B); pipeline validated on a published number (R0); zero-shot B1 on both datasets</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21–23</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Know the SOTA</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ViTextBLIP-2 compared on the full test; Table 7 LMM row checked with Qwen2-VL-7B (R1)</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24, 27–28</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Run experiments before discussing improvements</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QLoRA (B2) + three controls; then the proposed OCR-aware QLoRA (B3) with ablations</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25–33</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PART 02 · DATASET UNDERSTANDING</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ViVQA is machine-translated — noise is built in</a:t>
            </a:r>
            <a:endParaRPr lang="en-US" sz="3200" dirty="0"/>
          </a:p>
        </p:txBody>
      </p:sp>
      <p:pic>
        <p:nvPicPr>
          <p:cNvPr id="5" name="figure_211" descr="a6">    </p:cNvPr>
          <p:cNvPicPr>
            <a:picLocks noChangeAspect="1"/>
          </p:cNvPicPr>
          <p:nvPr/>
        </p:nvPicPr>
        <p:blipFill>
          <a:blip r:embed="rId1"/>
          <a:stretch>
            <a:fillRect/>
          </a:stretch>
        </p:blipFill>
        <p:spPr>
          <a:xfrm>
            <a:off x="1144641" y="1371600"/>
            <a:ext cx="9902414" cy="3840480"/>
          </a:xfrm>
          <a:prstGeom prst="rect">
            <a:avLst/>
          </a:prstGeom>
        </p:spPr>
      </p:pic>
      <p:sp>
        <p:nvSpPr>
          <p:cNvPr id="6" name="card_212"/>
          <p:cNvSpPr/>
          <p:nvPr/>
        </p:nvSpPr>
        <p:spPr>
          <a:xfrm>
            <a:off x="548640" y="5486400"/>
            <a:ext cx="5364328" cy="777240"/>
          </a:xfrm>
          <a:prstGeom prst="roundRect">
            <a:avLst>
              <a:gd name="adj" fmla="val 9412"/>
            </a:avLst>
          </a:prstGeom>
          <a:solidFill>
            <a:schemeClr val="bg2"/>
          </a:solidFill>
          <a:ln w="12700">
            <a:solidFill>
              <a:schemeClr val="bg2"/>
            </a:solidFill>
            <a:prstDash val="solid"/>
          </a:ln>
        </p:spPr>
      </p:sp>
      <p:sp>
        <p:nvSpPr>
          <p:cNvPr id="7" name="text_213"/>
          <p:cNvSpPr txBox="1"/>
          <p:nvPr/>
        </p:nvSpPr>
        <p:spPr>
          <a:xfrm>
            <a:off x="822960" y="5623560"/>
            <a:ext cx="4815688" cy="502920"/>
          </a:xfrm>
          <a:prstGeom prst="rect">
            <a:avLst/>
          </a:prstGeom>
          <a:noFill/>
          <a:ln/>
        </p:spPr>
        <p:txBody>
          <a:bodyPr wrap="square" lIns="0" tIns="0" rIns="0" bIns="0" rtlCol="0" anchor="ctr"/>
          <a:lstStyle/>
          <a:p>
            <a:pPr indent="0" marL="0">
              <a:buNone/>
            </a:pPr>
            <a:r>
              <a:rPr lang="en-US" sz="1400" b="1" dirty="0">
                <a:solidFill>
                  <a:srgbClr val="13294B"/>
                </a:solidFill>
                <a:latin typeface="Calibri" pitchFamily="34" charset="0"/>
                <a:ea typeface="Calibri" pitchFamily="34" charset="-122"/>
                <a:cs typeface="Calibri" pitchFamily="34" charset="-120"/>
              </a:rPr>
              <a:t>ViVQA  </a:t>
            </a:r>
            <a:pPr indent="0" marL="0">
              <a:buNone/>
            </a:pPr>
            <a:r>
              <a:rPr lang="en-US" sz="1400" dirty="0">
                <a:solidFill>
                  <a:schemeClr val="tx1"/>
                </a:solidFill>
                <a:latin typeface="Calibri" pitchFamily="34" charset="0"/>
                <a:ea typeface="Calibri" pitchFamily="34" charset="-122"/>
                <a:cs typeface="Calibri" pitchFamily="34" charset="-120"/>
              </a:rPr>
              <a:t>1,274 / 2,789 test images also appear in train; 99.4% of test answers belong to the 333 train answers (closed vocabulary)</a:t>
            </a:r>
            <a:endParaRPr lang="en-US" sz="1400" dirty="0"/>
          </a:p>
        </p:txBody>
      </p:sp>
      <p:sp>
        <p:nvSpPr>
          <p:cNvPr id="8" name="card_214"/>
          <p:cNvSpPr/>
          <p:nvPr/>
        </p:nvSpPr>
        <p:spPr>
          <a:xfrm>
            <a:off x="6278728" y="5486400"/>
            <a:ext cx="5364328" cy="777240"/>
          </a:xfrm>
          <a:prstGeom prst="roundRect">
            <a:avLst>
              <a:gd name="adj" fmla="val 9412"/>
            </a:avLst>
          </a:prstGeom>
          <a:solidFill>
            <a:schemeClr val="accent4"/>
          </a:solidFill>
          <a:ln w="12700">
            <a:solidFill>
              <a:schemeClr val="accent4"/>
            </a:solidFill>
            <a:prstDash val="solid"/>
          </a:ln>
        </p:spPr>
      </p:sp>
      <p:sp>
        <p:nvSpPr>
          <p:cNvPr id="9" name="text_215"/>
          <p:cNvSpPr txBox="1"/>
          <p:nvPr/>
        </p:nvSpPr>
        <p:spPr>
          <a:xfrm>
            <a:off x="6553048" y="5623560"/>
            <a:ext cx="4815688" cy="502920"/>
          </a:xfrm>
          <a:prstGeom prst="rect">
            <a:avLst/>
          </a:prstGeom>
          <a:noFill/>
          <a:ln/>
        </p:spPr>
        <p:txBody>
          <a:bodyPr wrap="square" lIns="0" tIns="0" rIns="0" bIns="0" rtlCol="0" anchor="ctr"/>
          <a:lstStyle/>
          <a:p>
            <a:pPr indent="0" marL="0">
              <a:buNone/>
            </a:pPr>
            <a:r>
              <a:rPr lang="en-US" sz="1400" b="1" dirty="0">
                <a:solidFill>
                  <a:srgbClr val="13294B"/>
                </a:solidFill>
                <a:latin typeface="Calibri" pitchFamily="34" charset="0"/>
                <a:ea typeface="Calibri" pitchFamily="34" charset="-122"/>
                <a:cs typeface="Calibri" pitchFamily="34" charset="-120"/>
              </a:rPr>
              <a:t>ViTextVQA  </a:t>
            </a:r>
            <a:pPr indent="0" marL="0">
              <a:buNone/>
            </a:pPr>
            <a:r>
              <a:rPr lang="en-US" sz="1400" dirty="0">
                <a:solidFill>
                  <a:schemeClr val="tx1"/>
                </a:solidFill>
                <a:latin typeface="Calibri" pitchFamily="34" charset="0"/>
                <a:ea typeface="Calibri" pitchFamily="34" charset="-122"/>
                <a:cs typeface="Calibri" pitchFamily="34" charset="-120"/>
              </a:rPr>
              <a:t>0 images shared between train/dev and test; 46% of test answers occur in train → a cleaner test of generalization</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PART 03 · BASELINE ARCHITECTURE</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Qwen2.5-VL-3B-Instruct</a:t>
            </a:r>
            <a:endParaRPr lang="en-US" sz="3200" dirty="0"/>
          </a:p>
        </p:txBody>
      </p:sp>
      <p:pic>
        <p:nvPicPr>
          <p:cNvPr id="5" name="figure_216" descr="a7">    </p:cNvPr>
          <p:cNvPicPr>
            <a:picLocks noChangeAspect="1"/>
          </p:cNvPicPr>
          <p:nvPr/>
        </p:nvPicPr>
        <p:blipFill>
          <a:blip r:embed="rId1"/>
          <a:stretch>
            <a:fillRect/>
          </a:stretch>
        </p:blipFill>
        <p:spPr>
          <a:xfrm>
            <a:off x="548640" y="1325880"/>
            <a:ext cx="7589520" cy="4328624"/>
          </a:xfrm>
          <a:prstGeom prst="rect">
            <a:avLst/>
          </a:prstGeom>
        </p:spPr>
      </p:pic>
      <p:sp>
        <p:nvSpPr>
          <p:cNvPr id="6" name="card_217"/>
          <p:cNvSpPr/>
          <p:nvPr/>
        </p:nvSpPr>
        <p:spPr>
          <a:xfrm>
            <a:off x="8503920" y="1325880"/>
            <a:ext cx="3139135" cy="1691640"/>
          </a:xfrm>
          <a:prstGeom prst="roundRect">
            <a:avLst>
              <a:gd name="adj" fmla="val 4324"/>
            </a:avLst>
          </a:prstGeom>
          <a:solidFill>
            <a:schemeClr val="accent5"/>
          </a:solidFill>
          <a:ln w="12700">
            <a:solidFill>
              <a:schemeClr val="accent5"/>
            </a:solidFill>
            <a:prstDash val="solid"/>
          </a:ln>
        </p:spPr>
      </p:sp>
      <p:sp>
        <p:nvSpPr>
          <p:cNvPr id="7" name="text_218"/>
          <p:cNvSpPr txBox="1"/>
          <p:nvPr/>
        </p:nvSpPr>
        <p:spPr>
          <a:xfrm>
            <a:off x="8732520" y="1417320"/>
            <a:ext cx="2681935"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Trained (QLoRA)</a:t>
            </a:r>
            <a:endParaRPr lang="en-US" sz="1600" dirty="0"/>
          </a:p>
        </p:txBody>
      </p:sp>
      <p:sp>
        <p:nvSpPr>
          <p:cNvPr id="8" name="list_219"/>
          <p:cNvSpPr txBox="1"/>
          <p:nvPr/>
        </p:nvSpPr>
        <p:spPr>
          <a:xfrm>
            <a:off x="8732520" y="1783080"/>
            <a:ext cx="2681935" cy="1188720"/>
          </a:xfrm>
          <a:prstGeom prst="rect">
            <a:avLst/>
          </a:prstGeom>
          <a:noFill/>
          <a:ln/>
        </p:spPr>
        <p:txBody>
          <a:bodyPr wrap="square" lIns="0" tIns="0" rIns="0" bIns="0" rtlCol="0" anchor="t"/>
          <a:lstStyle/>
          <a:p>
            <a:pPr marL="177800" indent="-177800">
              <a:spcAft>
                <a:spcPts val="200"/>
              </a:spcAft>
              <a:buSzPct val="100000"/>
              <a:buChar char="•"/>
            </a:pPr>
            <a:r>
              <a:rPr lang="en-US" sz="1200" dirty="0">
                <a:solidFill>
                  <a:schemeClr val="tx1"/>
                </a:solidFill>
                <a:latin typeface="Calibri" pitchFamily="34" charset="0"/>
                <a:ea typeface="Calibri" pitchFamily="34" charset="-122"/>
                <a:cs typeface="Calibri" pitchFamily="34" charset="-120"/>
              </a:rPr>
              <a:t>LoRA r = 16, α = 32 on q, k, v, o</a:t>
            </a:r>
            <a:endParaRPr lang="en-US" sz="1200" dirty="0"/>
          </a:p>
          <a:p>
            <a:pPr marL="177800" indent="-177800">
              <a:spcAft>
                <a:spcPts val="200"/>
              </a:spcAft>
              <a:buSzPct val="100000"/>
              <a:buChar char="•"/>
            </a:pPr>
            <a:r>
              <a:rPr lang="en-US" sz="1200" dirty="0">
                <a:solidFill>
                  <a:schemeClr val="tx1"/>
                </a:solidFill>
                <a:latin typeface="Calibri" pitchFamily="34" charset="0"/>
                <a:ea typeface="Calibri" pitchFamily="34" charset="-122"/>
                <a:cs typeface="Calibri" pitchFamily="34" charset="-120"/>
              </a:rPr>
              <a:t>7,372,800 params = 0.196% · 29.5 MB</a:t>
            </a:r>
            <a:endParaRPr lang="en-US" sz="1200" dirty="0"/>
          </a:p>
          <a:p>
            <a:pPr marL="177800" indent="-177800">
              <a:spcAft>
                <a:spcPts val="200"/>
              </a:spcAft>
              <a:buSzPct val="100000"/>
              <a:buChar char="•"/>
            </a:pPr>
            <a:r>
              <a:rPr lang="en-US" sz="1200" dirty="0">
                <a:solidFill>
                  <a:schemeClr val="tx1"/>
                </a:solidFill>
                <a:latin typeface="Calibri" pitchFamily="34" charset="0"/>
                <a:ea typeface="Calibri" pitchFamily="34" charset="-122"/>
                <a:cs typeface="Calibri" pitchFamily="34" charset="-120"/>
              </a:rPr>
              <a:t>Everything else frozen, LLM in 4-bit NF4</a:t>
            </a:r>
            <a:endParaRPr lang="en-US" sz="1200" dirty="0"/>
          </a:p>
        </p:txBody>
      </p:sp>
      <p:sp>
        <p:nvSpPr>
          <p:cNvPr id="9" name="card_220"/>
          <p:cNvSpPr/>
          <p:nvPr/>
        </p:nvSpPr>
        <p:spPr>
          <a:xfrm>
            <a:off x="8503920" y="3154680"/>
            <a:ext cx="3139135" cy="3108960"/>
          </a:xfrm>
          <a:prstGeom prst="roundRect">
            <a:avLst>
              <a:gd name="adj" fmla="val 2353"/>
            </a:avLst>
          </a:prstGeom>
          <a:solidFill>
            <a:schemeClr val="bg2"/>
          </a:solidFill>
          <a:ln w="12700">
            <a:solidFill>
              <a:schemeClr val="bg2"/>
            </a:solidFill>
            <a:prstDash val="solid"/>
          </a:ln>
        </p:spPr>
      </p:sp>
      <p:sp>
        <p:nvSpPr>
          <p:cNvPr id="10" name="text_221"/>
          <p:cNvSpPr txBox="1"/>
          <p:nvPr/>
        </p:nvSpPr>
        <p:spPr>
          <a:xfrm>
            <a:off x="8732520" y="3246120"/>
            <a:ext cx="2681935"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Data flow (in → out)</a:t>
            </a:r>
            <a:endParaRPr lang="en-US" sz="1600" dirty="0"/>
          </a:p>
        </p:txBody>
      </p:sp>
      <p:sp>
        <p:nvSpPr>
          <p:cNvPr id="11" name="text_222"/>
          <p:cNvSpPr txBox="1"/>
          <p:nvPr/>
        </p:nvSpPr>
        <p:spPr>
          <a:xfrm>
            <a:off x="8732520" y="3639312"/>
            <a:ext cx="2681935" cy="2103120"/>
          </a:xfrm>
          <a:prstGeom prst="rect">
            <a:avLst/>
          </a:prstGeom>
          <a:noFill/>
          <a:ln/>
        </p:spPr>
        <p:txBody>
          <a:bodyPr wrap="square" lIns="0" tIns="0" rIns="0" bIns="0" rtlCol="0" anchor="t"/>
          <a:lstStyle/>
          <a:p>
            <a:pPr indent="0" marL="0">
              <a:buNone/>
            </a:pPr>
            <a:r>
              <a:rPr lang="en-US" sz="1150" b="1" dirty="0">
                <a:solidFill>
                  <a:srgbClr val="13294B"/>
                </a:solidFill>
                <a:latin typeface="Calibri" pitchFamily="34" charset="0"/>
                <a:ea typeface="Calibri" pitchFamily="34" charset="-122"/>
                <a:cs typeface="Calibri" pitchFamily="34" charset="-120"/>
              </a:rPr>
              <a:t>1 · Image → ViT: </a:t>
            </a:r>
            <a:pPr indent="0" marL="0">
              <a:buNone/>
            </a:pPr>
            <a:r>
              <a:rPr lang="en-US" sz="1150" dirty="0">
                <a:solidFill>
                  <a:schemeClr val="tx1"/>
                </a:solidFill>
                <a:latin typeface="Calibri" pitchFamily="34" charset="0"/>
                <a:ea typeface="Calibri" pitchFamily="34" charset="-122"/>
                <a:cs typeface="Calibri" pitchFamily="34" charset="-120"/>
              </a:rPr>
              <a:t>≤ 401,408 px → 14×14 patches → 32 blocks</a:t>
            </a:r>
            <a:endParaRPr lang="en-US" sz="1150" dirty="0"/>
          </a:p>
          <a:p>
            <a:pPr indent="0" marL="0">
              <a:buNone/>
            </a:pPr>
            <a:r>
              <a:rPr lang="en-US" sz="300" dirty="0">
                <a:solidFill>
                  <a:schemeClr val="tx1"/>
                </a:solidFill>
                <a:latin typeface="Calibri" pitchFamily="34" charset="0"/>
                <a:ea typeface="Calibri" pitchFamily="34" charset="-122"/>
                <a:cs typeface="Calibri" pitchFamily="34" charset="-120"/>
              </a:rPr>
              <a:t> </a:t>
            </a:r>
            <a:endParaRPr lang="en-US" sz="1150" dirty="0"/>
          </a:p>
          <a:p>
            <a:pPr indent="0" marL="0">
              <a:buNone/>
            </a:pPr>
            <a:r>
              <a:rPr lang="en-US" sz="1150" b="1" dirty="0">
                <a:solidFill>
                  <a:srgbClr val="13294B"/>
                </a:solidFill>
                <a:latin typeface="Calibri" pitchFamily="34" charset="0"/>
                <a:ea typeface="Calibri" pitchFamily="34" charset="-122"/>
                <a:cs typeface="Calibri" pitchFamily="34" charset="-120"/>
              </a:rPr>
              <a:t>2 · Patch merger: </a:t>
            </a:r>
            <a:pPr indent="0" marL="0">
              <a:buNone/>
            </a:pPr>
            <a:r>
              <a:rPr lang="en-US" sz="1150" dirty="0">
                <a:solidFill>
                  <a:schemeClr val="tx1"/>
                </a:solidFill>
                <a:latin typeface="Calibri" pitchFamily="34" charset="0"/>
                <a:ea typeface="Calibri" pitchFamily="34" charset="-122"/>
                <a:cs typeface="Calibri" pitchFamily="34" charset="-120"/>
              </a:rPr>
              <a:t>2×2 patches → 1 token (2048-d) → 256–512 visual tokens</a:t>
            </a:r>
            <a:endParaRPr lang="en-US" sz="1150" dirty="0"/>
          </a:p>
          <a:p>
            <a:pPr indent="0" marL="0">
              <a:buNone/>
            </a:pPr>
            <a:r>
              <a:rPr lang="en-US" sz="300" dirty="0">
                <a:solidFill>
                  <a:schemeClr val="tx1"/>
                </a:solidFill>
                <a:latin typeface="Calibri" pitchFamily="34" charset="0"/>
                <a:ea typeface="Calibri" pitchFamily="34" charset="-122"/>
                <a:cs typeface="Calibri" pitchFamily="34" charset="-120"/>
              </a:rPr>
              <a:t> </a:t>
            </a:r>
            <a:endParaRPr lang="en-US" sz="1150" dirty="0"/>
          </a:p>
          <a:p>
            <a:pPr indent="0" marL="0">
              <a:buNone/>
            </a:pPr>
            <a:r>
              <a:rPr lang="en-US" sz="1150" b="1" dirty="0">
                <a:solidFill>
                  <a:srgbClr val="13294B"/>
                </a:solidFill>
                <a:latin typeface="Calibri" pitchFamily="34" charset="0"/>
                <a:ea typeface="Calibri" pitchFamily="34" charset="-122"/>
                <a:cs typeface="Calibri" pitchFamily="34" charset="-120"/>
              </a:rPr>
              <a:t>3 · Prompt P0: </a:t>
            </a:r>
            <a:pPr indent="0" marL="0">
              <a:buNone/>
            </a:pPr>
            <a:r>
              <a:rPr lang="en-US" sz="1150" dirty="0">
                <a:solidFill>
                  <a:schemeClr val="tx1"/>
                </a:solidFill>
                <a:latin typeface="Calibri" pitchFamily="34" charset="0"/>
                <a:ea typeface="Calibri" pitchFamily="34" charset="-122"/>
                <a:cs typeface="Calibri" pitchFamily="34" charset="-120"/>
              </a:rPr>
              <a:t>chat template + visual tokens + Vietnamese question</a:t>
            </a:r>
            <a:endParaRPr lang="en-US" sz="1150" dirty="0"/>
          </a:p>
          <a:p>
            <a:pPr indent="0" marL="0">
              <a:buNone/>
            </a:pPr>
            <a:r>
              <a:rPr lang="en-US" sz="300" dirty="0">
                <a:solidFill>
                  <a:schemeClr val="tx1"/>
                </a:solidFill>
                <a:latin typeface="Calibri" pitchFamily="34" charset="0"/>
                <a:ea typeface="Calibri" pitchFamily="34" charset="-122"/>
                <a:cs typeface="Calibri" pitchFamily="34" charset="-120"/>
              </a:rPr>
              <a:t> </a:t>
            </a:r>
            <a:endParaRPr lang="en-US" sz="1150" dirty="0"/>
          </a:p>
          <a:p>
            <a:pPr indent="0" marL="0">
              <a:buNone/>
            </a:pPr>
            <a:r>
              <a:rPr lang="en-US" sz="1150" b="1" dirty="0">
                <a:solidFill>
                  <a:srgbClr val="13294B"/>
                </a:solidFill>
                <a:latin typeface="Calibri" pitchFamily="34" charset="0"/>
                <a:ea typeface="Calibri" pitchFamily="34" charset="-122"/>
                <a:cs typeface="Calibri" pitchFamily="34" charset="-120"/>
              </a:rPr>
              <a:t>4 · Decoder (+LoRA): </a:t>
            </a:r>
            <a:pPr indent="0" marL="0">
              <a:buNone/>
            </a:pPr>
            <a:r>
              <a:rPr lang="en-US" sz="1150" dirty="0">
                <a:solidFill>
                  <a:schemeClr val="tx1"/>
                </a:solidFill>
                <a:latin typeface="Calibri" pitchFamily="34" charset="0"/>
                <a:ea typeface="Calibri" pitchFamily="34" charset="-122"/>
                <a:cs typeface="Calibri" pitchFamily="34" charset="-120"/>
              </a:rPr>
              <a:t>greedy, ≤ 32 new tokens → normalize → EM / ANLS</a:t>
            </a:r>
            <a:endParaRPr lang="en-US" sz="1150" dirty="0"/>
          </a:p>
        </p:txBody>
      </p:sp>
      <p:sp>
        <p:nvSpPr>
          <p:cNvPr id="12" name="text_223"/>
          <p:cNvSpPr txBox="1"/>
          <p:nvPr/>
        </p:nvSpPr>
        <p:spPr>
          <a:xfrm>
            <a:off x="8732520" y="5760720"/>
            <a:ext cx="2681935" cy="411480"/>
          </a:xfrm>
          <a:prstGeom prst="rect">
            <a:avLst/>
          </a:prstGeom>
          <a:noFill/>
          <a:ln/>
        </p:spPr>
        <p:txBody>
          <a:bodyPr wrap="square" lIns="0" tIns="0" rIns="0" bIns="0" rtlCol="0" anchor="t"/>
          <a:lstStyle/>
          <a:p>
            <a:pPr indent="0" marL="0">
              <a:buNone/>
            </a:pPr>
            <a:r>
              <a:rPr lang="en-US" sz="1100" i="1" dirty="0">
                <a:solidFill>
                  <a:srgbClr val="1C7293"/>
                </a:solidFill>
                <a:latin typeface="Calibri" pitchFamily="34" charset="0"/>
                <a:ea typeface="Calibri" pitchFamily="34" charset="-122"/>
                <a:cs typeface="Calibri" pitchFamily="34" charset="-120"/>
              </a:rPr>
              <a:t>No OCR in the baseline — OCR is the B3 improvement (Part 06).</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PART 03 · EVALUATION PROTOCOL</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Every run follows one frozen protocol</a:t>
            </a:r>
            <a:endParaRPr lang="en-US" sz="3200" dirty="0"/>
          </a:p>
        </p:txBody>
      </p:sp>
      <p:pic>
        <p:nvPicPr>
          <p:cNvPr id="5" name="figure_224" descr="b7">    </p:cNvPr>
          <p:cNvPicPr>
            <a:picLocks noChangeAspect="1"/>
          </p:cNvPicPr>
          <p:nvPr/>
        </p:nvPicPr>
        <p:blipFill>
          <a:blip r:embed="rId1"/>
          <a:stretch>
            <a:fillRect/>
          </a:stretch>
        </p:blipFill>
        <p:spPr>
          <a:xfrm>
            <a:off x="548640" y="1325880"/>
            <a:ext cx="11094415" cy="2161935"/>
          </a:xfrm>
          <a:prstGeom prst="rect">
            <a:avLst/>
          </a:prstGeom>
        </p:spPr>
      </p:pic>
      <p:sp>
        <p:nvSpPr>
          <p:cNvPr id="6" name="card_225"/>
          <p:cNvSpPr/>
          <p:nvPr/>
        </p:nvSpPr>
        <p:spPr>
          <a:xfrm>
            <a:off x="548640" y="3762135"/>
            <a:ext cx="3454298" cy="1998585"/>
          </a:xfrm>
          <a:prstGeom prst="roundRect">
            <a:avLst>
              <a:gd name="adj" fmla="val 3660"/>
            </a:avLst>
          </a:prstGeom>
          <a:solidFill>
            <a:schemeClr val="bg2"/>
          </a:solidFill>
          <a:ln w="12700">
            <a:solidFill>
              <a:schemeClr val="bg2"/>
            </a:solidFill>
            <a:prstDash val="solid"/>
          </a:ln>
        </p:spPr>
      </p:sp>
      <p:sp>
        <p:nvSpPr>
          <p:cNvPr id="7" name="text_226"/>
          <p:cNvSpPr txBox="1"/>
          <p:nvPr/>
        </p:nvSpPr>
        <p:spPr>
          <a:xfrm>
            <a:off x="777240" y="3899295"/>
            <a:ext cx="299709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Frozen configuration</a:t>
            </a:r>
            <a:endParaRPr lang="en-US" sz="1600" dirty="0"/>
          </a:p>
        </p:txBody>
      </p:sp>
      <p:sp>
        <p:nvSpPr>
          <p:cNvPr id="8" name="list_227"/>
          <p:cNvSpPr txBox="1"/>
          <p:nvPr/>
        </p:nvSpPr>
        <p:spPr>
          <a:xfrm>
            <a:off x="777240" y="4310775"/>
            <a:ext cx="2997098" cy="1358505"/>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bf16 compute, 4-bit NF4 + double quant</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512 visual tokens max</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Greedy decoding, 32 new tokens</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Seed 42 · NVIDIA L4</a:t>
            </a:r>
            <a:endParaRPr lang="en-US" sz="1400" dirty="0"/>
          </a:p>
        </p:txBody>
      </p:sp>
      <p:sp>
        <p:nvSpPr>
          <p:cNvPr id="9" name="card_228"/>
          <p:cNvSpPr/>
          <p:nvPr/>
        </p:nvSpPr>
        <p:spPr>
          <a:xfrm>
            <a:off x="4368698" y="3762135"/>
            <a:ext cx="3454298" cy="1998585"/>
          </a:xfrm>
          <a:prstGeom prst="roundRect">
            <a:avLst>
              <a:gd name="adj" fmla="val 3660"/>
            </a:avLst>
          </a:prstGeom>
          <a:solidFill>
            <a:schemeClr val="bg2"/>
          </a:solidFill>
          <a:ln w="12700">
            <a:solidFill>
              <a:schemeClr val="bg2"/>
            </a:solidFill>
            <a:prstDash val="solid"/>
          </a:ln>
        </p:spPr>
      </p:sp>
      <p:sp>
        <p:nvSpPr>
          <p:cNvPr id="10" name="text_229"/>
          <p:cNvSpPr txBox="1"/>
          <p:nvPr/>
        </p:nvSpPr>
        <p:spPr>
          <a:xfrm>
            <a:off x="4597298" y="3899295"/>
            <a:ext cx="299709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Metrics</a:t>
            </a:r>
            <a:endParaRPr lang="en-US" sz="1600" dirty="0"/>
          </a:p>
        </p:txBody>
      </p:sp>
      <p:sp>
        <p:nvSpPr>
          <p:cNvPr id="11" name="list_230"/>
          <p:cNvSpPr txBox="1"/>
          <p:nvPr/>
        </p:nvSpPr>
        <p:spPr>
          <a:xfrm>
            <a:off x="4597298" y="4310775"/>
            <a:ext cx="2997098" cy="1358505"/>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Primary: EM, VQA-Acc, ANLS</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Secondary: token-F1 (to compare with the paper)</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Symmetric Vietnamese normalization, tone marks kept</a:t>
            </a:r>
            <a:endParaRPr lang="en-US" sz="1400" dirty="0"/>
          </a:p>
        </p:txBody>
      </p:sp>
      <p:sp>
        <p:nvSpPr>
          <p:cNvPr id="12" name="card_231"/>
          <p:cNvSpPr/>
          <p:nvPr/>
        </p:nvSpPr>
        <p:spPr>
          <a:xfrm>
            <a:off x="8188757" y="3762135"/>
            <a:ext cx="3454298" cy="1998585"/>
          </a:xfrm>
          <a:prstGeom prst="roundRect">
            <a:avLst>
              <a:gd name="adj" fmla="val 3660"/>
            </a:avLst>
          </a:prstGeom>
          <a:solidFill>
            <a:schemeClr val="bg2"/>
          </a:solidFill>
          <a:ln w="12700">
            <a:solidFill>
              <a:schemeClr val="bg2"/>
            </a:solidFill>
            <a:prstDash val="solid"/>
          </a:ln>
        </p:spPr>
      </p:sp>
      <p:sp>
        <p:nvSpPr>
          <p:cNvPr id="13" name="text_232"/>
          <p:cNvSpPr txBox="1"/>
          <p:nvPr/>
        </p:nvSpPr>
        <p:spPr>
          <a:xfrm>
            <a:off x="8417357" y="3899295"/>
            <a:ext cx="2997098"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Statistics</a:t>
            </a:r>
            <a:endParaRPr lang="en-US" sz="1600" dirty="0"/>
          </a:p>
        </p:txBody>
      </p:sp>
      <p:sp>
        <p:nvSpPr>
          <p:cNvPr id="14" name="list_233"/>
          <p:cNvSpPr txBox="1"/>
          <p:nvPr/>
        </p:nvSpPr>
        <p:spPr>
          <a:xfrm>
            <a:off x="8417357" y="4310775"/>
            <a:ext cx="2997098" cy="1358505"/>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Paired McNemar exact test (EM)</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Paired bootstrap CI95 (ANLS)</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Decision rules fixed before each run</a:t>
            </a:r>
            <a:endParaRPr lang="en-US" sz="1400" dirty="0"/>
          </a:p>
        </p:txBody>
      </p:sp>
      <p:sp>
        <p:nvSpPr>
          <p:cNvPr id="15" name="text_234"/>
          <p:cNvSpPr txBox="1"/>
          <p:nvPr/>
        </p:nvSpPr>
        <p:spPr>
          <a:xfrm>
            <a:off x="548640" y="5833872"/>
            <a:ext cx="11094415" cy="548640"/>
          </a:xfrm>
          <a:prstGeom prst="rect">
            <a:avLst/>
          </a:prstGeom>
          <a:noFill/>
          <a:ln/>
        </p:spPr>
        <p:txBody>
          <a:bodyPr wrap="square" lIns="0" tIns="0" rIns="0" bIns="0" rtlCol="0" anchor="b"/>
          <a:lstStyle/>
          <a:p>
            <a:pPr indent="0" marL="0">
              <a:buNone/>
            </a:pPr>
            <a:r>
              <a:rPr lang="en-US" sz="1000" dirty="0">
                <a:solidFill>
                  <a:schemeClr val="accent3"/>
                </a:solidFill>
                <a:latin typeface="Calibri" pitchFamily="34" charset="0"/>
                <a:ea typeface="Calibri" pitchFamily="34" charset="-122"/>
                <a:cs typeface="Calibri" pitchFamily="34" charset="-120"/>
              </a:rPr>
              <a:t>EM = Exact Match · VQA-Acc = VQA Accuracy (min(#matching gold / 3, 1); = EM with one gold answer) · ANLS = Average Normalized Levenshtein Similarity (threshold 0.5) · F1 = token-level F1 · bf16 = bfloat16 · NF4 = 4-bit NormalFloat (QLoRA) · CI95 = 95% confidence interval · McNemar = paired test on questions where exactly one run is correct</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PART 04 · PIPELINE VALIDATION (R0)</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Our pipeline reproduces the published number</a:t>
            </a:r>
            <a:endParaRPr lang="en-US" sz="3200" dirty="0"/>
          </a:p>
        </p:txBody>
      </p:sp>
      <p:graphicFrame>
        <p:nvGraphicFramePr>
          <p:cNvPr id="5" name="chart_235" descr=""/>
          <p:cNvGraphicFramePr/>
          <p:nvPr/>
        </p:nvGraphicFramePr>
        <p:xfrm>
          <a:off x="548640" y="1371600"/>
          <a:ext cx="6583680" cy="4846320"/>
        </p:xfrm>
        <a:graphic xmlns:a="http://schemas.openxmlformats.org/drawingml/2006/main">
          <a:graphicData uri="http://schemas.openxmlformats.org/drawingml/2006/chart">
            <c:chart xmlns:c="http://schemas.openxmlformats.org/drawingml/2006/chart" r:id="rId1"/>
          </a:graphicData>
        </a:graphic>
      </p:graphicFrame>
      <p:sp>
        <p:nvSpPr>
          <p:cNvPr id="6" name="card_236"/>
          <p:cNvSpPr/>
          <p:nvPr/>
        </p:nvSpPr>
        <p:spPr>
          <a:xfrm>
            <a:off x="7498080" y="1371600"/>
            <a:ext cx="4144975" cy="2240280"/>
          </a:xfrm>
          <a:prstGeom prst="roundRect">
            <a:avLst>
              <a:gd name="adj" fmla="val 3265"/>
            </a:avLst>
          </a:prstGeom>
          <a:solidFill>
            <a:schemeClr val="accent4"/>
          </a:solidFill>
          <a:ln w="12700">
            <a:solidFill>
              <a:schemeClr val="accent4"/>
            </a:solidFill>
            <a:prstDash val="solid"/>
          </a:ln>
        </p:spPr>
      </p:sp>
      <p:sp>
        <p:nvSpPr>
          <p:cNvPr id="7" name="text_237"/>
          <p:cNvSpPr txBox="1"/>
          <p:nvPr/>
        </p:nvSpPr>
        <p:spPr>
          <a:xfrm>
            <a:off x="7772400" y="1508760"/>
            <a:ext cx="3596335"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Rule fixed before the run</a:t>
            </a:r>
            <a:endParaRPr lang="en-US" sz="1600" dirty="0"/>
          </a:p>
        </p:txBody>
      </p:sp>
      <p:sp>
        <p:nvSpPr>
          <p:cNvPr id="8" name="text_238"/>
          <p:cNvSpPr txBox="1"/>
          <p:nvPr/>
        </p:nvSpPr>
        <p:spPr>
          <a:xfrm>
            <a:off x="7772400" y="1920240"/>
            <a:ext cx="3596335" cy="15544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Reproduced if |ours − 79.3| ≤ 2.0 on the full val set → 79.6 (+0.3): reproduced.</a:t>
            </a:r>
            <a:endParaRPr lang="en-US" sz="1500" dirty="0"/>
          </a:p>
        </p:txBody>
      </p:sp>
      <p:sp>
        <p:nvSpPr>
          <p:cNvPr id="9" name="card_239"/>
          <p:cNvSpPr/>
          <p:nvPr/>
        </p:nvSpPr>
        <p:spPr>
          <a:xfrm>
            <a:off x="7498080" y="3794760"/>
            <a:ext cx="4144975" cy="2423160"/>
          </a:xfrm>
          <a:prstGeom prst="roundRect">
            <a:avLst>
              <a:gd name="adj" fmla="val 3019"/>
            </a:avLst>
          </a:prstGeom>
          <a:solidFill>
            <a:schemeClr val="bg2"/>
          </a:solidFill>
          <a:ln w="12700">
            <a:solidFill>
              <a:schemeClr val="bg2"/>
            </a:solidFill>
            <a:prstDash val="solid"/>
          </a:ln>
        </p:spPr>
      </p:sp>
      <p:sp>
        <p:nvSpPr>
          <p:cNvPr id="10" name="text_240"/>
          <p:cNvSpPr txBox="1"/>
          <p:nvPr/>
        </p:nvSpPr>
        <p:spPr>
          <a:xfrm>
            <a:off x="7772400" y="3931920"/>
            <a:ext cx="3596335"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Cost of the efficient setup</a:t>
            </a:r>
            <a:endParaRPr lang="en-US" sz="1600" dirty="0"/>
          </a:p>
        </p:txBody>
      </p:sp>
      <p:sp>
        <p:nvSpPr>
          <p:cNvPr id="11" name="list_241"/>
          <p:cNvSpPr txBox="1"/>
          <p:nvPr/>
        </p:nvSpPr>
        <p:spPr>
          <a:xfrm>
            <a:off x="7772400" y="4343400"/>
            <a:ext cx="3596335" cy="173736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−4.4 points accuracy</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VRAM 10.9 → 2.5 GB (4.3× less)</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Keeps 94.5% of the accuracy — reported as an efficiency measurement, not a hypothesis (Part A)</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PART 04 · ZERO-SHOT BASELINE (B1)</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Zero-shot fails mostly on answer format</a:t>
            </a:r>
            <a:endParaRPr lang="en-US" sz="3200" dirty="0"/>
          </a:p>
        </p:txBody>
      </p:sp>
      <p:graphicFrame>
        <p:nvGraphicFramePr>
          <p:cNvPr id="24" name="table_242"/>
          <p:cNvGraphicFramePr>
            <a:graphicFrameLocks noGrp="1"/>
          </p:cNvGraphicFramePr>
          <p:nvPr>
            <p:extLst>
              <p:ext uri="{D42A27DB-BD31-4B8C-83A1-F6EECF244321}">
                <p14:modId xmlns:p14="http://schemas.microsoft.com/office/powerpoint/2010/main" val="1579011935"/>
              </p:ext>
            </p:extLst>
          </p:nvPr>
        </p:nvGraphicFramePr>
        <p:xfrm>
          <a:off x="548640" y="1417320"/>
          <a:ext cx="6035040" cy="914400"/>
        </p:xfrm>
        <a:graphic>
          <a:graphicData uri="http://schemas.openxmlformats.org/drawingml/2006/table">
            <a:tbl>
              <a:tblPr/>
              <a:tblGrid>
                <a:gridCol w="3017520"/>
                <a:gridCol w="1005840"/>
                <a:gridCol w="1005840"/>
                <a:gridCol w="100584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Test set</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EM</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ANLS</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457200">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ViVQA (3,001)</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22.1</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28.6</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38.1</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ViTextVQA subset (2,000)</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28.8</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47.5</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53.8</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ViTextVQA full (10,028)</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29.1</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47.6</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53.9</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6" name="card_243"/>
          <p:cNvSpPr/>
          <p:nvPr/>
        </p:nvSpPr>
        <p:spPr>
          <a:xfrm>
            <a:off x="548640" y="3520440"/>
            <a:ext cx="6035040" cy="2743200"/>
          </a:xfrm>
          <a:prstGeom prst="roundRect">
            <a:avLst>
              <a:gd name="adj" fmla="val 2667"/>
            </a:avLst>
          </a:prstGeom>
          <a:solidFill>
            <a:schemeClr val="bg2"/>
          </a:solidFill>
          <a:ln w="12700">
            <a:solidFill>
              <a:schemeClr val="bg2"/>
            </a:solidFill>
            <a:prstDash val="solid"/>
          </a:ln>
        </p:spPr>
      </p:sp>
      <p:sp>
        <p:nvSpPr>
          <p:cNvPr id="7" name="text_244"/>
          <p:cNvSpPr txBox="1"/>
          <p:nvPr/>
        </p:nvSpPr>
        <p:spPr>
          <a:xfrm>
            <a:off x="822960" y="3657600"/>
            <a:ext cx="548640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ViVQA EM by question type</a:t>
            </a:r>
            <a:endParaRPr lang="en-US" sz="1600" dirty="0"/>
          </a:p>
        </p:txBody>
      </p:sp>
      <p:graphicFrame>
        <p:nvGraphicFramePr>
          <p:cNvPr id="8" name="chart_245" descr=""/>
          <p:cNvGraphicFramePr/>
          <p:nvPr/>
        </p:nvGraphicFramePr>
        <p:xfrm>
          <a:off x="731520" y="4023360"/>
          <a:ext cx="5669280" cy="2148840"/>
        </p:xfrm>
        <a:graphic xmlns:a="http://schemas.openxmlformats.org/drawingml/2006/main">
          <a:graphicData uri="http://schemas.openxmlformats.org/drawingml/2006/chart">
            <c:chart xmlns:c="http://schemas.openxmlformats.org/drawingml/2006/chart" r:id="rId1"/>
          </a:graphicData>
        </a:graphic>
      </p:graphicFrame>
      <p:sp>
        <p:nvSpPr>
          <p:cNvPr id="9" name="card_246"/>
          <p:cNvSpPr/>
          <p:nvPr/>
        </p:nvSpPr>
        <p:spPr>
          <a:xfrm>
            <a:off x="6949440" y="1417320"/>
            <a:ext cx="4693615" cy="4846320"/>
          </a:xfrm>
          <a:prstGeom prst="roundRect">
            <a:avLst>
              <a:gd name="adj" fmla="val 1559"/>
            </a:avLst>
          </a:prstGeom>
          <a:solidFill>
            <a:schemeClr val="accent5"/>
          </a:solidFill>
          <a:ln w="12700">
            <a:solidFill>
              <a:schemeClr val="accent5"/>
            </a:solidFill>
            <a:prstDash val="solid"/>
          </a:ln>
        </p:spPr>
      </p:sp>
      <p:sp>
        <p:nvSpPr>
          <p:cNvPr id="10" name="text_247"/>
          <p:cNvSpPr txBox="1"/>
          <p:nvPr/>
        </p:nvSpPr>
        <p:spPr>
          <a:xfrm>
            <a:off x="7223760" y="1554480"/>
            <a:ext cx="4144975"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Main failure: verbose answers</a:t>
            </a:r>
            <a:endParaRPr lang="en-US" sz="1600" dirty="0"/>
          </a:p>
        </p:txBody>
      </p:sp>
      <p:sp>
        <p:nvSpPr>
          <p:cNvPr id="11" name="list_248"/>
          <p:cNvSpPr txBox="1"/>
          <p:nvPr/>
        </p:nvSpPr>
        <p:spPr>
          <a:xfrm>
            <a:off x="7223760" y="2011680"/>
            <a:ext cx="4144975" cy="411480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Words per answer: 2.9 vs gold 1.6 (ViVQA); 5.5 vs 3.7 (ViTextVQA)</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19% of ViTextVQA answers contain the gold answer but fail EM</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“Lịch tết năm 2021” vs gold “2021”</a:t>
            </a:r>
            <a:endParaRPr lang="en-US" sz="1500" dirty="0"/>
          </a:p>
          <a:p>
            <a:pPr marL="177800" indent="-1778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Also: code-switching (“truck”), hallucination, noisy gold (“tía”)</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PART 04 · BACKBONE ABLATION (R1)</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A larger model is not better here</a:t>
            </a:r>
            <a:endParaRPr lang="en-US" sz="3200" dirty="0"/>
          </a:p>
        </p:txBody>
      </p:sp>
      <p:graphicFrame>
        <p:nvGraphicFramePr>
          <p:cNvPr id="25" name="table_249"/>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4599432"/>
                <a:gridCol w="1097280"/>
                <a:gridCol w="1097280"/>
                <a:gridCol w="1280160"/>
                <a:gridCol w="1280160"/>
                <a:gridCol w="1737360"/>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Run (ViTextVQA, 2,000 q.)</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EM</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words</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 / q</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VRAM GB</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475488">
                <a:tc>
                  <a:txBody>
                    <a:bodyPr/>
                    <a:lstStyle/>
                    <a:p>
                      <a:pPr algn="l" indent="0" marL="0">
                        <a:buNone/>
                      </a:pPr>
                      <a:r>
                        <a:rPr lang="en-US" sz="1400" b="1" dirty="0">
                          <a:solidFill>
                            <a:srgbClr val="243044"/>
                          </a:solidFill>
                          <a:latin typeface="Calibri" pitchFamily="34" charset="0"/>
                          <a:ea typeface="Calibri" pitchFamily="34" charset="-122"/>
                          <a:cs typeface="Calibri" pitchFamily="34" charset="-120"/>
                        </a:rPr>
                        <a:t>B1 · Qwen2.5-VL-3B [1] · 4-bit · 512 tok.</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b="1" dirty="0">
                          <a:solidFill>
                            <a:srgbClr val="243044"/>
                          </a:solidFill>
                          <a:latin typeface="Calibri" pitchFamily="34" charset="0"/>
                          <a:ea typeface="Calibri" pitchFamily="34" charset="-122"/>
                          <a:cs typeface="Calibri" pitchFamily="34" charset="-120"/>
                        </a:rPr>
                        <a:t>28.8</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b="1" dirty="0">
                          <a:solidFill>
                            <a:srgbClr val="243044"/>
                          </a:solidFill>
                          <a:latin typeface="Calibri" pitchFamily="34" charset="0"/>
                          <a:ea typeface="Calibri" pitchFamily="34" charset="-122"/>
                          <a:cs typeface="Calibri" pitchFamily="34" charset="-120"/>
                        </a:rPr>
                        <a:t>53.8</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b="1" dirty="0">
                          <a:solidFill>
                            <a:srgbClr val="243044"/>
                          </a:solidFill>
                          <a:latin typeface="Calibri" pitchFamily="34" charset="0"/>
                          <a:ea typeface="Calibri" pitchFamily="34" charset="-122"/>
                          <a:cs typeface="Calibri" pitchFamily="34" charset="-120"/>
                        </a:rPr>
                        <a:t>5.5</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b="1" dirty="0">
                          <a:solidFill>
                            <a:srgbClr val="243044"/>
                          </a:solidFill>
                          <a:latin typeface="Calibri" pitchFamily="34" charset="0"/>
                          <a:ea typeface="Calibri" pitchFamily="34" charset="-122"/>
                          <a:cs typeface="Calibri" pitchFamily="34" charset="-120"/>
                        </a:rPr>
                        <a:t>0.86</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b="1" dirty="0">
                          <a:solidFill>
                            <a:srgbClr val="243044"/>
                          </a:solidFill>
                          <a:latin typeface="Calibri" pitchFamily="34" charset="0"/>
                          <a:ea typeface="Calibri" pitchFamily="34" charset="-122"/>
                          <a:cs typeface="Calibri" pitchFamily="34" charset="-120"/>
                        </a:rPr>
                        <a:t>≈ 2.5</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75488">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R1b · Qwen2-VL-7B [2] · 4-bit · 512 tok.</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16.2</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41.3</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8.0</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1.02</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6.2</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75488">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R1 · Qwen2-VL-7B [2] · bf16 · full res.</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16.7</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43.5</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8.2</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2.85</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20.3</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75488">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ViTextVQA paper [3] Table 7 · “QwenVL-7b” (100 q.)</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28.0</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53.8</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6" name="card_250"/>
          <p:cNvSpPr/>
          <p:nvPr/>
        </p:nvSpPr>
        <p:spPr>
          <a:xfrm>
            <a:off x="548640" y="4023360"/>
            <a:ext cx="3454298" cy="1691640"/>
          </a:xfrm>
          <a:prstGeom prst="roundRect">
            <a:avLst>
              <a:gd name="adj" fmla="val 4324"/>
            </a:avLst>
          </a:prstGeom>
          <a:solidFill>
            <a:schemeClr val="bg2"/>
          </a:solidFill>
          <a:ln w="12700">
            <a:solidFill>
              <a:schemeClr val="bg2"/>
            </a:solidFill>
            <a:prstDash val="solid"/>
          </a:ln>
        </p:spPr>
      </p:sp>
      <p:sp>
        <p:nvSpPr>
          <p:cNvPr id="7" name="text_251"/>
          <p:cNvSpPr txBox="1"/>
          <p:nvPr/>
        </p:nvSpPr>
        <p:spPr>
          <a:xfrm>
            <a:off x="777240" y="4160520"/>
            <a:ext cx="299709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7B &lt; 3B under identical conditions</a:t>
            </a:r>
            <a:endParaRPr lang="en-US" sz="1600" dirty="0"/>
          </a:p>
        </p:txBody>
      </p:sp>
      <p:sp>
        <p:nvSpPr>
          <p:cNvPr id="8" name="text_252"/>
          <p:cNvSpPr txBox="1"/>
          <p:nvPr/>
        </p:nvSpPr>
        <p:spPr>
          <a:xfrm>
            <a:off x="777240" y="4617720"/>
            <a:ext cx="2997098" cy="960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−12.6 EM, McNemar p ≈ 10⁻³³; higher resolution does not help (R1 = R1b, p = 0.45)</a:t>
            </a:r>
            <a:endParaRPr lang="en-US" sz="1400" dirty="0"/>
          </a:p>
        </p:txBody>
      </p:sp>
      <p:sp>
        <p:nvSpPr>
          <p:cNvPr id="9" name="card_253"/>
          <p:cNvSpPr/>
          <p:nvPr/>
        </p:nvSpPr>
        <p:spPr>
          <a:xfrm>
            <a:off x="4368698" y="4023360"/>
            <a:ext cx="3454298" cy="1691640"/>
          </a:xfrm>
          <a:prstGeom prst="roundRect">
            <a:avLst>
              <a:gd name="adj" fmla="val 4324"/>
            </a:avLst>
          </a:prstGeom>
          <a:solidFill>
            <a:schemeClr val="bg2"/>
          </a:solidFill>
          <a:ln w="12700">
            <a:solidFill>
              <a:schemeClr val="bg2"/>
            </a:solidFill>
            <a:prstDash val="solid"/>
          </a:ln>
        </p:spPr>
      </p:sp>
      <p:sp>
        <p:nvSpPr>
          <p:cNvPr id="10" name="text_254"/>
          <p:cNvSpPr txBox="1"/>
          <p:nvPr/>
        </p:nvSpPr>
        <p:spPr>
          <a:xfrm>
            <a:off x="4597298" y="4160520"/>
            <a:ext cx="299709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Why: instruction following</a:t>
            </a:r>
            <a:endParaRPr lang="en-US" sz="1600" dirty="0"/>
          </a:p>
        </p:txBody>
      </p:sp>
      <p:sp>
        <p:nvSpPr>
          <p:cNvPr id="11" name="text_255"/>
          <p:cNvSpPr txBox="1"/>
          <p:nvPr/>
        </p:nvSpPr>
        <p:spPr>
          <a:xfrm>
            <a:off x="4597298" y="4617720"/>
            <a:ext cx="2997098" cy="960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7B writes 8.2 words per answer vs gold 3.7 — EM fails even when the text is read correctly</a:t>
            </a:r>
            <a:endParaRPr lang="en-US" sz="1400" dirty="0"/>
          </a:p>
        </p:txBody>
      </p:sp>
      <p:sp>
        <p:nvSpPr>
          <p:cNvPr id="12" name="card_256"/>
          <p:cNvSpPr/>
          <p:nvPr/>
        </p:nvSpPr>
        <p:spPr>
          <a:xfrm>
            <a:off x="8188757" y="4023360"/>
            <a:ext cx="3454298" cy="1691640"/>
          </a:xfrm>
          <a:prstGeom prst="roundRect">
            <a:avLst>
              <a:gd name="adj" fmla="val 4324"/>
            </a:avLst>
          </a:prstGeom>
          <a:solidFill>
            <a:schemeClr val="accent4"/>
          </a:solidFill>
          <a:ln w="12700">
            <a:solidFill>
              <a:schemeClr val="accent4"/>
            </a:solidFill>
            <a:prstDash val="solid"/>
          </a:ln>
        </p:spPr>
      </p:sp>
      <p:sp>
        <p:nvSpPr>
          <p:cNvPr id="13" name="text_257"/>
          <p:cNvSpPr txBox="1"/>
          <p:nvPr/>
        </p:nvSpPr>
        <p:spPr>
          <a:xfrm>
            <a:off x="8417357" y="4160520"/>
            <a:ext cx="299709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Table 7 cannot decide</a:t>
            </a:r>
            <a:endParaRPr lang="en-US" sz="1600" dirty="0"/>
          </a:p>
        </p:txBody>
      </p:sp>
      <p:sp>
        <p:nvSpPr>
          <p:cNvPr id="14" name="text_258"/>
          <p:cNvSpPr txBox="1"/>
          <p:nvPr/>
        </p:nvSpPr>
        <p:spPr>
          <a:xfrm>
            <a:off x="8417357" y="4617720"/>
            <a:ext cx="2997098" cy="960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n = 100 → ±9 EM; B1 is already consistent with it. Decision: keep Qwen2.5-VL-3B</a:t>
            </a:r>
            <a:endParaRPr lang="en-US" sz="1400" dirty="0"/>
          </a:p>
        </p:txBody>
      </p:sp>
      <p:sp>
        <p:nvSpPr>
          <p:cNvPr id="15" name="text_259"/>
          <p:cNvSpPr txBox="1"/>
          <p:nvPr/>
        </p:nvSpPr>
        <p:spPr>
          <a:xfrm>
            <a:off x="548640" y="5806440"/>
            <a:ext cx="11094415" cy="566928"/>
          </a:xfrm>
          <a:prstGeom prst="rect">
            <a:avLst/>
          </a:prstGeom>
          <a:noFill/>
          <a:ln/>
        </p:spPr>
        <p:txBody>
          <a:bodyPr wrap="square" lIns="0" tIns="0" rIns="0" bIns="0" rtlCol="0" anchor="b"/>
          <a:lstStyle/>
          <a:p>
            <a:pPr indent="0" marL="0">
              <a:buNone/>
            </a:pPr>
            <a:r>
              <a:rPr lang="en-US" sz="1000" dirty="0">
                <a:solidFill>
                  <a:schemeClr val="accent3"/>
                </a:solidFill>
                <a:latin typeface="Calibri" pitchFamily="34" charset="0"/>
                <a:ea typeface="Calibri" pitchFamily="34" charset="-122"/>
                <a:cs typeface="Calibri" pitchFamily="34" charset="-120"/>
              </a:rPr>
              <a:t>[1] Bai et al., Qwen2.5-VL Technical Report, arXiv:2502.13923, 2025 · [2] Wang et al., Qwen2-VL, arXiv:2409.12191, 2024 · [3] Nguyen et al., ViTextVQA, arXiv:2404.10652, 2024 (ext. in Expert Systems with Applications, 2025). Our runs: experiments/W07_B1_zeroshot_…_test2000, W07_R1_…, W07_R1b_… (same 2,000 questions, seed 42).</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PART 05 · QLoRA (B2)</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QLoRA, one epoch: large and significant gains</a:t>
            </a:r>
            <a:endParaRPr lang="en-US" sz="3200" dirty="0"/>
          </a:p>
        </p:txBody>
      </p:sp>
      <p:graphicFrame>
        <p:nvGraphicFramePr>
          <p:cNvPr id="5" name="chart_260" descr=""/>
          <p:cNvGraphicFramePr/>
          <p:nvPr/>
        </p:nvGraphicFramePr>
        <p:xfrm>
          <a:off x="548640" y="1371600"/>
          <a:ext cx="6766560" cy="4892040"/>
        </p:xfrm>
        <a:graphic xmlns:a="http://schemas.openxmlformats.org/drawingml/2006/main">
          <a:graphicData uri="http://schemas.openxmlformats.org/drawingml/2006/chart">
            <c:chart xmlns:c="http://schemas.openxmlformats.org/drawingml/2006/chart" r:id="rId1"/>
          </a:graphicData>
        </a:graphic>
      </p:graphicFrame>
      <p:graphicFrame>
        <p:nvGraphicFramePr>
          <p:cNvPr id="26" name="table_261"/>
          <p:cNvGraphicFramePr>
            <a:graphicFrameLocks noGrp="1"/>
          </p:cNvGraphicFramePr>
          <p:nvPr>
            <p:extLst>
              <p:ext uri="{D42A27DB-BD31-4B8C-83A1-F6EECF244321}">
                <p14:modId xmlns:p14="http://schemas.microsoft.com/office/powerpoint/2010/main" val="1579011935"/>
              </p:ext>
            </p:extLst>
          </p:nvPr>
        </p:nvGraphicFramePr>
        <p:xfrm>
          <a:off x="7680960" y="1371600"/>
          <a:ext cx="3962095" cy="914400"/>
        </p:xfrm>
        <a:graphic>
          <a:graphicData uri="http://schemas.openxmlformats.org/drawingml/2006/table">
            <a:tbl>
              <a:tblPr/>
              <a:tblGrid>
                <a:gridCol w="1828800"/>
                <a:gridCol w="1243584"/>
                <a:gridCol w="1252728"/>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Cost</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ViVQA</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ViTextVQA</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457200">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Train samples</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10,799</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35,159</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Train time (L4)</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3.0 h</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12.0 h</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Peak VRAM</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6.6 GB</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6.9 GB</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Inference</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0.57 s / q</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1.0 s / q</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7" name="card_262"/>
          <p:cNvSpPr/>
          <p:nvPr/>
        </p:nvSpPr>
        <p:spPr>
          <a:xfrm>
            <a:off x="7680960" y="3886200"/>
            <a:ext cx="3962095" cy="2377440"/>
          </a:xfrm>
          <a:prstGeom prst="roundRect">
            <a:avLst>
              <a:gd name="adj" fmla="val 3077"/>
            </a:avLst>
          </a:prstGeom>
          <a:solidFill>
            <a:schemeClr val="accent4"/>
          </a:solidFill>
          <a:ln w="12700">
            <a:solidFill>
              <a:schemeClr val="accent4"/>
            </a:solidFill>
            <a:prstDash val="solid"/>
          </a:ln>
        </p:spPr>
      </p:sp>
      <p:sp>
        <p:nvSpPr>
          <p:cNvPr id="8" name="text_263"/>
          <p:cNvSpPr txBox="1"/>
          <p:nvPr/>
        </p:nvSpPr>
        <p:spPr>
          <a:xfrm>
            <a:off x="7909560" y="4023360"/>
            <a:ext cx="3504895"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Rule fixed before the run</a:t>
            </a:r>
            <a:endParaRPr lang="en-US" sz="1600" dirty="0"/>
          </a:p>
        </p:txBody>
      </p:sp>
      <p:sp>
        <p:nvSpPr>
          <p:cNvPr id="9" name="text_264"/>
          <p:cNvSpPr txBox="1"/>
          <p:nvPr/>
        </p:nvSpPr>
        <p:spPr>
          <a:xfrm>
            <a:off x="7909560" y="4434840"/>
            <a:ext cx="3504895" cy="17373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Improvement if EM rises and McNemar p &lt; 0.05 → met on both datasets (ViTextVQA full: 2,543 vs 423 questions only one model gets right).</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PART 05 · CONTROLS</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The gain is real, not leakage and not just format</a:t>
            </a:r>
            <a:endParaRPr lang="en-US" sz="3200" dirty="0"/>
          </a:p>
        </p:txBody>
      </p:sp>
      <p:sp>
        <p:nvSpPr>
          <p:cNvPr id="5" name="card_265"/>
          <p:cNvSpPr/>
          <p:nvPr/>
        </p:nvSpPr>
        <p:spPr>
          <a:xfrm>
            <a:off x="548640" y="1371600"/>
            <a:ext cx="3566160" cy="2331720"/>
          </a:xfrm>
          <a:prstGeom prst="roundRect">
            <a:avLst>
              <a:gd name="adj" fmla="val 3137"/>
            </a:avLst>
          </a:prstGeom>
          <a:solidFill>
            <a:schemeClr val="bg2"/>
          </a:solidFill>
          <a:ln w="12700">
            <a:solidFill>
              <a:schemeClr val="bg2"/>
            </a:solidFill>
            <a:prstDash val="solid"/>
          </a:ln>
        </p:spPr>
      </p:sp>
      <p:sp>
        <p:nvSpPr>
          <p:cNvPr id="6" name="text_266"/>
          <p:cNvSpPr txBox="1"/>
          <p:nvPr/>
        </p:nvSpPr>
        <p:spPr>
          <a:xfrm>
            <a:off x="777240" y="1481328"/>
            <a:ext cx="310896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ViVQA leakage strata</a:t>
            </a:r>
            <a:endParaRPr lang="en-US" sz="1600" dirty="0"/>
          </a:p>
        </p:txBody>
      </p:sp>
      <p:sp>
        <p:nvSpPr>
          <p:cNvPr id="7" name="text_267"/>
          <p:cNvSpPr txBox="1"/>
          <p:nvPr/>
        </p:nvSpPr>
        <p:spPr>
          <a:xfrm>
            <a:off x="777240" y="1920240"/>
            <a:ext cx="3108960" cy="1691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Clean subset (n = 1,219): </a:t>
            </a:r>
            <a:pPr indent="0" marL="0">
              <a:buNone/>
            </a:pPr>
            <a:r>
              <a:rPr lang="en-US" sz="1400" b="1" dirty="0">
                <a:solidFill>
                  <a:srgbClr val="1C7293"/>
                </a:solidFill>
                <a:latin typeface="Calibri" pitchFamily="34" charset="0"/>
                <a:ea typeface="Calibri" pitchFamily="34" charset="-122"/>
                <a:cs typeface="Calibri" pitchFamily="34" charset="-120"/>
              </a:rPr>
              <a:t>EM 25.0 → 69.1</a:t>
            </a:r>
            <a:endParaRPr lang="en-US" sz="1400" dirty="0"/>
          </a:p>
          <a:p>
            <a:pPr indent="0" marL="0">
              <a:buNone/>
            </a:pPr>
            <a:r>
              <a:rPr lang="en-US" sz="1400" dirty="0">
                <a:solidFill>
                  <a:schemeClr val="tx1"/>
                </a:solidFill>
                <a:latin typeface="Calibri" pitchFamily="34" charset="0"/>
                <a:ea typeface="Calibri" pitchFamily="34" charset="-122"/>
                <a:cs typeface="Calibri" pitchFamily="34" charset="-120"/>
              </a:rPr>
              <a:t>Answer-prior baseline: 14.4</a:t>
            </a:r>
            <a:endParaRPr lang="en-US" sz="1400" dirty="0"/>
          </a:p>
        </p:txBody>
      </p:sp>
      <p:sp>
        <p:nvSpPr>
          <p:cNvPr id="8" name="card_268"/>
          <p:cNvSpPr/>
          <p:nvPr/>
        </p:nvSpPr>
        <p:spPr>
          <a:xfrm>
            <a:off x="548640" y="3931920"/>
            <a:ext cx="3566160" cy="2331720"/>
          </a:xfrm>
          <a:prstGeom prst="roundRect">
            <a:avLst>
              <a:gd name="adj" fmla="val 3137"/>
            </a:avLst>
          </a:prstGeom>
          <a:solidFill>
            <a:schemeClr val="bg2"/>
          </a:solidFill>
          <a:ln w="12700">
            <a:solidFill>
              <a:schemeClr val="bg2"/>
            </a:solidFill>
            <a:prstDash val="solid"/>
          </a:ln>
        </p:spPr>
      </p:sp>
      <p:sp>
        <p:nvSpPr>
          <p:cNvPr id="9" name="text_269"/>
          <p:cNvSpPr txBox="1"/>
          <p:nvPr/>
        </p:nvSpPr>
        <p:spPr>
          <a:xfrm>
            <a:off x="777240" y="4041648"/>
            <a:ext cx="3108960"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ViTextVQA: no shared images</a:t>
            </a:r>
            <a:endParaRPr lang="en-US" sz="1600" dirty="0"/>
          </a:p>
        </p:txBody>
      </p:sp>
      <p:sp>
        <p:nvSpPr>
          <p:cNvPr id="10" name="text_270"/>
          <p:cNvSpPr txBox="1"/>
          <p:nvPr/>
        </p:nvSpPr>
        <p:spPr>
          <a:xfrm>
            <a:off x="777240" y="4480560"/>
            <a:ext cx="3108960" cy="16916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0 train–test image overlap, </a:t>
            </a:r>
            <a:pPr indent="0" marL="0">
              <a:buNone/>
            </a:pPr>
            <a:r>
              <a:rPr lang="en-US" sz="1400" b="1" dirty="0">
                <a:solidFill>
                  <a:srgbClr val="1C7293"/>
                </a:solidFill>
                <a:latin typeface="Calibri" pitchFamily="34" charset="0"/>
                <a:ea typeface="Calibri" pitchFamily="34" charset="-122"/>
                <a:cs typeface="Calibri" pitchFamily="34" charset="-120"/>
              </a:rPr>
              <a:t>yet +21.1 EM on the full test</a:t>
            </a:r>
            <a:endParaRPr lang="en-US" sz="1400" dirty="0"/>
          </a:p>
        </p:txBody>
      </p:sp>
      <p:sp>
        <p:nvSpPr>
          <p:cNvPr id="11" name="card_271"/>
          <p:cNvSpPr/>
          <p:nvPr/>
        </p:nvSpPr>
        <p:spPr>
          <a:xfrm>
            <a:off x="4480560" y="1371600"/>
            <a:ext cx="7162495" cy="4892040"/>
          </a:xfrm>
          <a:prstGeom prst="roundRect">
            <a:avLst>
              <a:gd name="adj" fmla="val 1495"/>
            </a:avLst>
          </a:prstGeom>
          <a:solidFill>
            <a:schemeClr val="bg2"/>
          </a:solidFill>
          <a:ln w="12700">
            <a:solidFill>
              <a:schemeClr val="bg2"/>
            </a:solidFill>
            <a:prstDash val="solid"/>
          </a:ln>
        </p:spPr>
      </p:sp>
      <p:sp>
        <p:nvSpPr>
          <p:cNvPr id="12" name="text_272"/>
          <p:cNvSpPr txBox="1"/>
          <p:nvPr/>
        </p:nvSpPr>
        <p:spPr>
          <a:xfrm>
            <a:off x="4754880" y="1481328"/>
            <a:ext cx="6613855"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Few-shot control: 5 text examples in the prompt (FS5)</a:t>
            </a:r>
            <a:endParaRPr lang="en-US" sz="1600" dirty="0"/>
          </a:p>
        </p:txBody>
      </p:sp>
      <p:graphicFrame>
        <p:nvGraphicFramePr>
          <p:cNvPr id="13" name="chart_273" descr=""/>
          <p:cNvGraphicFramePr/>
          <p:nvPr/>
        </p:nvGraphicFramePr>
        <p:xfrm>
          <a:off x="4617720" y="1874520"/>
          <a:ext cx="6888175" cy="3246120"/>
        </p:xfrm>
        <a:graphic xmlns:a="http://schemas.openxmlformats.org/drawingml/2006/main">
          <a:graphicData uri="http://schemas.openxmlformats.org/drawingml/2006/chart">
            <c:chart xmlns:c="http://schemas.openxmlformats.org/drawingml/2006/chart" r:id="rId1"/>
          </a:graphicData>
        </a:graphic>
      </p:graphicFrame>
      <p:sp>
        <p:nvSpPr>
          <p:cNvPr id="14" name="text_274"/>
          <p:cNvSpPr txBox="1"/>
          <p:nvPr/>
        </p:nvSpPr>
        <p:spPr>
          <a:xfrm>
            <a:off x="4754880" y="5166360"/>
            <a:ext cx="6613855" cy="100584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Few-shot shortens answers but loses content (EM −2.1 on ViVQA, p = 0.004; −1.2 on ViTextVQA, n.s.). B2 beats FS5 on both (p ≈ 0) → QLoRA learns more than answer format.</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PART 05 · COMPARISON WITH SOTA</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Full ViTextVQA test: above the published SOTA</a:t>
            </a:r>
            <a:endParaRPr lang="en-US" sz="3200" dirty="0"/>
          </a:p>
        </p:txBody>
      </p:sp>
      <p:graphicFrame>
        <p:nvGraphicFramePr>
          <p:cNvPr id="28" name="table_275"/>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657600"/>
                <a:gridCol w="2331720"/>
                <a:gridCol w="2331720"/>
                <a:gridCol w="2770632"/>
              </a:tblGrid>
              <a:tr h="56692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Model (full test, 10,028 q.)</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EM [CI95]</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F1 [CI95]</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vs SOTA (rule: CI95 lower bound &gt; published)</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566928">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ViTextBLIP-2 · Nguyen et al. [3], Table 6 (trained)</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25.48</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53.95</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B1 · Qwen2.5-VL-3B zero-shot</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29.12 [28.23, 29.99]</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53.89 [53.11, 54.66]</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higher on EM; F1 indistinguishable</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566928">
                <a:tc>
                  <a:txBody>
                    <a:bodyPr/>
                    <a:lstStyle/>
                    <a:p>
                      <a:pPr algn="l" indent="0" marL="0">
                        <a:buNone/>
                      </a:pPr>
                      <a:r>
                        <a:rPr lang="en-US" sz="1400" b="1" dirty="0">
                          <a:solidFill>
                            <a:srgbClr val="13294B"/>
                          </a:solidFill>
                          <a:latin typeface="Calibri" pitchFamily="34" charset="0"/>
                          <a:ea typeface="Calibri" pitchFamily="34" charset="-122"/>
                          <a:cs typeface="Calibri" pitchFamily="34" charset="-120"/>
                        </a:rPr>
                        <a:t>B2 · + QLoRA, 1 epoch</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E7F0F3"/>
                    </a:solidFill>
                  </a:tcPr>
                </a:tc>
                <a:tc>
                  <a:txBody>
                    <a:bodyPr/>
                    <a:lstStyle/>
                    <a:p>
                      <a:pPr algn="ctr" indent="0" marL="0">
                        <a:buNone/>
                      </a:pPr>
                      <a:r>
                        <a:rPr lang="en-US" sz="1400" b="1" dirty="0">
                          <a:solidFill>
                            <a:srgbClr val="13294B"/>
                          </a:solidFill>
                          <a:latin typeface="Calibri" pitchFamily="34" charset="0"/>
                          <a:ea typeface="Calibri" pitchFamily="34" charset="-122"/>
                          <a:cs typeface="Calibri" pitchFamily="34" charset="-120"/>
                        </a:rPr>
                        <a:t>50.26 [49.27, 51.23]</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E7F0F3"/>
                    </a:solidFill>
                  </a:tcPr>
                </a:tc>
                <a:tc>
                  <a:txBody>
                    <a:bodyPr/>
                    <a:lstStyle/>
                    <a:p>
                      <a:pPr algn="ctr" indent="0" marL="0">
                        <a:buNone/>
                      </a:pPr>
                      <a:r>
                        <a:rPr lang="en-US" sz="1400" b="1" dirty="0">
                          <a:solidFill>
                            <a:srgbClr val="13294B"/>
                          </a:solidFill>
                          <a:latin typeface="Calibri" pitchFamily="34" charset="0"/>
                          <a:ea typeface="Calibri" pitchFamily="34" charset="-122"/>
                          <a:cs typeface="Calibri" pitchFamily="34" charset="-120"/>
                        </a:rPr>
                        <a:t>71.16 [70.42, 71.89]</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E7F0F3"/>
                    </a:solidFill>
                  </a:tcPr>
                </a:tc>
                <a:tc>
                  <a:txBody>
                    <a:bodyPr/>
                    <a:lstStyle/>
                    <a:p>
                      <a:pPr algn="l" indent="0" marL="0">
                        <a:buNone/>
                      </a:pPr>
                      <a:r>
                        <a:rPr lang="en-US" sz="1400" b="1" dirty="0">
                          <a:solidFill>
                            <a:srgbClr val="13294B"/>
                          </a:solidFill>
                          <a:latin typeface="Calibri" pitchFamily="34" charset="0"/>
                          <a:ea typeface="Calibri" pitchFamily="34" charset="-122"/>
                          <a:cs typeface="Calibri" pitchFamily="34" charset="-120"/>
                        </a:rPr>
                        <a:t>higher on EM and F1</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E7F0F3"/>
                    </a:solidFill>
                  </a:tcPr>
                </a:tc>
              </a:tr>
            </a:tbl>
          </a:graphicData>
        </a:graphic>
      </p:graphicFrame>
      <p:sp>
        <p:nvSpPr>
          <p:cNvPr id="6" name="card_276"/>
          <p:cNvSpPr/>
          <p:nvPr/>
        </p:nvSpPr>
        <p:spPr>
          <a:xfrm>
            <a:off x="548640" y="3886200"/>
            <a:ext cx="3454298" cy="1691640"/>
          </a:xfrm>
          <a:prstGeom prst="roundRect">
            <a:avLst>
              <a:gd name="adj" fmla="val 4324"/>
            </a:avLst>
          </a:prstGeom>
          <a:solidFill>
            <a:schemeClr val="bg2"/>
          </a:solidFill>
          <a:ln w="12700">
            <a:solidFill>
              <a:schemeClr val="bg2"/>
            </a:solidFill>
            <a:prstDash val="solid"/>
          </a:ln>
        </p:spPr>
      </p:sp>
      <p:sp>
        <p:nvSpPr>
          <p:cNvPr id="7" name="text_277"/>
          <p:cNvSpPr txBox="1"/>
          <p:nvPr/>
        </p:nvSpPr>
        <p:spPr>
          <a:xfrm>
            <a:off x="777240" y="4023360"/>
            <a:ext cx="299709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Reproducible</a:t>
            </a:r>
            <a:endParaRPr lang="en-US" sz="1600" dirty="0"/>
          </a:p>
        </p:txBody>
      </p:sp>
      <p:sp>
        <p:nvSpPr>
          <p:cNvPr id="8" name="text_278"/>
          <p:cNvSpPr txBox="1"/>
          <p:nvPr/>
        </p:nvSpPr>
        <p:spPr>
          <a:xfrm>
            <a:off x="777240" y="4480560"/>
            <a:ext cx="2997098" cy="960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Full-test predictions match the earlier subset runs on all 2,000 shared questions (100%).</a:t>
            </a:r>
            <a:endParaRPr lang="en-US" sz="1400" dirty="0"/>
          </a:p>
        </p:txBody>
      </p:sp>
      <p:sp>
        <p:nvSpPr>
          <p:cNvPr id="9" name="card_279"/>
          <p:cNvSpPr/>
          <p:nvPr/>
        </p:nvSpPr>
        <p:spPr>
          <a:xfrm>
            <a:off x="4368698" y="3886200"/>
            <a:ext cx="3454298" cy="1691640"/>
          </a:xfrm>
          <a:prstGeom prst="roundRect">
            <a:avLst>
              <a:gd name="adj" fmla="val 4324"/>
            </a:avLst>
          </a:prstGeom>
          <a:solidFill>
            <a:schemeClr val="bg2"/>
          </a:solidFill>
          <a:ln w="12700">
            <a:solidFill>
              <a:schemeClr val="bg2"/>
            </a:solidFill>
            <a:prstDash val="solid"/>
          </a:ln>
        </p:spPr>
      </p:sp>
      <p:sp>
        <p:nvSpPr>
          <p:cNvPr id="10" name="text_280"/>
          <p:cNvSpPr txBox="1"/>
          <p:nvPr/>
        </p:nvSpPr>
        <p:spPr>
          <a:xfrm>
            <a:off x="4597298" y="4023360"/>
            <a:ext cx="299709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Fair in kind</a:t>
            </a:r>
            <a:endParaRPr lang="en-US" sz="1600" dirty="0"/>
          </a:p>
        </p:txBody>
      </p:sp>
      <p:sp>
        <p:nvSpPr>
          <p:cNvPr id="11" name="text_281"/>
          <p:cNvSpPr txBox="1"/>
          <p:nvPr/>
        </p:nvSpPr>
        <p:spPr>
          <a:xfrm>
            <a:off x="4597298" y="4480560"/>
            <a:ext cx="2997098" cy="960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Both B2 and ViTextBLIP-2 are trained on the ViTextVQA train split.</a:t>
            </a:r>
            <a:endParaRPr lang="en-US" sz="1400" dirty="0"/>
          </a:p>
        </p:txBody>
      </p:sp>
      <p:sp>
        <p:nvSpPr>
          <p:cNvPr id="12" name="card_282"/>
          <p:cNvSpPr/>
          <p:nvPr/>
        </p:nvSpPr>
        <p:spPr>
          <a:xfrm>
            <a:off x="8188757" y="3886200"/>
            <a:ext cx="3454298" cy="1691640"/>
          </a:xfrm>
          <a:prstGeom prst="roundRect">
            <a:avLst>
              <a:gd name="adj" fmla="val 4324"/>
            </a:avLst>
          </a:prstGeom>
          <a:solidFill>
            <a:schemeClr val="accent5"/>
          </a:solidFill>
          <a:ln w="12700">
            <a:solidFill>
              <a:schemeClr val="accent5"/>
            </a:solidFill>
            <a:prstDash val="solid"/>
          </a:ln>
        </p:spPr>
      </p:sp>
      <p:sp>
        <p:nvSpPr>
          <p:cNvPr id="13" name="text_283"/>
          <p:cNvSpPr txBox="1"/>
          <p:nvPr/>
        </p:nvSpPr>
        <p:spPr>
          <a:xfrm>
            <a:off x="8417357" y="4023360"/>
            <a:ext cx="299709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Limitation</a:t>
            </a:r>
            <a:endParaRPr lang="en-US" sz="1600" dirty="0"/>
          </a:p>
        </p:txBody>
      </p:sp>
      <p:sp>
        <p:nvSpPr>
          <p:cNvPr id="14" name="text_284"/>
          <p:cNvSpPr txBox="1"/>
          <p:nvPr/>
        </p:nvSpPr>
        <p:spPr>
          <a:xfrm>
            <a:off x="8417357" y="4480560"/>
            <a:ext cx="2997098" cy="960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The paper does not publish its answer normalization; the comparison assumes equivalent scoring.</a:t>
            </a:r>
            <a:endParaRPr lang="en-US" sz="1400" dirty="0"/>
          </a:p>
        </p:txBody>
      </p:sp>
      <p:sp>
        <p:nvSpPr>
          <p:cNvPr id="15" name="text_285"/>
          <p:cNvSpPr txBox="1"/>
          <p:nvPr/>
        </p:nvSpPr>
        <p:spPr>
          <a:xfrm>
            <a:off x="548640" y="5760720"/>
            <a:ext cx="11094415" cy="457200"/>
          </a:xfrm>
          <a:prstGeom prst="rect">
            <a:avLst/>
          </a:prstGeom>
          <a:noFill/>
          <a:ln/>
        </p:spPr>
        <p:txBody>
          <a:bodyPr wrap="square" lIns="0" tIns="0" rIns="0" bIns="0" rtlCol="0" anchor="b"/>
          <a:lstStyle/>
          <a:p>
            <a:pPr indent="0" marL="0">
              <a:buNone/>
            </a:pPr>
            <a:r>
              <a:rPr lang="en-US" sz="1000" dirty="0">
                <a:solidFill>
                  <a:schemeClr val="accent3"/>
                </a:solidFill>
                <a:latin typeface="Calibri" pitchFamily="34" charset="0"/>
                <a:ea typeface="Calibri" pitchFamily="34" charset="-122"/>
                <a:cs typeface="Calibri" pitchFamily="34" charset="-120"/>
              </a:rPr>
              <a:t>[3] Nguyen et al., ViTextVQA, arXiv:2404.10652, 2024. CI95 = paired bootstrap, 10,000 resamples, seed 42. Our numbers: experiments/W07_B1_zeroshot_…_testfull, W07_B2_eval_…_testfull, W07_fulltest_summary_L4_seed42.</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PART 05 · SOTA APPROACH VS OURS</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How ViTextBLIP-2 works — and how we differ</a:t>
            </a:r>
            <a:endParaRPr lang="en-US" sz="3200" dirty="0"/>
          </a:p>
        </p:txBody>
      </p:sp>
      <p:graphicFrame>
        <p:nvGraphicFramePr>
          <p:cNvPr id="29" name="table_286"/>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011680"/>
                <a:gridCol w="4572000"/>
                <a:gridCol w="4507992"/>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Aspect</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ViTextBLIP-2 (SOTA, paper [3])</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Ours: B2 = Qwen2.5-VL-3B + QLoRA</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457200">
                <a:tc>
                  <a:txBody>
                    <a:bodyPr/>
                    <a:lstStyle/>
                    <a:p>
                      <a:pPr indent="0" marL="0">
                        <a:buNone/>
                      </a:pPr>
                      <a:r>
                        <a:rPr lang="en-US" sz="1200" b="1" dirty="0">
                          <a:solidFill>
                            <a:srgbClr val="13294B"/>
                          </a:solidFill>
                          <a:latin typeface="Calibri" pitchFamily="34" charset="0"/>
                          <a:ea typeface="Calibri" pitchFamily="34" charset="-122"/>
                          <a:cs typeface="Calibri" pitchFamily="34" charset="-120"/>
                        </a:rPr>
                        <a:t>Vision</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Frozen pre-trained ViT</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Qwen2.5-VL ViT (32 blocks), frozen</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indent="0" marL="0">
                        <a:buNone/>
                      </a:pPr>
                      <a:r>
                        <a:rPr lang="en-US" sz="1200" b="1" dirty="0">
                          <a:solidFill>
                            <a:srgbClr val="13294B"/>
                          </a:solidFill>
                          <a:latin typeface="Calibri" pitchFamily="34" charset="0"/>
                          <a:ea typeface="Calibri" pitchFamily="34" charset="-122"/>
                          <a:cs typeface="Calibri" pitchFamily="34" charset="-120"/>
                        </a:rPr>
                        <a:t>Scene text (OCR)</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SwinTextSpotter [4], not fine-tuned, Vietnamese charset; OCR tokens fused as features</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No external OCR — the VLM reads text from pixels (OCR added in B3, Part 06)</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indent="0" marL="0">
                        <a:buNone/>
                      </a:pPr>
                      <a:r>
                        <a:rPr lang="en-US" sz="1200" b="1" dirty="0">
                          <a:solidFill>
                            <a:srgbClr val="13294B"/>
                          </a:solidFill>
                          <a:latin typeface="Calibri" pitchFamily="34" charset="0"/>
                          <a:ea typeface="Calibri" pitchFamily="34" charset="-122"/>
                          <a:cs typeface="Calibri" pitchFamily="34" charset="-120"/>
                        </a:rPr>
                        <a:t>Language model</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ViT5 [5] (Vietnamese T5), frozen</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Qwen2.5-3B decoder, 36 layers, 4-bit NF4</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indent="0" marL="0">
                        <a:buNone/>
                      </a:pPr>
                      <a:r>
                        <a:rPr lang="en-US" sz="1200" b="1" dirty="0">
                          <a:solidFill>
                            <a:srgbClr val="13294B"/>
                          </a:solidFill>
                          <a:latin typeface="Calibri" pitchFamily="34" charset="0"/>
                          <a:ea typeface="Calibri" pitchFamily="34" charset="-122"/>
                          <a:cs typeface="Calibri" pitchFamily="34" charset="-120"/>
                        </a:rPr>
                        <a:t>What is trained</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Q-Former (initialized from BLIP-2) fusing image, question and OCR</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LoRA on q, k, v, o: 7.37 M params (0.196%)</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indent="0" marL="0">
                        <a:buNone/>
                      </a:pPr>
                      <a:r>
                        <a:rPr lang="en-US" sz="1200" b="1" dirty="0">
                          <a:solidFill>
                            <a:srgbClr val="13294B"/>
                          </a:solidFill>
                          <a:latin typeface="Calibri" pitchFamily="34" charset="0"/>
                          <a:ea typeface="Calibri" pitchFamily="34" charset="-122"/>
                          <a:cs typeface="Calibri" pitchFamily="34" charset="-120"/>
                        </a:rPr>
                        <a:t>Data handling</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OCR tokens ordered top-left → bottom-right (helps most models)</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Official split; Vietnamese normalization (NFC, lowercase, tone marks kept)</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indent="0" marL="0">
                        <a:buNone/>
                      </a:pPr>
                      <a:r>
                        <a:rPr lang="en-US" sz="1200" b="1" dirty="0">
                          <a:solidFill>
                            <a:srgbClr val="13294B"/>
                          </a:solidFill>
                          <a:latin typeface="Calibri" pitchFamily="34" charset="0"/>
                          <a:ea typeface="Calibri" pitchFamily="34" charset="-122"/>
                          <a:cs typeface="Calibri" pitchFamily="34" charset="-120"/>
                        </a:rPr>
                        <a:t>Training data</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Full ViTextVQA train</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Full ViTextVQA train, 1 epoch (3.03 h on one L4)</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indent="0" marL="0">
                        <a:buNone/>
                      </a:pPr>
                      <a:r>
                        <a:rPr lang="en-US" sz="1200" b="1" dirty="0">
                          <a:solidFill>
                            <a:srgbClr val="13294B"/>
                          </a:solidFill>
                          <a:latin typeface="Calibri" pitchFamily="34" charset="0"/>
                          <a:ea typeface="Calibri" pitchFamily="34" charset="-122"/>
                          <a:cs typeface="Calibri" pitchFamily="34" charset="-120"/>
                        </a:rPr>
                        <a:t>Metrics</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EM, F1; answer normalization not published</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200" dirty="0">
                          <a:solidFill>
                            <a:srgbClr val="243044"/>
                          </a:solidFill>
                          <a:latin typeface="Calibri" pitchFamily="34" charset="0"/>
                          <a:ea typeface="Calibri" pitchFamily="34" charset="-122"/>
                          <a:cs typeface="Calibri" pitchFamily="34" charset="-120"/>
                        </a:rPr>
                        <a:t>EM, ANLS (+ F1 to compare); normalization published in code</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indent="0" marL="0">
                        <a:buNone/>
                      </a:pPr>
                      <a:r>
                        <a:rPr lang="en-US" sz="1200" b="1" dirty="0">
                          <a:solidFill>
                            <a:srgbClr val="13294B"/>
                          </a:solidFill>
                          <a:latin typeface="Calibri" pitchFamily="34" charset="0"/>
                          <a:ea typeface="Calibri" pitchFamily="34" charset="-122"/>
                          <a:cs typeface="Calibri" pitchFamily="34" charset="-120"/>
                        </a:rPr>
                        <a:t>Full test (EM / F1)</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E7F0F3"/>
                    </a:solidFill>
                  </a:tcPr>
                </a:tc>
                <a:tc>
                  <a:txBody>
                    <a:bodyPr/>
                    <a:lstStyle/>
                    <a:p>
                      <a:pPr indent="0" marL="0">
                        <a:buNone/>
                      </a:pPr>
                      <a:r>
                        <a:rPr lang="en-US" sz="1200" b="1" dirty="0">
                          <a:solidFill>
                            <a:srgbClr val="243044"/>
                          </a:solidFill>
                          <a:latin typeface="Calibri" pitchFamily="34" charset="0"/>
                          <a:ea typeface="Calibri" pitchFamily="34" charset="-122"/>
                          <a:cs typeface="Calibri" pitchFamily="34" charset="-120"/>
                        </a:rPr>
                        <a:t>25.48 / 53.95</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E7F0F3"/>
                    </a:solidFill>
                  </a:tcPr>
                </a:tc>
                <a:tc>
                  <a:txBody>
                    <a:bodyPr/>
                    <a:lstStyle/>
                    <a:p>
                      <a:pPr indent="0" marL="0">
                        <a:buNone/>
                      </a:pPr>
                      <a:r>
                        <a:rPr lang="en-US" sz="1200" b="1" dirty="0">
                          <a:solidFill>
                            <a:srgbClr val="243044"/>
                          </a:solidFill>
                          <a:latin typeface="Calibri" pitchFamily="34" charset="0"/>
                          <a:ea typeface="Calibri" pitchFamily="34" charset="-122"/>
                          <a:cs typeface="Calibri" pitchFamily="34" charset="-120"/>
                        </a:rPr>
                        <a:t>50.26 / 71.16</a:t>
                      </a:r>
                      <a:endParaRPr lang="en-US" sz="12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E7F0F3"/>
                    </a:solidFill>
                  </a:tcPr>
                </a:tc>
              </a:tr>
            </a:tbl>
          </a:graphicData>
        </a:graphic>
      </p:graphicFrame>
      <p:sp>
        <p:nvSpPr>
          <p:cNvPr id="6" name="text_287"/>
          <p:cNvSpPr txBox="1"/>
          <p:nvPr/>
        </p:nvSpPr>
        <p:spPr>
          <a:xfrm>
            <a:off x="548640" y="5760720"/>
            <a:ext cx="11094415" cy="566928"/>
          </a:xfrm>
          <a:prstGeom prst="rect">
            <a:avLst/>
          </a:prstGeom>
          <a:noFill/>
          <a:ln/>
        </p:spPr>
        <p:txBody>
          <a:bodyPr wrap="square" lIns="0" tIns="0" rIns="0" bIns="0" rtlCol="0" anchor="b"/>
          <a:lstStyle/>
          <a:p>
            <a:pPr indent="0" marL="0">
              <a:buNone/>
            </a:pPr>
            <a:r>
              <a:rPr lang="en-US" sz="1000" dirty="0">
                <a:solidFill>
                  <a:schemeClr val="accent3"/>
                </a:solidFill>
                <a:latin typeface="Calibri" pitchFamily="34" charset="0"/>
                <a:ea typeface="Calibri" pitchFamily="34" charset="-122"/>
                <a:cs typeface="Calibri" pitchFamily="34" charset="-120"/>
              </a:rPr>
              <a:t>[3] Nguyen et al., ViTextVQA, arXiv:2404.10652, 2024 (ext. ESWA 2025) · [4] Huang et al., SwinTextSpotter, CVPR 2022 · [5] Phan et al., ViT5, NAACL SRW 2022. Note: the paper's 25.48 / 53.95 is the “OCR confidence” column of its Table 10; its ablation reports 24.83 / 52.51 for the full model.</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PART 05 · ERROR &amp; HALLUCINATION ANALYSIS</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Where B2 still fails</a:t>
            </a:r>
            <a:endParaRPr lang="en-US" sz="3200" dirty="0"/>
          </a:p>
        </p:txBody>
      </p:sp>
      <p:graphicFrame>
        <p:nvGraphicFramePr>
          <p:cNvPr id="5" name="chart_288" descr=""/>
          <p:cNvGraphicFramePr/>
          <p:nvPr/>
        </p:nvGraphicFramePr>
        <p:xfrm>
          <a:off x="548640" y="1325880"/>
          <a:ext cx="6400800" cy="2788920"/>
        </p:xfrm>
        <a:graphic xmlns:a="http://schemas.openxmlformats.org/drawingml/2006/main">
          <a:graphicData uri="http://schemas.openxmlformats.org/drawingml/2006/chart">
            <c:chart xmlns:c="http://schemas.openxmlformats.org/drawingml/2006/chart" r:id="rId1"/>
          </a:graphicData>
        </a:graphic>
      </p:graphicFrame>
      <p:graphicFrame>
        <p:nvGraphicFramePr>
          <p:cNvPr id="30" name="table_289"/>
          <p:cNvGraphicFramePr>
            <a:graphicFrameLocks noGrp="1"/>
          </p:cNvGraphicFramePr>
          <p:nvPr>
            <p:extLst>
              <p:ext uri="{D42A27DB-BD31-4B8C-83A1-F6EECF244321}">
                <p14:modId xmlns:p14="http://schemas.microsoft.com/office/powerpoint/2010/main" val="1579011935"/>
              </p:ext>
            </p:extLst>
          </p:nvPr>
        </p:nvGraphicFramePr>
        <p:xfrm>
          <a:off x="548640" y="4224528"/>
          <a:ext cx="6400800" cy="914400"/>
        </p:xfrm>
        <a:graphic>
          <a:graphicData uri="http://schemas.openxmlformats.org/drawingml/2006/table">
            <a:tbl>
              <a:tblPr/>
              <a:tblGrid>
                <a:gridCol w="1645920"/>
                <a:gridCol w="2240280"/>
                <a:gridCol w="2514600"/>
              </a:tblGrid>
              <a:tr h="40233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Bucket</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B2 answer</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Gold</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402336">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tone marks</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đặng việt thủy</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đặng việt thúy</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02336">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1–2 chars</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372 . 568 . 177</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372 . 566 . 177</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02336">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too short</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nhân dân quận 2</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ủy ban nhân dân quận 2</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7" name="card_290"/>
          <p:cNvSpPr/>
          <p:nvPr/>
        </p:nvSpPr>
        <p:spPr>
          <a:xfrm>
            <a:off x="7315200" y="1371600"/>
            <a:ext cx="4327855" cy="4526280"/>
          </a:xfrm>
          <a:prstGeom prst="roundRect">
            <a:avLst>
              <a:gd name="adj" fmla="val 1690"/>
            </a:avLst>
          </a:prstGeom>
          <a:solidFill>
            <a:schemeClr val="bg2"/>
          </a:solidFill>
          <a:ln w="12700">
            <a:solidFill>
              <a:schemeClr val="bg2"/>
            </a:solidFill>
            <a:prstDash val="solid"/>
          </a:ln>
        </p:spPr>
      </p:sp>
      <p:sp>
        <p:nvSpPr>
          <p:cNvPr id="8" name="text_291"/>
          <p:cNvSpPr txBox="1"/>
          <p:nvPr/>
        </p:nvSpPr>
        <p:spPr>
          <a:xfrm>
            <a:off x="7589520" y="1508760"/>
            <a:ext cx="3779215" cy="68580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Manual audit: 200 B2 errors (adjudicated)</a:t>
            </a:r>
            <a:endParaRPr lang="en-US" sz="1600" dirty="0"/>
          </a:p>
        </p:txBody>
      </p:sp>
      <p:sp>
        <p:nvSpPr>
          <p:cNvPr id="9" name="list_292"/>
          <p:cNvSpPr txBox="1"/>
          <p:nvPr/>
        </p:nvSpPr>
        <p:spPr>
          <a:xfrm>
            <a:off x="7589520" y="2194560"/>
            <a:ext cx="3779215" cy="36118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54% are correct in meaning: EM is too strict (ViVQA 62%, ViTextVQA 46%)</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Noisy gold: 12.5% (ViVQA 19%)</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ViTextVQA real errors: OCR 28%, wrong text region 23%, tone marks 8%</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Hallucination (not in the image): 7% of errors (95% CI 4–11%)</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4 annotators + AI pre-labels; κ = 0.62 (2 independent annotators); same conclusions without the 42 AI-assisted rows</a:t>
            </a:r>
            <a:endParaRPr lang="en-US" sz="1400" dirty="0"/>
          </a:p>
        </p:txBody>
      </p:sp>
      <p:sp>
        <p:nvSpPr>
          <p:cNvPr id="10" name="text_293"/>
          <p:cNvSpPr txBox="1"/>
          <p:nvPr/>
        </p:nvSpPr>
        <p:spPr>
          <a:xfrm>
            <a:off x="548640" y="5852160"/>
            <a:ext cx="11094415" cy="502920"/>
          </a:xfrm>
          <a:prstGeom prst="rect">
            <a:avLst/>
          </a:prstGeom>
          <a:noFill/>
          <a:ln/>
        </p:spPr>
        <p:txBody>
          <a:bodyPr wrap="square" lIns="0" tIns="0" rIns="0" bIns="0" rtlCol="0" anchor="b"/>
          <a:lstStyle/>
          <a:p>
            <a:pPr indent="0" marL="0">
              <a:buNone/>
            </a:pPr>
            <a:r>
              <a:rPr lang="en-US" sz="1000" dirty="0">
                <a:solidFill>
                  <a:schemeClr val="accent3"/>
                </a:solidFill>
                <a:latin typeface="Calibri" pitchFamily="34" charset="0"/>
                <a:ea typeface="Calibri" pitchFamily="34" charset="-122"/>
                <a:cs typeface="Calibri" pitchFamily="34" charset="-120"/>
              </a:rPr>
              <a:t>Sources — buckets: python -m src.eval.answer_format --buckets on experiments/W07_B2_eval_qlora_r16_ep1_vitextvqa_testfull_… (4,988 = 10,028 − 5,040 correct). Manual audit: docs/W07/audit/W07_error_audit_final.json (labels in docs/W07/audit/labels/, computed by compute_error_audit.py).</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PART 06 · PROPOSED METHOD (B3)</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OCR-aware QLoRA: train the model to use OCR text</a:t>
            </a:r>
            <a:endParaRPr lang="en-US" sz="3200" dirty="0"/>
          </a:p>
        </p:txBody>
      </p:sp>
      <p:sp>
        <p:nvSpPr>
          <p:cNvPr id="5" name="card_294"/>
          <p:cNvSpPr/>
          <p:nvPr/>
        </p:nvSpPr>
        <p:spPr>
          <a:xfrm>
            <a:off x="548640" y="1417320"/>
            <a:ext cx="1984797" cy="1188720"/>
          </a:xfrm>
          <a:prstGeom prst="roundRect">
            <a:avLst>
              <a:gd name="adj" fmla="val 6154"/>
            </a:avLst>
          </a:prstGeom>
          <a:solidFill>
            <a:schemeClr val="bg2"/>
          </a:solidFill>
          <a:ln w="12700">
            <a:solidFill>
              <a:schemeClr val="bg2"/>
            </a:solidFill>
            <a:prstDash val="solid"/>
          </a:ln>
        </p:spPr>
      </p:sp>
      <p:sp>
        <p:nvSpPr>
          <p:cNvPr id="6" name="text_295"/>
          <p:cNvSpPr txBox="1"/>
          <p:nvPr/>
        </p:nvSpPr>
        <p:spPr>
          <a:xfrm>
            <a:off x="640080" y="1527048"/>
            <a:ext cx="1801917" cy="384048"/>
          </a:xfrm>
          <a:prstGeom prst="rect">
            <a:avLst/>
          </a:prstGeom>
          <a:noFill/>
          <a:ln/>
        </p:spPr>
        <p:txBody>
          <a:bodyPr wrap="square" lIns="0" tIns="0" rIns="0" bIns="0" rtlCol="0" anchor="t"/>
          <a:lstStyle/>
          <a:p>
            <a:pPr algn="ctr" indent="0" marL="0">
              <a:buNone/>
            </a:pPr>
            <a:r>
              <a:rPr lang="en-US" sz="1500" b="1" dirty="0">
                <a:solidFill>
                  <a:schemeClr val="tx2"/>
                </a:solidFill>
                <a:latin typeface="Calibri" pitchFamily="34" charset="0"/>
                <a:ea typeface="Calibri" pitchFamily="34" charset="-122"/>
                <a:cs typeface="Calibri" pitchFamily="34" charset="-120"/>
              </a:rPr>
              <a:t>Image</a:t>
            </a:r>
            <a:endParaRPr lang="en-US" sz="1500" dirty="0"/>
          </a:p>
        </p:txBody>
      </p:sp>
      <p:sp>
        <p:nvSpPr>
          <p:cNvPr id="7" name="text_296"/>
          <p:cNvSpPr txBox="1"/>
          <p:nvPr/>
        </p:nvSpPr>
        <p:spPr>
          <a:xfrm>
            <a:off x="685800" y="1984248"/>
            <a:ext cx="1710477" cy="54864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scene text</a:t>
            </a:r>
            <a:endParaRPr lang="en-US" sz="1200" dirty="0"/>
          </a:p>
        </p:txBody>
      </p:sp>
      <p:sp>
        <p:nvSpPr>
          <p:cNvPr id="8" name="arrow_297"/>
          <p:cNvSpPr/>
          <p:nvPr/>
        </p:nvSpPr>
        <p:spPr>
          <a:xfrm>
            <a:off x="2579157" y="1911096"/>
            <a:ext cx="201168" cy="201168"/>
          </a:xfrm>
          <a:prstGeom prst="rightArrow">
            <a:avLst/>
          </a:prstGeom>
          <a:solidFill>
            <a:srgbClr val="6B7280"/>
          </a:solidFill>
          <a:ln w="12700">
            <a:solidFill>
              <a:srgbClr val="6B7280"/>
            </a:solidFill>
            <a:prstDash val="solid"/>
          </a:ln>
        </p:spPr>
      </p:sp>
      <p:sp>
        <p:nvSpPr>
          <p:cNvPr id="9" name="card_298"/>
          <p:cNvSpPr/>
          <p:nvPr/>
        </p:nvSpPr>
        <p:spPr>
          <a:xfrm>
            <a:off x="2826045" y="1417320"/>
            <a:ext cx="1984797" cy="1188720"/>
          </a:xfrm>
          <a:prstGeom prst="roundRect">
            <a:avLst>
              <a:gd name="adj" fmla="val 6154"/>
            </a:avLst>
          </a:prstGeom>
          <a:solidFill>
            <a:schemeClr val="bg2"/>
          </a:solidFill>
          <a:ln w="12700">
            <a:solidFill>
              <a:schemeClr val="bg2"/>
            </a:solidFill>
            <a:prstDash val="solid"/>
          </a:ln>
        </p:spPr>
      </p:sp>
      <p:sp>
        <p:nvSpPr>
          <p:cNvPr id="10" name="text_299"/>
          <p:cNvSpPr txBox="1"/>
          <p:nvPr/>
        </p:nvSpPr>
        <p:spPr>
          <a:xfrm>
            <a:off x="2917485" y="1527048"/>
            <a:ext cx="1801917" cy="384048"/>
          </a:xfrm>
          <a:prstGeom prst="rect">
            <a:avLst/>
          </a:prstGeom>
          <a:noFill/>
          <a:ln/>
        </p:spPr>
        <p:txBody>
          <a:bodyPr wrap="square" lIns="0" tIns="0" rIns="0" bIns="0" rtlCol="0" anchor="t"/>
          <a:lstStyle/>
          <a:p>
            <a:pPr algn="ctr" indent="0" marL="0">
              <a:buNone/>
            </a:pPr>
            <a:r>
              <a:rPr lang="en-US" sz="1500" b="1" dirty="0">
                <a:solidFill>
                  <a:schemeClr val="tx2"/>
                </a:solidFill>
                <a:latin typeface="Calibri" pitchFamily="34" charset="0"/>
                <a:ea typeface="Calibri" pitchFamily="34" charset="-122"/>
                <a:cs typeface="Calibri" pitchFamily="34" charset="-120"/>
              </a:rPr>
              <a:t>PaddleOCR</a:t>
            </a:r>
            <a:endParaRPr lang="en-US" sz="1500" dirty="0"/>
          </a:p>
        </p:txBody>
      </p:sp>
      <p:sp>
        <p:nvSpPr>
          <p:cNvPr id="11" name="text_300"/>
          <p:cNvSpPr txBox="1"/>
          <p:nvPr/>
        </p:nvSpPr>
        <p:spPr>
          <a:xfrm>
            <a:off x="2963205" y="1984248"/>
            <a:ext cx="1710477" cy="54864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detects text lines</a:t>
            </a:r>
            <a:endParaRPr lang="en-US" sz="1200" dirty="0"/>
          </a:p>
        </p:txBody>
      </p:sp>
      <p:sp>
        <p:nvSpPr>
          <p:cNvPr id="12" name="arrow_301"/>
          <p:cNvSpPr/>
          <p:nvPr/>
        </p:nvSpPr>
        <p:spPr>
          <a:xfrm>
            <a:off x="4856561" y="1911096"/>
            <a:ext cx="201168" cy="201168"/>
          </a:xfrm>
          <a:prstGeom prst="rightArrow">
            <a:avLst/>
          </a:prstGeom>
          <a:solidFill>
            <a:srgbClr val="6B7280"/>
          </a:solidFill>
          <a:ln w="12700">
            <a:solidFill>
              <a:srgbClr val="6B7280"/>
            </a:solidFill>
            <a:prstDash val="solid"/>
          </a:ln>
        </p:spPr>
      </p:sp>
      <p:sp>
        <p:nvSpPr>
          <p:cNvPr id="13" name="card_302"/>
          <p:cNvSpPr/>
          <p:nvPr/>
        </p:nvSpPr>
        <p:spPr>
          <a:xfrm>
            <a:off x="5103449" y="1417320"/>
            <a:ext cx="1984797" cy="1188720"/>
          </a:xfrm>
          <a:prstGeom prst="roundRect">
            <a:avLst>
              <a:gd name="adj" fmla="val 6154"/>
            </a:avLst>
          </a:prstGeom>
          <a:solidFill>
            <a:schemeClr val="bg2"/>
          </a:solidFill>
          <a:ln w="12700">
            <a:solidFill>
              <a:schemeClr val="bg2"/>
            </a:solidFill>
            <a:prstDash val="solid"/>
          </a:ln>
        </p:spPr>
      </p:sp>
      <p:sp>
        <p:nvSpPr>
          <p:cNvPr id="14" name="text_303"/>
          <p:cNvSpPr txBox="1"/>
          <p:nvPr/>
        </p:nvSpPr>
        <p:spPr>
          <a:xfrm>
            <a:off x="5194889" y="1527048"/>
            <a:ext cx="1801917" cy="384048"/>
          </a:xfrm>
          <a:prstGeom prst="rect">
            <a:avLst/>
          </a:prstGeom>
          <a:noFill/>
          <a:ln/>
        </p:spPr>
        <p:txBody>
          <a:bodyPr wrap="square" lIns="0" tIns="0" rIns="0" bIns="0" rtlCol="0" anchor="t"/>
          <a:lstStyle/>
          <a:p>
            <a:pPr algn="ctr" indent="0" marL="0">
              <a:buNone/>
            </a:pPr>
            <a:r>
              <a:rPr lang="en-US" sz="1500" b="1" dirty="0">
                <a:solidFill>
                  <a:schemeClr val="tx2"/>
                </a:solidFill>
                <a:latin typeface="Calibri" pitchFamily="34" charset="0"/>
                <a:ea typeface="Calibri" pitchFamily="34" charset="-122"/>
                <a:cs typeface="Calibri" pitchFamily="34" charset="-120"/>
              </a:rPr>
              <a:t>VietOCR</a:t>
            </a:r>
            <a:endParaRPr lang="en-US" sz="1500" dirty="0"/>
          </a:p>
        </p:txBody>
      </p:sp>
      <p:sp>
        <p:nvSpPr>
          <p:cNvPr id="15" name="text_304"/>
          <p:cNvSpPr txBox="1"/>
          <p:nvPr/>
        </p:nvSpPr>
        <p:spPr>
          <a:xfrm>
            <a:off x="5240609" y="1984248"/>
            <a:ext cx="1710477" cy="54864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reads Vietnamese, keeps tone marks</a:t>
            </a:r>
            <a:endParaRPr lang="en-US" sz="1200" dirty="0"/>
          </a:p>
        </p:txBody>
      </p:sp>
      <p:sp>
        <p:nvSpPr>
          <p:cNvPr id="16" name="arrow_305"/>
          <p:cNvSpPr/>
          <p:nvPr/>
        </p:nvSpPr>
        <p:spPr>
          <a:xfrm>
            <a:off x="7133966" y="1911096"/>
            <a:ext cx="201168" cy="201168"/>
          </a:xfrm>
          <a:prstGeom prst="rightArrow">
            <a:avLst/>
          </a:prstGeom>
          <a:solidFill>
            <a:srgbClr val="6B7280"/>
          </a:solidFill>
          <a:ln w="12700">
            <a:solidFill>
              <a:srgbClr val="6B7280"/>
            </a:solidFill>
            <a:prstDash val="solid"/>
          </a:ln>
        </p:spPr>
      </p:sp>
      <p:sp>
        <p:nvSpPr>
          <p:cNvPr id="17" name="card_306"/>
          <p:cNvSpPr/>
          <p:nvPr/>
        </p:nvSpPr>
        <p:spPr>
          <a:xfrm>
            <a:off x="7380854" y="1417320"/>
            <a:ext cx="1984797" cy="1188720"/>
          </a:xfrm>
          <a:prstGeom prst="roundRect">
            <a:avLst>
              <a:gd name="adj" fmla="val 6154"/>
            </a:avLst>
          </a:prstGeom>
          <a:solidFill>
            <a:schemeClr val="accent4"/>
          </a:solidFill>
          <a:ln w="12700">
            <a:solidFill>
              <a:schemeClr val="accent4"/>
            </a:solidFill>
            <a:prstDash val="solid"/>
          </a:ln>
        </p:spPr>
      </p:sp>
      <p:sp>
        <p:nvSpPr>
          <p:cNvPr id="18" name="text_307"/>
          <p:cNvSpPr txBox="1"/>
          <p:nvPr/>
        </p:nvSpPr>
        <p:spPr>
          <a:xfrm>
            <a:off x="7472294" y="1527048"/>
            <a:ext cx="1801917" cy="384048"/>
          </a:xfrm>
          <a:prstGeom prst="rect">
            <a:avLst/>
          </a:prstGeom>
          <a:noFill/>
          <a:ln/>
        </p:spPr>
        <p:txBody>
          <a:bodyPr wrap="square" lIns="0" tIns="0" rIns="0" bIns="0" rtlCol="0" anchor="t"/>
          <a:lstStyle/>
          <a:p>
            <a:pPr algn="ctr" indent="0" marL="0">
              <a:buNone/>
            </a:pPr>
            <a:r>
              <a:rPr lang="en-US" sz="1500" b="1" dirty="0">
                <a:solidFill>
                  <a:schemeClr val="tx2"/>
                </a:solidFill>
                <a:latin typeface="Calibri" pitchFamily="34" charset="0"/>
                <a:ea typeface="Calibri" pitchFamily="34" charset="-122"/>
                <a:cs typeface="Calibri" pitchFamily="34" charset="-120"/>
              </a:rPr>
              <a:t>Prompt</a:t>
            </a:r>
            <a:endParaRPr lang="en-US" sz="1500" dirty="0"/>
          </a:p>
        </p:txBody>
      </p:sp>
      <p:sp>
        <p:nvSpPr>
          <p:cNvPr id="19" name="text_308"/>
          <p:cNvSpPr txBox="1"/>
          <p:nvPr/>
        </p:nvSpPr>
        <p:spPr>
          <a:xfrm>
            <a:off x="7518014" y="1984248"/>
            <a:ext cx="1710477" cy="54864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1 OCR line + question</a:t>
            </a:r>
            <a:endParaRPr lang="en-US" sz="1200" dirty="0"/>
          </a:p>
        </p:txBody>
      </p:sp>
      <p:sp>
        <p:nvSpPr>
          <p:cNvPr id="20" name="arrow_309"/>
          <p:cNvSpPr/>
          <p:nvPr/>
        </p:nvSpPr>
        <p:spPr>
          <a:xfrm>
            <a:off x="9411371" y="1911096"/>
            <a:ext cx="201168" cy="201168"/>
          </a:xfrm>
          <a:prstGeom prst="rightArrow">
            <a:avLst/>
          </a:prstGeom>
          <a:solidFill>
            <a:srgbClr val="6B7280"/>
          </a:solidFill>
          <a:ln w="12700">
            <a:solidFill>
              <a:srgbClr val="6B7280"/>
            </a:solidFill>
            <a:prstDash val="solid"/>
          </a:ln>
        </p:spPr>
      </p:sp>
      <p:sp>
        <p:nvSpPr>
          <p:cNvPr id="21" name="card_310"/>
          <p:cNvSpPr/>
          <p:nvPr/>
        </p:nvSpPr>
        <p:spPr>
          <a:xfrm>
            <a:off x="9658259" y="1417320"/>
            <a:ext cx="1984797" cy="1188720"/>
          </a:xfrm>
          <a:prstGeom prst="roundRect">
            <a:avLst>
              <a:gd name="adj" fmla="val 6154"/>
            </a:avLst>
          </a:prstGeom>
          <a:solidFill>
            <a:schemeClr val="accent5"/>
          </a:solidFill>
          <a:ln w="12700">
            <a:solidFill>
              <a:schemeClr val="accent5"/>
            </a:solidFill>
            <a:prstDash val="solid"/>
          </a:ln>
        </p:spPr>
      </p:sp>
      <p:sp>
        <p:nvSpPr>
          <p:cNvPr id="22" name="text_311"/>
          <p:cNvSpPr txBox="1"/>
          <p:nvPr/>
        </p:nvSpPr>
        <p:spPr>
          <a:xfrm>
            <a:off x="9749699" y="1527048"/>
            <a:ext cx="1801917" cy="384048"/>
          </a:xfrm>
          <a:prstGeom prst="rect">
            <a:avLst/>
          </a:prstGeom>
          <a:noFill/>
          <a:ln/>
        </p:spPr>
        <p:txBody>
          <a:bodyPr wrap="square" lIns="0" tIns="0" rIns="0" bIns="0" rtlCol="0" anchor="t"/>
          <a:lstStyle/>
          <a:p>
            <a:pPr algn="ctr" indent="0" marL="0">
              <a:buNone/>
            </a:pPr>
            <a:r>
              <a:rPr lang="en-US" sz="1500" b="1" dirty="0">
                <a:solidFill>
                  <a:schemeClr val="tx2"/>
                </a:solidFill>
                <a:latin typeface="Calibri" pitchFamily="34" charset="0"/>
                <a:ea typeface="Calibri" pitchFamily="34" charset="-122"/>
                <a:cs typeface="Calibri" pitchFamily="34" charset="-120"/>
              </a:rPr>
              <a:t>Qwen2.5-VL + LoRA</a:t>
            </a:r>
            <a:endParaRPr lang="en-US" sz="1500" dirty="0"/>
          </a:p>
        </p:txBody>
      </p:sp>
      <p:sp>
        <p:nvSpPr>
          <p:cNvPr id="23" name="text_312"/>
          <p:cNvSpPr txBox="1"/>
          <p:nvPr/>
        </p:nvSpPr>
        <p:spPr>
          <a:xfrm>
            <a:off x="9795419" y="1984248"/>
            <a:ext cx="1710477" cy="548640"/>
          </a:xfrm>
          <a:prstGeom prst="rect">
            <a:avLst/>
          </a:prstGeom>
          <a:noFill/>
          <a:ln/>
        </p:spPr>
        <p:txBody>
          <a:bodyPr wrap="square" lIns="0" tIns="0" rIns="0" bIns="0" rtlCol="0" anchor="t"/>
          <a:lstStyle/>
          <a:p>
            <a:pPr algn="ctr" indent="0" marL="0">
              <a:buNone/>
            </a:pPr>
            <a:r>
              <a:rPr lang="en-US" sz="1200" dirty="0">
                <a:solidFill>
                  <a:schemeClr val="tx1"/>
                </a:solidFill>
                <a:latin typeface="Calibri" pitchFamily="34" charset="0"/>
                <a:ea typeface="Calibri" pitchFamily="34" charset="-122"/>
                <a:cs typeface="Calibri" pitchFamily="34" charset="-120"/>
              </a:rPr>
              <a:t>LoRA trained with the OCR line</a:t>
            </a:r>
            <a:endParaRPr lang="en-US" sz="1200" dirty="0"/>
          </a:p>
        </p:txBody>
      </p:sp>
      <p:sp>
        <p:nvSpPr>
          <p:cNvPr id="24" name="card_313"/>
          <p:cNvSpPr/>
          <p:nvPr/>
        </p:nvSpPr>
        <p:spPr>
          <a:xfrm>
            <a:off x="548640" y="2834640"/>
            <a:ext cx="11094415" cy="685800"/>
          </a:xfrm>
          <a:prstGeom prst="roundRect">
            <a:avLst>
              <a:gd name="adj" fmla="val 10667"/>
            </a:avLst>
          </a:prstGeom>
          <a:solidFill>
            <a:schemeClr val="bg2"/>
          </a:solidFill>
          <a:ln w="12700">
            <a:solidFill>
              <a:schemeClr val="bg2"/>
            </a:solidFill>
            <a:prstDash val="solid"/>
          </a:ln>
        </p:spPr>
      </p:sp>
      <p:sp>
        <p:nvSpPr>
          <p:cNvPr id="25" name="text_314"/>
          <p:cNvSpPr txBox="1"/>
          <p:nvPr/>
        </p:nvSpPr>
        <p:spPr>
          <a:xfrm>
            <a:off x="822960" y="2834640"/>
            <a:ext cx="10545775" cy="685800"/>
          </a:xfrm>
          <a:prstGeom prst="rect">
            <a:avLst/>
          </a:prstGeom>
          <a:noFill/>
          <a:ln/>
        </p:spPr>
        <p:txBody>
          <a:bodyPr wrap="square" lIns="0" tIns="0" rIns="0" bIns="0" rtlCol="0" anchor="ctr"/>
          <a:lstStyle/>
          <a:p>
            <a:pPr indent="0" marL="0">
              <a:buNone/>
            </a:pPr>
            <a:r>
              <a:rPr lang="en-US" sz="1400" b="1" dirty="0">
                <a:solidFill>
                  <a:srgbClr val="13294B"/>
                </a:solidFill>
                <a:latin typeface="Calibri" pitchFamily="34" charset="0"/>
                <a:ea typeface="Calibri" pitchFamily="34" charset="-122"/>
                <a:cs typeface="Calibri" pitchFamily="34" charset="-120"/>
              </a:rPr>
              <a:t>Prompt line:  </a:t>
            </a:r>
            <a:pPr indent="0" marL="0">
              <a:buNone/>
            </a:pPr>
            <a:r>
              <a:rPr lang="en-US" sz="1300" dirty="0">
                <a:solidFill>
                  <a:schemeClr val="tx1"/>
                </a:solidFill>
                <a:latin typeface="Courier New" pitchFamily="34" charset="0"/>
                <a:ea typeface="Courier New" pitchFamily="34" charset="-122"/>
                <a:cs typeface="Courier New" pitchFamily="34" charset="-120"/>
              </a:rPr>
              <a:t>Văn bản đọc được trong ảnh: NHÀ THUỐC TÂM AN | 0919 467 868 …   Câu hỏi: tên nhà thuốc là gì?</a:t>
            </a:r>
            <a:endParaRPr lang="en-US" sz="1400" dirty="0"/>
          </a:p>
        </p:txBody>
      </p:sp>
      <p:sp>
        <p:nvSpPr>
          <p:cNvPr id="26" name="card_315"/>
          <p:cNvSpPr/>
          <p:nvPr/>
        </p:nvSpPr>
        <p:spPr>
          <a:xfrm>
            <a:off x="548640" y="3794760"/>
            <a:ext cx="3454298" cy="2468880"/>
          </a:xfrm>
          <a:prstGeom prst="roundRect">
            <a:avLst>
              <a:gd name="adj" fmla="val 2963"/>
            </a:avLst>
          </a:prstGeom>
          <a:solidFill>
            <a:schemeClr val="bg2"/>
          </a:solidFill>
          <a:ln w="12700">
            <a:solidFill>
              <a:schemeClr val="bg2"/>
            </a:solidFill>
            <a:prstDash val="solid"/>
          </a:ln>
        </p:spPr>
      </p:sp>
      <p:sp>
        <p:nvSpPr>
          <p:cNvPr id="27" name="text_316"/>
          <p:cNvSpPr txBox="1"/>
          <p:nvPr/>
        </p:nvSpPr>
        <p:spPr>
          <a:xfrm>
            <a:off x="777240" y="3931920"/>
            <a:ext cx="299709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Why OCR</a:t>
            </a:r>
            <a:endParaRPr lang="en-US" sz="1600" dirty="0"/>
          </a:p>
        </p:txBody>
      </p:sp>
      <p:sp>
        <p:nvSpPr>
          <p:cNvPr id="28" name="list_317"/>
          <p:cNvSpPr txBox="1"/>
          <p:nvPr/>
        </p:nvSpPr>
        <p:spPr>
          <a:xfrm>
            <a:off x="777240" y="4389120"/>
            <a:ext cx="2997098" cy="17373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Audit of real B2 errors on ViTextVQA: OCR misreads 28%, wrong text region 23%, tone marks 8%</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Vietnamese scene text is a stated research gap (G2)</a:t>
            </a:r>
            <a:endParaRPr lang="en-US" sz="1400" dirty="0"/>
          </a:p>
        </p:txBody>
      </p:sp>
      <p:sp>
        <p:nvSpPr>
          <p:cNvPr id="29" name="card_318"/>
          <p:cNvSpPr/>
          <p:nvPr/>
        </p:nvSpPr>
        <p:spPr>
          <a:xfrm>
            <a:off x="4368698" y="3794760"/>
            <a:ext cx="3454298" cy="2468880"/>
          </a:xfrm>
          <a:prstGeom prst="roundRect">
            <a:avLst>
              <a:gd name="adj" fmla="val 2963"/>
            </a:avLst>
          </a:prstGeom>
          <a:solidFill>
            <a:schemeClr val="bg2"/>
          </a:solidFill>
          <a:ln w="12700">
            <a:solidFill>
              <a:schemeClr val="bg2"/>
            </a:solidFill>
            <a:prstDash val="solid"/>
          </a:ln>
        </p:spPr>
      </p:sp>
      <p:sp>
        <p:nvSpPr>
          <p:cNvPr id="30" name="text_319"/>
          <p:cNvSpPr txBox="1"/>
          <p:nvPr/>
        </p:nvSpPr>
        <p:spPr>
          <a:xfrm>
            <a:off x="4597298" y="3931920"/>
            <a:ext cx="299709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Which OCR (rule fixed on dev300)</a:t>
            </a:r>
            <a:endParaRPr lang="en-US" sz="1600" dirty="0"/>
          </a:p>
        </p:txBody>
      </p:sp>
      <p:sp>
        <p:nvSpPr>
          <p:cNvPr id="31" name="list_320"/>
          <p:cNvSpPr txBox="1"/>
          <p:nvPr/>
        </p:nvSpPr>
        <p:spPr>
          <a:xfrm>
            <a:off x="4597298" y="4389120"/>
            <a:ext cx="2997098" cy="17373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PaddleOCR Latin drops tone marks: “Kiểu Thẩm” → “Kiu Thm”</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Gold answer inside OCR text: VietOCR 37.7% vs 27.0% (p = 0.0008) → VietOCR</a:t>
            </a:r>
            <a:endParaRPr lang="en-US" sz="1400" dirty="0"/>
          </a:p>
        </p:txBody>
      </p:sp>
      <p:sp>
        <p:nvSpPr>
          <p:cNvPr id="32" name="card_321"/>
          <p:cNvSpPr/>
          <p:nvPr/>
        </p:nvSpPr>
        <p:spPr>
          <a:xfrm>
            <a:off x="8188757" y="3794760"/>
            <a:ext cx="3454298" cy="2468880"/>
          </a:xfrm>
          <a:prstGeom prst="roundRect">
            <a:avLst>
              <a:gd name="adj" fmla="val 2963"/>
            </a:avLst>
          </a:prstGeom>
          <a:solidFill>
            <a:schemeClr val="accent4"/>
          </a:solidFill>
          <a:ln w="12700">
            <a:solidFill>
              <a:schemeClr val="accent4"/>
            </a:solidFill>
            <a:prstDash val="solid"/>
          </a:ln>
        </p:spPr>
      </p:sp>
      <p:sp>
        <p:nvSpPr>
          <p:cNvPr id="33" name="text_322"/>
          <p:cNvSpPr txBox="1"/>
          <p:nvPr/>
        </p:nvSpPr>
        <p:spPr>
          <a:xfrm>
            <a:off x="8417357" y="3931920"/>
            <a:ext cx="2997098" cy="41148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What is trained</a:t>
            </a:r>
            <a:endParaRPr lang="en-US" sz="1600" dirty="0"/>
          </a:p>
        </p:txBody>
      </p:sp>
      <p:sp>
        <p:nvSpPr>
          <p:cNvPr id="34" name="list_323"/>
          <p:cNvSpPr txBox="1"/>
          <p:nvPr/>
        </p:nvSpPr>
        <p:spPr>
          <a:xfrm>
            <a:off x="8417357" y="4389120"/>
            <a:ext cx="2997098" cy="17373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Same QLoRA as B2 (r = 16, 0.196% params); only the prompt gains the OCR line</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Controlled test: 8,000-question train subset, B3 vs B2-sub (same subset, no OCR)</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PART 06 · ABLATION: OCR AT TRAIN × OCR AT TEST</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OCR helps only when the model is trained with it</a:t>
            </a:r>
            <a:endParaRPr lang="en-US" sz="3200" dirty="0"/>
          </a:p>
        </p:txBody>
      </p:sp>
      <p:sp>
        <p:nvSpPr>
          <p:cNvPr id="5" name="text_324"/>
          <p:cNvSpPr txBox="1"/>
          <p:nvPr/>
        </p:nvSpPr>
        <p:spPr>
          <a:xfrm>
            <a:off x="2331720" y="1371600"/>
            <a:ext cx="2240280" cy="365760"/>
          </a:xfrm>
          <a:prstGeom prst="rect">
            <a:avLst/>
          </a:prstGeom>
          <a:noFill/>
          <a:ln/>
        </p:spPr>
        <p:txBody>
          <a:bodyPr wrap="square" lIns="0" tIns="0" rIns="0" bIns="0" rtlCol="0" anchor="t"/>
          <a:lstStyle/>
          <a:p>
            <a:pPr algn="ctr" indent="0" marL="0">
              <a:buNone/>
            </a:pPr>
            <a:r>
              <a:rPr lang="en-US" sz="1400" b="1" dirty="0">
                <a:solidFill>
                  <a:schemeClr val="tx2"/>
                </a:solidFill>
                <a:latin typeface="Calibri" pitchFamily="34" charset="0"/>
                <a:ea typeface="Calibri" pitchFamily="34" charset="-122"/>
                <a:cs typeface="Calibri" pitchFamily="34" charset="-120"/>
              </a:rPr>
              <a:t>Test without OCR</a:t>
            </a:r>
            <a:endParaRPr lang="en-US" sz="1400" dirty="0"/>
          </a:p>
        </p:txBody>
      </p:sp>
      <p:sp>
        <p:nvSpPr>
          <p:cNvPr id="6" name="text_325"/>
          <p:cNvSpPr txBox="1"/>
          <p:nvPr/>
        </p:nvSpPr>
        <p:spPr>
          <a:xfrm>
            <a:off x="4709160" y="1371600"/>
            <a:ext cx="2240280" cy="365760"/>
          </a:xfrm>
          <a:prstGeom prst="rect">
            <a:avLst/>
          </a:prstGeom>
          <a:noFill/>
          <a:ln/>
        </p:spPr>
        <p:txBody>
          <a:bodyPr wrap="square" lIns="0" tIns="0" rIns="0" bIns="0" rtlCol="0" anchor="t"/>
          <a:lstStyle/>
          <a:p>
            <a:pPr algn="ctr" indent="0" marL="0">
              <a:buNone/>
            </a:pPr>
            <a:r>
              <a:rPr lang="en-US" sz="1400" b="1" dirty="0">
                <a:solidFill>
                  <a:schemeClr val="tx2"/>
                </a:solidFill>
                <a:latin typeface="Calibri" pitchFamily="34" charset="0"/>
                <a:ea typeface="Calibri" pitchFamily="34" charset="-122"/>
                <a:cs typeface="Calibri" pitchFamily="34" charset="-120"/>
              </a:rPr>
              <a:t>Test with OCR</a:t>
            </a:r>
            <a:endParaRPr lang="en-US" sz="1400" dirty="0"/>
          </a:p>
        </p:txBody>
      </p:sp>
      <p:sp>
        <p:nvSpPr>
          <p:cNvPr id="7" name="text_326"/>
          <p:cNvSpPr txBox="1"/>
          <p:nvPr/>
        </p:nvSpPr>
        <p:spPr>
          <a:xfrm>
            <a:off x="548640" y="1783080"/>
            <a:ext cx="1691640" cy="141732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Train without OCR</a:t>
            </a:r>
            <a:endParaRPr lang="en-US" sz="1400" dirty="0"/>
          </a:p>
        </p:txBody>
      </p:sp>
      <p:sp>
        <p:nvSpPr>
          <p:cNvPr id="8" name="text_327"/>
          <p:cNvSpPr txBox="1"/>
          <p:nvPr/>
        </p:nvSpPr>
        <p:spPr>
          <a:xfrm>
            <a:off x="548640" y="3337560"/>
            <a:ext cx="1691640" cy="1417320"/>
          </a:xfrm>
          <a:prstGeom prst="rect">
            <a:avLst/>
          </a:prstGeom>
          <a:noFill/>
          <a:ln/>
        </p:spPr>
        <p:txBody>
          <a:bodyPr wrap="square" lIns="0" tIns="0" rIns="0" bIns="0" rtlCol="0" anchor="ctr"/>
          <a:lstStyle/>
          <a:p>
            <a:pPr indent="0" marL="0">
              <a:buNone/>
            </a:pPr>
            <a:r>
              <a:rPr lang="en-US" sz="1400" b="1" dirty="0">
                <a:solidFill>
                  <a:schemeClr val="tx2"/>
                </a:solidFill>
                <a:latin typeface="Calibri" pitchFamily="34" charset="0"/>
                <a:ea typeface="Calibri" pitchFamily="34" charset="-122"/>
                <a:cs typeface="Calibri" pitchFamily="34" charset="-120"/>
              </a:rPr>
              <a:t>Train with OCR</a:t>
            </a:r>
            <a:endParaRPr lang="en-US" sz="1400" dirty="0"/>
          </a:p>
        </p:txBody>
      </p:sp>
      <p:sp>
        <p:nvSpPr>
          <p:cNvPr id="9" name="card_328"/>
          <p:cNvSpPr/>
          <p:nvPr/>
        </p:nvSpPr>
        <p:spPr>
          <a:xfrm>
            <a:off x="2331720" y="1783080"/>
            <a:ext cx="2240280" cy="1417320"/>
          </a:xfrm>
          <a:prstGeom prst="roundRect">
            <a:avLst>
              <a:gd name="adj" fmla="val 5161"/>
            </a:avLst>
          </a:prstGeom>
          <a:solidFill>
            <a:schemeClr val="bg2"/>
          </a:solidFill>
          <a:ln w="12700">
            <a:solidFill>
              <a:schemeClr val="bg2"/>
            </a:solidFill>
            <a:prstDash val="solid"/>
          </a:ln>
        </p:spPr>
      </p:sp>
      <p:sp>
        <p:nvSpPr>
          <p:cNvPr id="10" name="text_329"/>
          <p:cNvSpPr txBox="1"/>
          <p:nvPr/>
        </p:nvSpPr>
        <p:spPr>
          <a:xfrm>
            <a:off x="2331720" y="1947672"/>
            <a:ext cx="2240280" cy="685800"/>
          </a:xfrm>
          <a:prstGeom prst="rect">
            <a:avLst/>
          </a:prstGeom>
          <a:noFill/>
          <a:ln/>
        </p:spPr>
        <p:txBody>
          <a:bodyPr wrap="square" lIns="0" tIns="0" rIns="0" bIns="0" rtlCol="0" anchor="t"/>
          <a:lstStyle/>
          <a:p>
            <a:pPr algn="ctr" indent="0" marL="0">
              <a:buNone/>
            </a:pPr>
            <a:r>
              <a:rPr lang="en-US" sz="3400" b="1" dirty="0">
                <a:solidFill>
                  <a:schemeClr val="tx2"/>
                </a:solidFill>
                <a:latin typeface="Cambria" pitchFamily="34" charset="0"/>
                <a:ea typeface="Cambria" pitchFamily="34" charset="-122"/>
                <a:cs typeface="Cambria" pitchFamily="34" charset="-120"/>
              </a:rPr>
              <a:t>45.55</a:t>
            </a:r>
            <a:endParaRPr lang="en-US" sz="3400" dirty="0"/>
          </a:p>
        </p:txBody>
      </p:sp>
      <p:sp>
        <p:nvSpPr>
          <p:cNvPr id="11" name="text_330"/>
          <p:cNvSpPr txBox="1"/>
          <p:nvPr/>
        </p:nvSpPr>
        <p:spPr>
          <a:xfrm>
            <a:off x="2423160" y="2651760"/>
            <a:ext cx="2057400" cy="41148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B2-sub</a:t>
            </a:r>
            <a:endParaRPr lang="en-US" sz="1300" dirty="0"/>
          </a:p>
        </p:txBody>
      </p:sp>
      <p:sp>
        <p:nvSpPr>
          <p:cNvPr id="12" name="card_331"/>
          <p:cNvSpPr/>
          <p:nvPr/>
        </p:nvSpPr>
        <p:spPr>
          <a:xfrm>
            <a:off x="4709160" y="1783080"/>
            <a:ext cx="2240280" cy="1417320"/>
          </a:xfrm>
          <a:prstGeom prst="roundRect">
            <a:avLst>
              <a:gd name="adj" fmla="val 5161"/>
            </a:avLst>
          </a:prstGeom>
          <a:solidFill>
            <a:schemeClr val="bg2"/>
          </a:solidFill>
          <a:ln w="12700">
            <a:solidFill>
              <a:schemeClr val="bg2"/>
            </a:solidFill>
            <a:prstDash val="solid"/>
          </a:ln>
        </p:spPr>
      </p:sp>
      <p:sp>
        <p:nvSpPr>
          <p:cNvPr id="13" name="text_332"/>
          <p:cNvSpPr txBox="1"/>
          <p:nvPr/>
        </p:nvSpPr>
        <p:spPr>
          <a:xfrm>
            <a:off x="4709160" y="1947672"/>
            <a:ext cx="2240280" cy="685800"/>
          </a:xfrm>
          <a:prstGeom prst="rect">
            <a:avLst/>
          </a:prstGeom>
          <a:noFill/>
          <a:ln/>
        </p:spPr>
        <p:txBody>
          <a:bodyPr wrap="square" lIns="0" tIns="0" rIns="0" bIns="0" rtlCol="0" anchor="t"/>
          <a:lstStyle/>
          <a:p>
            <a:pPr algn="ctr" indent="0" marL="0">
              <a:buNone/>
            </a:pPr>
            <a:r>
              <a:rPr lang="en-US" sz="3400" b="1" dirty="0">
                <a:solidFill>
                  <a:schemeClr val="tx2"/>
                </a:solidFill>
                <a:latin typeface="Cambria" pitchFamily="34" charset="0"/>
                <a:ea typeface="Cambria" pitchFamily="34" charset="-122"/>
                <a:cs typeface="Cambria" pitchFamily="34" charset="-120"/>
              </a:rPr>
              <a:t>44.90</a:t>
            </a:r>
            <a:endParaRPr lang="en-US" sz="3400" dirty="0"/>
          </a:p>
        </p:txBody>
      </p:sp>
      <p:sp>
        <p:nvSpPr>
          <p:cNvPr id="14" name="text_333"/>
          <p:cNvSpPr txBox="1"/>
          <p:nvPr/>
        </p:nvSpPr>
        <p:spPr>
          <a:xfrm>
            <a:off x="4800600" y="2651760"/>
            <a:ext cx="2057400" cy="41148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B2-sub + OCR at test</a:t>
            </a:r>
            <a:endParaRPr lang="en-US" sz="1300" dirty="0"/>
          </a:p>
        </p:txBody>
      </p:sp>
      <p:sp>
        <p:nvSpPr>
          <p:cNvPr id="15" name="card_334"/>
          <p:cNvSpPr/>
          <p:nvPr/>
        </p:nvSpPr>
        <p:spPr>
          <a:xfrm>
            <a:off x="2331720" y="3337560"/>
            <a:ext cx="2240280" cy="1417320"/>
          </a:xfrm>
          <a:prstGeom prst="roundRect">
            <a:avLst>
              <a:gd name="adj" fmla="val 5161"/>
            </a:avLst>
          </a:prstGeom>
          <a:solidFill>
            <a:schemeClr val="bg2"/>
          </a:solidFill>
          <a:ln w="12700">
            <a:solidFill>
              <a:schemeClr val="bg2"/>
            </a:solidFill>
            <a:prstDash val="solid"/>
          </a:ln>
        </p:spPr>
      </p:sp>
      <p:sp>
        <p:nvSpPr>
          <p:cNvPr id="16" name="text_335"/>
          <p:cNvSpPr txBox="1"/>
          <p:nvPr/>
        </p:nvSpPr>
        <p:spPr>
          <a:xfrm>
            <a:off x="2331720" y="3502152"/>
            <a:ext cx="2240280" cy="685800"/>
          </a:xfrm>
          <a:prstGeom prst="rect">
            <a:avLst/>
          </a:prstGeom>
          <a:noFill/>
          <a:ln/>
        </p:spPr>
        <p:txBody>
          <a:bodyPr wrap="square" lIns="0" tIns="0" rIns="0" bIns="0" rtlCol="0" anchor="t"/>
          <a:lstStyle/>
          <a:p>
            <a:pPr algn="ctr" indent="0" marL="0">
              <a:buNone/>
            </a:pPr>
            <a:r>
              <a:rPr lang="en-US" sz="3400" b="1" dirty="0">
                <a:solidFill>
                  <a:schemeClr val="tx2"/>
                </a:solidFill>
                <a:latin typeface="Cambria" pitchFamily="34" charset="0"/>
                <a:ea typeface="Cambria" pitchFamily="34" charset="-122"/>
                <a:cs typeface="Cambria" pitchFamily="34" charset="-120"/>
              </a:rPr>
              <a:t>45.00</a:t>
            </a:r>
            <a:endParaRPr lang="en-US" sz="3400" dirty="0"/>
          </a:p>
        </p:txBody>
      </p:sp>
      <p:sp>
        <p:nvSpPr>
          <p:cNvPr id="17" name="text_336"/>
          <p:cNvSpPr txBox="1"/>
          <p:nvPr/>
        </p:nvSpPr>
        <p:spPr>
          <a:xfrm>
            <a:off x="2423160" y="4206240"/>
            <a:ext cx="2057400" cy="41148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B3, OCR removed at test</a:t>
            </a:r>
            <a:endParaRPr lang="en-US" sz="1300" dirty="0"/>
          </a:p>
        </p:txBody>
      </p:sp>
      <p:sp>
        <p:nvSpPr>
          <p:cNvPr id="18" name="card_337"/>
          <p:cNvSpPr/>
          <p:nvPr/>
        </p:nvSpPr>
        <p:spPr>
          <a:xfrm>
            <a:off x="4709160" y="3337560"/>
            <a:ext cx="2240280" cy="1417320"/>
          </a:xfrm>
          <a:prstGeom prst="roundRect">
            <a:avLst>
              <a:gd name="adj" fmla="val 5161"/>
            </a:avLst>
          </a:prstGeom>
          <a:solidFill>
            <a:schemeClr val="accent5"/>
          </a:solidFill>
          <a:ln w="12700">
            <a:solidFill>
              <a:schemeClr val="accent5"/>
            </a:solidFill>
            <a:prstDash val="solid"/>
          </a:ln>
        </p:spPr>
      </p:sp>
      <p:sp>
        <p:nvSpPr>
          <p:cNvPr id="19" name="text_338"/>
          <p:cNvSpPr txBox="1"/>
          <p:nvPr/>
        </p:nvSpPr>
        <p:spPr>
          <a:xfrm>
            <a:off x="4709160" y="3502152"/>
            <a:ext cx="2240280" cy="685800"/>
          </a:xfrm>
          <a:prstGeom prst="rect">
            <a:avLst/>
          </a:prstGeom>
          <a:noFill/>
          <a:ln/>
        </p:spPr>
        <p:txBody>
          <a:bodyPr wrap="square" lIns="0" tIns="0" rIns="0" bIns="0" rtlCol="0" anchor="t"/>
          <a:lstStyle/>
          <a:p>
            <a:pPr algn="ctr" indent="0" marL="0">
              <a:buNone/>
            </a:pPr>
            <a:r>
              <a:rPr lang="en-US" sz="3400" b="1" dirty="0">
                <a:solidFill>
                  <a:schemeClr val="accent2"/>
                </a:solidFill>
                <a:latin typeface="Cambria" pitchFamily="34" charset="0"/>
                <a:ea typeface="Cambria" pitchFamily="34" charset="-122"/>
                <a:cs typeface="Cambria" pitchFamily="34" charset="-120"/>
              </a:rPr>
              <a:t>49.25</a:t>
            </a:r>
            <a:endParaRPr lang="en-US" sz="3400" dirty="0"/>
          </a:p>
        </p:txBody>
      </p:sp>
      <p:sp>
        <p:nvSpPr>
          <p:cNvPr id="20" name="text_339"/>
          <p:cNvSpPr txBox="1"/>
          <p:nvPr/>
        </p:nvSpPr>
        <p:spPr>
          <a:xfrm>
            <a:off x="4800600" y="4206240"/>
            <a:ext cx="2057400" cy="411480"/>
          </a:xfrm>
          <a:prstGeom prst="rect">
            <a:avLst/>
          </a:prstGeom>
          <a:noFill/>
          <a:ln/>
        </p:spPr>
        <p:txBody>
          <a:bodyPr wrap="square" lIns="0" tIns="0" rIns="0" bIns="0" rtlCol="0" anchor="t"/>
          <a:lstStyle/>
          <a:p>
            <a:pPr algn="ctr" indent="0" marL="0">
              <a:buNone/>
            </a:pPr>
            <a:r>
              <a:rPr lang="en-US" sz="1300" dirty="0">
                <a:solidFill>
                  <a:schemeClr val="tx1"/>
                </a:solidFill>
                <a:latin typeface="Calibri" pitchFamily="34" charset="0"/>
                <a:ea typeface="Calibri" pitchFamily="34" charset="-122"/>
                <a:cs typeface="Calibri" pitchFamily="34" charset="-120"/>
              </a:rPr>
              <a:t>B3 (proposed)</a:t>
            </a:r>
            <a:endParaRPr lang="en-US" sz="1300" dirty="0"/>
          </a:p>
        </p:txBody>
      </p:sp>
      <p:sp>
        <p:nvSpPr>
          <p:cNvPr id="21" name="text_340"/>
          <p:cNvSpPr txBox="1"/>
          <p:nvPr/>
        </p:nvSpPr>
        <p:spPr>
          <a:xfrm>
            <a:off x="2331720" y="4864608"/>
            <a:ext cx="4617720" cy="320040"/>
          </a:xfrm>
          <a:prstGeom prst="rect">
            <a:avLst/>
          </a:prstGeom>
          <a:noFill/>
          <a:ln/>
        </p:spPr>
        <p:txBody>
          <a:bodyPr wrap="square" lIns="0" tIns="0" rIns="0" bIns="0" rtlCol="0" anchor="t"/>
          <a:lstStyle/>
          <a:p>
            <a:pPr algn="ctr" indent="0" marL="0">
              <a:buNone/>
            </a:pPr>
            <a:r>
              <a:rPr lang="en-US" sz="1200" dirty="0">
                <a:solidFill>
                  <a:schemeClr val="accent3"/>
                </a:solidFill>
                <a:latin typeface="Calibri" pitchFamily="34" charset="0"/>
                <a:ea typeface="Calibri" pitchFamily="34" charset="-122"/>
                <a:cs typeface="Calibri" pitchFamily="34" charset="-120"/>
              </a:rPr>
              <a:t>EM (%), ViTextVQA test subset (2,000 q.), seed 42</a:t>
            </a:r>
            <a:endParaRPr lang="en-US" sz="1200" dirty="0"/>
          </a:p>
        </p:txBody>
      </p:sp>
      <p:sp>
        <p:nvSpPr>
          <p:cNvPr id="22" name="card_341"/>
          <p:cNvSpPr/>
          <p:nvPr/>
        </p:nvSpPr>
        <p:spPr>
          <a:xfrm>
            <a:off x="7360920" y="1371600"/>
            <a:ext cx="4282135" cy="2103120"/>
          </a:xfrm>
          <a:prstGeom prst="roundRect">
            <a:avLst>
              <a:gd name="adj" fmla="val 3478"/>
            </a:avLst>
          </a:prstGeom>
          <a:solidFill>
            <a:schemeClr val="bg2"/>
          </a:solidFill>
          <a:ln w="12700">
            <a:solidFill>
              <a:schemeClr val="bg2"/>
            </a:solidFill>
            <a:prstDash val="solid"/>
          </a:ln>
        </p:spPr>
      </p:sp>
      <p:sp>
        <p:nvSpPr>
          <p:cNvPr id="23" name="text_342"/>
          <p:cNvSpPr txBox="1"/>
          <p:nvPr/>
        </p:nvSpPr>
        <p:spPr>
          <a:xfrm>
            <a:off x="7589520" y="1481328"/>
            <a:ext cx="3824935"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Paired tests (McNemar, EM)</a:t>
            </a:r>
            <a:endParaRPr lang="en-US" sz="1600" dirty="0"/>
          </a:p>
        </p:txBody>
      </p:sp>
      <p:sp>
        <p:nvSpPr>
          <p:cNvPr id="24" name="list_343"/>
          <p:cNvSpPr txBox="1"/>
          <p:nvPr/>
        </p:nvSpPr>
        <p:spPr>
          <a:xfrm>
            <a:off x="7589520" y="1874520"/>
            <a:ext cx="3824935" cy="15544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OCR at test only: −0.65 (p = 0.49)</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OCR at train only: −0.55 (p = 0.35)</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Both at train and test: +4.35 (p = 2 × 10⁻⁸)</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Removing OCR from B3: −4.25 (p = 4 × 10⁻⁹)</a:t>
            </a:r>
            <a:endParaRPr lang="en-US" sz="1400" dirty="0"/>
          </a:p>
        </p:txBody>
      </p:sp>
      <p:sp>
        <p:nvSpPr>
          <p:cNvPr id="25" name="card_344"/>
          <p:cNvSpPr/>
          <p:nvPr/>
        </p:nvSpPr>
        <p:spPr>
          <a:xfrm>
            <a:off x="7360920" y="3657600"/>
            <a:ext cx="4282135" cy="1280160"/>
          </a:xfrm>
          <a:prstGeom prst="roundRect">
            <a:avLst>
              <a:gd name="adj" fmla="val 5714"/>
            </a:avLst>
          </a:prstGeom>
          <a:solidFill>
            <a:schemeClr val="accent4"/>
          </a:solidFill>
          <a:ln w="12700">
            <a:solidFill>
              <a:schemeClr val="accent4"/>
            </a:solidFill>
            <a:prstDash val="solid"/>
          </a:ln>
        </p:spPr>
      </p:sp>
      <p:sp>
        <p:nvSpPr>
          <p:cNvPr id="26" name="text_345"/>
          <p:cNvSpPr txBox="1"/>
          <p:nvPr/>
        </p:nvSpPr>
        <p:spPr>
          <a:xfrm>
            <a:off x="7589520" y="3657600"/>
            <a:ext cx="3824935" cy="1280160"/>
          </a:xfrm>
          <a:prstGeom prst="rect">
            <a:avLst/>
          </a:prstGeom>
          <a:noFill/>
          <a:ln/>
        </p:spPr>
        <p:txBody>
          <a:bodyPr wrap="square" lIns="0" tIns="0" rIns="0" bIns="0" rtlCol="0" anchor="ctr"/>
          <a:lstStyle/>
          <a:p>
            <a:pPr indent="0" marL="0">
              <a:buNone/>
            </a:pPr>
            <a:r>
              <a:rPr lang="en-US" sz="1500" b="1" dirty="0">
                <a:solidFill>
                  <a:srgbClr val="13294B"/>
                </a:solidFill>
                <a:latin typeface="Calibri" pitchFamily="34" charset="0"/>
                <a:ea typeface="Calibri" pitchFamily="34" charset="-122"/>
                <a:cs typeface="Calibri" pitchFamily="34" charset="-120"/>
              </a:rPr>
              <a:t>Interaction +4.9 EM </a:t>
            </a:r>
            <a:pPr indent="0" marL="0">
              <a:buNone/>
            </a:pPr>
            <a:r>
              <a:rPr lang="en-US" sz="1500" dirty="0">
                <a:solidFill>
                  <a:schemeClr val="tx1"/>
                </a:solidFill>
                <a:latin typeface="Calibri" pitchFamily="34" charset="0"/>
                <a:ea typeface="Calibri" pitchFamily="34" charset="-122"/>
                <a:cs typeface="Calibri" pitchFamily="34" charset="-120"/>
              </a:rPr>
              <a:t>(CI95 +3.2 to +6.6) → OCR is needed at both train and test</a:t>
            </a:r>
            <a:endParaRPr lang="en-US" sz="1500" dirty="0"/>
          </a:p>
        </p:txBody>
      </p:sp>
      <p:sp>
        <p:nvSpPr>
          <p:cNvPr id="27" name="card_346"/>
          <p:cNvSpPr/>
          <p:nvPr/>
        </p:nvSpPr>
        <p:spPr>
          <a:xfrm>
            <a:off x="548640" y="5349240"/>
            <a:ext cx="11094415" cy="914400"/>
          </a:xfrm>
          <a:prstGeom prst="roundRect">
            <a:avLst>
              <a:gd name="adj" fmla="val 8000"/>
            </a:avLst>
          </a:prstGeom>
          <a:solidFill>
            <a:schemeClr val="accent5"/>
          </a:solidFill>
          <a:ln w="12700">
            <a:solidFill>
              <a:schemeClr val="accent5"/>
            </a:solidFill>
            <a:prstDash val="solid"/>
          </a:ln>
        </p:spPr>
      </p:sp>
      <p:sp>
        <p:nvSpPr>
          <p:cNvPr id="28" name="text_347"/>
          <p:cNvSpPr txBox="1"/>
          <p:nvPr/>
        </p:nvSpPr>
        <p:spPr>
          <a:xfrm>
            <a:off x="822960" y="5349240"/>
            <a:ext cx="10545775" cy="914400"/>
          </a:xfrm>
          <a:prstGeom prst="rect">
            <a:avLst/>
          </a:prstGeom>
          <a:noFill/>
          <a:ln/>
        </p:spPr>
        <p:txBody>
          <a:bodyPr wrap="square" lIns="0" tIns="0" rIns="0" bIns="0" rtlCol="0" anchor="ctr"/>
          <a:lstStyle/>
          <a:p>
            <a:pPr indent="0" marL="0">
              <a:buNone/>
            </a:pPr>
            <a:r>
              <a:rPr lang="en-US" sz="1500" b="1" dirty="0">
                <a:solidFill>
                  <a:srgbClr val="13294B"/>
                </a:solidFill>
                <a:latin typeface="Calibri" pitchFamily="34" charset="0"/>
                <a:ea typeface="Calibri" pitchFamily="34" charset="-122"/>
                <a:cs typeface="Calibri" pitchFamily="34" charset="-120"/>
              </a:rPr>
              <a:t>Takeaway  </a:t>
            </a:r>
            <a:pPr indent="0" marL="0">
              <a:buNone/>
            </a:pPr>
            <a:r>
              <a:rPr lang="en-US" sz="1500" dirty="0">
                <a:solidFill>
                  <a:schemeClr val="tx1"/>
                </a:solidFill>
                <a:latin typeface="Calibri" pitchFamily="34" charset="0"/>
                <a:ea typeface="Calibri" pitchFamily="34" charset="-122"/>
                <a:cs typeface="Calibri" pitchFamily="34" charset="-120"/>
              </a:rPr>
              <a:t>the contribution is not “add OCR to the prompt” — it is teaching the model, with QLoRA, when to trust OCR and when to trust the image.</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PART 06 · ROBUSTNESS</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The gain holds across seeds and on the full test</a:t>
            </a:r>
            <a:endParaRPr lang="en-US" sz="3200" dirty="0"/>
          </a:p>
        </p:txBody>
      </p:sp>
      <p:graphicFrame>
        <p:nvGraphicFramePr>
          <p:cNvPr id="5" name="chart_348" descr=""/>
          <p:cNvGraphicFramePr/>
          <p:nvPr/>
        </p:nvGraphicFramePr>
        <p:xfrm>
          <a:off x="548640" y="1371600"/>
          <a:ext cx="5120640" cy="3657600"/>
        </p:xfrm>
        <a:graphic xmlns:a="http://schemas.openxmlformats.org/drawingml/2006/main">
          <a:graphicData uri="http://schemas.openxmlformats.org/drawingml/2006/chart">
            <c:chart xmlns:c="http://schemas.openxmlformats.org/drawingml/2006/chart" r:id="rId1"/>
          </a:graphicData>
        </a:graphic>
      </p:graphicFrame>
      <p:sp>
        <p:nvSpPr>
          <p:cNvPr id="6" name="card_349"/>
          <p:cNvSpPr/>
          <p:nvPr/>
        </p:nvSpPr>
        <p:spPr>
          <a:xfrm>
            <a:off x="548640" y="5212080"/>
            <a:ext cx="5120640" cy="1051560"/>
          </a:xfrm>
          <a:prstGeom prst="roundRect">
            <a:avLst>
              <a:gd name="adj" fmla="val 6957"/>
            </a:avLst>
          </a:prstGeom>
          <a:solidFill>
            <a:schemeClr val="accent4"/>
          </a:solidFill>
          <a:ln w="12700">
            <a:solidFill>
              <a:schemeClr val="accent4"/>
            </a:solidFill>
            <a:prstDash val="solid"/>
          </a:ln>
        </p:spPr>
      </p:sp>
      <p:sp>
        <p:nvSpPr>
          <p:cNvPr id="7" name="text_350"/>
          <p:cNvSpPr txBox="1"/>
          <p:nvPr/>
        </p:nvSpPr>
        <p:spPr>
          <a:xfrm>
            <a:off x="777240" y="5212080"/>
            <a:ext cx="4663440" cy="1051560"/>
          </a:xfrm>
          <a:prstGeom prst="rect">
            <a:avLst/>
          </a:prstGeom>
          <a:noFill/>
          <a:ln/>
        </p:spPr>
        <p:txBody>
          <a:bodyPr wrap="square" lIns="0" tIns="0" rIns="0" bIns="0" rtlCol="0" anchor="ctr"/>
          <a:lstStyle/>
          <a:p>
            <a:pPr indent="0" marL="0">
              <a:buNone/>
            </a:pPr>
            <a:r>
              <a:rPr lang="en-US" sz="1400" b="1" dirty="0">
                <a:solidFill>
                  <a:srgbClr val="13294B"/>
                </a:solidFill>
                <a:latin typeface="Calibri" pitchFamily="34" charset="0"/>
                <a:ea typeface="Calibri" pitchFamily="34" charset="-122"/>
                <a:cs typeface="Calibri" pitchFamily="34" charset="-120"/>
              </a:rPr>
              <a:t>+3.57 ± 0.76 EM</a:t>
            </a:r>
            <a:pPr indent="0" marL="0">
              <a:buNone/>
            </a:pPr>
            <a:r>
              <a:rPr lang="en-US" sz="1400" dirty="0">
                <a:solidFill>
                  <a:schemeClr val="tx1"/>
                </a:solidFill>
                <a:latin typeface="Calibri" pitchFamily="34" charset="0"/>
                <a:ea typeface="Calibri" pitchFamily="34" charset="-122"/>
                <a:cs typeface="Calibri" pitchFamily="34" charset="-120"/>
              </a:rPr>
              <a:t> · all 3 seeds p ≤ 1.4 × 10⁻⁴ → stable (pre-registered rule)</a:t>
            </a:r>
            <a:endParaRPr lang="en-US" sz="1400" dirty="0"/>
          </a:p>
        </p:txBody>
      </p:sp>
      <p:graphicFrame>
        <p:nvGraphicFramePr>
          <p:cNvPr id="33" name="table_351"/>
          <p:cNvGraphicFramePr>
            <a:graphicFrameLocks noGrp="1"/>
          </p:cNvGraphicFramePr>
          <p:nvPr>
            <p:extLst>
              <p:ext uri="{D42A27DB-BD31-4B8C-83A1-F6EECF244321}">
                <p14:modId xmlns:p14="http://schemas.microsoft.com/office/powerpoint/2010/main" val="1579011935"/>
              </p:ext>
            </p:extLst>
          </p:nvPr>
        </p:nvGraphicFramePr>
        <p:xfrm>
          <a:off x="6035040" y="1371600"/>
          <a:ext cx="5608015" cy="914400"/>
        </p:xfrm>
        <a:graphic>
          <a:graphicData uri="http://schemas.openxmlformats.org/drawingml/2006/table">
            <a:tbl>
              <a:tblPr/>
              <a:tblGrid>
                <a:gridCol w="2331720"/>
                <a:gridCol w="1325880"/>
                <a:gridCol w="1005840"/>
                <a:gridCol w="941832"/>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Full test (10,028 q.)</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Train data</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EM</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457200">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ViTextBLIP-2 (paper)</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full</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25.48</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53.95</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B2-sub</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23%</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46.56</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67.83</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57200">
                <a:tc>
                  <a:txBody>
                    <a:bodyPr/>
                    <a:lstStyle/>
                    <a:p>
                      <a:pPr algn="l" indent="0" marL="0">
                        <a:buNone/>
                      </a:pPr>
                      <a:r>
                        <a:rPr lang="en-US" sz="1400" b="1" dirty="0">
                          <a:solidFill>
                            <a:srgbClr val="13294B"/>
                          </a:solidFill>
                          <a:latin typeface="Calibri" pitchFamily="34" charset="0"/>
                          <a:ea typeface="Calibri" pitchFamily="34" charset="-122"/>
                          <a:cs typeface="Calibri" pitchFamily="34" charset="-120"/>
                        </a:rPr>
                        <a:t>B3 (OCR-aware)</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c>
                  <a:txBody>
                    <a:bodyPr/>
                    <a:lstStyle/>
                    <a:p>
                      <a:pPr algn="ctr" indent="0" marL="0">
                        <a:buNone/>
                      </a:pPr>
                      <a:r>
                        <a:rPr lang="en-US" sz="1400" b="1" dirty="0">
                          <a:solidFill>
                            <a:srgbClr val="13294B"/>
                          </a:solidFill>
                          <a:latin typeface="Calibri" pitchFamily="34" charset="0"/>
                          <a:ea typeface="Calibri" pitchFamily="34" charset="-122"/>
                          <a:cs typeface="Calibri" pitchFamily="34" charset="-120"/>
                        </a:rPr>
                        <a:t>23%</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c>
                  <a:txBody>
                    <a:bodyPr/>
                    <a:lstStyle/>
                    <a:p>
                      <a:pPr algn="ctr" indent="0" marL="0">
                        <a:buNone/>
                      </a:pPr>
                      <a:r>
                        <a:rPr lang="en-US" sz="1400" b="1" dirty="0">
                          <a:solidFill>
                            <a:srgbClr val="13294B"/>
                          </a:solidFill>
                          <a:latin typeface="Calibri" pitchFamily="34" charset="0"/>
                          <a:ea typeface="Calibri" pitchFamily="34" charset="-122"/>
                          <a:cs typeface="Calibri" pitchFamily="34" charset="-120"/>
                        </a:rPr>
                        <a:t>49.10</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c>
                  <a:txBody>
                    <a:bodyPr/>
                    <a:lstStyle/>
                    <a:p>
                      <a:pPr algn="ctr" indent="0" marL="0">
                        <a:buNone/>
                      </a:pPr>
                      <a:r>
                        <a:rPr lang="en-US" sz="1400" b="1" dirty="0">
                          <a:solidFill>
                            <a:srgbClr val="13294B"/>
                          </a:solidFill>
                          <a:latin typeface="Calibri" pitchFamily="34" charset="0"/>
                          <a:ea typeface="Calibri" pitchFamily="34" charset="-122"/>
                          <a:cs typeface="Calibri" pitchFamily="34" charset="-120"/>
                        </a:rPr>
                        <a:t>70.03</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FBF0DA"/>
                    </a:solidFill>
                  </a:tcPr>
                </a:tc>
              </a:tr>
              <a:tr h="457200">
                <a:tc>
                  <a:txBody>
                    <a:bodyPr/>
                    <a:lstStyle/>
                    <a:p>
                      <a:pPr algn="l" indent="0" marL="0">
                        <a:buNone/>
                      </a:pPr>
                      <a:r>
                        <a:rPr lang="en-US" sz="1400" dirty="0">
                          <a:solidFill>
                            <a:srgbClr val="243044"/>
                          </a:solidFill>
                          <a:latin typeface="Calibri" pitchFamily="34" charset="0"/>
                          <a:ea typeface="Calibri" pitchFamily="34" charset="-122"/>
                          <a:cs typeface="Calibri" pitchFamily="34" charset="-120"/>
                        </a:rPr>
                        <a:t>B2 (QLoRA, no OCR)</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50.26</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algn="ctr" indent="0" marL="0">
                        <a:buNone/>
                      </a:pPr>
                      <a:r>
                        <a:rPr lang="en-US" sz="1400" dirty="0">
                          <a:solidFill>
                            <a:srgbClr val="243044"/>
                          </a:solidFill>
                          <a:latin typeface="Calibri" pitchFamily="34" charset="0"/>
                          <a:ea typeface="Calibri" pitchFamily="34" charset="-122"/>
                          <a:cs typeface="Calibri" pitchFamily="34" charset="-120"/>
                        </a:rPr>
                        <a:t>71.16</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9" name="card_352"/>
          <p:cNvSpPr/>
          <p:nvPr/>
        </p:nvSpPr>
        <p:spPr>
          <a:xfrm>
            <a:off x="6035040" y="3886200"/>
            <a:ext cx="5608015" cy="2377440"/>
          </a:xfrm>
          <a:prstGeom prst="roundRect">
            <a:avLst>
              <a:gd name="adj" fmla="val 3077"/>
            </a:avLst>
          </a:prstGeom>
          <a:solidFill>
            <a:schemeClr val="bg2"/>
          </a:solidFill>
          <a:ln w="12700">
            <a:solidFill>
              <a:schemeClr val="bg2"/>
            </a:solidFill>
            <a:prstDash val="solid"/>
          </a:ln>
        </p:spPr>
      </p:sp>
      <p:sp>
        <p:nvSpPr>
          <p:cNvPr id="10" name="list_353"/>
          <p:cNvSpPr txBox="1"/>
          <p:nvPr/>
        </p:nvSpPr>
        <p:spPr>
          <a:xfrm>
            <a:off x="6263640" y="4023360"/>
            <a:ext cx="5150815" cy="21488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B3 vs B2-sub: +2.54 EM (672 vs 417 questions only one model gets right, p = 10⁻¹⁴)</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Above ViTextBLIP-2 on EM and F1 (CI95 lower bounds 48.1 / 69.3)</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Correction: still 1.16 EM below full-data B2 (p = 0.003); OCR recovers ≈ 69% of the data-cut gap with 25% of the training time</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PART 06 · ViVQA: TRAINING LENGTH</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ViVQA: a second epoch helps — chosen without touching test</a:t>
            </a:r>
            <a:endParaRPr lang="en-US" sz="3200" dirty="0"/>
          </a:p>
        </p:txBody>
      </p:sp>
      <p:graphicFrame>
        <p:nvGraphicFramePr>
          <p:cNvPr id="5" name="chart_354" descr=""/>
          <p:cNvGraphicFramePr/>
          <p:nvPr/>
        </p:nvGraphicFramePr>
        <p:xfrm>
          <a:off x="548640" y="1371600"/>
          <a:ext cx="6400800" cy="3291840"/>
        </p:xfrm>
        <a:graphic xmlns:a="http://schemas.openxmlformats.org/drawingml/2006/main">
          <a:graphicData uri="http://schemas.openxmlformats.org/drawingml/2006/chart">
            <c:chart xmlns:c="http://schemas.openxmlformats.org/drawingml/2006/chart" r:id="rId1"/>
          </a:graphicData>
        </a:graphic>
      </p:graphicFrame>
      <p:sp>
        <p:nvSpPr>
          <p:cNvPr id="6" name="card_355"/>
          <p:cNvSpPr/>
          <p:nvPr/>
        </p:nvSpPr>
        <p:spPr>
          <a:xfrm>
            <a:off x="548640" y="4846320"/>
            <a:ext cx="6400800" cy="1417320"/>
          </a:xfrm>
          <a:prstGeom prst="roundRect">
            <a:avLst>
              <a:gd name="adj" fmla="val 5161"/>
            </a:avLst>
          </a:prstGeom>
          <a:solidFill>
            <a:schemeClr val="accent4"/>
          </a:solidFill>
          <a:ln w="12700">
            <a:solidFill>
              <a:schemeClr val="accent4"/>
            </a:solidFill>
            <a:prstDash val="solid"/>
          </a:ln>
        </p:spPr>
      </p:sp>
      <p:sp>
        <p:nvSpPr>
          <p:cNvPr id="7" name="text_356"/>
          <p:cNvSpPr txBox="1"/>
          <p:nvPr/>
        </p:nvSpPr>
        <p:spPr>
          <a:xfrm>
            <a:off x="777240" y="4846320"/>
            <a:ext cx="5943600" cy="1417320"/>
          </a:xfrm>
          <a:prstGeom prst="rect">
            <a:avLst/>
          </a:prstGeom>
          <a:noFill/>
          <a:ln/>
        </p:spPr>
        <p:txBody>
          <a:bodyPr wrap="square" lIns="0" tIns="0" rIns="0" bIns="0" rtlCol="0" anchor="ctr"/>
          <a:lstStyle/>
          <a:p>
            <a:pPr indent="0" marL="0">
              <a:buNone/>
            </a:pPr>
            <a:r>
              <a:rPr lang="en-US" sz="1400" dirty="0">
                <a:solidFill>
                  <a:schemeClr val="tx2"/>
                </a:solidFill>
                <a:latin typeface="Calibri" pitchFamily="34" charset="0"/>
                <a:ea typeface="Calibri" pitchFamily="34" charset="-122"/>
                <a:cs typeface="Calibri" pitchFamily="34" charset="-120"/>
              </a:rPr>
              <a:t>Rule fixed before the run: highest EM on image-disjoint val; keep C1 unless significantly better → C3 (+3.9 EM, p = 1.4 × 10⁻⁴)</a:t>
            </a:r>
            <a:endParaRPr lang="en-US" sz="1400" dirty="0"/>
          </a:p>
        </p:txBody>
      </p:sp>
      <p:sp>
        <p:nvSpPr>
          <p:cNvPr id="8" name="card_357"/>
          <p:cNvSpPr/>
          <p:nvPr/>
        </p:nvSpPr>
        <p:spPr>
          <a:xfrm>
            <a:off x="7315200" y="1371600"/>
            <a:ext cx="4327855" cy="2377440"/>
          </a:xfrm>
          <a:prstGeom prst="roundRect">
            <a:avLst>
              <a:gd name="adj" fmla="val 3077"/>
            </a:avLst>
          </a:prstGeom>
          <a:solidFill>
            <a:schemeClr val="accent5"/>
          </a:solidFill>
          <a:ln w="12700">
            <a:solidFill>
              <a:schemeClr val="accent5"/>
            </a:solidFill>
            <a:prstDash val="solid"/>
          </a:ln>
        </p:spPr>
      </p:sp>
      <p:sp>
        <p:nvSpPr>
          <p:cNvPr id="9" name="text_358"/>
          <p:cNvSpPr txBox="1"/>
          <p:nvPr/>
        </p:nvSpPr>
        <p:spPr>
          <a:xfrm>
            <a:off x="7589520" y="1508760"/>
            <a:ext cx="3779215" cy="822960"/>
          </a:xfrm>
          <a:prstGeom prst="rect">
            <a:avLst/>
          </a:prstGeom>
          <a:noFill/>
          <a:ln/>
        </p:spPr>
        <p:txBody>
          <a:bodyPr wrap="square" lIns="0" tIns="0" rIns="0" bIns="0" rtlCol="0" anchor="t"/>
          <a:lstStyle/>
          <a:p>
            <a:pPr indent="0" marL="0">
              <a:buNone/>
            </a:pPr>
            <a:r>
              <a:rPr lang="en-US" sz="4000" b="1" dirty="0">
                <a:solidFill>
                  <a:schemeClr val="tx2"/>
                </a:solidFill>
                <a:latin typeface="Cambria" pitchFamily="34" charset="0"/>
                <a:ea typeface="Cambria" pitchFamily="34" charset="-122"/>
                <a:cs typeface="Cambria" pitchFamily="34" charset="-120"/>
              </a:rPr>
              <a:t>73.8 → 76.6</a:t>
            </a:r>
            <a:endParaRPr lang="en-US" sz="4000" dirty="0"/>
          </a:p>
        </p:txBody>
      </p:sp>
      <p:sp>
        <p:nvSpPr>
          <p:cNvPr id="10" name="text_359"/>
          <p:cNvSpPr txBox="1"/>
          <p:nvPr/>
        </p:nvSpPr>
        <p:spPr>
          <a:xfrm>
            <a:off x="7589520" y="2377440"/>
            <a:ext cx="3779215" cy="8229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ViVQA test EM (3,001 q.), touched once: +2.9, p = 4.6 × 10⁻⁹</a:t>
            </a:r>
            <a:endParaRPr lang="en-US" sz="1400" dirty="0"/>
          </a:p>
        </p:txBody>
      </p:sp>
      <p:sp>
        <p:nvSpPr>
          <p:cNvPr id="11" name="text_360"/>
          <p:cNvSpPr txBox="1"/>
          <p:nvPr/>
        </p:nvSpPr>
        <p:spPr>
          <a:xfrm>
            <a:off x="7589520" y="2926080"/>
            <a:ext cx="3779215" cy="777240"/>
          </a:xfrm>
          <a:prstGeom prst="rect">
            <a:avLst/>
          </a:prstGeom>
          <a:noFill/>
          <a:ln/>
        </p:spPr>
        <p:txBody>
          <a:bodyPr wrap="square" lIns="0" tIns="0" rIns="0" bIns="0" rtlCol="0" anchor="t"/>
          <a:lstStyle/>
          <a:p>
            <a:pPr indent="0" marL="0">
              <a:buNone/>
            </a:pPr>
            <a:r>
              <a:rPr lang="en-US" sz="1300" i="1" dirty="0">
                <a:solidFill>
                  <a:schemeClr val="tx1"/>
                </a:solidFill>
                <a:latin typeface="Calibri" pitchFamily="34" charset="0"/>
                <a:ea typeface="Calibri" pitchFamily="34" charset="-122"/>
                <a:cs typeface="Calibri" pitchFamily="34" charset="-120"/>
              </a:rPr>
              <a:t>Not image memorisation (post-hoc): on the clean test subset — unseen images and unseen QA, n = 1,219 — +3.2 EM (69.1 → 72.3, p = 1.5 × 10⁻⁴)</a:t>
            </a:r>
            <a:endParaRPr lang="en-US" sz="1300" dirty="0"/>
          </a:p>
        </p:txBody>
      </p:sp>
      <p:sp>
        <p:nvSpPr>
          <p:cNvPr id="12" name="card_361"/>
          <p:cNvSpPr/>
          <p:nvPr/>
        </p:nvSpPr>
        <p:spPr>
          <a:xfrm>
            <a:off x="7315200" y="3931920"/>
            <a:ext cx="4327855" cy="2331720"/>
          </a:xfrm>
          <a:prstGeom prst="roundRect">
            <a:avLst>
              <a:gd name="adj" fmla="val 3137"/>
            </a:avLst>
          </a:prstGeom>
          <a:solidFill>
            <a:schemeClr val="bg2"/>
          </a:solidFill>
          <a:ln w="12700">
            <a:solidFill>
              <a:schemeClr val="bg2"/>
            </a:solidFill>
            <a:prstDash val="solid"/>
          </a:ln>
        </p:spPr>
      </p:sp>
      <p:sp>
        <p:nvSpPr>
          <p:cNvPr id="13" name="text_362"/>
          <p:cNvSpPr txBox="1"/>
          <p:nvPr/>
        </p:nvSpPr>
        <p:spPr>
          <a:xfrm>
            <a:off x="7589520" y="4041648"/>
            <a:ext cx="3779215" cy="365760"/>
          </a:xfrm>
          <a:prstGeom prst="rect">
            <a:avLst/>
          </a:prstGeom>
          <a:noFill/>
          <a:ln/>
        </p:spPr>
        <p:txBody>
          <a:bodyPr wrap="square" lIns="0" tIns="0" rIns="0" bIns="0" rtlCol="0" anchor="t"/>
          <a:lstStyle/>
          <a:p>
            <a:pPr indent="0" marL="0">
              <a:buNone/>
            </a:pPr>
            <a:r>
              <a:rPr lang="en-US" sz="1600" b="1" dirty="0">
                <a:solidFill>
                  <a:schemeClr val="tx2"/>
                </a:solidFill>
                <a:latin typeface="Calibri" pitchFamily="34" charset="0"/>
                <a:ea typeface="Calibri" pitchFamily="34" charset="-122"/>
                <a:cs typeface="Calibri" pitchFamily="34" charset="-120"/>
              </a:rPr>
              <a:t>Why image-disjoint val</a:t>
            </a:r>
            <a:endParaRPr lang="en-US" sz="1600" dirty="0"/>
          </a:p>
        </p:txBody>
      </p:sp>
      <p:sp>
        <p:nvSpPr>
          <p:cNvPr id="14" name="list_363"/>
          <p:cNvSpPr txBox="1"/>
          <p:nvPr/>
        </p:nvSpPr>
        <p:spPr>
          <a:xfrm>
            <a:off x="7589520" y="4434840"/>
            <a:ext cx="3779215" cy="17830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512 of 1,200 val questions share an image with train</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Longer training memorises images → plain val would favour it</a:t>
            </a:r>
            <a:endParaRPr lang="en-US" sz="1400" dirty="0"/>
          </a:p>
          <a:p>
            <a:pPr marL="177800" indent="-1778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Cost: 6.1 h instead of 3.0 h on one L4</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PART 07 · HYPOTHESES</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What the evidence says so far</a:t>
            </a:r>
            <a:endParaRPr lang="en-US" sz="3200" dirty="0"/>
          </a:p>
        </p:txBody>
      </p:sp>
      <p:graphicFrame>
        <p:nvGraphicFramePr>
          <p:cNvPr id="35" name="table_364"/>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754880"/>
                <a:gridCol w="4507992"/>
                <a:gridCol w="1828800"/>
              </a:tblGrid>
              <a:tr h="493776">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Hypothesis (Part A, revised numbering)</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Evidence</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solidFill>
                      <a:srgbClr val="13294B"/>
                    </a:solidFill>
                  </a:tcPr>
                </a:tc>
              </a:tr>
              <a:tr h="493776">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H1  QLoRA ≥ +5 EM over zero-shot</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+51.7 (ViVQA), +21.1 (ViTextVQA full), p ≈ 0</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b="1" dirty="0">
                          <a:solidFill>
                            <a:srgbClr val="1C7293"/>
                          </a:solidFill>
                          <a:latin typeface="Calibri" pitchFamily="34" charset="0"/>
                          <a:ea typeface="Calibri" pitchFamily="34" charset="-122"/>
                          <a:cs typeface="Calibri" pitchFamily="34" charset="-120"/>
                        </a:rPr>
                        <a:t>Supported</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93776">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H2  OCR text ≥ +3 ANLS, best with QLoRA</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Synergy: interaction +4.9 EM; but ANLS +1.55 ± 0.40 (&lt; +3)</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b="1" dirty="0">
                          <a:solidFill>
                            <a:srgbClr val="E8A33D"/>
                          </a:solidFill>
                          <a:latin typeface="Calibri" pitchFamily="34" charset="0"/>
                          <a:ea typeface="Calibri" pitchFamily="34" charset="-122"/>
                          <a:cs typeface="Calibri" pitchFamily="34" charset="-120"/>
                        </a:rPr>
                        <a:t>Partly</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93776">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H3  Vietnamese format prompt ≥ +3 EM</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Few-shot variant: −2.1 / −1.2 EM</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b="1" dirty="0">
                          <a:solidFill>
                            <a:srgbClr val="B42318"/>
                          </a:solidFill>
                          <a:latin typeface="Calibri" pitchFamily="34" charset="0"/>
                          <a:ea typeface="Calibri" pitchFamily="34" charset="-122"/>
                          <a:cs typeface="Calibri" pitchFamily="34" charset="-120"/>
                        </a:rPr>
                        <a:t>Not supported</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93776">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H4  QLoRA does not increase hallucination</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Audit: 7% of B2 errors are hallucinations (CI 4–11%); B1 comparison in W11</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b="1" dirty="0">
                          <a:solidFill>
                            <a:srgbClr val="6B7280"/>
                          </a:solidFill>
                          <a:latin typeface="Calibri" pitchFamily="34" charset="0"/>
                          <a:ea typeface="Calibri" pitchFamily="34" charset="-122"/>
                          <a:cs typeface="Calibri" pitchFamily="34" charset="-120"/>
                        </a:rPr>
                        <a:t>Pending</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93776">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Efficiency (measurement, not a hypothesis)</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4-bit keeps 94.5% accuracy; VRAM −77% (R0 vs R0b)</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b="1" dirty="0">
                          <a:solidFill>
                            <a:srgbClr val="13294B"/>
                          </a:solidFill>
                          <a:latin typeface="Calibri" pitchFamily="34" charset="0"/>
                          <a:ea typeface="Calibri" pitchFamily="34" charset="-122"/>
                          <a:cs typeface="Calibri" pitchFamily="34" charset="-120"/>
                        </a:rPr>
                        <a:t>Measured</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r h="493776">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Ablations A1, A2  LoRA rank, target modules</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dirty="0">
                          <a:solidFill>
                            <a:srgbClr val="243044"/>
                          </a:solidFill>
                          <a:latin typeface="Calibri" pitchFamily="34" charset="0"/>
                          <a:ea typeface="Calibri" pitchFamily="34" charset="-122"/>
                          <a:cs typeface="Calibri" pitchFamily="34" charset="-120"/>
                        </a:rPr>
                        <a:t>Planned W10</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c>
                  <a:txBody>
                    <a:bodyPr/>
                    <a:lstStyle/>
                    <a:p>
                      <a:pPr indent="0" marL="0">
                        <a:buNone/>
                      </a:pPr>
                      <a:r>
                        <a:rPr lang="en-US" sz="1400" b="1" dirty="0">
                          <a:solidFill>
                            <a:srgbClr val="6B7280"/>
                          </a:solidFill>
                          <a:latin typeface="Calibri" pitchFamily="34" charset="0"/>
                          <a:ea typeface="Calibri" pitchFamily="34" charset="-122"/>
                          <a:cs typeface="Calibri" pitchFamily="34" charset="-120"/>
                        </a:rPr>
                        <a:t>Planned</a:t>
                      </a:r>
                      <a:endParaRPr lang="en-US" sz="1400" dirty="0">
                        <a:latin typeface="Calibri" charset="0"/>
                        <a:ea typeface="Calibri" charset="0"/>
                        <a:cs typeface="Calibri" charset="0"/>
                      </a:endParaRPr>
                    </a:p>
                  </a:txBody>
                  <a:tcPr marL="76200" marR="76200" marT="38100" marB="38100" anchor="ctr">
                    <a:lnL w="9525" cap="flat" cmpd="sng" algn="ctr">
                      <a:solidFill>
                        <a:srgbClr val="E2E7EE"/>
                      </a:solidFill>
                      <a:prstDash val="solid"/>
                      <a:round/>
                      <a:headEnd type="none" w="med" len="med"/>
                      <a:tailEnd type="none" w="med" len="med"/>
                    </a:lnL>
                    <a:lnR w="9525" cap="flat" cmpd="sng" algn="ctr">
                      <a:solidFill>
                        <a:srgbClr val="E2E7EE"/>
                      </a:solidFill>
                      <a:prstDash val="solid"/>
                      <a:round/>
                      <a:headEnd type="none" w="med" len="med"/>
                      <a:tailEnd type="none" w="med" len="med"/>
                    </a:lnR>
                    <a:lnT w="9525" cap="flat" cmpd="sng" algn="ctr">
                      <a:solidFill>
                        <a:srgbClr val="E2E7EE"/>
                      </a:solidFill>
                      <a:prstDash val="solid"/>
                      <a:round/>
                      <a:headEnd type="none" w="med" len="med"/>
                      <a:tailEnd type="none" w="med" len="med"/>
                    </a:lnT>
                    <a:lnB w="9525" cap="flat" cmpd="sng" algn="ctr">
                      <a:solidFill>
                        <a:srgbClr val="E2E7EE"/>
                      </a:solidFill>
                      <a:prstDash val="solid"/>
                      <a:round/>
                      <a:headEnd type="none" w="med" len="med"/>
                      <a:tailEnd type="none" w="med" len="med"/>
                    </a:lnB>
                  </a:tcPr>
                </a:tc>
              </a:tr>
            </a:tbl>
          </a:graphicData>
        </a:graphic>
      </p:graphicFrame>
      <p:sp>
        <p:nvSpPr>
          <p:cNvPr id="6" name="card_365"/>
          <p:cNvSpPr/>
          <p:nvPr/>
        </p:nvSpPr>
        <p:spPr>
          <a:xfrm>
            <a:off x="548640" y="5120640"/>
            <a:ext cx="11094415" cy="1143000"/>
          </a:xfrm>
          <a:prstGeom prst="roundRect">
            <a:avLst>
              <a:gd name="adj" fmla="val 6400"/>
            </a:avLst>
          </a:prstGeom>
          <a:solidFill>
            <a:schemeClr val="accent4"/>
          </a:solidFill>
          <a:ln w="12700">
            <a:solidFill>
              <a:schemeClr val="accent4"/>
            </a:solidFill>
            <a:prstDash val="solid"/>
          </a:ln>
        </p:spPr>
      </p:sp>
      <p:sp>
        <p:nvSpPr>
          <p:cNvPr id="7" name="text_366"/>
          <p:cNvSpPr txBox="1"/>
          <p:nvPr/>
        </p:nvSpPr>
        <p:spPr>
          <a:xfrm>
            <a:off x="868680" y="5120640"/>
            <a:ext cx="10454335" cy="114300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RQ1: zero-shot EM 22.1 (ViVQA), 29.1 (ViTextVQA).  RQ2: QLoRA +51.7 / +21.1 EM.  RQ3: OCR-aware QLoRA +2.5 EM over the same QLoRA (full test).</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94415" cy="274320"/>
          </a:xfrm>
          <a:prstGeom prst="rect">
            <a:avLst/>
          </a:prstGeom>
          <a:noFill/>
          <a:ln/>
        </p:spPr>
        <p:txBody>
          <a:bodyPr wrap="square" lIns="0" tIns="0" rIns="0" bIns="0" rtlCol="0"/>
          <a:lstStyle/>
          <a:p>
            <a:pPr indent="0" marL="0">
              <a:buNone/>
            </a:pPr>
            <a:r>
              <a:rPr lang="en-US" sz="1100" b="1" spc="200" kern="0" dirty="0">
                <a:solidFill>
                  <a:schemeClr val="accent1"/>
                </a:solidFill>
                <a:latin typeface="Calibri" pitchFamily="34" charset="0"/>
                <a:ea typeface="Calibri" pitchFamily="34" charset="-122"/>
                <a:cs typeface="Calibri" pitchFamily="34" charset="-120"/>
              </a:rPr>
              <a:t>REVIEW 2 · PART 07 · NEXT STEPS</a:t>
            </a:r>
            <a:endParaRPr lang="en-US" sz="1100" dirty="0"/>
          </a:p>
        </p:txBody>
      </p:sp>
      <p:sp>
        <p:nvSpPr>
          <p:cNvPr id="3" name="Text 0"/>
          <p:cNvSpPr/>
          <p:nvPr>
            <p:ph idx="101" type="title" hasCustomPrompt="1"/>
          </p:nvPr>
        </p:nvSpPr>
        <p:spPr>
          <a:xfrm>
            <a:off x="548640" y="566928"/>
            <a:ext cx="11094415"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Plan to Review 3 (week 13)</a:t>
            </a:r>
            <a:endParaRPr lang="en-US" sz="3200" dirty="0"/>
          </a:p>
        </p:txBody>
      </p:sp>
      <p:sp>
        <p:nvSpPr>
          <p:cNvPr id="5" name="card_367"/>
          <p:cNvSpPr/>
          <p:nvPr/>
        </p:nvSpPr>
        <p:spPr>
          <a:xfrm>
            <a:off x="548640" y="1600200"/>
            <a:ext cx="2533574" cy="3108960"/>
          </a:xfrm>
          <a:prstGeom prst="roundRect">
            <a:avLst>
              <a:gd name="adj" fmla="val 2887"/>
            </a:avLst>
          </a:prstGeom>
          <a:solidFill>
            <a:schemeClr val="accent4"/>
          </a:solidFill>
          <a:ln w="12700">
            <a:solidFill>
              <a:schemeClr val="accent4"/>
            </a:solidFill>
            <a:prstDash val="solid"/>
          </a:ln>
        </p:spPr>
      </p:sp>
      <p:sp>
        <p:nvSpPr>
          <p:cNvPr id="6" name="dot_368"/>
          <p:cNvSpPr/>
          <p:nvPr/>
        </p:nvSpPr>
        <p:spPr>
          <a:xfrm>
            <a:off x="822960" y="1874520"/>
            <a:ext cx="868680" cy="868680"/>
          </a:xfrm>
          <a:prstGeom prst="ellipse">
            <a:avLst/>
          </a:prstGeom>
          <a:solidFill>
            <a:srgbClr val="1C7293"/>
          </a:solidFill>
          <a:ln w="12700">
            <a:solidFill>
              <a:srgbClr val="FFFFFF"/>
            </a:solidFill>
            <a:prstDash val="solid"/>
          </a:ln>
        </p:spPr>
      </p:sp>
      <p:sp>
        <p:nvSpPr>
          <p:cNvPr id="7" name="text_369"/>
          <p:cNvSpPr txBox="1"/>
          <p:nvPr/>
        </p:nvSpPr>
        <p:spPr>
          <a:xfrm>
            <a:off x="822960" y="1874520"/>
            <a:ext cx="868680" cy="8686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W10</a:t>
            </a:r>
            <a:endParaRPr lang="en-US" sz="1400" dirty="0"/>
          </a:p>
        </p:txBody>
      </p:sp>
      <p:sp>
        <p:nvSpPr>
          <p:cNvPr id="8" name="text_370"/>
          <p:cNvSpPr txBox="1"/>
          <p:nvPr/>
        </p:nvSpPr>
        <p:spPr>
          <a:xfrm>
            <a:off x="822960" y="2971800"/>
            <a:ext cx="1984934" cy="15544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OCR-aware QLoRA on the full ViTextVQA train set; LoRA rank and target-module ablations (ablations A1, A2)</a:t>
            </a:r>
            <a:endParaRPr lang="en-US" sz="1500" dirty="0"/>
          </a:p>
        </p:txBody>
      </p:sp>
      <p:sp>
        <p:nvSpPr>
          <p:cNvPr id="9" name="card_371"/>
          <p:cNvSpPr/>
          <p:nvPr/>
        </p:nvSpPr>
        <p:spPr>
          <a:xfrm>
            <a:off x="3402254" y="1600200"/>
            <a:ext cx="2533574" cy="3108960"/>
          </a:xfrm>
          <a:prstGeom prst="roundRect">
            <a:avLst>
              <a:gd name="adj" fmla="val 2887"/>
            </a:avLst>
          </a:prstGeom>
          <a:solidFill>
            <a:schemeClr val="bg2"/>
          </a:solidFill>
          <a:ln w="12700">
            <a:solidFill>
              <a:schemeClr val="bg2"/>
            </a:solidFill>
            <a:prstDash val="solid"/>
          </a:ln>
        </p:spPr>
      </p:sp>
      <p:sp>
        <p:nvSpPr>
          <p:cNvPr id="10" name="dot_372"/>
          <p:cNvSpPr/>
          <p:nvPr/>
        </p:nvSpPr>
        <p:spPr>
          <a:xfrm>
            <a:off x="3676574" y="1874520"/>
            <a:ext cx="868680" cy="868680"/>
          </a:xfrm>
          <a:prstGeom prst="ellipse">
            <a:avLst/>
          </a:prstGeom>
          <a:solidFill>
            <a:srgbClr val="13294B"/>
          </a:solidFill>
          <a:ln w="12700">
            <a:solidFill>
              <a:srgbClr val="FFFFFF"/>
            </a:solidFill>
            <a:prstDash val="solid"/>
          </a:ln>
        </p:spPr>
      </p:sp>
      <p:sp>
        <p:nvSpPr>
          <p:cNvPr id="11" name="text_373"/>
          <p:cNvSpPr txBox="1"/>
          <p:nvPr/>
        </p:nvSpPr>
        <p:spPr>
          <a:xfrm>
            <a:off x="3676574" y="1874520"/>
            <a:ext cx="868680" cy="8686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W11</a:t>
            </a:r>
            <a:endParaRPr lang="en-US" sz="1400" dirty="0"/>
          </a:p>
        </p:txBody>
      </p:sp>
      <p:sp>
        <p:nvSpPr>
          <p:cNvPr id="12" name="text_374"/>
          <p:cNvSpPr txBox="1"/>
          <p:nvPr/>
        </p:nvSpPr>
        <p:spPr>
          <a:xfrm>
            <a:off x="3676574" y="2971800"/>
            <a:ext cx="1984934" cy="15544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Systematic hallucination evaluation incl. B1 and B3 (H4); shared adapter for both datasets (optional)</a:t>
            </a:r>
            <a:endParaRPr lang="en-US" sz="1500" dirty="0"/>
          </a:p>
        </p:txBody>
      </p:sp>
      <p:sp>
        <p:nvSpPr>
          <p:cNvPr id="13" name="card_375"/>
          <p:cNvSpPr/>
          <p:nvPr/>
        </p:nvSpPr>
        <p:spPr>
          <a:xfrm>
            <a:off x="6255868" y="1600200"/>
            <a:ext cx="2533574" cy="3108960"/>
          </a:xfrm>
          <a:prstGeom prst="roundRect">
            <a:avLst>
              <a:gd name="adj" fmla="val 2887"/>
            </a:avLst>
          </a:prstGeom>
          <a:solidFill>
            <a:schemeClr val="bg2"/>
          </a:solidFill>
          <a:ln w="12700">
            <a:solidFill>
              <a:schemeClr val="bg2"/>
            </a:solidFill>
            <a:prstDash val="solid"/>
          </a:ln>
        </p:spPr>
      </p:sp>
      <p:sp>
        <p:nvSpPr>
          <p:cNvPr id="14" name="dot_376"/>
          <p:cNvSpPr/>
          <p:nvPr/>
        </p:nvSpPr>
        <p:spPr>
          <a:xfrm>
            <a:off x="6530188" y="1874520"/>
            <a:ext cx="868680" cy="868680"/>
          </a:xfrm>
          <a:prstGeom prst="ellipse">
            <a:avLst/>
          </a:prstGeom>
          <a:solidFill>
            <a:srgbClr val="13294B"/>
          </a:solidFill>
          <a:ln w="12700">
            <a:solidFill>
              <a:srgbClr val="FFFFFF"/>
            </a:solidFill>
            <a:prstDash val="solid"/>
          </a:ln>
        </p:spPr>
      </p:sp>
      <p:sp>
        <p:nvSpPr>
          <p:cNvPr id="15" name="text_377"/>
          <p:cNvSpPr txBox="1"/>
          <p:nvPr/>
        </p:nvSpPr>
        <p:spPr>
          <a:xfrm>
            <a:off x="6530188" y="1874520"/>
            <a:ext cx="868680" cy="8686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W12</a:t>
            </a:r>
            <a:endParaRPr lang="en-US" sz="1400" dirty="0"/>
          </a:p>
        </p:txBody>
      </p:sp>
      <p:sp>
        <p:nvSpPr>
          <p:cNvPr id="16" name="text_378"/>
          <p:cNvSpPr txBox="1"/>
          <p:nvPr/>
        </p:nvSpPr>
        <p:spPr>
          <a:xfrm>
            <a:off x="6530188" y="2971800"/>
            <a:ext cx="1984934" cy="15544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Web prototype: upload image → OCR → answer in Vietnamese</a:t>
            </a:r>
            <a:endParaRPr lang="en-US" sz="1500" dirty="0"/>
          </a:p>
        </p:txBody>
      </p:sp>
      <p:sp>
        <p:nvSpPr>
          <p:cNvPr id="17" name="card_379"/>
          <p:cNvSpPr/>
          <p:nvPr/>
        </p:nvSpPr>
        <p:spPr>
          <a:xfrm>
            <a:off x="9109481" y="1600200"/>
            <a:ext cx="2533574" cy="3108960"/>
          </a:xfrm>
          <a:prstGeom prst="roundRect">
            <a:avLst>
              <a:gd name="adj" fmla="val 2887"/>
            </a:avLst>
          </a:prstGeom>
          <a:solidFill>
            <a:schemeClr val="bg2"/>
          </a:solidFill>
          <a:ln w="12700">
            <a:solidFill>
              <a:schemeClr val="bg2"/>
            </a:solidFill>
            <a:prstDash val="solid"/>
          </a:ln>
        </p:spPr>
      </p:sp>
      <p:sp>
        <p:nvSpPr>
          <p:cNvPr id="18" name="dot_380"/>
          <p:cNvSpPr/>
          <p:nvPr/>
        </p:nvSpPr>
        <p:spPr>
          <a:xfrm>
            <a:off x="9383801" y="1874520"/>
            <a:ext cx="868680" cy="868680"/>
          </a:xfrm>
          <a:prstGeom prst="ellipse">
            <a:avLst/>
          </a:prstGeom>
          <a:solidFill>
            <a:srgbClr val="13294B"/>
          </a:solidFill>
          <a:ln w="12700">
            <a:solidFill>
              <a:srgbClr val="FFFFFF"/>
            </a:solidFill>
            <a:prstDash val="solid"/>
          </a:ln>
        </p:spPr>
      </p:sp>
      <p:sp>
        <p:nvSpPr>
          <p:cNvPr id="19" name="text_381"/>
          <p:cNvSpPr txBox="1"/>
          <p:nvPr/>
        </p:nvSpPr>
        <p:spPr>
          <a:xfrm>
            <a:off x="9383801" y="1874520"/>
            <a:ext cx="868680" cy="8686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W13</a:t>
            </a:r>
            <a:endParaRPr lang="en-US" sz="1400" dirty="0"/>
          </a:p>
        </p:txBody>
      </p:sp>
      <p:sp>
        <p:nvSpPr>
          <p:cNvPr id="20" name="text_382"/>
          <p:cNvSpPr txBox="1"/>
          <p:nvPr/>
        </p:nvSpPr>
        <p:spPr>
          <a:xfrm>
            <a:off x="9383801" y="2971800"/>
            <a:ext cx="1984934" cy="155448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Review 3: this deck + Part C (final results, ablations, error analysis, live demo)</a:t>
            </a:r>
            <a:endParaRPr lang="en-US" sz="1500" dirty="0"/>
          </a:p>
        </p:txBody>
      </p:sp>
      <p:sp>
        <p:nvSpPr>
          <p:cNvPr id="21" name="text_383"/>
          <p:cNvSpPr txBox="1"/>
          <p:nvPr/>
        </p:nvSpPr>
        <p:spPr>
          <a:xfrm>
            <a:off x="548640" y="5029200"/>
            <a:ext cx="11094415" cy="411480"/>
          </a:xfrm>
          <a:prstGeom prst="rect">
            <a:avLst/>
          </a:prstGeom>
          <a:noFill/>
          <a:ln/>
        </p:spPr>
        <p:txBody>
          <a:bodyPr wrap="square" lIns="0" tIns="0" rIns="0" bIns="0" rtlCol="0" anchor="t"/>
          <a:lstStyle/>
          <a:p>
            <a:pPr indent="0" marL="0">
              <a:buNone/>
            </a:pPr>
            <a:r>
              <a:rPr lang="en-US" sz="1400" dirty="0">
                <a:solidFill>
                  <a:schemeClr val="accent3"/>
                </a:solidFill>
                <a:latin typeface="Calibri" pitchFamily="34" charset="0"/>
                <a:ea typeface="Calibri" pitchFamily="34" charset="-122"/>
                <a:cs typeface="Calibri" pitchFamily="34" charset="-120"/>
              </a:rPr>
              <a:t>All runs keep the frozen protocol, PEFT only, and pre-registered decision rules.</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1554480"/>
            <a:ext cx="11094415" cy="109728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Thank you</a:t>
            </a:r>
            <a:endParaRPr lang="en-US" sz="5400" dirty="0"/>
          </a:p>
        </p:txBody>
      </p:sp>
      <p:sp>
        <p:nvSpPr>
          <p:cNvPr id="3" name="Text 0"/>
          <p:cNvSpPr/>
          <p:nvPr>
            <p:ph idx="101" type="body" hasCustomPrompt="1"/>
          </p:nvPr>
        </p:nvSpPr>
        <p:spPr>
          <a:xfrm>
            <a:off x="548640" y="2743200"/>
            <a:ext cx="11094415" cy="3291840"/>
          </a:xfrm>
          <a:prstGeom prst="rect">
            <a:avLst/>
          </a:prstGeom>
          <a:noFill/>
          <a:ln/>
        </p:spPr>
        <p:txBody>
          <a:bodyPr wrap="square" lIns="0" tIns="0" rIns="0" bIns="0" rtlCol="0" anchor="t"/>
          <a:lstStyle/>
          <a:p>
            <a:pPr algn="l" indent="0" marL="0">
              <a:buNone/>
            </a:pPr>
            <a:r>
              <a:rPr lang="en-US" sz="2000" dirty="0">
                <a:solidFill>
                  <a:schemeClr val="bg1"/>
                </a:solidFill>
                <a:latin typeface="Calibri" pitchFamily="34" charset="0"/>
                <a:ea typeface="Calibri" pitchFamily="34" charset="-122"/>
                <a:cs typeface="Calibri" pitchFamily="34" charset="-120"/>
              </a:rPr>
              <a:t>We welcome your feedback.</a:t>
            </a:r>
            <a:endParaRPr lang="en-US" sz="1800" dirty="0"/>
          </a:p>
          <a:p>
            <a:pPr algn="l" indent="0" marL="0">
              <a:buNone/>
            </a:pPr>
            <a:r>
              <a:rPr lang="en-US" sz="1200" dirty="0">
                <a:solidFill>
                  <a:schemeClr val="bg1"/>
                </a:solidFill>
                <a:latin typeface="Calibri" pitchFamily="34" charset="0"/>
                <a:ea typeface="Calibri" pitchFamily="34" charset="-122"/>
                <a:cs typeface="Calibri" pitchFamily="34" charset="-120"/>
              </a:rPr>
              <a:t> </a:t>
            </a:r>
            <a:endParaRPr lang="en-US" sz="1800" dirty="0"/>
          </a:p>
          <a:p>
            <a:pPr algn="l" indent="0" marL="0">
              <a:buNone/>
            </a:pPr>
            <a:r>
              <a:rPr lang="en-US" sz="1500" dirty="0">
                <a:solidFill>
                  <a:srgbClr val="A8C4E0"/>
                </a:solidFill>
                <a:latin typeface="Calibri" pitchFamily="34" charset="0"/>
                <a:ea typeface="Calibri" pitchFamily="34" charset="-122"/>
                <a:cs typeface="Calibri" pitchFamily="34" charset="-120"/>
              </a:rPr>
              <a:t>Every number in this talk comes from a logged, reproducible run (fixed seed, config and evaluation protocol).</a:t>
            </a:r>
            <a:endParaRPr lang="en-US" sz="1800" dirty="0"/>
          </a:p>
        </p:txBody>
      </p:sp>
    </p:spTree>
  </p:cSld>
  <p:clrMapOvr>
    <a:masterClrMapping/>
  </p:clrMapOvr>
</p:sld>
</file>

<file path=ppt/theme/theme1.xml><?xml version="1.0" encoding="utf-8"?>
<a:theme xmlns:a="http://schemas.openxmlformats.org/drawingml/2006/main" name="ViVQA-VLM Review">
  <a:themeElements>
    <a:clrScheme name="ViVQA-VLM Review">
      <a:dk1>
        <a:srgbClr val="243044"/>
      </a:dk1>
      <a:lt1>
        <a:srgbClr val="FFFFFF"/>
      </a:lt1>
      <a:dk2>
        <a:srgbClr val="13294B"/>
      </a:dk2>
      <a:lt2>
        <a:srgbClr val="F3F5F8"/>
      </a:lt2>
      <a:accent1>
        <a:srgbClr val="1C7293"/>
      </a:accent1>
      <a:accent2>
        <a:srgbClr val="E8A33D"/>
      </a:accent2>
      <a:accent3>
        <a:srgbClr val="6B7280"/>
      </a:accent3>
      <a:accent4>
        <a:srgbClr val="E7F0F3"/>
      </a:accent4>
      <a:accent5>
        <a:srgbClr val="FBF0DA"/>
      </a:accent5>
      <a:accent6>
        <a:srgbClr val="B42318"/>
      </a:accent6>
      <a:hlink>
        <a:srgbClr val="1C7293"/>
      </a:hlink>
      <a:folHlink>
        <a:srgbClr val="13294B"/>
      </a:folHlink>
    </a:clrScheme>
    <a:fontScheme name="ViVQA-VLM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ViVQA-VLM Review 2 (cumulative)</dc:title>
  <dc:subject>PptxGenJS Presentation</dc:subject>
  <dc:creator>Phạm Lê Huy Hoàng</dc:creator>
  <cp:lastModifiedBy>Phạm Lê Huy Hoàng</cp:lastModifiedBy>
  <cp:revision>1</cp:revision>
  <dcterms:created xsi:type="dcterms:W3CDTF">2026-10-20T12:01:18Z</dcterms:created>
  <dcterms:modified xsi:type="dcterms:W3CDTF">2026-10-20T12:01:18Z</dcterms:modified>
</cp:coreProperties>
</file>