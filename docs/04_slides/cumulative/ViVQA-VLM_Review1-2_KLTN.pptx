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
  </p:notesMasterIdLst>
  <p:sldIdLst>
    <p:sldId id="256" r:id="rId3"/>
    <p:sldId id="292" r:id="rId39"/>
    <p:sldId id="294" r:id="rId58"/>
    <p:sldId id="257" r:id="rId5"/>
    <p:sldId id="265" r:id="rId13"/>
    <p:sldId id="266" r:id="rId14"/>
    <p:sldId id="296" r:id="rId60"/>
    <p:sldId id="268" r:id="rId16"/>
    <p:sldId id="269" r:id="rId17"/>
    <p:sldId id="260" r:id="rId8"/>
    <p:sldId id="270" r:id="rId18"/>
    <p:sldId id="261" r:id="rId9"/>
    <p:sldId id="271" r:id="rId19"/>
    <p:sldId id="262" r:id="rId10"/>
    <p:sldId id="263" r:id="rId11"/>
    <p:sldId id="272" r:id="rId20"/>
    <p:sldId id="293" r:id="rId40"/>
    <p:sldId id="295" r:id="rId59"/>
    <p:sldId id="274" r:id="rId21"/>
    <p:sldId id="275" r:id="rId22"/>
    <p:sldId id="267" r:id="rId15"/>
    <p:sldId id="276" r:id="rId23"/>
    <p:sldId id="258" r:id="rId6"/>
    <p:sldId id="277" r:id="rId24"/>
    <p:sldId id="259" r:id="rId7"/>
    <p:sldId id="278" r:id="rId25"/>
    <p:sldId id="279" r:id="rId26"/>
    <p:sldId id="297" r:id="rId61"/>
    <p:sldId id="280" r:id="rId27"/>
    <p:sldId id="281" r:id="rId28"/>
    <p:sldId id="282" r:id="rId29"/>
    <p:sldId id="283" r:id="rId30"/>
    <p:sldId id="284" r:id="rId31"/>
    <p:sldId id="285" r:id="rId32"/>
    <p:sldId id="286" r:id="rId33"/>
    <p:sldId id="287" r:id="rId34"/>
    <p:sldId id="298" r:id="rId62"/>
    <p:sldId id="299" r:id="rId63"/>
    <p:sldId id="288" r:id="rId35"/>
    <p:sldId id="300" r:id="rId64"/>
    <p:sldId id="301" r:id="rId65"/>
    <p:sldId id="289" r:id="rId36"/>
    <p:sldId id="291" r:id="rId38"/>
    <p:sldId id="290" r:id="rId37"/>
  </p:sldIdLst>
  <p:sldSz cx="18288000" cy="10287000"/>
  <p:notesSz cx="6858000" cy="9144000"/>
  <p:embeddedFontLst>
    <p:embeddedFont>
      <p:font typeface="Noto Sans Bold" panose="020B0802040504020204"/>
      <p:bold r:id="rId44"/>
    </p:embeddedFont>
    <p:embeddedFont>
      <p:font typeface="Noto Sans" panose="020B0502040504020204"/>
      <p:regular r:id="rId45"/>
    </p:embeddedFont>
    <p:embeddedFont>
      <p:font typeface="Inter Bold" panose="02000503000000020004"/>
      <p:bold r:id="rId46"/>
    </p:embeddedFont>
    <p:embeddedFont>
      <p:font typeface="Lora Bold" panose="00000800000000000000"/>
      <p:bold r:id="rId47"/>
    </p:embeddedFont>
    <p:embeddedFont>
      <p:font typeface="Inter" panose="02000503000000020004"/>
      <p:regular r:id="rId48"/>
    </p:embeddedFont>
    <p:embeddedFont>
      <p:font typeface="Calibri (MS) Bold" panose="020F0702030404030204"/>
      <p:bold r:id="rId49"/>
    </p:embeddedFont>
    <p:embeddedFont>
      <p:font typeface="Cambria Bold" panose="02040803050406030204"/>
      <p:bold r:id="rId50"/>
    </p:embeddedFont>
    <p:embeddedFont>
      <p:font typeface="Calibri (MS)" panose="020F0502020204030204"/>
      <p:regular r:id="rId51"/>
    </p:embeddedFont>
    <p:embeddedFont>
      <p:font typeface="Calibri (MS) Italics" panose="020F05020202040A0204"/>
      <p:italic r:id="rId52"/>
    </p:embeddedFont>
    <p:embeddedFont>
      <p:font typeface="Calibri" panose="020F0502020204030204" charset="0"/>
      <p:regular r:id="rId53"/>
      <p:bold r:id="rId54"/>
      <p:italic r:id="rId55"/>
      <p:boldItalic r:id="rId56"/>
    </p:embeddedFont>
    <p:embeddedFont>
      <p:font typeface="Courier New Bold" panose="02070609020205020404"/>
      <p:bold r:id="rId5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4.xml"/><Relationship Id="rId6" Type="http://schemas.openxmlformats.org/officeDocument/2006/relationships/slide" Target="slides/slide23.xml"/><Relationship Id="rId7" Type="http://schemas.openxmlformats.org/officeDocument/2006/relationships/slide" Target="slides/slide25.xml"/><Relationship Id="rId8" Type="http://schemas.openxmlformats.org/officeDocument/2006/relationships/slide" Target="slides/slide10.xml"/><Relationship Id="rId9" Type="http://schemas.openxmlformats.org/officeDocument/2006/relationships/slide" Target="slides/slide12.xml"/><Relationship Id="rId10" Type="http://schemas.openxmlformats.org/officeDocument/2006/relationships/slide" Target="slides/slide14.xml"/><Relationship Id="rId11" Type="http://schemas.openxmlformats.org/officeDocument/2006/relationships/slide" Target="slides/slide15.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21.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1.xml"/><Relationship Id="rId19" Type="http://schemas.openxmlformats.org/officeDocument/2006/relationships/slide" Target="slides/slide13.xml"/><Relationship Id="rId20" Type="http://schemas.openxmlformats.org/officeDocument/2006/relationships/slide" Target="slides/slide16.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2.xml"/><Relationship Id="rId24" Type="http://schemas.openxmlformats.org/officeDocument/2006/relationships/slide" Target="slides/slide24.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9.xml"/><Relationship Id="rId36" Type="http://schemas.openxmlformats.org/officeDocument/2006/relationships/slide" Target="slides/slide42.xml"/><Relationship Id="rId37" Type="http://schemas.openxmlformats.org/officeDocument/2006/relationships/slide" Target="slides/slide44.xml"/><Relationship Id="rId38" Type="http://schemas.openxmlformats.org/officeDocument/2006/relationships/slide" Target="slides/slide43.xml"/><Relationship Id="rId39" Type="http://schemas.openxmlformats.org/officeDocument/2006/relationships/slide" Target="slides/slide2.xml"/><Relationship Id="rId40" Type="http://schemas.openxmlformats.org/officeDocument/2006/relationships/slide" Target="slides/slide17.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ableStyles" Target="tableStyles.xml"/><Relationship Id="rId44" Type="http://schemas.openxmlformats.org/officeDocument/2006/relationships/font" Target="fonts/font1.fntdata"/><Relationship Id="rId45" Type="http://schemas.openxmlformats.org/officeDocument/2006/relationships/font" Target="fonts/font2.fntdata"/><Relationship Id="rId46" Type="http://schemas.openxmlformats.org/officeDocument/2006/relationships/font" Target="fonts/font3.fntdata"/><Relationship Id="rId47" Type="http://schemas.openxmlformats.org/officeDocument/2006/relationships/font" Target="fonts/font4.fntdata"/><Relationship Id="rId48" Type="http://schemas.openxmlformats.org/officeDocument/2006/relationships/font" Target="fonts/font5.fntdata"/><Relationship Id="rId49" Type="http://schemas.openxmlformats.org/officeDocument/2006/relationships/font" Target="fonts/font6.fntdata"/><Relationship Id="rId50" Type="http://schemas.openxmlformats.org/officeDocument/2006/relationships/font" Target="fonts/font7.fntdata"/><Relationship Id="rId51" Type="http://schemas.openxmlformats.org/officeDocument/2006/relationships/font" Target="fonts/font8.fntdata"/><Relationship Id="rId52" Type="http://schemas.openxmlformats.org/officeDocument/2006/relationships/font" Target="fonts/font9.fntdata"/><Relationship Id="rId53" Type="http://schemas.openxmlformats.org/officeDocument/2006/relationships/font" Target="fonts/font10.fntdata"/><Relationship Id="rId54" Type="http://schemas.openxmlformats.org/officeDocument/2006/relationships/font" Target="fonts/font11.fntdata"/><Relationship Id="rId55" Type="http://schemas.openxmlformats.org/officeDocument/2006/relationships/font" Target="fonts/font12.fntdata"/><Relationship Id="rId56" Type="http://schemas.openxmlformats.org/officeDocument/2006/relationships/font" Target="fonts/font13.fntdata"/><Relationship Id="rId57" Type="http://schemas.openxmlformats.org/officeDocument/2006/relationships/font" Target="fonts/font14.fntdata"/><Relationship Id="rId58" Type="http://schemas.openxmlformats.org/officeDocument/2006/relationships/slide" Target="slides/slide3.xml"/><Relationship Id="rId59" Type="http://schemas.openxmlformats.org/officeDocument/2006/relationships/slide" Target="slides/slide18.xml"/><Relationship Id="rId60" Type="http://schemas.openxmlformats.org/officeDocument/2006/relationships/slide" Target="slides/slide7.xml"/><Relationship Id="rId61" Type="http://schemas.openxmlformats.org/officeDocument/2006/relationships/slide" Target="slides/slide28.xml"/><Relationship Id="rId62" Type="http://schemas.openxmlformats.org/officeDocument/2006/relationships/slide" Target="slides/slide37.xml"/><Relationship Id="rId63" Type="http://schemas.openxmlformats.org/officeDocument/2006/relationships/slide" Target="slides/slide38.xml"/><Relationship Id="rId64" Type="http://schemas.openxmlformats.org/officeDocument/2006/relationships/slide" Target="slides/slide40.xml"/><Relationship Id="rId65"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[Mở đầu · ~20 giây]</a:t>
            </a:r>
          </a:p>
          <a:p>
            <a:r>
              <a:t>Kính chào thầy cô. Nhóm em là GFA26AI35, đề tài ViVQA-VLM: hỏi đáp hình ảnh tiếng Việt hiệu quả bằng mô hình thị giác–ngôn ngữ, GVHD là thầy Đặng Ngọc Minh Đức và thầy Phạm Minh Trí.</a:t>
            </a:r>
          </a:p>
          <a:p>
            <a:r>
              <a:t>Bộ slide hôm nay là bộ cộng dồn: phần A là nội dung Review 1 đã sửa theo góp ý — xoay quanh phạm vi bài toán; phần B là nội dung mới của Review 2 — hệ thống hiện có (Existing System) và phương pháp (Methodology).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[Nội dung · ~30 giây]</a:t>
            </a:r>
          </a:p>
          <a:p>
            <a:r>
              <a:t>Bộ slide có hai phần. Phần A, slide 3 đến 17, trả lời: nhóm làm bài toán gì, vì sao khó với tiếng Việt, làm trong giới hạn nào. Phần B, slide 18 đến 44, trả lời: các hệ thống hiện có — kể cả baseline nhóm chọn — làm được đến đâu, và nhóm cải tiến bằng phương pháp nào, với bằng chứng gì.</a:t>
            </a:r>
          </a:p>
          <a:p>
            <a:r>
              <a:t>Gợi ý thời gian: phần A đi nhanh (khoảng 1/3 thời gian), chỉ dừng lâu ở các điểm đã sửa theo góp ý; phần lớn thời gian dành cho phần 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 ~5 giây]</a:t>
            </a:r>
          </a:p>
          <a:p>
            <a:r>
              <a:t>"Trước hết là phần A — phạm vi bài toán."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[Phát biểu bài toán · ~1 phút]</a:t>
            </a:r>
          </a:p>
          <a:p>
            <a:r>
              <a:t>Ý chính: ảnh + câu hỏi tiếng Việt → câu trả lời tiếng Việt ngắn.</a:t>
            </a:r>
          </a:p>
          <a:p>
            <a:r>
              <a:t>Cách nói (chỉ hàng trên rồi hàng dưới): Đầu vào là một ảnh và một câu hỏi tiếng Việt. Có hai kiểu ảnh. Hàng trên là ảnh đời thường của ViVQA — hỏi màu chiếc xe đạp. Hàng dưới là ảnh có chữ tiếng Việt của ViTextVQA — hỏi cửa hàng có biển vàng là nơi nào; muốn trả lời phải đọc được chữ trên biển.</a:t>
            </a:r>
          </a:p>
          <a:p>
            <a:r>
              <a:t>Ở giữa là mô hình: Qwen2.5-VL-3B, 3 tỉ tham số, được nén 4-bit và đóng băng; nhóm chỉ train thêm một adapter QLoRA nhỏ, khoảng 0,2% tham số.</a:t>
            </a:r>
          </a:p>
          <a:p>
            <a:r>
              <a:t>Đầu ra là câu trả lời ngắn, so với đáp án chuẩn. ViVQA đáp án rất ngắn nên chấm EM, VQA-Acc. ViTextVQA đáp án là chữ trong ảnh, dài hơn, nên chấm thêm ANLS — chịu được lỗi vài ký tự.</a:t>
            </a:r>
          </a:p>
          <a:p>
            <a:r>
              <a:t>Nếu bị hỏi "vì sao câu trả lời ngắn": 99,83% đáp án ViVQA ≤ 3 từ; bài toán là hỏi đáp, không phải sinh mô tả.</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[V1–V4 · ~1 phút]</a:t>
            </a:r>
          </a:p>
          <a:p>
            <a:r>
              <a:t>Ý chính: vì sao tiếng Việt khó hơn tiếng Anh — bốn vấn đề.</a:t>
            </a:r>
          </a:p>
          <a:p>
            <a:r>
              <a:t>V1: dấu thanh là nét rất nhỏ, sai dấu là đổi nghĩa (má khác mà) — lỗi nhìn ở mức pixel, chuẩn hoá văn bản không sửa được.</a:t>
            </a:r>
          </a:p>
          <a:p>
            <a:r>
              <a:t>V2: model pretrain chủ yếu bằng tiếng Anh/Trung nên hay trả lời tiếng Anh hoặc dài dòng → EM = 0 dù hiểu đúng.</a:t>
            </a:r>
          </a:p>
          <a:p>
            <a:r>
              <a:t>V3: khoảng trắng tiếng Việt tách âm tiết chứ không tách từ; đọc sai thứ tự chữ làm vỡ từ.</a:t>
            </a:r>
          </a:p>
          <a:p>
            <a:r>
              <a:t>V4: hallucination — trả lời trôi chảy nhưng không có trong ảnh.</a:t>
            </a:r>
          </a:p>
          <a:p>
            <a:r>
              <a:t>Hai ô dưới (đây là góp ý số 2 của phản biện): chuẩn hoá NFC, chữ thường, resize ảnh chỉ là tiền xử lý bắt buộc, không phải đóng góp. Vấn đề nghiên cứu là đọc đúng chữ có dấu, trả lời đúng ngôn ngữ và định dạng, không bịa — và đạt được chỉ bằng PEFT trên một GPU.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trống · ~1 phút]</a:t>
            </a:r>
          </a:p>
          <a:p>
            <a:r>
              <a:t>Bốn khoảng trống, G3 là trọng tâm.</a:t>
            </a:r>
          </a:p>
          <a:p>
            <a:r>
              <a:t>G1: alignment của VLM tối ưu cho tiếng Anh. G2: VQA tiếng Việt còn yếu, nhất là ảnh có chữ — SOTA công bố trên ViTextVQA chỉ 25,48 EM so với 88 của con người. G3 — trọng tâm: chưa có nghiên cứu hệ thống dùng LoRA/QLoRA cho VLM trên VQA tiếng Việt; ba paper VQA tiếng Việt nhóm khảo sát đều không dùng PEFT. G4: chưa có đánh giá hallucination kiểu POPE cho tiếng Việt.</a:t>
            </a:r>
          </a:p>
          <a:p>
            <a:r>
              <a:t>Dòng cuối là "bản đồ": G2 được trả lời ở slide 34–37 (QLoRA nhận biết OCR), G3 ở slide 29–30 (QLoRA), G4 ở slide 33 và 42.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và ngoài phạm vi · ~1 phút — slide mới, trả lời thẳng "phạm vi bài toán"]</a:t>
            </a:r>
          </a:p>
          <a:p>
            <a:r>
              <a:t>Hàng trên là những gì nằm trong phạm vi: dữ liệu là hai benchmark công khai với split cố định; mô hình là một baseline mở Qwen2.5-VL-3B, chỉ PEFT; đánh giá bằng EM, VQA-Acc, ANLS cộng ablation, phân tích lỗi, hallucination — tất cả trên một GPU Colab.</a:t>
            </a:r>
          </a:p>
          <a:p>
            <a:r>
              <a:t>Ô trái dưới — ngoài phạm vi: full fine-tuning; câu trả lời dài, giải thích, hội thoại nhiều lượt; video; ngôn ngữ khác; tự train lại OCR. RAG tri thức ngoài chỉ làm nếu phân tích lỗi đòi hỏi.</a:t>
            </a:r>
          </a:p>
          <a:p>
            <a:r>
              <a:t>Ô phải dưới — tiêu chí thành công đo được: tái lập baseline khớp số công bố trong ±2 điểm; ít nhất một cải tiến hơn baseline, p &lt; 0,05, cùng điều kiện; có đủ ablation, lỗi, hallucination; prototype chạy được.</a:t>
            </a:r>
          </a:p>
          <a:p>
            <a:r>
              <a:t>Nếu bị hỏi "vì sao không full fine-tune": đó là ràng buộc của đề cương và của phần cứng; mục tiêu đề tài là hiệu quả.</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nghiên cứu · ~45 giây]</a:t>
            </a:r>
          </a:p>
          <a:p>
            <a:r>
              <a:t>Bốn câu hỏi, RQ2 là trung tâm.</a:t>
            </a:r>
          </a:p>
          <a:p>
            <a:r>
              <a:t>RQ1: zero-shot làm được bao nhiêu, lỗi tiếng Việt nào chiếm ưu thế, prompt có giúp không. RQ2: QLoRA cải thiện bao nhiêu so với zero-shot mà không full fine-tune. RQ3: chữ OCR tiếng Việt có giúp đọc chữ trong ảnh không, và có cộng hưởng với QLoRA không. RQ4: sau QLoRA, model bịa nhiều hơn hay ít hơn.</a:t>
            </a:r>
          </a:p>
          <a:p>
            <a:r>
              <a:t>Nhấn: mỗi câu hỏi ghi rõ đo bằng metric gì — câu nào cũng kiểm chứng được.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 thuyết · ~1 phút]</a:t>
            </a:r>
          </a:p>
          <a:p>
            <a:r>
              <a:t>Mỗi giả thuyết có ngưỡng chốt trước khi chạy và gắn một vấn đề tiếng Việt.</a:t>
            </a:r>
          </a:p>
          <a:p>
            <a:r>
              <a:t>H1: QLoRA tăng ít nhất 5 điểm EM so với chính model đó zero-shot. H2: chữ OCR có dấu trong prompt tăng ít nhất 3 điểm ANLS và tốt nhất khi kết hợp QLoRA. H3: prompt định dạng tiếng Việt tăng ít nhất 3 điểm EM. H4: QLoRA không làm tăng hallucination.</a:t>
            </a:r>
          </a:p>
          <a:p>
            <a:r>
              <a:t>Hai ô dưới (góp ý số 3): 4-bit/16-bit không còn là giả thuyết mà là số đo hiệu quả; cấu hình LoRA chuyển thành ablation A1, A2; bảng đối chiếu cách đánh số cũ sang mới. Kết quả từng giả thuyết ở slide 42.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 ~1 phút]</a:t>
            </a:r>
          </a:p>
          <a:p>
            <a:r>
              <a:t>ViVQA: 15.000 cặp hỏi–đáp trên 10.328 ảnh COCO; bản gốc chỉ có train/test nên nhóm tách val 1.200 câu từ train, seed 42. ViTextVQA: 50.342 cặp, 16.762 ảnh có chữ tiếng Việt, dùng split chính thức của tác giả.</a:t>
            </a:r>
          </a:p>
          <a:p>
            <a:r>
              <a:t>Đặc điểm đáp án quyết định metric: ViVQA rất ngắn → EM/VQA-Acc; ViTextVQA dài hơn, đọc từ ảnh → thêm ANLS.</a:t>
            </a:r>
          </a:p>
          <a:p>
            <a:r>
              <a:t>Dải dưới trả lời góp ý số 9: tiền xử lý trước, rồi mới cố định split; chọn cấu hình chỉ trên val/dev; test chỉ dùng để báo cáo, không dùng để chọn.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&amp; QLoRA · ~1 phút — đây là chỗ baseline xuất hiện trong phần phạm vi]</a:t>
            </a:r>
          </a:p>
          <a:p>
            <a:r>
              <a:t>Ở phần phạm vi, nhóm chỉ nói baseline LÀ GÌ và DÙNG ĐỂ LÀM GÌ; còn baseline hoạt động THẾ NÀO và có chạy ĐÚNG không thì để phần B (slide 23, 25).</a:t>
            </a:r>
          </a:p>
          <a:p>
            <a:r>
              <a:t>Bảng phải: Qwen2.5-VL-3B là baseline nhóm tái lập và cũng là nền của phương pháp đề xuất — chỉ mô hình này được dùng để kết luận cải tiến. Qwen2-VL-7B chỉ là ablation backbone zero-shot; Florence-2 là dự phòng; BLIP-2, PreSTU, ViTextBLIP-2 là công trình trước, chỉ để định vị.</a:t>
            </a:r>
          </a:p>
          <a:p>
            <a:r>
              <a:t>Ô trái trên: QLoRA nén trọng số gốc 4-bit NF4 và đóng băng; mỗi lớp đích gắn hai ma trận nhỏ A·B, chỉ A và B được train → adapter khoảng 30 MB.</a:t>
            </a:r>
          </a:p>
          <a:p>
            <a:r>
              <a:t>Ô vàng (góp ý số 5, 6): vì sao không so LoRA với QLoRA — model 3B ở 16-bit cần 7–8 GB chưa tính ảnh, lúc đó GPU là T4 → QLoRA là điều kiện để chạy được, không phải biến so sánh. Nguyên tắc: chỉ kết luận cải thiện khi cùng backbone, split, seed, phần cứng.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[Phương pháp đề xuất · ~1,5 phút]</a:t>
            </a:r>
          </a:p>
          <a:p>
            <a:r>
              <a:t>Một câu: QLoRA trên Qwen2.5-VL-3B cộng prompt tiếng Việt có chữ OCR.</a:t>
            </a:r>
          </a:p>
          <a:p>
            <a:r>
              <a:t>Đi theo ba khối. A — chuẩn bị dữ liệu, chạy một lần rồi cache: dữ liệu → tiền xử lý → OCR (chỉ ViTextVQA; VietOCR, sắp trái-trên → phải-dưới) → chia tập cố định.</a:t>
            </a:r>
          </a:p>
          <a:p>
            <a:r>
              <a:t>B — huấn luyện và suy luận, giống hệt cho mọi run: ghép prompt (ảnh + câu hỏi + một dòng OCR) → Qwen2.5-VL: encoder ảnh đóng băng, LLM 4-bit đóng băng + LoRA r = 16. Khi train, loss chỉ tính trên token đáp án; khi suy luận, greedy, trả lời ngắn.</a:t>
            </a:r>
          </a:p>
          <a:p>
            <a:r>
              <a:t>C — chấm điểm sau cùng một bước chuẩn hoá, phân tích lỗi, hallucination, và prototype web.</a:t>
            </a:r>
          </a:p>
          <a:p>
            <a:r>
              <a:t>Nhấn: bước 1–4 cố định nên mọi so sánh chỉ khác đúng một yếu tố (góp ý số 4: đã có một phương pháp và hình pipeline).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[Ngân sách token &amp; RAG · ~45 giây — góp ý số 8]</a:t>
            </a:r>
          </a:p>
          <a:p>
            <a:r>
              <a:t>Mỗi mẫu: token ảnh bị chặn bởi max_pixels → tối đa 512; câu hỏi vài chục token; một dòng OCR; đầu ra tối đa 32 token → tổng dưới khoảng 1.000 token, nhỏ hơn nhiều context window; giới hạn thật là VRAM.</a:t>
            </a:r>
          </a:p>
          <a:p>
            <a:r>
              <a:t>RAG: chữ OCR trong prompt đã là "truy xuất bằng chứng" từ chính ảnh. RAG tri thức ngoài chỉ làm nếu phân tích lỗi cho thấy nhiều câu sai do thiếu tri thức ngoài ảnh. Duyệt 200 lỗi (slide 33) cho thấy lỗi chủ yếu là đọc chữ và định dạng → chưa kích hoạt RAG.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[Sản phẩm &amp; giá trị · ~45 giây]</a:t>
            </a:r>
          </a:p>
          <a:p>
            <a:r>
              <a:t>Ba sản phẩm: (1) đóng góp nghiên cứu — ít nhất một cải tiến PEFT đã kiểm chứng so với baseline tái lập, kèm ablation, phân tích lỗi, hallucination; (2) prototype web — tải ảnh, hỏi tiếng Việt, nhận câu trả lời kèm chữ OCR làm bằng chứng; (3) luận văn và gói tái lập: code, adapter, config, log.</a:t>
            </a:r>
          </a:p>
          <a:p>
            <a:r>
              <a:t>Giá trị thực tiễn: đọc biển hiệu, nhãn hàng, giá cả; hỗ trợ người khiếm thị; thực đơn, biểu mẫu. Ý nghĩa khoa học: nghiên cứu PEFT có hệ thống cho VLM tiếng Việt, xử lý đặc thù tiếng Việt, đo hallucination cho VQA tiếng Việt.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 hoạch · ~45 giây — góp ý số 10]</a:t>
            </a:r>
          </a:p>
          <a:p>
            <a:r>
              <a:t>Cột mới "Đầu ra · trạng thái" trả lời góp ý: kế hoạch phải có đầu ra kiểm chứng được. Bốn mốc: Review 1 (W3), Review 2 (W8), Review 3 (W13), bảo vệ (W15).</a:t>
            </a:r>
          </a:p>
          <a:p>
            <a:r>
              <a:t>Đến Review 2: W1–W8 đã xong. Phần thí nghiệm của W9–W10 (B3 toàn bộ dữ liệu, ablation LoRA, đánh giá đầy đủ, adapter dùng chung) đã làm sớm — kết quả có ở phần B. Vì vậy hallucination và phân tích lỗi được dời lên W9–W10, prototype dời lên W11–12.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[Rủi ro &amp; ràng buộc · ~45 giây]</a:t>
            </a:r>
          </a:p>
          <a:p>
            <a:r>
              <a:t>Đọc cột trạng thái: các rủi ro mức cao đều đã khử — OOM (train ≤ 7 GB VRAM nhờ QLoRA), Colab ngắt (resume từ checkpoint đã kiểm), baseline khó tái lập (đã tái lập 79,6 so với 79,3), train không hội tụ (không xảy ra). Còn mở: chất lượng OCR vẫn là nguồn lỗi chính.</a:t>
            </a:r>
          </a:p>
          <a:p>
            <a:r>
              <a:t>Ô phải là ràng buộc bắt buộc: chỉ PEFT; tái lập baseline trước rồi mới cải tiến; cùng split, seed, phần cứng cho mọi so sánh; log VRAM và thời gian mỗi run.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[Tiếp thu góp ý Review 1 · ~20 giây]</a:t>
            </a:r>
          </a:p>
          <a:p>
            <a:r>
              <a:t>Không đọc hết bảng. Chỉ nói: "Mười góp ý của phản biện ngày 24/09 đều đã được xử lý; cột cuối là slide tương ứng để thầy cô tra cứu." Nếu hội đồng hỏi góp ý nào thì chỉ vào cột Slide và mở slide đó.</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 ~10 giây]</a:t>
            </a:r>
          </a:p>
          <a:p>
            <a:r>
              <a:t>"Phần B — nội dung chính của Review 2: hệ thống hiện có và phương pháp."</a:t>
            </a:r>
          </a:p>
          <a:p>
            <a:r>
              <a:t>Logic của phần B: trước tiên xem các hệ thống hiện có — công trình trước và baseline nhóm tái lập — làm được đến đâu và yếu ở đâu; sau đó là phương pháp nhóm dùng để sửa đúng những điểm yếu đó.</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 ~45 giây — nói 4 con số trước khi vào chi tiết]</a:t>
            </a:r>
          </a:p>
          <a:p>
            <a:r>
              <a:t>79,6: pipeline của nhóm tái lập đúng số công bố của Qwen2.5-VL-3B (79,3).</a:t>
            </a:r>
          </a:p>
          <a:p>
            <a:r>
              <a:t>+21,1: QLoRA tăng EM so với zero-shot trên full test ViTextVQA (+51,7 ở ViVQA).</a:t>
            </a:r>
          </a:p>
          <a:p>
            <a:r>
              <a:t>53,4: EM của phương pháp đề xuất B3-full trên full test ViTextVQA, so với 25,5 của SOTA công bố.</a:t>
            </a:r>
          </a:p>
          <a:p>
            <a:r>
              <a:t>+3,1: riêng phần đóng góp của OCR — cùng QLoRA, cùng toàn bộ dữ liệu, thêm OCR tăng 3,1 EM.</a:t>
            </a:r>
          </a:p>
          <a:p>
            <a:r>
              <a:t>Dòng dưới: tất cả chỉ train 0,196% tham số; và một adapter dùng chung cho cả hai dataset không kém adapter riêng.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[Góp ý GVHD 07/10 · ~30 giây]</a:t>
            </a:r>
          </a:p>
          <a:p>
            <a:r>
              <a:t>Năm góp ý của thầy Trí và việc nhóm đã làm, kèm slide: sơ đồ kiến trúc baseline (23); giải thích dataset và nhiễu (22, 7); chạy lại baseline với phương pháp đánh giá rõ ràng (24–26); nắm SOTA (21, 27, 31–32); chạy thí nghiệm rồi mới bàn cải tiến (29–41). Thứ tự phần B đi đúng theo thứ tự các góp ý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1 · công trình trước &amp; SOTA · ~1 phút]</a:t>
            </a:r>
          </a:p>
          <a:p>
            <a:r>
              <a:t>ViTextVQA: BLIP-2 15,58 EM; PreSTU 22,64; ViTextBLIP-2 — SOTA — 25,48 EM / 53,95 F1; con người 88. ViVQA: các công trình dùng accuracy phân loại trên tập nhãn cố định (71,04 và 62,41).</a:t>
            </a:r>
          </a:p>
          <a:p>
            <a:r>
              <a:t>Lưu ý: metric và thiết lập khác nhau nên chỉ để định vị, không so trực tiếp.</a:t>
            </a:r>
          </a:p>
          <a:p>
            <a:r>
              <a:t>Bài học: ViTextBLIP-2 chỉ train khoảng 5% tham số mà vẫn thắng mô hình full fine-tune → ủng hộ hướng PEFT của nhóm.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2 · dữ liệu benchmark có nhiễu · ~1 phút]</a:t>
            </a:r>
          </a:p>
          <a:p>
            <a:r>
              <a:t>ViVQA được tạo từ COCO-QA: câu hỏi sinh tự động rồi dịch bằng Google Translate → các điểm nhiễu N1–N4 (ví dụ purple dịch thành "tía").</a:t>
            </a:r>
          </a:p>
          <a:p>
            <a:r>
              <a:t>Kiểm tra rò rỉ: ở ViVQA, 1.274/2.789 ảnh test cũng có trong train, 99,4% đáp án test thuộc 333 đáp án của train — từ vựng đóng. ViTextVQA không có ảnh trùng → phép thử tổng quát hoá sạch hơn. Vì vậy nhóm luôn báo cáo thêm phần test sạch của ViVQA (slide 30).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3 · kiến trúc baseline · ~1,5 phút — góp ý của thầy Trí]</a:t>
            </a:r>
          </a:p>
          <a:p>
            <a:r>
              <a:t>Đi theo luồng dữ liệu bên phải. (1) Ảnh vào ViT: tối đa 401.408 pixel, cắt patch 14×14, qua 32 khối. (2) Patch merger gộp 2×2 patch thành 1 token → 256–512 token ảnh. (3) Prompt: chat template + token ảnh + câu hỏi tiếng Việt. (4) Decoder Qwen2.5, 36 lớp, sinh tham lam tối đa 32 token, rồi chuẩn hoá và chấm.</a:t>
            </a:r>
          </a:p>
          <a:p>
            <a:r>
              <a:t>Ô vàng: phần được train là LoRA r = 16, α = 32 trên q, k, v, o — 7,37 triệu tham số, 29,5 MB; còn lại đóng băng, LLM 4-bit NF4.</a:t>
            </a:r>
          </a:p>
          <a:p>
            <a:r>
              <a:t>Baseline không dùng OCR; OCR là cải tiến B3 (slide 34).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4 · giao thức đánh giá · ~45 giây]</a:t>
            </a:r>
          </a:p>
          <a:p>
            <a:r>
              <a:t>Trước khi chạy baseline, nhóm chốt một giao thức cố định cho mọi run: bf16, 4-bit NF4, tối đa 512 token ảnh, greedy 32 token, seed 42, GPU L4.</a:t>
            </a:r>
          </a:p>
          <a:p>
            <a:r>
              <a:t>Metric chính EM, VQA-Acc, ANLS; F1 để so với paper. Chuẩn hoá tiếng Việt đối xứng cho dự đoán và đáp án, giữ dấu thanh.</a:t>
            </a:r>
          </a:p>
          <a:p>
            <a:r>
              <a:t>Thống kê: McNemar ghép cặp cho EM, CI95 bootstrap cho ANLS; luật kết luận chốt trước mỗi run.</a:t>
            </a:r>
          </a:p>
          <a:p>
            <a:r>
              <a:t>Nếu bị hỏi: hai dataset chỉ có một đáp án mỗi câu nên VQA-Acc trùng EM — nhóm vẫn báo cáo cột này vì là metric bắt buộc.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5 · kiểm chứng pipeline R0 · ~1 phút]</a:t>
            </a:r>
          </a:p>
          <a:p>
            <a:r>
              <a:t>Trước khi tin bất kỳ con số nào, nhóm chứng minh pipeline chạy đúng: chạy Qwen2.5-VL-3B trên TextVQA val (5.000 câu) theo đúng cấu hình báo cáo chính thức → 79,6 so với 79,3 công bố, chênh 0,3, trong ngưỡng ±2 đã chốt trước → đạt.</a:t>
            </a:r>
          </a:p>
          <a:p>
            <a:r>
              <a:t>Cột thứ ba: cấu hình tiết kiệm của nhóm (4-bit, 512 token) mất 4,4 điểm nhưng VRAM giảm từ 10,9 xuống 2,5 GB — giữ 94,5% độ chính xác. Đây là số đo hiệu quả, không phải giả thuyết.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6 · baseline zero-shot B1 · ~1 phút]</a:t>
            </a:r>
          </a:p>
          <a:p>
            <a:r>
              <a:t>EM 22,1 ở ViVQA, khoảng 29 ở ViTextVQA. Lỗi chính không phải "không hiểu" mà là định dạng: trả lời dài gần gấp đôi đáp án chuẩn; 19% câu trả lời ViTextVQA chứa đáp án nhưng vẫn trượt EM (ví dụ "Lịch tết năm 2021" so với "2021"). Ngoài ra có chen tiếng Anh, hallucination và đáp án chuẩn nhiễu.</a:t>
            </a:r>
          </a:p>
          <a:p>
            <a:r>
              <a:t>Biểu đồ: ViVQA zero-shot gần 0 ở câu hỏi vị trí và vật thể. Đây chính là điểm yếu V2 mà phương pháp phải sửa.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7 · có nên dùng model lớn hơn? · ~1 phút]</a:t>
            </a:r>
          </a:p>
          <a:p>
            <a:r>
              <a:t>Paper ViTextVQA báo QwenVL-7B zero-shot 28 EM. Nhóm chạy Qwen2-VL-7B trong cùng điều kiện: chỉ 16,2 EM, thấp hơn 3B 12,6 điểm, p ≈ 10⁻³³; tăng độ phân giải cũng không giúp.</a:t>
            </a:r>
          </a:p>
          <a:p>
            <a:r>
              <a:t>Lý do: 7B trả lời dài 8,2 từ so với đáp án 3,7 từ — EM trượt dù đọc đúng chữ. Table 7 của paper chỉ có 100 câu (±9 EM) nên không đủ để quyết định.</a:t>
            </a:r>
          </a:p>
          <a:p>
            <a:r>
              <a:t>Kết luận phần Existing System: giữ Qwen2.5-VL-3B; điểm yếu là định dạng câu trả lời và đọc chữ → chuyển sang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1 · lộ trình · ~45 giây]</a:t>
            </a:r>
          </a:p>
          <a:p>
            <a:r>
              <a:t>Phương pháp đi bốn bước, mỗi bước chỉ đổi một yếu tố so với bước trước; khởi điểm là B1 zero-shot.</a:t>
            </a:r>
          </a:p>
          <a:p>
            <a:r>
              <a:t>B2: thêm QLoRA — PEFT có hơn zero-shot không. B3: thêm một dòng OCR vào prompt khi train và test — dạy model dùng chữ OCR có giúp không (trên tập con 8.000 câu để tiết kiệm). B3F (B3-full): cùng công thức trên toàn bộ dữ liệu — đủ dữ liệu OCR còn giúp không. SH: một adapter cho cả hai dataset — để làm prototype.</a:t>
            </a:r>
          </a:p>
          <a:p>
            <a:r>
              <a:t>Luật kết luận của từng bước được chốt trước khi chạy.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2 · QLoRA B2 · ~45 giây]</a:t>
            </a:r>
          </a:p>
          <a:p>
            <a:r>
              <a:t>Biểu đồ: ViVQA 22,1 → 73,8 EM; ViTextVQA 29,1 → 50,3 trên full test. Luật chốt trước: cải thiện nếu EM tăng và McNemar p &lt; 0,05 → đạt trên cả hai dataset.</a:t>
            </a:r>
          </a:p>
          <a:p>
            <a:r>
              <a:t>Chi phí: 3 giờ (ViVQA) và 12 giờ (ViTextVQA) trên một L4, VRAM tối đa 6,9 GB. H1 được ủng hộ.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3 · đối chứng · ~1 phút]</a:t>
            </a:r>
          </a:p>
          <a:p>
            <a:r>
              <a:t>Mức tăng có thật không? Hai đối chứng.</a:t>
            </a:r>
          </a:p>
          <a:p>
            <a:r>
              <a:t>(1) Rò rỉ ViVQA: chỉ tính phần test sạch (ảnh và cặp hỏi–đáp chưa thấy, n = 1.219) vẫn 25,0 → 69,1; mốc đoán theo phân bố đáp án chỉ 14,4. ViTextVQA không trùng ảnh mà vẫn +21,1.</a:t>
            </a:r>
          </a:p>
          <a:p>
            <a:r>
              <a:t>(2) Few-shot FS5: cho 5 ví dụ trong prompt để model học định dạng — câu trả lời ngắn lại nhưng mất nội dung, EM còn giảm. B2 vượt FS5 rõ → QLoRA học nhiều hơn định dạng. Đây cũng là bằng chứng H3 chưa được ủng hộ.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4 · so với SOTA · ~45 giây]</a:t>
            </a:r>
          </a:p>
          <a:p>
            <a:r>
              <a:t>Luật: chỉ nói "cao hơn" khi cận dưới CI95 của nhóm lớn hơn số công bố. B1 zero-shot đã cao hơn về EM; B2 cao hơn cả EM và F1.</a:t>
            </a:r>
          </a:p>
          <a:p>
            <a:r>
              <a:t>Giới hạn: paper không công bố cách chuẩn hoá đáp án nên phép so giả định cách chấm tương đương. Kết quả của phương pháp đề xuất B3-full (53,35 EM) ở slide 37.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5 · SOTA khác nhóm ở đâu · ~45 giây]</a:t>
            </a:r>
          </a:p>
          <a:p>
            <a:r>
              <a:t>ViTextBLIP-2 dùng OCR ngoài (SwinTextSpotter), LM tiếng Việt ViT5 đóng băng, chỉ train Q-Former. Nhóm dùng VLM đa ngôn ngữ tự đọc chữ, chỉ train LoRA 0,196%. Hai bên cùng train trên toàn bộ train ViTextVQA.</a:t>
            </a:r>
          </a:p>
          <a:p>
            <a:r>
              <a:t>Điểm rút ra: SOTA có dùng OCR — một gợi ý cho bước B3 của nhóm.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6 · B2 còn sai ở đâu · ~1 phút]</a:t>
            </a:r>
          </a:p>
          <a:p>
            <a:r>
              <a:t>Nhóm chọn cải tiến dựa trên lỗi thật, không đoán. Duyệt tay 200 lỗi: 54% thực ra đúng ý nhưng EM quá khắt khe; 12,5% đáp án chuẩn nhiễu.</a:t>
            </a:r>
          </a:p>
          <a:p>
            <a:r>
              <a:t>Lỗi thật ở ViTextVQA: đọc sai chữ 28%, nhầm vùng chữ 23%, sai dấu 8% → đọc chữ là điểm yếu lớn nhất → động lực cho OCR (B3). Hallucination chỉ 7% số lỗi. Nhãn có kiểm độ đồng thuận κ = 0,62.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7 · phương pháp đề xuất B3 · ~1 phút]</a:t>
            </a:r>
          </a:p>
          <a:p>
            <a:r>
              <a:t>Ảnh → PaddleOCR dò dòng chữ → VietOCR đọc tiếng Việt, giữ dấu → một dòng "Văn bản đọc được trong ảnh: …" đặt trước câu hỏi → Qwen2.5-VL + LoRA train cùng dòng OCR.</a:t>
            </a:r>
          </a:p>
          <a:p>
            <a:r>
              <a:t>VietOCR được chọn theo luật trên dev300: đáp án nằm trong văn bản OCR 37,7% so với 27,0% của PaddleOCR (bản Latin làm rơi dấu).</a:t>
            </a:r>
          </a:p>
          <a:p>
            <a:r>
              <a:t>Mọi thứ khác y hệt B2. Phép thử có kiểm soát: tập con 8.000 câu, so với B2-sub cùng tập nhưng không OCR.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8 · ablation 2×2 · ~1 phút — slide quan trọng nhất về OCR]</a:t>
            </a:r>
          </a:p>
          <a:p>
            <a:r>
              <a:t>OCR lúc train × OCR lúc test, trên test2000. Chỉ thêm OCR lúc test: không giúp. Chỉ lúc train: không giúp. Cả hai: +4,35 EM. Tương tác +4,9 EM, CI95 từ +3,2 đến +6,6.</a:t>
            </a:r>
          </a:p>
          <a:p>
            <a:r>
              <a:t>Kết luận: đóng góp không phải "nhét OCR vào prompt", mà là dùng QLoRA dạy model khi nào tin chữ OCR, khi nào tin ảnh.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9 · độ vững · ~45 giây]</a:t>
            </a:r>
          </a:p>
          <a:p>
            <a:r>
              <a:t>Ba seed: +3,57 ± 0,76 EM, cả ba seed p ≤ 1,4 × 10⁻⁴. Full test 10.028 câu: B3 49,10 so với B2-sub 46,56, p = 10⁻¹⁴, cao hơn ViTextBLIP-2.</a:t>
            </a:r>
          </a:p>
          <a:p>
            <a:r>
              <a:t>Nói trung thực: với 23% dữ liệu, B3 vẫn thấp hơn B2 dữ liệu đầy đủ 1,16 EM — câu hỏi "đủ dữ liệu thì OCR còn giúp không?" được trả lời ở slide tiếp theo.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10 · B3-full (W10) · ~1 phút]</a:t>
            </a:r>
          </a:p>
          <a:p>
            <a:r>
              <a:t>B3-full = công thức B3 y hệt, trên toàn bộ 35.159 câu train. Bảng 2×2 dữ liệu × OCR trên full test: không OCR 46,56 → 50,26 khi thêm dữ liệu; có OCR 49,10 → 53,35.</a:t>
            </a:r>
          </a:p>
          <a:p>
            <a:r>
              <a:t>So sánh chính B2 → B3-full: +3,09 EM; 705 câu chỉ B3-full đúng so với 395 câu chỉ B2 đúng; p = 7 × 10⁻²¹ → theo luật ghi trước: OCR-aware vượt B2 khi đủ dữ liệu. Tương tác +0,55 không có ý nghĩa: lợi ích của OCR không giảm khi thêm dữ liệu.</a:t>
            </a:r>
          </a:p>
          <a:p>
            <a:r>
              <a:t>B3-full là mô hình ViTextVQA chính thức: 53,35 EM — gấp đôi SOTA công bố.</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11 · ablation LoRA (W10) · ~45 giây]</a:t>
            </a:r>
          </a:p>
          <a:p>
            <a:r>
              <a:t>Cấu hình LoRA đã hợp lý chưa? Hai ablation trên công thức B3.</a:t>
            </a:r>
          </a:p>
          <a:p>
            <a:r>
              <a:t>A1: gắn LoRA thêm vào các lớp MLP, giữ cùng ngân sách tham số (r = 4): −0,55 EM, p = 0,34 → không cải thiện, lại chậm hơn 17,5%. A2: tăng rank lên 64: +1,05 EM nhưng p = 0,07 → không khác có ý nghĩa, adapter lớn gấp 4.</a:t>
            </a:r>
          </a:p>
          <a:p>
            <a:r>
              <a:t>Quyết định: giữ r = 16 trên q, k, v, o. B3-full dùng cấu hình B3 bất kể kết quả ablation — không chọn cấu hình bằng test.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12 · ViVQA: số epoch · ~45 giây]</a:t>
            </a:r>
          </a:p>
          <a:p>
            <a:r>
              <a:t>Với ViVQA, train 1 hay 2 epoch? Chọn trên val sạch, vì 512/1.200 câu val dùng chung ảnh với train — train lâu sẽ làm val thường bị thiên vị. Luật: giữ 1 epoch trừ khi 2 epoch hơn có ý nghĩa → chọn C3 (2 epoch).</a:t>
            </a:r>
          </a:p>
          <a:p>
            <a:r>
              <a:t>Chạm test một lần: 73,8 → 76,6, p = 4,6 × 10⁻⁹; trên phần test sạch vẫn +3,2 → không phải nhớ ảnh. C3 là mô hình ViVQA chính thức.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13 · adapter dùng chung SH (W11) · ~1 phút]</a:t>
            </a:r>
          </a:p>
          <a:p>
            <a:r>
              <a:t>Một adapter train trộn ViVQA + ViTextVQA (8k), mọi câu dùng prompt có OCR — đúng như cách demo chạy thật, vì demo không biết trước câu hỏi thuộc loại nào.</a:t>
            </a:r>
          </a:p>
          <a:p>
            <a:r>
              <a:t>Luật không kém δ = 1,5 EM: so với C1 trên ViVQA −0,27, CI95 [−1,13; +0,60]; so với B3 trên ViTextVQA +0,25, CI95 [−0,95; +1,45] → ĐẠT trên cả hai.</a:t>
            </a:r>
          </a:p>
          <a:p>
            <a:r>
              <a:t>44% câu ViVQA có dòng OCR vô nghĩa (ảnh COCO, chữ tiếng Anh) nhưng không bị hại (+0,15); chép nhầm chữ OCR chỉ 0,3%.</a:t>
            </a:r>
          </a:p>
          <a:p>
            <a:r>
              <a:t>Đánh đổi: SH là bản rẻ nên thấp hơn C3 và B3-full khoảng 3–4 EM → bảng kết quả chính giữ C3/B3-full, prototype dùng SH.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14 · theo loại câu hỏi (W11) · ~1 phút]</a:t>
            </a:r>
          </a:p>
          <a:p>
            <a:r>
              <a:t>ViTextVQA không có nhãn loại câu hỏi, nên nhóm viết bộ phân loại bằng luật từ khoá trên dev, đóng băng trước khi chạy test, rồi kiểm bằng 150 câu gán tay mù: khớp 80,7%.</a:t>
            </a:r>
          </a:p>
          <a:p>
            <a:r>
              <a:t>Kết quả: OCR giúp nhiều nhất ở câu phải chép đúng từng ký tự — số điện thoại, website +8,6 EM; tên người +6,4. Gần như không giúp ở watermark nguồn ảnh (+0,9). Loại khó nhất là sản phẩm/dịch vụ và địa điểm — phải suy ra từ chữ — là trọng tâm phân tích lỗi tiếp theo.</a:t>
            </a:r>
          </a:p>
          <a:p>
            <a:r>
              <a:t>Ba loại có dấu ⚠ có nhãn kém tin cậy, chỉ dùng để mô tả.</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 thuyết · ~45 giây]</a:t>
            </a:r>
          </a:p>
          <a:p>
            <a:r>
              <a:t>H1 ủng hộ (+51,7 / +21,1 EM). H2 một phần: OCR cộng hưởng với QLoRA (tương tác +4,9 EM; +3,1 EM khi đủ dữ liệu) nhưng ANLS chỉ +1,87, chưa tới ngưỡng +3. H3 chưa ủng hộ: few-shot làm giảm EM. H4 đang chờ: đo hallucination kiểu POPE ở W9.</a:t>
            </a:r>
          </a:p>
          <a:p>
            <a:r>
              <a:t>Ablation A1/A2 đã làm: giữ r = 16. Hiệu quả: 4-bit giữ 94,5% độ chính xác, VRAM −77%, adapter dùng chung không kém.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tiếp theo · ~30 giây]</a:t>
            </a:r>
          </a:p>
          <a:p>
            <a:r>
              <a:t>Nhóm đi trước kế hoạch khoảng 2 tuần. W9: đo hallucination có hệ thống (H4) theo kiểu POPE tiếng Việt cho B1, B2, B3-full. W10: phân tích lỗi theo loại câu hỏi và theo V1–V4, chốt bảng kết quả cuối. W11–12: prototype web dùng một adapter chung, viết report. W13: Review 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 ~10 giây]</a:t>
            </a:r>
          </a:p>
          <a:p>
            <a:r>
              <a:t>"Nhóm em xin cảm ơn thầy cô và rất mong nhận được góp ý." Mọi con số trong bài đều có log và tái lập được.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7.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slideLayout" Target="../slideLayouts/slideLayout7.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clanthology.org/2021.paclic-1.72/" TargetMode="External"/><Relationship Id="rId2" Type="http://schemas.openxmlformats.org/officeDocument/2006/relationships/hyperlink" Target="https://arxiv.org/abs/2404.10652" TargetMode="External"/><Relationship Id="rId3" Type="http://schemas.openxmlformats.org/officeDocument/2006/relationships/image" Target="../media/image1.jpeg"/><Relationship Id="rId4" Type="http://schemas.openxmlformats.org/officeDocument/2006/relationships/slideLayout" Target="../slideLayouts/slideLayout7.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9.png"/><Relationship Id="rId3" Type="http://schemas.openxmlformats.org/officeDocument/2006/relationships/slideLayout" Target="../slideLayouts/slideLayout7.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0.png"/><Relationship Id="rId3" Type="http://schemas.openxmlformats.org/officeDocument/2006/relationships/slideLayout" Target="../slideLayouts/slideLayout7.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8.pn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1.png"/><Relationship Id="rId3" Type="http://schemas.openxmlformats.org/officeDocument/2006/relationships/slideLayout" Target="../slideLayouts/slideLayout7.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2.png"/><Relationship Id="rId3" Type="http://schemas.openxmlformats.org/officeDocument/2006/relationships/slideLayout" Target="../slideLayouts/slideLayout7.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3.png"/><Relationship Id="rId3" Type="http://schemas.openxmlformats.org/officeDocument/2006/relationships/slideLayout" Target="../slideLayouts/slideLayout7.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4.png"/><Relationship Id="rId3" Type="http://schemas.openxmlformats.org/officeDocument/2006/relationships/slideLayout" Target="../slideLayouts/slideLayout7.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5.png"/><Relationship Id="rId3" Type="http://schemas.openxmlformats.org/officeDocument/2006/relationships/slideLayout" Target="../slideLayouts/slideLayout7.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6.png"/><Relationship Id="rId3" Type="http://schemas.openxmlformats.org/officeDocument/2006/relationships/slideLayout" Target="../slideLayouts/slideLayout7.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1028700" y="2425547"/>
            <a:ext cx="16184880" cy="1636393"/>
            <a:chOff x="0" y="0"/>
            <a:chExt cx="21579840" cy="2181858"/>
          </a:xfrm>
        </p:grpSpPr>
        <p:sp>
          <p:nvSpPr>
            <p:cNvPr id="3" name="Freeform 3"/>
            <p:cNvSpPr/>
            <p:nvPr/>
          </p:nvSpPr>
          <p:spPr>
            <a:xfrm>
              <a:off x="0" y="0"/>
              <a:ext cx="21579839" cy="2181858"/>
            </a:xfrm>
            <a:custGeom>
              <a:avLst/>
              <a:gdLst/>
              <a:ahLst/>
              <a:cxnLst/>
              <a:rect l="l" t="t" r="r" b="b"/>
              <a:pathLst>
                <a:path w="21579839" h="2181858">
                  <a:moveTo>
                    <a:pt x="0" y="0"/>
                  </a:moveTo>
                  <a:lnTo>
                    <a:pt x="21579839" y="0"/>
                  </a:lnTo>
                  <a:lnTo>
                    <a:pt x="21579839" y="2181858"/>
                  </a:lnTo>
                  <a:lnTo>
                    <a:pt x="0" y="2181858"/>
                  </a:lnTo>
                  <a:close/>
                </a:path>
              </a:pathLst>
            </a:custGeom>
            <a:blipFill>
              <a:blip r:embed="rId1">
                <a:alphaModFix amt="0"/>
              </a:blip>
              <a:stretch>
                <a:fillRect t="-150809" b="-134627"/>
              </a:stretch>
            </a:blipFill>
          </p:spPr>
          <p:txBody>
            <a:bodyPr/>
            <a:p/>
          </p:txBody>
        </p:sp>
        <p:sp>
          <p:nvSpPr>
            <p:cNvPr id="4" name="TextBox 4"/>
            <p:cNvSpPr txBox="1"/>
            <p:nvPr/>
          </p:nvSpPr>
          <p:spPr>
            <a:xfrm>
              <a:off x="0" y="0"/>
              <a:ext cx="21579840" cy="2181858"/>
            </a:xfrm>
            <a:prstGeom prst="rect">
              <a:avLst/>
            </a:prstGeom>
          </p:spPr>
          <p:txBody>
            <a:bodyPr lIns="0" tIns="0" rIns="0" bIns="0" rtlCol="0" anchor="ctr"/>
            <a:lstStyle/>
            <a:p>
              <a:pPr algn="l">
                <a:lnSpc>
                  <a:spcPts val="9900"/>
                </a:lnSpc>
              </a:pPr>
              <a:r>
                <a:rPr lang="en-US" sz="8250" b="1">
                  <a:solidFill>
                    <a:srgbClr val="202733"/>
                  </a:solidFill>
                  <a:latin typeface="Noto Sans Bold" panose="020B0802040504020204"/>
                  <a:ea typeface="Noto Sans Bold" panose="020B0802040504020204"/>
                  <a:cs typeface="Noto Sans Bold" panose="020B0802040504020204"/>
                  <a:sym typeface="Noto Sans Bold" panose="020B0802040504020204"/>
                </a:rPr>
                <a:t>ViVQA–VLM</a:t>
              </a:r>
              <a:endParaRPr lang="en-US" sz="8250" b="1">
                <a:solidFill>
                  <a:srgbClr val="202733"/>
                </a:solidFill>
                <a:latin typeface="Noto Sans Bold" panose="020B0802040504020204"/>
                <a:ea typeface="Noto Sans Bold" panose="020B0802040504020204"/>
                <a:cs typeface="Noto Sans Bold" panose="020B0802040504020204"/>
                <a:sym typeface="Noto Sans Bold" panose="020B0802040504020204"/>
              </a:endParaRPr>
            </a:p>
          </p:txBody>
        </p:sp>
      </p:grpSp>
      <p:grpSp>
        <p:nvGrpSpPr>
          <p:cNvPr id="5" name="Group 5"/>
          <p:cNvGrpSpPr/>
          <p:nvPr/>
        </p:nvGrpSpPr>
        <p:grpSpPr>
          <a:xfrm rot="0">
            <a:off x="1152144" y="4061940"/>
            <a:ext cx="15636240" cy="1508760"/>
            <a:chOff x="0" y="0"/>
            <a:chExt cx="20848320" cy="2011680"/>
          </a:xfrm>
        </p:grpSpPr>
        <p:sp>
          <p:nvSpPr>
            <p:cNvPr id="6" name="Freeform 6"/>
            <p:cNvSpPr/>
            <p:nvPr/>
          </p:nvSpPr>
          <p:spPr>
            <a:xfrm>
              <a:off x="0" y="0"/>
              <a:ext cx="20848320" cy="2011680"/>
            </a:xfrm>
            <a:custGeom>
              <a:avLst/>
              <a:gdLst/>
              <a:ahLst/>
              <a:cxnLst/>
              <a:rect l="l" t="t" r="r" b="b"/>
              <a:pathLst>
                <a:path w="20848320" h="2011680">
                  <a:moveTo>
                    <a:pt x="0" y="0"/>
                  </a:moveTo>
                  <a:lnTo>
                    <a:pt x="20848320" y="0"/>
                  </a:lnTo>
                  <a:lnTo>
                    <a:pt x="20848320" y="2011680"/>
                  </a:lnTo>
                  <a:lnTo>
                    <a:pt x="0" y="2011680"/>
                  </a:lnTo>
                  <a:close/>
                </a:path>
              </a:pathLst>
            </a:custGeom>
            <a:blipFill>
              <a:blip r:embed="rId1">
                <a:alphaModFix amt="0"/>
              </a:blip>
              <a:stretch>
                <a:fillRect t="-151935" b="-151935"/>
              </a:stretch>
            </a:blipFill>
          </p:spPr>
          <p:txBody>
            <a:bodyPr/>
            <a:p/>
          </p:txBody>
        </p:sp>
        <p:sp>
          <p:nvSpPr>
            <p:cNvPr id="7" name="TextBox 7"/>
            <p:cNvSpPr txBox="1"/>
            <p:nvPr/>
          </p:nvSpPr>
          <p:spPr>
            <a:xfrm>
              <a:off x="0" y="9525"/>
              <a:ext cx="20848320" cy="2002155"/>
            </a:xfrm>
            <a:prstGeom prst="rect">
              <a:avLst/>
            </a:prstGeom>
          </p:spPr>
          <p:txBody>
            <a:bodyPr lIns="0" tIns="0" rIns="0" bIns="0" rtlCol="0" anchor="ctr"/>
            <a:lstStyle/>
            <a:p>
              <a:pPr algn="l">
                <a:lnSpc>
                  <a:spcPts val="4285"/>
                </a:lnSpc>
              </a:pPr>
              <a:r>
                <a:rPr lang="en-US" sz="3570">
                  <a:solidFill>
                    <a:srgbClr val="202733"/>
                  </a:solidFill>
                  <a:latin typeface="Noto Sans" panose="020B0502040504020204"/>
                  <a:ea typeface="Noto Sans" panose="020B0502040504020204"/>
                  <a:cs typeface="Noto Sans" panose="020B0502040504020204"/>
                  <a:sym typeface="Noto Sans" panose="020B0502040504020204"/>
                </a:rPr>
                <a:t>Efficient Vietnamese Visual Question Answering</a:t>
              </a:r>
              <a:endParaRPr lang="en-US" sz="3570">
                <a:solidFill>
                  <a:srgbClr val="202733"/>
                </a:solidFill>
                <a:latin typeface="Noto Sans" panose="020B0502040504020204"/>
                <a:ea typeface="Noto Sans" panose="020B0502040504020204"/>
                <a:cs typeface="Noto Sans" panose="020B0502040504020204"/>
                <a:sym typeface="Noto Sans" panose="020B0502040504020204"/>
              </a:endParaRPr>
            </a:p>
            <a:p>
              <a:pPr algn="l">
                <a:lnSpc>
                  <a:spcPts val="4285"/>
                </a:lnSpc>
              </a:pPr>
              <a:r>
                <a:rPr lang="en-US" sz="3570">
                  <a:solidFill>
                    <a:srgbClr val="202733"/>
                  </a:solidFill>
                  <a:latin typeface="Noto Sans" panose="020B0502040504020204"/>
                  <a:ea typeface="Noto Sans" panose="020B0502040504020204"/>
                  <a:cs typeface="Noto Sans" panose="020B0502040504020204"/>
                  <a:sym typeface="Noto Sans" panose="020B0502040504020204"/>
                </a:rPr>
                <a:t>using Vision–Language Models</a:t>
              </a:r>
              <a:endParaRPr lang="en-US" sz="3570">
                <a:solidFill>
                  <a:srgbClr val="202733"/>
                </a:solidFill>
                <a:latin typeface="Noto Sans" panose="020B0502040504020204"/>
                <a:ea typeface="Noto Sans" panose="020B0502040504020204"/>
                <a:cs typeface="Noto Sans" panose="020B0502040504020204"/>
                <a:sym typeface="Noto Sans" panose="020B0502040504020204"/>
              </a:endParaRPr>
            </a:p>
          </p:txBody>
        </p:sp>
      </p:grpSp>
      <p:grpSp>
        <p:nvGrpSpPr>
          <p:cNvPr id="8" name="Group 8"/>
          <p:cNvGrpSpPr/>
          <p:nvPr/>
        </p:nvGrpSpPr>
        <p:grpSpPr>
          <a:xfrm rot="0">
            <a:off x="1152144" y="5788356"/>
            <a:ext cx="11795760" cy="559584"/>
            <a:chOff x="0" y="0"/>
            <a:chExt cx="15727680" cy="746112"/>
          </a:xfrm>
        </p:grpSpPr>
        <p:sp>
          <p:nvSpPr>
            <p:cNvPr id="9" name="Freeform 9"/>
            <p:cNvSpPr/>
            <p:nvPr/>
          </p:nvSpPr>
          <p:spPr>
            <a:xfrm>
              <a:off x="0" y="0"/>
              <a:ext cx="15727680" cy="746112"/>
            </a:xfrm>
            <a:custGeom>
              <a:avLst/>
              <a:gdLst/>
              <a:ahLst/>
              <a:cxnLst/>
              <a:rect l="l" t="t" r="r" b="b"/>
              <a:pathLst>
                <a:path w="15727680" h="746112">
                  <a:moveTo>
                    <a:pt x="0" y="0"/>
                  </a:moveTo>
                  <a:lnTo>
                    <a:pt x="15727680" y="0"/>
                  </a:lnTo>
                  <a:lnTo>
                    <a:pt x="15727680" y="746112"/>
                  </a:lnTo>
                  <a:lnTo>
                    <a:pt x="0" y="746112"/>
                  </a:lnTo>
                  <a:close/>
                </a:path>
              </a:pathLst>
            </a:custGeom>
            <a:blipFill>
              <a:blip r:embed="rId1">
                <a:alphaModFix amt="0"/>
              </a:blip>
              <a:stretch>
                <a:fillRect t="-361713" b="-359757"/>
              </a:stretch>
            </a:blipFill>
          </p:spPr>
          <p:txBody>
            <a:bodyPr/>
            <a:p/>
          </p:txBody>
        </p:sp>
        <p:sp>
          <p:nvSpPr>
            <p:cNvPr id="10" name="TextBox 10"/>
            <p:cNvSpPr txBox="1"/>
            <p:nvPr/>
          </p:nvSpPr>
          <p:spPr>
            <a:xfrm>
              <a:off x="0" y="0"/>
              <a:ext cx="15727680" cy="746112"/>
            </a:xfrm>
            <a:prstGeom prst="rect">
              <a:avLst/>
            </a:prstGeom>
          </p:spPr>
          <p:txBody>
            <a:bodyPr lIns="0" tIns="0" rIns="0" bIns="0" rtlCol="0" anchor="ctr"/>
            <a:lstStyle/>
            <a:p>
              <a:pPr algn="l">
                <a:lnSpc>
                  <a:spcPts val="3420"/>
                </a:lnSpc>
              </a:pPr>
              <a:r>
                <a:rPr lang="en-US" sz="2850" b="1">
                  <a:solidFill>
                    <a:srgbClr val="26364E"/>
                  </a:solidFill>
                  <a:latin typeface="Noto Sans Bold" panose="020B0802040504020204"/>
                  <a:ea typeface="Noto Sans Bold" panose="020B0802040504020204"/>
                  <a:cs typeface="Noto Sans Bold" panose="020B0802040504020204"/>
                  <a:sym typeface="Noto Sans Bold" panose="020B0802040504020204"/>
                </a:rPr>
                <a:t>GFA26AI35  </a:t>
              </a:r>
              <a:endParaRPr lang="en-US" sz="2850" b="1">
                <a:solidFill>
                  <a:srgbClr val="26364E"/>
                </a:solidFill>
                <a:latin typeface="Noto Sans Bold" panose="020B0802040504020204"/>
                <a:ea typeface="Noto Sans Bold" panose="020B0802040504020204"/>
                <a:cs typeface="Noto Sans Bold" panose="020B0802040504020204"/>
                <a:sym typeface="Noto Sans Bold" panose="020B0802040504020204"/>
              </a:endParaRPr>
            </a:p>
          </p:txBody>
        </p:sp>
      </p:grpSp>
      <p:grpSp>
        <p:nvGrpSpPr>
          <p:cNvPr id="11" name="Group 11"/>
          <p:cNvGrpSpPr/>
          <p:nvPr/>
        </p:nvGrpSpPr>
        <p:grpSpPr>
          <a:xfrm rot="0">
            <a:off x="1152144" y="6531214"/>
            <a:ext cx="14538960" cy="523427"/>
            <a:chOff x="0" y="0"/>
            <a:chExt cx="19385280" cy="697903"/>
          </a:xfrm>
        </p:grpSpPr>
        <p:sp>
          <p:nvSpPr>
            <p:cNvPr id="12" name="Freeform 12"/>
            <p:cNvSpPr/>
            <p:nvPr/>
          </p:nvSpPr>
          <p:spPr>
            <a:xfrm>
              <a:off x="0" y="0"/>
              <a:ext cx="19385280" cy="697903"/>
            </a:xfrm>
            <a:custGeom>
              <a:avLst/>
              <a:gdLst/>
              <a:ahLst/>
              <a:cxnLst/>
              <a:rect l="l" t="t" r="r" b="b"/>
              <a:pathLst>
                <a:path w="19385280" h="697903">
                  <a:moveTo>
                    <a:pt x="0" y="0"/>
                  </a:moveTo>
                  <a:lnTo>
                    <a:pt x="19385280" y="0"/>
                  </a:lnTo>
                  <a:lnTo>
                    <a:pt x="19385280" y="697903"/>
                  </a:lnTo>
                  <a:lnTo>
                    <a:pt x="0" y="697903"/>
                  </a:lnTo>
                  <a:close/>
                </a:path>
              </a:pathLst>
            </a:custGeom>
            <a:blipFill>
              <a:blip r:embed="rId1">
                <a:alphaModFix amt="0"/>
              </a:blip>
              <a:stretch>
                <a:fillRect t="-494058" b="-488393"/>
              </a:stretch>
            </a:blipFill>
          </p:spPr>
          <p:txBody>
            <a:bodyPr/>
            <a:p/>
          </p:txBody>
        </p:sp>
        <p:sp>
          <p:nvSpPr>
            <p:cNvPr id="13" name="TextBox 13"/>
            <p:cNvSpPr txBox="1"/>
            <p:nvPr/>
          </p:nvSpPr>
          <p:spPr>
            <a:xfrm>
              <a:off x="0" y="-9525"/>
              <a:ext cx="19385280" cy="707428"/>
            </a:xfrm>
            <a:prstGeom prst="rect">
              <a:avLst/>
            </a:prstGeom>
          </p:spPr>
          <p:txBody>
            <a:bodyPr lIns="0" tIns="0" rIns="0" bIns="0" rtlCol="0" anchor="ctr"/>
            <a:lstStyle/>
            <a:p>
              <a:pPr algn="l">
                <a:lnSpc>
                  <a:spcPts val="3220"/>
                </a:lnSpc>
              </a:pPr>
              <a:r>
                <a:rPr lang="en-US" sz="2685">
                  <a:solidFill>
                    <a:srgbClr val="202733"/>
                  </a:solidFill>
                  <a:latin typeface="Noto Sans" panose="020B0502040504020204"/>
                  <a:ea typeface="Noto Sans" panose="020B0502040504020204"/>
                  <a:cs typeface="Noto Sans" panose="020B0502040504020204"/>
                  <a:sym typeface="Noto Sans" panose="020B0502040504020204"/>
                </a:rPr>
                <a:t>Supervisors</a:t>
              </a:r>
              <a:r>
                <a:rPr lang="en-US" sz="2685">
                  <a:solidFill>
                    <a:srgbClr val="202733"/>
                  </a:solidFill>
                  <a:latin typeface="Noto Sans" panose="020B0502040504020204"/>
                  <a:ea typeface="Noto Sans" panose="020B0502040504020204"/>
                  <a:cs typeface="Noto Sans" panose="020B0502040504020204"/>
                  <a:sym typeface="Noto Sans" panose="020B0502040504020204"/>
                </a:rPr>
                <a:t>: Đặng Ngọc Minh Đức · Phạm Minh Trí</a:t>
              </a:r>
              <a:endParaRPr lang="en-US" sz="2685">
                <a:solidFill>
                  <a:srgbClr val="202733"/>
                </a:solidFill>
                <a:latin typeface="Noto Sans" panose="020B0502040504020204"/>
                <a:ea typeface="Noto Sans" panose="020B0502040504020204"/>
                <a:cs typeface="Noto Sans" panose="020B0502040504020204"/>
                <a:sym typeface="Noto Sans" panose="020B0502040504020204"/>
              </a:endParaRPr>
            </a:p>
          </p:txBody>
        </p:sp>
      </p:grpSp>
      <p:sp>
        <p:nvSpPr>
          <p:cNvPr id="14" name="Freeform 14"/>
          <p:cNvSpPr/>
          <p:nvPr/>
        </p:nvSpPr>
        <p:spPr>
          <a:xfrm>
            <a:off x="548640" y="411480"/>
            <a:ext cx="2829264" cy="1184343"/>
          </a:xfrm>
          <a:custGeom>
            <a:avLst/>
            <a:gdLst/>
            <a:ahLst/>
            <a:cxnLst/>
            <a:rect l="l" t="t" r="r" b="b"/>
            <a:pathLst>
              <a:path w="2829264" h="1184343">
                <a:moveTo>
                  <a:pt x="0" y="0"/>
                </a:moveTo>
                <a:lnTo>
                  <a:pt x="2829264" y="0"/>
                </a:lnTo>
                <a:lnTo>
                  <a:pt x="2829264" y="1184343"/>
                </a:lnTo>
                <a:lnTo>
                  <a:pt x="0" y="1184343"/>
                </a:lnTo>
                <a:lnTo>
                  <a:pt x="0" y="0"/>
                </a:lnTo>
                <a:close/>
              </a:path>
            </a:pathLst>
          </a:custGeom>
          <a:blipFill>
            <a:blip r:embed="rId2"/>
            <a:stretch>
              <a:fillRect/>
            </a:stretch>
          </a:blipFill>
        </p:spPr>
        <p:txBody>
          <a:bodyPr/>
          <a:p/>
        </p:txBody>
      </p:sp>
      <p:grpSp>
        <p:nvGrpSpPr>
          <p:cNvPr id="15" name="Group 15"/>
          <p:cNvGrpSpPr/>
          <p:nvPr/>
        </p:nvGrpSpPr>
        <p:grpSpPr>
          <a:xfrm rot="0">
            <a:off x="1152144" y="7273716"/>
            <a:ext cx="14538960" cy="523427"/>
            <a:chOff x="0" y="0"/>
            <a:chExt cx="19385280" cy="697903"/>
          </a:xfrm>
        </p:grpSpPr>
        <p:sp>
          <p:nvSpPr>
            <p:cNvPr id="16" name="Freeform 16"/>
            <p:cNvSpPr/>
            <p:nvPr/>
          </p:nvSpPr>
          <p:spPr>
            <a:xfrm>
              <a:off x="0" y="0"/>
              <a:ext cx="19385280" cy="697903"/>
            </a:xfrm>
            <a:custGeom>
              <a:avLst/>
              <a:gdLst/>
              <a:ahLst/>
              <a:cxnLst/>
              <a:rect l="l" t="t" r="r" b="b"/>
              <a:pathLst>
                <a:path w="19385280" h="697903">
                  <a:moveTo>
                    <a:pt x="0" y="0"/>
                  </a:moveTo>
                  <a:lnTo>
                    <a:pt x="19385280" y="0"/>
                  </a:lnTo>
                  <a:lnTo>
                    <a:pt x="19385280" y="697903"/>
                  </a:lnTo>
                  <a:lnTo>
                    <a:pt x="0" y="697903"/>
                  </a:lnTo>
                  <a:close/>
                </a:path>
              </a:pathLst>
            </a:custGeom>
            <a:blipFill>
              <a:blip r:embed="rId1">
                <a:alphaModFix amt="0"/>
              </a:blip>
              <a:stretch>
                <a:fillRect t="-494058" b="-488393"/>
              </a:stretch>
            </a:blipFill>
          </p:spPr>
          <p:txBody>
            <a:bodyPr/>
            <a:p/>
          </p:txBody>
        </p:sp>
        <p:sp>
          <p:nvSpPr>
            <p:cNvPr id="17" name="TextBox 17"/>
            <p:cNvSpPr txBox="1"/>
            <p:nvPr/>
          </p:nvSpPr>
          <p:spPr>
            <a:xfrm>
              <a:off x="0" y="-9525"/>
              <a:ext cx="19385280" cy="707428"/>
            </a:xfrm>
            <a:prstGeom prst="rect">
              <a:avLst/>
            </a:prstGeom>
          </p:spPr>
          <p:txBody>
            <a:bodyPr lIns="0" tIns="0" rIns="0" bIns="0" rtlCol="0" anchor="ctr"/>
            <a:lstStyle/>
            <a:p>
              <a:pPr algn="l">
                <a:lnSpc>
                  <a:spcPts val="3220"/>
                </a:lnSpc>
              </a:pPr>
              <a:r>
                <a:rPr lang="en-US" sz="2685">
                  <a:solidFill>
                    <a:srgbClr val="202733"/>
                  </a:solidFill>
                  <a:latin typeface="Noto Sans" panose="020B0502040504020204"/>
                  <a:ea typeface="Noto Sans" panose="020B0502040504020204"/>
                  <a:cs typeface="Noto Sans" panose="020B0502040504020204"/>
                  <a:sym typeface="Noto Sans" panose="020B0502040504020204"/>
                </a:rPr>
                <a:t>Team</a:t>
              </a:r>
              <a:r>
                <a:rPr lang="en-US" sz="2685">
                  <a:solidFill>
                    <a:srgbClr val="202733"/>
                  </a:solidFill>
                  <a:latin typeface="Noto Sans" panose="020B0502040504020204"/>
                  <a:ea typeface="Noto Sans" panose="020B0502040504020204"/>
                  <a:cs typeface="Noto Sans" panose="020B0502040504020204"/>
                  <a:sym typeface="Noto Sans" panose="020B0502040504020204"/>
                </a:rPr>
                <a:t>: Phạm Lê Huy Hoàng (Leader), Hồ Đắc Toàn, Trần Quốc Huân, Văn Quang Trường</a:t>
              </a:r>
              <a:endParaRPr lang="en-US" sz="2685">
                <a:solidFill>
                  <a:srgbClr val="202733"/>
                </a:solidFill>
                <a:latin typeface="Noto Sans" panose="020B0502040504020204"/>
                <a:ea typeface="Noto Sans" panose="020B0502040504020204"/>
                <a:cs typeface="Noto Sans" panose="020B0502040504020204"/>
                <a:sym typeface="Noto Sans" panose="020B0502040504020204"/>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NỘI DUNG</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Hai phần, một bộ slide cộng dồn</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185035"/>
            <a:ext cx="8065541" cy="5505450"/>
            <a:chOff x="0" y="0"/>
            <a:chExt cx="10754055" cy="7340600"/>
          </a:xfrm>
        </p:grpSpPr>
        <p:sp>
          <p:nvSpPr>
            <p:cNvPr id="8" name="Freeform 8"/>
            <p:cNvSpPr/>
            <p:nvPr/>
          </p:nvSpPr>
          <p:spPr>
            <a:xfrm>
              <a:off x="0" y="0"/>
              <a:ext cx="10754106" cy="7340600"/>
            </a:xfrm>
            <a:custGeom>
              <a:avLst/>
              <a:gdLst/>
              <a:ahLst/>
              <a:cxnLst/>
              <a:rect l="l" t="t" r="r" b="b"/>
              <a:pathLst>
                <a:path w="10754106" h="7340600">
                  <a:moveTo>
                    <a:pt x="0" y="146812"/>
                  </a:moveTo>
                  <a:cubicBezTo>
                    <a:pt x="0" y="65786"/>
                    <a:pt x="65786" y="0"/>
                    <a:pt x="146812" y="0"/>
                  </a:cubicBezTo>
                  <a:lnTo>
                    <a:pt x="10607294" y="0"/>
                  </a:lnTo>
                  <a:cubicBezTo>
                    <a:pt x="10688320" y="0"/>
                    <a:pt x="10754106" y="65786"/>
                    <a:pt x="10754106" y="146812"/>
                  </a:cubicBezTo>
                  <a:lnTo>
                    <a:pt x="10754106" y="7193788"/>
                  </a:lnTo>
                  <a:cubicBezTo>
                    <a:pt x="10754106" y="7274814"/>
                    <a:pt x="10688320" y="7340600"/>
                    <a:pt x="10607294" y="7340600"/>
                  </a:cubicBezTo>
                  <a:lnTo>
                    <a:pt x="146812" y="7340600"/>
                  </a:lnTo>
                  <a:cubicBezTo>
                    <a:pt x="65786" y="7340600"/>
                    <a:pt x="0" y="7274814"/>
                    <a:pt x="0" y="7193788"/>
                  </a:cubicBezTo>
                  <a:close/>
                </a:path>
              </a:pathLst>
            </a:custGeom>
            <a:solidFill>
              <a:srgbClr val="E7F0F3"/>
            </a:solidFill>
            <a:ln w="19050" cap="sq">
              <a:solidFill>
                <a:srgbClr val="E7F0F3"/>
              </a:solidFill>
              <a:prstDash val="solid"/>
              <a:miter/>
            </a:ln>
          </p:spPr>
          <p:txBody>
            <a:bodyPr/>
            <a:p/>
          </p:txBody>
        </p:sp>
      </p:grpSp>
      <p:sp>
        <p:nvSpPr>
          <p:cNvPr id="9" name="TextBox 9"/>
          <p:cNvSpPr txBox="1"/>
          <p:nvPr/>
        </p:nvSpPr>
        <p:spPr>
          <a:xfrm>
            <a:off x="1234440" y="2459355"/>
            <a:ext cx="5303291" cy="763905"/>
          </a:xfrm>
          <a:prstGeom prst="rect">
            <a:avLst/>
          </a:prstGeom>
        </p:spPr>
        <p:txBody>
          <a:bodyPr lIns="0" tIns="0" rIns="0" bIns="0" rtlCol="0" anchor="t">
            <a:spAutoFit/>
          </a:bodyPr>
          <a:lstStyle/>
          <a:p>
            <a:pPr algn="l">
              <a:lnSpc>
                <a:spcPts val="3960"/>
              </a:lnSpc>
            </a:pPr>
            <a:r>
              <a:rPr lang="en-US" sz="3300" b="1">
                <a:solidFill>
                  <a:srgbClr val="13294B"/>
                </a:solidFill>
                <a:latin typeface="Cambria Bold" panose="02040803050406030204"/>
                <a:ea typeface="Cambria Bold" panose="02040803050406030204"/>
                <a:cs typeface="Cambria Bold" panose="02040803050406030204"/>
                <a:sym typeface="Cambria Bold" panose="02040803050406030204"/>
              </a:rPr>
              <a:t>Phần A · Review 1</a:t>
            </a:r>
            <a:endParaRPr lang="en-US" sz="33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0" name="TextBox 10"/>
          <p:cNvSpPr txBox="1"/>
          <p:nvPr/>
        </p:nvSpPr>
        <p:spPr>
          <a:xfrm>
            <a:off x="6263411" y="2489835"/>
            <a:ext cx="2194560" cy="733425"/>
          </a:xfrm>
          <a:prstGeom prst="rect">
            <a:avLst/>
          </a:prstGeom>
        </p:spPr>
        <p:txBody>
          <a:bodyPr lIns="0" tIns="0" rIns="0" bIns="0" rtlCol="0" anchor="t">
            <a:spAutoFit/>
          </a:bodyPr>
          <a:lstStyle/>
          <a:p>
            <a:pPr algn="r">
              <a:lnSpc>
                <a:spcPts val="2520"/>
              </a:lnSpc>
            </a:pPr>
            <a:r>
              <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rPr>
              <a:t>slide 3–17</a:t>
            </a:r>
            <a:endPar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234440" y="3518535"/>
            <a:ext cx="7223531" cy="3888105"/>
          </a:xfrm>
          <a:prstGeom prst="rect">
            <a:avLst/>
          </a:prstGeom>
        </p:spPr>
        <p:txBody>
          <a:bodyPr lIns="0" tIns="0" rIns="0" bIns="0" rtlCol="0" anchor="t">
            <a:spAutoFit/>
          </a:bodyPr>
          <a:lstStyle/>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Phạm vi bài toán: input → output, V1–V4</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Khoảng trống G1–G4; trong / ngoài phạm vi</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RQ1–RQ4, giả thuyết H1–H4</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Dữ liệu, baseline &amp; QLoRA, phương pháp đề xuất</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Sản phẩm, kế hoạch, rủi ro; 10 góp ý R1</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9408566" y="2185035"/>
            <a:ext cx="8065541" cy="5505450"/>
            <a:chOff x="0" y="0"/>
            <a:chExt cx="10754055" cy="7340600"/>
          </a:xfrm>
        </p:grpSpPr>
        <p:sp>
          <p:nvSpPr>
            <p:cNvPr id="13" name="Freeform 13"/>
            <p:cNvSpPr/>
            <p:nvPr/>
          </p:nvSpPr>
          <p:spPr>
            <a:xfrm>
              <a:off x="0" y="0"/>
              <a:ext cx="10754106" cy="7340600"/>
            </a:xfrm>
            <a:custGeom>
              <a:avLst/>
              <a:gdLst/>
              <a:ahLst/>
              <a:cxnLst/>
              <a:rect l="l" t="t" r="r" b="b"/>
              <a:pathLst>
                <a:path w="10754106" h="7340600">
                  <a:moveTo>
                    <a:pt x="0" y="146812"/>
                  </a:moveTo>
                  <a:cubicBezTo>
                    <a:pt x="0" y="65786"/>
                    <a:pt x="65786" y="0"/>
                    <a:pt x="146812" y="0"/>
                  </a:cubicBezTo>
                  <a:lnTo>
                    <a:pt x="10607294" y="0"/>
                  </a:lnTo>
                  <a:cubicBezTo>
                    <a:pt x="10688320" y="0"/>
                    <a:pt x="10754106" y="65786"/>
                    <a:pt x="10754106" y="146812"/>
                  </a:cubicBezTo>
                  <a:lnTo>
                    <a:pt x="10754106" y="7193788"/>
                  </a:lnTo>
                  <a:cubicBezTo>
                    <a:pt x="10754106" y="7274814"/>
                    <a:pt x="10688320" y="7340600"/>
                    <a:pt x="10607294" y="7340600"/>
                  </a:cubicBezTo>
                  <a:lnTo>
                    <a:pt x="146812" y="7340600"/>
                  </a:lnTo>
                  <a:cubicBezTo>
                    <a:pt x="65786" y="7340600"/>
                    <a:pt x="0" y="7274814"/>
                    <a:pt x="0" y="7193788"/>
                  </a:cubicBezTo>
                  <a:close/>
                </a:path>
              </a:pathLst>
            </a:custGeom>
            <a:solidFill>
              <a:srgbClr val="FBF0DA"/>
            </a:solidFill>
            <a:ln w="19050" cap="sq">
              <a:solidFill>
                <a:srgbClr val="FBF0DA"/>
              </a:solidFill>
              <a:prstDash val="solid"/>
              <a:miter/>
            </a:ln>
          </p:spPr>
          <p:txBody>
            <a:bodyPr/>
            <a:p/>
          </p:txBody>
        </p:sp>
      </p:grpSp>
      <p:sp>
        <p:nvSpPr>
          <p:cNvPr id="14" name="TextBox 14"/>
          <p:cNvSpPr txBox="1"/>
          <p:nvPr/>
        </p:nvSpPr>
        <p:spPr>
          <a:xfrm>
            <a:off x="9829571" y="2459355"/>
            <a:ext cx="5303291" cy="763905"/>
          </a:xfrm>
          <a:prstGeom prst="rect">
            <a:avLst/>
          </a:prstGeom>
        </p:spPr>
        <p:txBody>
          <a:bodyPr lIns="0" tIns="0" rIns="0" bIns="0" rtlCol="0" anchor="t">
            <a:spAutoFit/>
          </a:bodyPr>
          <a:lstStyle/>
          <a:p>
            <a:pPr algn="l">
              <a:lnSpc>
                <a:spcPts val="3960"/>
              </a:lnSpc>
            </a:pPr>
            <a:r>
              <a:rPr lang="en-US" sz="3300" b="1">
                <a:solidFill>
                  <a:srgbClr val="13294B"/>
                </a:solidFill>
                <a:latin typeface="Cambria Bold" panose="02040803050406030204"/>
                <a:ea typeface="Cambria Bold" panose="02040803050406030204"/>
                <a:cs typeface="Cambria Bold" panose="02040803050406030204"/>
                <a:sym typeface="Cambria Bold" panose="02040803050406030204"/>
              </a:rPr>
              <a:t>Phần B · Review 2</a:t>
            </a:r>
            <a:endParaRPr lang="en-US" sz="33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5" name="TextBox 15"/>
          <p:cNvSpPr txBox="1"/>
          <p:nvPr/>
        </p:nvSpPr>
        <p:spPr>
          <a:xfrm>
            <a:off x="14858543" y="2489835"/>
            <a:ext cx="2194560" cy="733425"/>
          </a:xfrm>
          <a:prstGeom prst="rect">
            <a:avLst/>
          </a:prstGeom>
        </p:spPr>
        <p:txBody>
          <a:bodyPr lIns="0" tIns="0" rIns="0" bIns="0" rtlCol="0" anchor="t">
            <a:spAutoFit/>
          </a:bodyPr>
          <a:lstStyle/>
          <a:p>
            <a:pPr algn="r">
              <a:lnSpc>
                <a:spcPts val="2520"/>
              </a:lnSpc>
            </a:pPr>
            <a:r>
              <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rPr>
              <a:t>slide 18–44</a:t>
            </a:r>
            <a:endPar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6" name="TextBox 16"/>
          <p:cNvSpPr txBox="1"/>
          <p:nvPr/>
        </p:nvSpPr>
        <p:spPr>
          <a:xfrm>
            <a:off x="9829571" y="3518535"/>
            <a:ext cx="7223531" cy="3888105"/>
          </a:xfrm>
          <a:prstGeom prst="rect">
            <a:avLst/>
          </a:prstGeom>
        </p:spPr>
        <p:txBody>
          <a:bodyPr lIns="0" tIns="0" rIns="0" bIns="0" rtlCol="0" anchor="t">
            <a:spAutoFit/>
          </a:bodyPr>
          <a:lstStyle/>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Tóm tắt; xử lý góp ý GVHD (07/10)</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Existing System: SOTA, dữ liệu, kiến trúc baseline, R0, B1, R1</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Methodology: QLoRA (B2) → QLoRA nhận biết OCR (B3, B3-full)</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Ablation OCR, LoRA, epoch; adapter dùng chung; loại câu hỏi</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a:p>
            <a:pPr marL="461645" lvl="1" indent="-230505" algn="l">
              <a:lnSpc>
                <a:spcPts val="3060"/>
              </a:lnSpc>
              <a:buFont typeface="Arial" panose="020B0604020202020204"/>
              <a:buChar char="•"/>
            </a:pPr>
            <a:r>
              <a:rPr lang="en-US" sz="2550">
                <a:solidFill>
                  <a:srgbClr val="243044"/>
                </a:solidFill>
                <a:latin typeface="Calibri (MS)" panose="020F0502020204030204"/>
                <a:ea typeface="Calibri (MS)" panose="020F0502020204030204"/>
                <a:cs typeface="Calibri (MS)" panose="020F0502020204030204"/>
                <a:sym typeface="Calibri (MS)" panose="020F0502020204030204"/>
              </a:rPr>
              <a:t>Giả thuyết H1–H4, bước tiếp theo</a:t>
            </a:r>
            <a:endParaRPr lang="en-US" sz="25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7" name="TextBox 17"/>
          <p:cNvSpPr txBox="1"/>
          <p:nvPr/>
        </p:nvSpPr>
        <p:spPr>
          <a:xfrm>
            <a:off x="822960" y="8593455"/>
            <a:ext cx="16641623" cy="802005"/>
          </a:xfrm>
          <a:prstGeom prst="rect">
            <a:avLst/>
          </a:prstGeom>
        </p:spPr>
        <p:txBody>
          <a:bodyPr lIns="0" tIns="0" rIns="0" bIns="0" rtlCol="0" anchor="t">
            <a:spAutoFit/>
          </a:bodyPr>
          <a:lstStyle/>
          <a:p>
            <a:pPr algn="l">
              <a:lnSpc>
                <a:spcPts val="2340"/>
              </a:lnSpc>
            </a:pPr>
            <a:r>
              <a:rPr lang="en-US" sz="1950">
                <a:solidFill>
                  <a:srgbClr val="6B7280"/>
                </a:solidFill>
                <a:latin typeface="Calibri (MS)" panose="020F0502020204030204"/>
                <a:ea typeface="Calibri (MS)" panose="020F0502020204030204"/>
                <a:cs typeface="Calibri (MS)" panose="020F0502020204030204"/>
                <a:sym typeface="Calibri (MS)" panose="020F0502020204030204"/>
              </a:rPr>
              <a:t>Phần A trả lời: làm bài toán gì, trong giới hạn nào. Phần B trả lời: hệ thống hiện có làm được đến đâu, và nhóm cải tiến bằng phương pháp nào. Phần C (Review 3) và D (bảo vệ cuối) sẽ nối thêm.</a:t>
            </a:r>
            <a:endParaRPr lang="en-US" sz="1950">
              <a:solidFill>
                <a:srgbClr val="6B7280"/>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
        <p:cNvGrpSpPr/>
        <p:nvPr/>
      </p:nvGrpSpPr>
      <p:grpSpPr>
        <a:xfrm>
          <a:off x="0" y="0"/>
          <a:ext cx="0" cy="0"/>
          <a:chOff x="0" y="0"/>
          <a:chExt cx="0" cy="0"/>
        </a:xfrm>
      </p:grpSpPr>
      <p:grpSp>
        <p:nvGrpSpPr>
          <p:cNvPr id="2" name="Group 2"/>
          <p:cNvGrpSpPr/>
          <p:nvPr/>
        </p:nvGrpSpPr>
        <p:grpSpPr>
          <a:xfrm rot="0">
            <a:off x="822960" y="2331720"/>
            <a:ext cx="16641623" cy="1645920"/>
            <a:chOff x="0" y="0"/>
            <a:chExt cx="22188830" cy="2194560"/>
          </a:xfrm>
        </p:grpSpPr>
        <p:sp>
          <p:nvSpPr>
            <p:cNvPr id="3" name="Freeform 3"/>
            <p:cNvSpPr/>
            <p:nvPr/>
          </p:nvSpPr>
          <p:spPr>
            <a:xfrm>
              <a:off x="0" y="0"/>
              <a:ext cx="22188830" cy="2194560"/>
            </a:xfrm>
            <a:custGeom>
              <a:avLst/>
              <a:gdLst/>
              <a:ahLst/>
              <a:cxnLst/>
              <a:rect l="l" t="t" r="r" b="b"/>
              <a:pathLst>
                <a:path w="22188830" h="2194560">
                  <a:moveTo>
                    <a:pt x="0" y="0"/>
                  </a:moveTo>
                  <a:lnTo>
                    <a:pt x="22188830" y="0"/>
                  </a:lnTo>
                  <a:lnTo>
                    <a:pt x="22188830" y="2194560"/>
                  </a:lnTo>
                  <a:lnTo>
                    <a:pt x="0" y="2194560"/>
                  </a:lnTo>
                  <a:close/>
                </a:path>
              </a:pathLst>
            </a:custGeom>
            <a:blipFill>
              <a:blip r:embed="rId1">
                <a:alphaModFix amt="0"/>
              </a:blip>
              <a:stretch>
                <a:fillRect t="-147009" b="-147009"/>
              </a:stretch>
            </a:blipFill>
          </p:spPr>
          <p:txBody>
            <a:bodyPr/>
            <a:p/>
          </p:txBody>
        </p:sp>
        <p:sp>
          <p:nvSpPr>
            <p:cNvPr id="4" name="TextBox 4"/>
            <p:cNvSpPr txBox="1"/>
            <p:nvPr/>
          </p:nvSpPr>
          <p:spPr>
            <a:xfrm>
              <a:off x="0" y="-19050"/>
              <a:ext cx="22188830" cy="2213610"/>
            </a:xfrm>
            <a:prstGeom prst="rect">
              <a:avLst/>
            </a:prstGeom>
          </p:spPr>
          <p:txBody>
            <a:bodyPr lIns="0" tIns="0" rIns="0" bIns="0" rtlCol="0" anchor="b"/>
            <a:lstStyle/>
            <a:p>
              <a:pPr algn="l">
                <a:lnSpc>
                  <a:spcPts val="9720"/>
                </a:lnSpc>
              </a:pPr>
              <a:r>
                <a:rPr lang="en-US" sz="8100" b="1">
                  <a:solidFill>
                    <a:srgbClr val="FFFFFF"/>
                  </a:solidFill>
                  <a:latin typeface="Cambria Bold" panose="02040803050406030204"/>
                  <a:ea typeface="Cambria Bold" panose="02040803050406030204"/>
                  <a:cs typeface="Cambria Bold" panose="02040803050406030204"/>
                  <a:sym typeface="Cambria Bold" panose="02040803050406030204"/>
                </a:rPr>
                <a:t>Phần A · Review 1</a:t>
              </a:r>
              <a:endParaRPr lang="en-US" sz="8100" b="1">
                <a:solidFill>
                  <a:srgbClr val="FFFFFF"/>
                </a:solidFill>
                <a:latin typeface="Cambria Bold" panose="02040803050406030204"/>
                <a:ea typeface="Cambria Bold" panose="02040803050406030204"/>
                <a:cs typeface="Cambria Bold" panose="02040803050406030204"/>
                <a:sym typeface="Cambria Bold" panose="02040803050406030204"/>
              </a:endParaRPr>
            </a:p>
          </p:txBody>
        </p:sp>
      </p:grpSp>
      <p:sp>
        <p:nvSpPr>
          <p:cNvPr id="5" name="TextBox 5"/>
          <p:cNvSpPr txBox="1"/>
          <p:nvPr/>
        </p:nvSpPr>
        <p:spPr>
          <a:xfrm>
            <a:off x="822960" y="4048125"/>
            <a:ext cx="16641623" cy="5004435"/>
          </a:xfrm>
          <a:prstGeom prst="rect">
            <a:avLst/>
          </a:prstGeom>
        </p:spPr>
        <p:txBody>
          <a:bodyPr lIns="0" tIns="0" rIns="0" bIns="0" rtlCol="0" anchor="t">
            <a:spAutoFit/>
          </a:bodyPr>
          <a:lstStyle/>
          <a:p>
            <a:pPr algn="l">
              <a:lnSpc>
                <a:spcPts val="3600"/>
              </a:lnSpc>
            </a:pPr>
            <a:r>
              <a:rPr lang="en-US" sz="3000">
                <a:solidFill>
                  <a:srgbClr val="FFFFFF"/>
                </a:solidFill>
                <a:latin typeface="Calibri (MS)" panose="020F0502020204030204"/>
                <a:ea typeface="Calibri (MS)" panose="020F0502020204030204"/>
                <a:cs typeface="Calibri (MS)" panose="020F0502020204030204"/>
                <a:sym typeface="Calibri (MS)" panose="020F0502020204030204"/>
              </a:rPr>
              <a:t>Phạm vi bài toán</a:t>
            </a:r>
            <a:endParaRPr lang="en-US" sz="3000">
              <a:solidFill>
                <a:srgbClr val="FFFFFF"/>
              </a:solidFill>
              <a:latin typeface="Calibri (MS)" panose="020F0502020204030204"/>
              <a:ea typeface="Calibri (MS)" panose="020F0502020204030204"/>
              <a:cs typeface="Calibri (MS)" panose="020F0502020204030204"/>
              <a:sym typeface="Calibri (MS)" panose="020F0502020204030204"/>
            </a:endParaRPr>
          </a:p>
          <a:p>
            <a:pPr algn="l">
              <a:lnSpc>
                <a:spcPts val="2160"/>
              </a:lnSpc>
            </a:pPr>
            <a:r>
              <a:rPr lang="en-US" sz="1800">
                <a:solidFill>
                  <a:srgbClr val="FFFFFF"/>
                </a:solidFill>
                <a:latin typeface="Calibri (MS)" panose="020F0502020204030204"/>
                <a:ea typeface="Calibri (MS)" panose="020F0502020204030204"/>
                <a:cs typeface="Calibri (MS)" panose="020F0502020204030204"/>
                <a:sym typeface="Calibri (MS)" panose="020F0502020204030204"/>
              </a:rPr>
              <a:t> </a:t>
            </a:r>
            <a:endParaRPr lang="en-US" sz="1800">
              <a:solidFill>
                <a:srgbClr val="FFFFFF"/>
              </a:solidFill>
              <a:latin typeface="Calibri (MS)" panose="020F0502020204030204"/>
              <a:ea typeface="Calibri (MS)" panose="020F0502020204030204"/>
              <a:cs typeface="Calibri (MS)" panose="020F0502020204030204"/>
              <a:sym typeface="Calibri (MS)" panose="020F0502020204030204"/>
            </a:endParaRPr>
          </a:p>
          <a:p>
            <a:pPr algn="l">
              <a:lnSpc>
                <a:spcPts val="2700"/>
              </a:lnSpc>
            </a:pPr>
            <a:r>
              <a:rPr lang="en-US" sz="2250">
                <a:solidFill>
                  <a:srgbClr val="A8C4E0"/>
                </a:solidFill>
                <a:latin typeface="Calibri (MS)" panose="020F0502020204030204"/>
                <a:ea typeface="Calibri (MS)" panose="020F0502020204030204"/>
                <a:cs typeface="Calibri (MS)" panose="020F0502020204030204"/>
                <a:sym typeface="Calibri (MS)" panose="020F0502020204030204"/>
              </a:rPr>
              <a:t>Bài toán gì, vì sao khó với tiếng Việt, làm trong giới hạn nào, đo bằng gì — và kế hoạch thực hiện.</a:t>
            </a:r>
            <a:endParaRPr lang="en-US" sz="2250">
              <a:solidFill>
                <a:srgbClr val="A8C4E0"/>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00100" y="1885950"/>
            <a:ext cx="16687800" cy="1114425"/>
            <a:chOff x="0" y="0"/>
            <a:chExt cx="22250400" cy="1485900"/>
          </a:xfrm>
        </p:grpSpPr>
        <p:sp>
          <p:nvSpPr>
            <p:cNvPr id="3" name="Freeform 3"/>
            <p:cNvSpPr/>
            <p:nvPr/>
          </p:nvSpPr>
          <p:spPr>
            <a:xfrm>
              <a:off x="0" y="0"/>
              <a:ext cx="22250400" cy="1485900"/>
            </a:xfrm>
            <a:custGeom>
              <a:avLst/>
              <a:gdLst/>
              <a:ahLst/>
              <a:cxnLst/>
              <a:rect l="l" t="t" r="r" b="b"/>
              <a:pathLst>
                <a:path w="22250400" h="1485900">
                  <a:moveTo>
                    <a:pt x="0" y="190500"/>
                  </a:moveTo>
                  <a:cubicBezTo>
                    <a:pt x="0" y="85344"/>
                    <a:pt x="85344" y="0"/>
                    <a:pt x="190500" y="0"/>
                  </a:cubicBezTo>
                  <a:lnTo>
                    <a:pt x="22059900" y="0"/>
                  </a:lnTo>
                  <a:cubicBezTo>
                    <a:pt x="22165056" y="0"/>
                    <a:pt x="22250400" y="85344"/>
                    <a:pt x="22250400" y="190500"/>
                  </a:cubicBezTo>
                  <a:lnTo>
                    <a:pt x="22250400" y="1295400"/>
                  </a:lnTo>
                  <a:cubicBezTo>
                    <a:pt x="22250400" y="1400556"/>
                    <a:pt x="22165056" y="1485900"/>
                    <a:pt x="22059900" y="1485900"/>
                  </a:cubicBezTo>
                  <a:lnTo>
                    <a:pt x="190500" y="1485900"/>
                  </a:lnTo>
                  <a:cubicBezTo>
                    <a:pt x="85344" y="1485900"/>
                    <a:pt x="0" y="1400556"/>
                    <a:pt x="0" y="1295400"/>
                  </a:cubicBezTo>
                  <a:close/>
                </a:path>
              </a:pathLst>
            </a:custGeom>
            <a:solidFill>
              <a:srgbClr val="E9F1F5"/>
            </a:solidFill>
          </p:spPr>
          <p:txBody>
            <a:bodyPr/>
            <a:p/>
          </p:txBody>
        </p:sp>
      </p:grpSp>
      <p:grpSp>
        <p:nvGrpSpPr>
          <p:cNvPr id="4" name="Group 4"/>
          <p:cNvGrpSpPr/>
          <p:nvPr/>
        </p:nvGrpSpPr>
        <p:grpSpPr>
          <a:xfrm rot="0">
            <a:off x="9022556" y="3757612"/>
            <a:ext cx="3557588" cy="5986462"/>
            <a:chOff x="0" y="0"/>
            <a:chExt cx="4743450" cy="7981950"/>
          </a:xfrm>
        </p:grpSpPr>
        <p:sp>
          <p:nvSpPr>
            <p:cNvPr id="5" name="Freeform 5"/>
            <p:cNvSpPr/>
            <p:nvPr/>
          </p:nvSpPr>
          <p:spPr>
            <a:xfrm>
              <a:off x="0" y="0"/>
              <a:ext cx="4743450" cy="7981950"/>
            </a:xfrm>
            <a:custGeom>
              <a:avLst/>
              <a:gdLst/>
              <a:ahLst/>
              <a:cxnLst/>
              <a:rect l="l" t="t" r="r" b="b"/>
              <a:pathLst>
                <a:path w="4743450" h="7981950">
                  <a:moveTo>
                    <a:pt x="0" y="229489"/>
                  </a:moveTo>
                  <a:cubicBezTo>
                    <a:pt x="0" y="102743"/>
                    <a:pt x="102743" y="0"/>
                    <a:pt x="229489" y="0"/>
                  </a:cubicBezTo>
                  <a:lnTo>
                    <a:pt x="4513961" y="0"/>
                  </a:lnTo>
                  <a:cubicBezTo>
                    <a:pt x="4640707" y="0"/>
                    <a:pt x="4743450" y="102743"/>
                    <a:pt x="4743450" y="229489"/>
                  </a:cubicBezTo>
                  <a:lnTo>
                    <a:pt x="4743450" y="7752461"/>
                  </a:lnTo>
                  <a:cubicBezTo>
                    <a:pt x="4743450" y="7879207"/>
                    <a:pt x="4640707" y="7981950"/>
                    <a:pt x="4513961" y="7981950"/>
                  </a:cubicBezTo>
                  <a:lnTo>
                    <a:pt x="229489" y="7981950"/>
                  </a:lnTo>
                  <a:cubicBezTo>
                    <a:pt x="102743" y="7981950"/>
                    <a:pt x="0" y="7879207"/>
                    <a:pt x="0" y="7752461"/>
                  </a:cubicBezTo>
                  <a:close/>
                </a:path>
              </a:pathLst>
            </a:custGeom>
            <a:solidFill>
              <a:srgbClr val="FCF1DC"/>
            </a:solidFill>
            <a:ln w="14288" cap="sq">
              <a:solidFill>
                <a:srgbClr val="D9822B"/>
              </a:solidFill>
              <a:prstDash val="solid"/>
              <a:miter/>
            </a:ln>
          </p:spPr>
          <p:txBody>
            <a:bodyPr/>
            <a:p/>
          </p:txBody>
        </p:sp>
      </p:grpSp>
      <p:grpSp>
        <p:nvGrpSpPr>
          <p:cNvPr id="6" name="Group 6"/>
          <p:cNvGrpSpPr/>
          <p:nvPr/>
        </p:nvGrpSpPr>
        <p:grpSpPr>
          <a:xfrm rot="0">
            <a:off x="792956" y="3757612"/>
            <a:ext cx="7443788" cy="2871788"/>
            <a:chOff x="0" y="0"/>
            <a:chExt cx="9925050" cy="3829050"/>
          </a:xfrm>
        </p:grpSpPr>
        <p:sp>
          <p:nvSpPr>
            <p:cNvPr id="7" name="Freeform 7"/>
            <p:cNvSpPr/>
            <p:nvPr/>
          </p:nvSpPr>
          <p:spPr>
            <a:xfrm>
              <a:off x="0" y="0"/>
              <a:ext cx="9925050" cy="3829050"/>
            </a:xfrm>
            <a:custGeom>
              <a:avLst/>
              <a:gdLst/>
              <a:ahLst/>
              <a:cxnLst/>
              <a:rect l="l" t="t" r="r" b="b"/>
              <a:pathLst>
                <a:path w="9925050" h="3829050">
                  <a:moveTo>
                    <a:pt x="0" y="191389"/>
                  </a:moveTo>
                  <a:cubicBezTo>
                    <a:pt x="0" y="85725"/>
                    <a:pt x="85725" y="0"/>
                    <a:pt x="191389" y="0"/>
                  </a:cubicBezTo>
                  <a:lnTo>
                    <a:pt x="9733534" y="0"/>
                  </a:lnTo>
                  <a:cubicBezTo>
                    <a:pt x="9839325" y="0"/>
                    <a:pt x="9925050" y="85725"/>
                    <a:pt x="9925050" y="191389"/>
                  </a:cubicBezTo>
                  <a:lnTo>
                    <a:pt x="9925050" y="3637661"/>
                  </a:lnTo>
                  <a:cubicBezTo>
                    <a:pt x="9925050" y="3743452"/>
                    <a:pt x="9839325" y="3829050"/>
                    <a:pt x="9733534" y="3829050"/>
                  </a:cubicBezTo>
                  <a:lnTo>
                    <a:pt x="191389" y="3829050"/>
                  </a:lnTo>
                  <a:cubicBezTo>
                    <a:pt x="85725" y="3829050"/>
                    <a:pt x="0" y="3743325"/>
                    <a:pt x="0" y="3637661"/>
                  </a:cubicBezTo>
                  <a:close/>
                </a:path>
              </a:pathLst>
            </a:custGeom>
            <a:solidFill>
              <a:srgbClr val="F5F7F9"/>
            </a:solidFill>
            <a:ln w="14288" cap="sq">
              <a:solidFill>
                <a:srgbClr val="DCE3EA"/>
              </a:solidFill>
              <a:prstDash val="solid"/>
              <a:miter/>
            </a:ln>
          </p:spPr>
          <p:txBody>
            <a:bodyPr/>
            <a:p/>
          </p:txBody>
        </p:sp>
      </p:grpSp>
      <p:grpSp>
        <p:nvGrpSpPr>
          <p:cNvPr id="8" name="Group 8"/>
          <p:cNvGrpSpPr/>
          <p:nvPr/>
        </p:nvGrpSpPr>
        <p:grpSpPr>
          <a:xfrm rot="0">
            <a:off x="792956" y="6872288"/>
            <a:ext cx="7443788" cy="2871788"/>
            <a:chOff x="0" y="0"/>
            <a:chExt cx="9925050" cy="3829050"/>
          </a:xfrm>
        </p:grpSpPr>
        <p:sp>
          <p:nvSpPr>
            <p:cNvPr id="9" name="Freeform 9"/>
            <p:cNvSpPr/>
            <p:nvPr/>
          </p:nvSpPr>
          <p:spPr>
            <a:xfrm>
              <a:off x="0" y="0"/>
              <a:ext cx="9925050" cy="3829050"/>
            </a:xfrm>
            <a:custGeom>
              <a:avLst/>
              <a:gdLst/>
              <a:ahLst/>
              <a:cxnLst/>
              <a:rect l="l" t="t" r="r" b="b"/>
              <a:pathLst>
                <a:path w="9925050" h="3829050">
                  <a:moveTo>
                    <a:pt x="0" y="191389"/>
                  </a:moveTo>
                  <a:cubicBezTo>
                    <a:pt x="0" y="85725"/>
                    <a:pt x="85725" y="0"/>
                    <a:pt x="191389" y="0"/>
                  </a:cubicBezTo>
                  <a:lnTo>
                    <a:pt x="9733534" y="0"/>
                  </a:lnTo>
                  <a:cubicBezTo>
                    <a:pt x="9839325" y="0"/>
                    <a:pt x="9925050" y="85725"/>
                    <a:pt x="9925050" y="191389"/>
                  </a:cubicBezTo>
                  <a:lnTo>
                    <a:pt x="9925050" y="3637661"/>
                  </a:lnTo>
                  <a:cubicBezTo>
                    <a:pt x="9925050" y="3743452"/>
                    <a:pt x="9839325" y="3829050"/>
                    <a:pt x="9733534" y="3829050"/>
                  </a:cubicBezTo>
                  <a:lnTo>
                    <a:pt x="191389" y="3829050"/>
                  </a:lnTo>
                  <a:cubicBezTo>
                    <a:pt x="85725" y="3829050"/>
                    <a:pt x="0" y="3743325"/>
                    <a:pt x="0" y="3637661"/>
                  </a:cubicBezTo>
                  <a:close/>
                </a:path>
              </a:pathLst>
            </a:custGeom>
            <a:solidFill>
              <a:srgbClr val="F5F7F9"/>
            </a:solidFill>
            <a:ln w="14288" cap="sq">
              <a:solidFill>
                <a:srgbClr val="DCE3EA"/>
              </a:solidFill>
              <a:prstDash val="solid"/>
              <a:miter/>
            </a:ln>
          </p:spPr>
          <p:txBody>
            <a:bodyPr/>
            <a:p/>
          </p:txBody>
        </p:sp>
      </p:grpSp>
      <p:grpSp>
        <p:nvGrpSpPr>
          <p:cNvPr id="10" name="Group 10"/>
          <p:cNvGrpSpPr/>
          <p:nvPr/>
        </p:nvGrpSpPr>
        <p:grpSpPr>
          <a:xfrm rot="0">
            <a:off x="13365956" y="3757612"/>
            <a:ext cx="4129088" cy="2871788"/>
            <a:chOff x="0" y="0"/>
            <a:chExt cx="5505450" cy="3829050"/>
          </a:xfrm>
        </p:grpSpPr>
        <p:sp>
          <p:nvSpPr>
            <p:cNvPr id="11" name="Freeform 11"/>
            <p:cNvSpPr/>
            <p:nvPr/>
          </p:nvSpPr>
          <p:spPr>
            <a:xfrm>
              <a:off x="0" y="0"/>
              <a:ext cx="5505450" cy="3829050"/>
            </a:xfrm>
            <a:custGeom>
              <a:avLst/>
              <a:gdLst/>
              <a:ahLst/>
              <a:cxnLst/>
              <a:rect l="l" t="t" r="r" b="b"/>
              <a:pathLst>
                <a:path w="5505450" h="3829050">
                  <a:moveTo>
                    <a:pt x="0" y="191389"/>
                  </a:moveTo>
                  <a:cubicBezTo>
                    <a:pt x="0" y="85725"/>
                    <a:pt x="85725" y="0"/>
                    <a:pt x="191389" y="0"/>
                  </a:cubicBezTo>
                  <a:lnTo>
                    <a:pt x="5313934" y="0"/>
                  </a:lnTo>
                  <a:cubicBezTo>
                    <a:pt x="5419725" y="0"/>
                    <a:pt x="5505450" y="85725"/>
                    <a:pt x="5505450" y="191389"/>
                  </a:cubicBezTo>
                  <a:lnTo>
                    <a:pt x="5505450" y="3637661"/>
                  </a:lnTo>
                  <a:cubicBezTo>
                    <a:pt x="5505450" y="3743452"/>
                    <a:pt x="5419725" y="3829050"/>
                    <a:pt x="5313934" y="3829050"/>
                  </a:cubicBezTo>
                  <a:lnTo>
                    <a:pt x="191389" y="3829050"/>
                  </a:lnTo>
                  <a:cubicBezTo>
                    <a:pt x="85725" y="3829050"/>
                    <a:pt x="0" y="3743325"/>
                    <a:pt x="0" y="3637661"/>
                  </a:cubicBezTo>
                  <a:close/>
                </a:path>
              </a:pathLst>
            </a:custGeom>
            <a:solidFill>
              <a:srgbClr val="F5F7F9"/>
            </a:solidFill>
            <a:ln w="14288" cap="sq">
              <a:solidFill>
                <a:srgbClr val="DCE3EA"/>
              </a:solidFill>
              <a:prstDash val="solid"/>
              <a:miter/>
            </a:ln>
          </p:spPr>
          <p:txBody>
            <a:bodyPr/>
            <a:p/>
          </p:txBody>
        </p:sp>
      </p:grpSp>
      <p:grpSp>
        <p:nvGrpSpPr>
          <p:cNvPr id="12" name="Group 12"/>
          <p:cNvGrpSpPr/>
          <p:nvPr/>
        </p:nvGrpSpPr>
        <p:grpSpPr>
          <a:xfrm rot="0">
            <a:off x="13365956" y="6872288"/>
            <a:ext cx="4129088" cy="2871788"/>
            <a:chOff x="0" y="0"/>
            <a:chExt cx="5505450" cy="3829050"/>
          </a:xfrm>
        </p:grpSpPr>
        <p:sp>
          <p:nvSpPr>
            <p:cNvPr id="13" name="Freeform 13"/>
            <p:cNvSpPr/>
            <p:nvPr/>
          </p:nvSpPr>
          <p:spPr>
            <a:xfrm>
              <a:off x="0" y="0"/>
              <a:ext cx="5505450" cy="3829050"/>
            </a:xfrm>
            <a:custGeom>
              <a:avLst/>
              <a:gdLst/>
              <a:ahLst/>
              <a:cxnLst/>
              <a:rect l="l" t="t" r="r" b="b"/>
              <a:pathLst>
                <a:path w="5505450" h="3829050">
                  <a:moveTo>
                    <a:pt x="0" y="191389"/>
                  </a:moveTo>
                  <a:cubicBezTo>
                    <a:pt x="0" y="85725"/>
                    <a:pt x="85725" y="0"/>
                    <a:pt x="191389" y="0"/>
                  </a:cubicBezTo>
                  <a:lnTo>
                    <a:pt x="5313934" y="0"/>
                  </a:lnTo>
                  <a:cubicBezTo>
                    <a:pt x="5419725" y="0"/>
                    <a:pt x="5505450" y="85725"/>
                    <a:pt x="5505450" y="191389"/>
                  </a:cubicBezTo>
                  <a:lnTo>
                    <a:pt x="5505450" y="3637661"/>
                  </a:lnTo>
                  <a:cubicBezTo>
                    <a:pt x="5505450" y="3743452"/>
                    <a:pt x="5419725" y="3829050"/>
                    <a:pt x="5313934" y="3829050"/>
                  </a:cubicBezTo>
                  <a:lnTo>
                    <a:pt x="191389" y="3829050"/>
                  </a:lnTo>
                  <a:cubicBezTo>
                    <a:pt x="85725" y="3829050"/>
                    <a:pt x="0" y="3743325"/>
                    <a:pt x="0" y="3637661"/>
                  </a:cubicBezTo>
                  <a:close/>
                </a:path>
              </a:pathLst>
            </a:custGeom>
            <a:solidFill>
              <a:srgbClr val="F5F7F9"/>
            </a:solidFill>
            <a:ln w="14288" cap="sq">
              <a:solidFill>
                <a:srgbClr val="DCE3EA"/>
              </a:solidFill>
              <a:prstDash val="solid"/>
              <a:miter/>
            </a:ln>
          </p:spPr>
          <p:txBody>
            <a:bodyPr/>
            <a:p/>
          </p:txBody>
        </p:sp>
      </p:grpSp>
      <p:grpSp>
        <p:nvGrpSpPr>
          <p:cNvPr id="14" name="Group 14"/>
          <p:cNvGrpSpPr/>
          <p:nvPr/>
        </p:nvGrpSpPr>
        <p:grpSpPr>
          <a:xfrm rot="0">
            <a:off x="8451056" y="5057775"/>
            <a:ext cx="357188" cy="400050"/>
            <a:chOff x="0" y="0"/>
            <a:chExt cx="476250" cy="533400"/>
          </a:xfrm>
        </p:grpSpPr>
        <p:sp>
          <p:nvSpPr>
            <p:cNvPr id="15" name="Freeform 15" descr="image.png"/>
            <p:cNvSpPr/>
            <p:nvPr/>
          </p:nvSpPr>
          <p:spPr>
            <a:xfrm>
              <a:off x="0" y="0"/>
              <a:ext cx="476250" cy="533400"/>
            </a:xfrm>
            <a:custGeom>
              <a:avLst/>
              <a:gdLst/>
              <a:ahLst/>
              <a:cxnLst/>
              <a:rect l="l" t="t" r="r" b="b"/>
              <a:pathLst>
                <a:path w="476250" h="533400">
                  <a:moveTo>
                    <a:pt x="0" y="0"/>
                  </a:moveTo>
                  <a:lnTo>
                    <a:pt x="476250" y="0"/>
                  </a:lnTo>
                  <a:lnTo>
                    <a:pt x="476250" y="533400"/>
                  </a:lnTo>
                  <a:lnTo>
                    <a:pt x="0" y="533400"/>
                  </a:lnTo>
                  <a:lnTo>
                    <a:pt x="0" y="0"/>
                  </a:lnTo>
                  <a:close/>
                </a:path>
              </a:pathLst>
            </a:custGeom>
            <a:blipFill>
              <a:blip r:embed="rId1"/>
              <a:stretch>
                <a:fillRect r="-4000"/>
              </a:stretch>
            </a:blipFill>
          </p:spPr>
          <p:txBody>
            <a:bodyPr/>
            <a:p/>
          </p:txBody>
        </p:sp>
      </p:grpSp>
      <p:grpSp>
        <p:nvGrpSpPr>
          <p:cNvPr id="16" name="Group 16"/>
          <p:cNvGrpSpPr/>
          <p:nvPr/>
        </p:nvGrpSpPr>
        <p:grpSpPr>
          <a:xfrm rot="0">
            <a:off x="8451056" y="8043862"/>
            <a:ext cx="357188" cy="400050"/>
            <a:chOff x="0" y="0"/>
            <a:chExt cx="476250" cy="533400"/>
          </a:xfrm>
        </p:grpSpPr>
        <p:sp>
          <p:nvSpPr>
            <p:cNvPr id="17" name="Freeform 17" descr="image.png"/>
            <p:cNvSpPr/>
            <p:nvPr/>
          </p:nvSpPr>
          <p:spPr>
            <a:xfrm>
              <a:off x="0" y="0"/>
              <a:ext cx="476250" cy="533400"/>
            </a:xfrm>
            <a:custGeom>
              <a:avLst/>
              <a:gdLst/>
              <a:ahLst/>
              <a:cxnLst/>
              <a:rect l="l" t="t" r="r" b="b"/>
              <a:pathLst>
                <a:path w="476250" h="533400">
                  <a:moveTo>
                    <a:pt x="0" y="0"/>
                  </a:moveTo>
                  <a:lnTo>
                    <a:pt x="476250" y="0"/>
                  </a:lnTo>
                  <a:lnTo>
                    <a:pt x="476250" y="533400"/>
                  </a:lnTo>
                  <a:lnTo>
                    <a:pt x="0" y="533400"/>
                  </a:lnTo>
                  <a:lnTo>
                    <a:pt x="0" y="0"/>
                  </a:lnTo>
                  <a:close/>
                </a:path>
              </a:pathLst>
            </a:custGeom>
            <a:blipFill>
              <a:blip r:embed="rId1"/>
              <a:stretch>
                <a:fillRect r="-4000"/>
              </a:stretch>
            </a:blipFill>
          </p:spPr>
          <p:txBody>
            <a:bodyPr/>
            <a:p/>
          </p:txBody>
        </p:sp>
      </p:grpSp>
      <p:grpSp>
        <p:nvGrpSpPr>
          <p:cNvPr id="18" name="Group 18"/>
          <p:cNvGrpSpPr/>
          <p:nvPr/>
        </p:nvGrpSpPr>
        <p:grpSpPr>
          <a:xfrm rot="0">
            <a:off x="12794456" y="5057775"/>
            <a:ext cx="357188" cy="400050"/>
            <a:chOff x="0" y="0"/>
            <a:chExt cx="476250" cy="533400"/>
          </a:xfrm>
        </p:grpSpPr>
        <p:sp>
          <p:nvSpPr>
            <p:cNvPr id="19" name="Freeform 19" descr="image.png"/>
            <p:cNvSpPr/>
            <p:nvPr/>
          </p:nvSpPr>
          <p:spPr>
            <a:xfrm>
              <a:off x="0" y="0"/>
              <a:ext cx="476250" cy="533400"/>
            </a:xfrm>
            <a:custGeom>
              <a:avLst/>
              <a:gdLst/>
              <a:ahLst/>
              <a:cxnLst/>
              <a:rect l="l" t="t" r="r" b="b"/>
              <a:pathLst>
                <a:path w="476250" h="533400">
                  <a:moveTo>
                    <a:pt x="0" y="0"/>
                  </a:moveTo>
                  <a:lnTo>
                    <a:pt x="476250" y="0"/>
                  </a:lnTo>
                  <a:lnTo>
                    <a:pt x="476250" y="533400"/>
                  </a:lnTo>
                  <a:lnTo>
                    <a:pt x="0" y="533400"/>
                  </a:lnTo>
                  <a:lnTo>
                    <a:pt x="0" y="0"/>
                  </a:lnTo>
                  <a:close/>
                </a:path>
              </a:pathLst>
            </a:custGeom>
            <a:blipFill>
              <a:blip r:embed="rId1"/>
              <a:stretch>
                <a:fillRect r="-4000"/>
              </a:stretch>
            </a:blipFill>
          </p:spPr>
          <p:txBody>
            <a:bodyPr/>
            <a:p/>
          </p:txBody>
        </p:sp>
      </p:grpSp>
      <p:grpSp>
        <p:nvGrpSpPr>
          <p:cNvPr id="20" name="Group 20"/>
          <p:cNvGrpSpPr/>
          <p:nvPr/>
        </p:nvGrpSpPr>
        <p:grpSpPr>
          <a:xfrm rot="0">
            <a:off x="12794456" y="8043862"/>
            <a:ext cx="357188" cy="400050"/>
            <a:chOff x="0" y="0"/>
            <a:chExt cx="476250" cy="533400"/>
          </a:xfrm>
        </p:grpSpPr>
        <p:sp>
          <p:nvSpPr>
            <p:cNvPr id="21" name="Freeform 21" descr="image.png"/>
            <p:cNvSpPr/>
            <p:nvPr/>
          </p:nvSpPr>
          <p:spPr>
            <a:xfrm>
              <a:off x="0" y="0"/>
              <a:ext cx="476250" cy="533400"/>
            </a:xfrm>
            <a:custGeom>
              <a:avLst/>
              <a:gdLst/>
              <a:ahLst/>
              <a:cxnLst/>
              <a:rect l="l" t="t" r="r" b="b"/>
              <a:pathLst>
                <a:path w="476250" h="533400">
                  <a:moveTo>
                    <a:pt x="0" y="0"/>
                  </a:moveTo>
                  <a:lnTo>
                    <a:pt x="476250" y="0"/>
                  </a:lnTo>
                  <a:lnTo>
                    <a:pt x="476250" y="533400"/>
                  </a:lnTo>
                  <a:lnTo>
                    <a:pt x="0" y="533400"/>
                  </a:lnTo>
                  <a:lnTo>
                    <a:pt x="0" y="0"/>
                  </a:lnTo>
                  <a:close/>
                </a:path>
              </a:pathLst>
            </a:custGeom>
            <a:blipFill>
              <a:blip r:embed="rId1"/>
              <a:stretch>
                <a:fillRect r="-4000"/>
              </a:stretch>
            </a:blipFill>
          </p:spPr>
          <p:txBody>
            <a:bodyPr/>
            <a:p/>
          </p:txBody>
        </p:sp>
      </p:grpSp>
      <p:grpSp>
        <p:nvGrpSpPr>
          <p:cNvPr id="22" name="Group 22"/>
          <p:cNvGrpSpPr/>
          <p:nvPr/>
        </p:nvGrpSpPr>
        <p:grpSpPr>
          <a:xfrm rot="0">
            <a:off x="1014412" y="3979069"/>
            <a:ext cx="3429000" cy="2428875"/>
            <a:chOff x="0" y="0"/>
            <a:chExt cx="4572000" cy="3238500"/>
          </a:xfrm>
        </p:grpSpPr>
        <p:sp>
          <p:nvSpPr>
            <p:cNvPr id="23" name="Freeform 23" descr="image.png"/>
            <p:cNvSpPr/>
            <p:nvPr/>
          </p:nvSpPr>
          <p:spPr>
            <a:xfrm>
              <a:off x="0" y="0"/>
              <a:ext cx="4572000" cy="3238500"/>
            </a:xfrm>
            <a:custGeom>
              <a:avLst/>
              <a:gdLst/>
              <a:ahLst/>
              <a:cxnLst/>
              <a:rect l="l" t="t" r="r" b="b"/>
              <a:pathLst>
                <a:path w="4572000" h="3238500">
                  <a:moveTo>
                    <a:pt x="0" y="0"/>
                  </a:moveTo>
                  <a:lnTo>
                    <a:pt x="4572000" y="0"/>
                  </a:lnTo>
                  <a:lnTo>
                    <a:pt x="4572000" y="3238500"/>
                  </a:lnTo>
                  <a:lnTo>
                    <a:pt x="0" y="3238500"/>
                  </a:lnTo>
                  <a:lnTo>
                    <a:pt x="0" y="0"/>
                  </a:lnTo>
                  <a:close/>
                </a:path>
              </a:pathLst>
            </a:custGeom>
            <a:blipFill>
              <a:blip r:embed="rId2"/>
              <a:stretch>
                <a:fillRect b="-588"/>
              </a:stretch>
            </a:blipFill>
          </p:spPr>
          <p:txBody>
            <a:bodyPr/>
            <a:p/>
          </p:txBody>
        </p:sp>
      </p:grpSp>
      <p:grpSp>
        <p:nvGrpSpPr>
          <p:cNvPr id="24" name="Group 24"/>
          <p:cNvGrpSpPr/>
          <p:nvPr/>
        </p:nvGrpSpPr>
        <p:grpSpPr>
          <a:xfrm rot="0">
            <a:off x="1014412" y="7093744"/>
            <a:ext cx="3429000" cy="2428875"/>
            <a:chOff x="0" y="0"/>
            <a:chExt cx="4572000" cy="3238500"/>
          </a:xfrm>
        </p:grpSpPr>
        <p:sp>
          <p:nvSpPr>
            <p:cNvPr id="25" name="Freeform 25" descr="image.png"/>
            <p:cNvSpPr/>
            <p:nvPr/>
          </p:nvSpPr>
          <p:spPr>
            <a:xfrm>
              <a:off x="0" y="0"/>
              <a:ext cx="4572000" cy="3238500"/>
            </a:xfrm>
            <a:custGeom>
              <a:avLst/>
              <a:gdLst/>
              <a:ahLst/>
              <a:cxnLst/>
              <a:rect l="l" t="t" r="r" b="b"/>
              <a:pathLst>
                <a:path w="4572000" h="3238500">
                  <a:moveTo>
                    <a:pt x="0" y="0"/>
                  </a:moveTo>
                  <a:lnTo>
                    <a:pt x="4572000" y="0"/>
                  </a:lnTo>
                  <a:lnTo>
                    <a:pt x="4572000" y="3238500"/>
                  </a:lnTo>
                  <a:lnTo>
                    <a:pt x="0" y="3238500"/>
                  </a:lnTo>
                  <a:lnTo>
                    <a:pt x="0" y="0"/>
                  </a:lnTo>
                  <a:close/>
                </a:path>
              </a:pathLst>
            </a:custGeom>
            <a:blipFill>
              <a:blip r:embed="rId2"/>
              <a:stretch>
                <a:fillRect b="-588"/>
              </a:stretch>
            </a:blipFill>
          </p:spPr>
          <p:txBody>
            <a:bodyPr/>
            <a:p/>
          </p:txBody>
        </p:sp>
      </p:grpSp>
      <p:grpSp>
        <p:nvGrpSpPr>
          <p:cNvPr id="26" name="Group 26"/>
          <p:cNvGrpSpPr/>
          <p:nvPr/>
        </p:nvGrpSpPr>
        <p:grpSpPr>
          <a:xfrm rot="0">
            <a:off x="1014412" y="3979069"/>
            <a:ext cx="3429000" cy="2428875"/>
            <a:chOff x="0" y="0"/>
            <a:chExt cx="4572000" cy="3238500"/>
          </a:xfrm>
        </p:grpSpPr>
        <p:sp>
          <p:nvSpPr>
            <p:cNvPr id="27" name="Freeform 27" descr="image.png"/>
            <p:cNvSpPr/>
            <p:nvPr/>
          </p:nvSpPr>
          <p:spPr>
            <a:xfrm>
              <a:off x="0" y="0"/>
              <a:ext cx="4572000" cy="3238500"/>
            </a:xfrm>
            <a:custGeom>
              <a:avLst/>
              <a:gdLst/>
              <a:ahLst/>
              <a:cxnLst/>
              <a:rect l="l" t="t" r="r" b="b"/>
              <a:pathLst>
                <a:path w="4572000" h="3238500">
                  <a:moveTo>
                    <a:pt x="0" y="0"/>
                  </a:moveTo>
                  <a:lnTo>
                    <a:pt x="4572000" y="0"/>
                  </a:lnTo>
                  <a:lnTo>
                    <a:pt x="4572000" y="3238500"/>
                  </a:lnTo>
                  <a:lnTo>
                    <a:pt x="0" y="3238500"/>
                  </a:lnTo>
                  <a:lnTo>
                    <a:pt x="0" y="0"/>
                  </a:lnTo>
                  <a:close/>
                </a:path>
              </a:pathLst>
            </a:custGeom>
            <a:blipFill>
              <a:blip r:embed="rId3"/>
              <a:stretch>
                <a:fillRect b="-588"/>
              </a:stretch>
            </a:blipFill>
          </p:spPr>
          <p:txBody>
            <a:bodyPr/>
            <a:p/>
          </p:txBody>
        </p:sp>
      </p:grpSp>
      <p:grpSp>
        <p:nvGrpSpPr>
          <p:cNvPr id="28" name="Group 28"/>
          <p:cNvGrpSpPr/>
          <p:nvPr/>
        </p:nvGrpSpPr>
        <p:grpSpPr>
          <a:xfrm rot="0">
            <a:off x="1014412" y="7093744"/>
            <a:ext cx="3429000" cy="2428875"/>
            <a:chOff x="0" y="0"/>
            <a:chExt cx="4572000" cy="3238500"/>
          </a:xfrm>
        </p:grpSpPr>
        <p:sp>
          <p:nvSpPr>
            <p:cNvPr id="29" name="Freeform 29" descr="image.png"/>
            <p:cNvSpPr/>
            <p:nvPr/>
          </p:nvSpPr>
          <p:spPr>
            <a:xfrm>
              <a:off x="0" y="0"/>
              <a:ext cx="4572000" cy="3238500"/>
            </a:xfrm>
            <a:custGeom>
              <a:avLst/>
              <a:gdLst/>
              <a:ahLst/>
              <a:cxnLst/>
              <a:rect l="l" t="t" r="r" b="b"/>
              <a:pathLst>
                <a:path w="4572000" h="3238500">
                  <a:moveTo>
                    <a:pt x="0" y="0"/>
                  </a:moveTo>
                  <a:lnTo>
                    <a:pt x="4572000" y="0"/>
                  </a:lnTo>
                  <a:lnTo>
                    <a:pt x="4572000" y="3238500"/>
                  </a:lnTo>
                  <a:lnTo>
                    <a:pt x="0" y="3238500"/>
                  </a:lnTo>
                  <a:lnTo>
                    <a:pt x="0" y="0"/>
                  </a:lnTo>
                  <a:close/>
                </a:path>
              </a:pathLst>
            </a:custGeom>
            <a:blipFill>
              <a:blip r:embed="rId4"/>
              <a:stretch>
                <a:fillRect b="-588"/>
              </a:stretch>
            </a:blipFill>
          </p:spPr>
          <p:txBody>
            <a:bodyPr/>
            <a:p/>
          </p:txBody>
        </p:sp>
      </p:grpSp>
      <p:sp>
        <p:nvSpPr>
          <p:cNvPr id="30" name="TextBox 30"/>
          <p:cNvSpPr txBox="1"/>
          <p:nvPr/>
        </p:nvSpPr>
        <p:spPr>
          <a:xfrm>
            <a:off x="800100" y="514350"/>
            <a:ext cx="17487900" cy="242888"/>
          </a:xfrm>
          <a:prstGeom prst="rect">
            <a:avLst/>
          </a:prstGeom>
        </p:spPr>
        <p:txBody>
          <a:bodyPr lIns="0" tIns="0" rIns="0" bIns="0" rtlCol="0" anchor="t">
            <a:spAutoFit/>
          </a:bodyPr>
          <a:lstStyle/>
          <a:p>
            <a:pPr algn="l">
              <a:lnSpc>
                <a:spcPts val="1890"/>
              </a:lnSpc>
            </a:pPr>
            <a:r>
              <a:rPr lang="en-US" sz="1575" b="1">
                <a:solidFill>
                  <a:srgbClr val="1D638C"/>
                </a:solidFill>
                <a:latin typeface="Inter Bold" panose="02000503000000020004"/>
                <a:ea typeface="Inter Bold" panose="02000503000000020004"/>
                <a:cs typeface="Inter Bold" panose="02000503000000020004"/>
                <a:sym typeface="Inter Bold" panose="02000503000000020004"/>
              </a:rPr>
              <a:t>REVIEW 1 · PHẠM VI · 01 · BÀI TOÁN</a:t>
            </a:r>
            <a:endParaRPr lang="en-US" sz="157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31" name="TextBox 31"/>
          <p:cNvSpPr txBox="1"/>
          <p:nvPr/>
        </p:nvSpPr>
        <p:spPr>
          <a:xfrm>
            <a:off x="800100" y="871538"/>
            <a:ext cx="17487900" cy="728662"/>
          </a:xfrm>
          <a:prstGeom prst="rect">
            <a:avLst/>
          </a:prstGeom>
        </p:spPr>
        <p:txBody>
          <a:bodyPr lIns="0" tIns="0" rIns="0" bIns="0" rtlCol="0" anchor="t">
            <a:spAutoFit/>
          </a:bodyPr>
          <a:lstStyle/>
          <a:p>
            <a:pPr algn="l">
              <a:lnSpc>
                <a:spcPts val="5400"/>
              </a:lnSpc>
            </a:pPr>
            <a:r>
              <a:rPr lang="en-US" sz="4500" b="1">
                <a:solidFill>
                  <a:srgbClr val="0F2B46"/>
                </a:solidFill>
                <a:latin typeface="Lora Bold" panose="00000800000000000000"/>
                <a:ea typeface="Lora Bold" panose="00000800000000000000"/>
                <a:cs typeface="Lora Bold" panose="00000800000000000000"/>
                <a:sym typeface="Lora Bold" panose="00000800000000000000"/>
              </a:rPr>
              <a:t>Phát biểu bài toán: input → mô hình → output</a:t>
            </a:r>
            <a:endParaRPr lang="en-US" sz="4500" b="1">
              <a:solidFill>
                <a:srgbClr val="0F2B46"/>
              </a:solidFill>
              <a:latin typeface="Lora Bold" panose="00000800000000000000"/>
              <a:ea typeface="Lora Bold" panose="00000800000000000000"/>
              <a:cs typeface="Lora Bold" panose="00000800000000000000"/>
              <a:sym typeface="Lora Bold" panose="00000800000000000000"/>
            </a:endParaRPr>
          </a:p>
        </p:txBody>
      </p:sp>
      <p:sp>
        <p:nvSpPr>
          <p:cNvPr id="32" name="TextBox 32"/>
          <p:cNvSpPr txBox="1"/>
          <p:nvPr/>
        </p:nvSpPr>
        <p:spPr>
          <a:xfrm>
            <a:off x="1143000" y="2133600"/>
            <a:ext cx="16144875" cy="609600"/>
          </a:xfrm>
          <a:prstGeom prst="rect">
            <a:avLst/>
          </a:prstGeom>
        </p:spPr>
        <p:txBody>
          <a:bodyPr lIns="0" tIns="0" rIns="0" bIns="0" rtlCol="0" anchor="t">
            <a:spAutoFit/>
          </a:bodyPr>
          <a:lstStyle/>
          <a:p>
            <a:pPr algn="l">
              <a:lnSpc>
                <a:spcPts val="2430"/>
              </a:lnSpc>
            </a:pPr>
            <a:r>
              <a:rPr lang="en-US" sz="2025" b="1">
                <a:solidFill>
                  <a:srgbClr val="1E293B"/>
                </a:solidFill>
                <a:latin typeface="Inter Bold" panose="02000503000000020004"/>
                <a:ea typeface="Inter Bold" panose="02000503000000020004"/>
                <a:cs typeface="Inter Bold" panose="02000503000000020004"/>
                <a:sym typeface="Inter Bold" panose="02000503000000020004"/>
              </a:rPr>
              <a:t>Bài toán</a:t>
            </a:r>
            <a:r>
              <a:rPr lang="en-US" sz="2025">
                <a:solidFill>
                  <a:srgbClr val="1E293B"/>
                </a:solidFill>
                <a:latin typeface="Inter" panose="02000503000000020004"/>
                <a:ea typeface="Inter" panose="02000503000000020004"/>
                <a:cs typeface="Inter" panose="02000503000000020004"/>
                <a:sym typeface="Inter" panose="02000503000000020004"/>
              </a:rPr>
              <a:t>  Cho một ảnh và một câu hỏi tiếng Việt về ảnh, sinh câu trả lời tiếng Việt ngắn, đúng nội dung ảnh và đúng chính tả có dấu — bằng cách thích nghi một VLM mở (Qwen2.5-VL-3B) chỉ với PEFT (QLoRA), trên một GPU Colab.</a:t>
            </a:r>
            <a:endParaRPr lang="en-US" sz="2025">
              <a:solidFill>
                <a:srgbClr val="1E293B"/>
              </a:solidFill>
              <a:latin typeface="Inter" panose="02000503000000020004"/>
              <a:ea typeface="Inter" panose="02000503000000020004"/>
              <a:cs typeface="Inter" panose="02000503000000020004"/>
              <a:sym typeface="Inter" panose="02000503000000020004"/>
            </a:endParaRPr>
          </a:p>
        </p:txBody>
      </p:sp>
      <p:sp>
        <p:nvSpPr>
          <p:cNvPr id="33" name="TextBox 33"/>
          <p:cNvSpPr txBox="1"/>
          <p:nvPr/>
        </p:nvSpPr>
        <p:spPr>
          <a:xfrm>
            <a:off x="800100" y="3314700"/>
            <a:ext cx="9286875" cy="271462"/>
          </a:xfrm>
          <a:prstGeom prst="rect">
            <a:avLst/>
          </a:prstGeom>
        </p:spPr>
        <p:txBody>
          <a:bodyPr lIns="0" tIns="0" rIns="0" bIns="0" rtlCol="0" anchor="t">
            <a:spAutoFit/>
          </a:bodyPr>
          <a:lstStyle/>
          <a:p>
            <a:pPr algn="l">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INPUT · ảnh + câu hỏi tiếng Việt</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34" name="TextBox 34"/>
          <p:cNvSpPr txBox="1"/>
          <p:nvPr/>
        </p:nvSpPr>
        <p:spPr>
          <a:xfrm>
            <a:off x="8586788" y="3314700"/>
            <a:ext cx="4429125" cy="271462"/>
          </a:xfrm>
          <a:prstGeom prst="rect">
            <a:avLst/>
          </a:prstGeom>
        </p:spPr>
        <p:txBody>
          <a:bodyPr lIns="0" tIns="0" rIns="0" bIns="0" rtlCol="0" anchor="t">
            <a:spAutoFit/>
          </a:bodyPr>
          <a:lstStyle/>
          <a:p>
            <a:pPr algn="ctr">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MÔ HÌNH</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35" name="TextBox 35"/>
          <p:cNvSpPr txBox="1"/>
          <p:nvPr/>
        </p:nvSpPr>
        <p:spPr>
          <a:xfrm>
            <a:off x="13373100" y="3314700"/>
            <a:ext cx="4914900" cy="271462"/>
          </a:xfrm>
          <a:prstGeom prst="rect">
            <a:avLst/>
          </a:prstGeom>
        </p:spPr>
        <p:txBody>
          <a:bodyPr lIns="0" tIns="0" rIns="0" bIns="0" rtlCol="0" anchor="t">
            <a:spAutoFit/>
          </a:bodyPr>
          <a:lstStyle/>
          <a:p>
            <a:pPr algn="l">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OUTPUT · câu trả lời ngắn</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36" name="TextBox 36"/>
          <p:cNvSpPr txBox="1"/>
          <p:nvPr/>
        </p:nvSpPr>
        <p:spPr>
          <a:xfrm>
            <a:off x="9179271" y="5755481"/>
            <a:ext cx="3244158" cy="381000"/>
          </a:xfrm>
          <a:prstGeom prst="rect">
            <a:avLst/>
          </a:prstGeom>
        </p:spPr>
        <p:txBody>
          <a:bodyPr lIns="0" tIns="0" rIns="0" bIns="0" rtlCol="0" anchor="t">
            <a:spAutoFit/>
          </a:bodyPr>
          <a:lstStyle/>
          <a:p>
            <a:pPr algn="ctr">
              <a:lnSpc>
                <a:spcPts val="2970"/>
              </a:lnSpc>
            </a:pPr>
            <a:r>
              <a:rPr lang="en-US" sz="2475" b="1">
                <a:solidFill>
                  <a:srgbClr val="0F2B46"/>
                </a:solidFill>
                <a:latin typeface="Inter Bold" panose="02000503000000020004"/>
                <a:ea typeface="Inter Bold" panose="02000503000000020004"/>
                <a:cs typeface="Inter Bold" panose="02000503000000020004"/>
                <a:sym typeface="Inter Bold" panose="02000503000000020004"/>
              </a:rPr>
              <a:t>Qwen2.5-VL-3B</a:t>
            </a:r>
            <a:endParaRPr lang="en-US" sz="2475"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37" name="TextBox 37"/>
          <p:cNvSpPr txBox="1"/>
          <p:nvPr/>
        </p:nvSpPr>
        <p:spPr>
          <a:xfrm>
            <a:off x="10001250" y="6250781"/>
            <a:ext cx="1600200" cy="271462"/>
          </a:xfrm>
          <a:prstGeom prst="rect">
            <a:avLst/>
          </a:prstGeom>
        </p:spPr>
        <p:txBody>
          <a:bodyPr lIns="0" tIns="0" rIns="0" bIns="0" rtlCol="0" anchor="t">
            <a:spAutoFit/>
          </a:bodyPr>
          <a:lstStyle/>
          <a:p>
            <a:pPr algn="ctr">
              <a:lnSpc>
                <a:spcPts val="2025"/>
              </a:lnSpc>
            </a:pPr>
            <a:r>
              <a:rPr lang="en-US" sz="1685">
                <a:solidFill>
                  <a:srgbClr val="334155"/>
                </a:solidFill>
                <a:latin typeface="Inter" panose="02000503000000020004"/>
                <a:ea typeface="Inter" panose="02000503000000020004"/>
                <a:cs typeface="Inter" panose="02000503000000020004"/>
                <a:sym typeface="Inter" panose="02000503000000020004"/>
              </a:rPr>
              <a:t>3 tỉ tham số</a:t>
            </a:r>
            <a:endParaRPr lang="en-US" sz="1685">
              <a:solidFill>
                <a:srgbClr val="334155"/>
              </a:solidFill>
              <a:latin typeface="Inter" panose="02000503000000020004"/>
              <a:ea typeface="Inter" panose="02000503000000020004"/>
              <a:cs typeface="Inter" panose="02000503000000020004"/>
              <a:sym typeface="Inter" panose="02000503000000020004"/>
            </a:endParaRPr>
          </a:p>
        </p:txBody>
      </p:sp>
      <p:sp>
        <p:nvSpPr>
          <p:cNvPr id="38" name="TextBox 38"/>
          <p:cNvSpPr txBox="1"/>
          <p:nvPr/>
        </p:nvSpPr>
        <p:spPr>
          <a:xfrm>
            <a:off x="8926116" y="6579394"/>
            <a:ext cx="3750469" cy="271462"/>
          </a:xfrm>
          <a:prstGeom prst="rect">
            <a:avLst/>
          </a:prstGeom>
        </p:spPr>
        <p:txBody>
          <a:bodyPr lIns="0" tIns="0" rIns="0" bIns="0" rtlCol="0" anchor="t">
            <a:spAutoFit/>
          </a:bodyPr>
          <a:lstStyle/>
          <a:p>
            <a:pPr algn="ctr">
              <a:lnSpc>
                <a:spcPts val="2025"/>
              </a:lnSpc>
            </a:pPr>
            <a:r>
              <a:rPr lang="en-US" sz="1685">
                <a:solidFill>
                  <a:srgbClr val="334155"/>
                </a:solidFill>
                <a:latin typeface="Inter" panose="02000503000000020004"/>
                <a:ea typeface="Inter" panose="02000503000000020004"/>
                <a:cs typeface="Inter" panose="02000503000000020004"/>
                <a:sym typeface="Inter" panose="02000503000000020004"/>
              </a:rPr>
              <a:t>lượng tử hoá 4-bit, đóng băng</a:t>
            </a:r>
            <a:endParaRPr lang="en-US" sz="1685">
              <a:solidFill>
                <a:srgbClr val="334155"/>
              </a:solidFill>
              <a:latin typeface="Inter" panose="02000503000000020004"/>
              <a:ea typeface="Inter" panose="02000503000000020004"/>
              <a:cs typeface="Inter" panose="02000503000000020004"/>
              <a:sym typeface="Inter" panose="02000503000000020004"/>
            </a:endParaRPr>
          </a:p>
        </p:txBody>
      </p:sp>
      <p:sp>
        <p:nvSpPr>
          <p:cNvPr id="39" name="TextBox 39"/>
          <p:cNvSpPr txBox="1"/>
          <p:nvPr/>
        </p:nvSpPr>
        <p:spPr>
          <a:xfrm>
            <a:off x="9488681" y="7098506"/>
            <a:ext cx="2625328" cy="309563"/>
          </a:xfrm>
          <a:prstGeom prst="rect">
            <a:avLst/>
          </a:prstGeom>
        </p:spPr>
        <p:txBody>
          <a:bodyPr lIns="0" tIns="0" rIns="0" bIns="0" rtlCol="0" anchor="t">
            <a:spAutoFit/>
          </a:bodyPr>
          <a:lstStyle/>
          <a:p>
            <a:pPr algn="ctr">
              <a:lnSpc>
                <a:spcPts val="2430"/>
              </a:lnSpc>
            </a:pPr>
            <a:r>
              <a:rPr lang="en-US" sz="2025" b="1">
                <a:solidFill>
                  <a:srgbClr val="B45309"/>
                </a:solidFill>
                <a:latin typeface="Inter Bold" panose="02000503000000020004"/>
                <a:ea typeface="Inter Bold" panose="02000503000000020004"/>
                <a:cs typeface="Inter Bold" panose="02000503000000020004"/>
                <a:sym typeface="Inter Bold" panose="02000503000000020004"/>
              </a:rPr>
              <a:t>+ adapter QLoRA</a:t>
            </a:r>
            <a:endParaRPr lang="en-US" sz="2025" b="1">
              <a:solidFill>
                <a:srgbClr val="B45309"/>
              </a:solidFill>
              <a:latin typeface="Inter Bold" panose="02000503000000020004"/>
              <a:ea typeface="Inter Bold" panose="02000503000000020004"/>
              <a:cs typeface="Inter Bold" panose="02000503000000020004"/>
              <a:sym typeface="Inter Bold" panose="02000503000000020004"/>
            </a:endParaRPr>
          </a:p>
        </p:txBody>
      </p:sp>
      <p:sp>
        <p:nvSpPr>
          <p:cNvPr id="40" name="TextBox 40"/>
          <p:cNvSpPr txBox="1"/>
          <p:nvPr/>
        </p:nvSpPr>
        <p:spPr>
          <a:xfrm>
            <a:off x="9256509" y="7465219"/>
            <a:ext cx="3089672" cy="271462"/>
          </a:xfrm>
          <a:prstGeom prst="rect">
            <a:avLst/>
          </a:prstGeom>
        </p:spPr>
        <p:txBody>
          <a:bodyPr lIns="0" tIns="0" rIns="0" bIns="0" rtlCol="0" anchor="t">
            <a:spAutoFit/>
          </a:bodyPr>
          <a:lstStyle/>
          <a:p>
            <a:pPr algn="ctr">
              <a:lnSpc>
                <a:spcPts val="2025"/>
              </a:lnSpc>
            </a:pPr>
            <a:r>
              <a:rPr lang="en-US" sz="1685">
                <a:solidFill>
                  <a:srgbClr val="334155"/>
                </a:solidFill>
                <a:latin typeface="Inter" panose="02000503000000020004"/>
                <a:ea typeface="Inter" panose="02000503000000020004"/>
                <a:cs typeface="Inter" panose="02000503000000020004"/>
                <a:sym typeface="Inter" panose="02000503000000020004"/>
              </a:rPr>
              <a:t>chỉ train 0,196% tham số</a:t>
            </a:r>
            <a:endParaRPr lang="en-US" sz="1685">
              <a:solidFill>
                <a:srgbClr val="334155"/>
              </a:solidFill>
              <a:latin typeface="Inter" panose="02000503000000020004"/>
              <a:ea typeface="Inter" panose="02000503000000020004"/>
              <a:cs typeface="Inter" panose="02000503000000020004"/>
              <a:sym typeface="Inter" panose="02000503000000020004"/>
            </a:endParaRPr>
          </a:p>
        </p:txBody>
      </p:sp>
      <p:sp>
        <p:nvSpPr>
          <p:cNvPr id="41" name="TextBox 41"/>
          <p:cNvSpPr txBox="1"/>
          <p:nvPr/>
        </p:nvSpPr>
        <p:spPr>
          <a:xfrm>
            <a:off x="13701712" y="4464844"/>
            <a:ext cx="4321969" cy="242888"/>
          </a:xfrm>
          <a:prstGeom prst="rect">
            <a:avLst/>
          </a:prstGeom>
        </p:spPr>
        <p:txBody>
          <a:bodyPr lIns="0" tIns="0" rIns="0" bIns="0" rtlCol="0" anchor="t">
            <a:spAutoFit/>
          </a:bodyPr>
          <a:lstStyle/>
          <a:p>
            <a:pPr algn="l">
              <a:lnSpc>
                <a:spcPts val="1890"/>
              </a:lnSpc>
            </a:pPr>
            <a:r>
              <a:rPr lang="en-US" sz="1575">
                <a:solidFill>
                  <a:srgbClr val="64748B"/>
                </a:solidFill>
                <a:latin typeface="Inter" panose="02000503000000020004"/>
                <a:ea typeface="Inter" panose="02000503000000020004"/>
                <a:cs typeface="Inter" panose="02000503000000020004"/>
                <a:sym typeface="Inter" panose="02000503000000020004"/>
              </a:rPr>
              <a:t>Đáp án chuẩn</a:t>
            </a:r>
            <a:endParaRPr lang="en-US" sz="1575">
              <a:solidFill>
                <a:srgbClr val="64748B"/>
              </a:solidFill>
              <a:latin typeface="Inter" panose="02000503000000020004"/>
              <a:ea typeface="Inter" panose="02000503000000020004"/>
              <a:cs typeface="Inter" panose="02000503000000020004"/>
              <a:sym typeface="Inter" panose="02000503000000020004"/>
            </a:endParaRPr>
          </a:p>
        </p:txBody>
      </p:sp>
      <p:sp>
        <p:nvSpPr>
          <p:cNvPr id="42" name="TextBox 42"/>
          <p:cNvSpPr txBox="1"/>
          <p:nvPr/>
        </p:nvSpPr>
        <p:spPr>
          <a:xfrm>
            <a:off x="13701712" y="4793456"/>
            <a:ext cx="4538062" cy="414338"/>
          </a:xfrm>
          <a:prstGeom prst="rect">
            <a:avLst/>
          </a:prstGeom>
        </p:spPr>
        <p:txBody>
          <a:bodyPr lIns="0" tIns="0" rIns="0" bIns="0" rtlCol="0" anchor="t">
            <a:spAutoFit/>
          </a:bodyPr>
          <a:lstStyle/>
          <a:p>
            <a:pPr algn="l">
              <a:lnSpc>
                <a:spcPts val="3240"/>
              </a:lnSpc>
            </a:pPr>
            <a:r>
              <a:rPr lang="en-US" sz="2700" b="1">
                <a:solidFill>
                  <a:srgbClr val="0F2B46"/>
                </a:solidFill>
                <a:latin typeface="Inter Bold" panose="02000503000000020004"/>
                <a:ea typeface="Inter Bold" panose="02000503000000020004"/>
                <a:cs typeface="Inter Bold" panose="02000503000000020004"/>
                <a:sym typeface="Inter Bold" panose="02000503000000020004"/>
              </a:rPr>
              <a:t>màu đỏ</a:t>
            </a:r>
            <a:endParaRPr lang="en-US" sz="2700"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43" name="TextBox 43"/>
          <p:cNvSpPr txBox="1"/>
          <p:nvPr/>
        </p:nvSpPr>
        <p:spPr>
          <a:xfrm>
            <a:off x="13701712" y="5322094"/>
            <a:ext cx="4321969" cy="242888"/>
          </a:xfrm>
          <a:prstGeom prst="rect">
            <a:avLst/>
          </a:prstGeom>
        </p:spPr>
        <p:txBody>
          <a:bodyPr lIns="0" tIns="0" rIns="0" bIns="0" rtlCol="0" anchor="t">
            <a:spAutoFit/>
          </a:bodyPr>
          <a:lstStyle/>
          <a:p>
            <a:pPr algn="l">
              <a:lnSpc>
                <a:spcPts val="1890"/>
              </a:lnSpc>
            </a:pPr>
            <a:r>
              <a:rPr lang="en-US" sz="1575">
                <a:solidFill>
                  <a:srgbClr val="475569"/>
                </a:solidFill>
                <a:latin typeface="Inter" panose="02000503000000020004"/>
                <a:ea typeface="Inter" panose="02000503000000020004"/>
                <a:cs typeface="Inter" panose="02000503000000020004"/>
                <a:sym typeface="Inter" panose="02000503000000020004"/>
              </a:rPr>
              <a:t>99,83% đáp án ≤ 3 từ</a:t>
            </a:r>
            <a:endParaRPr lang="en-US" sz="1575">
              <a:solidFill>
                <a:srgbClr val="475569"/>
              </a:solidFill>
              <a:latin typeface="Inter" panose="02000503000000020004"/>
              <a:ea typeface="Inter" panose="02000503000000020004"/>
              <a:cs typeface="Inter" panose="02000503000000020004"/>
              <a:sym typeface="Inter" panose="02000503000000020004"/>
            </a:endParaRPr>
          </a:p>
        </p:txBody>
      </p:sp>
      <p:sp>
        <p:nvSpPr>
          <p:cNvPr id="44" name="TextBox 44"/>
          <p:cNvSpPr txBox="1"/>
          <p:nvPr/>
        </p:nvSpPr>
        <p:spPr>
          <a:xfrm>
            <a:off x="13701712" y="5650706"/>
            <a:ext cx="4321969" cy="271462"/>
          </a:xfrm>
          <a:prstGeom prst="rect">
            <a:avLst/>
          </a:prstGeom>
        </p:spPr>
        <p:txBody>
          <a:bodyPr lIns="0" tIns="0" rIns="0" bIns="0" rtlCol="0" anchor="t">
            <a:spAutoFit/>
          </a:bodyPr>
          <a:lstStyle/>
          <a:p>
            <a:pPr algn="l">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 chấm EM · VQA-Acc</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45" name="TextBox 45"/>
          <p:cNvSpPr txBox="1"/>
          <p:nvPr/>
        </p:nvSpPr>
        <p:spPr>
          <a:xfrm>
            <a:off x="13701712" y="7372350"/>
            <a:ext cx="4321969" cy="242888"/>
          </a:xfrm>
          <a:prstGeom prst="rect">
            <a:avLst/>
          </a:prstGeom>
        </p:spPr>
        <p:txBody>
          <a:bodyPr lIns="0" tIns="0" rIns="0" bIns="0" rtlCol="0" anchor="t">
            <a:spAutoFit/>
          </a:bodyPr>
          <a:lstStyle/>
          <a:p>
            <a:pPr algn="l">
              <a:lnSpc>
                <a:spcPts val="1890"/>
              </a:lnSpc>
            </a:pPr>
            <a:r>
              <a:rPr lang="en-US" sz="1575">
                <a:solidFill>
                  <a:srgbClr val="64748B"/>
                </a:solidFill>
                <a:latin typeface="Inter" panose="02000503000000020004"/>
                <a:ea typeface="Inter" panose="02000503000000020004"/>
                <a:cs typeface="Inter" panose="02000503000000020004"/>
                <a:sym typeface="Inter" panose="02000503000000020004"/>
              </a:rPr>
              <a:t>Đáp án chuẩn</a:t>
            </a:r>
            <a:endParaRPr lang="en-US" sz="1575">
              <a:solidFill>
                <a:srgbClr val="64748B"/>
              </a:solidFill>
              <a:latin typeface="Inter" panose="02000503000000020004"/>
              <a:ea typeface="Inter" panose="02000503000000020004"/>
              <a:cs typeface="Inter" panose="02000503000000020004"/>
              <a:sym typeface="Inter" panose="02000503000000020004"/>
            </a:endParaRPr>
          </a:p>
        </p:txBody>
      </p:sp>
      <p:sp>
        <p:nvSpPr>
          <p:cNvPr id="46" name="TextBox 46"/>
          <p:cNvSpPr txBox="1"/>
          <p:nvPr/>
        </p:nvSpPr>
        <p:spPr>
          <a:xfrm>
            <a:off x="13701712" y="7700962"/>
            <a:ext cx="3780472" cy="828675"/>
          </a:xfrm>
          <a:prstGeom prst="rect">
            <a:avLst/>
          </a:prstGeom>
        </p:spPr>
        <p:txBody>
          <a:bodyPr lIns="0" tIns="0" rIns="0" bIns="0" rtlCol="0" anchor="t">
            <a:spAutoFit/>
          </a:bodyPr>
          <a:lstStyle/>
          <a:p>
            <a:pPr algn="l">
              <a:lnSpc>
                <a:spcPts val="3240"/>
              </a:lnSpc>
            </a:pPr>
            <a:r>
              <a:rPr lang="en-US" sz="2700" b="1">
                <a:solidFill>
                  <a:srgbClr val="0F2B46"/>
                </a:solidFill>
                <a:latin typeface="Inter Bold" panose="02000503000000020004"/>
                <a:ea typeface="Inter Bold" panose="02000503000000020004"/>
                <a:cs typeface="Inter Bold" panose="02000503000000020004"/>
                <a:sym typeface="Inter Bold" panose="02000503000000020004"/>
              </a:rPr>
              <a:t>đại lý xổ số miền bắc</a:t>
            </a:r>
            <a:endParaRPr lang="en-US" sz="2700"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47" name="TextBox 47"/>
          <p:cNvSpPr txBox="1"/>
          <p:nvPr/>
        </p:nvSpPr>
        <p:spPr>
          <a:xfrm>
            <a:off x="13701712" y="8643938"/>
            <a:ext cx="4321969" cy="242888"/>
          </a:xfrm>
          <a:prstGeom prst="rect">
            <a:avLst/>
          </a:prstGeom>
        </p:spPr>
        <p:txBody>
          <a:bodyPr lIns="0" tIns="0" rIns="0" bIns="0" rtlCol="0" anchor="t">
            <a:spAutoFit/>
          </a:bodyPr>
          <a:lstStyle/>
          <a:p>
            <a:pPr algn="l">
              <a:lnSpc>
                <a:spcPts val="1890"/>
              </a:lnSpc>
            </a:pPr>
            <a:r>
              <a:rPr lang="en-US" sz="1575">
                <a:solidFill>
                  <a:srgbClr val="475569"/>
                </a:solidFill>
                <a:latin typeface="Inter" panose="02000503000000020004"/>
                <a:ea typeface="Inter" panose="02000503000000020004"/>
                <a:cs typeface="Inter" panose="02000503000000020004"/>
                <a:sym typeface="Inter" panose="02000503000000020004"/>
              </a:rPr>
              <a:t>đáp án là chữ trong ảnh (TB 4,18 từ)</a:t>
            </a:r>
            <a:endParaRPr lang="en-US" sz="1575">
              <a:solidFill>
                <a:srgbClr val="475569"/>
              </a:solidFill>
              <a:latin typeface="Inter" panose="02000503000000020004"/>
              <a:ea typeface="Inter" panose="02000503000000020004"/>
              <a:cs typeface="Inter" panose="02000503000000020004"/>
              <a:sym typeface="Inter" panose="02000503000000020004"/>
            </a:endParaRPr>
          </a:p>
        </p:txBody>
      </p:sp>
      <p:sp>
        <p:nvSpPr>
          <p:cNvPr id="48" name="TextBox 48"/>
          <p:cNvSpPr txBox="1"/>
          <p:nvPr/>
        </p:nvSpPr>
        <p:spPr>
          <a:xfrm>
            <a:off x="13701712" y="8972550"/>
            <a:ext cx="4321969" cy="271462"/>
          </a:xfrm>
          <a:prstGeom prst="rect">
            <a:avLst/>
          </a:prstGeom>
        </p:spPr>
        <p:txBody>
          <a:bodyPr lIns="0" tIns="0" rIns="0" bIns="0" rtlCol="0" anchor="t">
            <a:spAutoFit/>
          </a:bodyPr>
          <a:lstStyle/>
          <a:p>
            <a:pPr algn="l">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 chấm ANLS · EM</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49" name="TextBox 49"/>
          <p:cNvSpPr txBox="1"/>
          <p:nvPr/>
        </p:nvSpPr>
        <p:spPr>
          <a:xfrm>
            <a:off x="4672012" y="4483894"/>
            <a:ext cx="3394177" cy="309563"/>
          </a:xfrm>
          <a:prstGeom prst="rect">
            <a:avLst/>
          </a:prstGeom>
        </p:spPr>
        <p:txBody>
          <a:bodyPr lIns="0" tIns="0" rIns="0" bIns="0" rtlCol="0" anchor="t">
            <a:spAutoFit/>
          </a:bodyPr>
          <a:lstStyle/>
          <a:p>
            <a:pPr algn="l">
              <a:lnSpc>
                <a:spcPts val="2430"/>
              </a:lnSpc>
            </a:pPr>
            <a:r>
              <a:rPr lang="en-US" sz="2025" b="1">
                <a:solidFill>
                  <a:srgbClr val="0F2B46"/>
                </a:solidFill>
                <a:latin typeface="Inter Bold" panose="02000503000000020004"/>
                <a:ea typeface="Inter Bold" panose="02000503000000020004"/>
                <a:cs typeface="Inter Bold" panose="02000503000000020004"/>
                <a:sym typeface="Inter Bold" panose="02000503000000020004"/>
              </a:rPr>
              <a:t>ViVQA</a:t>
            </a:r>
            <a:endParaRPr lang="en-US" sz="2025"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50" name="TextBox 50"/>
          <p:cNvSpPr txBox="1"/>
          <p:nvPr/>
        </p:nvSpPr>
        <p:spPr>
          <a:xfrm>
            <a:off x="4672012" y="4850606"/>
            <a:ext cx="3232547" cy="242888"/>
          </a:xfrm>
          <a:prstGeom prst="rect">
            <a:avLst/>
          </a:prstGeom>
        </p:spPr>
        <p:txBody>
          <a:bodyPr lIns="0" tIns="0" rIns="0" bIns="0" rtlCol="0" anchor="t">
            <a:spAutoFit/>
          </a:bodyPr>
          <a:lstStyle/>
          <a:p>
            <a:pPr algn="l">
              <a:lnSpc>
                <a:spcPts val="1890"/>
              </a:lnSpc>
            </a:pPr>
            <a:r>
              <a:rPr lang="en-US" sz="1575">
                <a:solidFill>
                  <a:srgbClr val="64748B"/>
                </a:solidFill>
                <a:latin typeface="Inter" panose="02000503000000020004"/>
                <a:ea typeface="Inter" panose="02000503000000020004"/>
                <a:cs typeface="Inter" panose="02000503000000020004"/>
                <a:sym typeface="Inter" panose="02000503000000020004"/>
              </a:rPr>
              <a:t>ảnh đời thường (MS COCO)</a:t>
            </a:r>
            <a:endParaRPr lang="en-US" sz="1575">
              <a:solidFill>
                <a:srgbClr val="64748B"/>
              </a:solidFill>
              <a:latin typeface="Inter" panose="02000503000000020004"/>
              <a:ea typeface="Inter" panose="02000503000000020004"/>
              <a:cs typeface="Inter" panose="02000503000000020004"/>
              <a:sym typeface="Inter" panose="02000503000000020004"/>
            </a:endParaRPr>
          </a:p>
        </p:txBody>
      </p:sp>
      <p:sp>
        <p:nvSpPr>
          <p:cNvPr id="51" name="TextBox 51"/>
          <p:cNvSpPr txBox="1"/>
          <p:nvPr/>
        </p:nvSpPr>
        <p:spPr>
          <a:xfrm>
            <a:off x="4672012" y="5264944"/>
            <a:ext cx="3232547" cy="285750"/>
          </a:xfrm>
          <a:prstGeom prst="rect">
            <a:avLst/>
          </a:prstGeom>
        </p:spPr>
        <p:txBody>
          <a:bodyPr lIns="0" tIns="0" rIns="0" bIns="0" rtlCol="0" anchor="t">
            <a:spAutoFit/>
          </a:bodyPr>
          <a:lstStyle/>
          <a:p>
            <a:pPr algn="l">
              <a:lnSpc>
                <a:spcPts val="2160"/>
              </a:lnSpc>
            </a:pPr>
            <a:r>
              <a:rPr lang="en-US" sz="1800" b="1">
                <a:solidFill>
                  <a:srgbClr val="0F2B46"/>
                </a:solidFill>
                <a:latin typeface="Inter Bold" panose="02000503000000020004"/>
                <a:ea typeface="Inter Bold" panose="02000503000000020004"/>
                <a:cs typeface="Inter Bold" panose="02000503000000020004"/>
                <a:sym typeface="Inter Bold" panose="02000503000000020004"/>
              </a:rPr>
              <a:t>Câu hỏi:</a:t>
            </a:r>
            <a:endParaRPr lang="en-US" sz="1800"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52" name="TextBox 52"/>
          <p:cNvSpPr txBox="1"/>
          <p:nvPr/>
        </p:nvSpPr>
        <p:spPr>
          <a:xfrm>
            <a:off x="4672012" y="5607844"/>
            <a:ext cx="3232547" cy="285750"/>
          </a:xfrm>
          <a:prstGeom prst="rect">
            <a:avLst/>
          </a:prstGeom>
        </p:spPr>
        <p:txBody>
          <a:bodyPr lIns="0" tIns="0" rIns="0" bIns="0" rtlCol="0" anchor="t">
            <a:spAutoFit/>
          </a:bodyPr>
          <a:lstStyle/>
          <a:p>
            <a:pPr algn="l">
              <a:lnSpc>
                <a:spcPts val="2160"/>
              </a:lnSpc>
            </a:pPr>
            <a:r>
              <a:rPr lang="en-US" sz="1800">
                <a:solidFill>
                  <a:srgbClr val="1E293B"/>
                </a:solidFill>
                <a:latin typeface="Inter" panose="02000503000000020004"/>
                <a:ea typeface="Inter" panose="02000503000000020004"/>
                <a:cs typeface="Inter" panose="02000503000000020004"/>
                <a:sym typeface="Inter" panose="02000503000000020004"/>
              </a:rPr>
              <a:t>màu của xe đạp là gì?</a:t>
            </a:r>
            <a:endParaRPr lang="en-US" sz="1800">
              <a:solidFill>
                <a:srgbClr val="1E293B"/>
              </a:solidFill>
              <a:latin typeface="Inter" panose="02000503000000020004"/>
              <a:ea typeface="Inter" panose="02000503000000020004"/>
              <a:cs typeface="Inter" panose="02000503000000020004"/>
              <a:sym typeface="Inter" panose="02000503000000020004"/>
            </a:endParaRPr>
          </a:p>
        </p:txBody>
      </p:sp>
      <p:sp>
        <p:nvSpPr>
          <p:cNvPr id="53" name="TextBox 53"/>
          <p:cNvSpPr txBox="1"/>
          <p:nvPr/>
        </p:nvSpPr>
        <p:spPr>
          <a:xfrm>
            <a:off x="4672012" y="7455694"/>
            <a:ext cx="4388044" cy="309563"/>
          </a:xfrm>
          <a:prstGeom prst="rect">
            <a:avLst/>
          </a:prstGeom>
        </p:spPr>
        <p:txBody>
          <a:bodyPr lIns="0" tIns="0" rIns="0" bIns="0" rtlCol="0" anchor="t">
            <a:spAutoFit/>
          </a:bodyPr>
          <a:lstStyle/>
          <a:p>
            <a:pPr algn="l">
              <a:lnSpc>
                <a:spcPts val="2430"/>
              </a:lnSpc>
            </a:pPr>
            <a:r>
              <a:rPr lang="en-US" sz="2025" b="1">
                <a:solidFill>
                  <a:srgbClr val="0F2B46"/>
                </a:solidFill>
                <a:latin typeface="Inter Bold" panose="02000503000000020004"/>
                <a:ea typeface="Inter Bold" panose="02000503000000020004"/>
                <a:cs typeface="Inter Bold" panose="02000503000000020004"/>
                <a:sym typeface="Inter Bold" panose="02000503000000020004"/>
              </a:rPr>
              <a:t>ViTextVQA</a:t>
            </a:r>
            <a:endParaRPr lang="en-US" sz="2025"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54" name="TextBox 54"/>
          <p:cNvSpPr txBox="1"/>
          <p:nvPr/>
        </p:nvSpPr>
        <p:spPr>
          <a:xfrm>
            <a:off x="4672012" y="7822406"/>
            <a:ext cx="4179094" cy="242888"/>
          </a:xfrm>
          <a:prstGeom prst="rect">
            <a:avLst/>
          </a:prstGeom>
        </p:spPr>
        <p:txBody>
          <a:bodyPr lIns="0" tIns="0" rIns="0" bIns="0" rtlCol="0" anchor="t">
            <a:spAutoFit/>
          </a:bodyPr>
          <a:lstStyle/>
          <a:p>
            <a:pPr algn="l">
              <a:lnSpc>
                <a:spcPts val="1890"/>
              </a:lnSpc>
            </a:pPr>
            <a:r>
              <a:rPr lang="en-US" sz="1575">
                <a:solidFill>
                  <a:srgbClr val="64748B"/>
                </a:solidFill>
                <a:latin typeface="Inter" panose="02000503000000020004"/>
                <a:ea typeface="Inter" panose="02000503000000020004"/>
                <a:cs typeface="Inter" panose="02000503000000020004"/>
                <a:sym typeface="Inter" panose="02000503000000020004"/>
              </a:rPr>
              <a:t>ảnh có chữ tiếng Việt</a:t>
            </a:r>
            <a:endParaRPr lang="en-US" sz="1575">
              <a:solidFill>
                <a:srgbClr val="64748B"/>
              </a:solidFill>
              <a:latin typeface="Inter" panose="02000503000000020004"/>
              <a:ea typeface="Inter" panose="02000503000000020004"/>
              <a:cs typeface="Inter" panose="02000503000000020004"/>
              <a:sym typeface="Inter" panose="02000503000000020004"/>
            </a:endParaRPr>
          </a:p>
        </p:txBody>
      </p:sp>
      <p:sp>
        <p:nvSpPr>
          <p:cNvPr id="55" name="TextBox 55"/>
          <p:cNvSpPr txBox="1"/>
          <p:nvPr/>
        </p:nvSpPr>
        <p:spPr>
          <a:xfrm>
            <a:off x="4672012" y="8236744"/>
            <a:ext cx="4179094" cy="285750"/>
          </a:xfrm>
          <a:prstGeom prst="rect">
            <a:avLst/>
          </a:prstGeom>
        </p:spPr>
        <p:txBody>
          <a:bodyPr lIns="0" tIns="0" rIns="0" bIns="0" rtlCol="0" anchor="t">
            <a:spAutoFit/>
          </a:bodyPr>
          <a:lstStyle/>
          <a:p>
            <a:pPr algn="l">
              <a:lnSpc>
                <a:spcPts val="2160"/>
              </a:lnSpc>
            </a:pPr>
            <a:r>
              <a:rPr lang="en-US" sz="1800" b="1">
                <a:solidFill>
                  <a:srgbClr val="0F2B46"/>
                </a:solidFill>
                <a:latin typeface="Inter Bold" panose="02000503000000020004"/>
                <a:ea typeface="Inter Bold" panose="02000503000000020004"/>
                <a:cs typeface="Inter Bold" panose="02000503000000020004"/>
                <a:sym typeface="Inter Bold" panose="02000503000000020004"/>
              </a:rPr>
              <a:t>Câu hỏi:</a:t>
            </a:r>
            <a:endParaRPr lang="en-US" sz="1800"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56" name="TextBox 56"/>
          <p:cNvSpPr txBox="1"/>
          <p:nvPr/>
        </p:nvSpPr>
        <p:spPr>
          <a:xfrm>
            <a:off x="4672012" y="8579644"/>
            <a:ext cx="3486150" cy="571500"/>
          </a:xfrm>
          <a:prstGeom prst="rect">
            <a:avLst/>
          </a:prstGeom>
        </p:spPr>
        <p:txBody>
          <a:bodyPr lIns="0" tIns="0" rIns="0" bIns="0" rtlCol="0" anchor="t">
            <a:spAutoFit/>
          </a:bodyPr>
          <a:lstStyle/>
          <a:p>
            <a:pPr algn="l">
              <a:lnSpc>
                <a:spcPts val="2160"/>
              </a:lnSpc>
            </a:pPr>
            <a:r>
              <a:rPr lang="en-US" sz="1800">
                <a:solidFill>
                  <a:srgbClr val="1E293B"/>
                </a:solidFill>
                <a:latin typeface="Inter" panose="02000503000000020004"/>
                <a:ea typeface="Inter" panose="02000503000000020004"/>
                <a:cs typeface="Inter" panose="02000503000000020004"/>
                <a:sym typeface="Inter" panose="02000503000000020004"/>
              </a:rPr>
              <a:t>cửa hàng có biển màu vàng là nơi nào?</a:t>
            </a:r>
            <a:endParaRPr lang="en-US" sz="1800">
              <a:solidFill>
                <a:srgbClr val="1E293B"/>
              </a:solidFill>
              <a:latin typeface="Inter" panose="02000503000000020004"/>
              <a:ea typeface="Inter" panose="02000503000000020004"/>
              <a:cs typeface="Inter" panose="02000503000000020004"/>
              <a:sym typeface="Inter" panose="020005030000000200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02 · TIẾNG VIỆT KHÁC Ở ĐÂU</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vấn đề riêng của tiếng Việt (V1–V4)</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047875"/>
            <a:ext cx="3870846" cy="4751070"/>
            <a:chOff x="0" y="0"/>
            <a:chExt cx="5161128" cy="6334760"/>
          </a:xfrm>
        </p:grpSpPr>
        <p:sp>
          <p:nvSpPr>
            <p:cNvPr id="8" name="Freeform 8"/>
            <p:cNvSpPr/>
            <p:nvPr/>
          </p:nvSpPr>
          <p:spPr>
            <a:xfrm>
              <a:off x="0" y="0"/>
              <a:ext cx="5161153" cy="6334760"/>
            </a:xfrm>
            <a:custGeom>
              <a:avLst/>
              <a:gdLst/>
              <a:ahLst/>
              <a:cxnLst/>
              <a:rect l="l" t="t" r="r" b="b"/>
              <a:pathLst>
                <a:path w="5161153" h="6334760">
                  <a:moveTo>
                    <a:pt x="0" y="147066"/>
                  </a:moveTo>
                  <a:cubicBezTo>
                    <a:pt x="0" y="65786"/>
                    <a:pt x="65786" y="0"/>
                    <a:pt x="147066" y="0"/>
                  </a:cubicBezTo>
                  <a:lnTo>
                    <a:pt x="5014087" y="0"/>
                  </a:lnTo>
                  <a:cubicBezTo>
                    <a:pt x="5095240" y="0"/>
                    <a:pt x="5161153" y="65786"/>
                    <a:pt x="5161153" y="147066"/>
                  </a:cubicBezTo>
                  <a:lnTo>
                    <a:pt x="5161153" y="6187694"/>
                  </a:lnTo>
                  <a:cubicBezTo>
                    <a:pt x="5161153" y="6268847"/>
                    <a:pt x="5095367" y="6334760"/>
                    <a:pt x="5014087" y="6334760"/>
                  </a:cubicBezTo>
                  <a:lnTo>
                    <a:pt x="147066" y="6334760"/>
                  </a:lnTo>
                  <a:cubicBezTo>
                    <a:pt x="65786" y="6334760"/>
                    <a:pt x="0" y="6268974"/>
                    <a:pt x="0" y="6187694"/>
                  </a:cubicBezTo>
                  <a:close/>
                </a:path>
              </a:pathLst>
            </a:custGeom>
            <a:solidFill>
              <a:srgbClr val="FBF0DA"/>
            </a:solidFill>
            <a:ln w="19050" cap="sq">
              <a:solidFill>
                <a:srgbClr val="FBF0DA"/>
              </a:solidFill>
              <a:prstDash val="solid"/>
              <a:miter/>
            </a:ln>
          </p:spPr>
          <p:txBody>
            <a:bodyPr/>
            <a:p/>
          </p:txBody>
        </p:sp>
      </p:grpSp>
      <p:sp>
        <p:nvSpPr>
          <p:cNvPr id="9" name="TextBox 9"/>
          <p:cNvSpPr txBox="1"/>
          <p:nvPr/>
        </p:nvSpPr>
        <p:spPr>
          <a:xfrm>
            <a:off x="1165860" y="2244090"/>
            <a:ext cx="1371600" cy="704850"/>
          </a:xfrm>
          <a:prstGeom prst="rect">
            <a:avLst/>
          </a:prstGeom>
        </p:spPr>
        <p:txBody>
          <a:bodyPr lIns="0" tIns="0" rIns="0" bIns="0" rtlCol="0" anchor="t">
            <a:spAutoFit/>
          </a:bodyPr>
          <a:lstStyle/>
          <a:p>
            <a:pPr algn="l">
              <a:lnSpc>
                <a:spcPts val="4320"/>
              </a:lnSpc>
            </a:pPr>
            <a:r>
              <a:rPr lang="en-US" sz="3600" b="1">
                <a:solidFill>
                  <a:srgbClr val="E8A33D"/>
                </a:solidFill>
                <a:latin typeface="Cambria Bold" panose="02040803050406030204"/>
                <a:ea typeface="Cambria Bold" panose="02040803050406030204"/>
                <a:cs typeface="Cambria Bold" panose="02040803050406030204"/>
                <a:sym typeface="Cambria Bold" panose="02040803050406030204"/>
              </a:rPr>
              <a:t>V1</a:t>
            </a:r>
            <a:endParaRPr lang="en-US" sz="36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10" name="TextBox 10"/>
          <p:cNvSpPr txBox="1"/>
          <p:nvPr/>
        </p:nvSpPr>
        <p:spPr>
          <a:xfrm>
            <a:off x="1165860" y="2901315"/>
            <a:ext cx="3165996" cy="939165"/>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Đọc chữ có dấu trong ảnh</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165860" y="3792855"/>
            <a:ext cx="3165996" cy="2859405"/>
          </a:xfrm>
          <a:prstGeom prst="rect">
            <a:avLst/>
          </a:prstGeom>
        </p:spPr>
        <p:txBody>
          <a:bodyPr lIns="0" tIns="0" rIns="0" bIns="0" rtlCol="0" anchor="t">
            <a:spAutoFit/>
          </a:bodyPr>
          <a:lstStyle/>
          <a:p>
            <a:pPr algn="l">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Dấu là nét rất nhỏ; sai dấu là đổi nghĩa (má ≠ mà). Lỗi nhận thức ở mức pixel, chuẩn hoá văn bản không sửa được. Bằng chứng: bỏ dấu làm giảm F1 mọi baseline ViTextVQA (Nguyen et al., 2024, §7.1).</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5076711" y="2047875"/>
            <a:ext cx="3870846" cy="4751070"/>
            <a:chOff x="0" y="0"/>
            <a:chExt cx="5161128" cy="6334760"/>
          </a:xfrm>
        </p:grpSpPr>
        <p:sp>
          <p:nvSpPr>
            <p:cNvPr id="13" name="Freeform 13"/>
            <p:cNvSpPr/>
            <p:nvPr/>
          </p:nvSpPr>
          <p:spPr>
            <a:xfrm>
              <a:off x="0" y="0"/>
              <a:ext cx="5161153" cy="6334760"/>
            </a:xfrm>
            <a:custGeom>
              <a:avLst/>
              <a:gdLst/>
              <a:ahLst/>
              <a:cxnLst/>
              <a:rect l="l" t="t" r="r" b="b"/>
              <a:pathLst>
                <a:path w="5161153" h="6334760">
                  <a:moveTo>
                    <a:pt x="0" y="147066"/>
                  </a:moveTo>
                  <a:cubicBezTo>
                    <a:pt x="0" y="65786"/>
                    <a:pt x="65786" y="0"/>
                    <a:pt x="147066" y="0"/>
                  </a:cubicBezTo>
                  <a:lnTo>
                    <a:pt x="5014087" y="0"/>
                  </a:lnTo>
                  <a:cubicBezTo>
                    <a:pt x="5095240" y="0"/>
                    <a:pt x="5161153" y="65786"/>
                    <a:pt x="5161153" y="147066"/>
                  </a:cubicBezTo>
                  <a:lnTo>
                    <a:pt x="5161153" y="6187694"/>
                  </a:lnTo>
                  <a:cubicBezTo>
                    <a:pt x="5161153" y="6268847"/>
                    <a:pt x="5095367" y="6334760"/>
                    <a:pt x="5014087" y="6334760"/>
                  </a:cubicBezTo>
                  <a:lnTo>
                    <a:pt x="147066" y="6334760"/>
                  </a:lnTo>
                  <a:cubicBezTo>
                    <a:pt x="65786" y="6334760"/>
                    <a:pt x="0" y="6268974"/>
                    <a:pt x="0" y="6187694"/>
                  </a:cubicBezTo>
                  <a:close/>
                </a:path>
              </a:pathLst>
            </a:custGeom>
            <a:solidFill>
              <a:srgbClr val="F3F5F8"/>
            </a:solidFill>
            <a:ln w="19050" cap="sq">
              <a:solidFill>
                <a:srgbClr val="F3F5F8"/>
              </a:solidFill>
              <a:prstDash val="solid"/>
              <a:miter/>
            </a:ln>
          </p:spPr>
          <p:txBody>
            <a:bodyPr/>
            <a:p/>
          </p:txBody>
        </p:sp>
      </p:grpSp>
      <p:sp>
        <p:nvSpPr>
          <p:cNvPr id="14" name="TextBox 14"/>
          <p:cNvSpPr txBox="1"/>
          <p:nvPr/>
        </p:nvSpPr>
        <p:spPr>
          <a:xfrm>
            <a:off x="5429136" y="2244090"/>
            <a:ext cx="1371600" cy="704850"/>
          </a:xfrm>
          <a:prstGeom prst="rect">
            <a:avLst/>
          </a:prstGeom>
        </p:spPr>
        <p:txBody>
          <a:bodyPr lIns="0" tIns="0" rIns="0" bIns="0" rtlCol="0" anchor="t">
            <a:spAutoFit/>
          </a:bodyPr>
          <a:lstStyle/>
          <a:p>
            <a:pPr algn="l">
              <a:lnSpc>
                <a:spcPts val="4320"/>
              </a:lnSpc>
            </a:pPr>
            <a:r>
              <a:rPr lang="en-US" sz="3600" b="1">
                <a:solidFill>
                  <a:srgbClr val="1C7293"/>
                </a:solidFill>
                <a:latin typeface="Cambria Bold" panose="02040803050406030204"/>
                <a:ea typeface="Cambria Bold" panose="02040803050406030204"/>
                <a:cs typeface="Cambria Bold" panose="02040803050406030204"/>
                <a:sym typeface="Cambria Bold" panose="02040803050406030204"/>
              </a:rPr>
              <a:t>V2</a:t>
            </a:r>
            <a:endParaRPr lang="en-US" sz="36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15" name="TextBox 15"/>
          <p:cNvSpPr txBox="1"/>
          <p:nvPr/>
        </p:nvSpPr>
        <p:spPr>
          <a:xfrm>
            <a:off x="5429136" y="2901315"/>
            <a:ext cx="3165996" cy="939165"/>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Sai ngôn ngữ hoặc sai định dạng</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6" name="TextBox 16"/>
          <p:cNvSpPr txBox="1"/>
          <p:nvPr/>
        </p:nvSpPr>
        <p:spPr>
          <a:xfrm>
            <a:off x="5429136" y="3792855"/>
            <a:ext cx="3165996" cy="2859405"/>
          </a:xfrm>
          <a:prstGeom prst="rect">
            <a:avLst/>
          </a:prstGeom>
        </p:spPr>
        <p:txBody>
          <a:bodyPr lIns="0" tIns="0" rIns="0" bIns="0" rtlCol="0" anchor="t">
            <a:spAutoFit/>
          </a:bodyPr>
          <a:lstStyle/>
          <a:p>
            <a:pPr algn="l">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VLM pretrain chủ yếu trên tiếng Anh/Trung dễ trả lời tiếng Anh, trộn Anh–Việt hoặc dài dòng → EM = 0 dù hiểu đúng.</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7" name="Group 17"/>
          <p:cNvGrpSpPr/>
          <p:nvPr/>
        </p:nvGrpSpPr>
        <p:grpSpPr>
          <a:xfrm rot="0">
            <a:off x="9339986" y="2047875"/>
            <a:ext cx="3870846" cy="4751070"/>
            <a:chOff x="0" y="0"/>
            <a:chExt cx="5161128" cy="6334760"/>
          </a:xfrm>
        </p:grpSpPr>
        <p:sp>
          <p:nvSpPr>
            <p:cNvPr id="18" name="Freeform 18"/>
            <p:cNvSpPr/>
            <p:nvPr/>
          </p:nvSpPr>
          <p:spPr>
            <a:xfrm>
              <a:off x="0" y="0"/>
              <a:ext cx="5161153" cy="6334760"/>
            </a:xfrm>
            <a:custGeom>
              <a:avLst/>
              <a:gdLst/>
              <a:ahLst/>
              <a:cxnLst/>
              <a:rect l="l" t="t" r="r" b="b"/>
              <a:pathLst>
                <a:path w="5161153" h="6334760">
                  <a:moveTo>
                    <a:pt x="0" y="147066"/>
                  </a:moveTo>
                  <a:cubicBezTo>
                    <a:pt x="0" y="65786"/>
                    <a:pt x="65786" y="0"/>
                    <a:pt x="147066" y="0"/>
                  </a:cubicBezTo>
                  <a:lnTo>
                    <a:pt x="5014087" y="0"/>
                  </a:lnTo>
                  <a:cubicBezTo>
                    <a:pt x="5095240" y="0"/>
                    <a:pt x="5161153" y="65786"/>
                    <a:pt x="5161153" y="147066"/>
                  </a:cubicBezTo>
                  <a:lnTo>
                    <a:pt x="5161153" y="6187694"/>
                  </a:lnTo>
                  <a:cubicBezTo>
                    <a:pt x="5161153" y="6268847"/>
                    <a:pt x="5095367" y="6334760"/>
                    <a:pt x="5014087" y="6334760"/>
                  </a:cubicBezTo>
                  <a:lnTo>
                    <a:pt x="147066" y="6334760"/>
                  </a:lnTo>
                  <a:cubicBezTo>
                    <a:pt x="65786" y="6334760"/>
                    <a:pt x="0" y="6268974"/>
                    <a:pt x="0" y="6187694"/>
                  </a:cubicBezTo>
                  <a:close/>
                </a:path>
              </a:pathLst>
            </a:custGeom>
            <a:solidFill>
              <a:srgbClr val="F3F5F8"/>
            </a:solidFill>
            <a:ln w="19050" cap="sq">
              <a:solidFill>
                <a:srgbClr val="F3F5F8"/>
              </a:solidFill>
              <a:prstDash val="solid"/>
              <a:miter/>
            </a:ln>
          </p:spPr>
          <p:txBody>
            <a:bodyPr/>
            <a:p/>
          </p:txBody>
        </p:sp>
      </p:grpSp>
      <p:sp>
        <p:nvSpPr>
          <p:cNvPr id="19" name="TextBox 19"/>
          <p:cNvSpPr txBox="1"/>
          <p:nvPr/>
        </p:nvSpPr>
        <p:spPr>
          <a:xfrm>
            <a:off x="9692411" y="2244090"/>
            <a:ext cx="1371600" cy="704850"/>
          </a:xfrm>
          <a:prstGeom prst="rect">
            <a:avLst/>
          </a:prstGeom>
        </p:spPr>
        <p:txBody>
          <a:bodyPr lIns="0" tIns="0" rIns="0" bIns="0" rtlCol="0" anchor="t">
            <a:spAutoFit/>
          </a:bodyPr>
          <a:lstStyle/>
          <a:p>
            <a:pPr algn="l">
              <a:lnSpc>
                <a:spcPts val="4320"/>
              </a:lnSpc>
            </a:pPr>
            <a:r>
              <a:rPr lang="en-US" sz="3600" b="1">
                <a:solidFill>
                  <a:srgbClr val="1C7293"/>
                </a:solidFill>
                <a:latin typeface="Cambria Bold" panose="02040803050406030204"/>
                <a:ea typeface="Cambria Bold" panose="02040803050406030204"/>
                <a:cs typeface="Cambria Bold" panose="02040803050406030204"/>
                <a:sym typeface="Cambria Bold" panose="02040803050406030204"/>
              </a:rPr>
              <a:t>V3</a:t>
            </a:r>
            <a:endParaRPr lang="en-US" sz="36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20" name="TextBox 20"/>
          <p:cNvSpPr txBox="1"/>
          <p:nvPr/>
        </p:nvSpPr>
        <p:spPr>
          <a:xfrm>
            <a:off x="9692411" y="2901315"/>
            <a:ext cx="3165996" cy="939165"/>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Thứ tự chữ và ranh giới từ</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1" name="TextBox 21"/>
          <p:cNvSpPr txBox="1"/>
          <p:nvPr/>
        </p:nvSpPr>
        <p:spPr>
          <a:xfrm>
            <a:off x="9692411" y="3792855"/>
            <a:ext cx="3165996" cy="2859405"/>
          </a:xfrm>
          <a:prstGeom prst="rect">
            <a:avLst/>
          </a:prstGeom>
        </p:spPr>
        <p:txBody>
          <a:bodyPr lIns="0" tIns="0" rIns="0" bIns="0" rtlCol="0" anchor="t">
            <a:spAutoFit/>
          </a:bodyPr>
          <a:lstStyle/>
          <a:p>
            <a:pPr algn="l">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Khoảng trắng tách âm tiết, không tách từ (“thời gian” là một từ). Đọc sai thứ tự làm vỡ từ. Bằng chứng: sắp OCR trái-trên → phải-dưới giúp đa số mô hình (Nguyen et al., 2024, §6.4).</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2" name="Group 22"/>
          <p:cNvGrpSpPr/>
          <p:nvPr/>
        </p:nvGrpSpPr>
        <p:grpSpPr>
          <a:xfrm rot="0">
            <a:off x="13603262" y="2047875"/>
            <a:ext cx="3870846" cy="4751070"/>
            <a:chOff x="0" y="0"/>
            <a:chExt cx="5161128" cy="6334760"/>
          </a:xfrm>
        </p:grpSpPr>
        <p:sp>
          <p:nvSpPr>
            <p:cNvPr id="23" name="Freeform 23"/>
            <p:cNvSpPr/>
            <p:nvPr/>
          </p:nvSpPr>
          <p:spPr>
            <a:xfrm>
              <a:off x="0" y="0"/>
              <a:ext cx="5161153" cy="6334760"/>
            </a:xfrm>
            <a:custGeom>
              <a:avLst/>
              <a:gdLst/>
              <a:ahLst/>
              <a:cxnLst/>
              <a:rect l="l" t="t" r="r" b="b"/>
              <a:pathLst>
                <a:path w="5161153" h="6334760">
                  <a:moveTo>
                    <a:pt x="0" y="147066"/>
                  </a:moveTo>
                  <a:cubicBezTo>
                    <a:pt x="0" y="65786"/>
                    <a:pt x="65786" y="0"/>
                    <a:pt x="147066" y="0"/>
                  </a:cubicBezTo>
                  <a:lnTo>
                    <a:pt x="5014087" y="0"/>
                  </a:lnTo>
                  <a:cubicBezTo>
                    <a:pt x="5095240" y="0"/>
                    <a:pt x="5161153" y="65786"/>
                    <a:pt x="5161153" y="147066"/>
                  </a:cubicBezTo>
                  <a:lnTo>
                    <a:pt x="5161153" y="6187694"/>
                  </a:lnTo>
                  <a:cubicBezTo>
                    <a:pt x="5161153" y="6268847"/>
                    <a:pt x="5095367" y="6334760"/>
                    <a:pt x="5014087" y="6334760"/>
                  </a:cubicBezTo>
                  <a:lnTo>
                    <a:pt x="147066" y="6334760"/>
                  </a:lnTo>
                  <a:cubicBezTo>
                    <a:pt x="65786" y="6334760"/>
                    <a:pt x="0" y="6268974"/>
                    <a:pt x="0" y="6187694"/>
                  </a:cubicBezTo>
                  <a:close/>
                </a:path>
              </a:pathLst>
            </a:custGeom>
            <a:solidFill>
              <a:srgbClr val="F3F5F8"/>
            </a:solidFill>
            <a:ln w="19050" cap="sq">
              <a:solidFill>
                <a:srgbClr val="F3F5F8"/>
              </a:solidFill>
              <a:prstDash val="solid"/>
              <a:miter/>
            </a:ln>
          </p:spPr>
          <p:txBody>
            <a:bodyPr/>
            <a:p/>
          </p:txBody>
        </p:sp>
      </p:grpSp>
      <p:sp>
        <p:nvSpPr>
          <p:cNvPr id="24" name="TextBox 24"/>
          <p:cNvSpPr txBox="1"/>
          <p:nvPr/>
        </p:nvSpPr>
        <p:spPr>
          <a:xfrm>
            <a:off x="13955687" y="2244090"/>
            <a:ext cx="1371600" cy="704850"/>
          </a:xfrm>
          <a:prstGeom prst="rect">
            <a:avLst/>
          </a:prstGeom>
        </p:spPr>
        <p:txBody>
          <a:bodyPr lIns="0" tIns="0" rIns="0" bIns="0" rtlCol="0" anchor="t">
            <a:spAutoFit/>
          </a:bodyPr>
          <a:lstStyle/>
          <a:p>
            <a:pPr algn="l">
              <a:lnSpc>
                <a:spcPts val="4320"/>
              </a:lnSpc>
            </a:pPr>
            <a:r>
              <a:rPr lang="en-US" sz="3600" b="1">
                <a:solidFill>
                  <a:srgbClr val="1C7293"/>
                </a:solidFill>
                <a:latin typeface="Cambria Bold" panose="02040803050406030204"/>
                <a:ea typeface="Cambria Bold" panose="02040803050406030204"/>
                <a:cs typeface="Cambria Bold" panose="02040803050406030204"/>
                <a:sym typeface="Cambria Bold" panose="02040803050406030204"/>
              </a:rPr>
              <a:t>V4</a:t>
            </a:r>
            <a:endParaRPr lang="en-US" sz="36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25" name="TextBox 25"/>
          <p:cNvSpPr txBox="1"/>
          <p:nvPr/>
        </p:nvSpPr>
        <p:spPr>
          <a:xfrm>
            <a:off x="13955687" y="2901315"/>
            <a:ext cx="3165996" cy="939165"/>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Hallucination</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6" name="TextBox 26"/>
          <p:cNvSpPr txBox="1"/>
          <p:nvPr/>
        </p:nvSpPr>
        <p:spPr>
          <a:xfrm>
            <a:off x="13955687" y="3792855"/>
            <a:ext cx="3165996" cy="2859405"/>
          </a:xfrm>
          <a:prstGeom prst="rect">
            <a:avLst/>
          </a:prstGeom>
        </p:spPr>
        <p:txBody>
          <a:bodyPr lIns="0" tIns="0" rIns="0" bIns="0" rtlCol="0" anchor="t">
            <a:spAutoFit/>
          </a:bodyPr>
          <a:lstStyle/>
          <a:p>
            <a:pPr algn="l">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Trả lời trôi chảy nhưng nội dung không có trong ảnh. Chưa có đánh giá hallucination kiểu POPE cho VQA tiếng Việt (G4).</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7" name="Group 27"/>
          <p:cNvGrpSpPr/>
          <p:nvPr/>
        </p:nvGrpSpPr>
        <p:grpSpPr>
          <a:xfrm rot="0">
            <a:off x="813435" y="7054215"/>
            <a:ext cx="8065541" cy="2350770"/>
            <a:chOff x="0" y="0"/>
            <a:chExt cx="10754055" cy="3134360"/>
          </a:xfrm>
        </p:grpSpPr>
        <p:sp>
          <p:nvSpPr>
            <p:cNvPr id="28" name="Freeform 28"/>
            <p:cNvSpPr/>
            <p:nvPr/>
          </p:nvSpPr>
          <p:spPr>
            <a:xfrm>
              <a:off x="0" y="0"/>
              <a:ext cx="10753978" cy="3134360"/>
            </a:xfrm>
            <a:custGeom>
              <a:avLst/>
              <a:gdLst/>
              <a:ahLst/>
              <a:cxnLst/>
              <a:rect l="l" t="t" r="r" b="b"/>
              <a:pathLst>
                <a:path w="10753978" h="3134360">
                  <a:moveTo>
                    <a:pt x="0" y="147447"/>
                  </a:moveTo>
                  <a:cubicBezTo>
                    <a:pt x="0" y="66040"/>
                    <a:pt x="66040" y="0"/>
                    <a:pt x="147447" y="0"/>
                  </a:cubicBezTo>
                  <a:lnTo>
                    <a:pt x="10606532" y="0"/>
                  </a:lnTo>
                  <a:cubicBezTo>
                    <a:pt x="10687938" y="0"/>
                    <a:pt x="10753978" y="66040"/>
                    <a:pt x="10753978" y="147447"/>
                  </a:cubicBezTo>
                  <a:lnTo>
                    <a:pt x="10753978" y="2986913"/>
                  </a:lnTo>
                  <a:cubicBezTo>
                    <a:pt x="10753978" y="3068320"/>
                    <a:pt x="10687938" y="3134360"/>
                    <a:pt x="10606532" y="3134360"/>
                  </a:cubicBezTo>
                  <a:lnTo>
                    <a:pt x="147447" y="3134360"/>
                  </a:lnTo>
                  <a:cubicBezTo>
                    <a:pt x="66040" y="3134360"/>
                    <a:pt x="0" y="3068320"/>
                    <a:pt x="0" y="2986913"/>
                  </a:cubicBezTo>
                  <a:close/>
                </a:path>
              </a:pathLst>
            </a:custGeom>
            <a:solidFill>
              <a:srgbClr val="F3F5F8"/>
            </a:solidFill>
            <a:ln w="19050" cap="sq">
              <a:solidFill>
                <a:srgbClr val="F3F5F8"/>
              </a:solidFill>
              <a:prstDash val="solid"/>
              <a:miter/>
            </a:ln>
          </p:spPr>
          <p:txBody>
            <a:bodyPr/>
            <a:p/>
          </p:txBody>
        </p:sp>
      </p:grpSp>
      <p:sp>
        <p:nvSpPr>
          <p:cNvPr id="29" name="TextBox 29"/>
          <p:cNvSpPr txBox="1"/>
          <p:nvPr/>
        </p:nvSpPr>
        <p:spPr>
          <a:xfrm>
            <a:off x="1165860" y="7180707"/>
            <a:ext cx="7360691" cy="596265"/>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Tiền xử lý — bước kỹ thuật bắt buộc, không phải đóng góp</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0" name="TextBox 30"/>
          <p:cNvSpPr txBox="1"/>
          <p:nvPr/>
        </p:nvSpPr>
        <p:spPr>
          <a:xfrm>
            <a:off x="1165860" y="7780020"/>
            <a:ext cx="7360691" cy="1546860"/>
          </a:xfrm>
          <a:prstGeom prst="rect">
            <a:avLst/>
          </a:prstGeom>
        </p:spPr>
        <p:txBody>
          <a:bodyPr lIns="0" tIns="0" rIns="0" bIns="0" rtlCol="0" anchor="t">
            <a:spAutoFit/>
          </a:bodyPr>
          <a:lstStyle/>
          <a:p>
            <a:pPr marL="339090" lvl="1" indent="-169545" algn="l">
              <a:lnSpc>
                <a:spcPts val="2250"/>
              </a:lnSpc>
              <a:buFont typeface="Arial" panose="020B0604020202020204"/>
              <a:buChar cha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Chuẩn NFC, chữ thường, bỏ dấu câu thừa, gộp khoảng trắng</a:t>
            </a:r>
            <a:endParaRPr lang="en-US" sz="1875">
              <a:solidFill>
                <a:srgbClr val="243044"/>
              </a:solidFill>
              <a:latin typeface="Calibri (MS)" panose="020F0502020204030204"/>
              <a:ea typeface="Calibri (MS)" panose="020F0502020204030204"/>
              <a:cs typeface="Calibri (MS)" panose="020F0502020204030204"/>
              <a:sym typeface="Calibri (MS)" panose="020F0502020204030204"/>
            </a:endParaRPr>
          </a:p>
          <a:p>
            <a:pPr marL="339090" lvl="1" indent="-169545" algn="l">
              <a:lnSpc>
                <a:spcPts val="2250"/>
              </a:lnSpc>
              <a:buFont typeface="Arial" panose="020B0604020202020204"/>
              <a:buChar cha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Cùng một hàm chuẩn hoá cho đáp án chuẩn và đầu ra trước khi chấm</a:t>
            </a:r>
            <a:endParaRPr lang="en-US" sz="1875">
              <a:solidFill>
                <a:srgbClr val="243044"/>
              </a:solidFill>
              <a:latin typeface="Calibri (MS)" panose="020F0502020204030204"/>
              <a:ea typeface="Calibri (MS)" panose="020F0502020204030204"/>
              <a:cs typeface="Calibri (MS)" panose="020F0502020204030204"/>
              <a:sym typeface="Calibri (MS)" panose="020F0502020204030204"/>
            </a:endParaRPr>
          </a:p>
          <a:p>
            <a:pPr marL="339090" lvl="1" indent="-169545" algn="l">
              <a:lnSpc>
                <a:spcPts val="2250"/>
              </a:lnSpc>
              <a:buFont typeface="Arial" panose="020B0604020202020204"/>
              <a:buChar cha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Resize ảnh theo max_pixels</a:t>
            </a:r>
            <a:endParaRPr lang="en-US" sz="1875">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1" name="Group 31"/>
          <p:cNvGrpSpPr/>
          <p:nvPr/>
        </p:nvGrpSpPr>
        <p:grpSpPr>
          <a:xfrm rot="0">
            <a:off x="9408566" y="7054215"/>
            <a:ext cx="8065541" cy="2350770"/>
            <a:chOff x="0" y="0"/>
            <a:chExt cx="10754055" cy="3134360"/>
          </a:xfrm>
        </p:grpSpPr>
        <p:sp>
          <p:nvSpPr>
            <p:cNvPr id="32" name="Freeform 32"/>
            <p:cNvSpPr/>
            <p:nvPr/>
          </p:nvSpPr>
          <p:spPr>
            <a:xfrm>
              <a:off x="0" y="0"/>
              <a:ext cx="10753978" cy="3134360"/>
            </a:xfrm>
            <a:custGeom>
              <a:avLst/>
              <a:gdLst/>
              <a:ahLst/>
              <a:cxnLst/>
              <a:rect l="l" t="t" r="r" b="b"/>
              <a:pathLst>
                <a:path w="10753978" h="3134360">
                  <a:moveTo>
                    <a:pt x="0" y="147447"/>
                  </a:moveTo>
                  <a:cubicBezTo>
                    <a:pt x="0" y="66040"/>
                    <a:pt x="66040" y="0"/>
                    <a:pt x="147447" y="0"/>
                  </a:cubicBezTo>
                  <a:lnTo>
                    <a:pt x="10606532" y="0"/>
                  </a:lnTo>
                  <a:cubicBezTo>
                    <a:pt x="10687938" y="0"/>
                    <a:pt x="10753978" y="66040"/>
                    <a:pt x="10753978" y="147447"/>
                  </a:cubicBezTo>
                  <a:lnTo>
                    <a:pt x="10753978" y="2986913"/>
                  </a:lnTo>
                  <a:cubicBezTo>
                    <a:pt x="10753978" y="3068320"/>
                    <a:pt x="10687938" y="3134360"/>
                    <a:pt x="10606532" y="3134360"/>
                  </a:cubicBezTo>
                  <a:lnTo>
                    <a:pt x="147447" y="3134360"/>
                  </a:lnTo>
                  <a:cubicBezTo>
                    <a:pt x="66040" y="3134360"/>
                    <a:pt x="0" y="3068320"/>
                    <a:pt x="0" y="2986913"/>
                  </a:cubicBezTo>
                  <a:close/>
                </a:path>
              </a:pathLst>
            </a:custGeom>
            <a:solidFill>
              <a:srgbClr val="E7F0F3"/>
            </a:solidFill>
            <a:ln w="19050" cap="sq">
              <a:solidFill>
                <a:srgbClr val="E7F0F3"/>
              </a:solidFill>
              <a:prstDash val="solid"/>
              <a:miter/>
            </a:ln>
          </p:spPr>
          <p:txBody>
            <a:bodyPr/>
            <a:p/>
          </p:txBody>
        </p:sp>
      </p:grpSp>
      <p:sp>
        <p:nvSpPr>
          <p:cNvPr id="33" name="TextBox 33"/>
          <p:cNvSpPr txBox="1"/>
          <p:nvPr/>
        </p:nvSpPr>
        <p:spPr>
          <a:xfrm>
            <a:off x="9760991" y="7180707"/>
            <a:ext cx="7360691" cy="596265"/>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Vấn đề nghiên cứu — trọng tâm đề tài</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4" name="TextBox 34"/>
          <p:cNvSpPr txBox="1"/>
          <p:nvPr/>
        </p:nvSpPr>
        <p:spPr>
          <a:xfrm>
            <a:off x="9760991" y="7780020"/>
            <a:ext cx="7360691" cy="1546860"/>
          </a:xfrm>
          <a:prstGeom prst="rect">
            <a:avLst/>
          </a:prstGeom>
        </p:spPr>
        <p:txBody>
          <a:bodyPr lIns="0" tIns="0" rIns="0" bIns="0" rtlCol="0" anchor="t">
            <a:spAutoFit/>
          </a:bodyPr>
          <a:lstStyle/>
          <a:p>
            <a:pPr marL="339090" lvl="1" indent="-169545" algn="l">
              <a:lnSpc>
                <a:spcPts val="2250"/>
              </a:lnSpc>
              <a:buFont typeface="Arial" panose="020B0604020202020204"/>
              <a:buChar cha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Đọc đúng chữ có dấu từ ảnh (V1, V3)</a:t>
            </a:r>
            <a:endParaRPr lang="en-US" sz="1875">
              <a:solidFill>
                <a:srgbClr val="243044"/>
              </a:solidFill>
              <a:latin typeface="Calibri (MS)" panose="020F0502020204030204"/>
              <a:ea typeface="Calibri (MS)" panose="020F0502020204030204"/>
              <a:cs typeface="Calibri (MS)" panose="020F0502020204030204"/>
              <a:sym typeface="Calibri (MS)" panose="020F0502020204030204"/>
            </a:endParaRPr>
          </a:p>
          <a:p>
            <a:pPr marL="339090" lvl="1" indent="-169545" algn="l">
              <a:lnSpc>
                <a:spcPts val="2250"/>
              </a:lnSpc>
              <a:buFont typeface="Arial" panose="020B0604020202020204"/>
              <a:buChar cha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Trả lời đúng ngôn ngữ, đúng định dạng (V2); không bịa (V4)</a:t>
            </a:r>
            <a:endParaRPr lang="en-US" sz="1875">
              <a:solidFill>
                <a:srgbClr val="243044"/>
              </a:solidFill>
              <a:latin typeface="Calibri (MS)" panose="020F0502020204030204"/>
              <a:ea typeface="Calibri (MS)" panose="020F0502020204030204"/>
              <a:cs typeface="Calibri (MS)" panose="020F0502020204030204"/>
              <a:sym typeface="Calibri (MS)" panose="020F0502020204030204"/>
            </a:endParaRPr>
          </a:p>
          <a:p>
            <a:pPr marL="339090" lvl="1" indent="-169545" algn="l">
              <a:lnSpc>
                <a:spcPts val="2250"/>
              </a:lnSpc>
              <a:buFont typeface="Arial" panose="020B0604020202020204"/>
              <a:buChar cha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Đạt được điều đó chỉ bằng PEFT, trên một GPU Colab</a:t>
            </a:r>
            <a:endParaRPr lang="en-US" sz="1875">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03 · KHOẢNG TRỐNG NGHIÊN CỨU</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khoảng trống — G3 là trọng tâm</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047875"/>
            <a:ext cx="3870846" cy="6328410"/>
            <a:chOff x="0" y="0"/>
            <a:chExt cx="5161128" cy="8437880"/>
          </a:xfrm>
        </p:grpSpPr>
        <p:sp>
          <p:nvSpPr>
            <p:cNvPr id="8" name="Freeform 8"/>
            <p:cNvSpPr/>
            <p:nvPr/>
          </p:nvSpPr>
          <p:spPr>
            <a:xfrm>
              <a:off x="0" y="0"/>
              <a:ext cx="5161153" cy="8437880"/>
            </a:xfrm>
            <a:custGeom>
              <a:avLst/>
              <a:gdLst/>
              <a:ahLst/>
              <a:cxnLst/>
              <a:rect l="l" t="t" r="r" b="b"/>
              <a:pathLst>
                <a:path w="5161153" h="8437880">
                  <a:moveTo>
                    <a:pt x="0" y="147066"/>
                  </a:moveTo>
                  <a:cubicBezTo>
                    <a:pt x="0" y="65786"/>
                    <a:pt x="65786" y="0"/>
                    <a:pt x="147066" y="0"/>
                  </a:cubicBezTo>
                  <a:lnTo>
                    <a:pt x="5014087" y="0"/>
                  </a:lnTo>
                  <a:cubicBezTo>
                    <a:pt x="5095240" y="0"/>
                    <a:pt x="5161153" y="65786"/>
                    <a:pt x="5161153" y="147066"/>
                  </a:cubicBezTo>
                  <a:lnTo>
                    <a:pt x="5161153" y="8290814"/>
                  </a:lnTo>
                  <a:cubicBezTo>
                    <a:pt x="5161153" y="8371967"/>
                    <a:pt x="5095367" y="8437880"/>
                    <a:pt x="5014087" y="8437880"/>
                  </a:cubicBezTo>
                  <a:lnTo>
                    <a:pt x="147066" y="8437880"/>
                  </a:lnTo>
                  <a:cubicBezTo>
                    <a:pt x="65786" y="8437880"/>
                    <a:pt x="0" y="8372094"/>
                    <a:pt x="0" y="8290814"/>
                  </a:cubicBezTo>
                  <a:close/>
                </a:path>
              </a:pathLst>
            </a:custGeom>
            <a:solidFill>
              <a:srgbClr val="F3F5F8"/>
            </a:solidFill>
            <a:ln w="19050" cap="sq">
              <a:solidFill>
                <a:srgbClr val="F3F5F8"/>
              </a:solidFill>
              <a:prstDash val="solid"/>
              <a:miter/>
            </a:ln>
          </p:spPr>
          <p:txBody>
            <a:bodyPr/>
            <a:p/>
          </p:txBody>
        </p:sp>
      </p:grpSp>
      <p:sp>
        <p:nvSpPr>
          <p:cNvPr id="9" name="TextBox 9"/>
          <p:cNvSpPr txBox="1"/>
          <p:nvPr/>
        </p:nvSpPr>
        <p:spPr>
          <a:xfrm>
            <a:off x="1165860" y="2322195"/>
            <a:ext cx="3165996" cy="695325"/>
          </a:xfrm>
          <a:prstGeom prst="rect">
            <a:avLst/>
          </a:prstGeom>
        </p:spPr>
        <p:txBody>
          <a:bodyPr lIns="0" tIns="0" rIns="0" bIns="0" rtlCol="0" anchor="t">
            <a:spAutoFit/>
          </a:bodyPr>
          <a:lstStyle/>
          <a:p>
            <a:pPr algn="l">
              <a:lnSpc>
                <a:spcPts val="3960"/>
              </a:lnSpc>
            </a:pPr>
            <a:r>
              <a:rPr lang="en-US" sz="3300" b="1">
                <a:solidFill>
                  <a:srgbClr val="1C7293"/>
                </a:solidFill>
                <a:latin typeface="Cambria Bold" panose="02040803050406030204"/>
                <a:ea typeface="Cambria Bold" panose="02040803050406030204"/>
                <a:cs typeface="Cambria Bold" panose="02040803050406030204"/>
                <a:sym typeface="Cambria Bold" panose="02040803050406030204"/>
              </a:rPr>
              <a:t>G1</a:t>
            </a:r>
            <a:endParaRPr lang="en-US" sz="33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10" name="TextBox 10"/>
          <p:cNvSpPr txBox="1"/>
          <p:nvPr/>
        </p:nvSpPr>
        <p:spPr>
          <a:xfrm>
            <a:off x="1165860" y="3097530"/>
            <a:ext cx="3165996" cy="122301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Tiền huấn luyện thiên lệch tiếng Anh</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165860" y="4341495"/>
            <a:ext cx="3165996" cy="2927985"/>
          </a:xfrm>
          <a:prstGeom prst="rect">
            <a:avLst/>
          </a:prstGeom>
        </p:spPr>
        <p:txBody>
          <a:bodyPr lIns="0" tIns="0" rIns="0" bIns="0" rtlCol="0" anchor="t">
            <a:spAutoFit/>
          </a:bodyPr>
          <a:lstStyle/>
          <a:p>
            <a:pPr algn="l">
              <a:lnSpc>
                <a:spcPts val="2610"/>
              </a:lnSpc>
            </a:pPr>
            <a:r>
              <a:rPr lang="en-US" sz="2175">
                <a:solidFill>
                  <a:srgbClr val="243044"/>
                </a:solidFill>
                <a:latin typeface="Calibri (MS)" panose="020F0502020204030204"/>
                <a:ea typeface="Calibri (MS)" panose="020F0502020204030204"/>
                <a:cs typeface="Calibri (MS)" panose="020F0502020204030204"/>
                <a:sym typeface="Calibri (MS)" panose="020F0502020204030204"/>
              </a:rPr>
              <a:t>Alignment của VLM tối ưu cho tiếng Anh; chuyển giao sang tiếng Việt chưa được nghiên cứu kỹ.</a:t>
            </a:r>
            <a:endParaRPr lang="en-US" sz="2175">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1165860" y="7475220"/>
            <a:ext cx="3165996" cy="685800"/>
            <a:chOff x="0" y="0"/>
            <a:chExt cx="4221328" cy="914400"/>
          </a:xfrm>
        </p:grpSpPr>
        <p:sp>
          <p:nvSpPr>
            <p:cNvPr id="13" name="Freeform 13"/>
            <p:cNvSpPr/>
            <p:nvPr/>
          </p:nvSpPr>
          <p:spPr>
            <a:xfrm>
              <a:off x="0" y="0"/>
              <a:ext cx="4221328" cy="914400"/>
            </a:xfrm>
            <a:custGeom>
              <a:avLst/>
              <a:gdLst/>
              <a:ahLst/>
              <a:cxnLst/>
              <a:rect l="l" t="t" r="r" b="b"/>
              <a:pathLst>
                <a:path w="4221328" h="914400">
                  <a:moveTo>
                    <a:pt x="0" y="0"/>
                  </a:moveTo>
                  <a:lnTo>
                    <a:pt x="4221328" y="0"/>
                  </a:lnTo>
                  <a:lnTo>
                    <a:pt x="4221328" y="914400"/>
                  </a:lnTo>
                  <a:lnTo>
                    <a:pt x="0" y="914400"/>
                  </a:lnTo>
                  <a:close/>
                </a:path>
              </a:pathLst>
            </a:custGeom>
            <a:blipFill>
              <a:blip r:embed="rId1">
                <a:alphaModFix amt="0"/>
              </a:blip>
              <a:stretch>
                <a:fillRect t="-39952" b="-39952"/>
              </a:stretch>
            </a:blipFill>
          </p:spPr>
          <p:txBody>
            <a:bodyPr/>
            <a:p/>
          </p:txBody>
        </p:sp>
        <p:sp>
          <p:nvSpPr>
            <p:cNvPr id="14" name="TextBox 14"/>
            <p:cNvSpPr txBox="1"/>
            <p:nvPr/>
          </p:nvSpPr>
          <p:spPr>
            <a:xfrm>
              <a:off x="0" y="-19050"/>
              <a:ext cx="4221328" cy="933450"/>
            </a:xfrm>
            <a:prstGeom prst="rect">
              <a:avLst/>
            </a:prstGeom>
          </p:spPr>
          <p:txBody>
            <a:bodyPr lIns="0" tIns="0" rIns="0" bIns="0" rtlCol="0" anchor="b"/>
            <a:lstStyle/>
            <a:p>
              <a:pPr algn="l">
                <a:lnSpc>
                  <a:spcPts val="1890"/>
                </a:lnSpc>
              </a:pPr>
              <a:r>
                <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LLaVA-1.5 (Liu et al., CVPR 2024)</a:t>
              </a:r>
              <a:endPar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grpSp>
        <p:nvGrpSpPr>
          <p:cNvPr id="15" name="Group 15"/>
          <p:cNvGrpSpPr/>
          <p:nvPr/>
        </p:nvGrpSpPr>
        <p:grpSpPr>
          <a:xfrm rot="0">
            <a:off x="5076711" y="2047875"/>
            <a:ext cx="3870846" cy="6328410"/>
            <a:chOff x="0" y="0"/>
            <a:chExt cx="5161128" cy="8437880"/>
          </a:xfrm>
        </p:grpSpPr>
        <p:sp>
          <p:nvSpPr>
            <p:cNvPr id="16" name="Freeform 16"/>
            <p:cNvSpPr/>
            <p:nvPr/>
          </p:nvSpPr>
          <p:spPr>
            <a:xfrm>
              <a:off x="0" y="0"/>
              <a:ext cx="5161153" cy="8437880"/>
            </a:xfrm>
            <a:custGeom>
              <a:avLst/>
              <a:gdLst/>
              <a:ahLst/>
              <a:cxnLst/>
              <a:rect l="l" t="t" r="r" b="b"/>
              <a:pathLst>
                <a:path w="5161153" h="8437880">
                  <a:moveTo>
                    <a:pt x="0" y="147066"/>
                  </a:moveTo>
                  <a:cubicBezTo>
                    <a:pt x="0" y="65786"/>
                    <a:pt x="65786" y="0"/>
                    <a:pt x="147066" y="0"/>
                  </a:cubicBezTo>
                  <a:lnTo>
                    <a:pt x="5014087" y="0"/>
                  </a:lnTo>
                  <a:cubicBezTo>
                    <a:pt x="5095240" y="0"/>
                    <a:pt x="5161153" y="65786"/>
                    <a:pt x="5161153" y="147066"/>
                  </a:cubicBezTo>
                  <a:lnTo>
                    <a:pt x="5161153" y="8290814"/>
                  </a:lnTo>
                  <a:cubicBezTo>
                    <a:pt x="5161153" y="8371967"/>
                    <a:pt x="5095367" y="8437880"/>
                    <a:pt x="5014087" y="8437880"/>
                  </a:cubicBezTo>
                  <a:lnTo>
                    <a:pt x="147066" y="8437880"/>
                  </a:lnTo>
                  <a:cubicBezTo>
                    <a:pt x="65786" y="8437880"/>
                    <a:pt x="0" y="8372094"/>
                    <a:pt x="0" y="8290814"/>
                  </a:cubicBezTo>
                  <a:close/>
                </a:path>
              </a:pathLst>
            </a:custGeom>
            <a:solidFill>
              <a:srgbClr val="F3F5F8"/>
            </a:solidFill>
            <a:ln w="19050" cap="sq">
              <a:solidFill>
                <a:srgbClr val="F3F5F8"/>
              </a:solidFill>
              <a:prstDash val="solid"/>
              <a:miter/>
            </a:ln>
          </p:spPr>
          <p:txBody>
            <a:bodyPr/>
            <a:p/>
          </p:txBody>
        </p:sp>
      </p:grpSp>
      <p:sp>
        <p:nvSpPr>
          <p:cNvPr id="17" name="TextBox 17"/>
          <p:cNvSpPr txBox="1"/>
          <p:nvPr/>
        </p:nvSpPr>
        <p:spPr>
          <a:xfrm>
            <a:off x="5429136" y="2322195"/>
            <a:ext cx="3165996" cy="695325"/>
          </a:xfrm>
          <a:prstGeom prst="rect">
            <a:avLst/>
          </a:prstGeom>
        </p:spPr>
        <p:txBody>
          <a:bodyPr lIns="0" tIns="0" rIns="0" bIns="0" rtlCol="0" anchor="t">
            <a:spAutoFit/>
          </a:bodyPr>
          <a:lstStyle/>
          <a:p>
            <a:pPr algn="l">
              <a:lnSpc>
                <a:spcPts val="3960"/>
              </a:lnSpc>
            </a:pPr>
            <a:r>
              <a:rPr lang="en-US" sz="3300" b="1">
                <a:solidFill>
                  <a:srgbClr val="1C7293"/>
                </a:solidFill>
                <a:latin typeface="Cambria Bold" panose="02040803050406030204"/>
                <a:ea typeface="Cambria Bold" panose="02040803050406030204"/>
                <a:cs typeface="Cambria Bold" panose="02040803050406030204"/>
                <a:sym typeface="Cambria Bold" panose="02040803050406030204"/>
              </a:rPr>
              <a:t>G2</a:t>
            </a:r>
            <a:endParaRPr lang="en-US" sz="33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18" name="TextBox 18"/>
          <p:cNvSpPr txBox="1"/>
          <p:nvPr/>
        </p:nvSpPr>
        <p:spPr>
          <a:xfrm>
            <a:off x="5429136" y="3097530"/>
            <a:ext cx="3165996" cy="122301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VQA tiếng Việt yếu, nhất là scene-text</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9" name="TextBox 19"/>
          <p:cNvSpPr txBox="1"/>
          <p:nvPr/>
        </p:nvSpPr>
        <p:spPr>
          <a:xfrm>
            <a:off x="5429136" y="4341495"/>
            <a:ext cx="3165996" cy="2927985"/>
          </a:xfrm>
          <a:prstGeom prst="rect">
            <a:avLst/>
          </a:prstGeom>
        </p:spPr>
        <p:txBody>
          <a:bodyPr lIns="0" tIns="0" rIns="0" bIns="0" rtlCol="0" anchor="t">
            <a:spAutoFit/>
          </a:bodyPr>
          <a:lstStyle/>
          <a:p>
            <a:pPr algn="l">
              <a:lnSpc>
                <a:spcPts val="2610"/>
              </a:lnSpc>
            </a:pPr>
            <a:r>
              <a:rPr lang="en-US" sz="2175">
                <a:solidFill>
                  <a:srgbClr val="243044"/>
                </a:solidFill>
                <a:latin typeface="Calibri (MS)" panose="020F0502020204030204"/>
                <a:ea typeface="Calibri (MS)" panose="020F0502020204030204"/>
                <a:cs typeface="Calibri (MS)" panose="020F0502020204030204"/>
                <a:sym typeface="Calibri (MS)" panose="020F0502020204030204"/>
              </a:rPr>
              <a:t>EM công bố cao nhất trên ViTextVQA là 25,48 so với 88,00 của con người; OCR, dấu thanh, code-switching còn mở.</a:t>
            </a:r>
            <a:endParaRPr lang="en-US" sz="2175">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0" name="Group 20"/>
          <p:cNvGrpSpPr/>
          <p:nvPr/>
        </p:nvGrpSpPr>
        <p:grpSpPr>
          <a:xfrm rot="0">
            <a:off x="5429136" y="7475220"/>
            <a:ext cx="3165996" cy="685800"/>
            <a:chOff x="0" y="0"/>
            <a:chExt cx="4221328" cy="914400"/>
          </a:xfrm>
        </p:grpSpPr>
        <p:sp>
          <p:nvSpPr>
            <p:cNvPr id="21" name="Freeform 21"/>
            <p:cNvSpPr/>
            <p:nvPr/>
          </p:nvSpPr>
          <p:spPr>
            <a:xfrm>
              <a:off x="0" y="0"/>
              <a:ext cx="4221328" cy="914400"/>
            </a:xfrm>
            <a:custGeom>
              <a:avLst/>
              <a:gdLst/>
              <a:ahLst/>
              <a:cxnLst/>
              <a:rect l="l" t="t" r="r" b="b"/>
              <a:pathLst>
                <a:path w="4221328" h="914400">
                  <a:moveTo>
                    <a:pt x="0" y="0"/>
                  </a:moveTo>
                  <a:lnTo>
                    <a:pt x="4221328" y="0"/>
                  </a:lnTo>
                  <a:lnTo>
                    <a:pt x="4221328" y="914400"/>
                  </a:lnTo>
                  <a:lnTo>
                    <a:pt x="0" y="914400"/>
                  </a:lnTo>
                  <a:close/>
                </a:path>
              </a:pathLst>
            </a:custGeom>
            <a:blipFill>
              <a:blip r:embed="rId1">
                <a:alphaModFix amt="0"/>
              </a:blip>
              <a:stretch>
                <a:fillRect t="-39952" b="-39952"/>
              </a:stretch>
            </a:blipFill>
          </p:spPr>
          <p:txBody>
            <a:bodyPr/>
            <a:p/>
          </p:txBody>
        </p:sp>
        <p:sp>
          <p:nvSpPr>
            <p:cNvPr id="22" name="TextBox 22"/>
            <p:cNvSpPr txBox="1"/>
            <p:nvPr/>
          </p:nvSpPr>
          <p:spPr>
            <a:xfrm>
              <a:off x="0" y="-19050"/>
              <a:ext cx="4221328" cy="933450"/>
            </a:xfrm>
            <a:prstGeom prst="rect">
              <a:avLst/>
            </a:prstGeom>
          </p:spPr>
          <p:txBody>
            <a:bodyPr lIns="0" tIns="0" rIns="0" bIns="0" rtlCol="0" anchor="b"/>
            <a:lstStyle/>
            <a:p>
              <a:pPr algn="l">
                <a:lnSpc>
                  <a:spcPts val="1890"/>
                </a:lnSpc>
              </a:pPr>
              <a:r>
                <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ViTextVQA (Nguyen et al., 2024)</a:t>
              </a:r>
              <a:endPar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grpSp>
        <p:nvGrpSpPr>
          <p:cNvPr id="23" name="Group 23"/>
          <p:cNvGrpSpPr/>
          <p:nvPr/>
        </p:nvGrpSpPr>
        <p:grpSpPr>
          <a:xfrm rot="0">
            <a:off x="9339986" y="2047875"/>
            <a:ext cx="3870846" cy="6328410"/>
            <a:chOff x="0" y="0"/>
            <a:chExt cx="5161128" cy="8437880"/>
          </a:xfrm>
        </p:grpSpPr>
        <p:sp>
          <p:nvSpPr>
            <p:cNvPr id="24" name="Freeform 24"/>
            <p:cNvSpPr/>
            <p:nvPr/>
          </p:nvSpPr>
          <p:spPr>
            <a:xfrm>
              <a:off x="0" y="0"/>
              <a:ext cx="5161153" cy="8437880"/>
            </a:xfrm>
            <a:custGeom>
              <a:avLst/>
              <a:gdLst/>
              <a:ahLst/>
              <a:cxnLst/>
              <a:rect l="l" t="t" r="r" b="b"/>
              <a:pathLst>
                <a:path w="5161153" h="8437880">
                  <a:moveTo>
                    <a:pt x="0" y="147066"/>
                  </a:moveTo>
                  <a:cubicBezTo>
                    <a:pt x="0" y="65786"/>
                    <a:pt x="65786" y="0"/>
                    <a:pt x="147066" y="0"/>
                  </a:cubicBezTo>
                  <a:lnTo>
                    <a:pt x="5014087" y="0"/>
                  </a:lnTo>
                  <a:cubicBezTo>
                    <a:pt x="5095240" y="0"/>
                    <a:pt x="5161153" y="65786"/>
                    <a:pt x="5161153" y="147066"/>
                  </a:cubicBezTo>
                  <a:lnTo>
                    <a:pt x="5161153" y="8290814"/>
                  </a:lnTo>
                  <a:cubicBezTo>
                    <a:pt x="5161153" y="8371967"/>
                    <a:pt x="5095367" y="8437880"/>
                    <a:pt x="5014087" y="8437880"/>
                  </a:cubicBezTo>
                  <a:lnTo>
                    <a:pt x="147066" y="8437880"/>
                  </a:lnTo>
                  <a:cubicBezTo>
                    <a:pt x="65786" y="8437880"/>
                    <a:pt x="0" y="8372094"/>
                    <a:pt x="0" y="8290814"/>
                  </a:cubicBezTo>
                  <a:close/>
                </a:path>
              </a:pathLst>
            </a:custGeom>
            <a:solidFill>
              <a:srgbClr val="FBF0DA"/>
            </a:solidFill>
            <a:ln w="19050" cap="sq">
              <a:solidFill>
                <a:srgbClr val="FBF0DA"/>
              </a:solidFill>
              <a:prstDash val="solid"/>
              <a:miter/>
            </a:ln>
          </p:spPr>
          <p:txBody>
            <a:bodyPr/>
            <a:p/>
          </p:txBody>
        </p:sp>
      </p:grpSp>
      <p:sp>
        <p:nvSpPr>
          <p:cNvPr id="25" name="TextBox 25"/>
          <p:cNvSpPr txBox="1"/>
          <p:nvPr/>
        </p:nvSpPr>
        <p:spPr>
          <a:xfrm>
            <a:off x="9692411" y="2322195"/>
            <a:ext cx="3165996" cy="695325"/>
          </a:xfrm>
          <a:prstGeom prst="rect">
            <a:avLst/>
          </a:prstGeom>
        </p:spPr>
        <p:txBody>
          <a:bodyPr lIns="0" tIns="0" rIns="0" bIns="0" rtlCol="0" anchor="t">
            <a:spAutoFit/>
          </a:bodyPr>
          <a:lstStyle/>
          <a:p>
            <a:pPr algn="l">
              <a:lnSpc>
                <a:spcPts val="3960"/>
              </a:lnSpc>
            </a:pPr>
            <a:r>
              <a:rPr lang="en-US" sz="3300" b="1">
                <a:solidFill>
                  <a:srgbClr val="E8A33D"/>
                </a:solidFill>
                <a:latin typeface="Cambria Bold" panose="02040803050406030204"/>
                <a:ea typeface="Cambria Bold" panose="02040803050406030204"/>
                <a:cs typeface="Cambria Bold" panose="02040803050406030204"/>
                <a:sym typeface="Cambria Bold" panose="02040803050406030204"/>
              </a:rPr>
              <a:t>G3</a:t>
            </a:r>
            <a:endParaRPr lang="en-US" sz="33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26" name="TextBox 26"/>
          <p:cNvSpPr txBox="1"/>
          <p:nvPr/>
        </p:nvSpPr>
        <p:spPr>
          <a:xfrm>
            <a:off x="9692411" y="3097530"/>
            <a:ext cx="3165996" cy="122301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PEFT cho VLM tiếng Việt chưa được khai thác</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7" name="TextBox 27"/>
          <p:cNvSpPr txBox="1"/>
          <p:nvPr/>
        </p:nvSpPr>
        <p:spPr>
          <a:xfrm>
            <a:off x="9692411" y="4341495"/>
            <a:ext cx="3165996" cy="2927985"/>
          </a:xfrm>
          <a:prstGeom prst="rect">
            <a:avLst/>
          </a:prstGeom>
        </p:spPr>
        <p:txBody>
          <a:bodyPr lIns="0" tIns="0" rIns="0" bIns="0" rtlCol="0" anchor="t">
            <a:spAutoFit/>
          </a:bodyPr>
          <a:lstStyle/>
          <a:p>
            <a:pPr algn="l">
              <a:lnSpc>
                <a:spcPts val="2610"/>
              </a:lnSpc>
            </a:pPr>
            <a:r>
              <a:rPr lang="en-US" sz="2175">
                <a:solidFill>
                  <a:srgbClr val="243044"/>
                </a:solidFill>
                <a:latin typeface="Calibri (MS)" panose="020F0502020204030204"/>
                <a:ea typeface="Calibri (MS)" panose="020F0502020204030204"/>
                <a:cs typeface="Calibri (MS)" panose="020F0502020204030204"/>
                <a:sym typeface="Calibri (MS)" panose="020F0502020204030204"/>
              </a:rPr>
              <a:t>Chưa có nghiên cứu hệ thống áp dụng LoRA/QLoRA cho VLM trên VQA tiếng Việt — ba paper VQA tiếng Việt nhóm khảo sát đều không dùng PEFT.</a:t>
            </a:r>
            <a:endParaRPr lang="en-US" sz="2175">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8" name="Group 28"/>
          <p:cNvGrpSpPr/>
          <p:nvPr/>
        </p:nvGrpSpPr>
        <p:grpSpPr>
          <a:xfrm rot="0">
            <a:off x="9692411" y="7475220"/>
            <a:ext cx="3165996" cy="685800"/>
            <a:chOff x="0" y="0"/>
            <a:chExt cx="4221328" cy="914400"/>
          </a:xfrm>
        </p:grpSpPr>
        <p:sp>
          <p:nvSpPr>
            <p:cNvPr id="29" name="Freeform 29"/>
            <p:cNvSpPr/>
            <p:nvPr/>
          </p:nvSpPr>
          <p:spPr>
            <a:xfrm>
              <a:off x="0" y="0"/>
              <a:ext cx="4221328" cy="914400"/>
            </a:xfrm>
            <a:custGeom>
              <a:avLst/>
              <a:gdLst/>
              <a:ahLst/>
              <a:cxnLst/>
              <a:rect l="l" t="t" r="r" b="b"/>
              <a:pathLst>
                <a:path w="4221328" h="914400">
                  <a:moveTo>
                    <a:pt x="0" y="0"/>
                  </a:moveTo>
                  <a:lnTo>
                    <a:pt x="4221328" y="0"/>
                  </a:lnTo>
                  <a:lnTo>
                    <a:pt x="4221328" y="914400"/>
                  </a:lnTo>
                  <a:lnTo>
                    <a:pt x="0" y="914400"/>
                  </a:lnTo>
                  <a:close/>
                </a:path>
              </a:pathLst>
            </a:custGeom>
            <a:blipFill>
              <a:blip r:embed="rId1">
                <a:alphaModFix amt="0"/>
              </a:blip>
              <a:stretch>
                <a:fillRect t="-39952" b="-39952"/>
              </a:stretch>
            </a:blipFill>
          </p:spPr>
          <p:txBody>
            <a:bodyPr/>
            <a:p/>
          </p:txBody>
        </p:sp>
        <p:sp>
          <p:nvSpPr>
            <p:cNvPr id="30" name="TextBox 30"/>
            <p:cNvSpPr txBox="1"/>
            <p:nvPr/>
          </p:nvSpPr>
          <p:spPr>
            <a:xfrm>
              <a:off x="0" y="-19050"/>
              <a:ext cx="4221328" cy="933450"/>
            </a:xfrm>
            <a:prstGeom prst="rect">
              <a:avLst/>
            </a:prstGeom>
          </p:spPr>
          <p:txBody>
            <a:bodyPr lIns="0" tIns="0" rIns="0" bIns="0" rtlCol="0" anchor="b"/>
            <a:lstStyle/>
            <a:p>
              <a:pPr algn="l">
                <a:lnSpc>
                  <a:spcPts val="1890"/>
                </a:lnSpc>
              </a:pPr>
              <a:r>
                <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Literature Matrix (W2)</a:t>
              </a:r>
              <a:endPar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grpSp>
        <p:nvGrpSpPr>
          <p:cNvPr id="31" name="Group 31"/>
          <p:cNvGrpSpPr/>
          <p:nvPr/>
        </p:nvGrpSpPr>
        <p:grpSpPr>
          <a:xfrm rot="0">
            <a:off x="13603262" y="2047875"/>
            <a:ext cx="3870846" cy="6328410"/>
            <a:chOff x="0" y="0"/>
            <a:chExt cx="5161128" cy="8437880"/>
          </a:xfrm>
        </p:grpSpPr>
        <p:sp>
          <p:nvSpPr>
            <p:cNvPr id="32" name="Freeform 32"/>
            <p:cNvSpPr/>
            <p:nvPr/>
          </p:nvSpPr>
          <p:spPr>
            <a:xfrm>
              <a:off x="0" y="0"/>
              <a:ext cx="5161153" cy="8437880"/>
            </a:xfrm>
            <a:custGeom>
              <a:avLst/>
              <a:gdLst/>
              <a:ahLst/>
              <a:cxnLst/>
              <a:rect l="l" t="t" r="r" b="b"/>
              <a:pathLst>
                <a:path w="5161153" h="8437880">
                  <a:moveTo>
                    <a:pt x="0" y="147066"/>
                  </a:moveTo>
                  <a:cubicBezTo>
                    <a:pt x="0" y="65786"/>
                    <a:pt x="65786" y="0"/>
                    <a:pt x="147066" y="0"/>
                  </a:cubicBezTo>
                  <a:lnTo>
                    <a:pt x="5014087" y="0"/>
                  </a:lnTo>
                  <a:cubicBezTo>
                    <a:pt x="5095240" y="0"/>
                    <a:pt x="5161153" y="65786"/>
                    <a:pt x="5161153" y="147066"/>
                  </a:cubicBezTo>
                  <a:lnTo>
                    <a:pt x="5161153" y="8290814"/>
                  </a:lnTo>
                  <a:cubicBezTo>
                    <a:pt x="5161153" y="8371967"/>
                    <a:pt x="5095367" y="8437880"/>
                    <a:pt x="5014087" y="8437880"/>
                  </a:cubicBezTo>
                  <a:lnTo>
                    <a:pt x="147066" y="8437880"/>
                  </a:lnTo>
                  <a:cubicBezTo>
                    <a:pt x="65786" y="8437880"/>
                    <a:pt x="0" y="8372094"/>
                    <a:pt x="0" y="8290814"/>
                  </a:cubicBezTo>
                  <a:close/>
                </a:path>
              </a:pathLst>
            </a:custGeom>
            <a:solidFill>
              <a:srgbClr val="F3F5F8"/>
            </a:solidFill>
            <a:ln w="19050" cap="sq">
              <a:solidFill>
                <a:srgbClr val="F3F5F8"/>
              </a:solidFill>
              <a:prstDash val="solid"/>
              <a:miter/>
            </a:ln>
          </p:spPr>
          <p:txBody>
            <a:bodyPr/>
            <a:p/>
          </p:txBody>
        </p:sp>
      </p:grpSp>
      <p:sp>
        <p:nvSpPr>
          <p:cNvPr id="33" name="TextBox 33"/>
          <p:cNvSpPr txBox="1"/>
          <p:nvPr/>
        </p:nvSpPr>
        <p:spPr>
          <a:xfrm>
            <a:off x="13955687" y="2322195"/>
            <a:ext cx="3165996" cy="695325"/>
          </a:xfrm>
          <a:prstGeom prst="rect">
            <a:avLst/>
          </a:prstGeom>
        </p:spPr>
        <p:txBody>
          <a:bodyPr lIns="0" tIns="0" rIns="0" bIns="0" rtlCol="0" anchor="t">
            <a:spAutoFit/>
          </a:bodyPr>
          <a:lstStyle/>
          <a:p>
            <a:pPr algn="l">
              <a:lnSpc>
                <a:spcPts val="3960"/>
              </a:lnSpc>
            </a:pPr>
            <a:r>
              <a:rPr lang="en-US" sz="3300" b="1">
                <a:solidFill>
                  <a:srgbClr val="1C7293"/>
                </a:solidFill>
                <a:latin typeface="Cambria Bold" panose="02040803050406030204"/>
                <a:ea typeface="Cambria Bold" panose="02040803050406030204"/>
                <a:cs typeface="Cambria Bold" panose="02040803050406030204"/>
                <a:sym typeface="Cambria Bold" panose="02040803050406030204"/>
              </a:rPr>
              <a:t>G4</a:t>
            </a:r>
            <a:endParaRPr lang="en-US" sz="33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34" name="TextBox 34"/>
          <p:cNvSpPr txBox="1"/>
          <p:nvPr/>
        </p:nvSpPr>
        <p:spPr>
          <a:xfrm>
            <a:off x="13955687" y="3097530"/>
            <a:ext cx="3165996" cy="122301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Chưa đo hallucination cho tiếng Việt</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5" name="TextBox 35"/>
          <p:cNvSpPr txBox="1"/>
          <p:nvPr/>
        </p:nvSpPr>
        <p:spPr>
          <a:xfrm>
            <a:off x="13955687" y="4341495"/>
            <a:ext cx="3165996" cy="2927985"/>
          </a:xfrm>
          <a:prstGeom prst="rect">
            <a:avLst/>
          </a:prstGeom>
        </p:spPr>
        <p:txBody>
          <a:bodyPr lIns="0" tIns="0" rIns="0" bIns="0" rtlCol="0" anchor="t">
            <a:spAutoFit/>
          </a:bodyPr>
          <a:lstStyle/>
          <a:p>
            <a:pPr algn="l">
              <a:lnSpc>
                <a:spcPts val="2610"/>
              </a:lnSpc>
            </a:pPr>
            <a:r>
              <a:rPr lang="en-US" sz="2175">
                <a:solidFill>
                  <a:srgbClr val="243044"/>
                </a:solidFill>
                <a:latin typeface="Calibri (MS)" panose="020F0502020204030204"/>
                <a:ea typeface="Calibri (MS)" panose="020F0502020204030204"/>
                <a:cs typeface="Calibri (MS)" panose="020F0502020204030204"/>
                <a:sym typeface="Calibri (MS)" panose="020F0502020204030204"/>
              </a:rPr>
              <a:t>Chưa có benchmark hallucination kiểu POPE nào được đánh giá trên dữ liệu VQA tiếng Việt.</a:t>
            </a:r>
            <a:endParaRPr lang="en-US" sz="2175">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6" name="Group 36"/>
          <p:cNvGrpSpPr/>
          <p:nvPr/>
        </p:nvGrpSpPr>
        <p:grpSpPr>
          <a:xfrm rot="0">
            <a:off x="13955687" y="7475220"/>
            <a:ext cx="3165996" cy="685800"/>
            <a:chOff x="0" y="0"/>
            <a:chExt cx="4221328" cy="914400"/>
          </a:xfrm>
        </p:grpSpPr>
        <p:sp>
          <p:nvSpPr>
            <p:cNvPr id="37" name="Freeform 37"/>
            <p:cNvSpPr/>
            <p:nvPr/>
          </p:nvSpPr>
          <p:spPr>
            <a:xfrm>
              <a:off x="0" y="0"/>
              <a:ext cx="4221328" cy="914400"/>
            </a:xfrm>
            <a:custGeom>
              <a:avLst/>
              <a:gdLst/>
              <a:ahLst/>
              <a:cxnLst/>
              <a:rect l="l" t="t" r="r" b="b"/>
              <a:pathLst>
                <a:path w="4221328" h="914400">
                  <a:moveTo>
                    <a:pt x="0" y="0"/>
                  </a:moveTo>
                  <a:lnTo>
                    <a:pt x="4221328" y="0"/>
                  </a:lnTo>
                  <a:lnTo>
                    <a:pt x="4221328" y="914400"/>
                  </a:lnTo>
                  <a:lnTo>
                    <a:pt x="0" y="914400"/>
                  </a:lnTo>
                  <a:close/>
                </a:path>
              </a:pathLst>
            </a:custGeom>
            <a:blipFill>
              <a:blip r:embed="rId1">
                <a:alphaModFix amt="0"/>
              </a:blip>
              <a:stretch>
                <a:fillRect t="-39952" b="-39952"/>
              </a:stretch>
            </a:blipFill>
          </p:spPr>
          <p:txBody>
            <a:bodyPr/>
            <a:p/>
          </p:txBody>
        </p:sp>
        <p:sp>
          <p:nvSpPr>
            <p:cNvPr id="38" name="TextBox 38"/>
            <p:cNvSpPr txBox="1"/>
            <p:nvPr/>
          </p:nvSpPr>
          <p:spPr>
            <a:xfrm>
              <a:off x="0" y="-19050"/>
              <a:ext cx="4221328" cy="933450"/>
            </a:xfrm>
            <a:prstGeom prst="rect">
              <a:avLst/>
            </a:prstGeom>
          </p:spPr>
          <p:txBody>
            <a:bodyPr lIns="0" tIns="0" rIns="0" bIns="0" rtlCol="0" anchor="b"/>
            <a:lstStyle/>
            <a:p>
              <a:pPr algn="l">
                <a:lnSpc>
                  <a:spcPts val="1890"/>
                </a:lnSpc>
              </a:pPr>
              <a:r>
                <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POPE (Li et al., EMNLP 2023)</a:t>
              </a:r>
              <a:endPar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sp>
        <p:nvSpPr>
          <p:cNvPr id="39" name="TextBox 39"/>
          <p:cNvSpPr txBox="1"/>
          <p:nvPr/>
        </p:nvSpPr>
        <p:spPr>
          <a:xfrm>
            <a:off x="822960" y="8593455"/>
            <a:ext cx="16641623" cy="802005"/>
          </a:xfrm>
          <a:prstGeom prst="rect">
            <a:avLst/>
          </a:prstGeom>
        </p:spPr>
        <p:txBody>
          <a:bodyPr lIns="0" tIns="0" rIns="0" bIns="0" rtlCol="0" anchor="t">
            <a:spAutoFit/>
          </a:bodyPr>
          <a:lstStyle/>
          <a:p>
            <a:pPr algn="l">
              <a:lnSpc>
                <a:spcPts val="2340"/>
              </a:lnSpc>
            </a:pPr>
            <a:r>
              <a:rPr lang="en-US" sz="1950">
                <a:solidFill>
                  <a:srgbClr val="1C7293"/>
                </a:solidFill>
                <a:latin typeface="Calibri (MS)" panose="020F0502020204030204"/>
                <a:ea typeface="Calibri (MS)" panose="020F0502020204030204"/>
                <a:cs typeface="Calibri (MS)" panose="020F0502020204030204"/>
                <a:sym typeface="Calibri (MS)" panose="020F0502020204030204"/>
              </a:rPr>
              <a:t>Cách bộ slide trả lời: G2 → QLoRA nhận biết OCR trên ViTextVQA (slide 34–37) · G3 → QLoRA trên Qwen2.5-VL-3B (slide 29–30) · G4 → duyệt hallucination và H4 (slide 33, 42).</a:t>
            </a:r>
            <a:endParaRPr lang="en-US" sz="1950">
              <a:solidFill>
                <a:srgbClr val="1C7293"/>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04 · TRONG VÀ NGOÀI PHẠM VI</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Trong và ngoài phạm vi đề tài</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047875"/>
            <a:ext cx="5246218" cy="3105150"/>
            <a:chOff x="0" y="0"/>
            <a:chExt cx="6994957" cy="4140200"/>
          </a:xfrm>
        </p:grpSpPr>
        <p:sp>
          <p:nvSpPr>
            <p:cNvPr id="8" name="Freeform 8"/>
            <p:cNvSpPr/>
            <p:nvPr/>
          </p:nvSpPr>
          <p:spPr>
            <a:xfrm>
              <a:off x="0" y="0"/>
              <a:ext cx="6994906" cy="4140200"/>
            </a:xfrm>
            <a:custGeom>
              <a:avLst/>
              <a:gdLst/>
              <a:ahLst/>
              <a:cxnLst/>
              <a:rect l="l" t="t" r="r" b="b"/>
              <a:pathLst>
                <a:path w="6994906" h="4140200">
                  <a:moveTo>
                    <a:pt x="0" y="165608"/>
                  </a:moveTo>
                  <a:cubicBezTo>
                    <a:pt x="0" y="74168"/>
                    <a:pt x="74168" y="0"/>
                    <a:pt x="165608" y="0"/>
                  </a:cubicBezTo>
                  <a:lnTo>
                    <a:pt x="6829298" y="0"/>
                  </a:lnTo>
                  <a:cubicBezTo>
                    <a:pt x="6920738" y="0"/>
                    <a:pt x="6994906" y="74168"/>
                    <a:pt x="6994906" y="165608"/>
                  </a:cubicBezTo>
                  <a:lnTo>
                    <a:pt x="6994906" y="3974592"/>
                  </a:lnTo>
                  <a:cubicBezTo>
                    <a:pt x="6994906" y="4066032"/>
                    <a:pt x="6920738" y="4140200"/>
                    <a:pt x="6829298" y="4140200"/>
                  </a:cubicBezTo>
                  <a:lnTo>
                    <a:pt x="165608" y="4140200"/>
                  </a:lnTo>
                  <a:cubicBezTo>
                    <a:pt x="74168" y="4140200"/>
                    <a:pt x="0" y="4066032"/>
                    <a:pt x="0" y="3974592"/>
                  </a:cubicBezTo>
                  <a:close/>
                </a:path>
              </a:pathLst>
            </a:custGeom>
            <a:solidFill>
              <a:srgbClr val="FBF0DA"/>
            </a:solidFill>
            <a:ln w="19050" cap="sq">
              <a:solidFill>
                <a:srgbClr val="FBF0DA"/>
              </a:solidFill>
              <a:prstDash val="solid"/>
              <a:miter/>
            </a:ln>
          </p:spPr>
          <p:txBody>
            <a:bodyPr/>
            <a:p/>
          </p:txBody>
        </p:sp>
      </p:grpSp>
      <p:sp>
        <p:nvSpPr>
          <p:cNvPr id="9" name="TextBox 9"/>
          <p:cNvSpPr txBox="1"/>
          <p:nvPr/>
        </p:nvSpPr>
        <p:spPr>
          <a:xfrm>
            <a:off x="1165860" y="2215515"/>
            <a:ext cx="4541368" cy="66484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Dữ liệu</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1165860" y="2891790"/>
            <a:ext cx="4541368" cy="20459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ViVQA (ảnh đời thường) và ViTextVQA (ảnh có chữ tiếng Việt); split cố định; câu trả lời ngắn</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1" name="Group 11"/>
          <p:cNvGrpSpPr/>
          <p:nvPr/>
        </p:nvGrpSpPr>
        <p:grpSpPr>
          <a:xfrm rot="0">
            <a:off x="6520663" y="2047875"/>
            <a:ext cx="5246218" cy="3105150"/>
            <a:chOff x="0" y="0"/>
            <a:chExt cx="6994957" cy="4140200"/>
          </a:xfrm>
        </p:grpSpPr>
        <p:sp>
          <p:nvSpPr>
            <p:cNvPr id="12" name="Freeform 12"/>
            <p:cNvSpPr/>
            <p:nvPr/>
          </p:nvSpPr>
          <p:spPr>
            <a:xfrm>
              <a:off x="0" y="0"/>
              <a:ext cx="6994906" cy="4140200"/>
            </a:xfrm>
            <a:custGeom>
              <a:avLst/>
              <a:gdLst/>
              <a:ahLst/>
              <a:cxnLst/>
              <a:rect l="l" t="t" r="r" b="b"/>
              <a:pathLst>
                <a:path w="6994906" h="4140200">
                  <a:moveTo>
                    <a:pt x="0" y="165608"/>
                  </a:moveTo>
                  <a:cubicBezTo>
                    <a:pt x="0" y="74168"/>
                    <a:pt x="74168" y="0"/>
                    <a:pt x="165608" y="0"/>
                  </a:cubicBezTo>
                  <a:lnTo>
                    <a:pt x="6829298" y="0"/>
                  </a:lnTo>
                  <a:cubicBezTo>
                    <a:pt x="6920738" y="0"/>
                    <a:pt x="6994906" y="74168"/>
                    <a:pt x="6994906" y="165608"/>
                  </a:cubicBezTo>
                  <a:lnTo>
                    <a:pt x="6994906" y="3974592"/>
                  </a:lnTo>
                  <a:cubicBezTo>
                    <a:pt x="6994906" y="4066032"/>
                    <a:pt x="6920738" y="4140200"/>
                    <a:pt x="6829298" y="4140200"/>
                  </a:cubicBezTo>
                  <a:lnTo>
                    <a:pt x="165608" y="4140200"/>
                  </a:lnTo>
                  <a:cubicBezTo>
                    <a:pt x="74168" y="4140200"/>
                    <a:pt x="0" y="4066032"/>
                    <a:pt x="0" y="3974592"/>
                  </a:cubicBezTo>
                  <a:close/>
                </a:path>
              </a:pathLst>
            </a:custGeom>
            <a:solidFill>
              <a:srgbClr val="F3F5F8"/>
            </a:solidFill>
            <a:ln w="19050" cap="sq">
              <a:solidFill>
                <a:srgbClr val="F3F5F8"/>
              </a:solidFill>
              <a:prstDash val="solid"/>
              <a:miter/>
            </a:ln>
          </p:spPr>
          <p:txBody>
            <a:bodyPr/>
            <a:p/>
          </p:txBody>
        </p:sp>
      </p:grpSp>
      <p:sp>
        <p:nvSpPr>
          <p:cNvPr id="13" name="TextBox 13"/>
          <p:cNvSpPr txBox="1"/>
          <p:nvPr/>
        </p:nvSpPr>
        <p:spPr>
          <a:xfrm>
            <a:off x="6873088" y="2215515"/>
            <a:ext cx="4541368" cy="66484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Mô hình &amp; cách thích nghi</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4" name="TextBox 14"/>
          <p:cNvSpPr txBox="1"/>
          <p:nvPr/>
        </p:nvSpPr>
        <p:spPr>
          <a:xfrm>
            <a:off x="6873088" y="2891790"/>
            <a:ext cx="4541368" cy="20459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Một baseline mở: Qwen2.5-VL-3B-Instruct; chỉ PEFT (QLoRA 4-bit); chữ OCR làm đầu vào phụ</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5" name="Group 15"/>
          <p:cNvGrpSpPr/>
          <p:nvPr/>
        </p:nvGrpSpPr>
        <p:grpSpPr>
          <a:xfrm rot="0">
            <a:off x="12227890" y="2047875"/>
            <a:ext cx="5246218" cy="3105150"/>
            <a:chOff x="0" y="0"/>
            <a:chExt cx="6994957" cy="4140200"/>
          </a:xfrm>
        </p:grpSpPr>
        <p:sp>
          <p:nvSpPr>
            <p:cNvPr id="16" name="Freeform 16"/>
            <p:cNvSpPr/>
            <p:nvPr/>
          </p:nvSpPr>
          <p:spPr>
            <a:xfrm>
              <a:off x="0" y="0"/>
              <a:ext cx="6994906" cy="4140200"/>
            </a:xfrm>
            <a:custGeom>
              <a:avLst/>
              <a:gdLst/>
              <a:ahLst/>
              <a:cxnLst/>
              <a:rect l="l" t="t" r="r" b="b"/>
              <a:pathLst>
                <a:path w="6994906" h="4140200">
                  <a:moveTo>
                    <a:pt x="0" y="165608"/>
                  </a:moveTo>
                  <a:cubicBezTo>
                    <a:pt x="0" y="74168"/>
                    <a:pt x="74168" y="0"/>
                    <a:pt x="165608" y="0"/>
                  </a:cubicBezTo>
                  <a:lnTo>
                    <a:pt x="6829298" y="0"/>
                  </a:lnTo>
                  <a:cubicBezTo>
                    <a:pt x="6920738" y="0"/>
                    <a:pt x="6994906" y="74168"/>
                    <a:pt x="6994906" y="165608"/>
                  </a:cubicBezTo>
                  <a:lnTo>
                    <a:pt x="6994906" y="3974592"/>
                  </a:lnTo>
                  <a:cubicBezTo>
                    <a:pt x="6994906" y="4066032"/>
                    <a:pt x="6920738" y="4140200"/>
                    <a:pt x="6829298" y="4140200"/>
                  </a:cubicBezTo>
                  <a:lnTo>
                    <a:pt x="165608" y="4140200"/>
                  </a:lnTo>
                  <a:cubicBezTo>
                    <a:pt x="74168" y="4140200"/>
                    <a:pt x="0" y="4066032"/>
                    <a:pt x="0" y="3974592"/>
                  </a:cubicBezTo>
                  <a:close/>
                </a:path>
              </a:pathLst>
            </a:custGeom>
            <a:solidFill>
              <a:srgbClr val="F3F5F8"/>
            </a:solidFill>
            <a:ln w="19050" cap="sq">
              <a:solidFill>
                <a:srgbClr val="F3F5F8"/>
              </a:solidFill>
              <a:prstDash val="solid"/>
              <a:miter/>
            </a:ln>
          </p:spPr>
          <p:txBody>
            <a:bodyPr/>
            <a:p/>
          </p:txBody>
        </p:sp>
      </p:grpSp>
      <p:sp>
        <p:nvSpPr>
          <p:cNvPr id="17" name="TextBox 17"/>
          <p:cNvSpPr txBox="1"/>
          <p:nvPr/>
        </p:nvSpPr>
        <p:spPr>
          <a:xfrm>
            <a:off x="12580315" y="2215515"/>
            <a:ext cx="4541368" cy="66484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Đánh giá &amp; tài nguyên</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8" name="TextBox 18"/>
          <p:cNvSpPr txBox="1"/>
          <p:nvPr/>
        </p:nvSpPr>
        <p:spPr>
          <a:xfrm>
            <a:off x="12580315" y="2891790"/>
            <a:ext cx="4541368" cy="20459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EM, VQA-Acc, ANLS (+F1); ablation, phân tích lỗi, hallucination; một GPU Colab</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813435" y="5545455"/>
            <a:ext cx="8065541" cy="3722370"/>
            <a:chOff x="0" y="0"/>
            <a:chExt cx="10754055" cy="4963160"/>
          </a:xfrm>
        </p:grpSpPr>
        <p:sp>
          <p:nvSpPr>
            <p:cNvPr id="20" name="Freeform 20"/>
            <p:cNvSpPr/>
            <p:nvPr/>
          </p:nvSpPr>
          <p:spPr>
            <a:xfrm>
              <a:off x="0" y="0"/>
              <a:ext cx="10753978" cy="4963160"/>
            </a:xfrm>
            <a:custGeom>
              <a:avLst/>
              <a:gdLst/>
              <a:ahLst/>
              <a:cxnLst/>
              <a:rect l="l" t="t" r="r" b="b"/>
              <a:pathLst>
                <a:path w="10753978" h="4963160">
                  <a:moveTo>
                    <a:pt x="0" y="226822"/>
                  </a:moveTo>
                  <a:cubicBezTo>
                    <a:pt x="0" y="101600"/>
                    <a:pt x="101600" y="0"/>
                    <a:pt x="226822" y="0"/>
                  </a:cubicBezTo>
                  <a:lnTo>
                    <a:pt x="10527157" y="0"/>
                  </a:lnTo>
                  <a:cubicBezTo>
                    <a:pt x="10652506" y="0"/>
                    <a:pt x="10753978" y="101600"/>
                    <a:pt x="10753978" y="226822"/>
                  </a:cubicBezTo>
                  <a:lnTo>
                    <a:pt x="10753978" y="4736338"/>
                  </a:lnTo>
                  <a:cubicBezTo>
                    <a:pt x="10753978" y="4861687"/>
                    <a:pt x="10652378" y="4963160"/>
                    <a:pt x="10527157" y="4963160"/>
                  </a:cubicBezTo>
                  <a:lnTo>
                    <a:pt x="226822" y="4963160"/>
                  </a:lnTo>
                  <a:cubicBezTo>
                    <a:pt x="101600" y="4963160"/>
                    <a:pt x="0" y="4861560"/>
                    <a:pt x="0" y="4736338"/>
                  </a:cubicBezTo>
                  <a:close/>
                </a:path>
              </a:pathLst>
            </a:custGeom>
            <a:solidFill>
              <a:srgbClr val="F3F5F8"/>
            </a:solidFill>
            <a:ln w="19050" cap="sq">
              <a:solidFill>
                <a:srgbClr val="F3F5F8"/>
              </a:solidFill>
              <a:prstDash val="solid"/>
              <a:miter/>
            </a:ln>
          </p:spPr>
          <p:txBody>
            <a:bodyPr/>
            <a:p/>
          </p:txBody>
        </p:sp>
      </p:grpSp>
      <p:sp>
        <p:nvSpPr>
          <p:cNvPr id="21" name="TextBox 21"/>
          <p:cNvSpPr txBox="1"/>
          <p:nvPr/>
        </p:nvSpPr>
        <p:spPr>
          <a:xfrm>
            <a:off x="1165860" y="5713095"/>
            <a:ext cx="7360691" cy="59626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Ngoài phạm vi</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2" name="TextBox 22"/>
          <p:cNvSpPr txBox="1"/>
          <p:nvPr/>
        </p:nvSpPr>
        <p:spPr>
          <a:xfrm>
            <a:off x="1165860" y="6389370"/>
            <a:ext cx="7360691" cy="2663190"/>
          </a:xfrm>
          <a:prstGeom prst="rect">
            <a:avLst/>
          </a:prstGeom>
        </p:spPr>
        <p:txBody>
          <a:bodyPr lIns="0" tIns="0" rIns="0" bIns="0" rtlCol="0" anchor="t">
            <a:spAutoFit/>
          </a:bodyPr>
          <a:lstStyle/>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Full fine-tuning; train VLM từ đầu</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Câu trả lời dài, giải thích, hội thoại nhiều lượt</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Video; ngôn ngữ khác; train lại OCR</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RAG tri thức ngoài — chỉ khi phân tích lỗi đòi hỏi</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9408566" y="5545455"/>
            <a:ext cx="8065541" cy="3722370"/>
            <a:chOff x="0" y="0"/>
            <a:chExt cx="10754055" cy="4963160"/>
          </a:xfrm>
        </p:grpSpPr>
        <p:sp>
          <p:nvSpPr>
            <p:cNvPr id="24" name="Freeform 24"/>
            <p:cNvSpPr/>
            <p:nvPr/>
          </p:nvSpPr>
          <p:spPr>
            <a:xfrm>
              <a:off x="0" y="0"/>
              <a:ext cx="10753978" cy="4963160"/>
            </a:xfrm>
            <a:custGeom>
              <a:avLst/>
              <a:gdLst/>
              <a:ahLst/>
              <a:cxnLst/>
              <a:rect l="l" t="t" r="r" b="b"/>
              <a:pathLst>
                <a:path w="10753978" h="4963160">
                  <a:moveTo>
                    <a:pt x="0" y="226822"/>
                  </a:moveTo>
                  <a:cubicBezTo>
                    <a:pt x="0" y="101600"/>
                    <a:pt x="101600" y="0"/>
                    <a:pt x="226822" y="0"/>
                  </a:cubicBezTo>
                  <a:lnTo>
                    <a:pt x="10527157" y="0"/>
                  </a:lnTo>
                  <a:cubicBezTo>
                    <a:pt x="10652506" y="0"/>
                    <a:pt x="10753978" y="101600"/>
                    <a:pt x="10753978" y="226822"/>
                  </a:cubicBezTo>
                  <a:lnTo>
                    <a:pt x="10753978" y="4736338"/>
                  </a:lnTo>
                  <a:cubicBezTo>
                    <a:pt x="10753978" y="4861687"/>
                    <a:pt x="10652378" y="4963160"/>
                    <a:pt x="10527157" y="4963160"/>
                  </a:cubicBezTo>
                  <a:lnTo>
                    <a:pt x="226822" y="4963160"/>
                  </a:lnTo>
                  <a:cubicBezTo>
                    <a:pt x="101600" y="4963160"/>
                    <a:pt x="0" y="4861560"/>
                    <a:pt x="0" y="4736338"/>
                  </a:cubicBezTo>
                  <a:close/>
                </a:path>
              </a:pathLst>
            </a:custGeom>
            <a:solidFill>
              <a:srgbClr val="E7F0F3"/>
            </a:solidFill>
            <a:ln w="19050" cap="sq">
              <a:solidFill>
                <a:srgbClr val="E7F0F3"/>
              </a:solidFill>
              <a:prstDash val="solid"/>
              <a:miter/>
            </a:ln>
          </p:spPr>
          <p:txBody>
            <a:bodyPr/>
            <a:p/>
          </p:txBody>
        </p:sp>
      </p:grpSp>
      <p:sp>
        <p:nvSpPr>
          <p:cNvPr id="25" name="TextBox 25"/>
          <p:cNvSpPr txBox="1"/>
          <p:nvPr/>
        </p:nvSpPr>
        <p:spPr>
          <a:xfrm>
            <a:off x="9760991" y="5713095"/>
            <a:ext cx="7360691" cy="59626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Tiêu chí thành công (đo được)</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6" name="TextBox 26"/>
          <p:cNvSpPr txBox="1"/>
          <p:nvPr/>
        </p:nvSpPr>
        <p:spPr>
          <a:xfrm>
            <a:off x="9760991" y="6389370"/>
            <a:ext cx="7360691" cy="2663190"/>
          </a:xfrm>
          <a:prstGeom prst="rect">
            <a:avLst/>
          </a:prstGeom>
        </p:spPr>
        <p:txBody>
          <a:bodyPr lIns="0" tIns="0" rIns="0" bIns="0" rtlCol="0" anchor="t">
            <a:spAutoFit/>
          </a:bodyPr>
          <a:lstStyle/>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Tái lập baseline khớp số công bố (± 2 điểm)</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 1 cải tiến PEFT hơn baseline, p &lt; 0,05, cùng điều kiện</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Có ablation, phân tích lỗi, hallucination; tái lập được</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Prototype web chạy trên một GPU</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05 · CÂU HỎI NGHIÊN CỨU</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câu hỏi nghiên cứu — RQ2 là trung tâm</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047875"/>
            <a:ext cx="8065541" cy="3310890"/>
            <a:chOff x="0" y="0"/>
            <a:chExt cx="10754055" cy="4414520"/>
          </a:xfrm>
        </p:grpSpPr>
        <p:sp>
          <p:nvSpPr>
            <p:cNvPr id="8" name="Freeform 8"/>
            <p:cNvSpPr/>
            <p:nvPr/>
          </p:nvSpPr>
          <p:spPr>
            <a:xfrm>
              <a:off x="0" y="0"/>
              <a:ext cx="10754106" cy="4414520"/>
            </a:xfrm>
            <a:custGeom>
              <a:avLst/>
              <a:gdLst/>
              <a:ahLst/>
              <a:cxnLst/>
              <a:rect l="l" t="t" r="r" b="b"/>
              <a:pathLst>
                <a:path w="10754106" h="4414520">
                  <a:moveTo>
                    <a:pt x="0" y="147193"/>
                  </a:moveTo>
                  <a:cubicBezTo>
                    <a:pt x="0" y="65913"/>
                    <a:pt x="65913" y="0"/>
                    <a:pt x="147193" y="0"/>
                  </a:cubicBezTo>
                  <a:lnTo>
                    <a:pt x="10606913" y="0"/>
                  </a:lnTo>
                  <a:cubicBezTo>
                    <a:pt x="10688193" y="0"/>
                    <a:pt x="10754106" y="65913"/>
                    <a:pt x="10754106" y="147193"/>
                  </a:cubicBezTo>
                  <a:lnTo>
                    <a:pt x="10754106" y="4267327"/>
                  </a:lnTo>
                  <a:cubicBezTo>
                    <a:pt x="10754106" y="4348607"/>
                    <a:pt x="10688193" y="4414520"/>
                    <a:pt x="10606913" y="4414520"/>
                  </a:cubicBezTo>
                  <a:lnTo>
                    <a:pt x="147193" y="4414520"/>
                  </a:lnTo>
                  <a:cubicBezTo>
                    <a:pt x="65913" y="4414520"/>
                    <a:pt x="0" y="4348607"/>
                    <a:pt x="0" y="4267327"/>
                  </a:cubicBezTo>
                  <a:close/>
                </a:path>
              </a:pathLst>
            </a:custGeom>
            <a:solidFill>
              <a:srgbClr val="F3F5F8"/>
            </a:solidFill>
            <a:ln w="19050" cap="sq">
              <a:solidFill>
                <a:srgbClr val="F3F5F8"/>
              </a:solidFill>
              <a:prstDash val="solid"/>
              <a:miter/>
            </a:ln>
          </p:spPr>
          <p:txBody>
            <a:bodyPr/>
            <a:p/>
          </p:txBody>
        </p:sp>
      </p:grpSp>
      <p:sp>
        <p:nvSpPr>
          <p:cNvPr id="9" name="TextBox 9"/>
          <p:cNvSpPr txBox="1"/>
          <p:nvPr/>
        </p:nvSpPr>
        <p:spPr>
          <a:xfrm>
            <a:off x="1234440" y="2331720"/>
            <a:ext cx="1783080" cy="754380"/>
          </a:xfrm>
          <a:prstGeom prst="rect">
            <a:avLst/>
          </a:prstGeom>
        </p:spPr>
        <p:txBody>
          <a:bodyPr lIns="0" tIns="0" rIns="0" bIns="0" rtlCol="0" anchor="t">
            <a:spAutoFit/>
          </a:bodyPr>
          <a:lstStyle/>
          <a:p>
            <a:pPr algn="l">
              <a:lnSpc>
                <a:spcPts val="4680"/>
              </a:lnSpc>
            </a:pPr>
            <a:r>
              <a:rPr lang="en-US" sz="3900" b="1">
                <a:solidFill>
                  <a:srgbClr val="1C7293"/>
                </a:solidFill>
                <a:latin typeface="Cambria Bold" panose="02040803050406030204"/>
                <a:ea typeface="Cambria Bold" panose="02040803050406030204"/>
                <a:cs typeface="Cambria Bold" panose="02040803050406030204"/>
                <a:sym typeface="Cambria Bold" panose="02040803050406030204"/>
              </a:rPr>
              <a:t>RQ1</a:t>
            </a:r>
            <a:endParaRPr lang="en-US" sz="39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grpSp>
        <p:nvGrpSpPr>
          <p:cNvPr id="10" name="Group 10"/>
          <p:cNvGrpSpPr/>
          <p:nvPr/>
        </p:nvGrpSpPr>
        <p:grpSpPr>
          <a:xfrm rot="0">
            <a:off x="3017520" y="2400300"/>
            <a:ext cx="5440451" cy="685800"/>
            <a:chOff x="0" y="0"/>
            <a:chExt cx="7253935" cy="914400"/>
          </a:xfrm>
        </p:grpSpPr>
        <p:sp>
          <p:nvSpPr>
            <p:cNvPr id="11" name="Freeform 11"/>
            <p:cNvSpPr/>
            <p:nvPr/>
          </p:nvSpPr>
          <p:spPr>
            <a:xfrm>
              <a:off x="0" y="0"/>
              <a:ext cx="7253936" cy="914400"/>
            </a:xfrm>
            <a:custGeom>
              <a:avLst/>
              <a:gdLst/>
              <a:ahLst/>
              <a:cxnLst/>
              <a:rect l="l" t="t" r="r" b="b"/>
              <a:pathLst>
                <a:path w="7253936" h="914400">
                  <a:moveTo>
                    <a:pt x="0" y="0"/>
                  </a:moveTo>
                  <a:lnTo>
                    <a:pt x="7253936" y="0"/>
                  </a:lnTo>
                  <a:lnTo>
                    <a:pt x="7253936" y="914400"/>
                  </a:lnTo>
                  <a:lnTo>
                    <a:pt x="0" y="914400"/>
                  </a:lnTo>
                  <a:close/>
                </a:path>
              </a:pathLst>
            </a:custGeom>
            <a:blipFill>
              <a:blip r:embed="rId1">
                <a:alphaModFix amt="0"/>
              </a:blip>
              <a:stretch>
                <a:fillRect t="-104574" b="-104574"/>
              </a:stretch>
            </a:blipFill>
          </p:spPr>
          <p:txBody>
            <a:bodyPr/>
            <a:p/>
          </p:txBody>
        </p:sp>
        <p:sp>
          <p:nvSpPr>
            <p:cNvPr id="12" name="TextBox 12"/>
            <p:cNvSpPr txBox="1"/>
            <p:nvPr/>
          </p:nvSpPr>
          <p:spPr>
            <a:xfrm>
              <a:off x="0" y="-38100"/>
              <a:ext cx="7253935" cy="952500"/>
            </a:xfrm>
            <a:prstGeom prst="rect">
              <a:avLst/>
            </a:prstGeom>
          </p:spPr>
          <p:txBody>
            <a:bodyPr lIns="0" tIns="0" rIns="0" bIns="0" rtlCol="0" anchor="ct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Zero-shot &amp; prompting</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3" name="TextBox 13"/>
          <p:cNvSpPr txBox="1"/>
          <p:nvPr/>
        </p:nvSpPr>
        <p:spPr>
          <a:xfrm>
            <a:off x="1234440" y="3244215"/>
            <a:ext cx="7223531" cy="141922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VLM đạt bao nhiêu khi zero-shot trên ViVQA / ViTextVQA, lỗi tiếng Việt nào (V1–V3) chiếm ưu thế, prompt tiếng Việt giúp được đến đâu?</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4" name="TextBox 14"/>
          <p:cNvSpPr txBox="1"/>
          <p:nvPr/>
        </p:nvSpPr>
        <p:spPr>
          <a:xfrm>
            <a:off x="1234440" y="4625340"/>
            <a:ext cx="7223531" cy="518160"/>
          </a:xfrm>
          <a:prstGeom prst="rect">
            <a:avLst/>
          </a:prstGeom>
        </p:spPr>
        <p:txBody>
          <a:bodyPr lIns="0" tIns="0" rIns="0" bIns="0" rtlCol="0" anchor="t">
            <a:spAutoFit/>
          </a:bodyPr>
          <a:lstStyle/>
          <a:p>
            <a:pPr algn="l">
              <a:lnSpc>
                <a:spcPts val="2160"/>
              </a:lnSpc>
            </a:pPr>
            <a:r>
              <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Đo bằng: EM · VQA-Acc · ANLS</a:t>
            </a:r>
            <a:endPar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nvGrpSpPr>
          <p:cNvPr id="15" name="Group 15"/>
          <p:cNvGrpSpPr/>
          <p:nvPr/>
        </p:nvGrpSpPr>
        <p:grpSpPr>
          <a:xfrm rot="0">
            <a:off x="9408566" y="2047875"/>
            <a:ext cx="8065541" cy="3310890"/>
            <a:chOff x="0" y="0"/>
            <a:chExt cx="10754055" cy="4414520"/>
          </a:xfrm>
        </p:grpSpPr>
        <p:sp>
          <p:nvSpPr>
            <p:cNvPr id="16" name="Freeform 16"/>
            <p:cNvSpPr/>
            <p:nvPr/>
          </p:nvSpPr>
          <p:spPr>
            <a:xfrm>
              <a:off x="0" y="0"/>
              <a:ext cx="10754106" cy="4414520"/>
            </a:xfrm>
            <a:custGeom>
              <a:avLst/>
              <a:gdLst/>
              <a:ahLst/>
              <a:cxnLst/>
              <a:rect l="l" t="t" r="r" b="b"/>
              <a:pathLst>
                <a:path w="10754106" h="4414520">
                  <a:moveTo>
                    <a:pt x="0" y="147193"/>
                  </a:moveTo>
                  <a:cubicBezTo>
                    <a:pt x="0" y="65913"/>
                    <a:pt x="65913" y="0"/>
                    <a:pt x="147193" y="0"/>
                  </a:cubicBezTo>
                  <a:lnTo>
                    <a:pt x="10606913" y="0"/>
                  </a:lnTo>
                  <a:cubicBezTo>
                    <a:pt x="10688193" y="0"/>
                    <a:pt x="10754106" y="65913"/>
                    <a:pt x="10754106" y="147193"/>
                  </a:cubicBezTo>
                  <a:lnTo>
                    <a:pt x="10754106" y="4267327"/>
                  </a:lnTo>
                  <a:cubicBezTo>
                    <a:pt x="10754106" y="4348607"/>
                    <a:pt x="10688193" y="4414520"/>
                    <a:pt x="10606913" y="4414520"/>
                  </a:cubicBezTo>
                  <a:lnTo>
                    <a:pt x="147193" y="4414520"/>
                  </a:lnTo>
                  <a:cubicBezTo>
                    <a:pt x="65913" y="4414520"/>
                    <a:pt x="0" y="4348607"/>
                    <a:pt x="0" y="4267327"/>
                  </a:cubicBezTo>
                  <a:close/>
                </a:path>
              </a:pathLst>
            </a:custGeom>
            <a:solidFill>
              <a:srgbClr val="FBF0DA"/>
            </a:solidFill>
            <a:ln w="19050" cap="sq">
              <a:solidFill>
                <a:srgbClr val="FBF0DA"/>
              </a:solidFill>
              <a:prstDash val="solid"/>
              <a:miter/>
            </a:ln>
          </p:spPr>
          <p:txBody>
            <a:bodyPr/>
            <a:p/>
          </p:txBody>
        </p:sp>
      </p:grpSp>
      <p:sp>
        <p:nvSpPr>
          <p:cNvPr id="17" name="TextBox 17"/>
          <p:cNvSpPr txBox="1"/>
          <p:nvPr/>
        </p:nvSpPr>
        <p:spPr>
          <a:xfrm>
            <a:off x="9829571" y="2331720"/>
            <a:ext cx="1783080" cy="754380"/>
          </a:xfrm>
          <a:prstGeom prst="rect">
            <a:avLst/>
          </a:prstGeom>
        </p:spPr>
        <p:txBody>
          <a:bodyPr lIns="0" tIns="0" rIns="0" bIns="0" rtlCol="0" anchor="t">
            <a:spAutoFit/>
          </a:bodyPr>
          <a:lstStyle/>
          <a:p>
            <a:pPr algn="l">
              <a:lnSpc>
                <a:spcPts val="4680"/>
              </a:lnSpc>
            </a:pPr>
            <a:r>
              <a:rPr lang="en-US" sz="3900" b="1">
                <a:solidFill>
                  <a:srgbClr val="E8A33D"/>
                </a:solidFill>
                <a:latin typeface="Cambria Bold" panose="02040803050406030204"/>
                <a:ea typeface="Cambria Bold" panose="02040803050406030204"/>
                <a:cs typeface="Cambria Bold" panose="02040803050406030204"/>
                <a:sym typeface="Cambria Bold" panose="02040803050406030204"/>
              </a:rPr>
              <a:t>RQ2</a:t>
            </a:r>
            <a:endParaRPr lang="en-US" sz="39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grpSp>
        <p:nvGrpSpPr>
          <p:cNvPr id="18" name="Group 18"/>
          <p:cNvGrpSpPr/>
          <p:nvPr/>
        </p:nvGrpSpPr>
        <p:grpSpPr>
          <a:xfrm rot="0">
            <a:off x="11612651" y="2400300"/>
            <a:ext cx="5440451" cy="685800"/>
            <a:chOff x="0" y="0"/>
            <a:chExt cx="7253935" cy="914400"/>
          </a:xfrm>
        </p:grpSpPr>
        <p:sp>
          <p:nvSpPr>
            <p:cNvPr id="19" name="Freeform 19"/>
            <p:cNvSpPr/>
            <p:nvPr/>
          </p:nvSpPr>
          <p:spPr>
            <a:xfrm>
              <a:off x="0" y="0"/>
              <a:ext cx="7253936" cy="914400"/>
            </a:xfrm>
            <a:custGeom>
              <a:avLst/>
              <a:gdLst/>
              <a:ahLst/>
              <a:cxnLst/>
              <a:rect l="l" t="t" r="r" b="b"/>
              <a:pathLst>
                <a:path w="7253936" h="914400">
                  <a:moveTo>
                    <a:pt x="0" y="0"/>
                  </a:moveTo>
                  <a:lnTo>
                    <a:pt x="7253936" y="0"/>
                  </a:lnTo>
                  <a:lnTo>
                    <a:pt x="7253936" y="914400"/>
                  </a:lnTo>
                  <a:lnTo>
                    <a:pt x="0" y="914400"/>
                  </a:lnTo>
                  <a:close/>
                </a:path>
              </a:pathLst>
            </a:custGeom>
            <a:blipFill>
              <a:blip r:embed="rId1">
                <a:alphaModFix amt="0"/>
              </a:blip>
              <a:stretch>
                <a:fillRect t="-104574" b="-104574"/>
              </a:stretch>
            </a:blipFill>
          </p:spPr>
          <p:txBody>
            <a:bodyPr/>
            <a:p/>
          </p:txBody>
        </p:sp>
        <p:sp>
          <p:nvSpPr>
            <p:cNvPr id="20" name="TextBox 20"/>
            <p:cNvSpPr txBox="1"/>
            <p:nvPr/>
          </p:nvSpPr>
          <p:spPr>
            <a:xfrm>
              <a:off x="0" y="-38100"/>
              <a:ext cx="7253935" cy="952500"/>
            </a:xfrm>
            <a:prstGeom prst="rect">
              <a:avLst/>
            </a:prstGeom>
          </p:spPr>
          <p:txBody>
            <a:bodyPr lIns="0" tIns="0" rIns="0" bIns="0" rtlCol="0" anchor="ct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PEFT (QLoRA) so với zero-shot — trung tâm</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1" name="TextBox 21"/>
          <p:cNvSpPr txBox="1"/>
          <p:nvPr/>
        </p:nvSpPr>
        <p:spPr>
          <a:xfrm>
            <a:off x="9829571" y="3244215"/>
            <a:ext cx="7223531" cy="141922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QLoRA cải thiện bao nhiêu so với zero-shot / prompting, không full fine-tuning?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2" name="TextBox 22"/>
          <p:cNvSpPr txBox="1"/>
          <p:nvPr/>
        </p:nvSpPr>
        <p:spPr>
          <a:xfrm>
            <a:off x="9829571" y="4625340"/>
            <a:ext cx="7223531" cy="518160"/>
          </a:xfrm>
          <a:prstGeom prst="rect">
            <a:avLst/>
          </a:prstGeom>
        </p:spPr>
        <p:txBody>
          <a:bodyPr lIns="0" tIns="0" rIns="0" bIns="0" rtlCol="0" anchor="t">
            <a:spAutoFit/>
          </a:bodyPr>
          <a:lstStyle/>
          <a:p>
            <a:pPr algn="l">
              <a:lnSpc>
                <a:spcPts val="2160"/>
              </a:lnSpc>
            </a:pPr>
            <a:r>
              <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Đo bằng: EM · VQA-Acc · ANLS</a:t>
            </a:r>
            <a:endPar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nvGrpSpPr>
          <p:cNvPr id="23" name="Group 23"/>
          <p:cNvGrpSpPr/>
          <p:nvPr/>
        </p:nvGrpSpPr>
        <p:grpSpPr>
          <a:xfrm rot="0">
            <a:off x="813435" y="5751195"/>
            <a:ext cx="8065541" cy="3310890"/>
            <a:chOff x="0" y="0"/>
            <a:chExt cx="10754055" cy="4414520"/>
          </a:xfrm>
        </p:grpSpPr>
        <p:sp>
          <p:nvSpPr>
            <p:cNvPr id="24" name="Freeform 24"/>
            <p:cNvSpPr/>
            <p:nvPr/>
          </p:nvSpPr>
          <p:spPr>
            <a:xfrm>
              <a:off x="0" y="0"/>
              <a:ext cx="10754106" cy="4414520"/>
            </a:xfrm>
            <a:custGeom>
              <a:avLst/>
              <a:gdLst/>
              <a:ahLst/>
              <a:cxnLst/>
              <a:rect l="l" t="t" r="r" b="b"/>
              <a:pathLst>
                <a:path w="10754106" h="4414520">
                  <a:moveTo>
                    <a:pt x="0" y="147193"/>
                  </a:moveTo>
                  <a:cubicBezTo>
                    <a:pt x="0" y="65913"/>
                    <a:pt x="65913" y="0"/>
                    <a:pt x="147193" y="0"/>
                  </a:cubicBezTo>
                  <a:lnTo>
                    <a:pt x="10606913" y="0"/>
                  </a:lnTo>
                  <a:cubicBezTo>
                    <a:pt x="10688193" y="0"/>
                    <a:pt x="10754106" y="65913"/>
                    <a:pt x="10754106" y="147193"/>
                  </a:cubicBezTo>
                  <a:lnTo>
                    <a:pt x="10754106" y="4267327"/>
                  </a:lnTo>
                  <a:cubicBezTo>
                    <a:pt x="10754106" y="4348607"/>
                    <a:pt x="10688193" y="4414520"/>
                    <a:pt x="10606913" y="4414520"/>
                  </a:cubicBezTo>
                  <a:lnTo>
                    <a:pt x="147193" y="4414520"/>
                  </a:lnTo>
                  <a:cubicBezTo>
                    <a:pt x="65913" y="4414520"/>
                    <a:pt x="0" y="4348607"/>
                    <a:pt x="0" y="4267327"/>
                  </a:cubicBezTo>
                  <a:close/>
                </a:path>
              </a:pathLst>
            </a:custGeom>
            <a:solidFill>
              <a:srgbClr val="F3F5F8"/>
            </a:solidFill>
            <a:ln w="19050" cap="sq">
              <a:solidFill>
                <a:srgbClr val="F3F5F8"/>
              </a:solidFill>
              <a:prstDash val="solid"/>
              <a:miter/>
            </a:ln>
          </p:spPr>
          <p:txBody>
            <a:bodyPr/>
            <a:p/>
          </p:txBody>
        </p:sp>
      </p:grpSp>
      <p:sp>
        <p:nvSpPr>
          <p:cNvPr id="25" name="TextBox 25"/>
          <p:cNvSpPr txBox="1"/>
          <p:nvPr/>
        </p:nvSpPr>
        <p:spPr>
          <a:xfrm>
            <a:off x="1234440" y="6035040"/>
            <a:ext cx="1783080" cy="754380"/>
          </a:xfrm>
          <a:prstGeom prst="rect">
            <a:avLst/>
          </a:prstGeom>
        </p:spPr>
        <p:txBody>
          <a:bodyPr lIns="0" tIns="0" rIns="0" bIns="0" rtlCol="0" anchor="t">
            <a:spAutoFit/>
          </a:bodyPr>
          <a:lstStyle/>
          <a:p>
            <a:pPr algn="l">
              <a:lnSpc>
                <a:spcPts val="4680"/>
              </a:lnSpc>
            </a:pPr>
            <a:r>
              <a:rPr lang="en-US" sz="3900" b="1">
                <a:solidFill>
                  <a:srgbClr val="1C7293"/>
                </a:solidFill>
                <a:latin typeface="Cambria Bold" panose="02040803050406030204"/>
                <a:ea typeface="Cambria Bold" panose="02040803050406030204"/>
                <a:cs typeface="Cambria Bold" panose="02040803050406030204"/>
                <a:sym typeface="Cambria Bold" panose="02040803050406030204"/>
              </a:rPr>
              <a:t>RQ3</a:t>
            </a:r>
            <a:endParaRPr lang="en-US" sz="39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grpSp>
        <p:nvGrpSpPr>
          <p:cNvPr id="26" name="Group 26"/>
          <p:cNvGrpSpPr/>
          <p:nvPr/>
        </p:nvGrpSpPr>
        <p:grpSpPr>
          <a:xfrm rot="0">
            <a:off x="3017520" y="6103620"/>
            <a:ext cx="5440451" cy="685800"/>
            <a:chOff x="0" y="0"/>
            <a:chExt cx="7253935" cy="914400"/>
          </a:xfrm>
        </p:grpSpPr>
        <p:sp>
          <p:nvSpPr>
            <p:cNvPr id="27" name="Freeform 27"/>
            <p:cNvSpPr/>
            <p:nvPr/>
          </p:nvSpPr>
          <p:spPr>
            <a:xfrm>
              <a:off x="0" y="0"/>
              <a:ext cx="7253936" cy="914400"/>
            </a:xfrm>
            <a:custGeom>
              <a:avLst/>
              <a:gdLst/>
              <a:ahLst/>
              <a:cxnLst/>
              <a:rect l="l" t="t" r="r" b="b"/>
              <a:pathLst>
                <a:path w="7253936" h="914400">
                  <a:moveTo>
                    <a:pt x="0" y="0"/>
                  </a:moveTo>
                  <a:lnTo>
                    <a:pt x="7253936" y="0"/>
                  </a:lnTo>
                  <a:lnTo>
                    <a:pt x="7253936" y="914400"/>
                  </a:lnTo>
                  <a:lnTo>
                    <a:pt x="0" y="914400"/>
                  </a:lnTo>
                  <a:close/>
                </a:path>
              </a:pathLst>
            </a:custGeom>
            <a:blipFill>
              <a:blip r:embed="rId1">
                <a:alphaModFix amt="0"/>
              </a:blip>
              <a:stretch>
                <a:fillRect t="-104574" b="-104574"/>
              </a:stretch>
            </a:blipFill>
          </p:spPr>
          <p:txBody>
            <a:bodyPr/>
            <a:p/>
          </p:txBody>
        </p:sp>
        <p:sp>
          <p:nvSpPr>
            <p:cNvPr id="28" name="TextBox 28"/>
            <p:cNvSpPr txBox="1"/>
            <p:nvPr/>
          </p:nvSpPr>
          <p:spPr>
            <a:xfrm>
              <a:off x="0" y="-38100"/>
              <a:ext cx="7253935" cy="952500"/>
            </a:xfrm>
            <a:prstGeom prst="rect">
              <a:avLst/>
            </a:prstGeom>
          </p:spPr>
          <p:txBody>
            <a:bodyPr lIns="0" tIns="0" rIns="0" bIns="0" rtlCol="0" anchor="ct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OCR tiếng Việt × QLoRA trên ViTextVQA</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9" name="TextBox 29"/>
          <p:cNvSpPr txBox="1"/>
          <p:nvPr/>
        </p:nvSpPr>
        <p:spPr>
          <a:xfrm>
            <a:off x="1234440" y="6947535"/>
            <a:ext cx="7223531" cy="141922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Chữ OCR có dấu, sắp trái-trên → phải-dưới, có giúp đọc chữ trong ảnh không, và có cộng hưởng với QLoRA không?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0" name="TextBox 30"/>
          <p:cNvSpPr txBox="1"/>
          <p:nvPr/>
        </p:nvSpPr>
        <p:spPr>
          <a:xfrm>
            <a:off x="1234440" y="8328660"/>
            <a:ext cx="7223531" cy="518160"/>
          </a:xfrm>
          <a:prstGeom prst="rect">
            <a:avLst/>
          </a:prstGeom>
        </p:spPr>
        <p:txBody>
          <a:bodyPr lIns="0" tIns="0" rIns="0" bIns="0" rtlCol="0" anchor="t">
            <a:spAutoFit/>
          </a:bodyPr>
          <a:lstStyle/>
          <a:p>
            <a:pPr algn="l">
              <a:lnSpc>
                <a:spcPts val="2160"/>
              </a:lnSpc>
            </a:pPr>
            <a:r>
              <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Đo bằng: ANLS · EM</a:t>
            </a:r>
            <a:endPar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nvGrpSpPr>
          <p:cNvPr id="31" name="Group 31"/>
          <p:cNvGrpSpPr/>
          <p:nvPr/>
        </p:nvGrpSpPr>
        <p:grpSpPr>
          <a:xfrm rot="0">
            <a:off x="9408566" y="5751195"/>
            <a:ext cx="8065541" cy="3310890"/>
            <a:chOff x="0" y="0"/>
            <a:chExt cx="10754055" cy="4414520"/>
          </a:xfrm>
        </p:grpSpPr>
        <p:sp>
          <p:nvSpPr>
            <p:cNvPr id="32" name="Freeform 32"/>
            <p:cNvSpPr/>
            <p:nvPr/>
          </p:nvSpPr>
          <p:spPr>
            <a:xfrm>
              <a:off x="0" y="0"/>
              <a:ext cx="10754106" cy="4414520"/>
            </a:xfrm>
            <a:custGeom>
              <a:avLst/>
              <a:gdLst/>
              <a:ahLst/>
              <a:cxnLst/>
              <a:rect l="l" t="t" r="r" b="b"/>
              <a:pathLst>
                <a:path w="10754106" h="4414520">
                  <a:moveTo>
                    <a:pt x="0" y="147193"/>
                  </a:moveTo>
                  <a:cubicBezTo>
                    <a:pt x="0" y="65913"/>
                    <a:pt x="65913" y="0"/>
                    <a:pt x="147193" y="0"/>
                  </a:cubicBezTo>
                  <a:lnTo>
                    <a:pt x="10606913" y="0"/>
                  </a:lnTo>
                  <a:cubicBezTo>
                    <a:pt x="10688193" y="0"/>
                    <a:pt x="10754106" y="65913"/>
                    <a:pt x="10754106" y="147193"/>
                  </a:cubicBezTo>
                  <a:lnTo>
                    <a:pt x="10754106" y="4267327"/>
                  </a:lnTo>
                  <a:cubicBezTo>
                    <a:pt x="10754106" y="4348607"/>
                    <a:pt x="10688193" y="4414520"/>
                    <a:pt x="10606913" y="4414520"/>
                  </a:cubicBezTo>
                  <a:lnTo>
                    <a:pt x="147193" y="4414520"/>
                  </a:lnTo>
                  <a:cubicBezTo>
                    <a:pt x="65913" y="4414520"/>
                    <a:pt x="0" y="4348607"/>
                    <a:pt x="0" y="4267327"/>
                  </a:cubicBezTo>
                  <a:close/>
                </a:path>
              </a:pathLst>
            </a:custGeom>
            <a:solidFill>
              <a:srgbClr val="F3F5F8"/>
            </a:solidFill>
            <a:ln w="19050" cap="sq">
              <a:solidFill>
                <a:srgbClr val="F3F5F8"/>
              </a:solidFill>
              <a:prstDash val="solid"/>
              <a:miter/>
            </a:ln>
          </p:spPr>
          <p:txBody>
            <a:bodyPr/>
            <a:p/>
          </p:txBody>
        </p:sp>
      </p:grpSp>
      <p:sp>
        <p:nvSpPr>
          <p:cNvPr id="33" name="TextBox 33"/>
          <p:cNvSpPr txBox="1"/>
          <p:nvPr/>
        </p:nvSpPr>
        <p:spPr>
          <a:xfrm>
            <a:off x="9829571" y="6035040"/>
            <a:ext cx="1783080" cy="754380"/>
          </a:xfrm>
          <a:prstGeom prst="rect">
            <a:avLst/>
          </a:prstGeom>
        </p:spPr>
        <p:txBody>
          <a:bodyPr lIns="0" tIns="0" rIns="0" bIns="0" rtlCol="0" anchor="t">
            <a:spAutoFit/>
          </a:bodyPr>
          <a:lstStyle/>
          <a:p>
            <a:pPr algn="l">
              <a:lnSpc>
                <a:spcPts val="4680"/>
              </a:lnSpc>
            </a:pPr>
            <a:r>
              <a:rPr lang="en-US" sz="3900" b="1">
                <a:solidFill>
                  <a:srgbClr val="1C7293"/>
                </a:solidFill>
                <a:latin typeface="Cambria Bold" panose="02040803050406030204"/>
                <a:ea typeface="Cambria Bold" panose="02040803050406030204"/>
                <a:cs typeface="Cambria Bold" panose="02040803050406030204"/>
                <a:sym typeface="Cambria Bold" panose="02040803050406030204"/>
              </a:rPr>
              <a:t>RQ4</a:t>
            </a:r>
            <a:endParaRPr lang="en-US" sz="39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grpSp>
        <p:nvGrpSpPr>
          <p:cNvPr id="34" name="Group 34"/>
          <p:cNvGrpSpPr/>
          <p:nvPr/>
        </p:nvGrpSpPr>
        <p:grpSpPr>
          <a:xfrm rot="0">
            <a:off x="11612651" y="6103620"/>
            <a:ext cx="5440451" cy="685800"/>
            <a:chOff x="0" y="0"/>
            <a:chExt cx="7253935" cy="914400"/>
          </a:xfrm>
        </p:grpSpPr>
        <p:sp>
          <p:nvSpPr>
            <p:cNvPr id="35" name="Freeform 35"/>
            <p:cNvSpPr/>
            <p:nvPr/>
          </p:nvSpPr>
          <p:spPr>
            <a:xfrm>
              <a:off x="0" y="0"/>
              <a:ext cx="7253936" cy="914400"/>
            </a:xfrm>
            <a:custGeom>
              <a:avLst/>
              <a:gdLst/>
              <a:ahLst/>
              <a:cxnLst/>
              <a:rect l="l" t="t" r="r" b="b"/>
              <a:pathLst>
                <a:path w="7253936" h="914400">
                  <a:moveTo>
                    <a:pt x="0" y="0"/>
                  </a:moveTo>
                  <a:lnTo>
                    <a:pt x="7253936" y="0"/>
                  </a:lnTo>
                  <a:lnTo>
                    <a:pt x="7253936" y="914400"/>
                  </a:lnTo>
                  <a:lnTo>
                    <a:pt x="0" y="914400"/>
                  </a:lnTo>
                  <a:close/>
                </a:path>
              </a:pathLst>
            </a:custGeom>
            <a:blipFill>
              <a:blip r:embed="rId1">
                <a:alphaModFix amt="0"/>
              </a:blip>
              <a:stretch>
                <a:fillRect t="-104574" b="-104574"/>
              </a:stretch>
            </a:blipFill>
          </p:spPr>
          <p:txBody>
            <a:bodyPr/>
            <a:p/>
          </p:txBody>
        </p:sp>
        <p:sp>
          <p:nvSpPr>
            <p:cNvPr id="36" name="TextBox 36"/>
            <p:cNvSpPr txBox="1"/>
            <p:nvPr/>
          </p:nvSpPr>
          <p:spPr>
            <a:xfrm>
              <a:off x="0" y="-38100"/>
              <a:ext cx="7253935" cy="952500"/>
            </a:xfrm>
            <a:prstGeom prst="rect">
              <a:avLst/>
            </a:prstGeom>
          </p:spPr>
          <p:txBody>
            <a:bodyPr lIns="0" tIns="0" rIns="0" bIns="0" rtlCol="0" anchor="ct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QLoRA và hallucination</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7" name="TextBox 37"/>
          <p:cNvSpPr txBox="1"/>
          <p:nvPr/>
        </p:nvSpPr>
        <p:spPr>
          <a:xfrm>
            <a:off x="9829571" y="6947535"/>
            <a:ext cx="7223531" cy="141922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Sau khi thích nghi bằng QLoRA, model bịa nội dung nhiều hơn hay ít hơn?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8" name="TextBox 38"/>
          <p:cNvSpPr txBox="1"/>
          <p:nvPr/>
        </p:nvSpPr>
        <p:spPr>
          <a:xfrm>
            <a:off x="9829571" y="8328660"/>
            <a:ext cx="7223531" cy="518160"/>
          </a:xfrm>
          <a:prstGeom prst="rect">
            <a:avLst/>
          </a:prstGeom>
        </p:spPr>
        <p:txBody>
          <a:bodyPr lIns="0" tIns="0" rIns="0" bIns="0" rtlCol="0" anchor="t">
            <a:spAutoFit/>
          </a:bodyPr>
          <a:lstStyle/>
          <a:p>
            <a:pPr algn="l">
              <a:lnSpc>
                <a:spcPts val="2160"/>
              </a:lnSpc>
            </a:pPr>
            <a:r>
              <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Đo bằng: Kiểu POPE (vi) + duyệt tay</a:t>
            </a:r>
            <a:endPar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06 · GIẢ THUYẾT</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giả thuyết, mỗi giả thuyết gắn một vấn đề tiếng Việt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057400"/>
          <a:ext cx="16611601" cy="4191000"/>
        </p:xfrm>
        <a:graphic>
          <a:graphicData uri="http://schemas.openxmlformats.org/drawingml/2006/table">
            <a:tbl>
              <a:tblPr/>
              <a:tblGrid>
                <a:gridCol w="1118340"/>
                <a:gridCol w="12739988"/>
                <a:gridCol w="2753273"/>
              </a:tblGrid>
              <a:tr h="8382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ID</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Giả thuyết (ngưỡng chốt trước khi chạy)</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Trả lời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838200">
                <a:tc>
                  <a:txBody>
                    <a:bodyPr rtlCol="0"/>
                    <a:lstStyle/>
                    <a:p>
                      <a:pPr algn="l">
                        <a:lnSpc>
                          <a:spcPts val="2430"/>
                        </a:lnSpc>
                        <a:defRPr/>
                      </a:pPr>
                      <a:r>
                        <a:rPr lang="en-US" sz="2025" b="1">
                          <a:solidFill>
                            <a:srgbClr val="1C7293"/>
                          </a:solidFill>
                          <a:latin typeface="Calibri (MS) Bold" panose="020F0702030404030204"/>
                          <a:ea typeface="Calibri (MS) Bold" panose="020F0702030404030204"/>
                          <a:cs typeface="Calibri (MS) Bold" panose="020F0702030404030204"/>
                          <a:sym typeface="Calibri (MS) Bold" panose="020F0702030404030204"/>
                        </a:rPr>
                        <a:t>H1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QLoRA trên Qwen2.5-VL-3B tăng EM ≥ +5 so với chính model đó zero-shot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RQ2 · V1–V3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430"/>
                        </a:lnSpc>
                        <a:defRPr/>
                      </a:pPr>
                      <a:r>
                        <a:rPr lang="en-US" sz="2025" b="1">
                          <a:solidFill>
                            <a:srgbClr val="1C7293"/>
                          </a:solidFill>
                          <a:latin typeface="Calibri (MS) Bold" panose="020F0702030404030204"/>
                          <a:ea typeface="Calibri (MS) Bold" panose="020F0702030404030204"/>
                          <a:cs typeface="Calibri (MS) Bold" panose="020F0702030404030204"/>
                          <a:sym typeface="Calibri (MS) Bold" panose="020F0702030404030204"/>
                        </a:rPr>
                        <a:t>H2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Chữ OCR có dấu (trái-trên → phải-dưới) trong prompt tăng ≥ +3 ANLS trên ViTextVQA; kết hợp QLoRA cho kết quả cao nhất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RQ3 · V1, V3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430"/>
                        </a:lnSpc>
                        <a:defRPr/>
                      </a:pPr>
                      <a:r>
                        <a:rPr lang="en-US" sz="2025" b="1">
                          <a:solidFill>
                            <a:srgbClr val="1C7293"/>
                          </a:solidFill>
                          <a:latin typeface="Calibri (MS) Bold" panose="020F0702030404030204"/>
                          <a:ea typeface="Calibri (MS) Bold" panose="020F0702030404030204"/>
                          <a:cs typeface="Calibri (MS) Bold" panose="020F0702030404030204"/>
                          <a:sym typeface="Calibri (MS) Bold" panose="020F0702030404030204"/>
                        </a:rPr>
                        <a:t>H3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Prompt định dạng tiếng Việt (trả lời ngắn, có dấu) tăng ≥ +3 EM và giảm câu trả lời sai ngôn ngữ / mất dấu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RQ1 · V2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430"/>
                        </a:lnSpc>
                        <a:defRPr/>
                      </a:pPr>
                      <a:r>
                        <a:rPr lang="en-US" sz="2025" b="1">
                          <a:solidFill>
                            <a:srgbClr val="1C7293"/>
                          </a:solidFill>
                          <a:latin typeface="Calibri (MS) Bold" panose="020F0702030404030204"/>
                          <a:ea typeface="Calibri (MS) Bold" panose="020F0702030404030204"/>
                          <a:cs typeface="Calibri (MS) Bold" panose="020F0702030404030204"/>
                          <a:sym typeface="Calibri (MS) Bold" panose="020F0702030404030204"/>
                        </a:rPr>
                        <a:t>H4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QLoRA không làm tăng tỉ lệ hallucination so với zero-shot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RQ4 · V4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8" name="Group 8"/>
          <p:cNvGrpSpPr/>
          <p:nvPr/>
        </p:nvGrpSpPr>
        <p:grpSpPr>
          <a:xfrm rot="0">
            <a:off x="813435" y="6642735"/>
            <a:ext cx="8065541" cy="2762250"/>
            <a:chOff x="0" y="0"/>
            <a:chExt cx="10754055" cy="3683000"/>
          </a:xfrm>
        </p:grpSpPr>
        <p:sp>
          <p:nvSpPr>
            <p:cNvPr id="9" name="Freeform 9"/>
            <p:cNvSpPr/>
            <p:nvPr/>
          </p:nvSpPr>
          <p:spPr>
            <a:xfrm>
              <a:off x="0" y="0"/>
              <a:ext cx="10754106" cy="3683000"/>
            </a:xfrm>
            <a:custGeom>
              <a:avLst/>
              <a:gdLst/>
              <a:ahLst/>
              <a:cxnLst/>
              <a:rect l="l" t="t" r="r" b="b"/>
              <a:pathLst>
                <a:path w="10754106" h="3683000">
                  <a:moveTo>
                    <a:pt x="0" y="147320"/>
                  </a:moveTo>
                  <a:cubicBezTo>
                    <a:pt x="0" y="65913"/>
                    <a:pt x="65913" y="0"/>
                    <a:pt x="147320" y="0"/>
                  </a:cubicBezTo>
                  <a:lnTo>
                    <a:pt x="10606786" y="0"/>
                  </a:lnTo>
                  <a:cubicBezTo>
                    <a:pt x="10688193" y="0"/>
                    <a:pt x="10754106" y="65913"/>
                    <a:pt x="10754106" y="147320"/>
                  </a:cubicBezTo>
                  <a:lnTo>
                    <a:pt x="10754106" y="3535680"/>
                  </a:lnTo>
                  <a:cubicBezTo>
                    <a:pt x="10754106" y="3617087"/>
                    <a:pt x="10688193" y="3683000"/>
                    <a:pt x="10606786" y="3683000"/>
                  </a:cubicBezTo>
                  <a:lnTo>
                    <a:pt x="147320" y="3683000"/>
                  </a:lnTo>
                  <a:cubicBezTo>
                    <a:pt x="65913" y="3683000"/>
                    <a:pt x="0" y="3617087"/>
                    <a:pt x="0" y="3535680"/>
                  </a:cubicBezTo>
                  <a:close/>
                </a:path>
              </a:pathLst>
            </a:custGeom>
            <a:solidFill>
              <a:srgbClr val="F3F5F8"/>
            </a:solidFill>
            <a:ln w="19050" cap="sq">
              <a:solidFill>
                <a:srgbClr val="F3F5F8"/>
              </a:solidFill>
              <a:prstDash val="solid"/>
              <a:miter/>
            </a:ln>
          </p:spPr>
          <p:txBody>
            <a:bodyPr/>
            <a:p/>
          </p:txBody>
        </p:sp>
      </p:grpSp>
      <p:sp>
        <p:nvSpPr>
          <p:cNvPr id="10" name="TextBox 10"/>
          <p:cNvSpPr txBox="1"/>
          <p:nvPr/>
        </p:nvSpPr>
        <p:spPr>
          <a:xfrm>
            <a:off x="1165860" y="6769227"/>
            <a:ext cx="7360691" cy="596265"/>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Không còn là giả thuyết → đo lường hoặc ablation</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165860" y="7368540"/>
            <a:ext cx="7360691" cy="1958340"/>
          </a:xfrm>
          <a:prstGeom prst="rect">
            <a:avLst/>
          </a:prstGeom>
        </p:spPr>
        <p:txBody>
          <a:bodyPr lIns="0" tIns="0" rIns="0" bIns="0" rtlCol="0" anchor="t">
            <a:spAutoFit/>
          </a:bodyPr>
          <a:lstStyle/>
          <a:p>
            <a:pPr marL="325755" lvl="1" indent="-163195" algn="l">
              <a:lnSpc>
                <a:spcPts val="2160"/>
              </a:lnSpc>
              <a:buFont typeface="Arial" panose="020B0604020202020204"/>
              <a:buChar cha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4-bit so với 16-bit: đặc tính đã biết của QLoRA (Dettmers và cs., NeurIPS 2023) → báo cáo VRAM, thời gian, số tham số train ở mỗi run</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a:p>
            <a:pPr marL="325755" lvl="1" indent="-163195" algn="l">
              <a:lnSpc>
                <a:spcPts val="2160"/>
              </a:lnSpc>
              <a:buFont typeface="Arial" panose="020B0604020202020204"/>
              <a:buChar cha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Module gắn LoRA và rank → ablation A1, A2</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a:p>
            <a:pPr marL="325755" lvl="1" indent="-163195" algn="l">
              <a:lnSpc>
                <a:spcPts val="2160"/>
              </a:lnSpc>
              <a:buFont typeface="Arial" panose="020B0604020202020204"/>
              <a:buChar cha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Adapter dùng chung cho 2 dataset → tuỳ chọn</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9408566" y="6642735"/>
            <a:ext cx="8065541" cy="2762250"/>
            <a:chOff x="0" y="0"/>
            <a:chExt cx="10754055" cy="3683000"/>
          </a:xfrm>
        </p:grpSpPr>
        <p:sp>
          <p:nvSpPr>
            <p:cNvPr id="13" name="Freeform 13"/>
            <p:cNvSpPr/>
            <p:nvPr/>
          </p:nvSpPr>
          <p:spPr>
            <a:xfrm>
              <a:off x="0" y="0"/>
              <a:ext cx="10754106" cy="3683000"/>
            </a:xfrm>
            <a:custGeom>
              <a:avLst/>
              <a:gdLst/>
              <a:ahLst/>
              <a:cxnLst/>
              <a:rect l="l" t="t" r="r" b="b"/>
              <a:pathLst>
                <a:path w="10754106" h="3683000">
                  <a:moveTo>
                    <a:pt x="0" y="147320"/>
                  </a:moveTo>
                  <a:cubicBezTo>
                    <a:pt x="0" y="65913"/>
                    <a:pt x="65913" y="0"/>
                    <a:pt x="147320" y="0"/>
                  </a:cubicBezTo>
                  <a:lnTo>
                    <a:pt x="10606786" y="0"/>
                  </a:lnTo>
                  <a:cubicBezTo>
                    <a:pt x="10688193" y="0"/>
                    <a:pt x="10754106" y="65913"/>
                    <a:pt x="10754106" y="147320"/>
                  </a:cubicBezTo>
                  <a:lnTo>
                    <a:pt x="10754106" y="3535680"/>
                  </a:lnTo>
                  <a:cubicBezTo>
                    <a:pt x="10754106" y="3617087"/>
                    <a:pt x="10688193" y="3683000"/>
                    <a:pt x="10606786" y="3683000"/>
                  </a:cubicBezTo>
                  <a:lnTo>
                    <a:pt x="147320" y="3683000"/>
                  </a:lnTo>
                  <a:cubicBezTo>
                    <a:pt x="65913" y="3683000"/>
                    <a:pt x="0" y="3617087"/>
                    <a:pt x="0" y="3535680"/>
                  </a:cubicBezTo>
                  <a:close/>
                </a:path>
              </a:pathLst>
            </a:custGeom>
            <a:solidFill>
              <a:srgbClr val="E7F0F3"/>
            </a:solidFill>
            <a:ln w="19050" cap="sq">
              <a:solidFill>
                <a:srgbClr val="E7F0F3"/>
              </a:solidFill>
              <a:prstDash val="solid"/>
              <a:miter/>
            </a:ln>
          </p:spPr>
          <p:txBody>
            <a:bodyPr/>
            <a:p/>
          </p:txBody>
        </p:sp>
      </p:grpSp>
      <p:sp>
        <p:nvSpPr>
          <p:cNvPr id="14" name="TextBox 14"/>
          <p:cNvSpPr txBox="1"/>
          <p:nvPr/>
        </p:nvSpPr>
        <p:spPr>
          <a:xfrm>
            <a:off x="9760991" y="6769227"/>
            <a:ext cx="7360691" cy="596265"/>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Đối chiếu với bản Review 1 đầu tiên</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9760991" y="7437120"/>
            <a:ext cx="7360691" cy="1821180"/>
          </a:xfrm>
          <a:prstGeom prst="rect">
            <a:avLst/>
          </a:prstGeom>
        </p:spPr>
        <p:txBody>
          <a:bodyPr lIns="0" tIns="0" rIns="0" bIns="0" rtlCol="0" anchor="t">
            <a:spAutoFit/>
          </a:bodyPr>
          <a:lstStyle/>
          <a:p>
            <a:pPr algn="l">
              <a:lnSpc>
                <a:spcPts val="2430"/>
              </a:lnSpc>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H1 → H1 · H6 → H2 · H7 → H3 · H8 → H4</a:t>
            </a:r>
            <a:endParaRPr lang="en-US" sz="2025">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430"/>
              </a:lnSpc>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H2 (4-bit) → số đo hiệu quả</a:t>
            </a:r>
            <a:endParaRPr lang="en-US" sz="2025">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430"/>
              </a:lnSpc>
            </a:pPr>
            <a:r>
              <a:rPr lang="en-US" sz="2025">
                <a:solidFill>
                  <a:srgbClr val="243044"/>
                </a:solidFill>
                <a:latin typeface="Calibri (MS)" panose="020F0502020204030204"/>
                <a:ea typeface="Calibri (MS)" panose="020F0502020204030204"/>
                <a:cs typeface="Calibri (MS)" panose="020F0502020204030204"/>
                <a:sym typeface="Calibri (MS)" panose="020F0502020204030204"/>
              </a:rPr>
              <a:t>H3, H4 (cấu hình LoRA) → ablation A1, A2 · H5 → tuỳ chọn</a:t>
            </a:r>
            <a:endParaRPr lang="en-US" sz="2025">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07 · DỮ LIỆU</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 name="TextBox 3"/>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Hai bộ benchmark, split cố định, tiền xử lý trước khi chia</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4" name="Group 4"/>
          <p:cNvGrpSpPr/>
          <p:nvPr/>
        </p:nvGrpSpPr>
        <p:grpSpPr>
          <a:xfrm rot="0">
            <a:off x="813435" y="2047875"/>
            <a:ext cx="8065541" cy="5162550"/>
            <a:chOff x="0" y="0"/>
            <a:chExt cx="10754055" cy="6883400"/>
          </a:xfrm>
        </p:grpSpPr>
        <p:sp>
          <p:nvSpPr>
            <p:cNvPr id="5" name="Freeform 5"/>
            <p:cNvSpPr/>
            <p:nvPr/>
          </p:nvSpPr>
          <p:spPr>
            <a:xfrm>
              <a:off x="0" y="0"/>
              <a:ext cx="10754106" cy="6883400"/>
            </a:xfrm>
            <a:custGeom>
              <a:avLst/>
              <a:gdLst/>
              <a:ahLst/>
              <a:cxnLst/>
              <a:rect l="l" t="t" r="r" b="b"/>
              <a:pathLst>
                <a:path w="10754106" h="6883400">
                  <a:moveTo>
                    <a:pt x="0" y="146812"/>
                  </a:moveTo>
                  <a:cubicBezTo>
                    <a:pt x="0" y="65786"/>
                    <a:pt x="65786" y="0"/>
                    <a:pt x="146812" y="0"/>
                  </a:cubicBezTo>
                  <a:lnTo>
                    <a:pt x="10607294" y="0"/>
                  </a:lnTo>
                  <a:cubicBezTo>
                    <a:pt x="10688320" y="0"/>
                    <a:pt x="10754106" y="65786"/>
                    <a:pt x="10754106" y="146812"/>
                  </a:cubicBezTo>
                  <a:lnTo>
                    <a:pt x="10754106" y="6736588"/>
                  </a:lnTo>
                  <a:cubicBezTo>
                    <a:pt x="10754106" y="6817614"/>
                    <a:pt x="10688320" y="6883400"/>
                    <a:pt x="10607294" y="6883400"/>
                  </a:cubicBezTo>
                  <a:lnTo>
                    <a:pt x="146812" y="6883400"/>
                  </a:lnTo>
                  <a:cubicBezTo>
                    <a:pt x="65786" y="6883400"/>
                    <a:pt x="0" y="6817614"/>
                    <a:pt x="0" y="6736588"/>
                  </a:cubicBezTo>
                  <a:close/>
                </a:path>
              </a:pathLst>
            </a:custGeom>
            <a:solidFill>
              <a:srgbClr val="F3F5F8"/>
            </a:solidFill>
            <a:ln w="19050" cap="sq">
              <a:solidFill>
                <a:srgbClr val="F3F5F8"/>
              </a:solidFill>
              <a:prstDash val="solid"/>
              <a:miter/>
            </a:ln>
          </p:spPr>
          <p:txBody>
            <a:bodyPr/>
            <a:p/>
          </p:txBody>
        </p:sp>
      </p:grpSp>
      <p:sp>
        <p:nvSpPr>
          <p:cNvPr id="6" name="TextBox 6"/>
          <p:cNvSpPr txBox="1"/>
          <p:nvPr/>
        </p:nvSpPr>
        <p:spPr>
          <a:xfrm>
            <a:off x="1234440" y="2253615"/>
            <a:ext cx="7223531" cy="695325"/>
          </a:xfrm>
          <a:prstGeom prst="rect">
            <a:avLst/>
          </a:prstGeom>
        </p:spPr>
        <p:txBody>
          <a:bodyPr lIns="0" tIns="0" rIns="0" bIns="0" rtlCol="0" anchor="t">
            <a:spAutoFit/>
          </a:bodyPr>
          <a:lstStyle/>
          <a:p>
            <a:pPr algn="l">
              <a:lnSpc>
                <a:spcPts val="3960"/>
              </a:lnSpc>
            </a:pPr>
            <a:r>
              <a:rPr lang="en-US" sz="3300" b="1">
                <a:solidFill>
                  <a:srgbClr val="13294B"/>
                </a:solidFill>
                <a:latin typeface="Cambria Bold" panose="02040803050406030204"/>
                <a:ea typeface="Cambria Bold" panose="02040803050406030204"/>
                <a:cs typeface="Cambria Bold" panose="02040803050406030204"/>
                <a:sym typeface="Cambria Bold" panose="02040803050406030204"/>
              </a:rPr>
              <a:t>ViVQA</a:t>
            </a:r>
            <a:endParaRPr lang="en-US" sz="33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7" name="TextBox 7"/>
          <p:cNvSpPr txBox="1"/>
          <p:nvPr/>
        </p:nvSpPr>
        <p:spPr>
          <a:xfrm>
            <a:off x="1234440" y="2883408"/>
            <a:ext cx="7223531" cy="449580"/>
          </a:xfrm>
          <a:prstGeom prst="rect">
            <a:avLst/>
          </a:prstGeom>
        </p:spPr>
        <p:txBody>
          <a:bodyPr lIns="0" tIns="0" rIns="0" bIns="0" rtlCol="0" anchor="t">
            <a:spAutoFit/>
          </a:bodyPr>
          <a:lstStyle/>
          <a:p>
            <a:pPr algn="l">
              <a:lnSpc>
                <a:spcPts val="2160"/>
              </a:lnSpc>
            </a:pPr>
            <a:r>
              <a:rPr lang="en-US" sz="1800" u="sng">
                <a:solidFill>
                  <a:srgbClr val="1C7293"/>
                </a:solidFill>
                <a:latin typeface="Calibri (MS)" panose="020F0502020204030204"/>
                <a:ea typeface="Calibri (MS)" panose="020F0502020204030204"/>
                <a:cs typeface="Calibri (MS)" panose="020F0502020204030204"/>
                <a:sym typeface="Calibri (MS)" panose="020F0502020204030204"/>
                <a:hlinkClick r:id="rId1" tooltip="https://aclanthology.org/2021.paclic-1.72/"/>
              </a:rPr>
              <a:t>Paper: ViVQA (Tran et al., PACLIC 2021) ↗</a:t>
            </a:r>
            <a:endParaRPr lang="en-US" sz="1800" u="sng">
              <a:solidFill>
                <a:srgbClr val="1C7293"/>
              </a:solidFill>
              <a:latin typeface="Calibri (MS)" panose="020F0502020204030204"/>
              <a:ea typeface="Calibri (MS)" panose="020F0502020204030204"/>
              <a:cs typeface="Calibri (MS)" panose="020F0502020204030204"/>
              <a:sym typeface="Calibri (MS)" panose="020F0502020204030204"/>
              <a:hlinkClick r:id="rId1" tooltip="https://aclanthology.org/2021.paclic-1.72/"/>
            </a:endParaRPr>
          </a:p>
        </p:txBody>
      </p:sp>
      <p:sp>
        <p:nvSpPr>
          <p:cNvPr id="8" name="TextBox 8"/>
          <p:cNvSpPr txBox="1"/>
          <p:nvPr/>
        </p:nvSpPr>
        <p:spPr>
          <a:xfrm>
            <a:off x="1234440" y="3478530"/>
            <a:ext cx="3474606" cy="1116330"/>
          </a:xfrm>
          <a:prstGeom prst="rect">
            <a:avLst/>
          </a:prstGeom>
        </p:spPr>
        <p:txBody>
          <a:bodyPr lIns="0" tIns="0" rIns="0" bIns="0" rtlCol="0" anchor="t">
            <a:spAutoFit/>
          </a:bodyPr>
          <a:lstStyle/>
          <a:p>
            <a:pPr algn="l">
              <a:lnSpc>
                <a:spcPts val="5400"/>
              </a:lnSpc>
            </a:pPr>
            <a:r>
              <a:rPr lang="en-US" sz="4500" b="1">
                <a:solidFill>
                  <a:srgbClr val="13294B"/>
                </a:solidFill>
                <a:latin typeface="Cambria Bold" panose="02040803050406030204"/>
                <a:ea typeface="Cambria Bold" panose="02040803050406030204"/>
                <a:cs typeface="Cambria Bold" panose="02040803050406030204"/>
                <a:sym typeface="Cambria Bold" panose="02040803050406030204"/>
              </a:rPr>
              <a:t>15.000</a:t>
            </a:r>
            <a:endParaRPr lang="en-US" sz="45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9" name="TextBox 9"/>
          <p:cNvSpPr txBox="1"/>
          <p:nvPr/>
        </p:nvSpPr>
        <p:spPr>
          <a:xfrm>
            <a:off x="1234440" y="4478655"/>
            <a:ext cx="3474606" cy="52768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cặp hỏi–đáp</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0" name="TextBox 10"/>
          <p:cNvSpPr txBox="1"/>
          <p:nvPr/>
        </p:nvSpPr>
        <p:spPr>
          <a:xfrm>
            <a:off x="4846206" y="3478530"/>
            <a:ext cx="3474606" cy="1116330"/>
          </a:xfrm>
          <a:prstGeom prst="rect">
            <a:avLst/>
          </a:prstGeom>
        </p:spPr>
        <p:txBody>
          <a:bodyPr lIns="0" tIns="0" rIns="0" bIns="0" rtlCol="0" anchor="t">
            <a:spAutoFit/>
          </a:bodyPr>
          <a:lstStyle/>
          <a:p>
            <a:pPr algn="l">
              <a:lnSpc>
                <a:spcPts val="5400"/>
              </a:lnSpc>
            </a:pPr>
            <a:r>
              <a:rPr lang="en-US" sz="4500" b="1">
                <a:solidFill>
                  <a:srgbClr val="13294B"/>
                </a:solidFill>
                <a:latin typeface="Cambria Bold" panose="02040803050406030204"/>
                <a:ea typeface="Cambria Bold" panose="02040803050406030204"/>
                <a:cs typeface="Cambria Bold" panose="02040803050406030204"/>
                <a:sym typeface="Cambria Bold" panose="02040803050406030204"/>
              </a:rPr>
              <a:t>10.328</a:t>
            </a:r>
            <a:endParaRPr lang="en-US" sz="45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1" name="TextBox 11"/>
          <p:cNvSpPr txBox="1"/>
          <p:nvPr/>
        </p:nvSpPr>
        <p:spPr>
          <a:xfrm>
            <a:off x="4846206" y="4478655"/>
            <a:ext cx="3474606" cy="52768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ảnh (MS COCO)</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2" name="TextBox 12"/>
          <p:cNvSpPr txBox="1"/>
          <p:nvPr/>
        </p:nvSpPr>
        <p:spPr>
          <a:xfrm>
            <a:off x="1234440" y="5095875"/>
            <a:ext cx="7223531" cy="664845"/>
          </a:xfrm>
          <a:prstGeom prst="rect">
            <a:avLst/>
          </a:prstGeom>
        </p:spPr>
        <p:txBody>
          <a:bodyPr lIns="0" tIns="0" rIns="0" bIns="0" rtlCol="0" anchor="t">
            <a:spAutoFit/>
          </a:bodyP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Split: train 10.799</a:t>
            </a:r>
            <a:r>
              <a:rPr lang="en-US" sz="1950">
                <a:solidFill>
                  <a:srgbClr val="5B677A"/>
                </a:solidFill>
                <a:latin typeface="Calibri (MS)" panose="020F0502020204030204"/>
                <a:ea typeface="Calibri (MS)" panose="020F0502020204030204"/>
                <a:cs typeface="Calibri (MS)" panose="020F0502020204030204"/>
                <a:sym typeface="Calibri (MS)" panose="020F0502020204030204"/>
              </a:rPr>
              <a:t>  ·  </a:t>
            </a: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val 1.200</a:t>
            </a:r>
            <a:r>
              <a:rPr lang="en-US" sz="1950">
                <a:solidFill>
                  <a:srgbClr val="5B677A"/>
                </a:solidFill>
                <a:latin typeface="Calibri (MS)" panose="020F0502020204030204"/>
                <a:ea typeface="Calibri (MS)" panose="020F0502020204030204"/>
                <a:cs typeface="Calibri (MS)" panose="020F0502020204030204"/>
                <a:sym typeface="Calibri (MS)" panose="020F0502020204030204"/>
              </a:rPr>
              <a:t>  ·  </a:t>
            </a: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test 3.001</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980"/>
              </a:lnSpc>
            </a:pPr>
            <a:r>
              <a:rPr lang="en-US" sz="1650">
                <a:solidFill>
                  <a:srgbClr val="5B677A"/>
                </a:solidFill>
                <a:latin typeface="Calibri (MS)" panose="020F0502020204030204"/>
                <a:ea typeface="Calibri (MS)" panose="020F0502020204030204"/>
                <a:cs typeface="Calibri (MS)" panose="020F0502020204030204"/>
                <a:sym typeface="Calibri (MS)" panose="020F0502020204030204"/>
              </a:rPr>
              <a:t>val tách từ train (seed 42); bản gốc chỉ có train/test</a:t>
            </a:r>
            <a:endParaRPr lang="en-US" sz="1650">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13" name="TextBox 13"/>
          <p:cNvSpPr txBox="1"/>
          <p:nvPr/>
        </p:nvSpPr>
        <p:spPr>
          <a:xfrm>
            <a:off x="1234440" y="6426327"/>
            <a:ext cx="7223531" cy="664845"/>
          </a:xfrm>
          <a:prstGeom prst="rect">
            <a:avLst/>
          </a:prstGeom>
        </p:spPr>
        <p:txBody>
          <a:bodyPr lIns="0" tIns="0" rIns="0" bIns="0" rtlCol="0" anchor="t">
            <a:spAutoFit/>
          </a:bodyPr>
          <a:lstStyle/>
          <a:p>
            <a:pPr algn="l">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99,83% đáp án ≤ 3 từ → EM / VQA-Acc</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4" name="Group 14"/>
          <p:cNvGrpSpPr/>
          <p:nvPr/>
        </p:nvGrpSpPr>
        <p:grpSpPr>
          <a:xfrm rot="0">
            <a:off x="9408566" y="2047875"/>
            <a:ext cx="8065541" cy="5162550"/>
            <a:chOff x="0" y="0"/>
            <a:chExt cx="10754055" cy="6883400"/>
          </a:xfrm>
        </p:grpSpPr>
        <p:sp>
          <p:nvSpPr>
            <p:cNvPr id="15" name="Freeform 15"/>
            <p:cNvSpPr/>
            <p:nvPr/>
          </p:nvSpPr>
          <p:spPr>
            <a:xfrm>
              <a:off x="0" y="0"/>
              <a:ext cx="10754106" cy="6883400"/>
            </a:xfrm>
            <a:custGeom>
              <a:avLst/>
              <a:gdLst/>
              <a:ahLst/>
              <a:cxnLst/>
              <a:rect l="l" t="t" r="r" b="b"/>
              <a:pathLst>
                <a:path w="10754106" h="6883400">
                  <a:moveTo>
                    <a:pt x="0" y="146812"/>
                  </a:moveTo>
                  <a:cubicBezTo>
                    <a:pt x="0" y="65786"/>
                    <a:pt x="65786" y="0"/>
                    <a:pt x="146812" y="0"/>
                  </a:cubicBezTo>
                  <a:lnTo>
                    <a:pt x="10607294" y="0"/>
                  </a:lnTo>
                  <a:cubicBezTo>
                    <a:pt x="10688320" y="0"/>
                    <a:pt x="10754106" y="65786"/>
                    <a:pt x="10754106" y="146812"/>
                  </a:cubicBezTo>
                  <a:lnTo>
                    <a:pt x="10754106" y="6736588"/>
                  </a:lnTo>
                  <a:cubicBezTo>
                    <a:pt x="10754106" y="6817614"/>
                    <a:pt x="10688320" y="6883400"/>
                    <a:pt x="10607294" y="6883400"/>
                  </a:cubicBezTo>
                  <a:lnTo>
                    <a:pt x="146812" y="6883400"/>
                  </a:lnTo>
                  <a:cubicBezTo>
                    <a:pt x="65786" y="6883400"/>
                    <a:pt x="0" y="6817614"/>
                    <a:pt x="0" y="6736588"/>
                  </a:cubicBezTo>
                  <a:close/>
                </a:path>
              </a:pathLst>
            </a:custGeom>
            <a:solidFill>
              <a:srgbClr val="E7F0F3"/>
            </a:solidFill>
            <a:ln w="19050" cap="sq">
              <a:solidFill>
                <a:srgbClr val="E7F0F3"/>
              </a:solidFill>
              <a:prstDash val="solid"/>
              <a:miter/>
            </a:ln>
          </p:spPr>
          <p:txBody>
            <a:bodyPr/>
            <a:p/>
          </p:txBody>
        </p:sp>
      </p:grpSp>
      <p:sp>
        <p:nvSpPr>
          <p:cNvPr id="16" name="TextBox 16"/>
          <p:cNvSpPr txBox="1"/>
          <p:nvPr/>
        </p:nvSpPr>
        <p:spPr>
          <a:xfrm>
            <a:off x="9829571" y="2253615"/>
            <a:ext cx="7223531" cy="695325"/>
          </a:xfrm>
          <a:prstGeom prst="rect">
            <a:avLst/>
          </a:prstGeom>
        </p:spPr>
        <p:txBody>
          <a:bodyPr lIns="0" tIns="0" rIns="0" bIns="0" rtlCol="0" anchor="t">
            <a:spAutoFit/>
          </a:bodyPr>
          <a:lstStyle/>
          <a:p>
            <a:pPr algn="l">
              <a:lnSpc>
                <a:spcPts val="3960"/>
              </a:lnSpc>
            </a:pPr>
            <a:r>
              <a:rPr lang="en-US" sz="3300" b="1">
                <a:solidFill>
                  <a:srgbClr val="13294B"/>
                </a:solidFill>
                <a:latin typeface="Cambria Bold" panose="02040803050406030204"/>
                <a:ea typeface="Cambria Bold" panose="02040803050406030204"/>
                <a:cs typeface="Cambria Bold" panose="02040803050406030204"/>
                <a:sym typeface="Cambria Bold" panose="02040803050406030204"/>
              </a:rPr>
              <a:t>ViTextVQA</a:t>
            </a:r>
            <a:endParaRPr lang="en-US" sz="33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7" name="TextBox 17"/>
          <p:cNvSpPr txBox="1"/>
          <p:nvPr/>
        </p:nvSpPr>
        <p:spPr>
          <a:xfrm>
            <a:off x="9829571" y="2883408"/>
            <a:ext cx="7223531" cy="449580"/>
          </a:xfrm>
          <a:prstGeom prst="rect">
            <a:avLst/>
          </a:prstGeom>
        </p:spPr>
        <p:txBody>
          <a:bodyPr lIns="0" tIns="0" rIns="0" bIns="0" rtlCol="0" anchor="t">
            <a:spAutoFit/>
          </a:bodyPr>
          <a:lstStyle/>
          <a:p>
            <a:pPr algn="l">
              <a:lnSpc>
                <a:spcPts val="2160"/>
              </a:lnSpc>
            </a:pPr>
            <a:r>
              <a:rPr lang="en-US" sz="1800" u="sng">
                <a:solidFill>
                  <a:srgbClr val="1C7293"/>
                </a:solidFill>
                <a:latin typeface="Calibri (MS)" panose="020F0502020204030204"/>
                <a:ea typeface="Calibri (MS)" panose="020F0502020204030204"/>
                <a:cs typeface="Calibri (MS)" panose="020F0502020204030204"/>
                <a:sym typeface="Calibri (MS)" panose="020F0502020204030204"/>
                <a:hlinkClick r:id="rId2" tooltip="https://arxiv.org/abs/2404.10652"/>
              </a:rPr>
              <a:t>Paper: ViTextVQA (Nguyen et al., 2024 · arXiv 2404.10652) ↗</a:t>
            </a:r>
            <a:endParaRPr lang="en-US" sz="1800" u="sng">
              <a:solidFill>
                <a:srgbClr val="1C7293"/>
              </a:solidFill>
              <a:latin typeface="Calibri (MS)" panose="020F0502020204030204"/>
              <a:ea typeface="Calibri (MS)" panose="020F0502020204030204"/>
              <a:cs typeface="Calibri (MS)" panose="020F0502020204030204"/>
              <a:sym typeface="Calibri (MS)" panose="020F0502020204030204"/>
              <a:hlinkClick r:id="rId2" tooltip="https://arxiv.org/abs/2404.10652"/>
            </a:endParaRPr>
          </a:p>
        </p:txBody>
      </p:sp>
      <p:sp>
        <p:nvSpPr>
          <p:cNvPr id="18" name="TextBox 18"/>
          <p:cNvSpPr txBox="1"/>
          <p:nvPr/>
        </p:nvSpPr>
        <p:spPr>
          <a:xfrm>
            <a:off x="9829571" y="3478530"/>
            <a:ext cx="3474606" cy="1116330"/>
          </a:xfrm>
          <a:prstGeom prst="rect">
            <a:avLst/>
          </a:prstGeom>
        </p:spPr>
        <p:txBody>
          <a:bodyPr lIns="0" tIns="0" rIns="0" bIns="0" rtlCol="0" anchor="t">
            <a:spAutoFit/>
          </a:bodyPr>
          <a:lstStyle/>
          <a:p>
            <a:pPr algn="l">
              <a:lnSpc>
                <a:spcPts val="5400"/>
              </a:lnSpc>
            </a:pPr>
            <a:r>
              <a:rPr lang="en-US" sz="4500" b="1">
                <a:solidFill>
                  <a:srgbClr val="13294B"/>
                </a:solidFill>
                <a:latin typeface="Cambria Bold" panose="02040803050406030204"/>
                <a:ea typeface="Cambria Bold" panose="02040803050406030204"/>
                <a:cs typeface="Cambria Bold" panose="02040803050406030204"/>
                <a:sym typeface="Cambria Bold" panose="02040803050406030204"/>
              </a:rPr>
              <a:t>50.342</a:t>
            </a:r>
            <a:endParaRPr lang="en-US" sz="45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9" name="TextBox 19"/>
          <p:cNvSpPr txBox="1"/>
          <p:nvPr/>
        </p:nvSpPr>
        <p:spPr>
          <a:xfrm>
            <a:off x="9829571" y="4478655"/>
            <a:ext cx="3474606" cy="52768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cặp hỏi–đáp</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0" name="TextBox 20"/>
          <p:cNvSpPr txBox="1"/>
          <p:nvPr/>
        </p:nvSpPr>
        <p:spPr>
          <a:xfrm>
            <a:off x="13441337" y="3478530"/>
            <a:ext cx="3474606" cy="1116330"/>
          </a:xfrm>
          <a:prstGeom prst="rect">
            <a:avLst/>
          </a:prstGeom>
        </p:spPr>
        <p:txBody>
          <a:bodyPr lIns="0" tIns="0" rIns="0" bIns="0" rtlCol="0" anchor="t">
            <a:spAutoFit/>
          </a:bodyPr>
          <a:lstStyle/>
          <a:p>
            <a:pPr algn="l">
              <a:lnSpc>
                <a:spcPts val="5400"/>
              </a:lnSpc>
            </a:pPr>
            <a:r>
              <a:rPr lang="en-US" sz="4500" b="1">
                <a:solidFill>
                  <a:srgbClr val="13294B"/>
                </a:solidFill>
                <a:latin typeface="Cambria Bold" panose="02040803050406030204"/>
                <a:ea typeface="Cambria Bold" panose="02040803050406030204"/>
                <a:cs typeface="Cambria Bold" panose="02040803050406030204"/>
                <a:sym typeface="Cambria Bold" panose="02040803050406030204"/>
              </a:rPr>
              <a:t>16.762</a:t>
            </a:r>
            <a:endParaRPr lang="en-US" sz="45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1" name="TextBox 21"/>
          <p:cNvSpPr txBox="1"/>
          <p:nvPr/>
        </p:nvSpPr>
        <p:spPr>
          <a:xfrm>
            <a:off x="13441337" y="4478655"/>
            <a:ext cx="3474606" cy="52768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ảnh có chữ tiếng Việt</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2" name="TextBox 22"/>
          <p:cNvSpPr txBox="1"/>
          <p:nvPr/>
        </p:nvSpPr>
        <p:spPr>
          <a:xfrm>
            <a:off x="9829571" y="5095875"/>
            <a:ext cx="7223531" cy="664845"/>
          </a:xfrm>
          <a:prstGeom prst="rect">
            <a:avLst/>
          </a:prstGeom>
        </p:spPr>
        <p:txBody>
          <a:bodyPr lIns="0" tIns="0" rIns="0" bIns="0" rtlCol="0" anchor="t">
            <a:spAutoFit/>
          </a:bodyP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Split: train 35.159</a:t>
            </a:r>
            <a:r>
              <a:rPr lang="en-US" sz="1950">
                <a:solidFill>
                  <a:srgbClr val="5B677A"/>
                </a:solidFill>
                <a:latin typeface="Calibri (MS)" panose="020F0502020204030204"/>
                <a:ea typeface="Calibri (MS)" panose="020F0502020204030204"/>
                <a:cs typeface="Calibri (MS)" panose="020F0502020204030204"/>
                <a:sym typeface="Calibri (MS)" panose="020F0502020204030204"/>
              </a:rPr>
              <a:t>  ·  </a:t>
            </a: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dev 5.155</a:t>
            </a:r>
            <a:r>
              <a:rPr lang="en-US" sz="1950">
                <a:solidFill>
                  <a:srgbClr val="5B677A"/>
                </a:solidFill>
                <a:latin typeface="Calibri (MS)" panose="020F0502020204030204"/>
                <a:ea typeface="Calibri (MS)" panose="020F0502020204030204"/>
                <a:cs typeface="Calibri (MS)" panose="020F0502020204030204"/>
                <a:sym typeface="Calibri (MS)" panose="020F0502020204030204"/>
              </a:rPr>
              <a:t>  ·  </a:t>
            </a: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test 10.028</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980"/>
              </a:lnSpc>
            </a:pPr>
            <a:r>
              <a:rPr lang="en-US" sz="1650">
                <a:solidFill>
                  <a:srgbClr val="5B677A"/>
                </a:solidFill>
                <a:latin typeface="Calibri (MS)" panose="020F0502020204030204"/>
                <a:ea typeface="Calibri (MS)" panose="020F0502020204030204"/>
                <a:cs typeface="Calibri (MS)" panose="020F0502020204030204"/>
                <a:sym typeface="Calibri (MS)" panose="020F0502020204030204"/>
              </a:rPr>
              <a:t>split chính thức của tác giả; dev = tập validation</a:t>
            </a:r>
            <a:endParaRPr lang="en-US" sz="1650">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23" name="TextBox 23"/>
          <p:cNvSpPr txBox="1"/>
          <p:nvPr/>
        </p:nvSpPr>
        <p:spPr>
          <a:xfrm>
            <a:off x="9829571" y="6426327"/>
            <a:ext cx="7223531" cy="664845"/>
          </a:xfrm>
          <a:prstGeom prst="rect">
            <a:avLst/>
          </a:prstGeom>
        </p:spPr>
        <p:txBody>
          <a:bodyPr lIns="0" tIns="0" rIns="0" bIns="0" rtlCol="0" anchor="t">
            <a:spAutoFit/>
          </a:bodyPr>
          <a:lstStyle/>
          <a:p>
            <a:pPr algn="l">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Đáp án trung bình 4,18 từ, đọc từ ảnh → ANLS (chịu lỗi ký tự)</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4" name="Group 24"/>
          <p:cNvGrpSpPr/>
          <p:nvPr/>
        </p:nvGrpSpPr>
        <p:grpSpPr>
          <a:xfrm rot="0">
            <a:off x="813435" y="7534275"/>
            <a:ext cx="3613671" cy="1184910"/>
            <a:chOff x="0" y="0"/>
            <a:chExt cx="4818228" cy="1579880"/>
          </a:xfrm>
        </p:grpSpPr>
        <p:sp>
          <p:nvSpPr>
            <p:cNvPr id="25" name="Freeform 25"/>
            <p:cNvSpPr/>
            <p:nvPr/>
          </p:nvSpPr>
          <p:spPr>
            <a:xfrm>
              <a:off x="0" y="0"/>
              <a:ext cx="4818253" cy="1579880"/>
            </a:xfrm>
            <a:custGeom>
              <a:avLst/>
              <a:gdLst/>
              <a:ahLst/>
              <a:cxnLst/>
              <a:rect l="l" t="t" r="r" b="b"/>
              <a:pathLst>
                <a:path w="4818253" h="1579880">
                  <a:moveTo>
                    <a:pt x="0" y="168529"/>
                  </a:moveTo>
                  <a:cubicBezTo>
                    <a:pt x="0" y="75438"/>
                    <a:pt x="75438" y="0"/>
                    <a:pt x="168529" y="0"/>
                  </a:cubicBezTo>
                  <a:lnTo>
                    <a:pt x="4649724" y="0"/>
                  </a:lnTo>
                  <a:cubicBezTo>
                    <a:pt x="4742815" y="0"/>
                    <a:pt x="4818253" y="75438"/>
                    <a:pt x="4818253" y="168529"/>
                  </a:cubicBezTo>
                  <a:lnTo>
                    <a:pt x="4818253" y="1411351"/>
                  </a:lnTo>
                  <a:cubicBezTo>
                    <a:pt x="4818253" y="1504442"/>
                    <a:pt x="4742815" y="1579880"/>
                    <a:pt x="4649724" y="1579880"/>
                  </a:cubicBezTo>
                  <a:lnTo>
                    <a:pt x="168529" y="1579880"/>
                  </a:lnTo>
                  <a:cubicBezTo>
                    <a:pt x="75438" y="1579880"/>
                    <a:pt x="0" y="1504442"/>
                    <a:pt x="0" y="1411351"/>
                  </a:cubicBezTo>
                  <a:close/>
                </a:path>
              </a:pathLst>
            </a:custGeom>
            <a:solidFill>
              <a:srgbClr val="E7F0F3"/>
            </a:solidFill>
            <a:ln w="19050" cap="sq">
              <a:solidFill>
                <a:srgbClr val="1C7293"/>
              </a:solidFill>
              <a:prstDash val="solid"/>
              <a:miter/>
            </a:ln>
          </p:spPr>
          <p:txBody>
            <a:bodyPr/>
            <a:p/>
          </p:txBody>
        </p:sp>
      </p:grpSp>
      <p:grpSp>
        <p:nvGrpSpPr>
          <p:cNvPr id="26" name="Group 26"/>
          <p:cNvGrpSpPr/>
          <p:nvPr/>
        </p:nvGrpSpPr>
        <p:grpSpPr>
          <a:xfrm rot="0">
            <a:off x="918972" y="7543800"/>
            <a:ext cx="3402597" cy="1165860"/>
            <a:chOff x="0" y="0"/>
            <a:chExt cx="4536796" cy="1554480"/>
          </a:xfrm>
        </p:grpSpPr>
        <p:sp>
          <p:nvSpPr>
            <p:cNvPr id="27" name="Freeform 27"/>
            <p:cNvSpPr/>
            <p:nvPr/>
          </p:nvSpPr>
          <p:spPr>
            <a:xfrm>
              <a:off x="0" y="0"/>
              <a:ext cx="4536796" cy="1554480"/>
            </a:xfrm>
            <a:custGeom>
              <a:avLst/>
              <a:gdLst/>
              <a:ahLst/>
              <a:cxnLst/>
              <a:rect l="l" t="t" r="r" b="b"/>
              <a:pathLst>
                <a:path w="4536796" h="1554480">
                  <a:moveTo>
                    <a:pt x="0" y="0"/>
                  </a:moveTo>
                  <a:lnTo>
                    <a:pt x="4536796" y="0"/>
                  </a:lnTo>
                  <a:lnTo>
                    <a:pt x="4536796" y="1554480"/>
                  </a:lnTo>
                  <a:lnTo>
                    <a:pt x="0" y="1554480"/>
                  </a:lnTo>
                  <a:close/>
                </a:path>
              </a:pathLst>
            </a:custGeom>
            <a:blipFill>
              <a:blip r:embed="rId3">
                <a:alphaModFix amt="0"/>
              </a:blip>
              <a:stretch>
                <a:fillRect t="-6867" b="-6867"/>
              </a:stretch>
            </a:blipFill>
          </p:spPr>
          <p:txBody>
            <a:bodyPr/>
            <a:p/>
          </p:txBody>
        </p:sp>
        <p:sp>
          <p:nvSpPr>
            <p:cNvPr id="28" name="TextBox 28"/>
            <p:cNvSpPr txBox="1"/>
            <p:nvPr/>
          </p:nvSpPr>
          <p:spPr>
            <a:xfrm>
              <a:off x="0" y="-47625"/>
              <a:ext cx="4536796" cy="1602105"/>
            </a:xfrm>
            <a:prstGeom prst="rect">
              <a:avLst/>
            </a:prstGeom>
          </p:spPr>
          <p:txBody>
            <a:bodyPr lIns="0" tIns="0" rIns="0" bIns="0" rtlCol="0" anchor="ctr"/>
            <a:lstStyle/>
            <a:p>
              <a:pPr algn="ctr">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1 · Tiền xử lý</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ctr">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chữ: NFC, chữ thường · ảnh: RGB, resize</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grpSp>
        <p:nvGrpSpPr>
          <p:cNvPr id="29" name="Group 29"/>
          <p:cNvGrpSpPr/>
          <p:nvPr/>
        </p:nvGrpSpPr>
        <p:grpSpPr>
          <a:xfrm rot="0">
            <a:off x="4545216" y="7918323"/>
            <a:ext cx="499110" cy="430530"/>
            <a:chOff x="0" y="0"/>
            <a:chExt cx="665480" cy="574040"/>
          </a:xfrm>
        </p:grpSpPr>
        <p:sp>
          <p:nvSpPr>
            <p:cNvPr id="30" name="Freeform 30"/>
            <p:cNvSpPr/>
            <p:nvPr/>
          </p:nvSpPr>
          <p:spPr>
            <a:xfrm>
              <a:off x="0" y="0"/>
              <a:ext cx="665480" cy="574040"/>
            </a:xfrm>
            <a:custGeom>
              <a:avLst/>
              <a:gdLst/>
              <a:ahLst/>
              <a:cxnLst/>
              <a:rect l="l" t="t" r="r" b="b"/>
              <a:pathLst>
                <a:path w="665480" h="574040">
                  <a:moveTo>
                    <a:pt x="0" y="143510"/>
                  </a:moveTo>
                  <a:lnTo>
                    <a:pt x="378460" y="143510"/>
                  </a:lnTo>
                  <a:lnTo>
                    <a:pt x="378460" y="0"/>
                  </a:lnTo>
                  <a:lnTo>
                    <a:pt x="665480" y="287020"/>
                  </a:lnTo>
                  <a:lnTo>
                    <a:pt x="378460" y="574040"/>
                  </a:lnTo>
                  <a:lnTo>
                    <a:pt x="378460" y="430530"/>
                  </a:lnTo>
                  <a:lnTo>
                    <a:pt x="0" y="430530"/>
                  </a:lnTo>
                  <a:close/>
                </a:path>
              </a:pathLst>
            </a:custGeom>
            <a:solidFill>
              <a:srgbClr val="1C7293"/>
            </a:solidFill>
            <a:ln w="19050" cap="sq">
              <a:solidFill>
                <a:srgbClr val="1C7293"/>
              </a:solidFill>
              <a:prstDash val="solid"/>
              <a:miter/>
            </a:ln>
          </p:spPr>
          <p:txBody>
            <a:bodyPr/>
            <a:p/>
          </p:txBody>
        </p:sp>
      </p:grpSp>
      <p:grpSp>
        <p:nvGrpSpPr>
          <p:cNvPr id="31" name="Group 31"/>
          <p:cNvGrpSpPr/>
          <p:nvPr/>
        </p:nvGrpSpPr>
        <p:grpSpPr>
          <a:xfrm rot="0">
            <a:off x="5162436" y="7534275"/>
            <a:ext cx="3613671" cy="1184910"/>
            <a:chOff x="0" y="0"/>
            <a:chExt cx="4818228" cy="1579880"/>
          </a:xfrm>
        </p:grpSpPr>
        <p:sp>
          <p:nvSpPr>
            <p:cNvPr id="32" name="Freeform 32"/>
            <p:cNvSpPr/>
            <p:nvPr/>
          </p:nvSpPr>
          <p:spPr>
            <a:xfrm>
              <a:off x="0" y="0"/>
              <a:ext cx="4818253" cy="1579880"/>
            </a:xfrm>
            <a:custGeom>
              <a:avLst/>
              <a:gdLst/>
              <a:ahLst/>
              <a:cxnLst/>
              <a:rect l="l" t="t" r="r" b="b"/>
              <a:pathLst>
                <a:path w="4818253" h="1579880">
                  <a:moveTo>
                    <a:pt x="0" y="168529"/>
                  </a:moveTo>
                  <a:cubicBezTo>
                    <a:pt x="0" y="75438"/>
                    <a:pt x="75438" y="0"/>
                    <a:pt x="168529" y="0"/>
                  </a:cubicBezTo>
                  <a:lnTo>
                    <a:pt x="4649724" y="0"/>
                  </a:lnTo>
                  <a:cubicBezTo>
                    <a:pt x="4742815" y="0"/>
                    <a:pt x="4818253" y="75438"/>
                    <a:pt x="4818253" y="168529"/>
                  </a:cubicBezTo>
                  <a:lnTo>
                    <a:pt x="4818253" y="1411351"/>
                  </a:lnTo>
                  <a:cubicBezTo>
                    <a:pt x="4818253" y="1504442"/>
                    <a:pt x="4742815" y="1579880"/>
                    <a:pt x="4649724" y="1579880"/>
                  </a:cubicBezTo>
                  <a:lnTo>
                    <a:pt x="168529" y="1579880"/>
                  </a:lnTo>
                  <a:cubicBezTo>
                    <a:pt x="75438" y="1579880"/>
                    <a:pt x="0" y="1504442"/>
                    <a:pt x="0" y="1411351"/>
                  </a:cubicBezTo>
                  <a:close/>
                </a:path>
              </a:pathLst>
            </a:custGeom>
            <a:solidFill>
              <a:srgbClr val="E7F0F3"/>
            </a:solidFill>
            <a:ln w="19050" cap="sq">
              <a:solidFill>
                <a:srgbClr val="1C7293"/>
              </a:solidFill>
              <a:prstDash val="solid"/>
              <a:miter/>
            </a:ln>
          </p:spPr>
          <p:txBody>
            <a:bodyPr/>
            <a:p/>
          </p:txBody>
        </p:sp>
      </p:grpSp>
      <p:grpSp>
        <p:nvGrpSpPr>
          <p:cNvPr id="33" name="Group 33"/>
          <p:cNvGrpSpPr/>
          <p:nvPr/>
        </p:nvGrpSpPr>
        <p:grpSpPr>
          <a:xfrm rot="0">
            <a:off x="5267973" y="7543800"/>
            <a:ext cx="3402597" cy="1165860"/>
            <a:chOff x="0" y="0"/>
            <a:chExt cx="4536796" cy="1554480"/>
          </a:xfrm>
        </p:grpSpPr>
        <p:sp>
          <p:nvSpPr>
            <p:cNvPr id="34" name="Freeform 34"/>
            <p:cNvSpPr/>
            <p:nvPr/>
          </p:nvSpPr>
          <p:spPr>
            <a:xfrm>
              <a:off x="0" y="0"/>
              <a:ext cx="4536796" cy="1554480"/>
            </a:xfrm>
            <a:custGeom>
              <a:avLst/>
              <a:gdLst/>
              <a:ahLst/>
              <a:cxnLst/>
              <a:rect l="l" t="t" r="r" b="b"/>
              <a:pathLst>
                <a:path w="4536796" h="1554480">
                  <a:moveTo>
                    <a:pt x="0" y="0"/>
                  </a:moveTo>
                  <a:lnTo>
                    <a:pt x="4536796" y="0"/>
                  </a:lnTo>
                  <a:lnTo>
                    <a:pt x="4536796" y="1554480"/>
                  </a:lnTo>
                  <a:lnTo>
                    <a:pt x="0" y="1554480"/>
                  </a:lnTo>
                  <a:close/>
                </a:path>
              </a:pathLst>
            </a:custGeom>
            <a:blipFill>
              <a:blip r:embed="rId3">
                <a:alphaModFix amt="0"/>
              </a:blip>
              <a:stretch>
                <a:fillRect t="-6867" b="-6867"/>
              </a:stretch>
            </a:blipFill>
          </p:spPr>
          <p:txBody>
            <a:bodyPr/>
            <a:p/>
          </p:txBody>
        </p:sp>
        <p:sp>
          <p:nvSpPr>
            <p:cNvPr id="35" name="TextBox 35"/>
            <p:cNvSpPr txBox="1"/>
            <p:nvPr/>
          </p:nvSpPr>
          <p:spPr>
            <a:xfrm>
              <a:off x="0" y="-47625"/>
              <a:ext cx="4536796" cy="1602105"/>
            </a:xfrm>
            <a:prstGeom prst="rect">
              <a:avLst/>
            </a:prstGeom>
          </p:spPr>
          <p:txBody>
            <a:bodyPr lIns="0" tIns="0" rIns="0" bIns="0" rtlCol="0" anchor="ctr"/>
            <a:lstStyle/>
            <a:p>
              <a:pPr algn="ctr">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2 · Cố định split</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ctr">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seed 42 / split chính thức</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grpSp>
        <p:nvGrpSpPr>
          <p:cNvPr id="36" name="Group 36"/>
          <p:cNvGrpSpPr/>
          <p:nvPr/>
        </p:nvGrpSpPr>
        <p:grpSpPr>
          <a:xfrm rot="0">
            <a:off x="8894216" y="7918323"/>
            <a:ext cx="499110" cy="430530"/>
            <a:chOff x="0" y="0"/>
            <a:chExt cx="665480" cy="574040"/>
          </a:xfrm>
        </p:grpSpPr>
        <p:sp>
          <p:nvSpPr>
            <p:cNvPr id="37" name="Freeform 37"/>
            <p:cNvSpPr/>
            <p:nvPr/>
          </p:nvSpPr>
          <p:spPr>
            <a:xfrm>
              <a:off x="0" y="0"/>
              <a:ext cx="665480" cy="574040"/>
            </a:xfrm>
            <a:custGeom>
              <a:avLst/>
              <a:gdLst/>
              <a:ahLst/>
              <a:cxnLst/>
              <a:rect l="l" t="t" r="r" b="b"/>
              <a:pathLst>
                <a:path w="665480" h="574040">
                  <a:moveTo>
                    <a:pt x="0" y="143510"/>
                  </a:moveTo>
                  <a:lnTo>
                    <a:pt x="378460" y="143510"/>
                  </a:lnTo>
                  <a:lnTo>
                    <a:pt x="378460" y="0"/>
                  </a:lnTo>
                  <a:lnTo>
                    <a:pt x="665480" y="287020"/>
                  </a:lnTo>
                  <a:lnTo>
                    <a:pt x="378460" y="574040"/>
                  </a:lnTo>
                  <a:lnTo>
                    <a:pt x="378460" y="430530"/>
                  </a:lnTo>
                  <a:lnTo>
                    <a:pt x="0" y="430530"/>
                  </a:lnTo>
                  <a:close/>
                </a:path>
              </a:pathLst>
            </a:custGeom>
            <a:solidFill>
              <a:srgbClr val="1C7293"/>
            </a:solidFill>
            <a:ln w="19050" cap="sq">
              <a:solidFill>
                <a:srgbClr val="1C7293"/>
              </a:solidFill>
              <a:prstDash val="solid"/>
              <a:miter/>
            </a:ln>
          </p:spPr>
          <p:txBody>
            <a:bodyPr/>
            <a:p/>
          </p:txBody>
        </p:sp>
      </p:grpSp>
      <p:grpSp>
        <p:nvGrpSpPr>
          <p:cNvPr id="38" name="Group 38"/>
          <p:cNvGrpSpPr/>
          <p:nvPr/>
        </p:nvGrpSpPr>
        <p:grpSpPr>
          <a:xfrm rot="0">
            <a:off x="9511436" y="7534275"/>
            <a:ext cx="3613671" cy="1184910"/>
            <a:chOff x="0" y="0"/>
            <a:chExt cx="4818228" cy="1579880"/>
          </a:xfrm>
        </p:grpSpPr>
        <p:sp>
          <p:nvSpPr>
            <p:cNvPr id="39" name="Freeform 39"/>
            <p:cNvSpPr/>
            <p:nvPr/>
          </p:nvSpPr>
          <p:spPr>
            <a:xfrm>
              <a:off x="0" y="0"/>
              <a:ext cx="4818253" cy="1579880"/>
            </a:xfrm>
            <a:custGeom>
              <a:avLst/>
              <a:gdLst/>
              <a:ahLst/>
              <a:cxnLst/>
              <a:rect l="l" t="t" r="r" b="b"/>
              <a:pathLst>
                <a:path w="4818253" h="1579880">
                  <a:moveTo>
                    <a:pt x="0" y="168529"/>
                  </a:moveTo>
                  <a:cubicBezTo>
                    <a:pt x="0" y="75438"/>
                    <a:pt x="75438" y="0"/>
                    <a:pt x="168529" y="0"/>
                  </a:cubicBezTo>
                  <a:lnTo>
                    <a:pt x="4649724" y="0"/>
                  </a:lnTo>
                  <a:cubicBezTo>
                    <a:pt x="4742815" y="0"/>
                    <a:pt x="4818253" y="75438"/>
                    <a:pt x="4818253" y="168529"/>
                  </a:cubicBezTo>
                  <a:lnTo>
                    <a:pt x="4818253" y="1411351"/>
                  </a:lnTo>
                  <a:cubicBezTo>
                    <a:pt x="4818253" y="1504442"/>
                    <a:pt x="4742815" y="1579880"/>
                    <a:pt x="4649724" y="1579880"/>
                  </a:cubicBezTo>
                  <a:lnTo>
                    <a:pt x="168529" y="1579880"/>
                  </a:lnTo>
                  <a:cubicBezTo>
                    <a:pt x="75438" y="1579880"/>
                    <a:pt x="0" y="1504442"/>
                    <a:pt x="0" y="1411351"/>
                  </a:cubicBezTo>
                  <a:close/>
                </a:path>
              </a:pathLst>
            </a:custGeom>
            <a:solidFill>
              <a:srgbClr val="E7F0F3"/>
            </a:solidFill>
            <a:ln w="19050" cap="sq">
              <a:solidFill>
                <a:srgbClr val="1C7293"/>
              </a:solidFill>
              <a:prstDash val="solid"/>
              <a:miter/>
            </a:ln>
          </p:spPr>
          <p:txBody>
            <a:bodyPr/>
            <a:p/>
          </p:txBody>
        </p:sp>
      </p:grpSp>
      <p:grpSp>
        <p:nvGrpSpPr>
          <p:cNvPr id="40" name="Group 40"/>
          <p:cNvGrpSpPr/>
          <p:nvPr/>
        </p:nvGrpSpPr>
        <p:grpSpPr>
          <a:xfrm rot="0">
            <a:off x="9616973" y="7543800"/>
            <a:ext cx="3402597" cy="1165860"/>
            <a:chOff x="0" y="0"/>
            <a:chExt cx="4536796" cy="1554480"/>
          </a:xfrm>
        </p:grpSpPr>
        <p:sp>
          <p:nvSpPr>
            <p:cNvPr id="41" name="Freeform 41"/>
            <p:cNvSpPr/>
            <p:nvPr/>
          </p:nvSpPr>
          <p:spPr>
            <a:xfrm>
              <a:off x="0" y="0"/>
              <a:ext cx="4536796" cy="1554480"/>
            </a:xfrm>
            <a:custGeom>
              <a:avLst/>
              <a:gdLst/>
              <a:ahLst/>
              <a:cxnLst/>
              <a:rect l="l" t="t" r="r" b="b"/>
              <a:pathLst>
                <a:path w="4536796" h="1554480">
                  <a:moveTo>
                    <a:pt x="0" y="0"/>
                  </a:moveTo>
                  <a:lnTo>
                    <a:pt x="4536796" y="0"/>
                  </a:lnTo>
                  <a:lnTo>
                    <a:pt x="4536796" y="1554480"/>
                  </a:lnTo>
                  <a:lnTo>
                    <a:pt x="0" y="1554480"/>
                  </a:lnTo>
                  <a:close/>
                </a:path>
              </a:pathLst>
            </a:custGeom>
            <a:blipFill>
              <a:blip r:embed="rId3">
                <a:alphaModFix amt="0"/>
              </a:blip>
              <a:stretch>
                <a:fillRect t="-6867" b="-6867"/>
              </a:stretch>
            </a:blipFill>
          </p:spPr>
          <p:txBody>
            <a:bodyPr/>
            <a:p/>
          </p:txBody>
        </p:sp>
        <p:sp>
          <p:nvSpPr>
            <p:cNvPr id="42" name="TextBox 42"/>
            <p:cNvSpPr txBox="1"/>
            <p:nvPr/>
          </p:nvSpPr>
          <p:spPr>
            <a:xfrm>
              <a:off x="0" y="-47625"/>
              <a:ext cx="4536796" cy="1602105"/>
            </a:xfrm>
            <a:prstGeom prst="rect">
              <a:avLst/>
            </a:prstGeom>
          </p:spPr>
          <p:txBody>
            <a:bodyPr lIns="0" tIns="0" rIns="0" bIns="0" rtlCol="0" anchor="ctr"/>
            <a:lstStyle/>
            <a:p>
              <a:pPr algn="ctr">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3 · Chọn cấu hình</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ctr">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trên val / dev (vd: epoch, cấu hình OCR)</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grpSp>
        <p:nvGrpSpPr>
          <p:cNvPr id="43" name="Group 43"/>
          <p:cNvGrpSpPr/>
          <p:nvPr/>
        </p:nvGrpSpPr>
        <p:grpSpPr>
          <a:xfrm rot="0">
            <a:off x="13243217" y="7918323"/>
            <a:ext cx="499110" cy="430530"/>
            <a:chOff x="0" y="0"/>
            <a:chExt cx="665480" cy="574040"/>
          </a:xfrm>
        </p:grpSpPr>
        <p:sp>
          <p:nvSpPr>
            <p:cNvPr id="44" name="Freeform 44"/>
            <p:cNvSpPr/>
            <p:nvPr/>
          </p:nvSpPr>
          <p:spPr>
            <a:xfrm>
              <a:off x="0" y="0"/>
              <a:ext cx="665480" cy="574040"/>
            </a:xfrm>
            <a:custGeom>
              <a:avLst/>
              <a:gdLst/>
              <a:ahLst/>
              <a:cxnLst/>
              <a:rect l="l" t="t" r="r" b="b"/>
              <a:pathLst>
                <a:path w="665480" h="574040">
                  <a:moveTo>
                    <a:pt x="0" y="143510"/>
                  </a:moveTo>
                  <a:lnTo>
                    <a:pt x="378460" y="143510"/>
                  </a:lnTo>
                  <a:lnTo>
                    <a:pt x="378460" y="0"/>
                  </a:lnTo>
                  <a:lnTo>
                    <a:pt x="665480" y="287020"/>
                  </a:lnTo>
                  <a:lnTo>
                    <a:pt x="378460" y="574040"/>
                  </a:lnTo>
                  <a:lnTo>
                    <a:pt x="378460" y="430530"/>
                  </a:lnTo>
                  <a:lnTo>
                    <a:pt x="0" y="430530"/>
                  </a:lnTo>
                  <a:close/>
                </a:path>
              </a:pathLst>
            </a:custGeom>
            <a:solidFill>
              <a:srgbClr val="1C7293"/>
            </a:solidFill>
            <a:ln w="19050" cap="sq">
              <a:solidFill>
                <a:srgbClr val="1C7293"/>
              </a:solidFill>
              <a:prstDash val="solid"/>
              <a:miter/>
            </a:ln>
          </p:spPr>
          <p:txBody>
            <a:bodyPr/>
            <a:p/>
          </p:txBody>
        </p:sp>
      </p:grpSp>
      <p:grpSp>
        <p:nvGrpSpPr>
          <p:cNvPr id="45" name="Group 45"/>
          <p:cNvGrpSpPr/>
          <p:nvPr/>
        </p:nvGrpSpPr>
        <p:grpSpPr>
          <a:xfrm rot="0">
            <a:off x="13860437" y="7534275"/>
            <a:ext cx="3613671" cy="1184910"/>
            <a:chOff x="0" y="0"/>
            <a:chExt cx="4818228" cy="1579880"/>
          </a:xfrm>
        </p:grpSpPr>
        <p:sp>
          <p:nvSpPr>
            <p:cNvPr id="46" name="Freeform 46"/>
            <p:cNvSpPr/>
            <p:nvPr/>
          </p:nvSpPr>
          <p:spPr>
            <a:xfrm>
              <a:off x="0" y="0"/>
              <a:ext cx="4818253" cy="1579880"/>
            </a:xfrm>
            <a:custGeom>
              <a:avLst/>
              <a:gdLst/>
              <a:ahLst/>
              <a:cxnLst/>
              <a:rect l="l" t="t" r="r" b="b"/>
              <a:pathLst>
                <a:path w="4818253" h="1579880">
                  <a:moveTo>
                    <a:pt x="0" y="168529"/>
                  </a:moveTo>
                  <a:cubicBezTo>
                    <a:pt x="0" y="75438"/>
                    <a:pt x="75438" y="0"/>
                    <a:pt x="168529" y="0"/>
                  </a:cubicBezTo>
                  <a:lnTo>
                    <a:pt x="4649724" y="0"/>
                  </a:lnTo>
                  <a:cubicBezTo>
                    <a:pt x="4742815" y="0"/>
                    <a:pt x="4818253" y="75438"/>
                    <a:pt x="4818253" y="168529"/>
                  </a:cubicBezTo>
                  <a:lnTo>
                    <a:pt x="4818253" y="1411351"/>
                  </a:lnTo>
                  <a:cubicBezTo>
                    <a:pt x="4818253" y="1504442"/>
                    <a:pt x="4742815" y="1579880"/>
                    <a:pt x="4649724" y="1579880"/>
                  </a:cubicBezTo>
                  <a:lnTo>
                    <a:pt x="168529" y="1579880"/>
                  </a:lnTo>
                  <a:cubicBezTo>
                    <a:pt x="75438" y="1579880"/>
                    <a:pt x="0" y="1504442"/>
                    <a:pt x="0" y="1411351"/>
                  </a:cubicBezTo>
                  <a:close/>
                </a:path>
              </a:pathLst>
            </a:custGeom>
            <a:solidFill>
              <a:srgbClr val="FBF0DA"/>
            </a:solidFill>
            <a:ln w="19050" cap="sq">
              <a:solidFill>
                <a:srgbClr val="E8A33D"/>
              </a:solidFill>
              <a:prstDash val="solid"/>
              <a:miter/>
            </a:ln>
          </p:spPr>
          <p:txBody>
            <a:bodyPr/>
            <a:p/>
          </p:txBody>
        </p:sp>
      </p:grpSp>
      <p:grpSp>
        <p:nvGrpSpPr>
          <p:cNvPr id="47" name="Group 47"/>
          <p:cNvGrpSpPr/>
          <p:nvPr/>
        </p:nvGrpSpPr>
        <p:grpSpPr>
          <a:xfrm rot="0">
            <a:off x="13965974" y="7543800"/>
            <a:ext cx="3402597" cy="1165860"/>
            <a:chOff x="0" y="0"/>
            <a:chExt cx="4536796" cy="1554480"/>
          </a:xfrm>
        </p:grpSpPr>
        <p:sp>
          <p:nvSpPr>
            <p:cNvPr id="48" name="Freeform 48"/>
            <p:cNvSpPr/>
            <p:nvPr/>
          </p:nvSpPr>
          <p:spPr>
            <a:xfrm>
              <a:off x="0" y="0"/>
              <a:ext cx="4536796" cy="1554480"/>
            </a:xfrm>
            <a:custGeom>
              <a:avLst/>
              <a:gdLst/>
              <a:ahLst/>
              <a:cxnLst/>
              <a:rect l="l" t="t" r="r" b="b"/>
              <a:pathLst>
                <a:path w="4536796" h="1554480">
                  <a:moveTo>
                    <a:pt x="0" y="0"/>
                  </a:moveTo>
                  <a:lnTo>
                    <a:pt x="4536796" y="0"/>
                  </a:lnTo>
                  <a:lnTo>
                    <a:pt x="4536796" y="1554480"/>
                  </a:lnTo>
                  <a:lnTo>
                    <a:pt x="0" y="1554480"/>
                  </a:lnTo>
                  <a:close/>
                </a:path>
              </a:pathLst>
            </a:custGeom>
            <a:blipFill>
              <a:blip r:embed="rId3">
                <a:alphaModFix amt="0"/>
              </a:blip>
              <a:stretch>
                <a:fillRect t="-6867" b="-6867"/>
              </a:stretch>
            </a:blipFill>
          </p:spPr>
          <p:txBody>
            <a:bodyPr/>
            <a:p/>
          </p:txBody>
        </p:sp>
        <p:sp>
          <p:nvSpPr>
            <p:cNvPr id="49" name="TextBox 49"/>
            <p:cNvSpPr txBox="1"/>
            <p:nvPr/>
          </p:nvSpPr>
          <p:spPr>
            <a:xfrm>
              <a:off x="0" y="-47625"/>
              <a:ext cx="4536796" cy="1602105"/>
            </a:xfrm>
            <a:prstGeom prst="rect">
              <a:avLst/>
            </a:prstGeom>
          </p:spPr>
          <p:txBody>
            <a:bodyPr lIns="0" tIns="0" rIns="0" bIns="0" rtlCol="0" anchor="ctr"/>
            <a:lstStyle/>
            <a:p>
              <a:pPr algn="ctr">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4 · Báo cáo</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ctr">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trên test — không dùng để chọn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grpSp>
        <p:nvGrpSpPr>
          <p:cNvPr id="50" name="Group 50"/>
          <p:cNvGrpSpPr/>
          <p:nvPr/>
        </p:nvGrpSpPr>
        <p:grpSpPr>
          <a:xfrm rot="0">
            <a:off x="1220152" y="5842444"/>
            <a:ext cx="5232492" cy="467487"/>
            <a:chOff x="0" y="0"/>
            <a:chExt cx="6976656" cy="623316"/>
          </a:xfrm>
        </p:grpSpPr>
        <p:sp>
          <p:nvSpPr>
            <p:cNvPr id="51" name="Freeform 51"/>
            <p:cNvSpPr/>
            <p:nvPr/>
          </p:nvSpPr>
          <p:spPr>
            <a:xfrm>
              <a:off x="0" y="0"/>
              <a:ext cx="6976618" cy="623316"/>
            </a:xfrm>
            <a:custGeom>
              <a:avLst/>
              <a:gdLst/>
              <a:ahLst/>
              <a:cxnLst/>
              <a:rect l="l" t="t" r="r" b="b"/>
              <a:pathLst>
                <a:path w="6976618" h="623316">
                  <a:moveTo>
                    <a:pt x="0" y="0"/>
                  </a:moveTo>
                  <a:lnTo>
                    <a:pt x="6976618" y="0"/>
                  </a:lnTo>
                  <a:lnTo>
                    <a:pt x="6976618" y="623316"/>
                  </a:lnTo>
                  <a:lnTo>
                    <a:pt x="0" y="623316"/>
                  </a:lnTo>
                  <a:close/>
                </a:path>
              </a:pathLst>
            </a:custGeom>
            <a:solidFill>
              <a:srgbClr val="13294B"/>
            </a:solidFill>
            <a:ln w="28575" cap="sq">
              <a:solidFill>
                <a:srgbClr val="FFFFFF"/>
              </a:solidFill>
              <a:prstDash val="solid"/>
              <a:miter/>
            </a:ln>
          </p:spPr>
          <p:txBody>
            <a:bodyPr/>
            <a:p/>
          </p:txBody>
        </p:sp>
        <p:sp>
          <p:nvSpPr>
            <p:cNvPr id="52" name="TextBox 52"/>
            <p:cNvSpPr txBox="1"/>
            <p:nvPr/>
          </p:nvSpPr>
          <p:spPr>
            <a:xfrm>
              <a:off x="0" y="-28575"/>
              <a:ext cx="6976656" cy="651891"/>
            </a:xfrm>
            <a:prstGeom prst="rect">
              <a:avLst/>
            </a:prstGeom>
          </p:spPr>
          <p:txBody>
            <a:bodyPr lIns="50800" tIns="50800" rIns="50800" bIns="50800" rtlCol="0" anchor="ctr"/>
            <a:lstStyle/>
            <a:p>
              <a:pPr algn="ctr">
                <a:lnSpc>
                  <a:spcPts val="1980"/>
                </a:lnSpc>
              </a:pPr>
              <a:r>
                <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train 72%</a:t>
              </a:r>
              <a:endPar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53" name="Group 53"/>
          <p:cNvGrpSpPr/>
          <p:nvPr/>
        </p:nvGrpSpPr>
        <p:grpSpPr>
          <a:xfrm rot="0">
            <a:off x="6424070" y="5842444"/>
            <a:ext cx="606838" cy="467487"/>
            <a:chOff x="0" y="0"/>
            <a:chExt cx="809117" cy="623316"/>
          </a:xfrm>
        </p:grpSpPr>
        <p:sp>
          <p:nvSpPr>
            <p:cNvPr id="54" name="Freeform 54"/>
            <p:cNvSpPr/>
            <p:nvPr/>
          </p:nvSpPr>
          <p:spPr>
            <a:xfrm>
              <a:off x="0" y="0"/>
              <a:ext cx="809117" cy="623316"/>
            </a:xfrm>
            <a:custGeom>
              <a:avLst/>
              <a:gdLst/>
              <a:ahLst/>
              <a:cxnLst/>
              <a:rect l="l" t="t" r="r" b="b"/>
              <a:pathLst>
                <a:path w="809117" h="623316">
                  <a:moveTo>
                    <a:pt x="0" y="0"/>
                  </a:moveTo>
                  <a:lnTo>
                    <a:pt x="809117" y="0"/>
                  </a:lnTo>
                  <a:lnTo>
                    <a:pt x="809117" y="623316"/>
                  </a:lnTo>
                  <a:lnTo>
                    <a:pt x="0" y="623316"/>
                  </a:lnTo>
                  <a:close/>
                </a:path>
              </a:pathLst>
            </a:custGeom>
            <a:solidFill>
              <a:srgbClr val="E8A33D"/>
            </a:solidFill>
            <a:ln w="28575" cap="sq">
              <a:solidFill>
                <a:srgbClr val="FFFFFF"/>
              </a:solidFill>
              <a:prstDash val="solid"/>
              <a:miter/>
            </a:ln>
          </p:spPr>
          <p:txBody>
            <a:bodyPr/>
            <a:p/>
          </p:txBody>
        </p:sp>
        <p:sp>
          <p:nvSpPr>
            <p:cNvPr id="55" name="TextBox 55"/>
            <p:cNvSpPr txBox="1"/>
            <p:nvPr/>
          </p:nvSpPr>
          <p:spPr>
            <a:xfrm>
              <a:off x="0" y="-28575"/>
              <a:ext cx="809117" cy="651891"/>
            </a:xfrm>
            <a:prstGeom prst="rect">
              <a:avLst/>
            </a:prstGeom>
          </p:spPr>
          <p:txBody>
            <a:bodyPr lIns="50800" tIns="50800" rIns="50800" bIns="50800" rtlCol="0" anchor="ctr"/>
            <a:lstStyle/>
            <a:p>
              <a:pPr algn="ctr">
                <a:lnSpc>
                  <a:spcPts val="1620"/>
                </a:lnSpc>
              </a:pPr>
              <a:r>
                <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rPr>
                <a:t>val 8%</a:t>
              </a:r>
              <a:endPar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56" name="Group 56"/>
          <p:cNvGrpSpPr/>
          <p:nvPr/>
        </p:nvGrpSpPr>
        <p:grpSpPr>
          <a:xfrm rot="0">
            <a:off x="7002332" y="5842444"/>
            <a:ext cx="1474718" cy="467487"/>
            <a:chOff x="0" y="0"/>
            <a:chExt cx="1966290" cy="623316"/>
          </a:xfrm>
        </p:grpSpPr>
        <p:sp>
          <p:nvSpPr>
            <p:cNvPr id="57" name="Freeform 57"/>
            <p:cNvSpPr/>
            <p:nvPr/>
          </p:nvSpPr>
          <p:spPr>
            <a:xfrm>
              <a:off x="0" y="0"/>
              <a:ext cx="1966341" cy="623316"/>
            </a:xfrm>
            <a:custGeom>
              <a:avLst/>
              <a:gdLst/>
              <a:ahLst/>
              <a:cxnLst/>
              <a:rect l="l" t="t" r="r" b="b"/>
              <a:pathLst>
                <a:path w="1966341" h="623316">
                  <a:moveTo>
                    <a:pt x="0" y="0"/>
                  </a:moveTo>
                  <a:lnTo>
                    <a:pt x="1966341" y="0"/>
                  </a:lnTo>
                  <a:lnTo>
                    <a:pt x="1966341" y="623316"/>
                  </a:lnTo>
                  <a:lnTo>
                    <a:pt x="0" y="623316"/>
                  </a:lnTo>
                  <a:close/>
                </a:path>
              </a:pathLst>
            </a:custGeom>
            <a:solidFill>
              <a:srgbClr val="1C7293"/>
            </a:solidFill>
            <a:ln w="28575" cap="sq">
              <a:solidFill>
                <a:srgbClr val="FFFFFF"/>
              </a:solidFill>
              <a:prstDash val="solid"/>
              <a:miter/>
            </a:ln>
          </p:spPr>
          <p:txBody>
            <a:bodyPr/>
            <a:p/>
          </p:txBody>
        </p:sp>
        <p:sp>
          <p:nvSpPr>
            <p:cNvPr id="58" name="TextBox 58"/>
            <p:cNvSpPr txBox="1"/>
            <p:nvPr/>
          </p:nvSpPr>
          <p:spPr>
            <a:xfrm>
              <a:off x="0" y="-28575"/>
              <a:ext cx="1966290" cy="651891"/>
            </a:xfrm>
            <a:prstGeom prst="rect">
              <a:avLst/>
            </a:prstGeom>
          </p:spPr>
          <p:txBody>
            <a:bodyPr lIns="50800" tIns="50800" rIns="50800" bIns="50800" rtlCol="0" anchor="ctr"/>
            <a:lstStyle/>
            <a:p>
              <a:pPr algn="ctr">
                <a:lnSpc>
                  <a:spcPts val="1980"/>
                </a:lnSpc>
              </a:pPr>
              <a:r>
                <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rPr>
                <a:t>test 20%</a:t>
              </a:r>
              <a:endPar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59" name="Group 59"/>
          <p:cNvGrpSpPr/>
          <p:nvPr/>
        </p:nvGrpSpPr>
        <p:grpSpPr>
          <a:xfrm rot="0">
            <a:off x="9820084" y="5842444"/>
            <a:ext cx="5076863" cy="467487"/>
            <a:chOff x="0" y="0"/>
            <a:chExt cx="6769151" cy="623316"/>
          </a:xfrm>
        </p:grpSpPr>
        <p:sp>
          <p:nvSpPr>
            <p:cNvPr id="60" name="Freeform 60"/>
            <p:cNvSpPr/>
            <p:nvPr/>
          </p:nvSpPr>
          <p:spPr>
            <a:xfrm>
              <a:off x="0" y="0"/>
              <a:ext cx="6769100" cy="623316"/>
            </a:xfrm>
            <a:custGeom>
              <a:avLst/>
              <a:gdLst/>
              <a:ahLst/>
              <a:cxnLst/>
              <a:rect l="l" t="t" r="r" b="b"/>
              <a:pathLst>
                <a:path w="6769100" h="623316">
                  <a:moveTo>
                    <a:pt x="0" y="0"/>
                  </a:moveTo>
                  <a:lnTo>
                    <a:pt x="6769100" y="0"/>
                  </a:lnTo>
                  <a:lnTo>
                    <a:pt x="6769100" y="623316"/>
                  </a:lnTo>
                  <a:lnTo>
                    <a:pt x="0" y="623316"/>
                  </a:lnTo>
                  <a:close/>
                </a:path>
              </a:pathLst>
            </a:custGeom>
            <a:solidFill>
              <a:srgbClr val="13294B"/>
            </a:solidFill>
            <a:ln w="28575" cap="sq">
              <a:solidFill>
                <a:srgbClr val="FFFFFF"/>
              </a:solidFill>
              <a:prstDash val="solid"/>
              <a:miter/>
            </a:ln>
          </p:spPr>
          <p:txBody>
            <a:bodyPr/>
            <a:p/>
          </p:txBody>
        </p:sp>
        <p:sp>
          <p:nvSpPr>
            <p:cNvPr id="61" name="TextBox 61"/>
            <p:cNvSpPr txBox="1"/>
            <p:nvPr/>
          </p:nvSpPr>
          <p:spPr>
            <a:xfrm>
              <a:off x="0" y="-28575"/>
              <a:ext cx="6769151" cy="651891"/>
            </a:xfrm>
            <a:prstGeom prst="rect">
              <a:avLst/>
            </a:prstGeom>
          </p:spPr>
          <p:txBody>
            <a:bodyPr lIns="50800" tIns="50800" rIns="50800" bIns="50800" rtlCol="0" anchor="ctr"/>
            <a:lstStyle/>
            <a:p>
              <a:pPr algn="ctr">
                <a:lnSpc>
                  <a:spcPts val="1980"/>
                </a:lnSpc>
              </a:pPr>
              <a:r>
                <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train 70%</a:t>
              </a:r>
              <a:endPar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62" name="Group 62"/>
          <p:cNvGrpSpPr/>
          <p:nvPr/>
        </p:nvGrpSpPr>
        <p:grpSpPr>
          <a:xfrm rot="0">
            <a:off x="14868373" y="5842444"/>
            <a:ext cx="768753" cy="467487"/>
            <a:chOff x="0" y="0"/>
            <a:chExt cx="1025004" cy="623316"/>
          </a:xfrm>
        </p:grpSpPr>
        <p:sp>
          <p:nvSpPr>
            <p:cNvPr id="63" name="Freeform 63"/>
            <p:cNvSpPr/>
            <p:nvPr/>
          </p:nvSpPr>
          <p:spPr>
            <a:xfrm>
              <a:off x="0" y="0"/>
              <a:ext cx="1025017" cy="623316"/>
            </a:xfrm>
            <a:custGeom>
              <a:avLst/>
              <a:gdLst/>
              <a:ahLst/>
              <a:cxnLst/>
              <a:rect l="l" t="t" r="r" b="b"/>
              <a:pathLst>
                <a:path w="1025017" h="623316">
                  <a:moveTo>
                    <a:pt x="0" y="0"/>
                  </a:moveTo>
                  <a:lnTo>
                    <a:pt x="1025017" y="0"/>
                  </a:lnTo>
                  <a:lnTo>
                    <a:pt x="1025017" y="623316"/>
                  </a:lnTo>
                  <a:lnTo>
                    <a:pt x="0" y="623316"/>
                  </a:lnTo>
                  <a:close/>
                </a:path>
              </a:pathLst>
            </a:custGeom>
            <a:solidFill>
              <a:srgbClr val="E8A33D"/>
            </a:solidFill>
            <a:ln w="28575" cap="sq">
              <a:solidFill>
                <a:srgbClr val="FFFFFF"/>
              </a:solidFill>
              <a:prstDash val="solid"/>
              <a:miter/>
            </a:ln>
          </p:spPr>
          <p:txBody>
            <a:bodyPr/>
            <a:p/>
          </p:txBody>
        </p:sp>
        <p:sp>
          <p:nvSpPr>
            <p:cNvPr id="64" name="TextBox 64"/>
            <p:cNvSpPr txBox="1"/>
            <p:nvPr/>
          </p:nvSpPr>
          <p:spPr>
            <a:xfrm>
              <a:off x="0" y="-28575"/>
              <a:ext cx="1025004" cy="651891"/>
            </a:xfrm>
            <a:prstGeom prst="rect">
              <a:avLst/>
            </a:prstGeom>
          </p:spPr>
          <p:txBody>
            <a:bodyPr lIns="50800" tIns="50800" rIns="50800" bIns="50800" rtlCol="0" anchor="ctr"/>
            <a:lstStyle/>
            <a:p>
              <a:pPr algn="ctr">
                <a:lnSpc>
                  <a:spcPts val="1620"/>
                </a:lnSpc>
              </a:pPr>
              <a:r>
                <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rPr>
                <a:t>dev 10%</a:t>
              </a:r>
              <a:endPar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65" name="Group 65"/>
          <p:cNvGrpSpPr/>
          <p:nvPr/>
        </p:nvGrpSpPr>
        <p:grpSpPr>
          <a:xfrm rot="0">
            <a:off x="15608551" y="5842444"/>
            <a:ext cx="1468441" cy="467487"/>
            <a:chOff x="0" y="0"/>
            <a:chExt cx="1957921" cy="623316"/>
          </a:xfrm>
        </p:grpSpPr>
        <p:sp>
          <p:nvSpPr>
            <p:cNvPr id="66" name="Freeform 66"/>
            <p:cNvSpPr/>
            <p:nvPr/>
          </p:nvSpPr>
          <p:spPr>
            <a:xfrm>
              <a:off x="0" y="0"/>
              <a:ext cx="1957959" cy="623316"/>
            </a:xfrm>
            <a:custGeom>
              <a:avLst/>
              <a:gdLst/>
              <a:ahLst/>
              <a:cxnLst/>
              <a:rect l="l" t="t" r="r" b="b"/>
              <a:pathLst>
                <a:path w="1957959" h="623316">
                  <a:moveTo>
                    <a:pt x="0" y="0"/>
                  </a:moveTo>
                  <a:lnTo>
                    <a:pt x="1957959" y="0"/>
                  </a:lnTo>
                  <a:lnTo>
                    <a:pt x="1957959" y="623316"/>
                  </a:lnTo>
                  <a:lnTo>
                    <a:pt x="0" y="623316"/>
                  </a:lnTo>
                  <a:close/>
                </a:path>
              </a:pathLst>
            </a:custGeom>
            <a:solidFill>
              <a:srgbClr val="1C7293"/>
            </a:solidFill>
            <a:ln w="28575" cap="sq">
              <a:solidFill>
                <a:srgbClr val="FFFFFF"/>
              </a:solidFill>
              <a:prstDash val="solid"/>
              <a:miter/>
            </a:ln>
          </p:spPr>
          <p:txBody>
            <a:bodyPr/>
            <a:p/>
          </p:txBody>
        </p:sp>
        <p:sp>
          <p:nvSpPr>
            <p:cNvPr id="67" name="TextBox 67"/>
            <p:cNvSpPr txBox="1"/>
            <p:nvPr/>
          </p:nvSpPr>
          <p:spPr>
            <a:xfrm>
              <a:off x="0" y="-28575"/>
              <a:ext cx="1957921" cy="651891"/>
            </a:xfrm>
            <a:prstGeom prst="rect">
              <a:avLst/>
            </a:prstGeom>
          </p:spPr>
          <p:txBody>
            <a:bodyPr lIns="50800" tIns="50800" rIns="50800" bIns="50800" rtlCol="0" anchor="ctr"/>
            <a:lstStyle/>
            <a:p>
              <a:pPr algn="ctr">
                <a:lnSpc>
                  <a:spcPts val="1980"/>
                </a:lnSpc>
              </a:pPr>
              <a:r>
                <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rPr>
                <a:t>test 20%</a:t>
              </a:r>
              <a:endPar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08 · BASELINE &amp; QLoRA</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Baseline Qwen2.5-VL-3B và vì sao chỉ dùng QLoRA</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047875"/>
            <a:ext cx="7425690" cy="3790950"/>
            <a:chOff x="0" y="0"/>
            <a:chExt cx="9900920" cy="5054600"/>
          </a:xfrm>
        </p:grpSpPr>
        <p:sp>
          <p:nvSpPr>
            <p:cNvPr id="8" name="Freeform 8"/>
            <p:cNvSpPr/>
            <p:nvPr/>
          </p:nvSpPr>
          <p:spPr>
            <a:xfrm>
              <a:off x="0" y="0"/>
              <a:ext cx="9900920" cy="5054600"/>
            </a:xfrm>
            <a:custGeom>
              <a:avLst/>
              <a:gdLst/>
              <a:ahLst/>
              <a:cxnLst/>
              <a:rect l="l" t="t" r="r" b="b"/>
              <a:pathLst>
                <a:path w="9900920" h="5054600">
                  <a:moveTo>
                    <a:pt x="0" y="147066"/>
                  </a:moveTo>
                  <a:cubicBezTo>
                    <a:pt x="0" y="65786"/>
                    <a:pt x="65786" y="0"/>
                    <a:pt x="147066" y="0"/>
                  </a:cubicBezTo>
                  <a:lnTo>
                    <a:pt x="9753854" y="0"/>
                  </a:lnTo>
                  <a:cubicBezTo>
                    <a:pt x="9835007" y="0"/>
                    <a:pt x="9900920" y="65786"/>
                    <a:pt x="9900920" y="147066"/>
                  </a:cubicBezTo>
                  <a:lnTo>
                    <a:pt x="9900920" y="4907534"/>
                  </a:lnTo>
                  <a:cubicBezTo>
                    <a:pt x="9900920" y="4988687"/>
                    <a:pt x="9835135" y="5054600"/>
                    <a:pt x="9753854" y="5054600"/>
                  </a:cubicBezTo>
                  <a:lnTo>
                    <a:pt x="147066" y="5054600"/>
                  </a:lnTo>
                  <a:cubicBezTo>
                    <a:pt x="65786" y="5054600"/>
                    <a:pt x="0" y="4988814"/>
                    <a:pt x="0" y="4907534"/>
                  </a:cubicBezTo>
                  <a:close/>
                </a:path>
              </a:pathLst>
            </a:custGeom>
            <a:solidFill>
              <a:srgbClr val="F3F5F8"/>
            </a:solidFill>
            <a:ln w="19050" cap="sq">
              <a:solidFill>
                <a:srgbClr val="F3F5F8"/>
              </a:solidFill>
              <a:prstDash val="solid"/>
              <a:miter/>
            </a:ln>
          </p:spPr>
          <p:txBody>
            <a:bodyPr/>
            <a:p/>
          </p:txBody>
        </p:sp>
      </p:grpSp>
      <p:sp>
        <p:nvSpPr>
          <p:cNvPr id="9" name="TextBox 9"/>
          <p:cNvSpPr txBox="1"/>
          <p:nvPr/>
        </p:nvSpPr>
        <p:spPr>
          <a:xfrm>
            <a:off x="1165860" y="2137410"/>
            <a:ext cx="6720840" cy="60579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QLoRA hoạt động thế nào</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1165860" y="2764155"/>
            <a:ext cx="6720840" cy="2653665"/>
          </a:xfrm>
          <a:prstGeom prst="rect">
            <a:avLst/>
          </a:prstGeom>
        </p:spPr>
        <p:txBody>
          <a:bodyPr lIns="0" tIns="0" rIns="0" bIns="0" rtlCol="0" anchor="t">
            <a:spAutoFit/>
          </a:bodyPr>
          <a:lstStyle/>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Trọng số gốc nén 4-bit NF4 và đóng băng</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Mỗi lớp đích gắn hai ma trận nhỏ A·B (hạng r); chỉ A và B được train</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Kết quả: adapter ~30 MB gắn lên model gốc khi suy luận</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1" name="TextBox 11"/>
          <p:cNvSpPr txBox="1"/>
          <p:nvPr/>
        </p:nvSpPr>
        <p:spPr>
          <a:xfrm>
            <a:off x="1165860" y="5242560"/>
            <a:ext cx="6720840" cy="449580"/>
          </a:xfrm>
          <a:prstGeom prst="rect">
            <a:avLst/>
          </a:prstGeom>
        </p:spPr>
        <p:txBody>
          <a:bodyPr lIns="0" tIns="0" rIns="0" bIns="0" rtlCol="0" anchor="t">
            <a:spAutoFit/>
          </a:bodyPr>
          <a:lstStyle/>
          <a:p>
            <a:pPr algn="l">
              <a:lnSpc>
                <a:spcPts val="1800"/>
              </a:lnSpc>
            </a:pPr>
            <a:r>
              <a:rPr lang="en-US" sz="15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Hu et al., LoRA, ICLR 2022 · Dettmers et al., QLoRA, NeurIPS 2023</a:t>
            </a:r>
            <a:endParaRPr lang="en-US" sz="15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nvGrpSpPr>
          <p:cNvPr id="12" name="Group 12"/>
          <p:cNvGrpSpPr/>
          <p:nvPr/>
        </p:nvGrpSpPr>
        <p:grpSpPr>
          <a:xfrm rot="0">
            <a:off x="813435" y="6094095"/>
            <a:ext cx="7425690" cy="3310890"/>
            <a:chOff x="0" y="0"/>
            <a:chExt cx="9900920" cy="4414520"/>
          </a:xfrm>
        </p:grpSpPr>
        <p:sp>
          <p:nvSpPr>
            <p:cNvPr id="13" name="Freeform 13"/>
            <p:cNvSpPr/>
            <p:nvPr/>
          </p:nvSpPr>
          <p:spPr>
            <a:xfrm>
              <a:off x="0" y="0"/>
              <a:ext cx="9900920" cy="4414520"/>
            </a:xfrm>
            <a:custGeom>
              <a:avLst/>
              <a:gdLst/>
              <a:ahLst/>
              <a:cxnLst/>
              <a:rect l="l" t="t" r="r" b="b"/>
              <a:pathLst>
                <a:path w="9900920" h="4414520">
                  <a:moveTo>
                    <a:pt x="0" y="147193"/>
                  </a:moveTo>
                  <a:cubicBezTo>
                    <a:pt x="0" y="65913"/>
                    <a:pt x="65913" y="0"/>
                    <a:pt x="147193" y="0"/>
                  </a:cubicBezTo>
                  <a:lnTo>
                    <a:pt x="9753727" y="0"/>
                  </a:lnTo>
                  <a:cubicBezTo>
                    <a:pt x="9835007" y="0"/>
                    <a:pt x="9900920" y="65913"/>
                    <a:pt x="9900920" y="147193"/>
                  </a:cubicBezTo>
                  <a:lnTo>
                    <a:pt x="9900920" y="4267327"/>
                  </a:lnTo>
                  <a:cubicBezTo>
                    <a:pt x="9900920" y="4348607"/>
                    <a:pt x="9835007" y="4414520"/>
                    <a:pt x="9753727" y="4414520"/>
                  </a:cubicBezTo>
                  <a:lnTo>
                    <a:pt x="147193" y="4414520"/>
                  </a:lnTo>
                  <a:cubicBezTo>
                    <a:pt x="65913" y="4414520"/>
                    <a:pt x="0" y="4348607"/>
                    <a:pt x="0" y="4267327"/>
                  </a:cubicBezTo>
                  <a:close/>
                </a:path>
              </a:pathLst>
            </a:custGeom>
            <a:solidFill>
              <a:srgbClr val="FBF0DA"/>
            </a:solidFill>
            <a:ln w="19050" cap="sq">
              <a:solidFill>
                <a:srgbClr val="FBF0DA"/>
              </a:solidFill>
              <a:prstDash val="solid"/>
              <a:miter/>
            </a:ln>
          </p:spPr>
          <p:txBody>
            <a:bodyPr/>
            <a:p/>
          </p:txBody>
        </p:sp>
      </p:grpSp>
      <p:sp>
        <p:nvSpPr>
          <p:cNvPr id="14" name="TextBox 14"/>
          <p:cNvSpPr txBox="1"/>
          <p:nvPr/>
        </p:nvSpPr>
        <p:spPr>
          <a:xfrm>
            <a:off x="1165860" y="6183630"/>
            <a:ext cx="6720840" cy="60579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Vì sao chỉ QLoRA (không so LoRA với QLoRA)</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1165860" y="6810375"/>
            <a:ext cx="6720840" cy="2516505"/>
          </a:xfrm>
          <a:prstGeom prst="rect">
            <a:avLst/>
          </a:prstGeom>
        </p:spPr>
        <p:txBody>
          <a:bodyPr lIns="0" tIns="0" rIns="0" bIns="0" rtlCol="0" anchor="t">
            <a:spAutoFit/>
          </a:bodyPr>
          <a:lstStyle/>
          <a:p>
            <a:pPr algn="l">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Trọng số 3B ở 16-bit ~7–8 GB chưa tính activation của ảnh; ở 4-bit ~2–3 GB. Lúc Review 1 GPU là Colab T4 (16 GB, không bf16); từ W7 là L4 (24 GB). QLoRA là điều kiện để chạy được, không phải biến so sánh — phép so dùng để kết luận chỉ là QLoRA so với zero-shot trên cùng model.</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aphicFrame>
        <p:nvGraphicFramePr>
          <p:cNvPr id="16" name="Table 16"/>
          <p:cNvGraphicFramePr>
            <a:graphicFrameLocks noGrp="1"/>
          </p:cNvGraphicFramePr>
          <p:nvPr/>
        </p:nvGraphicFramePr>
        <p:xfrm>
          <a:off x="8778240" y="2057400"/>
          <a:ext cx="8648700" cy="4857750"/>
        </p:xfrm>
        <a:graphic>
          <a:graphicData uri="http://schemas.openxmlformats.org/drawingml/2006/table">
            <a:tbl>
              <a:tblPr/>
              <a:tblGrid>
                <a:gridCol w="2935640"/>
                <a:gridCol w="3476564"/>
                <a:gridCol w="2236495"/>
              </a:tblGrid>
              <a:tr h="97155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Mô hình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Vai trò</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Dùng để kết luận cải tiến?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97155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Qwen2.5-VL-3B-Instruct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Baseline tái lập + nền của phương pháp đề xuất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Có — cùng model, split, seed, phần cứng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97155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Qwen2-VL-7B-Instruct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Ablation backbone, zero-shot (slide 27)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Không — khác thế hệ và kích thước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97155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Florence-2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Dự phòng nếu baseline lỗi (không kích hoạt)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Không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97155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BLIP-2 · PreSTU · ViTextBLIP-2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Công trình trước — số từ paper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Không — chỉ định vị</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17" name="Group 17"/>
          <p:cNvGrpSpPr/>
          <p:nvPr/>
        </p:nvGrpSpPr>
        <p:grpSpPr>
          <a:xfrm rot="0">
            <a:off x="8768715" y="7328535"/>
            <a:ext cx="8705393" cy="2076450"/>
            <a:chOff x="0" y="0"/>
            <a:chExt cx="11607190" cy="2768600"/>
          </a:xfrm>
        </p:grpSpPr>
        <p:sp>
          <p:nvSpPr>
            <p:cNvPr id="18" name="Freeform 18"/>
            <p:cNvSpPr/>
            <p:nvPr/>
          </p:nvSpPr>
          <p:spPr>
            <a:xfrm>
              <a:off x="0" y="0"/>
              <a:ext cx="11607292" cy="2768600"/>
            </a:xfrm>
            <a:custGeom>
              <a:avLst/>
              <a:gdLst/>
              <a:ahLst/>
              <a:cxnLst/>
              <a:rect l="l" t="t" r="r" b="b"/>
              <a:pathLst>
                <a:path w="11607292" h="2768600">
                  <a:moveTo>
                    <a:pt x="0" y="147701"/>
                  </a:moveTo>
                  <a:cubicBezTo>
                    <a:pt x="0" y="66167"/>
                    <a:pt x="66167" y="0"/>
                    <a:pt x="147701" y="0"/>
                  </a:cubicBezTo>
                  <a:lnTo>
                    <a:pt x="11459591" y="0"/>
                  </a:lnTo>
                  <a:cubicBezTo>
                    <a:pt x="11541125" y="0"/>
                    <a:pt x="11607292" y="66167"/>
                    <a:pt x="11607292" y="147701"/>
                  </a:cubicBezTo>
                  <a:lnTo>
                    <a:pt x="11607292" y="2620899"/>
                  </a:lnTo>
                  <a:cubicBezTo>
                    <a:pt x="11607292" y="2702433"/>
                    <a:pt x="11541125" y="2768600"/>
                    <a:pt x="11459591" y="2768600"/>
                  </a:cubicBezTo>
                  <a:lnTo>
                    <a:pt x="147701" y="2768600"/>
                  </a:lnTo>
                  <a:cubicBezTo>
                    <a:pt x="66167" y="2768600"/>
                    <a:pt x="0" y="2702433"/>
                    <a:pt x="0" y="2620899"/>
                  </a:cubicBezTo>
                  <a:close/>
                </a:path>
              </a:pathLst>
            </a:custGeom>
            <a:solidFill>
              <a:srgbClr val="E7F0F3"/>
            </a:solidFill>
            <a:ln w="19050" cap="sq">
              <a:solidFill>
                <a:srgbClr val="E7F0F3"/>
              </a:solidFill>
              <a:prstDash val="solid"/>
              <a:miter/>
            </a:ln>
          </p:spPr>
          <p:txBody>
            <a:bodyPr/>
            <a:p/>
          </p:txBody>
        </p:sp>
      </p:grpSp>
      <p:grpSp>
        <p:nvGrpSpPr>
          <p:cNvPr id="19" name="Group 19"/>
          <p:cNvGrpSpPr/>
          <p:nvPr/>
        </p:nvGrpSpPr>
        <p:grpSpPr>
          <a:xfrm rot="0">
            <a:off x="9189720" y="7338060"/>
            <a:ext cx="7863383" cy="2057400"/>
            <a:chOff x="0" y="0"/>
            <a:chExt cx="10484510" cy="2743200"/>
          </a:xfrm>
        </p:grpSpPr>
        <p:sp>
          <p:nvSpPr>
            <p:cNvPr id="20" name="Freeform 20"/>
            <p:cNvSpPr/>
            <p:nvPr/>
          </p:nvSpPr>
          <p:spPr>
            <a:xfrm>
              <a:off x="0" y="0"/>
              <a:ext cx="10484510" cy="2743200"/>
            </a:xfrm>
            <a:custGeom>
              <a:avLst/>
              <a:gdLst/>
              <a:ahLst/>
              <a:cxnLst/>
              <a:rect l="l" t="t" r="r" b="b"/>
              <a:pathLst>
                <a:path w="10484510" h="2743200">
                  <a:moveTo>
                    <a:pt x="0" y="0"/>
                  </a:moveTo>
                  <a:lnTo>
                    <a:pt x="10484510" y="0"/>
                  </a:lnTo>
                  <a:lnTo>
                    <a:pt x="10484510" y="2743200"/>
                  </a:lnTo>
                  <a:lnTo>
                    <a:pt x="0" y="2743200"/>
                  </a:lnTo>
                  <a:close/>
                </a:path>
              </a:pathLst>
            </a:custGeom>
            <a:blipFill>
              <a:blip r:embed="rId1">
                <a:alphaModFix amt="0"/>
              </a:blip>
              <a:stretch>
                <a:fillRect t="-24471" b="-24471"/>
              </a:stretch>
            </a:blipFill>
          </p:spPr>
          <p:txBody>
            <a:bodyPr/>
            <a:p/>
          </p:txBody>
        </p:sp>
        <p:sp>
          <p:nvSpPr>
            <p:cNvPr id="21" name="TextBox 21"/>
            <p:cNvSpPr txBox="1"/>
            <p:nvPr/>
          </p:nvSpPr>
          <p:spPr>
            <a:xfrm>
              <a:off x="0" y="-38100"/>
              <a:ext cx="10484510" cy="2781300"/>
            </a:xfrm>
            <a:prstGeom prst="rect">
              <a:avLst/>
            </a:prstGeom>
          </p:spPr>
          <p:txBody>
            <a:bodyPr lIns="0" tIns="0" rIns="0" bIns="0" rtlCol="0" anchor="ctr"/>
            <a:lstStyle/>
            <a:p>
              <a:pPr algn="l">
                <a:lnSpc>
                  <a:spcPts val="2430"/>
                </a:lnSpc>
              </a:pPr>
              <a:r>
                <a:rPr lang="en-US" sz="2025">
                  <a:solidFill>
                    <a:srgbClr val="13294B"/>
                  </a:solidFill>
                  <a:latin typeface="Calibri (MS)" panose="020F0502020204030204"/>
                  <a:ea typeface="Calibri (MS)" panose="020F0502020204030204"/>
                  <a:cs typeface="Calibri (MS)" panose="020F0502020204030204"/>
                  <a:sym typeface="Calibri (MS)" panose="020F0502020204030204"/>
                </a:rPr>
                <a:t>Nguyên tắc: chỉ kết luận “cải thiện” khi cùng backbone, kích thước, split, seed và phần cứng. So mô hình khác thế hệ hay kích thước không đo được hiệu quả của phương pháp.</a:t>
              </a:r>
              <a:endParaRPr lang="en-US" sz="2025">
                <a:solidFill>
                  <a:srgbClr val="13294B"/>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09 · PHƯƠNG PHÁP ĐỀ XUẤT</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Một phương pháp đề xuất, pipeline 8 bước</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1883283"/>
            <a:ext cx="16656558" cy="924306"/>
            <a:chOff x="0" y="0"/>
            <a:chExt cx="22208744" cy="1232408"/>
          </a:xfrm>
        </p:grpSpPr>
        <p:sp>
          <p:nvSpPr>
            <p:cNvPr id="8" name="Freeform 8"/>
            <p:cNvSpPr/>
            <p:nvPr/>
          </p:nvSpPr>
          <p:spPr>
            <a:xfrm>
              <a:off x="0" y="0"/>
              <a:ext cx="22208744" cy="1232408"/>
            </a:xfrm>
            <a:custGeom>
              <a:avLst/>
              <a:gdLst/>
              <a:ahLst/>
              <a:cxnLst/>
              <a:rect l="l" t="t" r="r" b="b"/>
              <a:pathLst>
                <a:path w="22208744" h="1232408">
                  <a:moveTo>
                    <a:pt x="0" y="147828"/>
                  </a:moveTo>
                  <a:cubicBezTo>
                    <a:pt x="0" y="66167"/>
                    <a:pt x="66167" y="0"/>
                    <a:pt x="147828" y="0"/>
                  </a:cubicBezTo>
                  <a:lnTo>
                    <a:pt x="22060915" y="0"/>
                  </a:lnTo>
                  <a:cubicBezTo>
                    <a:pt x="22142577" y="0"/>
                    <a:pt x="22208744" y="66167"/>
                    <a:pt x="22208744" y="147828"/>
                  </a:cubicBezTo>
                  <a:lnTo>
                    <a:pt x="22208744" y="1084580"/>
                  </a:lnTo>
                  <a:cubicBezTo>
                    <a:pt x="22208744" y="1166241"/>
                    <a:pt x="22142577" y="1232408"/>
                    <a:pt x="22060915" y="1232408"/>
                  </a:cubicBezTo>
                  <a:lnTo>
                    <a:pt x="147828" y="1232408"/>
                  </a:lnTo>
                  <a:cubicBezTo>
                    <a:pt x="66167" y="1232408"/>
                    <a:pt x="0" y="1166241"/>
                    <a:pt x="0" y="1084580"/>
                  </a:cubicBezTo>
                  <a:close/>
                </a:path>
              </a:pathLst>
            </a:custGeom>
            <a:solidFill>
              <a:srgbClr val="FBF0DA"/>
            </a:solidFill>
            <a:ln w="19050" cap="sq">
              <a:solidFill>
                <a:srgbClr val="FBF0DA"/>
              </a:solidFill>
              <a:prstDash val="solid"/>
              <a:miter/>
            </a:ln>
          </p:spPr>
          <p:txBody>
            <a:bodyPr/>
            <a:p/>
          </p:txBody>
        </p:sp>
      </p:grpSp>
      <p:grpSp>
        <p:nvGrpSpPr>
          <p:cNvPr id="9" name="Group 9"/>
          <p:cNvGrpSpPr/>
          <p:nvPr/>
        </p:nvGrpSpPr>
        <p:grpSpPr>
          <a:xfrm rot="0">
            <a:off x="1165860" y="1892808"/>
            <a:ext cx="16047720" cy="905256"/>
            <a:chOff x="0" y="0"/>
            <a:chExt cx="21396960" cy="1207008"/>
          </a:xfrm>
        </p:grpSpPr>
        <p:sp>
          <p:nvSpPr>
            <p:cNvPr id="10" name="Freeform 10"/>
            <p:cNvSpPr/>
            <p:nvPr/>
          </p:nvSpPr>
          <p:spPr>
            <a:xfrm>
              <a:off x="0" y="0"/>
              <a:ext cx="21396961" cy="1207008"/>
            </a:xfrm>
            <a:custGeom>
              <a:avLst/>
              <a:gdLst/>
              <a:ahLst/>
              <a:cxnLst/>
              <a:rect l="l" t="t" r="r" b="b"/>
              <a:pathLst>
                <a:path w="21396961" h="1207008">
                  <a:moveTo>
                    <a:pt x="0" y="0"/>
                  </a:moveTo>
                  <a:lnTo>
                    <a:pt x="21396961" y="0"/>
                  </a:lnTo>
                  <a:lnTo>
                    <a:pt x="21396961" y="1207008"/>
                  </a:lnTo>
                  <a:lnTo>
                    <a:pt x="0" y="1207008"/>
                  </a:lnTo>
                  <a:close/>
                </a:path>
              </a:pathLst>
            </a:custGeom>
            <a:blipFill>
              <a:blip r:embed="rId1">
                <a:alphaModFix amt="0"/>
              </a:blip>
              <a:stretch>
                <a:fillRect t="-295416" b="-295416"/>
              </a:stretch>
            </a:blipFill>
          </p:spPr>
          <p:txBody>
            <a:bodyPr/>
            <a:p/>
          </p:txBody>
        </p:sp>
        <p:sp>
          <p:nvSpPr>
            <p:cNvPr id="11" name="TextBox 11"/>
            <p:cNvSpPr txBox="1"/>
            <p:nvPr/>
          </p:nvSpPr>
          <p:spPr>
            <a:xfrm>
              <a:off x="0" y="-47625"/>
              <a:ext cx="21396960" cy="1254633"/>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Phương pháp đề xuất  </a:t>
              </a:r>
              <a:r>
                <a:rPr lang="en-US" sz="1950">
                  <a:solidFill>
                    <a:srgbClr val="1F2A37"/>
                  </a:solidFill>
                  <a:latin typeface="Calibri (MS)" panose="020F0502020204030204"/>
                  <a:ea typeface="Calibri (MS)" panose="020F0502020204030204"/>
                  <a:cs typeface="Calibri (MS)" panose="020F0502020204030204"/>
                  <a:sym typeface="Calibri (MS)" panose="020F0502020204030204"/>
                </a:rPr>
                <a:t>QLoRA trên Qwen2.5-VL-3B-Instruct + prompt tiếng Việt có chữ OCR (ViTextVQA). Model gốc đóng băng 4-bit NF4; chỉ train adapter LoRA. Hiện thực thành QLoRA nhận biết OCR (B3) ở slide 34.</a:t>
              </a:r>
              <a:endParaRPr lang="en-US" sz="1950">
                <a:solidFill>
                  <a:srgbClr val="1F2A37"/>
                </a:solidFill>
                <a:latin typeface="Calibri (MS)" panose="020F0502020204030204"/>
                <a:ea typeface="Calibri (MS)" panose="020F0502020204030204"/>
                <a:cs typeface="Calibri (MS)" panose="020F0502020204030204"/>
                <a:sym typeface="Calibri (MS)" panose="020F0502020204030204"/>
              </a:endParaRPr>
            </a:p>
          </p:txBody>
        </p:sp>
      </p:grpSp>
      <p:grpSp>
        <p:nvGrpSpPr>
          <p:cNvPr id="12" name="Group 12"/>
          <p:cNvGrpSpPr/>
          <p:nvPr/>
        </p:nvGrpSpPr>
        <p:grpSpPr>
          <a:xfrm rot="0">
            <a:off x="822960" y="3017520"/>
            <a:ext cx="5966460" cy="5952744"/>
            <a:chOff x="0" y="0"/>
            <a:chExt cx="7955280" cy="7936992"/>
          </a:xfrm>
        </p:grpSpPr>
        <p:sp>
          <p:nvSpPr>
            <p:cNvPr id="13" name="Freeform 13"/>
            <p:cNvSpPr/>
            <p:nvPr/>
          </p:nvSpPr>
          <p:spPr>
            <a:xfrm>
              <a:off x="0" y="0"/>
              <a:ext cx="7955280" cy="7936992"/>
            </a:xfrm>
            <a:custGeom>
              <a:avLst/>
              <a:gdLst/>
              <a:ahLst/>
              <a:cxnLst/>
              <a:rect l="l" t="t" r="r" b="b"/>
              <a:pathLst>
                <a:path w="7955280" h="7936992">
                  <a:moveTo>
                    <a:pt x="0" y="317500"/>
                  </a:moveTo>
                  <a:cubicBezTo>
                    <a:pt x="0" y="142113"/>
                    <a:pt x="142113" y="0"/>
                    <a:pt x="317500" y="0"/>
                  </a:cubicBezTo>
                  <a:lnTo>
                    <a:pt x="7637780" y="0"/>
                  </a:lnTo>
                  <a:cubicBezTo>
                    <a:pt x="7813167" y="0"/>
                    <a:pt x="7955280" y="142113"/>
                    <a:pt x="7955280" y="317500"/>
                  </a:cubicBezTo>
                  <a:lnTo>
                    <a:pt x="7955280" y="7619492"/>
                  </a:lnTo>
                  <a:cubicBezTo>
                    <a:pt x="7955280" y="7794879"/>
                    <a:pt x="7813167" y="7936992"/>
                    <a:pt x="7637780" y="7936992"/>
                  </a:cubicBezTo>
                  <a:lnTo>
                    <a:pt x="317500" y="7936992"/>
                  </a:lnTo>
                  <a:cubicBezTo>
                    <a:pt x="142113" y="7936992"/>
                    <a:pt x="0" y="7794879"/>
                    <a:pt x="0" y="7619492"/>
                  </a:cubicBezTo>
                  <a:close/>
                </a:path>
              </a:pathLst>
            </a:custGeom>
            <a:solidFill>
              <a:srgbClr val="F3F5F8"/>
            </a:solidFill>
          </p:spPr>
          <p:txBody>
            <a:bodyPr/>
            <a:p/>
          </p:txBody>
        </p:sp>
      </p:grpSp>
      <p:grpSp>
        <p:nvGrpSpPr>
          <p:cNvPr id="14" name="Group 14"/>
          <p:cNvGrpSpPr/>
          <p:nvPr/>
        </p:nvGrpSpPr>
        <p:grpSpPr>
          <a:xfrm rot="0">
            <a:off x="1069848" y="3113532"/>
            <a:ext cx="5554980" cy="411480"/>
            <a:chOff x="0" y="0"/>
            <a:chExt cx="7406640" cy="548640"/>
          </a:xfrm>
        </p:grpSpPr>
        <p:sp>
          <p:nvSpPr>
            <p:cNvPr id="15" name="Freeform 15"/>
            <p:cNvSpPr/>
            <p:nvPr/>
          </p:nvSpPr>
          <p:spPr>
            <a:xfrm>
              <a:off x="0" y="0"/>
              <a:ext cx="7406640" cy="548640"/>
            </a:xfrm>
            <a:custGeom>
              <a:avLst/>
              <a:gdLst/>
              <a:ahLst/>
              <a:cxnLst/>
              <a:rect l="l" t="t" r="r" b="b"/>
              <a:pathLst>
                <a:path w="7406640" h="548640">
                  <a:moveTo>
                    <a:pt x="0" y="0"/>
                  </a:moveTo>
                  <a:lnTo>
                    <a:pt x="7406640" y="0"/>
                  </a:lnTo>
                  <a:lnTo>
                    <a:pt x="7406640" y="548640"/>
                  </a:lnTo>
                  <a:lnTo>
                    <a:pt x="0" y="548640"/>
                  </a:lnTo>
                  <a:close/>
                </a:path>
              </a:pathLst>
            </a:custGeom>
            <a:blipFill>
              <a:blip r:embed="rId1">
                <a:alphaModFix amt="0"/>
              </a:blip>
              <a:stretch>
                <a:fillRect t="-213048" b="-213048"/>
              </a:stretch>
            </a:blipFill>
          </p:spPr>
          <p:txBody>
            <a:bodyPr/>
            <a:p/>
          </p:txBody>
        </p:sp>
        <p:sp>
          <p:nvSpPr>
            <p:cNvPr id="16" name="TextBox 16"/>
            <p:cNvSpPr txBox="1"/>
            <p:nvPr/>
          </p:nvSpPr>
          <p:spPr>
            <a:xfrm>
              <a:off x="0" y="-38100"/>
              <a:ext cx="7406640" cy="586740"/>
            </a:xfrm>
            <a:prstGeom prst="rect">
              <a:avLst/>
            </a:prstGeom>
          </p:spPr>
          <p:txBody>
            <a:bodyPr lIns="0" tIns="0" rIns="0" bIns="0" rtlCol="0" anchor="ctr"/>
            <a:lstStyle/>
            <a:p>
              <a:pPr algn="l">
                <a:lnSpc>
                  <a:spcPts val="1800"/>
                </a:lnSpc>
              </a:pPr>
              <a:r>
                <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rPr>
                <a:t>A · CHUẨN BỊ DỮ LIỆU  —  chạy 1 lần, cache</a:t>
              </a:r>
              <a:endPar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7" name="Group 17"/>
          <p:cNvGrpSpPr/>
          <p:nvPr/>
        </p:nvGrpSpPr>
        <p:grpSpPr>
          <a:xfrm rot="0">
            <a:off x="1057942" y="3718846"/>
            <a:ext cx="3343084" cy="1367980"/>
            <a:chOff x="0" y="0"/>
            <a:chExt cx="4457446" cy="1823974"/>
          </a:xfrm>
        </p:grpSpPr>
        <p:sp>
          <p:nvSpPr>
            <p:cNvPr id="18" name="Freeform 18"/>
            <p:cNvSpPr/>
            <p:nvPr/>
          </p:nvSpPr>
          <p:spPr>
            <a:xfrm>
              <a:off x="0" y="0"/>
              <a:ext cx="4457446" cy="1823974"/>
            </a:xfrm>
            <a:custGeom>
              <a:avLst/>
              <a:gdLst/>
              <a:ahLst/>
              <a:cxnLst/>
              <a:rect l="l" t="t" r="r" b="b"/>
              <a:pathLst>
                <a:path w="4457446" h="1823974">
                  <a:moveTo>
                    <a:pt x="0" y="182372"/>
                  </a:moveTo>
                  <a:cubicBezTo>
                    <a:pt x="0" y="81661"/>
                    <a:pt x="81661" y="0"/>
                    <a:pt x="182372" y="0"/>
                  </a:cubicBezTo>
                  <a:lnTo>
                    <a:pt x="4275074" y="0"/>
                  </a:lnTo>
                  <a:cubicBezTo>
                    <a:pt x="4375785" y="0"/>
                    <a:pt x="4457446" y="81661"/>
                    <a:pt x="4457446" y="182372"/>
                  </a:cubicBezTo>
                  <a:lnTo>
                    <a:pt x="4457446" y="1641602"/>
                  </a:lnTo>
                  <a:cubicBezTo>
                    <a:pt x="4457446" y="1742313"/>
                    <a:pt x="4375785" y="1823974"/>
                    <a:pt x="4275074" y="1823974"/>
                  </a:cubicBezTo>
                  <a:lnTo>
                    <a:pt x="182372" y="1823974"/>
                  </a:lnTo>
                  <a:cubicBezTo>
                    <a:pt x="81661" y="1823974"/>
                    <a:pt x="0" y="1742313"/>
                    <a:pt x="0" y="1641602"/>
                  </a:cubicBezTo>
                  <a:close/>
                </a:path>
              </a:pathLst>
            </a:custGeom>
            <a:solidFill>
              <a:srgbClr val="FFFFFF"/>
            </a:solidFill>
            <a:ln w="23812" cap="sq">
              <a:solidFill>
                <a:srgbClr val="E2E7EE"/>
              </a:solidFill>
              <a:prstDash val="solid"/>
              <a:miter/>
            </a:ln>
          </p:spPr>
          <p:txBody>
            <a:bodyPr/>
            <a:p/>
          </p:txBody>
        </p:sp>
      </p:grpSp>
      <p:grpSp>
        <p:nvGrpSpPr>
          <p:cNvPr id="19" name="Group 19"/>
          <p:cNvGrpSpPr/>
          <p:nvPr/>
        </p:nvGrpSpPr>
        <p:grpSpPr>
          <a:xfrm rot="0">
            <a:off x="1224915" y="3885819"/>
            <a:ext cx="485394" cy="485394"/>
            <a:chOff x="0" y="0"/>
            <a:chExt cx="647192" cy="647192"/>
          </a:xfrm>
        </p:grpSpPr>
        <p:sp>
          <p:nvSpPr>
            <p:cNvPr id="20" name="Freeform 20"/>
            <p:cNvSpPr/>
            <p:nvPr/>
          </p:nvSpPr>
          <p:spPr>
            <a:xfrm>
              <a:off x="0" y="0"/>
              <a:ext cx="647192" cy="647192"/>
            </a:xfrm>
            <a:custGeom>
              <a:avLst/>
              <a:gdLst/>
              <a:ahLst/>
              <a:cxnLst/>
              <a:rect l="l" t="t" r="r" b="b"/>
              <a:pathLst>
                <a:path w="647192" h="647192">
                  <a:moveTo>
                    <a:pt x="0" y="323596"/>
                  </a:moveTo>
                  <a:cubicBezTo>
                    <a:pt x="0" y="144907"/>
                    <a:pt x="144907" y="0"/>
                    <a:pt x="323596" y="0"/>
                  </a:cubicBezTo>
                  <a:cubicBezTo>
                    <a:pt x="502285" y="0"/>
                    <a:pt x="647192" y="144907"/>
                    <a:pt x="647192" y="323596"/>
                  </a:cubicBezTo>
                  <a:cubicBezTo>
                    <a:pt x="647192" y="502285"/>
                    <a:pt x="502285" y="647192"/>
                    <a:pt x="323596" y="647192"/>
                  </a:cubicBezTo>
                  <a:cubicBezTo>
                    <a:pt x="144907" y="647192"/>
                    <a:pt x="0" y="502285"/>
                    <a:pt x="0" y="323596"/>
                  </a:cubicBezTo>
                  <a:close/>
                </a:path>
              </a:pathLst>
            </a:custGeom>
            <a:solidFill>
              <a:srgbClr val="13294B"/>
            </a:solidFill>
            <a:ln w="19050" cap="sq">
              <a:solidFill>
                <a:srgbClr val="13294B"/>
              </a:solidFill>
              <a:prstDash val="solid"/>
              <a:miter/>
            </a:ln>
          </p:spPr>
          <p:txBody>
            <a:bodyPr/>
            <a:p/>
          </p:txBody>
        </p:sp>
        <p:sp>
          <p:nvSpPr>
            <p:cNvPr id="21" name="TextBox 21"/>
            <p:cNvSpPr txBox="1"/>
            <p:nvPr/>
          </p:nvSpPr>
          <p:spPr>
            <a:xfrm>
              <a:off x="0" y="-38100"/>
              <a:ext cx="647192" cy="685292"/>
            </a:xfrm>
            <a:prstGeom prst="rect">
              <a:avLst/>
            </a:prstGeom>
          </p:spPr>
          <p:txBody>
            <a:bodyPr lIns="50800" tIns="50800" rIns="50800" bIns="5080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1</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22" name="Group 22"/>
          <p:cNvGrpSpPr/>
          <p:nvPr/>
        </p:nvGrpSpPr>
        <p:grpSpPr>
          <a:xfrm rot="0">
            <a:off x="1810512" y="3867912"/>
            <a:ext cx="2468880" cy="521208"/>
            <a:chOff x="0" y="0"/>
            <a:chExt cx="3291840" cy="694944"/>
          </a:xfrm>
        </p:grpSpPr>
        <p:sp>
          <p:nvSpPr>
            <p:cNvPr id="23" name="Freeform 23"/>
            <p:cNvSpPr/>
            <p:nvPr/>
          </p:nvSpPr>
          <p:spPr>
            <a:xfrm>
              <a:off x="0" y="0"/>
              <a:ext cx="3291838" cy="694944"/>
            </a:xfrm>
            <a:custGeom>
              <a:avLst/>
              <a:gdLst/>
              <a:ahLst/>
              <a:cxnLst/>
              <a:rect l="l" t="t" r="r" b="b"/>
              <a:pathLst>
                <a:path w="3291838" h="694944">
                  <a:moveTo>
                    <a:pt x="0" y="0"/>
                  </a:moveTo>
                  <a:lnTo>
                    <a:pt x="3291838" y="0"/>
                  </a:lnTo>
                  <a:lnTo>
                    <a:pt x="3291838" y="694944"/>
                  </a:lnTo>
                  <a:lnTo>
                    <a:pt x="0" y="694944"/>
                  </a:lnTo>
                  <a:close/>
                </a:path>
              </a:pathLst>
            </a:custGeom>
            <a:blipFill>
              <a:blip r:embed="rId1">
                <a:alphaModFix amt="0"/>
              </a:blip>
              <a:stretch>
                <a:fillRect t="-42297" b="-42297"/>
              </a:stretch>
            </a:blipFill>
          </p:spPr>
          <p:txBody>
            <a:bodyPr/>
            <a:p/>
          </p:txBody>
        </p:sp>
        <p:sp>
          <p:nvSpPr>
            <p:cNvPr id="24" name="TextBox 24"/>
            <p:cNvSpPr txBox="1"/>
            <p:nvPr/>
          </p:nvSpPr>
          <p:spPr>
            <a:xfrm>
              <a:off x="0" y="-47625"/>
              <a:ext cx="3291840" cy="74256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Dữ liệu</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5" name="TextBox 25"/>
          <p:cNvSpPr txBox="1"/>
          <p:nvPr/>
        </p:nvSpPr>
        <p:spPr>
          <a:xfrm>
            <a:off x="1261872" y="4424934"/>
            <a:ext cx="2962656" cy="5676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ViVQA + ViTextVQA (bản chính thức)</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26" name="Group 26"/>
          <p:cNvGrpSpPr/>
          <p:nvPr/>
        </p:nvGrpSpPr>
        <p:grpSpPr>
          <a:xfrm rot="0">
            <a:off x="1057942" y="5474494"/>
            <a:ext cx="3343084" cy="1367980"/>
            <a:chOff x="0" y="0"/>
            <a:chExt cx="4457446" cy="1823974"/>
          </a:xfrm>
        </p:grpSpPr>
        <p:sp>
          <p:nvSpPr>
            <p:cNvPr id="27" name="Freeform 27"/>
            <p:cNvSpPr/>
            <p:nvPr/>
          </p:nvSpPr>
          <p:spPr>
            <a:xfrm>
              <a:off x="0" y="0"/>
              <a:ext cx="4457446" cy="1823974"/>
            </a:xfrm>
            <a:custGeom>
              <a:avLst/>
              <a:gdLst/>
              <a:ahLst/>
              <a:cxnLst/>
              <a:rect l="l" t="t" r="r" b="b"/>
              <a:pathLst>
                <a:path w="4457446" h="1823974">
                  <a:moveTo>
                    <a:pt x="0" y="182372"/>
                  </a:moveTo>
                  <a:cubicBezTo>
                    <a:pt x="0" y="81661"/>
                    <a:pt x="81661" y="0"/>
                    <a:pt x="182372" y="0"/>
                  </a:cubicBezTo>
                  <a:lnTo>
                    <a:pt x="4275074" y="0"/>
                  </a:lnTo>
                  <a:cubicBezTo>
                    <a:pt x="4375785" y="0"/>
                    <a:pt x="4457446" y="81661"/>
                    <a:pt x="4457446" y="182372"/>
                  </a:cubicBezTo>
                  <a:lnTo>
                    <a:pt x="4457446" y="1641602"/>
                  </a:lnTo>
                  <a:cubicBezTo>
                    <a:pt x="4457446" y="1742313"/>
                    <a:pt x="4375785" y="1823974"/>
                    <a:pt x="4275074" y="1823974"/>
                  </a:cubicBezTo>
                  <a:lnTo>
                    <a:pt x="182372" y="1823974"/>
                  </a:lnTo>
                  <a:cubicBezTo>
                    <a:pt x="81661" y="1823974"/>
                    <a:pt x="0" y="1742313"/>
                    <a:pt x="0" y="1641602"/>
                  </a:cubicBezTo>
                  <a:close/>
                </a:path>
              </a:pathLst>
            </a:custGeom>
            <a:solidFill>
              <a:srgbClr val="FFFFFF"/>
            </a:solidFill>
            <a:ln w="23812" cap="sq">
              <a:solidFill>
                <a:srgbClr val="E2E7EE"/>
              </a:solidFill>
              <a:prstDash val="solid"/>
              <a:miter/>
            </a:ln>
          </p:spPr>
          <p:txBody>
            <a:bodyPr/>
            <a:p/>
          </p:txBody>
        </p:sp>
      </p:grpSp>
      <p:grpSp>
        <p:nvGrpSpPr>
          <p:cNvPr id="28" name="Group 28"/>
          <p:cNvGrpSpPr/>
          <p:nvPr/>
        </p:nvGrpSpPr>
        <p:grpSpPr>
          <a:xfrm rot="0">
            <a:off x="1224915" y="5641467"/>
            <a:ext cx="485394" cy="485394"/>
            <a:chOff x="0" y="0"/>
            <a:chExt cx="647192" cy="647192"/>
          </a:xfrm>
        </p:grpSpPr>
        <p:sp>
          <p:nvSpPr>
            <p:cNvPr id="29" name="Freeform 29"/>
            <p:cNvSpPr/>
            <p:nvPr/>
          </p:nvSpPr>
          <p:spPr>
            <a:xfrm>
              <a:off x="0" y="0"/>
              <a:ext cx="647192" cy="647192"/>
            </a:xfrm>
            <a:custGeom>
              <a:avLst/>
              <a:gdLst/>
              <a:ahLst/>
              <a:cxnLst/>
              <a:rect l="l" t="t" r="r" b="b"/>
              <a:pathLst>
                <a:path w="647192" h="647192">
                  <a:moveTo>
                    <a:pt x="0" y="323596"/>
                  </a:moveTo>
                  <a:cubicBezTo>
                    <a:pt x="0" y="144907"/>
                    <a:pt x="144907" y="0"/>
                    <a:pt x="323596" y="0"/>
                  </a:cubicBezTo>
                  <a:cubicBezTo>
                    <a:pt x="502285" y="0"/>
                    <a:pt x="647192" y="144907"/>
                    <a:pt x="647192" y="323596"/>
                  </a:cubicBezTo>
                  <a:cubicBezTo>
                    <a:pt x="647192" y="502285"/>
                    <a:pt x="502285" y="647192"/>
                    <a:pt x="323596" y="647192"/>
                  </a:cubicBezTo>
                  <a:cubicBezTo>
                    <a:pt x="144907" y="647192"/>
                    <a:pt x="0" y="502285"/>
                    <a:pt x="0" y="323596"/>
                  </a:cubicBezTo>
                  <a:close/>
                </a:path>
              </a:pathLst>
            </a:custGeom>
            <a:solidFill>
              <a:srgbClr val="13294B"/>
            </a:solidFill>
            <a:ln w="19050" cap="sq">
              <a:solidFill>
                <a:srgbClr val="13294B"/>
              </a:solidFill>
              <a:prstDash val="solid"/>
              <a:miter/>
            </a:ln>
          </p:spPr>
          <p:txBody>
            <a:bodyPr/>
            <a:p/>
          </p:txBody>
        </p:sp>
        <p:sp>
          <p:nvSpPr>
            <p:cNvPr id="30" name="TextBox 30"/>
            <p:cNvSpPr txBox="1"/>
            <p:nvPr/>
          </p:nvSpPr>
          <p:spPr>
            <a:xfrm>
              <a:off x="0" y="-38100"/>
              <a:ext cx="647192" cy="685292"/>
            </a:xfrm>
            <a:prstGeom prst="rect">
              <a:avLst/>
            </a:prstGeom>
          </p:spPr>
          <p:txBody>
            <a:bodyPr lIns="50800" tIns="50800" rIns="50800" bIns="5080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2</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31" name="Group 31"/>
          <p:cNvGrpSpPr/>
          <p:nvPr/>
        </p:nvGrpSpPr>
        <p:grpSpPr>
          <a:xfrm rot="0">
            <a:off x="1810512" y="5623560"/>
            <a:ext cx="2468880" cy="521208"/>
            <a:chOff x="0" y="0"/>
            <a:chExt cx="3291840" cy="694944"/>
          </a:xfrm>
        </p:grpSpPr>
        <p:sp>
          <p:nvSpPr>
            <p:cNvPr id="32" name="Freeform 32"/>
            <p:cNvSpPr/>
            <p:nvPr/>
          </p:nvSpPr>
          <p:spPr>
            <a:xfrm>
              <a:off x="0" y="0"/>
              <a:ext cx="3291838" cy="694944"/>
            </a:xfrm>
            <a:custGeom>
              <a:avLst/>
              <a:gdLst/>
              <a:ahLst/>
              <a:cxnLst/>
              <a:rect l="l" t="t" r="r" b="b"/>
              <a:pathLst>
                <a:path w="3291838" h="694944">
                  <a:moveTo>
                    <a:pt x="0" y="0"/>
                  </a:moveTo>
                  <a:lnTo>
                    <a:pt x="3291838" y="0"/>
                  </a:lnTo>
                  <a:lnTo>
                    <a:pt x="3291838" y="694944"/>
                  </a:lnTo>
                  <a:lnTo>
                    <a:pt x="0" y="694944"/>
                  </a:lnTo>
                  <a:close/>
                </a:path>
              </a:pathLst>
            </a:custGeom>
            <a:blipFill>
              <a:blip r:embed="rId1">
                <a:alphaModFix amt="0"/>
              </a:blip>
              <a:stretch>
                <a:fillRect t="-42297" b="-42297"/>
              </a:stretch>
            </a:blipFill>
          </p:spPr>
          <p:txBody>
            <a:bodyPr/>
            <a:p/>
          </p:txBody>
        </p:sp>
        <p:sp>
          <p:nvSpPr>
            <p:cNvPr id="33" name="TextBox 33"/>
            <p:cNvSpPr txBox="1"/>
            <p:nvPr/>
          </p:nvSpPr>
          <p:spPr>
            <a:xfrm>
              <a:off x="0" y="-47625"/>
              <a:ext cx="3291840" cy="74256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Tiền xử lý</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4" name="TextBox 34"/>
          <p:cNvSpPr txBox="1"/>
          <p:nvPr/>
        </p:nvSpPr>
        <p:spPr>
          <a:xfrm>
            <a:off x="1261872" y="6180582"/>
            <a:ext cx="2962656" cy="5676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chữ: NFC, chữ thường · ảnh: RGB, resize ≤ 512 token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35" name="Group 35"/>
          <p:cNvGrpSpPr/>
          <p:nvPr/>
        </p:nvGrpSpPr>
        <p:grpSpPr>
          <a:xfrm rot="0">
            <a:off x="4678966" y="5474494"/>
            <a:ext cx="1916620" cy="1367980"/>
            <a:chOff x="0" y="0"/>
            <a:chExt cx="2555494" cy="1823974"/>
          </a:xfrm>
        </p:grpSpPr>
        <p:sp>
          <p:nvSpPr>
            <p:cNvPr id="36" name="Freeform 36"/>
            <p:cNvSpPr/>
            <p:nvPr/>
          </p:nvSpPr>
          <p:spPr>
            <a:xfrm>
              <a:off x="0" y="0"/>
              <a:ext cx="2555494" cy="1823974"/>
            </a:xfrm>
            <a:custGeom>
              <a:avLst/>
              <a:gdLst/>
              <a:ahLst/>
              <a:cxnLst/>
              <a:rect l="l" t="t" r="r" b="b"/>
              <a:pathLst>
                <a:path w="2555494" h="1823974">
                  <a:moveTo>
                    <a:pt x="0" y="182372"/>
                  </a:moveTo>
                  <a:cubicBezTo>
                    <a:pt x="0" y="81661"/>
                    <a:pt x="81661" y="0"/>
                    <a:pt x="182372" y="0"/>
                  </a:cubicBezTo>
                  <a:lnTo>
                    <a:pt x="2373122" y="0"/>
                  </a:lnTo>
                  <a:cubicBezTo>
                    <a:pt x="2473833" y="0"/>
                    <a:pt x="2555494" y="81661"/>
                    <a:pt x="2555494" y="182372"/>
                  </a:cubicBezTo>
                  <a:lnTo>
                    <a:pt x="2555494" y="1641602"/>
                  </a:lnTo>
                  <a:cubicBezTo>
                    <a:pt x="2555494" y="1742313"/>
                    <a:pt x="2473833" y="1823974"/>
                    <a:pt x="2373122" y="1823974"/>
                  </a:cubicBezTo>
                  <a:lnTo>
                    <a:pt x="182372" y="1823974"/>
                  </a:lnTo>
                  <a:cubicBezTo>
                    <a:pt x="81661" y="1823974"/>
                    <a:pt x="0" y="1742313"/>
                    <a:pt x="0" y="1641602"/>
                  </a:cubicBezTo>
                  <a:close/>
                </a:path>
              </a:pathLst>
            </a:custGeom>
            <a:solidFill>
              <a:srgbClr val="FFFFFF"/>
            </a:solidFill>
            <a:ln w="23812" cap="sq">
              <a:solidFill>
                <a:srgbClr val="E2E7EE"/>
              </a:solidFill>
              <a:prstDash val="dash"/>
              <a:miter/>
            </a:ln>
          </p:spPr>
          <p:txBody>
            <a:bodyPr/>
            <a:p/>
          </p:txBody>
        </p:sp>
      </p:grpSp>
      <p:grpSp>
        <p:nvGrpSpPr>
          <p:cNvPr id="37" name="Group 37"/>
          <p:cNvGrpSpPr/>
          <p:nvPr/>
        </p:nvGrpSpPr>
        <p:grpSpPr>
          <a:xfrm rot="0">
            <a:off x="4845939" y="5641467"/>
            <a:ext cx="485394" cy="485394"/>
            <a:chOff x="0" y="0"/>
            <a:chExt cx="647192" cy="647192"/>
          </a:xfrm>
        </p:grpSpPr>
        <p:sp>
          <p:nvSpPr>
            <p:cNvPr id="38" name="Freeform 38"/>
            <p:cNvSpPr/>
            <p:nvPr/>
          </p:nvSpPr>
          <p:spPr>
            <a:xfrm>
              <a:off x="0" y="0"/>
              <a:ext cx="647192" cy="647192"/>
            </a:xfrm>
            <a:custGeom>
              <a:avLst/>
              <a:gdLst/>
              <a:ahLst/>
              <a:cxnLst/>
              <a:rect l="l" t="t" r="r" b="b"/>
              <a:pathLst>
                <a:path w="647192" h="647192">
                  <a:moveTo>
                    <a:pt x="0" y="323596"/>
                  </a:moveTo>
                  <a:cubicBezTo>
                    <a:pt x="0" y="144907"/>
                    <a:pt x="144907" y="0"/>
                    <a:pt x="323596" y="0"/>
                  </a:cubicBezTo>
                  <a:cubicBezTo>
                    <a:pt x="502285" y="0"/>
                    <a:pt x="647192" y="144907"/>
                    <a:pt x="647192" y="323596"/>
                  </a:cubicBezTo>
                  <a:cubicBezTo>
                    <a:pt x="647192" y="502285"/>
                    <a:pt x="502285" y="647192"/>
                    <a:pt x="323596" y="647192"/>
                  </a:cubicBezTo>
                  <a:cubicBezTo>
                    <a:pt x="144907" y="647192"/>
                    <a:pt x="0" y="502285"/>
                    <a:pt x="0" y="323596"/>
                  </a:cubicBezTo>
                  <a:close/>
                </a:path>
              </a:pathLst>
            </a:custGeom>
            <a:solidFill>
              <a:srgbClr val="E8A33D"/>
            </a:solidFill>
            <a:ln w="19050" cap="sq">
              <a:solidFill>
                <a:srgbClr val="E8A33D"/>
              </a:solidFill>
              <a:prstDash val="solid"/>
              <a:miter/>
            </a:ln>
          </p:spPr>
          <p:txBody>
            <a:bodyPr/>
            <a:p/>
          </p:txBody>
        </p:sp>
        <p:sp>
          <p:nvSpPr>
            <p:cNvPr id="39" name="TextBox 39"/>
            <p:cNvSpPr txBox="1"/>
            <p:nvPr/>
          </p:nvSpPr>
          <p:spPr>
            <a:xfrm>
              <a:off x="0" y="-38100"/>
              <a:ext cx="647192" cy="685292"/>
            </a:xfrm>
            <a:prstGeom prst="rect">
              <a:avLst/>
            </a:prstGeom>
          </p:spPr>
          <p:txBody>
            <a:bodyPr lIns="50800" tIns="50800" rIns="50800" bIns="5080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3</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40" name="Group 40"/>
          <p:cNvGrpSpPr/>
          <p:nvPr/>
        </p:nvGrpSpPr>
        <p:grpSpPr>
          <a:xfrm rot="0">
            <a:off x="5431536" y="5623560"/>
            <a:ext cx="1042416" cy="521208"/>
            <a:chOff x="0" y="0"/>
            <a:chExt cx="1389888" cy="694944"/>
          </a:xfrm>
        </p:grpSpPr>
        <p:sp>
          <p:nvSpPr>
            <p:cNvPr id="41" name="Freeform 41"/>
            <p:cNvSpPr/>
            <p:nvPr/>
          </p:nvSpPr>
          <p:spPr>
            <a:xfrm>
              <a:off x="0" y="0"/>
              <a:ext cx="1389886" cy="694944"/>
            </a:xfrm>
            <a:custGeom>
              <a:avLst/>
              <a:gdLst/>
              <a:ahLst/>
              <a:cxnLst/>
              <a:rect l="l" t="t" r="r" b="b"/>
              <a:pathLst>
                <a:path w="1389886" h="694944">
                  <a:moveTo>
                    <a:pt x="0" y="0"/>
                  </a:moveTo>
                  <a:lnTo>
                    <a:pt x="1389886" y="0"/>
                  </a:lnTo>
                  <a:lnTo>
                    <a:pt x="1389886" y="694944"/>
                  </a:lnTo>
                  <a:lnTo>
                    <a:pt x="0" y="694944"/>
                  </a:lnTo>
                  <a:close/>
                </a:path>
              </a:pathLst>
            </a:custGeom>
            <a:blipFill>
              <a:blip r:embed="rId1">
                <a:alphaModFix amt="0"/>
              </a:blip>
              <a:stretch>
                <a:fillRect l="-14151" r="-14151"/>
              </a:stretch>
            </a:blipFill>
          </p:spPr>
          <p:txBody>
            <a:bodyPr/>
            <a:p/>
          </p:txBody>
        </p:sp>
        <p:sp>
          <p:nvSpPr>
            <p:cNvPr id="42" name="TextBox 42"/>
            <p:cNvSpPr txBox="1"/>
            <p:nvPr/>
          </p:nvSpPr>
          <p:spPr>
            <a:xfrm>
              <a:off x="0" y="-47625"/>
              <a:ext cx="1389888" cy="74256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OCR</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43" name="Group 43"/>
          <p:cNvGrpSpPr/>
          <p:nvPr/>
        </p:nvGrpSpPr>
        <p:grpSpPr>
          <a:xfrm rot="0">
            <a:off x="5037963" y="5298567"/>
            <a:ext cx="1418082" cy="361950"/>
            <a:chOff x="0" y="0"/>
            <a:chExt cx="1890776" cy="482600"/>
          </a:xfrm>
        </p:grpSpPr>
        <p:sp>
          <p:nvSpPr>
            <p:cNvPr id="44" name="Freeform 44"/>
            <p:cNvSpPr/>
            <p:nvPr/>
          </p:nvSpPr>
          <p:spPr>
            <a:xfrm>
              <a:off x="0" y="0"/>
              <a:ext cx="1890776" cy="482600"/>
            </a:xfrm>
            <a:custGeom>
              <a:avLst/>
              <a:gdLst/>
              <a:ahLst/>
              <a:cxnLst/>
              <a:rect l="l" t="t" r="r" b="b"/>
              <a:pathLst>
                <a:path w="1890776" h="482600">
                  <a:moveTo>
                    <a:pt x="0" y="241300"/>
                  </a:moveTo>
                  <a:cubicBezTo>
                    <a:pt x="0" y="108077"/>
                    <a:pt x="108077" y="0"/>
                    <a:pt x="241300" y="0"/>
                  </a:cubicBezTo>
                  <a:lnTo>
                    <a:pt x="1649476" y="0"/>
                  </a:lnTo>
                  <a:cubicBezTo>
                    <a:pt x="1782699" y="0"/>
                    <a:pt x="1890776" y="108077"/>
                    <a:pt x="1890776" y="241300"/>
                  </a:cubicBezTo>
                  <a:cubicBezTo>
                    <a:pt x="1890776" y="374523"/>
                    <a:pt x="1782699" y="482600"/>
                    <a:pt x="1649476" y="482600"/>
                  </a:cubicBezTo>
                  <a:lnTo>
                    <a:pt x="241300" y="482600"/>
                  </a:lnTo>
                  <a:cubicBezTo>
                    <a:pt x="108077" y="482600"/>
                    <a:pt x="0" y="374523"/>
                    <a:pt x="0" y="241300"/>
                  </a:cubicBezTo>
                  <a:close/>
                </a:path>
              </a:pathLst>
            </a:custGeom>
            <a:solidFill>
              <a:srgbClr val="E8A33D"/>
            </a:solidFill>
            <a:ln w="19050" cap="sq">
              <a:solidFill>
                <a:srgbClr val="E8A33D"/>
              </a:solidFill>
              <a:prstDash val="solid"/>
              <a:miter/>
            </a:ln>
          </p:spPr>
          <p:txBody>
            <a:bodyPr/>
            <a:p/>
          </p:txBody>
        </p:sp>
        <p:sp>
          <p:nvSpPr>
            <p:cNvPr id="45" name="TextBox 45"/>
            <p:cNvSpPr txBox="1"/>
            <p:nvPr/>
          </p:nvSpPr>
          <p:spPr>
            <a:xfrm>
              <a:off x="0" y="-28575"/>
              <a:ext cx="1890776" cy="511175"/>
            </a:xfrm>
            <a:prstGeom prst="rect">
              <a:avLst/>
            </a:prstGeom>
          </p:spPr>
          <p:txBody>
            <a:bodyPr lIns="50800" tIns="50800" rIns="50800" bIns="50800" rtlCol="0" anchor="ctr"/>
            <a:lstStyle/>
            <a:p>
              <a:pPr algn="ctr">
                <a:lnSpc>
                  <a:spcPts val="1620"/>
                </a:lnSpc>
              </a:pPr>
              <a:r>
                <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rPr>
                <a:t>chỉ ViTextVQA</a:t>
              </a:r>
              <a:endPar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46" name="TextBox 46"/>
          <p:cNvSpPr txBox="1"/>
          <p:nvPr/>
        </p:nvSpPr>
        <p:spPr>
          <a:xfrm>
            <a:off x="4882896" y="6180582"/>
            <a:ext cx="1536192" cy="5676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VietOCR; sắp trái-trên → phải-dưới</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47" name="Group 47"/>
          <p:cNvGrpSpPr/>
          <p:nvPr/>
        </p:nvGrpSpPr>
        <p:grpSpPr>
          <a:xfrm rot="0">
            <a:off x="1057942" y="7230142"/>
            <a:ext cx="3343084" cy="1367980"/>
            <a:chOff x="0" y="0"/>
            <a:chExt cx="4457446" cy="1823974"/>
          </a:xfrm>
        </p:grpSpPr>
        <p:sp>
          <p:nvSpPr>
            <p:cNvPr id="48" name="Freeform 48"/>
            <p:cNvSpPr/>
            <p:nvPr/>
          </p:nvSpPr>
          <p:spPr>
            <a:xfrm>
              <a:off x="0" y="0"/>
              <a:ext cx="4457446" cy="1823974"/>
            </a:xfrm>
            <a:custGeom>
              <a:avLst/>
              <a:gdLst/>
              <a:ahLst/>
              <a:cxnLst/>
              <a:rect l="l" t="t" r="r" b="b"/>
              <a:pathLst>
                <a:path w="4457446" h="1823974">
                  <a:moveTo>
                    <a:pt x="0" y="182372"/>
                  </a:moveTo>
                  <a:cubicBezTo>
                    <a:pt x="0" y="81661"/>
                    <a:pt x="81661" y="0"/>
                    <a:pt x="182372" y="0"/>
                  </a:cubicBezTo>
                  <a:lnTo>
                    <a:pt x="4275074" y="0"/>
                  </a:lnTo>
                  <a:cubicBezTo>
                    <a:pt x="4375785" y="0"/>
                    <a:pt x="4457446" y="81661"/>
                    <a:pt x="4457446" y="182372"/>
                  </a:cubicBezTo>
                  <a:lnTo>
                    <a:pt x="4457446" y="1641602"/>
                  </a:lnTo>
                  <a:cubicBezTo>
                    <a:pt x="4457446" y="1742313"/>
                    <a:pt x="4375785" y="1823974"/>
                    <a:pt x="4275074" y="1823974"/>
                  </a:cubicBezTo>
                  <a:lnTo>
                    <a:pt x="182372" y="1823974"/>
                  </a:lnTo>
                  <a:cubicBezTo>
                    <a:pt x="81661" y="1823974"/>
                    <a:pt x="0" y="1742313"/>
                    <a:pt x="0" y="1641602"/>
                  </a:cubicBezTo>
                  <a:close/>
                </a:path>
              </a:pathLst>
            </a:custGeom>
            <a:solidFill>
              <a:srgbClr val="FFFFFF"/>
            </a:solidFill>
            <a:ln w="23812" cap="sq">
              <a:solidFill>
                <a:srgbClr val="E2E7EE"/>
              </a:solidFill>
              <a:prstDash val="solid"/>
              <a:miter/>
            </a:ln>
          </p:spPr>
          <p:txBody>
            <a:bodyPr/>
            <a:p/>
          </p:txBody>
        </p:sp>
      </p:grpSp>
      <p:grpSp>
        <p:nvGrpSpPr>
          <p:cNvPr id="49" name="Group 49"/>
          <p:cNvGrpSpPr/>
          <p:nvPr/>
        </p:nvGrpSpPr>
        <p:grpSpPr>
          <a:xfrm rot="0">
            <a:off x="1224915" y="7397115"/>
            <a:ext cx="485394" cy="485394"/>
            <a:chOff x="0" y="0"/>
            <a:chExt cx="647192" cy="647192"/>
          </a:xfrm>
        </p:grpSpPr>
        <p:sp>
          <p:nvSpPr>
            <p:cNvPr id="50" name="Freeform 50"/>
            <p:cNvSpPr/>
            <p:nvPr/>
          </p:nvSpPr>
          <p:spPr>
            <a:xfrm>
              <a:off x="0" y="0"/>
              <a:ext cx="647192" cy="647192"/>
            </a:xfrm>
            <a:custGeom>
              <a:avLst/>
              <a:gdLst/>
              <a:ahLst/>
              <a:cxnLst/>
              <a:rect l="l" t="t" r="r" b="b"/>
              <a:pathLst>
                <a:path w="647192" h="647192">
                  <a:moveTo>
                    <a:pt x="0" y="323596"/>
                  </a:moveTo>
                  <a:cubicBezTo>
                    <a:pt x="0" y="144907"/>
                    <a:pt x="144907" y="0"/>
                    <a:pt x="323596" y="0"/>
                  </a:cubicBezTo>
                  <a:cubicBezTo>
                    <a:pt x="502285" y="0"/>
                    <a:pt x="647192" y="144907"/>
                    <a:pt x="647192" y="323596"/>
                  </a:cubicBezTo>
                  <a:cubicBezTo>
                    <a:pt x="647192" y="502285"/>
                    <a:pt x="502285" y="647192"/>
                    <a:pt x="323596" y="647192"/>
                  </a:cubicBezTo>
                  <a:cubicBezTo>
                    <a:pt x="144907" y="647192"/>
                    <a:pt x="0" y="502285"/>
                    <a:pt x="0" y="323596"/>
                  </a:cubicBezTo>
                  <a:close/>
                </a:path>
              </a:pathLst>
            </a:custGeom>
            <a:solidFill>
              <a:srgbClr val="13294B"/>
            </a:solidFill>
            <a:ln w="19050" cap="sq">
              <a:solidFill>
                <a:srgbClr val="13294B"/>
              </a:solidFill>
              <a:prstDash val="solid"/>
              <a:miter/>
            </a:ln>
          </p:spPr>
          <p:txBody>
            <a:bodyPr/>
            <a:p/>
          </p:txBody>
        </p:sp>
        <p:sp>
          <p:nvSpPr>
            <p:cNvPr id="51" name="TextBox 51"/>
            <p:cNvSpPr txBox="1"/>
            <p:nvPr/>
          </p:nvSpPr>
          <p:spPr>
            <a:xfrm>
              <a:off x="0" y="-38100"/>
              <a:ext cx="647192" cy="685292"/>
            </a:xfrm>
            <a:prstGeom prst="rect">
              <a:avLst/>
            </a:prstGeom>
          </p:spPr>
          <p:txBody>
            <a:bodyPr lIns="50800" tIns="50800" rIns="50800" bIns="5080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4</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52" name="Group 52"/>
          <p:cNvGrpSpPr/>
          <p:nvPr/>
        </p:nvGrpSpPr>
        <p:grpSpPr>
          <a:xfrm rot="0">
            <a:off x="1810512" y="7379208"/>
            <a:ext cx="2468880" cy="521208"/>
            <a:chOff x="0" y="0"/>
            <a:chExt cx="3291840" cy="694944"/>
          </a:xfrm>
        </p:grpSpPr>
        <p:sp>
          <p:nvSpPr>
            <p:cNvPr id="53" name="Freeform 53"/>
            <p:cNvSpPr/>
            <p:nvPr/>
          </p:nvSpPr>
          <p:spPr>
            <a:xfrm>
              <a:off x="0" y="0"/>
              <a:ext cx="3291838" cy="694944"/>
            </a:xfrm>
            <a:custGeom>
              <a:avLst/>
              <a:gdLst/>
              <a:ahLst/>
              <a:cxnLst/>
              <a:rect l="l" t="t" r="r" b="b"/>
              <a:pathLst>
                <a:path w="3291838" h="694944">
                  <a:moveTo>
                    <a:pt x="0" y="0"/>
                  </a:moveTo>
                  <a:lnTo>
                    <a:pt x="3291838" y="0"/>
                  </a:lnTo>
                  <a:lnTo>
                    <a:pt x="3291838" y="694944"/>
                  </a:lnTo>
                  <a:lnTo>
                    <a:pt x="0" y="694944"/>
                  </a:lnTo>
                  <a:close/>
                </a:path>
              </a:pathLst>
            </a:custGeom>
            <a:blipFill>
              <a:blip r:embed="rId1">
                <a:alphaModFix amt="0"/>
              </a:blip>
              <a:stretch>
                <a:fillRect t="-42297" b="-42297"/>
              </a:stretch>
            </a:blipFill>
          </p:spPr>
          <p:txBody>
            <a:bodyPr/>
            <a:p/>
          </p:txBody>
        </p:sp>
        <p:sp>
          <p:nvSpPr>
            <p:cNvPr id="54" name="TextBox 54"/>
            <p:cNvSpPr txBox="1"/>
            <p:nvPr/>
          </p:nvSpPr>
          <p:spPr>
            <a:xfrm>
              <a:off x="0" y="-47625"/>
              <a:ext cx="3291840" cy="74256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Chia tập cố định</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55" name="TextBox 55"/>
          <p:cNvSpPr txBox="1"/>
          <p:nvPr/>
        </p:nvSpPr>
        <p:spPr>
          <a:xfrm>
            <a:off x="1261872" y="7936230"/>
            <a:ext cx="2962656" cy="5676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split chính thức; val ViVQA 1.200; seed 42</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56" name="TextBox 56"/>
          <p:cNvSpPr txBox="1"/>
          <p:nvPr/>
        </p:nvSpPr>
        <p:spPr>
          <a:xfrm>
            <a:off x="4416552" y="5759577"/>
            <a:ext cx="274320" cy="330327"/>
          </a:xfrm>
          <a:prstGeom prst="rect">
            <a:avLst/>
          </a:prstGeom>
        </p:spPr>
        <p:txBody>
          <a:bodyPr lIns="0" tIns="0" rIns="0" bIns="0" rtlCol="0" anchor="t">
            <a:spAutoFit/>
          </a:bodyPr>
          <a:lstStyle/>
          <a:p>
            <a:pPr algn="l">
              <a:lnSpc>
                <a:spcPts val="1530"/>
              </a:lnSpc>
            </a:pPr>
            <a:r>
              <a:rPr lang="en-US" sz="1275">
                <a:solidFill>
                  <a:srgbClr val="5B677A"/>
                </a:solidFill>
                <a:latin typeface="Calibri (MS)" panose="020F0502020204030204"/>
                <a:ea typeface="Calibri (MS)" panose="020F0502020204030204"/>
                <a:cs typeface="Calibri (MS)" panose="020F0502020204030204"/>
                <a:sym typeface="Calibri (MS)" panose="020F0502020204030204"/>
              </a:rPr>
              <a:t>ảnh</a:t>
            </a:r>
            <a:endParaRPr lang="en-US" sz="12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57" name="Group 57"/>
          <p:cNvGrpSpPr/>
          <p:nvPr/>
        </p:nvGrpSpPr>
        <p:grpSpPr>
          <a:xfrm rot="0">
            <a:off x="7063740" y="3017520"/>
            <a:ext cx="5417820" cy="5952744"/>
            <a:chOff x="0" y="0"/>
            <a:chExt cx="7223760" cy="7936992"/>
          </a:xfrm>
        </p:grpSpPr>
        <p:sp>
          <p:nvSpPr>
            <p:cNvPr id="58" name="Freeform 58"/>
            <p:cNvSpPr/>
            <p:nvPr/>
          </p:nvSpPr>
          <p:spPr>
            <a:xfrm>
              <a:off x="0" y="0"/>
              <a:ext cx="7223760" cy="7936992"/>
            </a:xfrm>
            <a:custGeom>
              <a:avLst/>
              <a:gdLst/>
              <a:ahLst/>
              <a:cxnLst/>
              <a:rect l="l" t="t" r="r" b="b"/>
              <a:pathLst>
                <a:path w="7223760" h="7936992">
                  <a:moveTo>
                    <a:pt x="0" y="288925"/>
                  </a:moveTo>
                  <a:cubicBezTo>
                    <a:pt x="0" y="129413"/>
                    <a:pt x="129413" y="0"/>
                    <a:pt x="288925" y="0"/>
                  </a:cubicBezTo>
                  <a:lnTo>
                    <a:pt x="6934835" y="0"/>
                  </a:lnTo>
                  <a:cubicBezTo>
                    <a:pt x="7094474" y="0"/>
                    <a:pt x="7223760" y="129413"/>
                    <a:pt x="7223760" y="288925"/>
                  </a:cubicBezTo>
                  <a:lnTo>
                    <a:pt x="7223760" y="7648067"/>
                  </a:lnTo>
                  <a:cubicBezTo>
                    <a:pt x="7223760" y="7807706"/>
                    <a:pt x="7094347" y="7936992"/>
                    <a:pt x="6934835" y="7936992"/>
                  </a:cubicBezTo>
                  <a:lnTo>
                    <a:pt x="288925" y="7936992"/>
                  </a:lnTo>
                  <a:cubicBezTo>
                    <a:pt x="129413" y="7936992"/>
                    <a:pt x="0" y="7807579"/>
                    <a:pt x="0" y="7648067"/>
                  </a:cubicBezTo>
                  <a:close/>
                </a:path>
              </a:pathLst>
            </a:custGeom>
            <a:solidFill>
              <a:srgbClr val="FDF8EE"/>
            </a:solidFill>
          </p:spPr>
          <p:txBody>
            <a:bodyPr/>
            <a:p/>
          </p:txBody>
        </p:sp>
      </p:grpSp>
      <p:grpSp>
        <p:nvGrpSpPr>
          <p:cNvPr id="59" name="Group 59"/>
          <p:cNvGrpSpPr/>
          <p:nvPr/>
        </p:nvGrpSpPr>
        <p:grpSpPr>
          <a:xfrm rot="0">
            <a:off x="7310628" y="3113532"/>
            <a:ext cx="5006340" cy="411480"/>
            <a:chOff x="0" y="0"/>
            <a:chExt cx="6675120" cy="548640"/>
          </a:xfrm>
        </p:grpSpPr>
        <p:sp>
          <p:nvSpPr>
            <p:cNvPr id="60" name="Freeform 60"/>
            <p:cNvSpPr/>
            <p:nvPr/>
          </p:nvSpPr>
          <p:spPr>
            <a:xfrm>
              <a:off x="0" y="0"/>
              <a:ext cx="6675120" cy="548640"/>
            </a:xfrm>
            <a:custGeom>
              <a:avLst/>
              <a:gdLst/>
              <a:ahLst/>
              <a:cxnLst/>
              <a:rect l="l" t="t" r="r" b="b"/>
              <a:pathLst>
                <a:path w="6675120" h="548640">
                  <a:moveTo>
                    <a:pt x="0" y="0"/>
                  </a:moveTo>
                  <a:lnTo>
                    <a:pt x="6675120" y="0"/>
                  </a:lnTo>
                  <a:lnTo>
                    <a:pt x="6675120" y="548640"/>
                  </a:lnTo>
                  <a:lnTo>
                    <a:pt x="0" y="548640"/>
                  </a:lnTo>
                  <a:close/>
                </a:path>
              </a:pathLst>
            </a:custGeom>
            <a:blipFill>
              <a:blip r:embed="rId1">
                <a:alphaModFix amt="0"/>
              </a:blip>
              <a:stretch>
                <a:fillRect t="-187067" b="-187067"/>
              </a:stretch>
            </a:blipFill>
          </p:spPr>
          <p:txBody>
            <a:bodyPr/>
            <a:p/>
          </p:txBody>
        </p:sp>
        <p:sp>
          <p:nvSpPr>
            <p:cNvPr id="61" name="TextBox 61"/>
            <p:cNvSpPr txBox="1"/>
            <p:nvPr/>
          </p:nvSpPr>
          <p:spPr>
            <a:xfrm>
              <a:off x="0" y="-38100"/>
              <a:ext cx="6675120" cy="586740"/>
            </a:xfrm>
            <a:prstGeom prst="rect">
              <a:avLst/>
            </a:prstGeom>
          </p:spPr>
          <p:txBody>
            <a:bodyPr lIns="0" tIns="0" rIns="0" bIns="0" rtlCol="0" anchor="ctr"/>
            <a:lstStyle/>
            <a:p>
              <a:pPr algn="l">
                <a:lnSpc>
                  <a:spcPts val="1800"/>
                </a:lnSpc>
              </a:pPr>
              <a:r>
                <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rPr>
                <a:t>B · HUẤN LUYỆN &amp; SUY LUẬN  —  giống hệt mọi run</a:t>
              </a:r>
              <a:endPar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62" name="Group 62"/>
          <p:cNvGrpSpPr/>
          <p:nvPr/>
        </p:nvGrpSpPr>
        <p:grpSpPr>
          <a:xfrm rot="0">
            <a:off x="7257574" y="3718846"/>
            <a:ext cx="5030153" cy="1367980"/>
            <a:chOff x="0" y="0"/>
            <a:chExt cx="6706870" cy="1823974"/>
          </a:xfrm>
        </p:grpSpPr>
        <p:sp>
          <p:nvSpPr>
            <p:cNvPr id="63" name="Freeform 63"/>
            <p:cNvSpPr/>
            <p:nvPr/>
          </p:nvSpPr>
          <p:spPr>
            <a:xfrm>
              <a:off x="0" y="0"/>
              <a:ext cx="6706870" cy="1823974"/>
            </a:xfrm>
            <a:custGeom>
              <a:avLst/>
              <a:gdLst/>
              <a:ahLst/>
              <a:cxnLst/>
              <a:rect l="l" t="t" r="r" b="b"/>
              <a:pathLst>
                <a:path w="6706870" h="1823974">
                  <a:moveTo>
                    <a:pt x="0" y="182372"/>
                  </a:moveTo>
                  <a:cubicBezTo>
                    <a:pt x="0" y="81661"/>
                    <a:pt x="81661" y="0"/>
                    <a:pt x="182372" y="0"/>
                  </a:cubicBezTo>
                  <a:lnTo>
                    <a:pt x="6524498" y="0"/>
                  </a:lnTo>
                  <a:cubicBezTo>
                    <a:pt x="6625209" y="0"/>
                    <a:pt x="6706870" y="81661"/>
                    <a:pt x="6706870" y="182372"/>
                  </a:cubicBezTo>
                  <a:lnTo>
                    <a:pt x="6706870" y="1641602"/>
                  </a:lnTo>
                  <a:cubicBezTo>
                    <a:pt x="6706870" y="1742313"/>
                    <a:pt x="6625209" y="1823974"/>
                    <a:pt x="6524498" y="1823974"/>
                  </a:cubicBezTo>
                  <a:lnTo>
                    <a:pt x="182372" y="1823974"/>
                  </a:lnTo>
                  <a:cubicBezTo>
                    <a:pt x="81661" y="1823974"/>
                    <a:pt x="0" y="1742313"/>
                    <a:pt x="0" y="1641602"/>
                  </a:cubicBezTo>
                  <a:close/>
                </a:path>
              </a:pathLst>
            </a:custGeom>
            <a:solidFill>
              <a:srgbClr val="FFFFFF"/>
            </a:solidFill>
            <a:ln w="23812" cap="sq">
              <a:solidFill>
                <a:srgbClr val="E2E7EE"/>
              </a:solidFill>
              <a:prstDash val="solid"/>
              <a:miter/>
            </a:ln>
          </p:spPr>
          <p:txBody>
            <a:bodyPr/>
            <a:p/>
          </p:txBody>
        </p:sp>
      </p:grpSp>
      <p:grpSp>
        <p:nvGrpSpPr>
          <p:cNvPr id="64" name="Group 64"/>
          <p:cNvGrpSpPr/>
          <p:nvPr/>
        </p:nvGrpSpPr>
        <p:grpSpPr>
          <a:xfrm rot="0">
            <a:off x="7424547" y="3885819"/>
            <a:ext cx="485394" cy="485394"/>
            <a:chOff x="0" y="0"/>
            <a:chExt cx="647192" cy="647192"/>
          </a:xfrm>
        </p:grpSpPr>
        <p:sp>
          <p:nvSpPr>
            <p:cNvPr id="65" name="Freeform 65"/>
            <p:cNvSpPr/>
            <p:nvPr/>
          </p:nvSpPr>
          <p:spPr>
            <a:xfrm>
              <a:off x="0" y="0"/>
              <a:ext cx="647192" cy="647192"/>
            </a:xfrm>
            <a:custGeom>
              <a:avLst/>
              <a:gdLst/>
              <a:ahLst/>
              <a:cxnLst/>
              <a:rect l="l" t="t" r="r" b="b"/>
              <a:pathLst>
                <a:path w="647192" h="647192">
                  <a:moveTo>
                    <a:pt x="0" y="323596"/>
                  </a:moveTo>
                  <a:cubicBezTo>
                    <a:pt x="0" y="144907"/>
                    <a:pt x="144907" y="0"/>
                    <a:pt x="323596" y="0"/>
                  </a:cubicBezTo>
                  <a:cubicBezTo>
                    <a:pt x="502285" y="0"/>
                    <a:pt x="647192" y="144907"/>
                    <a:pt x="647192" y="323596"/>
                  </a:cubicBezTo>
                  <a:cubicBezTo>
                    <a:pt x="647192" y="502285"/>
                    <a:pt x="502285" y="647192"/>
                    <a:pt x="323596" y="647192"/>
                  </a:cubicBezTo>
                  <a:cubicBezTo>
                    <a:pt x="144907" y="647192"/>
                    <a:pt x="0" y="502285"/>
                    <a:pt x="0" y="323596"/>
                  </a:cubicBezTo>
                  <a:close/>
                </a:path>
              </a:pathLst>
            </a:custGeom>
            <a:solidFill>
              <a:srgbClr val="13294B"/>
            </a:solidFill>
            <a:ln w="19050" cap="sq">
              <a:solidFill>
                <a:srgbClr val="13294B"/>
              </a:solidFill>
              <a:prstDash val="solid"/>
              <a:miter/>
            </a:ln>
          </p:spPr>
          <p:txBody>
            <a:bodyPr/>
            <a:p/>
          </p:txBody>
        </p:sp>
        <p:sp>
          <p:nvSpPr>
            <p:cNvPr id="66" name="TextBox 66"/>
            <p:cNvSpPr txBox="1"/>
            <p:nvPr/>
          </p:nvSpPr>
          <p:spPr>
            <a:xfrm>
              <a:off x="0" y="-38100"/>
              <a:ext cx="647192" cy="685292"/>
            </a:xfrm>
            <a:prstGeom prst="rect">
              <a:avLst/>
            </a:prstGeom>
          </p:spPr>
          <p:txBody>
            <a:bodyPr lIns="50800" tIns="50800" rIns="50800" bIns="5080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5</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67" name="Group 67"/>
          <p:cNvGrpSpPr/>
          <p:nvPr/>
        </p:nvGrpSpPr>
        <p:grpSpPr>
          <a:xfrm rot="0">
            <a:off x="8010144" y="3867912"/>
            <a:ext cx="4155948" cy="521208"/>
            <a:chOff x="0" y="0"/>
            <a:chExt cx="5541264" cy="694944"/>
          </a:xfrm>
        </p:grpSpPr>
        <p:sp>
          <p:nvSpPr>
            <p:cNvPr id="68" name="Freeform 68"/>
            <p:cNvSpPr/>
            <p:nvPr/>
          </p:nvSpPr>
          <p:spPr>
            <a:xfrm>
              <a:off x="0" y="0"/>
              <a:ext cx="5541264" cy="694944"/>
            </a:xfrm>
            <a:custGeom>
              <a:avLst/>
              <a:gdLst/>
              <a:ahLst/>
              <a:cxnLst/>
              <a:rect l="l" t="t" r="r" b="b"/>
              <a:pathLst>
                <a:path w="5541264" h="694944">
                  <a:moveTo>
                    <a:pt x="0" y="0"/>
                  </a:moveTo>
                  <a:lnTo>
                    <a:pt x="5541264" y="0"/>
                  </a:lnTo>
                  <a:lnTo>
                    <a:pt x="5541264" y="694944"/>
                  </a:lnTo>
                  <a:lnTo>
                    <a:pt x="0" y="694944"/>
                  </a:lnTo>
                  <a:close/>
                </a:path>
              </a:pathLst>
            </a:custGeom>
            <a:blipFill>
              <a:blip r:embed="rId1">
                <a:alphaModFix amt="0"/>
              </a:blip>
              <a:stretch>
                <a:fillRect t="-105367" b="-105367"/>
              </a:stretch>
            </a:blipFill>
          </p:spPr>
          <p:txBody>
            <a:bodyPr/>
            <a:p/>
          </p:txBody>
        </p:sp>
        <p:sp>
          <p:nvSpPr>
            <p:cNvPr id="69" name="TextBox 69"/>
            <p:cNvSpPr txBox="1"/>
            <p:nvPr/>
          </p:nvSpPr>
          <p:spPr>
            <a:xfrm>
              <a:off x="0" y="-47625"/>
              <a:ext cx="5541264" cy="74256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Ghép prompt</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70" name="TextBox 70"/>
          <p:cNvSpPr txBox="1"/>
          <p:nvPr/>
        </p:nvSpPr>
        <p:spPr>
          <a:xfrm>
            <a:off x="7461504" y="4424934"/>
            <a:ext cx="4649724" cy="5676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ảnh + câu hỏi tiếng Việt (+ một dòng chữ OCR)</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71" name="Group 71"/>
          <p:cNvGrpSpPr/>
          <p:nvPr/>
        </p:nvGrpSpPr>
        <p:grpSpPr>
          <a:xfrm rot="0">
            <a:off x="7257574" y="5474494"/>
            <a:ext cx="5030153" cy="3123628"/>
            <a:chOff x="0" y="0"/>
            <a:chExt cx="6706870" cy="4164838"/>
          </a:xfrm>
        </p:grpSpPr>
        <p:sp>
          <p:nvSpPr>
            <p:cNvPr id="72" name="Freeform 72"/>
            <p:cNvSpPr/>
            <p:nvPr/>
          </p:nvSpPr>
          <p:spPr>
            <a:xfrm>
              <a:off x="0" y="0"/>
              <a:ext cx="6706870" cy="4164838"/>
            </a:xfrm>
            <a:custGeom>
              <a:avLst/>
              <a:gdLst/>
              <a:ahLst/>
              <a:cxnLst/>
              <a:rect l="l" t="t" r="r" b="b"/>
              <a:pathLst>
                <a:path w="6706870" h="4164838">
                  <a:moveTo>
                    <a:pt x="0" y="416433"/>
                  </a:moveTo>
                  <a:cubicBezTo>
                    <a:pt x="0" y="186436"/>
                    <a:pt x="186436" y="0"/>
                    <a:pt x="416433" y="0"/>
                  </a:cubicBezTo>
                  <a:lnTo>
                    <a:pt x="6290437" y="0"/>
                  </a:lnTo>
                  <a:cubicBezTo>
                    <a:pt x="6520434" y="0"/>
                    <a:pt x="6706870" y="186436"/>
                    <a:pt x="6706870" y="416433"/>
                  </a:cubicBezTo>
                  <a:lnTo>
                    <a:pt x="6706870" y="3748405"/>
                  </a:lnTo>
                  <a:cubicBezTo>
                    <a:pt x="6706870" y="3978402"/>
                    <a:pt x="6520434" y="4164838"/>
                    <a:pt x="6290437" y="4164838"/>
                  </a:cubicBezTo>
                  <a:lnTo>
                    <a:pt x="416433" y="4164838"/>
                  </a:lnTo>
                  <a:cubicBezTo>
                    <a:pt x="186436" y="4164838"/>
                    <a:pt x="0" y="3978402"/>
                    <a:pt x="0" y="3748405"/>
                  </a:cubicBezTo>
                  <a:close/>
                </a:path>
              </a:pathLst>
            </a:custGeom>
            <a:solidFill>
              <a:srgbClr val="FBF0DA"/>
            </a:solidFill>
            <a:ln w="23812" cap="sq">
              <a:solidFill>
                <a:srgbClr val="E8A33D"/>
              </a:solidFill>
              <a:prstDash val="solid"/>
              <a:miter/>
            </a:ln>
          </p:spPr>
          <p:txBody>
            <a:bodyPr/>
            <a:p/>
          </p:txBody>
        </p:sp>
      </p:grpSp>
      <p:grpSp>
        <p:nvGrpSpPr>
          <p:cNvPr id="73" name="Group 73"/>
          <p:cNvGrpSpPr/>
          <p:nvPr/>
        </p:nvGrpSpPr>
        <p:grpSpPr>
          <a:xfrm rot="0">
            <a:off x="7424547" y="5641467"/>
            <a:ext cx="485394" cy="485394"/>
            <a:chOff x="0" y="0"/>
            <a:chExt cx="647192" cy="647192"/>
          </a:xfrm>
        </p:grpSpPr>
        <p:sp>
          <p:nvSpPr>
            <p:cNvPr id="74" name="Freeform 74"/>
            <p:cNvSpPr/>
            <p:nvPr/>
          </p:nvSpPr>
          <p:spPr>
            <a:xfrm>
              <a:off x="0" y="0"/>
              <a:ext cx="647192" cy="647192"/>
            </a:xfrm>
            <a:custGeom>
              <a:avLst/>
              <a:gdLst/>
              <a:ahLst/>
              <a:cxnLst/>
              <a:rect l="l" t="t" r="r" b="b"/>
              <a:pathLst>
                <a:path w="647192" h="647192">
                  <a:moveTo>
                    <a:pt x="0" y="323596"/>
                  </a:moveTo>
                  <a:cubicBezTo>
                    <a:pt x="0" y="144907"/>
                    <a:pt x="144907" y="0"/>
                    <a:pt x="323596" y="0"/>
                  </a:cubicBezTo>
                  <a:cubicBezTo>
                    <a:pt x="502285" y="0"/>
                    <a:pt x="647192" y="144907"/>
                    <a:pt x="647192" y="323596"/>
                  </a:cubicBezTo>
                  <a:cubicBezTo>
                    <a:pt x="647192" y="502285"/>
                    <a:pt x="502285" y="647192"/>
                    <a:pt x="323596" y="647192"/>
                  </a:cubicBezTo>
                  <a:cubicBezTo>
                    <a:pt x="144907" y="647192"/>
                    <a:pt x="0" y="502285"/>
                    <a:pt x="0" y="323596"/>
                  </a:cubicBezTo>
                  <a:close/>
                </a:path>
              </a:pathLst>
            </a:custGeom>
            <a:solidFill>
              <a:srgbClr val="E8A33D"/>
            </a:solidFill>
            <a:ln w="19050" cap="sq">
              <a:solidFill>
                <a:srgbClr val="E8A33D"/>
              </a:solidFill>
              <a:prstDash val="solid"/>
              <a:miter/>
            </a:ln>
          </p:spPr>
          <p:txBody>
            <a:bodyPr/>
            <a:p/>
          </p:txBody>
        </p:sp>
        <p:sp>
          <p:nvSpPr>
            <p:cNvPr id="75" name="TextBox 75"/>
            <p:cNvSpPr txBox="1"/>
            <p:nvPr/>
          </p:nvSpPr>
          <p:spPr>
            <a:xfrm>
              <a:off x="0" y="-38100"/>
              <a:ext cx="647192" cy="685292"/>
            </a:xfrm>
            <a:prstGeom prst="rect">
              <a:avLst/>
            </a:prstGeom>
          </p:spPr>
          <p:txBody>
            <a:bodyPr lIns="50800" tIns="50800" rIns="50800" bIns="5080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6</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76" name="Group 76"/>
          <p:cNvGrpSpPr/>
          <p:nvPr/>
        </p:nvGrpSpPr>
        <p:grpSpPr>
          <a:xfrm rot="0">
            <a:off x="8010144" y="5623560"/>
            <a:ext cx="4155948" cy="521208"/>
            <a:chOff x="0" y="0"/>
            <a:chExt cx="5541264" cy="694944"/>
          </a:xfrm>
        </p:grpSpPr>
        <p:sp>
          <p:nvSpPr>
            <p:cNvPr id="77" name="Freeform 77"/>
            <p:cNvSpPr/>
            <p:nvPr/>
          </p:nvSpPr>
          <p:spPr>
            <a:xfrm>
              <a:off x="0" y="0"/>
              <a:ext cx="5541264" cy="694944"/>
            </a:xfrm>
            <a:custGeom>
              <a:avLst/>
              <a:gdLst/>
              <a:ahLst/>
              <a:cxnLst/>
              <a:rect l="l" t="t" r="r" b="b"/>
              <a:pathLst>
                <a:path w="5541264" h="694944">
                  <a:moveTo>
                    <a:pt x="0" y="0"/>
                  </a:moveTo>
                  <a:lnTo>
                    <a:pt x="5541264" y="0"/>
                  </a:lnTo>
                  <a:lnTo>
                    <a:pt x="5541264" y="694944"/>
                  </a:lnTo>
                  <a:lnTo>
                    <a:pt x="0" y="694944"/>
                  </a:lnTo>
                  <a:close/>
                </a:path>
              </a:pathLst>
            </a:custGeom>
            <a:blipFill>
              <a:blip r:embed="rId1">
                <a:alphaModFix amt="0"/>
              </a:blip>
              <a:stretch>
                <a:fillRect t="-105367" b="-105367"/>
              </a:stretch>
            </a:blipFill>
          </p:spPr>
          <p:txBody>
            <a:bodyPr/>
            <a:p/>
          </p:txBody>
        </p:sp>
        <p:sp>
          <p:nvSpPr>
            <p:cNvPr id="78" name="TextBox 78"/>
            <p:cNvSpPr txBox="1"/>
            <p:nvPr/>
          </p:nvSpPr>
          <p:spPr>
            <a:xfrm>
              <a:off x="0" y="-47625"/>
              <a:ext cx="5541264" cy="74256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Qwen2.5-VL-3B-Instruct</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79" name="Group 79"/>
          <p:cNvGrpSpPr/>
          <p:nvPr/>
        </p:nvGrpSpPr>
        <p:grpSpPr>
          <a:xfrm rot="0">
            <a:off x="7479411" y="6244971"/>
            <a:ext cx="4586478" cy="595122"/>
            <a:chOff x="0" y="0"/>
            <a:chExt cx="6115304" cy="793496"/>
          </a:xfrm>
        </p:grpSpPr>
        <p:sp>
          <p:nvSpPr>
            <p:cNvPr id="80" name="Freeform 80"/>
            <p:cNvSpPr/>
            <p:nvPr/>
          </p:nvSpPr>
          <p:spPr>
            <a:xfrm>
              <a:off x="0" y="0"/>
              <a:ext cx="6115304" cy="793496"/>
            </a:xfrm>
            <a:custGeom>
              <a:avLst/>
              <a:gdLst/>
              <a:ahLst/>
              <a:cxnLst/>
              <a:rect l="l" t="t" r="r" b="b"/>
              <a:pathLst>
                <a:path w="6115304" h="793496">
                  <a:moveTo>
                    <a:pt x="0" y="158750"/>
                  </a:moveTo>
                  <a:cubicBezTo>
                    <a:pt x="0" y="70993"/>
                    <a:pt x="70993" y="0"/>
                    <a:pt x="158750" y="0"/>
                  </a:cubicBezTo>
                  <a:lnTo>
                    <a:pt x="5956554" y="0"/>
                  </a:lnTo>
                  <a:cubicBezTo>
                    <a:pt x="6044184" y="0"/>
                    <a:pt x="6115304" y="70993"/>
                    <a:pt x="6115304" y="158750"/>
                  </a:cubicBezTo>
                  <a:lnTo>
                    <a:pt x="6115304" y="634746"/>
                  </a:lnTo>
                  <a:cubicBezTo>
                    <a:pt x="6115304" y="722376"/>
                    <a:pt x="6044311" y="793496"/>
                    <a:pt x="5956554" y="793496"/>
                  </a:cubicBezTo>
                  <a:lnTo>
                    <a:pt x="158750" y="793496"/>
                  </a:lnTo>
                  <a:cubicBezTo>
                    <a:pt x="70993" y="793496"/>
                    <a:pt x="0" y="722503"/>
                    <a:pt x="0" y="634746"/>
                  </a:cubicBezTo>
                  <a:close/>
                </a:path>
              </a:pathLst>
            </a:custGeom>
            <a:solidFill>
              <a:srgbClr val="FFFFFF"/>
            </a:solidFill>
            <a:ln w="19050" cap="sq">
              <a:solidFill>
                <a:srgbClr val="E2E7EE"/>
              </a:solidFill>
              <a:prstDash val="solid"/>
              <a:miter/>
            </a:ln>
          </p:spPr>
          <p:txBody>
            <a:bodyPr/>
            <a:p/>
          </p:txBody>
        </p:sp>
        <p:sp>
          <p:nvSpPr>
            <p:cNvPr id="81" name="TextBox 81"/>
            <p:cNvSpPr txBox="1"/>
            <p:nvPr/>
          </p:nvSpPr>
          <p:spPr>
            <a:xfrm>
              <a:off x="0" y="-19050"/>
              <a:ext cx="6115304" cy="812546"/>
            </a:xfrm>
            <a:prstGeom prst="rect">
              <a:avLst/>
            </a:prstGeom>
          </p:spPr>
          <p:txBody>
            <a:bodyPr lIns="50800" tIns="50800" rIns="50800" bIns="50800" rtlCol="0" anchor="ctr"/>
            <a:lstStyle/>
            <a:p>
              <a:pPr algn="ctr">
                <a:lnSpc>
                  <a:spcPts val="1890"/>
                </a:lnSpc>
              </a:pPr>
              <a:r>
                <a:rPr lang="en-US" sz="1575">
                  <a:solidFill>
                    <a:srgbClr val="1F2A37"/>
                  </a:solidFill>
                  <a:latin typeface="Calibri (MS)" panose="020F0502020204030204"/>
                  <a:ea typeface="Calibri (MS)" panose="020F0502020204030204"/>
                  <a:cs typeface="Calibri (MS)" panose="020F0502020204030204"/>
                  <a:sym typeface="Calibri (MS)" panose="020F0502020204030204"/>
                </a:rPr>
                <a:t>Vision encoder (đóng băng)  ·  ảnh → token ảnh</a:t>
              </a:r>
              <a:endParaRPr lang="en-US" sz="1575">
                <a:solidFill>
                  <a:srgbClr val="1F2A37"/>
                </a:solidFill>
                <a:latin typeface="Calibri (MS)" panose="020F0502020204030204"/>
                <a:ea typeface="Calibri (MS)" panose="020F0502020204030204"/>
                <a:cs typeface="Calibri (MS)" panose="020F0502020204030204"/>
                <a:sym typeface="Calibri (MS)" panose="020F0502020204030204"/>
              </a:endParaRPr>
            </a:p>
          </p:txBody>
        </p:sp>
      </p:grpSp>
      <p:grpSp>
        <p:nvGrpSpPr>
          <p:cNvPr id="82" name="Group 82"/>
          <p:cNvGrpSpPr/>
          <p:nvPr/>
        </p:nvGrpSpPr>
        <p:grpSpPr>
          <a:xfrm rot="0">
            <a:off x="7477030" y="7038118"/>
            <a:ext cx="4591240" cy="654748"/>
            <a:chOff x="0" y="0"/>
            <a:chExt cx="6121654" cy="872998"/>
          </a:xfrm>
        </p:grpSpPr>
        <p:sp>
          <p:nvSpPr>
            <p:cNvPr id="83" name="Freeform 83"/>
            <p:cNvSpPr/>
            <p:nvPr/>
          </p:nvSpPr>
          <p:spPr>
            <a:xfrm>
              <a:off x="0" y="0"/>
              <a:ext cx="6121654" cy="872998"/>
            </a:xfrm>
            <a:custGeom>
              <a:avLst/>
              <a:gdLst/>
              <a:ahLst/>
              <a:cxnLst/>
              <a:rect l="l" t="t" r="r" b="b"/>
              <a:pathLst>
                <a:path w="6121654" h="872998">
                  <a:moveTo>
                    <a:pt x="0" y="174625"/>
                  </a:moveTo>
                  <a:cubicBezTo>
                    <a:pt x="0" y="78232"/>
                    <a:pt x="78232" y="0"/>
                    <a:pt x="174625" y="0"/>
                  </a:cubicBezTo>
                  <a:lnTo>
                    <a:pt x="5947029" y="0"/>
                  </a:lnTo>
                  <a:cubicBezTo>
                    <a:pt x="6043422" y="0"/>
                    <a:pt x="6121654" y="78232"/>
                    <a:pt x="6121654" y="174625"/>
                  </a:cubicBezTo>
                  <a:lnTo>
                    <a:pt x="6121654" y="698373"/>
                  </a:lnTo>
                  <a:cubicBezTo>
                    <a:pt x="6121654" y="794766"/>
                    <a:pt x="6043422" y="872998"/>
                    <a:pt x="5947029" y="872998"/>
                  </a:cubicBezTo>
                  <a:lnTo>
                    <a:pt x="174625" y="872998"/>
                  </a:lnTo>
                  <a:cubicBezTo>
                    <a:pt x="78232" y="872998"/>
                    <a:pt x="0" y="794766"/>
                    <a:pt x="0" y="698373"/>
                  </a:cubicBezTo>
                  <a:close/>
                </a:path>
              </a:pathLst>
            </a:custGeom>
            <a:solidFill>
              <a:srgbClr val="FFFFFF"/>
            </a:solidFill>
            <a:ln w="23812" cap="sq">
              <a:solidFill>
                <a:srgbClr val="E8A33D"/>
              </a:solidFill>
              <a:prstDash val="solid"/>
              <a:miter/>
            </a:ln>
          </p:spPr>
          <p:txBody>
            <a:bodyPr/>
            <a:p/>
          </p:txBody>
        </p:sp>
        <p:sp>
          <p:nvSpPr>
            <p:cNvPr id="84" name="TextBox 84"/>
            <p:cNvSpPr txBox="1"/>
            <p:nvPr/>
          </p:nvSpPr>
          <p:spPr>
            <a:xfrm>
              <a:off x="0" y="-19050"/>
              <a:ext cx="6121654" cy="892048"/>
            </a:xfrm>
            <a:prstGeom prst="rect">
              <a:avLst/>
            </a:prstGeom>
          </p:spPr>
          <p:txBody>
            <a:bodyPr lIns="50800" tIns="50800" rIns="50800" bIns="50800" rtlCol="0" anchor="ctr"/>
            <a:lstStyle/>
            <a:p>
              <a:pPr algn="ctr">
                <a:lnSpc>
                  <a:spcPts val="1890"/>
                </a:lnSpc>
              </a:pPr>
              <a:r>
                <a:rPr lang="en-US" sz="1575">
                  <a:solidFill>
                    <a:srgbClr val="1F2A37"/>
                  </a:solidFill>
                  <a:latin typeface="Calibri (MS)" panose="020F0502020204030204"/>
                  <a:ea typeface="Calibri (MS)" panose="020F0502020204030204"/>
                  <a:cs typeface="Calibri (MS)" panose="020F0502020204030204"/>
                  <a:sym typeface="Calibri (MS)" panose="020F0502020204030204"/>
                </a:rPr>
                <a:t>LLM 4-bit NF4 (đóng băng)  </a:t>
              </a:r>
              <a:r>
                <a:rPr lang="en-US" sz="1575" b="1">
                  <a:solidFill>
                    <a:srgbClr val="B86E0E"/>
                  </a:solidFill>
                  <a:latin typeface="Calibri (MS) Bold" panose="020F0702030404030204"/>
                  <a:ea typeface="Calibri (MS) Bold" panose="020F0702030404030204"/>
                  <a:cs typeface="Calibri (MS) Bold" panose="020F0702030404030204"/>
                  <a:sym typeface="Calibri (MS) Bold" panose="020F0702030404030204"/>
                </a:rPr>
                <a:t>+ LoRA r = 16 (train)</a:t>
              </a:r>
              <a:endParaRPr lang="en-US" sz="1575" b="1">
                <a:solidFill>
                  <a:srgbClr val="B86E0E"/>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85" name="TextBox 85"/>
          <p:cNvSpPr txBox="1"/>
          <p:nvPr/>
        </p:nvSpPr>
        <p:spPr>
          <a:xfrm>
            <a:off x="7516368" y="7771638"/>
            <a:ext cx="4512564" cy="773430"/>
          </a:xfrm>
          <a:prstGeom prst="rect">
            <a:avLst/>
          </a:prstGeom>
        </p:spPr>
        <p:txBody>
          <a:bodyPr lIns="0" tIns="0" rIns="0" bIns="0" rtlCol="0" anchor="t">
            <a:spAutoFit/>
          </a:bodyPr>
          <a:lstStyle/>
          <a:p>
            <a:pPr algn="l">
              <a:lnSpc>
                <a:spcPts val="1890"/>
              </a:lnSpc>
            </a:pPr>
            <a:r>
              <a:rPr lang="en-US" sz="1575" b="1">
                <a:solidFill>
                  <a:srgbClr val="13294B"/>
                </a:solidFill>
                <a:latin typeface="Calibri (MS) Bold" panose="020F0702030404030204"/>
                <a:ea typeface="Calibri (MS) Bold" panose="020F0702030404030204"/>
                <a:cs typeface="Calibri (MS) Bold" panose="020F0702030404030204"/>
                <a:sym typeface="Calibri (MS) Bold" panose="020F0702030404030204"/>
              </a:rPr>
              <a:t>Train: </a:t>
            </a:r>
            <a:r>
              <a:rPr lang="en-US" sz="1575">
                <a:solidFill>
                  <a:srgbClr val="5B677A"/>
                </a:solidFill>
                <a:latin typeface="Calibri (MS)" panose="020F0502020204030204"/>
                <a:ea typeface="Calibri (MS)" panose="020F0502020204030204"/>
                <a:cs typeface="Calibri (MS)" panose="020F0502020204030204"/>
                <a:sym typeface="Calibri (MS)" panose="020F0502020204030204"/>
              </a:rPr>
              <a:t>loss chỉ trên token đáp án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b="1">
                <a:solidFill>
                  <a:srgbClr val="13294B"/>
                </a:solidFill>
                <a:latin typeface="Calibri (MS) Bold" panose="020F0702030404030204"/>
                <a:ea typeface="Calibri (MS) Bold" panose="020F0702030404030204"/>
                <a:cs typeface="Calibri (MS) Bold" panose="020F0702030404030204"/>
                <a:sym typeface="Calibri (MS) Bold" panose="020F0702030404030204"/>
              </a:rPr>
              <a:t>Suy luận: </a:t>
            </a:r>
            <a:r>
              <a:rPr lang="en-US" sz="1575">
                <a:solidFill>
                  <a:srgbClr val="5B677A"/>
                </a:solidFill>
                <a:latin typeface="Calibri (MS)" panose="020F0502020204030204"/>
                <a:ea typeface="Calibri (MS)" panose="020F0502020204030204"/>
                <a:cs typeface="Calibri (MS)" panose="020F0502020204030204"/>
                <a:sym typeface="Calibri (MS)" panose="020F0502020204030204"/>
              </a:rPr>
              <a:t>greedy, câu trả lời ngắn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86" name="Group 86"/>
          <p:cNvGrpSpPr/>
          <p:nvPr/>
        </p:nvGrpSpPr>
        <p:grpSpPr>
          <a:xfrm rot="0">
            <a:off x="4372451" y="4386167"/>
            <a:ext cx="2913698" cy="3544634"/>
            <a:chOff x="0" y="0"/>
            <a:chExt cx="3884930" cy="4726178"/>
          </a:xfrm>
        </p:grpSpPr>
        <p:sp>
          <p:nvSpPr>
            <p:cNvPr id="87" name="Freeform 87"/>
            <p:cNvSpPr/>
            <p:nvPr/>
          </p:nvSpPr>
          <p:spPr>
            <a:xfrm>
              <a:off x="0" y="0"/>
              <a:ext cx="3884930" cy="4726178"/>
            </a:xfrm>
            <a:custGeom>
              <a:avLst/>
              <a:gdLst/>
              <a:ahLst/>
              <a:cxnLst/>
              <a:rect l="l" t="t" r="r" b="b"/>
              <a:pathLst>
                <a:path w="3884930" h="4726178">
                  <a:moveTo>
                    <a:pt x="0" y="4726178"/>
                  </a:moveTo>
                  <a:lnTo>
                    <a:pt x="3385439" y="4726178"/>
                  </a:lnTo>
                  <a:lnTo>
                    <a:pt x="3385439" y="0"/>
                  </a:lnTo>
                  <a:lnTo>
                    <a:pt x="3884930" y="0"/>
                  </a:lnTo>
                </a:path>
              </a:pathLst>
            </a:custGeom>
            <a:blipFill>
              <a:blip r:embed="rId1">
                <a:alphaModFix amt="0"/>
              </a:blip>
              <a:stretch>
                <a:fillRect l="-106086" r="-106086"/>
              </a:stretch>
            </a:blipFill>
            <a:ln w="33338" cap="sq">
              <a:solidFill>
                <a:srgbClr val="1C7293"/>
              </a:solidFill>
              <a:prstDash val="solid"/>
              <a:miter/>
            </a:ln>
          </p:spPr>
          <p:txBody>
            <a:bodyPr/>
            <a:p/>
          </p:txBody>
        </p:sp>
      </p:grpSp>
      <p:sp>
        <p:nvSpPr>
          <p:cNvPr id="88" name="TextBox 88"/>
          <p:cNvSpPr txBox="1"/>
          <p:nvPr/>
        </p:nvSpPr>
        <p:spPr>
          <a:xfrm>
            <a:off x="4828032" y="6856857"/>
            <a:ext cx="2057400" cy="330327"/>
          </a:xfrm>
          <a:prstGeom prst="rect">
            <a:avLst/>
          </a:prstGeom>
        </p:spPr>
        <p:txBody>
          <a:bodyPr lIns="0" tIns="0" rIns="0" bIns="0" rtlCol="0" anchor="t">
            <a:spAutoFit/>
          </a:bodyPr>
          <a:lstStyle/>
          <a:p>
            <a:pPr algn="l">
              <a:lnSpc>
                <a:spcPts val="1530"/>
              </a:lnSpc>
            </a:pPr>
            <a:r>
              <a:rPr lang="en-US" sz="1275">
                <a:solidFill>
                  <a:srgbClr val="B86E0E"/>
                </a:solidFill>
                <a:latin typeface="Calibri (MS)" panose="020F0502020204030204"/>
                <a:ea typeface="Calibri (MS)" panose="020F0502020204030204"/>
                <a:cs typeface="Calibri (MS)" panose="020F0502020204030204"/>
                <a:sym typeface="Calibri (MS)" panose="020F0502020204030204"/>
              </a:rPr>
              <a:t>chữ OCR → prompt</a:t>
            </a:r>
            <a:endParaRPr lang="en-US" sz="1275">
              <a:solidFill>
                <a:srgbClr val="B86E0E"/>
              </a:solidFill>
              <a:latin typeface="Calibri (MS)" panose="020F0502020204030204"/>
              <a:ea typeface="Calibri (MS)" panose="020F0502020204030204"/>
              <a:cs typeface="Calibri (MS)" panose="020F0502020204030204"/>
              <a:sym typeface="Calibri (MS)" panose="020F0502020204030204"/>
            </a:endParaRPr>
          </a:p>
        </p:txBody>
      </p:sp>
      <p:grpSp>
        <p:nvGrpSpPr>
          <p:cNvPr id="89" name="Group 89"/>
          <p:cNvGrpSpPr/>
          <p:nvPr/>
        </p:nvGrpSpPr>
        <p:grpSpPr>
          <a:xfrm rot="0">
            <a:off x="12755880" y="3017520"/>
            <a:ext cx="4704588" cy="5952744"/>
            <a:chOff x="0" y="0"/>
            <a:chExt cx="6272784" cy="7936992"/>
          </a:xfrm>
        </p:grpSpPr>
        <p:sp>
          <p:nvSpPr>
            <p:cNvPr id="90" name="Freeform 90"/>
            <p:cNvSpPr/>
            <p:nvPr/>
          </p:nvSpPr>
          <p:spPr>
            <a:xfrm>
              <a:off x="0" y="0"/>
              <a:ext cx="6272784" cy="7936992"/>
            </a:xfrm>
            <a:custGeom>
              <a:avLst/>
              <a:gdLst/>
              <a:ahLst/>
              <a:cxnLst/>
              <a:rect l="l" t="t" r="r" b="b"/>
              <a:pathLst>
                <a:path w="6272784" h="7936992">
                  <a:moveTo>
                    <a:pt x="0" y="250952"/>
                  </a:moveTo>
                  <a:cubicBezTo>
                    <a:pt x="0" y="112395"/>
                    <a:pt x="112395" y="0"/>
                    <a:pt x="250952" y="0"/>
                  </a:cubicBezTo>
                  <a:lnTo>
                    <a:pt x="6021832" y="0"/>
                  </a:lnTo>
                  <a:cubicBezTo>
                    <a:pt x="6160389" y="0"/>
                    <a:pt x="6272784" y="112395"/>
                    <a:pt x="6272784" y="250952"/>
                  </a:cubicBezTo>
                  <a:lnTo>
                    <a:pt x="6272784" y="7686040"/>
                  </a:lnTo>
                  <a:cubicBezTo>
                    <a:pt x="6272784" y="7824597"/>
                    <a:pt x="6160389" y="7936992"/>
                    <a:pt x="6021832" y="7936992"/>
                  </a:cubicBezTo>
                  <a:lnTo>
                    <a:pt x="250952" y="7936992"/>
                  </a:lnTo>
                  <a:cubicBezTo>
                    <a:pt x="112395" y="7936992"/>
                    <a:pt x="0" y="7824597"/>
                    <a:pt x="0" y="7686040"/>
                  </a:cubicBezTo>
                  <a:close/>
                </a:path>
              </a:pathLst>
            </a:custGeom>
            <a:solidFill>
              <a:srgbClr val="E7F0F3"/>
            </a:solidFill>
          </p:spPr>
          <p:txBody>
            <a:bodyPr/>
            <a:p/>
          </p:txBody>
        </p:sp>
      </p:grpSp>
      <p:grpSp>
        <p:nvGrpSpPr>
          <p:cNvPr id="91" name="Group 91"/>
          <p:cNvGrpSpPr/>
          <p:nvPr/>
        </p:nvGrpSpPr>
        <p:grpSpPr>
          <a:xfrm rot="0">
            <a:off x="13002768" y="3113532"/>
            <a:ext cx="4293108" cy="411480"/>
            <a:chOff x="0" y="0"/>
            <a:chExt cx="5724144" cy="548640"/>
          </a:xfrm>
        </p:grpSpPr>
        <p:sp>
          <p:nvSpPr>
            <p:cNvPr id="92" name="Freeform 92"/>
            <p:cNvSpPr/>
            <p:nvPr/>
          </p:nvSpPr>
          <p:spPr>
            <a:xfrm>
              <a:off x="0" y="0"/>
              <a:ext cx="5724144" cy="548640"/>
            </a:xfrm>
            <a:custGeom>
              <a:avLst/>
              <a:gdLst/>
              <a:ahLst/>
              <a:cxnLst/>
              <a:rect l="l" t="t" r="r" b="b"/>
              <a:pathLst>
                <a:path w="5724144" h="548640">
                  <a:moveTo>
                    <a:pt x="0" y="0"/>
                  </a:moveTo>
                  <a:lnTo>
                    <a:pt x="5724144" y="0"/>
                  </a:lnTo>
                  <a:lnTo>
                    <a:pt x="5724144" y="548640"/>
                  </a:lnTo>
                  <a:lnTo>
                    <a:pt x="0" y="548640"/>
                  </a:lnTo>
                  <a:close/>
                </a:path>
              </a:pathLst>
            </a:custGeom>
            <a:blipFill>
              <a:blip r:embed="rId1">
                <a:alphaModFix amt="0"/>
              </a:blip>
              <a:stretch>
                <a:fillRect t="-153293" b="-153293"/>
              </a:stretch>
            </a:blipFill>
          </p:spPr>
          <p:txBody>
            <a:bodyPr/>
            <a:p/>
          </p:txBody>
        </p:sp>
        <p:sp>
          <p:nvSpPr>
            <p:cNvPr id="93" name="TextBox 93"/>
            <p:cNvSpPr txBox="1"/>
            <p:nvPr/>
          </p:nvSpPr>
          <p:spPr>
            <a:xfrm>
              <a:off x="0" y="-38100"/>
              <a:ext cx="5724144" cy="586740"/>
            </a:xfrm>
            <a:prstGeom prst="rect">
              <a:avLst/>
            </a:prstGeom>
          </p:spPr>
          <p:txBody>
            <a:bodyPr lIns="0" tIns="0" rIns="0" bIns="0" rtlCol="0" anchor="ctr"/>
            <a:lstStyle/>
            <a:p>
              <a:pPr algn="l">
                <a:lnSpc>
                  <a:spcPts val="1800"/>
                </a:lnSpc>
              </a:pPr>
              <a:r>
                <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rPr>
                <a:t>C · ĐÁNH GIÁ &amp; SẢN PHẨM</a:t>
              </a:r>
              <a:endPar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94" name="Group 94"/>
          <p:cNvGrpSpPr/>
          <p:nvPr/>
        </p:nvGrpSpPr>
        <p:grpSpPr>
          <a:xfrm rot="0">
            <a:off x="12949714" y="3718846"/>
            <a:ext cx="4316920" cy="2629852"/>
            <a:chOff x="0" y="0"/>
            <a:chExt cx="5755894" cy="3506470"/>
          </a:xfrm>
        </p:grpSpPr>
        <p:sp>
          <p:nvSpPr>
            <p:cNvPr id="95" name="Freeform 95"/>
            <p:cNvSpPr/>
            <p:nvPr/>
          </p:nvSpPr>
          <p:spPr>
            <a:xfrm>
              <a:off x="0" y="0"/>
              <a:ext cx="5755894" cy="3506470"/>
            </a:xfrm>
            <a:custGeom>
              <a:avLst/>
              <a:gdLst/>
              <a:ahLst/>
              <a:cxnLst/>
              <a:rect l="l" t="t" r="r" b="b"/>
              <a:pathLst>
                <a:path w="5755894" h="3506470">
                  <a:moveTo>
                    <a:pt x="0" y="350647"/>
                  </a:moveTo>
                  <a:cubicBezTo>
                    <a:pt x="0" y="156972"/>
                    <a:pt x="156972" y="0"/>
                    <a:pt x="350647" y="0"/>
                  </a:cubicBezTo>
                  <a:lnTo>
                    <a:pt x="5405247" y="0"/>
                  </a:lnTo>
                  <a:cubicBezTo>
                    <a:pt x="5598922" y="0"/>
                    <a:pt x="5755894" y="156972"/>
                    <a:pt x="5755894" y="350647"/>
                  </a:cubicBezTo>
                  <a:lnTo>
                    <a:pt x="5755894" y="3155823"/>
                  </a:lnTo>
                  <a:cubicBezTo>
                    <a:pt x="5755894" y="3349498"/>
                    <a:pt x="5598922" y="3506470"/>
                    <a:pt x="5405247" y="3506470"/>
                  </a:cubicBezTo>
                  <a:lnTo>
                    <a:pt x="350647" y="3506470"/>
                  </a:lnTo>
                  <a:cubicBezTo>
                    <a:pt x="156972" y="3506470"/>
                    <a:pt x="0" y="3349498"/>
                    <a:pt x="0" y="3155823"/>
                  </a:cubicBezTo>
                  <a:close/>
                </a:path>
              </a:pathLst>
            </a:custGeom>
            <a:solidFill>
              <a:srgbClr val="FFFFFF"/>
            </a:solidFill>
            <a:ln w="23812" cap="sq">
              <a:solidFill>
                <a:srgbClr val="E2E7EE"/>
              </a:solidFill>
              <a:prstDash val="solid"/>
              <a:miter/>
            </a:ln>
          </p:spPr>
          <p:txBody>
            <a:bodyPr/>
            <a:p/>
          </p:txBody>
        </p:sp>
      </p:grpSp>
      <p:grpSp>
        <p:nvGrpSpPr>
          <p:cNvPr id="96" name="Group 96"/>
          <p:cNvGrpSpPr/>
          <p:nvPr/>
        </p:nvGrpSpPr>
        <p:grpSpPr>
          <a:xfrm rot="0">
            <a:off x="13116687" y="3885819"/>
            <a:ext cx="485394" cy="485394"/>
            <a:chOff x="0" y="0"/>
            <a:chExt cx="647192" cy="647192"/>
          </a:xfrm>
        </p:grpSpPr>
        <p:sp>
          <p:nvSpPr>
            <p:cNvPr id="97" name="Freeform 97"/>
            <p:cNvSpPr/>
            <p:nvPr/>
          </p:nvSpPr>
          <p:spPr>
            <a:xfrm>
              <a:off x="0" y="0"/>
              <a:ext cx="647192" cy="647192"/>
            </a:xfrm>
            <a:custGeom>
              <a:avLst/>
              <a:gdLst/>
              <a:ahLst/>
              <a:cxnLst/>
              <a:rect l="l" t="t" r="r" b="b"/>
              <a:pathLst>
                <a:path w="647192" h="647192">
                  <a:moveTo>
                    <a:pt x="0" y="323596"/>
                  </a:moveTo>
                  <a:cubicBezTo>
                    <a:pt x="0" y="144907"/>
                    <a:pt x="144907" y="0"/>
                    <a:pt x="323596" y="0"/>
                  </a:cubicBezTo>
                  <a:cubicBezTo>
                    <a:pt x="502285" y="0"/>
                    <a:pt x="647192" y="144907"/>
                    <a:pt x="647192" y="323596"/>
                  </a:cubicBezTo>
                  <a:cubicBezTo>
                    <a:pt x="647192" y="502285"/>
                    <a:pt x="502285" y="647192"/>
                    <a:pt x="323596" y="647192"/>
                  </a:cubicBezTo>
                  <a:cubicBezTo>
                    <a:pt x="144907" y="647192"/>
                    <a:pt x="0" y="502285"/>
                    <a:pt x="0" y="323596"/>
                  </a:cubicBezTo>
                  <a:close/>
                </a:path>
              </a:pathLst>
            </a:custGeom>
            <a:solidFill>
              <a:srgbClr val="1C7293"/>
            </a:solidFill>
            <a:ln w="19050" cap="sq">
              <a:solidFill>
                <a:srgbClr val="1C7293"/>
              </a:solidFill>
              <a:prstDash val="solid"/>
              <a:miter/>
            </a:ln>
          </p:spPr>
          <p:txBody>
            <a:bodyPr/>
            <a:p/>
          </p:txBody>
        </p:sp>
        <p:sp>
          <p:nvSpPr>
            <p:cNvPr id="98" name="TextBox 98"/>
            <p:cNvSpPr txBox="1"/>
            <p:nvPr/>
          </p:nvSpPr>
          <p:spPr>
            <a:xfrm>
              <a:off x="0" y="-38100"/>
              <a:ext cx="647192" cy="685292"/>
            </a:xfrm>
            <a:prstGeom prst="rect">
              <a:avLst/>
            </a:prstGeom>
          </p:spPr>
          <p:txBody>
            <a:bodyPr lIns="50800" tIns="50800" rIns="50800" bIns="5080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7</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99" name="Group 99"/>
          <p:cNvGrpSpPr/>
          <p:nvPr/>
        </p:nvGrpSpPr>
        <p:grpSpPr>
          <a:xfrm rot="0">
            <a:off x="13702284" y="3867912"/>
            <a:ext cx="3442716" cy="521208"/>
            <a:chOff x="0" y="0"/>
            <a:chExt cx="4590288" cy="694944"/>
          </a:xfrm>
        </p:grpSpPr>
        <p:sp>
          <p:nvSpPr>
            <p:cNvPr id="100" name="Freeform 100"/>
            <p:cNvSpPr/>
            <p:nvPr/>
          </p:nvSpPr>
          <p:spPr>
            <a:xfrm>
              <a:off x="0" y="0"/>
              <a:ext cx="4590288" cy="694944"/>
            </a:xfrm>
            <a:custGeom>
              <a:avLst/>
              <a:gdLst/>
              <a:ahLst/>
              <a:cxnLst/>
              <a:rect l="l" t="t" r="r" b="b"/>
              <a:pathLst>
                <a:path w="4590288" h="694944">
                  <a:moveTo>
                    <a:pt x="0" y="0"/>
                  </a:moveTo>
                  <a:lnTo>
                    <a:pt x="4590288" y="0"/>
                  </a:lnTo>
                  <a:lnTo>
                    <a:pt x="4590288" y="694944"/>
                  </a:lnTo>
                  <a:lnTo>
                    <a:pt x="0" y="694944"/>
                  </a:lnTo>
                  <a:close/>
                </a:path>
              </a:pathLst>
            </a:custGeom>
            <a:blipFill>
              <a:blip r:embed="rId1">
                <a:alphaModFix amt="0"/>
              </a:blip>
              <a:stretch>
                <a:fillRect t="-78703" b="-78703"/>
              </a:stretch>
            </a:blipFill>
          </p:spPr>
          <p:txBody>
            <a:bodyPr/>
            <a:p/>
          </p:txBody>
        </p:sp>
        <p:sp>
          <p:nvSpPr>
            <p:cNvPr id="101" name="TextBox 101"/>
            <p:cNvSpPr txBox="1"/>
            <p:nvPr/>
          </p:nvSpPr>
          <p:spPr>
            <a:xfrm>
              <a:off x="0" y="-47625"/>
              <a:ext cx="4590288" cy="74256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Chấm &amp; phân tích</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02" name="TextBox 102"/>
          <p:cNvSpPr txBox="1"/>
          <p:nvPr/>
        </p:nvSpPr>
        <p:spPr>
          <a:xfrm>
            <a:off x="13153644" y="4424934"/>
            <a:ext cx="3936492" cy="1829562"/>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so với đáp án chuẩn sau cùng một bước chuẩn hoá</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EM · VQA-Acc · ANLS (+F1)</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hallucination; lỗi V1–V4</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log seed, VRAM, thời gian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103" name="Group 103"/>
          <p:cNvGrpSpPr/>
          <p:nvPr/>
        </p:nvGrpSpPr>
        <p:grpSpPr>
          <a:xfrm rot="0">
            <a:off x="12949714" y="6846094"/>
            <a:ext cx="4316920" cy="1752028"/>
            <a:chOff x="0" y="0"/>
            <a:chExt cx="5755894" cy="2336038"/>
          </a:xfrm>
        </p:grpSpPr>
        <p:sp>
          <p:nvSpPr>
            <p:cNvPr id="104" name="Freeform 104"/>
            <p:cNvSpPr/>
            <p:nvPr/>
          </p:nvSpPr>
          <p:spPr>
            <a:xfrm>
              <a:off x="0" y="0"/>
              <a:ext cx="5755894" cy="2336038"/>
            </a:xfrm>
            <a:custGeom>
              <a:avLst/>
              <a:gdLst/>
              <a:ahLst/>
              <a:cxnLst/>
              <a:rect l="l" t="t" r="r" b="b"/>
              <a:pathLst>
                <a:path w="5755894" h="2336038">
                  <a:moveTo>
                    <a:pt x="0" y="233553"/>
                  </a:moveTo>
                  <a:cubicBezTo>
                    <a:pt x="0" y="104648"/>
                    <a:pt x="104648" y="0"/>
                    <a:pt x="233553" y="0"/>
                  </a:cubicBezTo>
                  <a:lnTo>
                    <a:pt x="5522341" y="0"/>
                  </a:lnTo>
                  <a:cubicBezTo>
                    <a:pt x="5651373" y="0"/>
                    <a:pt x="5755894" y="104648"/>
                    <a:pt x="5755894" y="233553"/>
                  </a:cubicBezTo>
                  <a:lnTo>
                    <a:pt x="5755894" y="2102485"/>
                  </a:lnTo>
                  <a:cubicBezTo>
                    <a:pt x="5755894" y="2231517"/>
                    <a:pt x="5651246" y="2336038"/>
                    <a:pt x="5522341" y="2336038"/>
                  </a:cubicBezTo>
                  <a:lnTo>
                    <a:pt x="233553" y="2336038"/>
                  </a:lnTo>
                  <a:cubicBezTo>
                    <a:pt x="104648" y="2336038"/>
                    <a:pt x="0" y="2231390"/>
                    <a:pt x="0" y="2102485"/>
                  </a:cubicBezTo>
                  <a:close/>
                </a:path>
              </a:pathLst>
            </a:custGeom>
            <a:solidFill>
              <a:srgbClr val="FFFFFF"/>
            </a:solidFill>
            <a:ln w="23812" cap="sq">
              <a:solidFill>
                <a:srgbClr val="E2E7EE"/>
              </a:solidFill>
              <a:prstDash val="solid"/>
              <a:miter/>
            </a:ln>
          </p:spPr>
          <p:txBody>
            <a:bodyPr/>
            <a:p/>
          </p:txBody>
        </p:sp>
      </p:grpSp>
      <p:grpSp>
        <p:nvGrpSpPr>
          <p:cNvPr id="105" name="Group 105"/>
          <p:cNvGrpSpPr/>
          <p:nvPr/>
        </p:nvGrpSpPr>
        <p:grpSpPr>
          <a:xfrm rot="0">
            <a:off x="13116687" y="7013067"/>
            <a:ext cx="485394" cy="485394"/>
            <a:chOff x="0" y="0"/>
            <a:chExt cx="647192" cy="647192"/>
          </a:xfrm>
        </p:grpSpPr>
        <p:sp>
          <p:nvSpPr>
            <p:cNvPr id="106" name="Freeform 106"/>
            <p:cNvSpPr/>
            <p:nvPr/>
          </p:nvSpPr>
          <p:spPr>
            <a:xfrm>
              <a:off x="0" y="0"/>
              <a:ext cx="647192" cy="647192"/>
            </a:xfrm>
            <a:custGeom>
              <a:avLst/>
              <a:gdLst/>
              <a:ahLst/>
              <a:cxnLst/>
              <a:rect l="l" t="t" r="r" b="b"/>
              <a:pathLst>
                <a:path w="647192" h="647192">
                  <a:moveTo>
                    <a:pt x="0" y="323596"/>
                  </a:moveTo>
                  <a:cubicBezTo>
                    <a:pt x="0" y="144907"/>
                    <a:pt x="144907" y="0"/>
                    <a:pt x="323596" y="0"/>
                  </a:cubicBezTo>
                  <a:cubicBezTo>
                    <a:pt x="502285" y="0"/>
                    <a:pt x="647192" y="144907"/>
                    <a:pt x="647192" y="323596"/>
                  </a:cubicBezTo>
                  <a:cubicBezTo>
                    <a:pt x="647192" y="502285"/>
                    <a:pt x="502285" y="647192"/>
                    <a:pt x="323596" y="647192"/>
                  </a:cubicBezTo>
                  <a:cubicBezTo>
                    <a:pt x="144907" y="647192"/>
                    <a:pt x="0" y="502285"/>
                    <a:pt x="0" y="323596"/>
                  </a:cubicBezTo>
                  <a:close/>
                </a:path>
              </a:pathLst>
            </a:custGeom>
            <a:solidFill>
              <a:srgbClr val="1C7293"/>
            </a:solidFill>
            <a:ln w="19050" cap="sq">
              <a:solidFill>
                <a:srgbClr val="1C7293"/>
              </a:solidFill>
              <a:prstDash val="solid"/>
              <a:miter/>
            </a:ln>
          </p:spPr>
          <p:txBody>
            <a:bodyPr/>
            <a:p/>
          </p:txBody>
        </p:sp>
        <p:sp>
          <p:nvSpPr>
            <p:cNvPr id="107" name="TextBox 107"/>
            <p:cNvSpPr txBox="1"/>
            <p:nvPr/>
          </p:nvSpPr>
          <p:spPr>
            <a:xfrm>
              <a:off x="0" y="-38100"/>
              <a:ext cx="647192" cy="685292"/>
            </a:xfrm>
            <a:prstGeom prst="rect">
              <a:avLst/>
            </a:prstGeom>
          </p:spPr>
          <p:txBody>
            <a:bodyPr lIns="50800" tIns="50800" rIns="50800" bIns="5080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8</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08" name="Group 108"/>
          <p:cNvGrpSpPr/>
          <p:nvPr/>
        </p:nvGrpSpPr>
        <p:grpSpPr>
          <a:xfrm rot="0">
            <a:off x="13702284" y="6995160"/>
            <a:ext cx="3442716" cy="521208"/>
            <a:chOff x="0" y="0"/>
            <a:chExt cx="4590288" cy="694944"/>
          </a:xfrm>
        </p:grpSpPr>
        <p:sp>
          <p:nvSpPr>
            <p:cNvPr id="109" name="Freeform 109"/>
            <p:cNvSpPr/>
            <p:nvPr/>
          </p:nvSpPr>
          <p:spPr>
            <a:xfrm>
              <a:off x="0" y="0"/>
              <a:ext cx="4590288" cy="694944"/>
            </a:xfrm>
            <a:custGeom>
              <a:avLst/>
              <a:gdLst/>
              <a:ahLst/>
              <a:cxnLst/>
              <a:rect l="l" t="t" r="r" b="b"/>
              <a:pathLst>
                <a:path w="4590288" h="694944">
                  <a:moveTo>
                    <a:pt x="0" y="0"/>
                  </a:moveTo>
                  <a:lnTo>
                    <a:pt x="4590288" y="0"/>
                  </a:lnTo>
                  <a:lnTo>
                    <a:pt x="4590288" y="694944"/>
                  </a:lnTo>
                  <a:lnTo>
                    <a:pt x="0" y="694944"/>
                  </a:lnTo>
                  <a:close/>
                </a:path>
              </a:pathLst>
            </a:custGeom>
            <a:blipFill>
              <a:blip r:embed="rId1">
                <a:alphaModFix amt="0"/>
              </a:blip>
              <a:stretch>
                <a:fillRect t="-78703" b="-78703"/>
              </a:stretch>
            </a:blipFill>
          </p:spPr>
          <p:txBody>
            <a:bodyPr/>
            <a:p/>
          </p:txBody>
        </p:sp>
        <p:sp>
          <p:nvSpPr>
            <p:cNvPr id="110" name="TextBox 110"/>
            <p:cNvSpPr txBox="1"/>
            <p:nvPr/>
          </p:nvSpPr>
          <p:spPr>
            <a:xfrm>
              <a:off x="0" y="-47625"/>
              <a:ext cx="4590288" cy="74256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Prototype web</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11" name="TextBox 111"/>
          <p:cNvSpPr txBox="1"/>
          <p:nvPr/>
        </p:nvSpPr>
        <p:spPr>
          <a:xfrm>
            <a:off x="13153644" y="7552182"/>
            <a:ext cx="3936492" cy="951738"/>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tải ảnh, hỏi tiếng Việt</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hiện câu trả lời + chữ OCR làm bằng chứng</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112" name="Group 112"/>
          <p:cNvGrpSpPr/>
          <p:nvPr/>
        </p:nvGrpSpPr>
        <p:grpSpPr>
          <a:xfrm rot="0">
            <a:off x="12259151" y="4468463"/>
            <a:ext cx="690562" cy="2416969"/>
            <a:chOff x="0" y="0"/>
            <a:chExt cx="920750" cy="3222625"/>
          </a:xfrm>
        </p:grpSpPr>
        <p:sp>
          <p:nvSpPr>
            <p:cNvPr id="113" name="Freeform 113"/>
            <p:cNvSpPr/>
            <p:nvPr/>
          </p:nvSpPr>
          <p:spPr>
            <a:xfrm>
              <a:off x="0" y="0"/>
              <a:ext cx="920750" cy="3222625"/>
            </a:xfrm>
            <a:custGeom>
              <a:avLst/>
              <a:gdLst/>
              <a:ahLst/>
              <a:cxnLst/>
              <a:rect l="l" t="t" r="r" b="b"/>
              <a:pathLst>
                <a:path w="920750" h="3222625">
                  <a:moveTo>
                    <a:pt x="0" y="3222625"/>
                  </a:moveTo>
                  <a:lnTo>
                    <a:pt x="460375" y="3222625"/>
                  </a:lnTo>
                  <a:lnTo>
                    <a:pt x="460375" y="0"/>
                  </a:lnTo>
                  <a:lnTo>
                    <a:pt x="920750" y="0"/>
                  </a:lnTo>
                </a:path>
              </a:pathLst>
            </a:custGeom>
            <a:blipFill>
              <a:blip r:embed="rId1">
                <a:alphaModFix amt="0"/>
              </a:blip>
              <a:stretch>
                <a:fillRect l="-428122" r="-432260" b="-6932"/>
              </a:stretch>
            </a:blipFill>
            <a:ln w="33338" cap="sq">
              <a:solidFill>
                <a:srgbClr val="1C7293"/>
              </a:solidFill>
              <a:prstDash val="solid"/>
              <a:miter/>
            </a:ln>
          </p:spPr>
          <p:txBody>
            <a:bodyPr/>
            <a:p/>
          </p:txBody>
        </p:sp>
      </p:grpSp>
      <p:sp>
        <p:nvSpPr>
          <p:cNvPr id="114" name="TextBox 114"/>
          <p:cNvSpPr txBox="1"/>
          <p:nvPr/>
        </p:nvSpPr>
        <p:spPr>
          <a:xfrm>
            <a:off x="822960" y="9041892"/>
            <a:ext cx="16637508" cy="449580"/>
          </a:xfrm>
          <a:prstGeom prst="rect">
            <a:avLst/>
          </a:prstGeom>
        </p:spPr>
        <p:txBody>
          <a:bodyPr lIns="0" tIns="0" rIns="0" bIns="0" rtlCol="0" anchor="t">
            <a:spAutoFit/>
          </a:bodyPr>
          <a:lstStyle/>
          <a:p>
            <a:pPr algn="l">
              <a:lnSpc>
                <a:spcPts val="1710"/>
              </a:lnSpc>
            </a:pPr>
            <a:r>
              <a:rPr lang="en-US" sz="1425">
                <a:solidFill>
                  <a:srgbClr val="5B677A"/>
                </a:solidFill>
                <a:latin typeface="Calibri (MS)" panose="020F0502020204030204"/>
                <a:ea typeface="Calibri (MS)" panose="020F0502020204030204"/>
                <a:cs typeface="Calibri (MS)" panose="020F0502020204030204"/>
                <a:sym typeface="Calibri (MS)" panose="020F0502020204030204"/>
              </a:rPr>
              <a:t>Bước 1–4 chạy một lần và được cache; bước 5–7 giống hệt cho mọi run (giao thức cố định, slide 24). Dạng prompt cuối: slide 34 (một dòng OCR, cùng prompt cho train và test).</a:t>
            </a:r>
            <a:endParaRPr lang="en-US" sz="1425">
              <a:solidFill>
                <a:srgbClr val="5B677A"/>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10 · NGÂN SÁCH TOKEN &amp; RAG</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Ngân sách token mỗi mẫu, và vị trí của RAG</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057400"/>
          <a:ext cx="10953750" cy="5867400"/>
        </p:xfrm>
        <a:graphic>
          <a:graphicData uri="http://schemas.openxmlformats.org/drawingml/2006/table">
            <a:tbl>
              <a:tblPr/>
              <a:tblGrid>
                <a:gridCol w="2745514"/>
                <a:gridCol w="4647560"/>
                <a:gridCol w="3560676"/>
              </a:tblGrid>
              <a:tr h="8382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Thành phần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Cách tính / giới hạn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Ghi chú</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83820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Token ảnh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 (cao/28)·(rộng/28) sau resize; chặn bởi max_pixels = 401.408 → ≤ 512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Cấu hình cố định (slide 24)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Câu hỏi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Vài chục token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ViTextVQA: trung bình 9,59 từ</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Chữ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Một dòng, tối đa N token (log ở mỗi run)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Chỉ ViTextVQA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Chỉ dẫn + template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Cố định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Đầu ra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max_new_tokens = 32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a:solidFill>
                            <a:srgbClr val="243044"/>
                          </a:solidFill>
                          <a:latin typeface="Calibri (MS)" panose="020F0502020204030204"/>
                          <a:ea typeface="Calibri (MS)" panose="020F0502020204030204"/>
                          <a:cs typeface="Calibri (MS)" panose="020F0502020204030204"/>
                          <a:sym typeface="Calibri (MS)" panose="020F0502020204030204"/>
                        </a:rPr>
                        <a:t>Đáp án: trung bình 4,18 từ</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Tổng (ước tính)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 1.000 token mỗi mẫu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250"/>
                        </a:lnSpc>
                        <a:defRPr/>
                      </a:pPr>
                      <a:r>
                        <a:rPr lang="en-US" sz="1875" b="1">
                          <a:solidFill>
                            <a:srgbClr val="243044"/>
                          </a:solidFill>
                          <a:latin typeface="Calibri (MS) Bold" panose="020F0702030404030204"/>
                          <a:ea typeface="Calibri (MS) Bold" panose="020F0702030404030204"/>
                          <a:cs typeface="Calibri (MS) Bold" panose="020F0702030404030204"/>
                          <a:sym typeface="Calibri (MS) Bold" panose="020F0702030404030204"/>
                        </a:rPr>
                        <a:t>Nhỏ hơn nhiều context window; giới hạn thật là VRAM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8" name="Group 8"/>
          <p:cNvGrpSpPr/>
          <p:nvPr/>
        </p:nvGrpSpPr>
        <p:grpSpPr>
          <a:xfrm rot="0">
            <a:off x="12334875" y="2047875"/>
            <a:ext cx="5139233" cy="7357110"/>
            <a:chOff x="0" y="0"/>
            <a:chExt cx="6852310" cy="9809480"/>
          </a:xfrm>
        </p:grpSpPr>
        <p:sp>
          <p:nvSpPr>
            <p:cNvPr id="9" name="Freeform 9"/>
            <p:cNvSpPr/>
            <p:nvPr/>
          </p:nvSpPr>
          <p:spPr>
            <a:xfrm>
              <a:off x="0" y="0"/>
              <a:ext cx="6852285" cy="9809480"/>
            </a:xfrm>
            <a:custGeom>
              <a:avLst/>
              <a:gdLst/>
              <a:ahLst/>
              <a:cxnLst/>
              <a:rect l="l" t="t" r="r" b="b"/>
              <a:pathLst>
                <a:path w="6852285" h="9809480">
                  <a:moveTo>
                    <a:pt x="0" y="146812"/>
                  </a:moveTo>
                  <a:cubicBezTo>
                    <a:pt x="0" y="65786"/>
                    <a:pt x="65786" y="0"/>
                    <a:pt x="146812" y="0"/>
                  </a:cubicBezTo>
                  <a:lnTo>
                    <a:pt x="6705473" y="0"/>
                  </a:lnTo>
                  <a:cubicBezTo>
                    <a:pt x="6786626" y="0"/>
                    <a:pt x="6852285" y="65786"/>
                    <a:pt x="6852285" y="146812"/>
                  </a:cubicBezTo>
                  <a:lnTo>
                    <a:pt x="6852285" y="9662668"/>
                  </a:lnTo>
                  <a:cubicBezTo>
                    <a:pt x="6852285" y="9743822"/>
                    <a:pt x="6786499" y="9809480"/>
                    <a:pt x="6705473" y="9809480"/>
                  </a:cubicBezTo>
                  <a:lnTo>
                    <a:pt x="146812" y="9809480"/>
                  </a:lnTo>
                  <a:cubicBezTo>
                    <a:pt x="65786" y="9809480"/>
                    <a:pt x="0" y="9743694"/>
                    <a:pt x="0" y="9662668"/>
                  </a:cubicBezTo>
                  <a:close/>
                </a:path>
              </a:pathLst>
            </a:custGeom>
            <a:solidFill>
              <a:srgbClr val="E7F0F3"/>
            </a:solidFill>
            <a:ln w="19050" cap="sq">
              <a:solidFill>
                <a:srgbClr val="E7F0F3"/>
              </a:solidFill>
              <a:prstDash val="solid"/>
              <a:miter/>
            </a:ln>
          </p:spPr>
          <p:txBody>
            <a:bodyPr/>
            <a:p/>
          </p:txBody>
        </p:sp>
      </p:grpSp>
      <p:sp>
        <p:nvSpPr>
          <p:cNvPr id="10" name="TextBox 10"/>
          <p:cNvSpPr txBox="1"/>
          <p:nvPr/>
        </p:nvSpPr>
        <p:spPr>
          <a:xfrm>
            <a:off x="12755880" y="2225040"/>
            <a:ext cx="4297223"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RAG — tuỳ chọn, có điều kiện</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2755880" y="2901315"/>
            <a:ext cx="4297223" cy="6356985"/>
          </a:xfrm>
          <a:prstGeom prst="rect">
            <a:avLst/>
          </a:prstGeom>
        </p:spPr>
        <p:txBody>
          <a:bodyPr lIns="0" tIns="0" rIns="0" bIns="0" rtlCol="0" anchor="t">
            <a:spAutoFit/>
          </a:bodyPr>
          <a:lstStyle/>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OCR trong prompt đã là “truy xuất bằng chứng” từ chính ảnh</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RAG tri thức ngoài (embedding + FAISS, top-k) chỉ làm nếu phân tích lỗi cho thấy nhiều câu sai do thiếu tri thức ngoài ảnh</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Nếu kích hoạt: đặc tả kho tri thức, mô hình embedding, cách truy xuất và ngân sách token</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Trạng thái Review 2: duyệt 200 lỗi (slide 33) cho thấy lỗi đọc chữ/định dạng, không phải thiếu tri thức → chưa kích hoạt</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11 · SẢN PHẨM &amp; GIÁ TRỊ</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Sản phẩm dự kiến và giá trị</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047875"/>
            <a:ext cx="5246218" cy="3105150"/>
            <a:chOff x="0" y="0"/>
            <a:chExt cx="6994957" cy="4140200"/>
          </a:xfrm>
        </p:grpSpPr>
        <p:sp>
          <p:nvSpPr>
            <p:cNvPr id="8" name="Freeform 8"/>
            <p:cNvSpPr/>
            <p:nvPr/>
          </p:nvSpPr>
          <p:spPr>
            <a:xfrm>
              <a:off x="0" y="0"/>
              <a:ext cx="6994906" cy="4140200"/>
            </a:xfrm>
            <a:custGeom>
              <a:avLst/>
              <a:gdLst/>
              <a:ahLst/>
              <a:cxnLst/>
              <a:rect l="l" t="t" r="r" b="b"/>
              <a:pathLst>
                <a:path w="6994906" h="4140200">
                  <a:moveTo>
                    <a:pt x="0" y="165608"/>
                  </a:moveTo>
                  <a:cubicBezTo>
                    <a:pt x="0" y="74168"/>
                    <a:pt x="74168" y="0"/>
                    <a:pt x="165608" y="0"/>
                  </a:cubicBezTo>
                  <a:lnTo>
                    <a:pt x="6829298" y="0"/>
                  </a:lnTo>
                  <a:cubicBezTo>
                    <a:pt x="6920738" y="0"/>
                    <a:pt x="6994906" y="74168"/>
                    <a:pt x="6994906" y="165608"/>
                  </a:cubicBezTo>
                  <a:lnTo>
                    <a:pt x="6994906" y="3974592"/>
                  </a:lnTo>
                  <a:cubicBezTo>
                    <a:pt x="6994906" y="4066032"/>
                    <a:pt x="6920738" y="4140200"/>
                    <a:pt x="6829298" y="4140200"/>
                  </a:cubicBezTo>
                  <a:lnTo>
                    <a:pt x="165608" y="4140200"/>
                  </a:lnTo>
                  <a:cubicBezTo>
                    <a:pt x="74168" y="4140200"/>
                    <a:pt x="0" y="4066032"/>
                    <a:pt x="0" y="3974592"/>
                  </a:cubicBezTo>
                  <a:close/>
                </a:path>
              </a:pathLst>
            </a:custGeom>
            <a:solidFill>
              <a:srgbClr val="FBF0DA"/>
            </a:solidFill>
            <a:ln w="19050" cap="sq">
              <a:solidFill>
                <a:srgbClr val="FBF0DA"/>
              </a:solidFill>
              <a:prstDash val="solid"/>
              <a:miter/>
            </a:ln>
          </p:spPr>
          <p:txBody>
            <a:bodyPr/>
            <a:p/>
          </p:txBody>
        </p:sp>
      </p:grpSp>
      <p:sp>
        <p:nvSpPr>
          <p:cNvPr id="9" name="TextBox 9"/>
          <p:cNvSpPr txBox="1"/>
          <p:nvPr/>
        </p:nvSpPr>
        <p:spPr>
          <a:xfrm>
            <a:off x="1165860" y="2215515"/>
            <a:ext cx="4541368" cy="66484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Đóng góp nghiên cứu</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1165860" y="2891790"/>
            <a:ext cx="4541368" cy="20459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 1 cải tiến PEFT đã kiểm chứng so với baseline tái lập, kèm ablation, phân tích lỗi và hallucination</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1" name="Group 11"/>
          <p:cNvGrpSpPr/>
          <p:nvPr/>
        </p:nvGrpSpPr>
        <p:grpSpPr>
          <a:xfrm rot="0">
            <a:off x="6520663" y="2047875"/>
            <a:ext cx="5246218" cy="3105150"/>
            <a:chOff x="0" y="0"/>
            <a:chExt cx="6994957" cy="4140200"/>
          </a:xfrm>
        </p:grpSpPr>
        <p:sp>
          <p:nvSpPr>
            <p:cNvPr id="12" name="Freeform 12"/>
            <p:cNvSpPr/>
            <p:nvPr/>
          </p:nvSpPr>
          <p:spPr>
            <a:xfrm>
              <a:off x="0" y="0"/>
              <a:ext cx="6994906" cy="4140200"/>
            </a:xfrm>
            <a:custGeom>
              <a:avLst/>
              <a:gdLst/>
              <a:ahLst/>
              <a:cxnLst/>
              <a:rect l="l" t="t" r="r" b="b"/>
              <a:pathLst>
                <a:path w="6994906" h="4140200">
                  <a:moveTo>
                    <a:pt x="0" y="165608"/>
                  </a:moveTo>
                  <a:cubicBezTo>
                    <a:pt x="0" y="74168"/>
                    <a:pt x="74168" y="0"/>
                    <a:pt x="165608" y="0"/>
                  </a:cubicBezTo>
                  <a:lnTo>
                    <a:pt x="6829298" y="0"/>
                  </a:lnTo>
                  <a:cubicBezTo>
                    <a:pt x="6920738" y="0"/>
                    <a:pt x="6994906" y="74168"/>
                    <a:pt x="6994906" y="165608"/>
                  </a:cubicBezTo>
                  <a:lnTo>
                    <a:pt x="6994906" y="3974592"/>
                  </a:lnTo>
                  <a:cubicBezTo>
                    <a:pt x="6994906" y="4066032"/>
                    <a:pt x="6920738" y="4140200"/>
                    <a:pt x="6829298" y="4140200"/>
                  </a:cubicBezTo>
                  <a:lnTo>
                    <a:pt x="165608" y="4140200"/>
                  </a:lnTo>
                  <a:cubicBezTo>
                    <a:pt x="74168" y="4140200"/>
                    <a:pt x="0" y="4066032"/>
                    <a:pt x="0" y="3974592"/>
                  </a:cubicBezTo>
                  <a:close/>
                </a:path>
              </a:pathLst>
            </a:custGeom>
            <a:solidFill>
              <a:srgbClr val="F3F5F8"/>
            </a:solidFill>
            <a:ln w="19050" cap="sq">
              <a:solidFill>
                <a:srgbClr val="F3F5F8"/>
              </a:solidFill>
              <a:prstDash val="solid"/>
              <a:miter/>
            </a:ln>
          </p:spPr>
          <p:txBody>
            <a:bodyPr/>
            <a:p/>
          </p:txBody>
        </p:sp>
      </p:grpSp>
      <p:sp>
        <p:nvSpPr>
          <p:cNvPr id="13" name="TextBox 13"/>
          <p:cNvSpPr txBox="1"/>
          <p:nvPr/>
        </p:nvSpPr>
        <p:spPr>
          <a:xfrm>
            <a:off x="6873088" y="2215515"/>
            <a:ext cx="4541368" cy="66484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Prototype web</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4" name="TextBox 14"/>
          <p:cNvSpPr txBox="1"/>
          <p:nvPr/>
        </p:nvSpPr>
        <p:spPr>
          <a:xfrm>
            <a:off x="6873088" y="2891790"/>
            <a:ext cx="4541368" cy="20459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Tải ảnh, hỏi tiếng Việt, nhận câu trả lời kèm chữ OCR làm bằng chứng</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5" name="Group 15"/>
          <p:cNvGrpSpPr/>
          <p:nvPr/>
        </p:nvGrpSpPr>
        <p:grpSpPr>
          <a:xfrm rot="0">
            <a:off x="12227890" y="2047875"/>
            <a:ext cx="5246218" cy="3105150"/>
            <a:chOff x="0" y="0"/>
            <a:chExt cx="6994957" cy="4140200"/>
          </a:xfrm>
        </p:grpSpPr>
        <p:sp>
          <p:nvSpPr>
            <p:cNvPr id="16" name="Freeform 16"/>
            <p:cNvSpPr/>
            <p:nvPr/>
          </p:nvSpPr>
          <p:spPr>
            <a:xfrm>
              <a:off x="0" y="0"/>
              <a:ext cx="6994906" cy="4140200"/>
            </a:xfrm>
            <a:custGeom>
              <a:avLst/>
              <a:gdLst/>
              <a:ahLst/>
              <a:cxnLst/>
              <a:rect l="l" t="t" r="r" b="b"/>
              <a:pathLst>
                <a:path w="6994906" h="4140200">
                  <a:moveTo>
                    <a:pt x="0" y="165608"/>
                  </a:moveTo>
                  <a:cubicBezTo>
                    <a:pt x="0" y="74168"/>
                    <a:pt x="74168" y="0"/>
                    <a:pt x="165608" y="0"/>
                  </a:cubicBezTo>
                  <a:lnTo>
                    <a:pt x="6829298" y="0"/>
                  </a:lnTo>
                  <a:cubicBezTo>
                    <a:pt x="6920738" y="0"/>
                    <a:pt x="6994906" y="74168"/>
                    <a:pt x="6994906" y="165608"/>
                  </a:cubicBezTo>
                  <a:lnTo>
                    <a:pt x="6994906" y="3974592"/>
                  </a:lnTo>
                  <a:cubicBezTo>
                    <a:pt x="6994906" y="4066032"/>
                    <a:pt x="6920738" y="4140200"/>
                    <a:pt x="6829298" y="4140200"/>
                  </a:cubicBezTo>
                  <a:lnTo>
                    <a:pt x="165608" y="4140200"/>
                  </a:lnTo>
                  <a:cubicBezTo>
                    <a:pt x="74168" y="4140200"/>
                    <a:pt x="0" y="4066032"/>
                    <a:pt x="0" y="3974592"/>
                  </a:cubicBezTo>
                  <a:close/>
                </a:path>
              </a:pathLst>
            </a:custGeom>
            <a:solidFill>
              <a:srgbClr val="F3F5F8"/>
            </a:solidFill>
            <a:ln w="19050" cap="sq">
              <a:solidFill>
                <a:srgbClr val="F3F5F8"/>
              </a:solidFill>
              <a:prstDash val="solid"/>
              <a:miter/>
            </a:ln>
          </p:spPr>
          <p:txBody>
            <a:bodyPr/>
            <a:p/>
          </p:txBody>
        </p:sp>
      </p:grpSp>
      <p:sp>
        <p:nvSpPr>
          <p:cNvPr id="17" name="TextBox 17"/>
          <p:cNvSpPr txBox="1"/>
          <p:nvPr/>
        </p:nvSpPr>
        <p:spPr>
          <a:xfrm>
            <a:off x="12580315" y="2215515"/>
            <a:ext cx="4541368" cy="66484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Luận văn + gói tái lập</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8" name="TextBox 18"/>
          <p:cNvSpPr txBox="1"/>
          <p:nvPr/>
        </p:nvSpPr>
        <p:spPr>
          <a:xfrm>
            <a:off x="12580315" y="2891790"/>
            <a:ext cx="4541368" cy="20459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Code, adapter LoRA, config, script suy luận, log thí nghiệm</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813435" y="5545455"/>
            <a:ext cx="8065541" cy="3722370"/>
            <a:chOff x="0" y="0"/>
            <a:chExt cx="10754055" cy="4963160"/>
          </a:xfrm>
        </p:grpSpPr>
        <p:sp>
          <p:nvSpPr>
            <p:cNvPr id="20" name="Freeform 20"/>
            <p:cNvSpPr/>
            <p:nvPr/>
          </p:nvSpPr>
          <p:spPr>
            <a:xfrm>
              <a:off x="0" y="0"/>
              <a:ext cx="10753978" cy="4963160"/>
            </a:xfrm>
            <a:custGeom>
              <a:avLst/>
              <a:gdLst/>
              <a:ahLst/>
              <a:cxnLst/>
              <a:rect l="l" t="t" r="r" b="b"/>
              <a:pathLst>
                <a:path w="10753978" h="4963160">
                  <a:moveTo>
                    <a:pt x="0" y="226822"/>
                  </a:moveTo>
                  <a:cubicBezTo>
                    <a:pt x="0" y="101600"/>
                    <a:pt x="101600" y="0"/>
                    <a:pt x="226822" y="0"/>
                  </a:cubicBezTo>
                  <a:lnTo>
                    <a:pt x="10527157" y="0"/>
                  </a:lnTo>
                  <a:cubicBezTo>
                    <a:pt x="10652506" y="0"/>
                    <a:pt x="10753978" y="101600"/>
                    <a:pt x="10753978" y="226822"/>
                  </a:cubicBezTo>
                  <a:lnTo>
                    <a:pt x="10753978" y="4736338"/>
                  </a:lnTo>
                  <a:cubicBezTo>
                    <a:pt x="10753978" y="4861687"/>
                    <a:pt x="10652378" y="4963160"/>
                    <a:pt x="10527157" y="4963160"/>
                  </a:cubicBezTo>
                  <a:lnTo>
                    <a:pt x="226822" y="4963160"/>
                  </a:lnTo>
                  <a:cubicBezTo>
                    <a:pt x="101600" y="4963160"/>
                    <a:pt x="0" y="4861560"/>
                    <a:pt x="0" y="4736338"/>
                  </a:cubicBezTo>
                  <a:close/>
                </a:path>
              </a:pathLst>
            </a:custGeom>
            <a:solidFill>
              <a:srgbClr val="F3F5F8"/>
            </a:solidFill>
            <a:ln w="19050" cap="sq">
              <a:solidFill>
                <a:srgbClr val="F3F5F8"/>
              </a:solidFill>
              <a:prstDash val="solid"/>
              <a:miter/>
            </a:ln>
          </p:spPr>
          <p:txBody>
            <a:bodyPr/>
            <a:p/>
          </p:txBody>
        </p:sp>
      </p:grpSp>
      <p:sp>
        <p:nvSpPr>
          <p:cNvPr id="21" name="TextBox 21"/>
          <p:cNvSpPr txBox="1"/>
          <p:nvPr/>
        </p:nvSpPr>
        <p:spPr>
          <a:xfrm>
            <a:off x="1165860" y="5713095"/>
            <a:ext cx="7360691" cy="59626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Giá trị thực tiễn</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2" name="TextBox 22"/>
          <p:cNvSpPr txBox="1"/>
          <p:nvPr/>
        </p:nvSpPr>
        <p:spPr>
          <a:xfrm>
            <a:off x="1165860" y="6389370"/>
            <a:ext cx="7360691" cy="2663190"/>
          </a:xfrm>
          <a:prstGeom prst="rect">
            <a:avLst/>
          </a:prstGeom>
        </p:spPr>
        <p:txBody>
          <a:bodyPr lIns="0" tIns="0" rIns="0" bIns="0" rtlCol="0" anchor="t">
            <a:spAutoFit/>
          </a:bodyPr>
          <a:lstStyle/>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Đọc biển hiệu, nhãn hàng, giá cả trong ảnh tiếng Việt</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Công nghệ hỗ trợ người khiếm thị</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Thực đơn, biểu mẫu, tài liệu tiếng Việt</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9408566" y="5545455"/>
            <a:ext cx="8065541" cy="3722370"/>
            <a:chOff x="0" y="0"/>
            <a:chExt cx="10754055" cy="4963160"/>
          </a:xfrm>
        </p:grpSpPr>
        <p:sp>
          <p:nvSpPr>
            <p:cNvPr id="24" name="Freeform 24"/>
            <p:cNvSpPr/>
            <p:nvPr/>
          </p:nvSpPr>
          <p:spPr>
            <a:xfrm>
              <a:off x="0" y="0"/>
              <a:ext cx="10753978" cy="4963160"/>
            </a:xfrm>
            <a:custGeom>
              <a:avLst/>
              <a:gdLst/>
              <a:ahLst/>
              <a:cxnLst/>
              <a:rect l="l" t="t" r="r" b="b"/>
              <a:pathLst>
                <a:path w="10753978" h="4963160">
                  <a:moveTo>
                    <a:pt x="0" y="226822"/>
                  </a:moveTo>
                  <a:cubicBezTo>
                    <a:pt x="0" y="101600"/>
                    <a:pt x="101600" y="0"/>
                    <a:pt x="226822" y="0"/>
                  </a:cubicBezTo>
                  <a:lnTo>
                    <a:pt x="10527157" y="0"/>
                  </a:lnTo>
                  <a:cubicBezTo>
                    <a:pt x="10652506" y="0"/>
                    <a:pt x="10753978" y="101600"/>
                    <a:pt x="10753978" y="226822"/>
                  </a:cubicBezTo>
                  <a:lnTo>
                    <a:pt x="10753978" y="4736338"/>
                  </a:lnTo>
                  <a:cubicBezTo>
                    <a:pt x="10753978" y="4861687"/>
                    <a:pt x="10652378" y="4963160"/>
                    <a:pt x="10527157" y="4963160"/>
                  </a:cubicBezTo>
                  <a:lnTo>
                    <a:pt x="226822" y="4963160"/>
                  </a:lnTo>
                  <a:cubicBezTo>
                    <a:pt x="101600" y="4963160"/>
                    <a:pt x="0" y="4861560"/>
                    <a:pt x="0" y="4736338"/>
                  </a:cubicBezTo>
                  <a:close/>
                </a:path>
              </a:pathLst>
            </a:custGeom>
            <a:solidFill>
              <a:srgbClr val="E7F0F3"/>
            </a:solidFill>
            <a:ln w="19050" cap="sq">
              <a:solidFill>
                <a:srgbClr val="E7F0F3"/>
              </a:solidFill>
              <a:prstDash val="solid"/>
              <a:miter/>
            </a:ln>
          </p:spPr>
          <p:txBody>
            <a:bodyPr/>
            <a:p/>
          </p:txBody>
        </p:sp>
      </p:grpSp>
      <p:sp>
        <p:nvSpPr>
          <p:cNvPr id="25" name="TextBox 25"/>
          <p:cNvSpPr txBox="1"/>
          <p:nvPr/>
        </p:nvSpPr>
        <p:spPr>
          <a:xfrm>
            <a:off x="9760991" y="5713095"/>
            <a:ext cx="7360691" cy="596265"/>
          </a:xfrm>
          <a:prstGeom prst="rect">
            <a:avLst/>
          </a:prstGeom>
        </p:spPr>
        <p:txBody>
          <a:bodyPr lIns="0" tIns="0" rIns="0" bIns="0" rtlCol="0" anchor="t">
            <a:spAutoFit/>
          </a:bodyPr>
          <a:lstStyle/>
          <a:p>
            <a:pPr algn="l">
              <a:lnSpc>
                <a:spcPts val="3060"/>
              </a:lnSpc>
            </a:pPr>
            <a:r>
              <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rPr>
              <a:t>Ý nghĩa khoa học</a:t>
            </a:r>
            <a:endParaRPr lang="en-US" sz="25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6" name="TextBox 26"/>
          <p:cNvSpPr txBox="1"/>
          <p:nvPr/>
        </p:nvSpPr>
        <p:spPr>
          <a:xfrm>
            <a:off x="9760991" y="6389370"/>
            <a:ext cx="7360691" cy="2663190"/>
          </a:xfrm>
          <a:prstGeom prst="rect">
            <a:avLst/>
          </a:prstGeom>
        </p:spPr>
        <p:txBody>
          <a:bodyPr lIns="0" tIns="0" rIns="0" bIns="0" rtlCol="0" anchor="t">
            <a:spAutoFit/>
          </a:bodyPr>
          <a:lstStyle/>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Nghiên cứu PEFT có hệ thống cho VLM tiếng Việt</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Xử lý đặc thù tiếng Việt: dấu, ngôn ngữ đầu ra, thứ tự OCR</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Đo hallucination cho VQA tiếng Việt; quy trình tái lập được</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12 · KẾ HOẠCH</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Kế hoạch 15 tuần — đầu ra và trạng thái</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1920240"/>
          <a:ext cx="16614648" cy="7315200"/>
        </p:xfrm>
        <a:graphic>
          <a:graphicData uri="http://schemas.openxmlformats.org/drawingml/2006/table">
            <a:tbl>
              <a:tblPr/>
              <a:tblGrid>
                <a:gridCol w="1371600"/>
                <a:gridCol w="6675120"/>
                <a:gridCol w="8567928"/>
              </a:tblGrid>
              <a:tr h="457200">
                <a:tc>
                  <a:txBody>
                    <a:bodyPr rtlCol="0"/>
                    <a:lstStyle/>
                    <a:p>
                      <a:pPr algn="l">
                        <a:lnSpc>
                          <a:spcPts val="2430"/>
                        </a:lnSpc>
                        <a:defRPr/>
                      </a:pPr>
                      <a:r>
                        <a:rPr lang="en-US" sz="2025" b="1">
                          <a:solidFill>
                            <a:srgbClr val="FFFFFF"/>
                          </a:solidFill>
                          <a:latin typeface="Calibri (MS) Bold" panose="020F0702030404030204"/>
                          <a:ea typeface="Calibri (MS) Bold" panose="020F0702030404030204"/>
                          <a:cs typeface="Calibri (MS) Bold" panose="020F0702030404030204"/>
                          <a:sym typeface="Calibri (MS) Bold" panose="020F0702030404030204"/>
                        </a:rPr>
                        <a:t>Tuần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430"/>
                        </a:lnSpc>
                        <a:defRPr/>
                      </a:pPr>
                      <a:r>
                        <a:rPr lang="en-US" sz="2025" b="1">
                          <a:solidFill>
                            <a:srgbClr val="FFFFFF"/>
                          </a:solidFill>
                          <a:latin typeface="Calibri (MS) Bold" panose="020F0702030404030204"/>
                          <a:ea typeface="Calibri (MS) Bold" panose="020F0702030404030204"/>
                          <a:cs typeface="Calibri (MS) Bold" panose="020F0702030404030204"/>
                          <a:sym typeface="Calibri (MS) Bold" panose="020F0702030404030204"/>
                        </a:rPr>
                        <a:t>Công việc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430"/>
                        </a:lnSpc>
                        <a:defRPr/>
                      </a:pPr>
                      <a:r>
                        <a:rPr lang="en-US" sz="2025" b="1">
                          <a:solidFill>
                            <a:srgbClr val="FFFFFF"/>
                          </a:solidFill>
                          <a:latin typeface="Calibri (MS) Bold" panose="020F0702030404030204"/>
                          <a:ea typeface="Calibri (MS) Bold" panose="020F0702030404030204"/>
                          <a:cs typeface="Calibri (MS) Bold" panose="020F0702030404030204"/>
                          <a:sym typeface="Calibri (MS) Bold" panose="020F0702030404030204"/>
                        </a:rPr>
                        <a:t>Đầu ra · trạng thái (tại Review 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Research orientation + Planning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Đề cương, phân vai, kế hoạch 15 tuần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Literature + Dataset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Literature matrix 10 paper; thống kê 2 dataset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Review 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0">
                          <a:solidFill>
                            <a:srgbClr val="243044"/>
                          </a:solidFill>
                          <a:latin typeface="Calibri (MS) Bold" panose="020F0702030404030204"/>
                          <a:ea typeface="Calibri (MS) Bold" panose="020F0702030404030204"/>
                          <a:cs typeface="Calibri (MS) Bold" panose="020F0702030404030204"/>
                          <a:sym typeface="Calibri (MS) Bold" panose="020F0702030404030204"/>
                        </a:rPr>
                        <a:t>Deck + checklist Review 1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Baseline (khởi động)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Zero-shot đầu tiên; chốt Qwen2.5-VL-3B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Baseline reproduce hoàn chỉnh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B1 trên 2 dataset; ViTextVQA bản chính thức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Baseline → Method (Report 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Chốt cấu hình; smoke test QLoRA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QLoRA (B2) + chuẩn bị Review 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B2; R0 tái lập 79,6; duyệt 200 lỗi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Review 2 · OCR-enhanced prompting + củng cố B3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0">
                          <a:solidFill>
                            <a:srgbClr val="243044"/>
                          </a:solidFill>
                          <a:latin typeface="Calibri (MS) Bold" panose="020F0702030404030204"/>
                          <a:ea typeface="Calibri (MS) Bold" panose="020F0702030404030204"/>
                          <a:cs typeface="Calibri (MS) Bold" panose="020F0702030404030204"/>
                          <a:sym typeface="Calibri (MS) Bold" panose="020F0702030404030204"/>
                        </a:rPr>
                        <a:t>B3 + ablation OCR 2×2, 3 seed ✓ · Review 2 (29/10)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 full data + LoRA ablation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B3-full +3,1 EM; ablation A1, A2 ✓ (làm sớm)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Full evaluation + shared adapter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Bảng 23 run; adapter dùng chung đạt ✓ (làm sớm)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Error analysis + hallucination analysis</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H4 (POPE tiếng Việt), lỗi theo loại → dời lên W9–W10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Tổng hợp kết quả + Report 6–7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Report 6–7; bảng kết quả cuối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Review 3 · Hội đồng cấp Khoa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0">
                          <a:solidFill>
                            <a:srgbClr val="243044"/>
                          </a:solidFill>
                          <a:latin typeface="Calibri (MS) Bold" panose="020F0702030404030204"/>
                          <a:ea typeface="Calibri (MS) Bold" panose="020F0702030404030204"/>
                          <a:cs typeface="Calibri (MS) Bold" panose="020F0702030404030204"/>
                          <a:sym typeface="Calibri (MS) Bold" panose="020F0702030404030204"/>
                        </a:rPr>
                        <a:t>Deck cộng dồn + demo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Prototype web + viết thesis</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b="0">
                          <a:solidFill>
                            <a:srgbClr val="243044"/>
                          </a:solidFill>
                          <a:latin typeface="Calibri (MS)" panose="020F0502020204030204"/>
                          <a:ea typeface="Calibri (MS)" panose="020F0502020204030204"/>
                          <a:cs typeface="Calibri (MS)" panose="020F0502020204030204"/>
                          <a:sym typeface="Calibri (MS)" panose="020F0502020204030204"/>
                        </a:rPr>
                        <a:t>Web demo → dời lên W11–12; bản thảo thesis</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Final defense + gói tái lập</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0">
                          <a:solidFill>
                            <a:srgbClr val="243044"/>
                          </a:solidFill>
                          <a:latin typeface="Calibri (MS) Bold" panose="020F0702030404030204"/>
                          <a:ea typeface="Calibri (MS) Bold" panose="020F0702030404030204"/>
                          <a:cs typeface="Calibri (MS) Bold" panose="020F0702030404030204"/>
                          <a:sym typeface="Calibri (MS) Bold" panose="020F0702030404030204"/>
                        </a:rPr>
                        <a:t>Thesis, code, adapter, log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13 · RỦI RO &amp; RÀNG BUỘC</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Rủi ro (trạng thái ở Review 2) và ràng buộc</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057400"/>
          <a:ext cx="11772900" cy="6553200"/>
        </p:xfrm>
        <a:graphic>
          <a:graphicData uri="http://schemas.openxmlformats.org/drawingml/2006/table">
            <a:tbl>
              <a:tblPr/>
              <a:tblGrid>
                <a:gridCol w="2739854"/>
                <a:gridCol w="1316260"/>
                <a:gridCol w="3349966"/>
                <a:gridCol w="4366819"/>
              </a:tblGrid>
              <a:tr h="81915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Rủi ro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Mức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Giảm thiểu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Trạng thái ở Review 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819150">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Model quá lớn / OOM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B42318"/>
                          </a:solidFill>
                          <a:latin typeface="Calibri (MS) Bold" panose="020F0702030404030204"/>
                          <a:ea typeface="Calibri (MS) Bold" panose="020F0702030404030204"/>
                          <a:cs typeface="Calibri (MS) Bold" panose="020F0702030404030204"/>
                          <a:sym typeface="Calibri (MS) Bold" panose="020F0702030404030204"/>
                        </a:rPr>
                        <a:t>Cao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QLoRA 4-bit, model 3B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Đã khử: train ≤ 7 GB VRAM trên L4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19150">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Colab bị gián đoạn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B42318"/>
                          </a:solidFill>
                          <a:latin typeface="Calibri (MS) Bold" panose="020F0702030404030204"/>
                          <a:ea typeface="Calibri (MS) Bold" panose="020F0702030404030204"/>
                          <a:cs typeface="Calibri (MS) Bold" panose="020F0702030404030204"/>
                          <a:sym typeface="Calibri (MS) Bold" panose="020F0702030404030204"/>
                        </a:rPr>
                        <a:t>Cao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Mount Drive, checkpoint thường xuyên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Đã khử: resume đã kiểm trên L4 (W5)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19150">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Baseline khó tái lập</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B42318"/>
                          </a:solidFill>
                          <a:latin typeface="Calibri (MS) Bold" panose="020F0702030404030204"/>
                          <a:ea typeface="Calibri (MS) Bold" panose="020F0702030404030204"/>
                          <a:cs typeface="Calibri (MS) Bold" panose="020F0702030404030204"/>
                          <a:sym typeface="Calibri (MS) Bold" panose="020F0702030404030204"/>
                        </a:rPr>
                        <a:t>Cao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Repo gốc, seed cố định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Đã khử: TextVQA 79,6 so với 79,3 công bố (R0)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19150">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Train không hội tụ</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B42318"/>
                          </a:solidFill>
                          <a:latin typeface="Calibri (MS) Bold" panose="020F0702030404030204"/>
                          <a:ea typeface="Calibri (MS) Bold" panose="020F0702030404030204"/>
                          <a:cs typeface="Calibri (MS) Bold" panose="020F0702030404030204"/>
                          <a:sym typeface="Calibri (MS) Bold" panose="020F0702030404030204"/>
                        </a:rPr>
                        <a:t>Cao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Quay về prompting /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Không xảy ra (log loss, B2, B3)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19150">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Dữ liệu / licence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E8A33D"/>
                          </a:solidFill>
                          <a:latin typeface="Calibri (MS) Bold" panose="020F0702030404030204"/>
                          <a:ea typeface="Calibri (MS) Bold" panose="020F0702030404030204"/>
                          <a:cs typeface="Calibri (MS) Bold" panose="020F0702030404030204"/>
                          <a:sym typeface="Calibri (MS) Bold" panose="020F0702030404030204"/>
                        </a:rPr>
                        <a:t>TB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Kiểm licence; tiền xử lý</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Đã khử: repo ViTextVQA chính thức (W5)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19150">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QLoRA train chậm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E8A33D"/>
                          </a:solidFill>
                          <a:latin typeface="Calibri (MS) Bold" panose="020F0702030404030204"/>
                          <a:ea typeface="Calibri (MS) Bold" panose="020F0702030404030204"/>
                          <a:cs typeface="Calibri (MS) Bold" panose="020F0702030404030204"/>
                          <a:sym typeface="Calibri (MS) Bold" panose="020F0702030404030204"/>
                        </a:rPr>
                        <a:t>TB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Subset thử, gradient accumulation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Đã xử lý: tập con 8k cố định cho B3 (≈ 25% thời gian)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19150">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OCR kém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E8A33D"/>
                          </a:solidFill>
                          <a:latin typeface="Calibri (MS) Bold" panose="020F0702030404030204"/>
                          <a:ea typeface="Calibri (MS) Bold" panose="020F0702030404030204"/>
                          <a:cs typeface="Calibri (MS) Bold" panose="020F0702030404030204"/>
                          <a:sym typeface="Calibri (MS) Bold" panose="020F0702030404030204"/>
                        </a:rPr>
                        <a:t>TB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Đổi PaddleOCR ↔ VietOCR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Còn mở: lỗi OCR vẫn là nguồn lỗi chính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8" name="Group 8"/>
          <p:cNvGrpSpPr/>
          <p:nvPr/>
        </p:nvGrpSpPr>
        <p:grpSpPr>
          <a:xfrm rot="0">
            <a:off x="13157835" y="2047875"/>
            <a:ext cx="4316273" cy="7357110"/>
            <a:chOff x="0" y="0"/>
            <a:chExt cx="5755030" cy="9809480"/>
          </a:xfrm>
        </p:grpSpPr>
        <p:sp>
          <p:nvSpPr>
            <p:cNvPr id="9" name="Freeform 9"/>
            <p:cNvSpPr/>
            <p:nvPr/>
          </p:nvSpPr>
          <p:spPr>
            <a:xfrm>
              <a:off x="0" y="0"/>
              <a:ext cx="5755005" cy="9809480"/>
            </a:xfrm>
            <a:custGeom>
              <a:avLst/>
              <a:gdLst/>
              <a:ahLst/>
              <a:cxnLst/>
              <a:rect l="l" t="t" r="r" b="b"/>
              <a:pathLst>
                <a:path w="5755005" h="9809480">
                  <a:moveTo>
                    <a:pt x="0" y="146939"/>
                  </a:moveTo>
                  <a:cubicBezTo>
                    <a:pt x="0" y="65786"/>
                    <a:pt x="65786" y="0"/>
                    <a:pt x="146939" y="0"/>
                  </a:cubicBezTo>
                  <a:lnTo>
                    <a:pt x="5608066" y="0"/>
                  </a:lnTo>
                  <a:cubicBezTo>
                    <a:pt x="5689219" y="0"/>
                    <a:pt x="5755005" y="65786"/>
                    <a:pt x="5755005" y="146939"/>
                  </a:cubicBezTo>
                  <a:lnTo>
                    <a:pt x="5755005" y="9662541"/>
                  </a:lnTo>
                  <a:cubicBezTo>
                    <a:pt x="5755005" y="9743694"/>
                    <a:pt x="5689219" y="9809480"/>
                    <a:pt x="5608066" y="9809480"/>
                  </a:cubicBezTo>
                  <a:lnTo>
                    <a:pt x="146939" y="9809480"/>
                  </a:lnTo>
                  <a:cubicBezTo>
                    <a:pt x="65786" y="9809480"/>
                    <a:pt x="0" y="9743694"/>
                    <a:pt x="0" y="9662541"/>
                  </a:cubicBezTo>
                  <a:close/>
                </a:path>
              </a:pathLst>
            </a:custGeom>
            <a:solidFill>
              <a:srgbClr val="E7F0F3"/>
            </a:solidFill>
            <a:ln w="19050" cap="sq">
              <a:solidFill>
                <a:srgbClr val="E7F0F3"/>
              </a:solidFill>
              <a:prstDash val="solid"/>
              <a:miter/>
            </a:ln>
          </p:spPr>
          <p:txBody>
            <a:bodyPr/>
            <a:p/>
          </p:txBody>
        </p:sp>
      </p:grpSp>
      <p:sp>
        <p:nvSpPr>
          <p:cNvPr id="10" name="TextBox 10"/>
          <p:cNvSpPr txBox="1"/>
          <p:nvPr/>
        </p:nvSpPr>
        <p:spPr>
          <a:xfrm>
            <a:off x="13510260" y="2183892"/>
            <a:ext cx="3611423"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Ràng buộc bắt buộc</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3510260" y="2901315"/>
            <a:ext cx="3611423" cy="6356985"/>
          </a:xfrm>
          <a:prstGeom prst="rect">
            <a:avLst/>
          </a:prstGeom>
        </p:spPr>
        <p:txBody>
          <a:bodyPr lIns="0" tIns="0" rIns="0" bIns="0" rtlCol="0" anchor="t">
            <a:spAutoFit/>
          </a:bodyPr>
          <a:lstStyle/>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Chỉ PEFT (LoRA / QLoRA) — không full fine-tuning</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Tái lập một baseline trước, rồi mới cải tiến</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Cùng split, seed, phần cứng cho mọi so sánh</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Hiệu quả là ràng buộc thiết kế: log VRAM, thời gian mỗi run</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a:p>
            <a:pPr marL="353060" lvl="1" indent="-176530" algn="l">
              <a:lnSpc>
                <a:spcPts val="2340"/>
              </a:lnSpc>
              <a:buFont typeface="Arial" panose="020B0604020202020204"/>
              <a:buChar cha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Runtime: Google Colab (Pro cho training), mount Drive, log GPU mỗi run</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TIẾP THU GÓP Ý PHẢN BIỆN (24/09/2026)</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Mười góp ý của phản biện và cách Phần A xử lý</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1988820"/>
          <a:ext cx="16611600" cy="6915150"/>
        </p:xfrm>
        <a:graphic>
          <a:graphicData uri="http://schemas.openxmlformats.org/drawingml/2006/table">
            <a:tbl>
              <a:tblPr/>
              <a:tblGrid>
                <a:gridCol w="640390"/>
                <a:gridCol w="6828936"/>
                <a:gridCol w="7481794"/>
                <a:gridCol w="1660480"/>
              </a:tblGrid>
              <a:tr h="62865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Góp ý của phản biện (24/09)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Nhóm đã sửa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Slide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Bài toán chưa rõ; chưa rõ input/output; tiếng Việt khác tiếng Anh ở đâu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Bài toán một câu; bảng input/output; bốn vấn đề tiếng Việt V1–V4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4–5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Dấu câu, khoảng trắng, từ nối chỉ là tiền xử lý</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Tách tiền xử lý khỏi vấn đề nghiên cứu; dẫn thí nghiệm bỏ dấu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Giả thuyết 4-bit/16-bit, VRAM chưa giải quyết vấn đề tiếng Việt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Rút còn H1–H4, mỗi cái gắn V1–V4; bộ nhớ chuyển sang số đo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Chưa có phương pháp đề xuất; chưa có hình pipeline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Chốt một phương pháp; pipeline 8 bước; mẫu prompt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12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Giải thích QLoRA; vì sao đưa cả LoRA và QLoRA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Giải thích QLoRA; chỉ dùng QLoRA vì ràng buộc phần cứng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11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So mô hình khác thế hệ, khác kích thước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Bảng vai trò mô hình; chỉ kết luận trên cùng backbone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11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Baseline là công trình trước; cần 3 baseline và SOTA tiếng Việt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Bảng công trình trước cho ViTextVQA và ViVQA, kèm lưu ý</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21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Khuyến nghị RAG; cần tính số token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Ngân sách token mỗi mẫu; RAG ngoài là tuỳ chọn có điều kiện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13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Tiền xử lý trước khi chia tập</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Tiền xử lý → split cố định; chỉnh trên dev, báo cáo trên test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10, 12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28650">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10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Kế hoạch chưa chi tiết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a:solidFill>
                            <a:srgbClr val="243044"/>
                          </a:solidFill>
                          <a:latin typeface="Calibri (MS)" panose="020F0502020204030204"/>
                          <a:ea typeface="Calibri (MS)" panose="020F0502020204030204"/>
                          <a:cs typeface="Calibri (MS)" panose="020F0502020204030204"/>
                          <a:sym typeface="Calibri (MS)" panose="020F0502020204030204"/>
                        </a:rPr>
                        <a:t>Bảng công việc theo tuần với đầu ra kiểm chứng được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070"/>
                        </a:lnSpc>
                        <a:defRPr/>
                      </a:pPr>
                      <a:r>
                        <a:rPr lang="en-US" sz="1725" b="1">
                          <a:solidFill>
                            <a:srgbClr val="243044"/>
                          </a:solidFill>
                          <a:latin typeface="Calibri (MS) Bold" panose="020F0702030404030204"/>
                          <a:ea typeface="Calibri (MS) Bold" panose="020F0702030404030204"/>
                          <a:cs typeface="Calibri (MS) Bold" panose="020F0702030404030204"/>
                          <a:sym typeface="Calibri (MS) Bold" panose="020F0702030404030204"/>
                        </a:rPr>
                        <a:t>15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
        <p:cNvGrpSpPr/>
        <p:nvPr/>
      </p:nvGrpSpPr>
      <p:grpSpPr>
        <a:xfrm>
          <a:off x="0" y="0"/>
          <a:ext cx="0" cy="0"/>
          <a:chOff x="0" y="0"/>
          <a:chExt cx="0" cy="0"/>
        </a:xfrm>
      </p:grpSpPr>
      <p:grpSp>
        <p:nvGrpSpPr>
          <p:cNvPr id="2" name="Group 2"/>
          <p:cNvGrpSpPr/>
          <p:nvPr/>
        </p:nvGrpSpPr>
        <p:grpSpPr>
          <a:xfrm rot="0">
            <a:off x="822960" y="2331720"/>
            <a:ext cx="16641623" cy="1645920"/>
            <a:chOff x="0" y="0"/>
            <a:chExt cx="22188830" cy="2194560"/>
          </a:xfrm>
        </p:grpSpPr>
        <p:sp>
          <p:nvSpPr>
            <p:cNvPr id="3" name="Freeform 3"/>
            <p:cNvSpPr/>
            <p:nvPr/>
          </p:nvSpPr>
          <p:spPr>
            <a:xfrm>
              <a:off x="0" y="0"/>
              <a:ext cx="22188830" cy="2194560"/>
            </a:xfrm>
            <a:custGeom>
              <a:avLst/>
              <a:gdLst/>
              <a:ahLst/>
              <a:cxnLst/>
              <a:rect l="l" t="t" r="r" b="b"/>
              <a:pathLst>
                <a:path w="22188830" h="2194560">
                  <a:moveTo>
                    <a:pt x="0" y="0"/>
                  </a:moveTo>
                  <a:lnTo>
                    <a:pt x="22188830" y="0"/>
                  </a:lnTo>
                  <a:lnTo>
                    <a:pt x="22188830" y="2194560"/>
                  </a:lnTo>
                  <a:lnTo>
                    <a:pt x="0" y="2194560"/>
                  </a:lnTo>
                  <a:close/>
                </a:path>
              </a:pathLst>
            </a:custGeom>
            <a:blipFill>
              <a:blip r:embed="rId1">
                <a:alphaModFix amt="0"/>
              </a:blip>
              <a:stretch>
                <a:fillRect t="-147009" b="-147009"/>
              </a:stretch>
            </a:blipFill>
          </p:spPr>
          <p:txBody>
            <a:bodyPr/>
            <a:p/>
          </p:txBody>
        </p:sp>
        <p:sp>
          <p:nvSpPr>
            <p:cNvPr id="4" name="TextBox 4"/>
            <p:cNvSpPr txBox="1"/>
            <p:nvPr/>
          </p:nvSpPr>
          <p:spPr>
            <a:xfrm>
              <a:off x="0" y="-19050"/>
              <a:ext cx="22188830" cy="2213610"/>
            </a:xfrm>
            <a:prstGeom prst="rect">
              <a:avLst/>
            </a:prstGeom>
          </p:spPr>
          <p:txBody>
            <a:bodyPr lIns="0" tIns="0" rIns="0" bIns="0" rtlCol="0" anchor="b"/>
            <a:lstStyle/>
            <a:p>
              <a:pPr algn="l">
                <a:lnSpc>
                  <a:spcPts val="9720"/>
                </a:lnSpc>
              </a:pPr>
              <a:r>
                <a:rPr lang="en-US" sz="8100" b="1">
                  <a:solidFill>
                    <a:srgbClr val="FFFFFF"/>
                  </a:solidFill>
                  <a:latin typeface="Cambria Bold" panose="02040803050406030204"/>
                  <a:ea typeface="Cambria Bold" panose="02040803050406030204"/>
                  <a:cs typeface="Cambria Bold" panose="02040803050406030204"/>
                  <a:sym typeface="Cambria Bold" panose="02040803050406030204"/>
                </a:rPr>
                <a:t>Phần B · Review 2</a:t>
              </a:r>
              <a:endParaRPr lang="en-US" sz="8100" b="1">
                <a:solidFill>
                  <a:srgbClr val="FFFFFF"/>
                </a:solidFill>
                <a:latin typeface="Cambria Bold" panose="02040803050406030204"/>
                <a:ea typeface="Cambria Bold" panose="02040803050406030204"/>
                <a:cs typeface="Cambria Bold" panose="02040803050406030204"/>
                <a:sym typeface="Cambria Bold" panose="02040803050406030204"/>
              </a:endParaRPr>
            </a:p>
          </p:txBody>
        </p:sp>
      </p:grpSp>
      <p:sp>
        <p:nvSpPr>
          <p:cNvPr id="5" name="TextBox 5"/>
          <p:cNvSpPr txBox="1"/>
          <p:nvPr/>
        </p:nvSpPr>
        <p:spPr>
          <a:xfrm>
            <a:off x="822960" y="4048125"/>
            <a:ext cx="16641623" cy="5004435"/>
          </a:xfrm>
          <a:prstGeom prst="rect">
            <a:avLst/>
          </a:prstGeom>
        </p:spPr>
        <p:txBody>
          <a:bodyPr lIns="0" tIns="0" rIns="0" bIns="0" rtlCol="0" anchor="t">
            <a:spAutoFit/>
          </a:bodyPr>
          <a:lstStyle/>
          <a:p>
            <a:pPr algn="l">
              <a:lnSpc>
                <a:spcPts val="3600"/>
              </a:lnSpc>
            </a:pPr>
            <a:r>
              <a:rPr lang="en-US" sz="3000">
                <a:solidFill>
                  <a:srgbClr val="FFFFFF"/>
                </a:solidFill>
                <a:latin typeface="Calibri (MS)" panose="020F0502020204030204"/>
                <a:ea typeface="Calibri (MS)" panose="020F0502020204030204"/>
                <a:cs typeface="Calibri (MS)" panose="020F0502020204030204"/>
                <a:sym typeface="Calibri (MS)" panose="020F0502020204030204"/>
              </a:rPr>
              <a:t>Existing System + Methodology</a:t>
            </a:r>
            <a:endParaRPr lang="en-US" sz="3000">
              <a:solidFill>
                <a:srgbClr val="FFFFFF"/>
              </a:solidFill>
              <a:latin typeface="Calibri (MS)" panose="020F0502020204030204"/>
              <a:ea typeface="Calibri (MS)" panose="020F0502020204030204"/>
              <a:cs typeface="Calibri (MS)" panose="020F0502020204030204"/>
              <a:sym typeface="Calibri (MS)" panose="020F0502020204030204"/>
            </a:endParaRPr>
          </a:p>
          <a:p>
            <a:pPr algn="l">
              <a:lnSpc>
                <a:spcPts val="2160"/>
              </a:lnSpc>
            </a:pPr>
            <a:r>
              <a:rPr lang="en-US" sz="1800">
                <a:solidFill>
                  <a:srgbClr val="FFFFFF"/>
                </a:solidFill>
                <a:latin typeface="Calibri (MS)" panose="020F0502020204030204"/>
                <a:ea typeface="Calibri (MS)" panose="020F0502020204030204"/>
                <a:cs typeface="Calibri (MS)" panose="020F0502020204030204"/>
                <a:sym typeface="Calibri (MS)" panose="020F0502020204030204"/>
              </a:rPr>
              <a:t> </a:t>
            </a:r>
            <a:endParaRPr lang="en-US" sz="1800">
              <a:solidFill>
                <a:srgbClr val="FFFFFF"/>
              </a:solidFill>
              <a:latin typeface="Calibri (MS)" panose="020F0502020204030204"/>
              <a:ea typeface="Calibri (MS)" panose="020F0502020204030204"/>
              <a:cs typeface="Calibri (MS)" panose="020F0502020204030204"/>
              <a:sym typeface="Calibri (MS)" panose="020F0502020204030204"/>
            </a:endParaRPr>
          </a:p>
          <a:p>
            <a:pPr algn="l">
              <a:lnSpc>
                <a:spcPts val="2700"/>
              </a:lnSpc>
            </a:pPr>
            <a:r>
              <a:rPr lang="en-US" sz="2250">
                <a:solidFill>
                  <a:srgbClr val="A8C4E0"/>
                </a:solidFill>
                <a:latin typeface="Calibri (MS)" panose="020F0502020204030204"/>
                <a:ea typeface="Calibri (MS)" panose="020F0502020204030204"/>
                <a:cs typeface="Calibri (MS)" panose="020F0502020204030204"/>
                <a:sym typeface="Calibri (MS)" panose="020F0502020204030204"/>
              </a:rPr>
              <a:t>Hệ thống hiện có làm được đến đâu, baseline của nhóm chạy đúng và yếu ở đâu — rồi nhóm cải tiến bằng phương pháp nào, với bằng chứng gì.</a:t>
            </a:r>
            <a:endParaRPr lang="en-US" sz="2250">
              <a:solidFill>
                <a:srgbClr val="A8C4E0"/>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TÓM TẮT</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kết quả chính của mốc này</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390775"/>
            <a:ext cx="3819411" cy="3996690"/>
            <a:chOff x="0" y="0"/>
            <a:chExt cx="5092548" cy="5328920"/>
          </a:xfrm>
        </p:grpSpPr>
        <p:sp>
          <p:nvSpPr>
            <p:cNvPr id="8" name="Freeform 8"/>
            <p:cNvSpPr/>
            <p:nvPr/>
          </p:nvSpPr>
          <p:spPr>
            <a:xfrm>
              <a:off x="0" y="0"/>
              <a:ext cx="5092573" cy="5328920"/>
            </a:xfrm>
            <a:custGeom>
              <a:avLst/>
              <a:gdLst/>
              <a:ahLst/>
              <a:cxnLst/>
              <a:rect l="l" t="t" r="r" b="b"/>
              <a:pathLst>
                <a:path w="5092573" h="5328920">
                  <a:moveTo>
                    <a:pt x="0" y="147066"/>
                  </a:moveTo>
                  <a:cubicBezTo>
                    <a:pt x="0" y="65786"/>
                    <a:pt x="65786" y="0"/>
                    <a:pt x="147066" y="0"/>
                  </a:cubicBezTo>
                  <a:lnTo>
                    <a:pt x="4945507" y="0"/>
                  </a:lnTo>
                  <a:cubicBezTo>
                    <a:pt x="5026660" y="0"/>
                    <a:pt x="5092573" y="65786"/>
                    <a:pt x="5092573" y="147066"/>
                  </a:cubicBezTo>
                  <a:lnTo>
                    <a:pt x="5092573" y="5181854"/>
                  </a:lnTo>
                  <a:cubicBezTo>
                    <a:pt x="5092573" y="5263007"/>
                    <a:pt x="5026787" y="5328920"/>
                    <a:pt x="4945507" y="5328920"/>
                  </a:cubicBezTo>
                  <a:lnTo>
                    <a:pt x="147066" y="5328920"/>
                  </a:lnTo>
                  <a:cubicBezTo>
                    <a:pt x="65786" y="5328920"/>
                    <a:pt x="0" y="5263134"/>
                    <a:pt x="0" y="5181854"/>
                  </a:cubicBezTo>
                  <a:close/>
                </a:path>
              </a:pathLst>
            </a:custGeom>
            <a:solidFill>
              <a:srgbClr val="F3F5F8"/>
            </a:solidFill>
            <a:ln w="19050" cap="sq">
              <a:solidFill>
                <a:srgbClr val="F3F5F8"/>
              </a:solidFill>
              <a:prstDash val="solid"/>
              <a:miter/>
            </a:ln>
          </p:spPr>
          <p:txBody>
            <a:bodyPr/>
            <a:p/>
          </p:txBody>
        </p:sp>
      </p:grpSp>
      <p:sp>
        <p:nvSpPr>
          <p:cNvPr id="9" name="TextBox 9"/>
          <p:cNvSpPr txBox="1"/>
          <p:nvPr/>
        </p:nvSpPr>
        <p:spPr>
          <a:xfrm>
            <a:off x="1234440" y="3007995"/>
            <a:ext cx="2977401" cy="1243965"/>
          </a:xfrm>
          <a:prstGeom prst="rect">
            <a:avLst/>
          </a:prstGeom>
        </p:spPr>
        <p:txBody>
          <a:bodyPr lIns="0" tIns="0" rIns="0" bIns="0" rtlCol="0" anchor="t">
            <a:spAutoFit/>
          </a:bodyPr>
          <a:lstStyle/>
          <a:p>
            <a:pPr algn="l">
              <a:lnSpc>
                <a:spcPts val="6480"/>
              </a:lnSpc>
            </a:pPr>
            <a:r>
              <a:rPr lang="en-US" sz="5400" b="1">
                <a:solidFill>
                  <a:srgbClr val="1C7293"/>
                </a:solidFill>
                <a:latin typeface="Cambria Bold" panose="02040803050406030204"/>
                <a:ea typeface="Cambria Bold" panose="02040803050406030204"/>
                <a:cs typeface="Cambria Bold" panose="02040803050406030204"/>
                <a:sym typeface="Cambria Bold" panose="02040803050406030204"/>
              </a:rPr>
              <a:t>79,6</a:t>
            </a:r>
            <a:endParaRPr lang="en-US" sz="54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10" name="TextBox 10"/>
          <p:cNvSpPr txBox="1"/>
          <p:nvPr/>
        </p:nvSpPr>
        <p:spPr>
          <a:xfrm>
            <a:off x="1234440" y="4272915"/>
            <a:ext cx="2977401" cy="12820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Kiểm chứng pipeline — TextVQA val, Qwen2.5-VL-3B; báo cáo chính thức ghi 79,3</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1" name="Group 11"/>
          <p:cNvGrpSpPr/>
          <p:nvPr/>
        </p:nvGrpSpPr>
        <p:grpSpPr>
          <a:xfrm rot="0">
            <a:off x="5093856" y="2390775"/>
            <a:ext cx="3819411" cy="3996690"/>
            <a:chOff x="0" y="0"/>
            <a:chExt cx="5092548" cy="5328920"/>
          </a:xfrm>
        </p:grpSpPr>
        <p:sp>
          <p:nvSpPr>
            <p:cNvPr id="12" name="Freeform 12"/>
            <p:cNvSpPr/>
            <p:nvPr/>
          </p:nvSpPr>
          <p:spPr>
            <a:xfrm>
              <a:off x="0" y="0"/>
              <a:ext cx="5092573" cy="5328920"/>
            </a:xfrm>
            <a:custGeom>
              <a:avLst/>
              <a:gdLst/>
              <a:ahLst/>
              <a:cxnLst/>
              <a:rect l="l" t="t" r="r" b="b"/>
              <a:pathLst>
                <a:path w="5092573" h="5328920">
                  <a:moveTo>
                    <a:pt x="0" y="147066"/>
                  </a:moveTo>
                  <a:cubicBezTo>
                    <a:pt x="0" y="65786"/>
                    <a:pt x="65786" y="0"/>
                    <a:pt x="147066" y="0"/>
                  </a:cubicBezTo>
                  <a:lnTo>
                    <a:pt x="4945507" y="0"/>
                  </a:lnTo>
                  <a:cubicBezTo>
                    <a:pt x="5026660" y="0"/>
                    <a:pt x="5092573" y="65786"/>
                    <a:pt x="5092573" y="147066"/>
                  </a:cubicBezTo>
                  <a:lnTo>
                    <a:pt x="5092573" y="5181854"/>
                  </a:lnTo>
                  <a:cubicBezTo>
                    <a:pt x="5092573" y="5263007"/>
                    <a:pt x="5026787" y="5328920"/>
                    <a:pt x="4945507" y="5328920"/>
                  </a:cubicBezTo>
                  <a:lnTo>
                    <a:pt x="147066" y="5328920"/>
                  </a:lnTo>
                  <a:cubicBezTo>
                    <a:pt x="65786" y="5328920"/>
                    <a:pt x="0" y="5263134"/>
                    <a:pt x="0" y="5181854"/>
                  </a:cubicBezTo>
                  <a:close/>
                </a:path>
              </a:pathLst>
            </a:custGeom>
            <a:solidFill>
              <a:srgbClr val="F3F5F8"/>
            </a:solidFill>
            <a:ln w="19050" cap="sq">
              <a:solidFill>
                <a:srgbClr val="F3F5F8"/>
              </a:solidFill>
              <a:prstDash val="solid"/>
              <a:miter/>
            </a:ln>
          </p:spPr>
          <p:txBody>
            <a:bodyPr/>
            <a:p/>
          </p:txBody>
        </p:sp>
      </p:grpSp>
      <p:sp>
        <p:nvSpPr>
          <p:cNvPr id="13" name="TextBox 13"/>
          <p:cNvSpPr txBox="1"/>
          <p:nvPr/>
        </p:nvSpPr>
        <p:spPr>
          <a:xfrm>
            <a:off x="5514861" y="3007995"/>
            <a:ext cx="2977401" cy="1243965"/>
          </a:xfrm>
          <a:prstGeom prst="rect">
            <a:avLst/>
          </a:prstGeom>
        </p:spPr>
        <p:txBody>
          <a:bodyPr lIns="0" tIns="0" rIns="0" bIns="0" rtlCol="0" anchor="t">
            <a:spAutoFit/>
          </a:bodyPr>
          <a:lstStyle/>
          <a:p>
            <a:pPr algn="l">
              <a:lnSpc>
                <a:spcPts val="6480"/>
              </a:lnSpc>
            </a:pPr>
            <a:r>
              <a:rPr lang="en-US" sz="5400" b="1">
                <a:solidFill>
                  <a:srgbClr val="13294B"/>
                </a:solidFill>
                <a:latin typeface="Cambria Bold" panose="02040803050406030204"/>
                <a:ea typeface="Cambria Bold" panose="02040803050406030204"/>
                <a:cs typeface="Cambria Bold" panose="02040803050406030204"/>
                <a:sym typeface="Cambria Bold" panose="02040803050406030204"/>
              </a:rPr>
              <a:t>+21,1</a:t>
            </a:r>
            <a:endParaRPr lang="en-US" sz="54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4" name="TextBox 14"/>
          <p:cNvSpPr txBox="1"/>
          <p:nvPr/>
        </p:nvSpPr>
        <p:spPr>
          <a:xfrm>
            <a:off x="5514861" y="4272915"/>
            <a:ext cx="2977401" cy="12820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EM nhờ QLoRA so với zero-shot, full test ViTextVQA (+51,7 ở ViVQA); p ≈ 0</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5" name="Group 15"/>
          <p:cNvGrpSpPr/>
          <p:nvPr/>
        </p:nvGrpSpPr>
        <p:grpSpPr>
          <a:xfrm rot="0">
            <a:off x="9374276" y="2390775"/>
            <a:ext cx="3819411" cy="3996690"/>
            <a:chOff x="0" y="0"/>
            <a:chExt cx="5092548" cy="5328920"/>
          </a:xfrm>
        </p:grpSpPr>
        <p:sp>
          <p:nvSpPr>
            <p:cNvPr id="16" name="Freeform 16"/>
            <p:cNvSpPr/>
            <p:nvPr/>
          </p:nvSpPr>
          <p:spPr>
            <a:xfrm>
              <a:off x="0" y="0"/>
              <a:ext cx="5092573" cy="5328920"/>
            </a:xfrm>
            <a:custGeom>
              <a:avLst/>
              <a:gdLst/>
              <a:ahLst/>
              <a:cxnLst/>
              <a:rect l="l" t="t" r="r" b="b"/>
              <a:pathLst>
                <a:path w="5092573" h="5328920">
                  <a:moveTo>
                    <a:pt x="0" y="147066"/>
                  </a:moveTo>
                  <a:cubicBezTo>
                    <a:pt x="0" y="65786"/>
                    <a:pt x="65786" y="0"/>
                    <a:pt x="147066" y="0"/>
                  </a:cubicBezTo>
                  <a:lnTo>
                    <a:pt x="4945507" y="0"/>
                  </a:lnTo>
                  <a:cubicBezTo>
                    <a:pt x="5026660" y="0"/>
                    <a:pt x="5092573" y="65786"/>
                    <a:pt x="5092573" y="147066"/>
                  </a:cubicBezTo>
                  <a:lnTo>
                    <a:pt x="5092573" y="5181854"/>
                  </a:lnTo>
                  <a:cubicBezTo>
                    <a:pt x="5092573" y="5263007"/>
                    <a:pt x="5026787" y="5328920"/>
                    <a:pt x="4945507" y="5328920"/>
                  </a:cubicBezTo>
                  <a:lnTo>
                    <a:pt x="147066" y="5328920"/>
                  </a:lnTo>
                  <a:cubicBezTo>
                    <a:pt x="65786" y="5328920"/>
                    <a:pt x="0" y="5263134"/>
                    <a:pt x="0" y="5181854"/>
                  </a:cubicBezTo>
                  <a:close/>
                </a:path>
              </a:pathLst>
            </a:custGeom>
            <a:solidFill>
              <a:srgbClr val="F3F5F8"/>
            </a:solidFill>
            <a:ln w="19050" cap="sq">
              <a:solidFill>
                <a:srgbClr val="F3F5F8"/>
              </a:solidFill>
              <a:prstDash val="solid"/>
              <a:miter/>
            </a:ln>
          </p:spPr>
          <p:txBody>
            <a:bodyPr/>
            <a:p/>
          </p:txBody>
        </p:sp>
      </p:grpSp>
      <p:sp>
        <p:nvSpPr>
          <p:cNvPr id="17" name="TextBox 17"/>
          <p:cNvSpPr txBox="1"/>
          <p:nvPr/>
        </p:nvSpPr>
        <p:spPr>
          <a:xfrm>
            <a:off x="9795281" y="3007995"/>
            <a:ext cx="2977401" cy="1243965"/>
          </a:xfrm>
          <a:prstGeom prst="rect">
            <a:avLst/>
          </a:prstGeom>
        </p:spPr>
        <p:txBody>
          <a:bodyPr lIns="0" tIns="0" rIns="0" bIns="0" rtlCol="0" anchor="t">
            <a:spAutoFit/>
          </a:bodyPr>
          <a:lstStyle/>
          <a:p>
            <a:pPr algn="l">
              <a:lnSpc>
                <a:spcPts val="6480"/>
              </a:lnSpc>
            </a:pPr>
            <a:r>
              <a:rPr lang="en-US" sz="5400" b="1">
                <a:solidFill>
                  <a:srgbClr val="13294B"/>
                </a:solidFill>
                <a:latin typeface="Cambria Bold" panose="02040803050406030204"/>
                <a:ea typeface="Cambria Bold" panose="02040803050406030204"/>
                <a:cs typeface="Cambria Bold" panose="02040803050406030204"/>
                <a:sym typeface="Cambria Bold" panose="02040803050406030204"/>
              </a:rPr>
              <a:t>53,4</a:t>
            </a:r>
            <a:endParaRPr lang="en-US" sz="54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8" name="TextBox 18"/>
          <p:cNvSpPr txBox="1"/>
          <p:nvPr/>
        </p:nvSpPr>
        <p:spPr>
          <a:xfrm>
            <a:off x="9795281" y="4272915"/>
            <a:ext cx="2977401" cy="12820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EM của phương pháp đề xuất (B3-full), full test ViTextVQA, so với 25,5 của SOTA công bố</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13654697" y="2390775"/>
            <a:ext cx="3819411" cy="3996690"/>
            <a:chOff x="0" y="0"/>
            <a:chExt cx="5092548" cy="5328920"/>
          </a:xfrm>
        </p:grpSpPr>
        <p:sp>
          <p:nvSpPr>
            <p:cNvPr id="20" name="Freeform 20"/>
            <p:cNvSpPr/>
            <p:nvPr/>
          </p:nvSpPr>
          <p:spPr>
            <a:xfrm>
              <a:off x="0" y="0"/>
              <a:ext cx="5092573" cy="5328920"/>
            </a:xfrm>
            <a:custGeom>
              <a:avLst/>
              <a:gdLst/>
              <a:ahLst/>
              <a:cxnLst/>
              <a:rect l="l" t="t" r="r" b="b"/>
              <a:pathLst>
                <a:path w="5092573" h="5328920">
                  <a:moveTo>
                    <a:pt x="0" y="147066"/>
                  </a:moveTo>
                  <a:cubicBezTo>
                    <a:pt x="0" y="65786"/>
                    <a:pt x="65786" y="0"/>
                    <a:pt x="147066" y="0"/>
                  </a:cubicBezTo>
                  <a:lnTo>
                    <a:pt x="4945507" y="0"/>
                  </a:lnTo>
                  <a:cubicBezTo>
                    <a:pt x="5026660" y="0"/>
                    <a:pt x="5092573" y="65786"/>
                    <a:pt x="5092573" y="147066"/>
                  </a:cubicBezTo>
                  <a:lnTo>
                    <a:pt x="5092573" y="5181854"/>
                  </a:lnTo>
                  <a:cubicBezTo>
                    <a:pt x="5092573" y="5263007"/>
                    <a:pt x="5026787" y="5328920"/>
                    <a:pt x="4945507" y="5328920"/>
                  </a:cubicBezTo>
                  <a:lnTo>
                    <a:pt x="147066" y="5328920"/>
                  </a:lnTo>
                  <a:cubicBezTo>
                    <a:pt x="65786" y="5328920"/>
                    <a:pt x="0" y="5263134"/>
                    <a:pt x="0" y="5181854"/>
                  </a:cubicBezTo>
                  <a:close/>
                </a:path>
              </a:pathLst>
            </a:custGeom>
            <a:solidFill>
              <a:srgbClr val="FBF0DA"/>
            </a:solidFill>
            <a:ln w="19050" cap="sq">
              <a:solidFill>
                <a:srgbClr val="FBF0DA"/>
              </a:solidFill>
              <a:prstDash val="solid"/>
              <a:miter/>
            </a:ln>
          </p:spPr>
          <p:txBody>
            <a:bodyPr/>
            <a:p/>
          </p:txBody>
        </p:sp>
      </p:grpSp>
      <p:sp>
        <p:nvSpPr>
          <p:cNvPr id="21" name="TextBox 21"/>
          <p:cNvSpPr txBox="1"/>
          <p:nvPr/>
        </p:nvSpPr>
        <p:spPr>
          <a:xfrm>
            <a:off x="14075702" y="3007995"/>
            <a:ext cx="2977401" cy="1243965"/>
          </a:xfrm>
          <a:prstGeom prst="rect">
            <a:avLst/>
          </a:prstGeom>
        </p:spPr>
        <p:txBody>
          <a:bodyPr lIns="0" tIns="0" rIns="0" bIns="0" rtlCol="0" anchor="t">
            <a:spAutoFit/>
          </a:bodyPr>
          <a:lstStyle/>
          <a:p>
            <a:pPr algn="l">
              <a:lnSpc>
                <a:spcPts val="6480"/>
              </a:lnSpc>
            </a:pPr>
            <a:r>
              <a:rPr lang="en-US" sz="5400" b="1">
                <a:solidFill>
                  <a:srgbClr val="E8A33D"/>
                </a:solidFill>
                <a:latin typeface="Cambria Bold" panose="02040803050406030204"/>
                <a:ea typeface="Cambria Bold" panose="02040803050406030204"/>
                <a:cs typeface="Cambria Bold" panose="02040803050406030204"/>
                <a:sym typeface="Cambria Bold" panose="02040803050406030204"/>
              </a:rPr>
              <a:t>+3,1</a:t>
            </a:r>
            <a:endParaRPr lang="en-US" sz="54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22" name="TextBox 22"/>
          <p:cNvSpPr txBox="1"/>
          <p:nvPr/>
        </p:nvSpPr>
        <p:spPr>
          <a:xfrm>
            <a:off x="14075702" y="4272915"/>
            <a:ext cx="2977401" cy="12820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EM nhờ OCR: cùng QLoRA, cùng toàn bộ dữ liệu (full test, p = 7 × 10⁻²¹)</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813435" y="6848475"/>
            <a:ext cx="16660673" cy="1459230"/>
            <a:chOff x="0" y="0"/>
            <a:chExt cx="22214230" cy="1945640"/>
          </a:xfrm>
        </p:grpSpPr>
        <p:sp>
          <p:nvSpPr>
            <p:cNvPr id="24" name="Freeform 24"/>
            <p:cNvSpPr/>
            <p:nvPr/>
          </p:nvSpPr>
          <p:spPr>
            <a:xfrm>
              <a:off x="0" y="0"/>
              <a:ext cx="22214205" cy="1945640"/>
            </a:xfrm>
            <a:custGeom>
              <a:avLst/>
              <a:gdLst/>
              <a:ahLst/>
              <a:cxnLst/>
              <a:rect l="l" t="t" r="r" b="b"/>
              <a:pathLst>
                <a:path w="22214205" h="1945640">
                  <a:moveTo>
                    <a:pt x="0" y="148209"/>
                  </a:moveTo>
                  <a:cubicBezTo>
                    <a:pt x="0" y="66421"/>
                    <a:pt x="66421" y="0"/>
                    <a:pt x="148209" y="0"/>
                  </a:cubicBezTo>
                  <a:lnTo>
                    <a:pt x="22065996" y="0"/>
                  </a:lnTo>
                  <a:cubicBezTo>
                    <a:pt x="22147910" y="0"/>
                    <a:pt x="22214205" y="66421"/>
                    <a:pt x="22214205" y="148209"/>
                  </a:cubicBezTo>
                  <a:lnTo>
                    <a:pt x="22214205" y="1797431"/>
                  </a:lnTo>
                  <a:cubicBezTo>
                    <a:pt x="22214205" y="1879346"/>
                    <a:pt x="22147785" y="1945640"/>
                    <a:pt x="22065996" y="1945640"/>
                  </a:cubicBezTo>
                  <a:lnTo>
                    <a:pt x="148209" y="1945640"/>
                  </a:lnTo>
                  <a:cubicBezTo>
                    <a:pt x="66421" y="1945640"/>
                    <a:pt x="0" y="1879219"/>
                    <a:pt x="0" y="1797431"/>
                  </a:cubicBezTo>
                  <a:close/>
                </a:path>
              </a:pathLst>
            </a:custGeom>
            <a:solidFill>
              <a:srgbClr val="E7F0F3"/>
            </a:solidFill>
            <a:ln w="19050" cap="sq">
              <a:solidFill>
                <a:srgbClr val="E7F0F3"/>
              </a:solidFill>
              <a:prstDash val="solid"/>
              <a:miter/>
            </a:ln>
          </p:spPr>
          <p:txBody>
            <a:bodyPr/>
            <a:p/>
          </p:txBody>
        </p:sp>
      </p:grpSp>
      <p:grpSp>
        <p:nvGrpSpPr>
          <p:cNvPr id="25" name="Group 25"/>
          <p:cNvGrpSpPr/>
          <p:nvPr/>
        </p:nvGrpSpPr>
        <p:grpSpPr>
          <a:xfrm rot="0">
            <a:off x="1303020" y="6858000"/>
            <a:ext cx="15681503" cy="1440180"/>
            <a:chOff x="0" y="0"/>
            <a:chExt cx="20908670" cy="1920240"/>
          </a:xfrm>
        </p:grpSpPr>
        <p:sp>
          <p:nvSpPr>
            <p:cNvPr id="26" name="Freeform 26"/>
            <p:cNvSpPr/>
            <p:nvPr/>
          </p:nvSpPr>
          <p:spPr>
            <a:xfrm>
              <a:off x="0" y="0"/>
              <a:ext cx="20908669" cy="1920240"/>
            </a:xfrm>
            <a:custGeom>
              <a:avLst/>
              <a:gdLst/>
              <a:ahLst/>
              <a:cxnLst/>
              <a:rect l="l" t="t" r="r" b="b"/>
              <a:pathLst>
                <a:path w="20908669" h="1920240">
                  <a:moveTo>
                    <a:pt x="0" y="0"/>
                  </a:moveTo>
                  <a:lnTo>
                    <a:pt x="20908669" y="0"/>
                  </a:lnTo>
                  <a:lnTo>
                    <a:pt x="20908669" y="1920240"/>
                  </a:lnTo>
                  <a:lnTo>
                    <a:pt x="0" y="1920240"/>
                  </a:lnTo>
                  <a:close/>
                </a:path>
              </a:pathLst>
            </a:custGeom>
            <a:blipFill>
              <a:blip r:embed="rId1">
                <a:alphaModFix amt="0"/>
              </a:blip>
              <a:stretch>
                <a:fillRect t="-162164" b="-162164"/>
              </a:stretch>
            </a:blipFill>
          </p:spPr>
          <p:txBody>
            <a:bodyPr/>
            <a:p/>
          </p:txBody>
        </p:sp>
        <p:sp>
          <p:nvSpPr>
            <p:cNvPr id="27" name="TextBox 27"/>
            <p:cNvSpPr txBox="1"/>
            <p:nvPr/>
          </p:nvSpPr>
          <p:spPr>
            <a:xfrm>
              <a:off x="0" y="-38100"/>
              <a:ext cx="20908670" cy="1958340"/>
            </a:xfrm>
            <a:prstGeom prst="rect">
              <a:avLst/>
            </a:prstGeom>
          </p:spPr>
          <p:txBody>
            <a:bodyPr lIns="0" tIns="0" rIns="0" bIns="0" rtlCol="0" anchor="ctr"/>
            <a:lstStyle/>
            <a:p>
              <a:pPr algn="l">
                <a:lnSpc>
                  <a:spcPts val="2880"/>
                </a:lnSpc>
              </a:pPr>
              <a:r>
                <a:rPr lang="en-US" sz="2400">
                  <a:solidFill>
                    <a:srgbClr val="13294B"/>
                  </a:solidFill>
                  <a:latin typeface="Calibri (MS)" panose="020F0502020204030204"/>
                  <a:ea typeface="Calibri (MS)" panose="020F0502020204030204"/>
                  <a:cs typeface="Calibri (MS)" panose="020F0502020204030204"/>
                  <a:sym typeface="Calibri (MS)" panose="020F0502020204030204"/>
                </a:rPr>
                <a:t>Hiệu quả theo thiết kế: chỉ train 7,37 triệu tham số (0,196%), adapter 29,5 MB, một GPU L4 — không full fine-tuning. Một adapter dùng chung cho cả hai dataset không kém adapter riêng (slide 40).</a:t>
              </a:r>
              <a:endParaRPr lang="en-US" sz="2400">
                <a:solidFill>
                  <a:srgbClr val="13294B"/>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XỬ LÝ GÓP Ý GVHD</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Góp ý của GVHD (07/10) và việc nhóm đã làm</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263140"/>
          <a:ext cx="16611600" cy="5029200"/>
        </p:xfrm>
        <a:graphic>
          <a:graphicData uri="http://schemas.openxmlformats.org/drawingml/2006/table">
            <a:tbl>
              <a:tblPr/>
              <a:tblGrid>
                <a:gridCol w="4933183"/>
                <a:gridCol w="9974226"/>
                <a:gridCol w="1704191"/>
              </a:tblGrid>
              <a:tr h="8382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Góp ý</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Việc đã làm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Slide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838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Chưa có sơ đồ kiến trúc baseline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Sơ đồ từng thành phần của Qwen2.5-VL-3B và vị trí gắn LoRA (Hình 7A)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Giải thích dataset và nhiễu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Quy trình tạo ViVQA + điểm nhiễu N1–N4 (Hình 6A); kiểm tra rò rỉ train–test; duyệt tay 400 mẫu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22, 7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Chạy lại baseline với phương pháp đánh giá rõ ràng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Giao thức cố định (Hình 7B); kiểm chứng pipeline bằng số đã công bố (R0); B1 zero-shot trên 2 dataset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24–26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Nắm SOTA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So với ViTextBLIP-2 trên full test; kiểm dòng LMM ở Table 7 bằng Qwen2-VL-7B (R1)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21, 27, 31–32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Chạy thí nghiệm rồi mới bàn cải tiến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QLoRA (B2) + ba đối chứng; sau đó phương pháp đề xuất QLoRA nhận biết OCR (B3) kèm ablation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29–41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01 · CÔNG TRÌNH TRƯỚC &amp; SOTA</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Công trình trước và baseline tham chiếu</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1988820"/>
          <a:ext cx="16592550" cy="3429000"/>
        </p:xfrm>
        <a:graphic>
          <a:graphicData uri="http://schemas.openxmlformats.org/drawingml/2006/table">
            <a:tbl>
              <a:tblPr/>
              <a:tblGrid>
                <a:gridCol w="4910744"/>
                <a:gridCol w="6985801"/>
                <a:gridCol w="2198250"/>
                <a:gridCol w="1248877"/>
                <a:gridCol w="1248877"/>
              </a:tblGrid>
              <a:tr h="5715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ViTextVQA test · công trình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Hướng tiếp cận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Tham số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71500">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BLIP-2 large (Li và cs., ICML 2023)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Encoder ảnh + LM đóng băng, train Q-Former; OCR SwinTextSpotter, LM ViT5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 8% / 1,4B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38,47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15,58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71500">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PreSTU large (Kil và cs., ICCV 2023)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T5 pretrain cho scene-text, OCR theo bố cục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 100% / 860M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44,93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22,64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71500">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ViTextBLIP-2 (Nguyen và cs., 2024) — SOTA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BLIP-2 + OCR + caption, chỉ train Q-Former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 5% / 2,5B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b="1">
                          <a:solidFill>
                            <a:srgbClr val="243044"/>
                          </a:solidFill>
                          <a:latin typeface="Calibri (MS) Bold" panose="020F0702030404030204"/>
                          <a:ea typeface="Calibri (MS) Bold" panose="020F0702030404030204"/>
                          <a:cs typeface="Calibri (MS) Bold" panose="020F0702030404030204"/>
                          <a:sym typeface="Calibri (MS) Bold" panose="020F0702030404030204"/>
                        </a:rPr>
                        <a:t>53,95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b="1">
                          <a:solidFill>
                            <a:srgbClr val="243044"/>
                          </a:solidFill>
                          <a:latin typeface="Calibri (MS) Bold" panose="020F0702030404030204"/>
                          <a:ea typeface="Calibri (MS) Bold" panose="020F0702030404030204"/>
                          <a:cs typeface="Calibri (MS) Bold" panose="020F0702030404030204"/>
                          <a:sym typeface="Calibri (MS) Bold" panose="020F0702030404030204"/>
                        </a:rPr>
                        <a:t>25,48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71500">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QwenVL-7B zero-shot (cùng paper)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VLM đa ngôn ngữ, không train; 100 câu ngẫu nhiên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53,80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28,00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71500">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Con người (cùng paper)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96,42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88,00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aphicFrame>
        <p:nvGraphicFramePr>
          <p:cNvPr id="8" name="Table 8"/>
          <p:cNvGraphicFramePr>
            <a:graphicFrameLocks noGrp="1"/>
          </p:cNvGraphicFramePr>
          <p:nvPr/>
        </p:nvGraphicFramePr>
        <p:xfrm>
          <a:off x="822960" y="5829300"/>
          <a:ext cx="16630650" cy="1714500"/>
        </p:xfrm>
        <a:graphic>
          <a:graphicData uri="http://schemas.openxmlformats.org/drawingml/2006/table">
            <a:tbl>
              <a:tblPr/>
              <a:tblGrid>
                <a:gridCol w="6302847"/>
                <a:gridCol w="6848450"/>
                <a:gridCol w="3479353"/>
              </a:tblGrid>
              <a:tr h="5715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ViVQA test · công trình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Hướng tiếp cận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Kết quả</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71500">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AViVQA-TranConI (Nguyen và cs., Comput. Electr. Eng. 2024)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BLIP-2 đóng băng + EfficientNet, chọn đáp án từ tập nhãn cố định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Accuracy 71,04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71500">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Multi-Vision Contextual Attention cải tiến (Bui và cs., 2025)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Attention trên nhiều đặc trưng thị giác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Accuracy 62,41 (gốc 60)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9" name="Group 9"/>
          <p:cNvGrpSpPr/>
          <p:nvPr/>
        </p:nvGrpSpPr>
        <p:grpSpPr>
          <a:xfrm rot="0">
            <a:off x="813435" y="7740015"/>
            <a:ext cx="16660673" cy="1664970"/>
            <a:chOff x="0" y="0"/>
            <a:chExt cx="22214230" cy="2219960"/>
          </a:xfrm>
        </p:grpSpPr>
        <p:sp>
          <p:nvSpPr>
            <p:cNvPr id="10" name="Freeform 10"/>
            <p:cNvSpPr/>
            <p:nvPr/>
          </p:nvSpPr>
          <p:spPr>
            <a:xfrm>
              <a:off x="0" y="0"/>
              <a:ext cx="22214205" cy="2219960"/>
            </a:xfrm>
            <a:custGeom>
              <a:avLst/>
              <a:gdLst/>
              <a:ahLst/>
              <a:cxnLst/>
              <a:rect l="l" t="t" r="r" b="b"/>
              <a:pathLst>
                <a:path w="22214205" h="2219960">
                  <a:moveTo>
                    <a:pt x="0" y="147955"/>
                  </a:moveTo>
                  <a:cubicBezTo>
                    <a:pt x="0" y="66294"/>
                    <a:pt x="66294" y="0"/>
                    <a:pt x="147955" y="0"/>
                  </a:cubicBezTo>
                  <a:lnTo>
                    <a:pt x="22066250" y="0"/>
                  </a:lnTo>
                  <a:cubicBezTo>
                    <a:pt x="22148039" y="0"/>
                    <a:pt x="22214205" y="66294"/>
                    <a:pt x="22214205" y="147955"/>
                  </a:cubicBezTo>
                  <a:lnTo>
                    <a:pt x="22214205" y="2072005"/>
                  </a:lnTo>
                  <a:cubicBezTo>
                    <a:pt x="22214205" y="2153793"/>
                    <a:pt x="22147912" y="2219960"/>
                    <a:pt x="22066250" y="2219960"/>
                  </a:cubicBezTo>
                  <a:lnTo>
                    <a:pt x="147955" y="2219960"/>
                  </a:lnTo>
                  <a:cubicBezTo>
                    <a:pt x="66294" y="2219960"/>
                    <a:pt x="0" y="2153666"/>
                    <a:pt x="0" y="2072005"/>
                  </a:cubicBezTo>
                  <a:close/>
                </a:path>
              </a:pathLst>
            </a:custGeom>
            <a:solidFill>
              <a:srgbClr val="FBF0DA"/>
            </a:solidFill>
            <a:ln w="19050" cap="sq">
              <a:solidFill>
                <a:srgbClr val="FBF0DA"/>
              </a:solidFill>
              <a:prstDash val="solid"/>
              <a:miter/>
            </a:ln>
          </p:spPr>
          <p:txBody>
            <a:bodyPr/>
            <a:p/>
          </p:txBody>
        </p:sp>
      </p:grpSp>
      <p:grpSp>
        <p:nvGrpSpPr>
          <p:cNvPr id="11" name="Group 11"/>
          <p:cNvGrpSpPr/>
          <p:nvPr/>
        </p:nvGrpSpPr>
        <p:grpSpPr>
          <a:xfrm rot="0">
            <a:off x="1234440" y="7749540"/>
            <a:ext cx="15818663" cy="1645920"/>
            <a:chOff x="0" y="0"/>
            <a:chExt cx="21091550" cy="2194560"/>
          </a:xfrm>
        </p:grpSpPr>
        <p:sp>
          <p:nvSpPr>
            <p:cNvPr id="12" name="Freeform 12"/>
            <p:cNvSpPr/>
            <p:nvPr/>
          </p:nvSpPr>
          <p:spPr>
            <a:xfrm>
              <a:off x="0" y="0"/>
              <a:ext cx="21091550" cy="2194560"/>
            </a:xfrm>
            <a:custGeom>
              <a:avLst/>
              <a:gdLst/>
              <a:ahLst/>
              <a:cxnLst/>
              <a:rect l="l" t="t" r="r" b="b"/>
              <a:pathLst>
                <a:path w="21091550" h="2194560">
                  <a:moveTo>
                    <a:pt x="0" y="0"/>
                  </a:moveTo>
                  <a:lnTo>
                    <a:pt x="21091550" y="0"/>
                  </a:lnTo>
                  <a:lnTo>
                    <a:pt x="21091550" y="2194560"/>
                  </a:lnTo>
                  <a:lnTo>
                    <a:pt x="0" y="2194560"/>
                  </a:lnTo>
                  <a:close/>
                </a:path>
              </a:pathLst>
            </a:custGeom>
            <a:blipFill>
              <a:blip r:embed="rId1">
                <a:alphaModFix amt="0"/>
              </a:blip>
              <a:stretch>
                <a:fillRect t="-137267" b="-137267"/>
              </a:stretch>
            </a:blipFill>
          </p:spPr>
          <p:txBody>
            <a:bodyPr/>
            <a:p/>
          </p:txBody>
        </p:sp>
        <p:sp>
          <p:nvSpPr>
            <p:cNvPr id="13" name="TextBox 13"/>
            <p:cNvSpPr txBox="1"/>
            <p:nvPr/>
          </p:nvSpPr>
          <p:spPr>
            <a:xfrm>
              <a:off x="0" y="-47625"/>
              <a:ext cx="21091550" cy="2242185"/>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Lưu ý  </a:t>
              </a:r>
              <a:r>
                <a:rPr lang="en-US" sz="1950">
                  <a:solidFill>
                    <a:srgbClr val="243044"/>
                  </a:solidFill>
                  <a:latin typeface="Calibri (MS)" panose="020F0502020204030204"/>
                  <a:ea typeface="Calibri (MS)" panose="020F0502020204030204"/>
                  <a:cs typeface="Calibri (MS)" panose="020F0502020204030204"/>
                  <a:sym typeface="Calibri (MS)" panose="020F0502020204030204"/>
                </a:rPr>
                <a:t>Các số này dùng metric và thiết lập khác (F1 theo token; accuracy phân loại trên tập nhãn cố định) — chỉ để định vị, không so trực tiếp. Baseline nhóm tái lập và cải tiến là Qwen2.5-VL-3B (slide 23–27). Bài học giữ lại: ViTextBLIP-2 hiệu quả tham số vẫn thắng full fine-tuning → ủng hộ QLoRA.</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02 · DỮ LIỆU BENCHMARK</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ViVQA được dịch máy — nhiễu nằm sẵn trong dữ liệu</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1716957" y="2057400"/>
            <a:ext cx="14853618" cy="5760720"/>
            <a:chOff x="0" y="0"/>
            <a:chExt cx="19804824" cy="7680960"/>
          </a:xfrm>
        </p:grpSpPr>
        <p:sp>
          <p:nvSpPr>
            <p:cNvPr id="8" name="Freeform 8" descr="a6"/>
            <p:cNvSpPr/>
            <p:nvPr/>
          </p:nvSpPr>
          <p:spPr>
            <a:xfrm>
              <a:off x="0" y="0"/>
              <a:ext cx="19804887" cy="7680960"/>
            </a:xfrm>
            <a:custGeom>
              <a:avLst/>
              <a:gdLst/>
              <a:ahLst/>
              <a:cxnLst/>
              <a:rect l="l" t="t" r="r" b="b"/>
              <a:pathLst>
                <a:path w="19804887" h="7680960">
                  <a:moveTo>
                    <a:pt x="0" y="0"/>
                  </a:moveTo>
                  <a:lnTo>
                    <a:pt x="19804887" y="0"/>
                  </a:lnTo>
                  <a:lnTo>
                    <a:pt x="19804887" y="7680960"/>
                  </a:lnTo>
                  <a:lnTo>
                    <a:pt x="0" y="7680960"/>
                  </a:lnTo>
                  <a:lnTo>
                    <a:pt x="0" y="0"/>
                  </a:lnTo>
                  <a:close/>
                </a:path>
              </a:pathLst>
            </a:custGeom>
            <a:blipFill>
              <a:blip r:embed="rId2"/>
              <a:stretch>
                <a:fillRect/>
              </a:stretch>
            </a:blipFill>
          </p:spPr>
          <p:txBody>
            <a:bodyPr/>
            <a:p/>
          </p:txBody>
        </p:sp>
      </p:grpSp>
      <p:grpSp>
        <p:nvGrpSpPr>
          <p:cNvPr id="9" name="Group 9"/>
          <p:cNvGrpSpPr/>
          <p:nvPr/>
        </p:nvGrpSpPr>
        <p:grpSpPr>
          <a:xfrm rot="0">
            <a:off x="813435" y="8220075"/>
            <a:ext cx="8065541" cy="1184910"/>
            <a:chOff x="0" y="0"/>
            <a:chExt cx="10754055" cy="1579880"/>
          </a:xfrm>
        </p:grpSpPr>
        <p:sp>
          <p:nvSpPr>
            <p:cNvPr id="10" name="Freeform 10"/>
            <p:cNvSpPr/>
            <p:nvPr/>
          </p:nvSpPr>
          <p:spPr>
            <a:xfrm>
              <a:off x="0" y="0"/>
              <a:ext cx="10754106" cy="1579880"/>
            </a:xfrm>
            <a:custGeom>
              <a:avLst/>
              <a:gdLst/>
              <a:ahLst/>
              <a:cxnLst/>
              <a:rect l="l" t="t" r="r" b="b"/>
              <a:pathLst>
                <a:path w="10754106" h="1579880">
                  <a:moveTo>
                    <a:pt x="0" y="148717"/>
                  </a:moveTo>
                  <a:cubicBezTo>
                    <a:pt x="0" y="66548"/>
                    <a:pt x="66548" y="0"/>
                    <a:pt x="148717" y="0"/>
                  </a:cubicBezTo>
                  <a:lnTo>
                    <a:pt x="10605389" y="0"/>
                  </a:lnTo>
                  <a:cubicBezTo>
                    <a:pt x="10687558" y="0"/>
                    <a:pt x="10754106" y="66548"/>
                    <a:pt x="10754106" y="148717"/>
                  </a:cubicBezTo>
                  <a:lnTo>
                    <a:pt x="10754106" y="1431163"/>
                  </a:lnTo>
                  <a:cubicBezTo>
                    <a:pt x="10754106" y="1513332"/>
                    <a:pt x="10687558" y="1579880"/>
                    <a:pt x="10605389" y="1579880"/>
                  </a:cubicBezTo>
                  <a:lnTo>
                    <a:pt x="148717" y="1579880"/>
                  </a:lnTo>
                  <a:cubicBezTo>
                    <a:pt x="66548" y="1579880"/>
                    <a:pt x="0" y="1513332"/>
                    <a:pt x="0" y="1431163"/>
                  </a:cubicBezTo>
                  <a:close/>
                </a:path>
              </a:pathLst>
            </a:custGeom>
            <a:solidFill>
              <a:srgbClr val="F3F5F8"/>
            </a:solidFill>
            <a:ln w="19050" cap="sq">
              <a:solidFill>
                <a:srgbClr val="F3F5F8"/>
              </a:solidFill>
              <a:prstDash val="solid"/>
              <a:miter/>
            </a:ln>
          </p:spPr>
          <p:txBody>
            <a:bodyPr/>
            <a:p/>
          </p:txBody>
        </p:sp>
      </p:grpSp>
      <p:grpSp>
        <p:nvGrpSpPr>
          <p:cNvPr id="11" name="Group 11"/>
          <p:cNvGrpSpPr/>
          <p:nvPr/>
        </p:nvGrpSpPr>
        <p:grpSpPr>
          <a:xfrm rot="0">
            <a:off x="1234440" y="8435340"/>
            <a:ext cx="7223531" cy="754380"/>
            <a:chOff x="0" y="0"/>
            <a:chExt cx="9631375" cy="1005840"/>
          </a:xfrm>
        </p:grpSpPr>
        <p:sp>
          <p:nvSpPr>
            <p:cNvPr id="12" name="Freeform 12"/>
            <p:cNvSpPr/>
            <p:nvPr/>
          </p:nvSpPr>
          <p:spPr>
            <a:xfrm>
              <a:off x="0" y="0"/>
              <a:ext cx="9631376" cy="1005840"/>
            </a:xfrm>
            <a:custGeom>
              <a:avLst/>
              <a:gdLst/>
              <a:ahLst/>
              <a:cxnLst/>
              <a:rect l="l" t="t" r="r" b="b"/>
              <a:pathLst>
                <a:path w="9631376" h="1005840">
                  <a:moveTo>
                    <a:pt x="0" y="0"/>
                  </a:moveTo>
                  <a:lnTo>
                    <a:pt x="9631376" y="0"/>
                  </a:lnTo>
                  <a:lnTo>
                    <a:pt x="9631376" y="1005840"/>
                  </a:lnTo>
                  <a:lnTo>
                    <a:pt x="0" y="1005840"/>
                  </a:lnTo>
                  <a:close/>
                </a:path>
              </a:pathLst>
            </a:custGeom>
            <a:blipFill>
              <a:blip r:embed="rId1">
                <a:alphaModFix amt="0"/>
              </a:blip>
              <a:stretch>
                <a:fillRect t="-136578" b="-136578"/>
              </a:stretch>
            </a:blipFill>
          </p:spPr>
          <p:txBody>
            <a:bodyPr/>
            <a:p/>
          </p:txBody>
        </p:sp>
        <p:sp>
          <p:nvSpPr>
            <p:cNvPr id="13" name="TextBox 13"/>
            <p:cNvSpPr txBox="1"/>
            <p:nvPr/>
          </p:nvSpPr>
          <p:spPr>
            <a:xfrm>
              <a:off x="0" y="-47625"/>
              <a:ext cx="9631375" cy="105346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ViVQA  </a:t>
              </a:r>
              <a:r>
                <a:rPr lang="en-US" sz="2100">
                  <a:solidFill>
                    <a:srgbClr val="243044"/>
                  </a:solidFill>
                  <a:latin typeface="Calibri (MS)" panose="020F0502020204030204"/>
                  <a:ea typeface="Calibri (MS)" panose="020F0502020204030204"/>
                  <a:cs typeface="Calibri (MS)" panose="020F0502020204030204"/>
                  <a:sym typeface="Calibri (MS)" panose="020F0502020204030204"/>
                </a:rPr>
                <a:t>1.274 / 2.789 ảnh test cũng có trong train; 99,4% đáp án test thuộc 333 đáp án của train (từ vựng đóng)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grpSp>
        <p:nvGrpSpPr>
          <p:cNvPr id="14" name="Group 14"/>
          <p:cNvGrpSpPr/>
          <p:nvPr/>
        </p:nvGrpSpPr>
        <p:grpSpPr>
          <a:xfrm rot="0">
            <a:off x="9408566" y="8220075"/>
            <a:ext cx="8065541" cy="1184910"/>
            <a:chOff x="0" y="0"/>
            <a:chExt cx="10754055" cy="1579880"/>
          </a:xfrm>
        </p:grpSpPr>
        <p:sp>
          <p:nvSpPr>
            <p:cNvPr id="15" name="Freeform 15"/>
            <p:cNvSpPr/>
            <p:nvPr/>
          </p:nvSpPr>
          <p:spPr>
            <a:xfrm>
              <a:off x="0" y="0"/>
              <a:ext cx="10754106" cy="1579880"/>
            </a:xfrm>
            <a:custGeom>
              <a:avLst/>
              <a:gdLst/>
              <a:ahLst/>
              <a:cxnLst/>
              <a:rect l="l" t="t" r="r" b="b"/>
              <a:pathLst>
                <a:path w="10754106" h="1579880">
                  <a:moveTo>
                    <a:pt x="0" y="148717"/>
                  </a:moveTo>
                  <a:cubicBezTo>
                    <a:pt x="0" y="66548"/>
                    <a:pt x="66548" y="0"/>
                    <a:pt x="148717" y="0"/>
                  </a:cubicBezTo>
                  <a:lnTo>
                    <a:pt x="10605389" y="0"/>
                  </a:lnTo>
                  <a:cubicBezTo>
                    <a:pt x="10687558" y="0"/>
                    <a:pt x="10754106" y="66548"/>
                    <a:pt x="10754106" y="148717"/>
                  </a:cubicBezTo>
                  <a:lnTo>
                    <a:pt x="10754106" y="1431163"/>
                  </a:lnTo>
                  <a:cubicBezTo>
                    <a:pt x="10754106" y="1513332"/>
                    <a:pt x="10687558" y="1579880"/>
                    <a:pt x="10605389" y="1579880"/>
                  </a:cubicBezTo>
                  <a:lnTo>
                    <a:pt x="148717" y="1579880"/>
                  </a:lnTo>
                  <a:cubicBezTo>
                    <a:pt x="66548" y="1579880"/>
                    <a:pt x="0" y="1513332"/>
                    <a:pt x="0" y="1431163"/>
                  </a:cubicBezTo>
                  <a:close/>
                </a:path>
              </a:pathLst>
            </a:custGeom>
            <a:solidFill>
              <a:srgbClr val="E7F0F3"/>
            </a:solidFill>
            <a:ln w="19050" cap="sq">
              <a:solidFill>
                <a:srgbClr val="E7F0F3"/>
              </a:solidFill>
              <a:prstDash val="solid"/>
              <a:miter/>
            </a:ln>
          </p:spPr>
          <p:txBody>
            <a:bodyPr/>
            <a:p/>
          </p:txBody>
        </p:sp>
      </p:grpSp>
      <p:grpSp>
        <p:nvGrpSpPr>
          <p:cNvPr id="16" name="Group 16"/>
          <p:cNvGrpSpPr/>
          <p:nvPr/>
        </p:nvGrpSpPr>
        <p:grpSpPr>
          <a:xfrm rot="0">
            <a:off x="9829571" y="8435340"/>
            <a:ext cx="7223531" cy="754380"/>
            <a:chOff x="0" y="0"/>
            <a:chExt cx="9631375" cy="1005840"/>
          </a:xfrm>
        </p:grpSpPr>
        <p:sp>
          <p:nvSpPr>
            <p:cNvPr id="17" name="Freeform 17"/>
            <p:cNvSpPr/>
            <p:nvPr/>
          </p:nvSpPr>
          <p:spPr>
            <a:xfrm>
              <a:off x="0" y="0"/>
              <a:ext cx="9631376" cy="1005840"/>
            </a:xfrm>
            <a:custGeom>
              <a:avLst/>
              <a:gdLst/>
              <a:ahLst/>
              <a:cxnLst/>
              <a:rect l="l" t="t" r="r" b="b"/>
              <a:pathLst>
                <a:path w="9631376" h="1005840">
                  <a:moveTo>
                    <a:pt x="0" y="0"/>
                  </a:moveTo>
                  <a:lnTo>
                    <a:pt x="9631376" y="0"/>
                  </a:lnTo>
                  <a:lnTo>
                    <a:pt x="9631376" y="1005840"/>
                  </a:lnTo>
                  <a:lnTo>
                    <a:pt x="0" y="1005840"/>
                  </a:lnTo>
                  <a:close/>
                </a:path>
              </a:pathLst>
            </a:custGeom>
            <a:blipFill>
              <a:blip r:embed="rId1">
                <a:alphaModFix amt="0"/>
              </a:blip>
              <a:stretch>
                <a:fillRect t="-136578" b="-136578"/>
              </a:stretch>
            </a:blipFill>
          </p:spPr>
          <p:txBody>
            <a:bodyPr/>
            <a:p/>
          </p:txBody>
        </p:sp>
        <p:sp>
          <p:nvSpPr>
            <p:cNvPr id="18" name="TextBox 18"/>
            <p:cNvSpPr txBox="1"/>
            <p:nvPr/>
          </p:nvSpPr>
          <p:spPr>
            <a:xfrm>
              <a:off x="0" y="-47625"/>
              <a:ext cx="9631375" cy="105346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ViTextVQA  </a:t>
              </a:r>
              <a:r>
                <a:rPr lang="en-US" sz="2100">
                  <a:solidFill>
                    <a:srgbClr val="243044"/>
                  </a:solidFill>
                  <a:latin typeface="Calibri (MS)" panose="020F0502020204030204"/>
                  <a:ea typeface="Calibri (MS)" panose="020F0502020204030204"/>
                  <a:cs typeface="Calibri (MS)" panose="020F0502020204030204"/>
                  <a:sym typeface="Calibri (MS)" panose="020F0502020204030204"/>
                </a:rPr>
                <a:t>0 ảnh trùng giữa train/dev và test; 46% đáp án test có trong train → phép thử tổng quát hoá sạch hơn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03 · KIẾN TRÚC BASELINE</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 name="TextBox 3"/>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Qwen2.5-VL-3B-Instruct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4" name="Group 4"/>
          <p:cNvGrpSpPr/>
          <p:nvPr/>
        </p:nvGrpSpPr>
        <p:grpSpPr>
          <a:xfrm rot="0">
            <a:off x="822960" y="1988820"/>
            <a:ext cx="11384280" cy="6492935"/>
            <a:chOff x="0" y="0"/>
            <a:chExt cx="15179040" cy="8657247"/>
          </a:xfrm>
        </p:grpSpPr>
        <p:sp>
          <p:nvSpPr>
            <p:cNvPr id="5" name="Freeform 5" descr="a7"/>
            <p:cNvSpPr/>
            <p:nvPr/>
          </p:nvSpPr>
          <p:spPr>
            <a:xfrm>
              <a:off x="0" y="0"/>
              <a:ext cx="15179039" cy="8657209"/>
            </a:xfrm>
            <a:custGeom>
              <a:avLst/>
              <a:gdLst/>
              <a:ahLst/>
              <a:cxnLst/>
              <a:rect l="l" t="t" r="r" b="b"/>
              <a:pathLst>
                <a:path w="15179039" h="8657209">
                  <a:moveTo>
                    <a:pt x="0" y="0"/>
                  </a:moveTo>
                  <a:lnTo>
                    <a:pt x="15179039" y="0"/>
                  </a:lnTo>
                  <a:lnTo>
                    <a:pt x="15179039" y="8657209"/>
                  </a:lnTo>
                  <a:lnTo>
                    <a:pt x="0" y="8657209"/>
                  </a:lnTo>
                  <a:lnTo>
                    <a:pt x="0" y="0"/>
                  </a:lnTo>
                  <a:close/>
                </a:path>
              </a:pathLst>
            </a:custGeom>
            <a:blipFill>
              <a:blip r:embed="rId1"/>
              <a:stretch>
                <a:fillRect/>
              </a:stretch>
            </a:blipFill>
          </p:spPr>
          <p:txBody>
            <a:bodyPr/>
            <a:p/>
          </p:txBody>
        </p:sp>
      </p:grpSp>
      <p:grpSp>
        <p:nvGrpSpPr>
          <p:cNvPr id="6" name="Group 6"/>
          <p:cNvGrpSpPr/>
          <p:nvPr/>
        </p:nvGrpSpPr>
        <p:grpSpPr>
          <a:xfrm rot="0">
            <a:off x="12746355" y="1979295"/>
            <a:ext cx="4727753" cy="2556510"/>
            <a:chOff x="0" y="0"/>
            <a:chExt cx="6303670" cy="3408680"/>
          </a:xfrm>
        </p:grpSpPr>
        <p:sp>
          <p:nvSpPr>
            <p:cNvPr id="7" name="Freeform 7"/>
            <p:cNvSpPr/>
            <p:nvPr/>
          </p:nvSpPr>
          <p:spPr>
            <a:xfrm>
              <a:off x="0" y="0"/>
              <a:ext cx="6303772" cy="3408680"/>
            </a:xfrm>
            <a:custGeom>
              <a:avLst/>
              <a:gdLst/>
              <a:ahLst/>
              <a:cxnLst/>
              <a:rect l="l" t="t" r="r" b="b"/>
              <a:pathLst>
                <a:path w="6303772" h="3408680">
                  <a:moveTo>
                    <a:pt x="0" y="147447"/>
                  </a:moveTo>
                  <a:cubicBezTo>
                    <a:pt x="0" y="66040"/>
                    <a:pt x="66040" y="0"/>
                    <a:pt x="147447" y="0"/>
                  </a:cubicBezTo>
                  <a:lnTo>
                    <a:pt x="6156325" y="0"/>
                  </a:lnTo>
                  <a:cubicBezTo>
                    <a:pt x="6237732" y="0"/>
                    <a:pt x="6303772" y="66040"/>
                    <a:pt x="6303772" y="147447"/>
                  </a:cubicBezTo>
                  <a:lnTo>
                    <a:pt x="6303772" y="3261233"/>
                  </a:lnTo>
                  <a:cubicBezTo>
                    <a:pt x="6303772" y="3342640"/>
                    <a:pt x="6237732" y="3408680"/>
                    <a:pt x="6156325" y="3408680"/>
                  </a:cubicBezTo>
                  <a:lnTo>
                    <a:pt x="147447" y="3408680"/>
                  </a:lnTo>
                  <a:cubicBezTo>
                    <a:pt x="66040" y="3408680"/>
                    <a:pt x="0" y="3342640"/>
                    <a:pt x="0" y="3261233"/>
                  </a:cubicBezTo>
                  <a:close/>
                </a:path>
              </a:pathLst>
            </a:custGeom>
            <a:solidFill>
              <a:srgbClr val="FBF0DA"/>
            </a:solidFill>
            <a:ln w="19050" cap="sq">
              <a:solidFill>
                <a:srgbClr val="FBF0DA"/>
              </a:solidFill>
              <a:prstDash val="solid"/>
              <a:miter/>
            </a:ln>
          </p:spPr>
          <p:txBody>
            <a:bodyPr/>
            <a:p/>
          </p:txBody>
        </p:sp>
      </p:grpSp>
      <p:sp>
        <p:nvSpPr>
          <p:cNvPr id="8" name="TextBox 8"/>
          <p:cNvSpPr txBox="1"/>
          <p:nvPr/>
        </p:nvSpPr>
        <p:spPr>
          <a:xfrm>
            <a:off x="13098780" y="2087880"/>
            <a:ext cx="402290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Được train (QLoRA)</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9" name="TextBox 9"/>
          <p:cNvSpPr txBox="1"/>
          <p:nvPr/>
        </p:nvSpPr>
        <p:spPr>
          <a:xfrm>
            <a:off x="13098780" y="2636520"/>
            <a:ext cx="4022903" cy="1821180"/>
          </a:xfrm>
          <a:prstGeom prst="rect">
            <a:avLst/>
          </a:prstGeom>
        </p:spPr>
        <p:txBody>
          <a:bodyPr lIns="0" tIns="0" rIns="0" bIns="0" rtlCol="0" anchor="t">
            <a:spAutoFit/>
          </a:bodyPr>
          <a:lstStyle/>
          <a:p>
            <a:pPr marL="325755" lvl="1" indent="-163195" algn="l">
              <a:lnSpc>
                <a:spcPts val="2160"/>
              </a:lnSpc>
              <a:buFont typeface="Arial" panose="020B0604020202020204"/>
              <a:buChar cha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LoRA r = 16, α = 32 trên q, k, v, o</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a:p>
            <a:pPr marL="325755" lvl="1" indent="-163195" algn="l">
              <a:lnSpc>
                <a:spcPts val="2160"/>
              </a:lnSpc>
              <a:buFont typeface="Arial" panose="020B0604020202020204"/>
              <a:buChar cha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7.372.800 tham số = 0,196% · 29,5 MB</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a:p>
            <a:pPr marL="325755" lvl="1" indent="-163195" algn="l">
              <a:lnSpc>
                <a:spcPts val="2160"/>
              </a:lnSpc>
              <a:buFont typeface="Arial" panose="020B0604020202020204"/>
              <a:buChar cha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Còn lại đóng băng, LLM 4-bit NF4</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0" name="Group 10"/>
          <p:cNvGrpSpPr/>
          <p:nvPr/>
        </p:nvGrpSpPr>
        <p:grpSpPr>
          <a:xfrm rot="0">
            <a:off x="12746355" y="4722495"/>
            <a:ext cx="4727753" cy="4682490"/>
            <a:chOff x="0" y="0"/>
            <a:chExt cx="6303670" cy="6243320"/>
          </a:xfrm>
        </p:grpSpPr>
        <p:sp>
          <p:nvSpPr>
            <p:cNvPr id="11" name="Freeform 11"/>
            <p:cNvSpPr/>
            <p:nvPr/>
          </p:nvSpPr>
          <p:spPr>
            <a:xfrm>
              <a:off x="0" y="0"/>
              <a:ext cx="6303645" cy="6243320"/>
            </a:xfrm>
            <a:custGeom>
              <a:avLst/>
              <a:gdLst/>
              <a:ahLst/>
              <a:cxnLst/>
              <a:rect l="l" t="t" r="r" b="b"/>
              <a:pathLst>
                <a:path w="6303645" h="6243320">
                  <a:moveTo>
                    <a:pt x="0" y="146939"/>
                  </a:moveTo>
                  <a:cubicBezTo>
                    <a:pt x="0" y="65786"/>
                    <a:pt x="65786" y="0"/>
                    <a:pt x="146939" y="0"/>
                  </a:cubicBezTo>
                  <a:lnTo>
                    <a:pt x="6156706" y="0"/>
                  </a:lnTo>
                  <a:cubicBezTo>
                    <a:pt x="6237859" y="0"/>
                    <a:pt x="6303645" y="65786"/>
                    <a:pt x="6303645" y="146939"/>
                  </a:cubicBezTo>
                  <a:lnTo>
                    <a:pt x="6303645" y="6096381"/>
                  </a:lnTo>
                  <a:cubicBezTo>
                    <a:pt x="6303645" y="6177534"/>
                    <a:pt x="6237859" y="6243320"/>
                    <a:pt x="6156706" y="6243320"/>
                  </a:cubicBezTo>
                  <a:lnTo>
                    <a:pt x="146939" y="6243320"/>
                  </a:lnTo>
                  <a:cubicBezTo>
                    <a:pt x="65786" y="6243320"/>
                    <a:pt x="0" y="6177534"/>
                    <a:pt x="0" y="6096381"/>
                  </a:cubicBezTo>
                  <a:close/>
                </a:path>
              </a:pathLst>
            </a:custGeom>
            <a:solidFill>
              <a:srgbClr val="F3F5F8"/>
            </a:solidFill>
            <a:ln w="19050" cap="sq">
              <a:solidFill>
                <a:srgbClr val="F3F5F8"/>
              </a:solidFill>
              <a:prstDash val="solid"/>
              <a:miter/>
            </a:ln>
          </p:spPr>
          <p:txBody>
            <a:bodyPr/>
            <a:p/>
          </p:txBody>
        </p:sp>
      </p:grpSp>
      <p:sp>
        <p:nvSpPr>
          <p:cNvPr id="12" name="TextBox 12"/>
          <p:cNvSpPr txBox="1"/>
          <p:nvPr/>
        </p:nvSpPr>
        <p:spPr>
          <a:xfrm>
            <a:off x="13098780" y="4831080"/>
            <a:ext cx="402290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Luồng dữ liệu (vào → ra)</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3" name="TextBox 13"/>
          <p:cNvSpPr txBox="1"/>
          <p:nvPr/>
        </p:nvSpPr>
        <p:spPr>
          <a:xfrm>
            <a:off x="13098780" y="5420868"/>
            <a:ext cx="4022903" cy="3192780"/>
          </a:xfrm>
          <a:prstGeom prst="rect">
            <a:avLst/>
          </a:prstGeom>
        </p:spPr>
        <p:txBody>
          <a:bodyPr lIns="0" tIns="0" rIns="0" bIns="0" rtlCol="0" anchor="t">
            <a:spAutoFit/>
          </a:bodyPr>
          <a:lstStyle/>
          <a:p>
            <a:pPr algn="l">
              <a:lnSpc>
                <a:spcPts val="2070"/>
              </a:lnSpc>
            </a:pPr>
            <a:r>
              <a:rPr lang="en-US" sz="1725" b="1">
                <a:solidFill>
                  <a:srgbClr val="13294B"/>
                </a:solidFill>
                <a:latin typeface="Calibri (MS) Bold" panose="020F0702030404030204"/>
                <a:ea typeface="Calibri (MS) Bold" panose="020F0702030404030204"/>
                <a:cs typeface="Calibri (MS) Bold" panose="020F0702030404030204"/>
                <a:sym typeface="Calibri (MS) Bold" panose="020F0702030404030204"/>
              </a:rPr>
              <a:t>1 · Ảnh → ViT: </a:t>
            </a:r>
            <a:r>
              <a:rPr lang="en-US" sz="1725">
                <a:solidFill>
                  <a:srgbClr val="243044"/>
                </a:solidFill>
                <a:latin typeface="Calibri (MS)" panose="020F0502020204030204"/>
                <a:ea typeface="Calibri (MS)" panose="020F0502020204030204"/>
                <a:cs typeface="Calibri (MS)" panose="020F0502020204030204"/>
                <a:sym typeface="Calibri (MS)" panose="020F0502020204030204"/>
              </a:rPr>
              <a:t>≤ 401.408 px → patch 14×14 → 32 khối</a:t>
            </a:r>
            <a:endParaRPr lang="en-US" sz="1725">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540"/>
              </a:lnSpc>
            </a:pPr>
            <a:r>
              <a:rPr lang="en-US" sz="450">
                <a:solidFill>
                  <a:srgbClr val="243044"/>
                </a:solidFill>
                <a:latin typeface="Calibri (MS)" panose="020F0502020204030204"/>
                <a:ea typeface="Calibri (MS)" panose="020F0502020204030204"/>
                <a:cs typeface="Calibri (MS)" panose="020F0502020204030204"/>
                <a:sym typeface="Calibri (MS)" panose="020F0502020204030204"/>
              </a:rPr>
              <a:t> </a:t>
            </a:r>
            <a:endParaRPr lang="en-US" sz="4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70"/>
              </a:lnSpc>
            </a:pPr>
            <a:r>
              <a:rPr lang="en-US" sz="1725" b="1">
                <a:solidFill>
                  <a:srgbClr val="13294B"/>
                </a:solidFill>
                <a:latin typeface="Calibri (MS) Bold" panose="020F0702030404030204"/>
                <a:ea typeface="Calibri (MS) Bold" panose="020F0702030404030204"/>
                <a:cs typeface="Calibri (MS) Bold" panose="020F0702030404030204"/>
                <a:sym typeface="Calibri (MS) Bold" panose="020F0702030404030204"/>
              </a:rPr>
              <a:t>2 · Patch merger: </a:t>
            </a:r>
            <a:r>
              <a:rPr lang="en-US" sz="1725">
                <a:solidFill>
                  <a:srgbClr val="243044"/>
                </a:solidFill>
                <a:latin typeface="Calibri (MS)" panose="020F0502020204030204"/>
                <a:ea typeface="Calibri (MS)" panose="020F0502020204030204"/>
                <a:cs typeface="Calibri (MS)" panose="020F0502020204030204"/>
                <a:sym typeface="Calibri (MS)" panose="020F0502020204030204"/>
              </a:rPr>
              <a:t>2×2 patch → 1 token (2048 chiều) → 256–512 token ảnh</a:t>
            </a:r>
            <a:endParaRPr lang="en-US" sz="1725">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540"/>
              </a:lnSpc>
            </a:pPr>
            <a:r>
              <a:rPr lang="en-US" sz="450">
                <a:solidFill>
                  <a:srgbClr val="243044"/>
                </a:solidFill>
                <a:latin typeface="Calibri (MS)" panose="020F0502020204030204"/>
                <a:ea typeface="Calibri (MS)" panose="020F0502020204030204"/>
                <a:cs typeface="Calibri (MS)" panose="020F0502020204030204"/>
                <a:sym typeface="Calibri (MS)" panose="020F0502020204030204"/>
              </a:rPr>
              <a:t> </a:t>
            </a:r>
            <a:endParaRPr lang="en-US" sz="4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70"/>
              </a:lnSpc>
            </a:pPr>
            <a:r>
              <a:rPr lang="en-US" sz="1725" b="1">
                <a:solidFill>
                  <a:srgbClr val="13294B"/>
                </a:solidFill>
                <a:latin typeface="Calibri (MS) Bold" panose="020F0702030404030204"/>
                <a:ea typeface="Calibri (MS) Bold" panose="020F0702030404030204"/>
                <a:cs typeface="Calibri (MS) Bold" panose="020F0702030404030204"/>
                <a:sym typeface="Calibri (MS) Bold" panose="020F0702030404030204"/>
              </a:rPr>
              <a:t>3 · Prompt P0: </a:t>
            </a:r>
            <a:r>
              <a:rPr lang="en-US" sz="1725">
                <a:solidFill>
                  <a:srgbClr val="243044"/>
                </a:solidFill>
                <a:latin typeface="Calibri (MS)" panose="020F0502020204030204"/>
                <a:ea typeface="Calibri (MS)" panose="020F0502020204030204"/>
                <a:cs typeface="Calibri (MS)" panose="020F0502020204030204"/>
                <a:sym typeface="Calibri (MS)" panose="020F0502020204030204"/>
              </a:rPr>
              <a:t>chat template + token ảnh + câu hỏi tiếng Việt</a:t>
            </a:r>
            <a:endParaRPr lang="en-US" sz="1725">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540"/>
              </a:lnSpc>
            </a:pPr>
            <a:r>
              <a:rPr lang="en-US" sz="450">
                <a:solidFill>
                  <a:srgbClr val="243044"/>
                </a:solidFill>
                <a:latin typeface="Calibri (MS)" panose="020F0502020204030204"/>
                <a:ea typeface="Calibri (MS)" panose="020F0502020204030204"/>
                <a:cs typeface="Calibri (MS)" panose="020F0502020204030204"/>
                <a:sym typeface="Calibri (MS)" panose="020F0502020204030204"/>
              </a:rPr>
              <a:t> </a:t>
            </a:r>
            <a:endParaRPr lang="en-US" sz="4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70"/>
              </a:lnSpc>
            </a:pPr>
            <a:r>
              <a:rPr lang="en-US" sz="1725" b="1">
                <a:solidFill>
                  <a:srgbClr val="13294B"/>
                </a:solidFill>
                <a:latin typeface="Calibri (MS) Bold" panose="020F0702030404030204"/>
                <a:ea typeface="Calibri (MS) Bold" panose="020F0702030404030204"/>
                <a:cs typeface="Calibri (MS) Bold" panose="020F0702030404030204"/>
                <a:sym typeface="Calibri (MS) Bold" panose="020F0702030404030204"/>
              </a:rPr>
              <a:t>4 · Decoder (+LoRA): </a:t>
            </a:r>
            <a:r>
              <a:rPr lang="en-US" sz="1725">
                <a:solidFill>
                  <a:srgbClr val="243044"/>
                </a:solidFill>
                <a:latin typeface="Calibri (MS)" panose="020F0502020204030204"/>
                <a:ea typeface="Calibri (MS)" panose="020F0502020204030204"/>
                <a:cs typeface="Calibri (MS)" panose="020F0502020204030204"/>
                <a:sym typeface="Calibri (MS)" panose="020F0502020204030204"/>
              </a:rPr>
              <a:t>sinh tham lam, ≤ 32 token → chuẩn hoá → EM / ANLS</a:t>
            </a:r>
            <a:endParaRPr lang="en-US" sz="1725">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4" name="TextBox 14"/>
          <p:cNvSpPr txBox="1"/>
          <p:nvPr/>
        </p:nvSpPr>
        <p:spPr>
          <a:xfrm>
            <a:off x="13098780" y="8612505"/>
            <a:ext cx="4022903" cy="645795"/>
          </a:xfrm>
          <a:prstGeom prst="rect">
            <a:avLst/>
          </a:prstGeom>
        </p:spPr>
        <p:txBody>
          <a:bodyPr lIns="0" tIns="0" rIns="0" bIns="0" rtlCol="0" anchor="t">
            <a:spAutoFit/>
          </a:bodyPr>
          <a:lstStyle/>
          <a:p>
            <a:pPr algn="l">
              <a:lnSpc>
                <a:spcPts val="1980"/>
              </a:lnSpc>
            </a:pPr>
            <a:r>
              <a:rPr lang="en-US" sz="1650" i="1">
                <a:solidFill>
                  <a:srgbClr val="1C7293"/>
                </a:solidFill>
                <a:latin typeface="Calibri (MS) Italics" panose="020F05020202040A0204"/>
                <a:ea typeface="Calibri (MS) Italics" panose="020F05020202040A0204"/>
                <a:cs typeface="Calibri (MS) Italics" panose="020F05020202040A0204"/>
                <a:sym typeface="Calibri (MS) Italics" panose="020F05020202040A0204"/>
              </a:rPr>
              <a:t>Baseline không dùng OCR — OCR là cải tiến B3 (slide 34).</a:t>
            </a:r>
            <a:endParaRPr lang="en-US" sz="1650" i="1">
              <a:solidFill>
                <a:srgbClr val="1C7293"/>
              </a:solidFill>
              <a:latin typeface="Calibri (MS) Italics" panose="020F05020202040A0204"/>
              <a:ea typeface="Calibri (MS) Italics" panose="020F05020202040A0204"/>
              <a:cs typeface="Calibri (MS) Italics" panose="020F05020202040A0204"/>
              <a:sym typeface="Calibri (MS) Italics" panose="020F05020202040A0204"/>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04 · GIAO THỨC ĐÁNH GIÁ</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Mọi run theo một giao thức cố định</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22960" y="1988820"/>
            <a:ext cx="16641623" cy="3242901"/>
            <a:chOff x="0" y="0"/>
            <a:chExt cx="22188830" cy="4323867"/>
          </a:xfrm>
        </p:grpSpPr>
        <p:sp>
          <p:nvSpPr>
            <p:cNvPr id="8" name="Freeform 8" descr="b7"/>
            <p:cNvSpPr/>
            <p:nvPr/>
          </p:nvSpPr>
          <p:spPr>
            <a:xfrm>
              <a:off x="0" y="0"/>
              <a:ext cx="22188805" cy="4323842"/>
            </a:xfrm>
            <a:custGeom>
              <a:avLst/>
              <a:gdLst/>
              <a:ahLst/>
              <a:cxnLst/>
              <a:rect l="l" t="t" r="r" b="b"/>
              <a:pathLst>
                <a:path w="22188805" h="4323842">
                  <a:moveTo>
                    <a:pt x="0" y="0"/>
                  </a:moveTo>
                  <a:lnTo>
                    <a:pt x="22188805" y="0"/>
                  </a:lnTo>
                  <a:lnTo>
                    <a:pt x="22188805" y="4323842"/>
                  </a:lnTo>
                  <a:lnTo>
                    <a:pt x="0" y="4323842"/>
                  </a:lnTo>
                  <a:lnTo>
                    <a:pt x="0" y="0"/>
                  </a:lnTo>
                  <a:close/>
                </a:path>
              </a:pathLst>
            </a:custGeom>
            <a:blipFill>
              <a:blip r:embed="rId2"/>
              <a:stretch>
                <a:fillRect/>
              </a:stretch>
            </a:blipFill>
          </p:spPr>
          <p:txBody>
            <a:bodyPr/>
            <a:p/>
          </p:txBody>
        </p:sp>
      </p:grpSp>
      <p:grpSp>
        <p:nvGrpSpPr>
          <p:cNvPr id="9" name="Group 9"/>
          <p:cNvGrpSpPr/>
          <p:nvPr/>
        </p:nvGrpSpPr>
        <p:grpSpPr>
          <a:xfrm rot="0">
            <a:off x="813435" y="5633676"/>
            <a:ext cx="5200498" cy="3016929"/>
            <a:chOff x="0" y="0"/>
            <a:chExt cx="6933997" cy="4022573"/>
          </a:xfrm>
        </p:grpSpPr>
        <p:sp>
          <p:nvSpPr>
            <p:cNvPr id="10" name="Freeform 10"/>
            <p:cNvSpPr/>
            <p:nvPr/>
          </p:nvSpPr>
          <p:spPr>
            <a:xfrm>
              <a:off x="0" y="0"/>
              <a:ext cx="6933946" cy="4022598"/>
            </a:xfrm>
            <a:custGeom>
              <a:avLst/>
              <a:gdLst/>
              <a:ahLst/>
              <a:cxnLst/>
              <a:rect l="l" t="t" r="r" b="b"/>
              <a:pathLst>
                <a:path w="6933946" h="4022598">
                  <a:moveTo>
                    <a:pt x="0" y="147193"/>
                  </a:moveTo>
                  <a:cubicBezTo>
                    <a:pt x="0" y="65913"/>
                    <a:pt x="65913" y="0"/>
                    <a:pt x="147193" y="0"/>
                  </a:cubicBezTo>
                  <a:lnTo>
                    <a:pt x="6786753" y="0"/>
                  </a:lnTo>
                  <a:cubicBezTo>
                    <a:pt x="6868033" y="0"/>
                    <a:pt x="6933946" y="65913"/>
                    <a:pt x="6933946" y="147193"/>
                  </a:cubicBezTo>
                  <a:lnTo>
                    <a:pt x="6933946" y="3875405"/>
                  </a:lnTo>
                  <a:cubicBezTo>
                    <a:pt x="6933946" y="3956685"/>
                    <a:pt x="6868033" y="4022598"/>
                    <a:pt x="6786753" y="4022598"/>
                  </a:cubicBezTo>
                  <a:lnTo>
                    <a:pt x="147193" y="4022598"/>
                  </a:lnTo>
                  <a:cubicBezTo>
                    <a:pt x="65913" y="4022598"/>
                    <a:pt x="0" y="3956685"/>
                    <a:pt x="0" y="3875405"/>
                  </a:cubicBezTo>
                  <a:close/>
                </a:path>
              </a:pathLst>
            </a:custGeom>
            <a:solidFill>
              <a:srgbClr val="F3F5F8"/>
            </a:solidFill>
            <a:ln w="19050" cap="sq">
              <a:solidFill>
                <a:srgbClr val="F3F5F8"/>
              </a:solidFill>
              <a:prstDash val="solid"/>
              <a:miter/>
            </a:ln>
          </p:spPr>
          <p:txBody>
            <a:bodyPr/>
            <a:p/>
          </p:txBody>
        </p:sp>
      </p:grpSp>
      <p:sp>
        <p:nvSpPr>
          <p:cNvPr id="11" name="TextBox 11"/>
          <p:cNvSpPr txBox="1"/>
          <p:nvPr/>
        </p:nvSpPr>
        <p:spPr>
          <a:xfrm>
            <a:off x="1165860" y="5810841"/>
            <a:ext cx="4495648"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Cấu hình cố định</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2" name="TextBox 12"/>
          <p:cNvSpPr txBox="1"/>
          <p:nvPr/>
        </p:nvSpPr>
        <p:spPr>
          <a:xfrm>
            <a:off x="1165860" y="6418536"/>
            <a:ext cx="4495648" cy="2085384"/>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Tính bf16, 4-bit NF4 + double quant</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Tối đa 512 token ảnh</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Greedy, 32 token sinh</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Seed 42 · NVIDIA L4</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3" name="Group 13"/>
          <p:cNvGrpSpPr/>
          <p:nvPr/>
        </p:nvGrpSpPr>
        <p:grpSpPr>
          <a:xfrm rot="0">
            <a:off x="6543523" y="5633676"/>
            <a:ext cx="5200498" cy="3016929"/>
            <a:chOff x="0" y="0"/>
            <a:chExt cx="6933997" cy="4022573"/>
          </a:xfrm>
        </p:grpSpPr>
        <p:sp>
          <p:nvSpPr>
            <p:cNvPr id="14" name="Freeform 14"/>
            <p:cNvSpPr/>
            <p:nvPr/>
          </p:nvSpPr>
          <p:spPr>
            <a:xfrm>
              <a:off x="0" y="0"/>
              <a:ext cx="6933946" cy="4022598"/>
            </a:xfrm>
            <a:custGeom>
              <a:avLst/>
              <a:gdLst/>
              <a:ahLst/>
              <a:cxnLst/>
              <a:rect l="l" t="t" r="r" b="b"/>
              <a:pathLst>
                <a:path w="6933946" h="4022598">
                  <a:moveTo>
                    <a:pt x="0" y="147193"/>
                  </a:moveTo>
                  <a:cubicBezTo>
                    <a:pt x="0" y="65913"/>
                    <a:pt x="65913" y="0"/>
                    <a:pt x="147193" y="0"/>
                  </a:cubicBezTo>
                  <a:lnTo>
                    <a:pt x="6786753" y="0"/>
                  </a:lnTo>
                  <a:cubicBezTo>
                    <a:pt x="6868033" y="0"/>
                    <a:pt x="6933946" y="65913"/>
                    <a:pt x="6933946" y="147193"/>
                  </a:cubicBezTo>
                  <a:lnTo>
                    <a:pt x="6933946" y="3875405"/>
                  </a:lnTo>
                  <a:cubicBezTo>
                    <a:pt x="6933946" y="3956685"/>
                    <a:pt x="6868033" y="4022598"/>
                    <a:pt x="6786753" y="4022598"/>
                  </a:cubicBezTo>
                  <a:lnTo>
                    <a:pt x="147193" y="4022598"/>
                  </a:lnTo>
                  <a:cubicBezTo>
                    <a:pt x="65913" y="4022598"/>
                    <a:pt x="0" y="3956685"/>
                    <a:pt x="0" y="3875405"/>
                  </a:cubicBezTo>
                  <a:close/>
                </a:path>
              </a:pathLst>
            </a:custGeom>
            <a:solidFill>
              <a:srgbClr val="F3F5F8"/>
            </a:solidFill>
            <a:ln w="19050" cap="sq">
              <a:solidFill>
                <a:srgbClr val="F3F5F8"/>
              </a:solidFill>
              <a:prstDash val="solid"/>
              <a:miter/>
            </a:ln>
          </p:spPr>
          <p:txBody>
            <a:bodyPr/>
            <a:p/>
          </p:txBody>
        </p:sp>
      </p:grpSp>
      <p:sp>
        <p:nvSpPr>
          <p:cNvPr id="15" name="TextBox 15"/>
          <p:cNvSpPr txBox="1"/>
          <p:nvPr/>
        </p:nvSpPr>
        <p:spPr>
          <a:xfrm>
            <a:off x="6895948" y="5810841"/>
            <a:ext cx="4495648"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Metric</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6" name="TextBox 16"/>
          <p:cNvSpPr txBox="1"/>
          <p:nvPr/>
        </p:nvSpPr>
        <p:spPr>
          <a:xfrm>
            <a:off x="6895948" y="6418536"/>
            <a:ext cx="4495648" cy="2085384"/>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Chính: EM, VQA-Acc, ANLS</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Phụ: token-F1 (để so với paper)</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Chuẩn hoá tiếng Việt đối xứng, giữ dấu thanh</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7" name="Group 17"/>
          <p:cNvGrpSpPr/>
          <p:nvPr/>
        </p:nvGrpSpPr>
        <p:grpSpPr>
          <a:xfrm rot="0">
            <a:off x="12273610" y="5633676"/>
            <a:ext cx="5200498" cy="3016929"/>
            <a:chOff x="0" y="0"/>
            <a:chExt cx="6933997" cy="4022573"/>
          </a:xfrm>
        </p:grpSpPr>
        <p:sp>
          <p:nvSpPr>
            <p:cNvPr id="18" name="Freeform 18"/>
            <p:cNvSpPr/>
            <p:nvPr/>
          </p:nvSpPr>
          <p:spPr>
            <a:xfrm>
              <a:off x="0" y="0"/>
              <a:ext cx="6933946" cy="4022598"/>
            </a:xfrm>
            <a:custGeom>
              <a:avLst/>
              <a:gdLst/>
              <a:ahLst/>
              <a:cxnLst/>
              <a:rect l="l" t="t" r="r" b="b"/>
              <a:pathLst>
                <a:path w="6933946" h="4022598">
                  <a:moveTo>
                    <a:pt x="0" y="147193"/>
                  </a:moveTo>
                  <a:cubicBezTo>
                    <a:pt x="0" y="65913"/>
                    <a:pt x="65913" y="0"/>
                    <a:pt x="147193" y="0"/>
                  </a:cubicBezTo>
                  <a:lnTo>
                    <a:pt x="6786753" y="0"/>
                  </a:lnTo>
                  <a:cubicBezTo>
                    <a:pt x="6868033" y="0"/>
                    <a:pt x="6933946" y="65913"/>
                    <a:pt x="6933946" y="147193"/>
                  </a:cubicBezTo>
                  <a:lnTo>
                    <a:pt x="6933946" y="3875405"/>
                  </a:lnTo>
                  <a:cubicBezTo>
                    <a:pt x="6933946" y="3956685"/>
                    <a:pt x="6868033" y="4022598"/>
                    <a:pt x="6786753" y="4022598"/>
                  </a:cubicBezTo>
                  <a:lnTo>
                    <a:pt x="147193" y="4022598"/>
                  </a:lnTo>
                  <a:cubicBezTo>
                    <a:pt x="65913" y="4022598"/>
                    <a:pt x="0" y="3956685"/>
                    <a:pt x="0" y="3875405"/>
                  </a:cubicBezTo>
                  <a:close/>
                </a:path>
              </a:pathLst>
            </a:custGeom>
            <a:solidFill>
              <a:srgbClr val="F3F5F8"/>
            </a:solidFill>
            <a:ln w="19050" cap="sq">
              <a:solidFill>
                <a:srgbClr val="F3F5F8"/>
              </a:solidFill>
              <a:prstDash val="solid"/>
              <a:miter/>
            </a:ln>
          </p:spPr>
          <p:txBody>
            <a:bodyPr/>
            <a:p/>
          </p:txBody>
        </p:sp>
      </p:grpSp>
      <p:sp>
        <p:nvSpPr>
          <p:cNvPr id="19" name="TextBox 19"/>
          <p:cNvSpPr txBox="1"/>
          <p:nvPr/>
        </p:nvSpPr>
        <p:spPr>
          <a:xfrm>
            <a:off x="12626035" y="5810841"/>
            <a:ext cx="4495648"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Thống kê</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0" name="TextBox 20"/>
          <p:cNvSpPr txBox="1"/>
          <p:nvPr/>
        </p:nvSpPr>
        <p:spPr>
          <a:xfrm>
            <a:off x="12626035" y="6418536"/>
            <a:ext cx="4495648" cy="2085384"/>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Kiểm định McNemar chính xác, ghép cặp (EM)</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CI95 bootstrap ghép cặp (ANLS)</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Luật kết luận chốt trước mỗi run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1" name="Group 21"/>
          <p:cNvGrpSpPr/>
          <p:nvPr/>
        </p:nvGrpSpPr>
        <p:grpSpPr>
          <a:xfrm rot="0">
            <a:off x="822960" y="8750808"/>
            <a:ext cx="16641623" cy="822960"/>
            <a:chOff x="0" y="0"/>
            <a:chExt cx="22188830" cy="1097280"/>
          </a:xfrm>
        </p:grpSpPr>
        <p:sp>
          <p:nvSpPr>
            <p:cNvPr id="22" name="Freeform 22"/>
            <p:cNvSpPr/>
            <p:nvPr/>
          </p:nvSpPr>
          <p:spPr>
            <a:xfrm>
              <a:off x="0" y="0"/>
              <a:ext cx="22188830" cy="1097280"/>
            </a:xfrm>
            <a:custGeom>
              <a:avLst/>
              <a:gdLst/>
              <a:ahLst/>
              <a:cxnLst/>
              <a:rect l="l" t="t" r="r" b="b"/>
              <a:pathLst>
                <a:path w="22188830" h="1097280">
                  <a:moveTo>
                    <a:pt x="0" y="0"/>
                  </a:moveTo>
                  <a:lnTo>
                    <a:pt x="22188830" y="0"/>
                  </a:lnTo>
                  <a:lnTo>
                    <a:pt x="22188830" y="1097280"/>
                  </a:lnTo>
                  <a:lnTo>
                    <a:pt x="0" y="1097280"/>
                  </a:lnTo>
                  <a:close/>
                </a:path>
              </a:pathLst>
            </a:custGeom>
            <a:blipFill>
              <a:blip r:embed="rId1">
                <a:alphaModFix amt="0"/>
              </a:blip>
              <a:stretch>
                <a:fillRect t="-344019" b="-344019"/>
              </a:stretch>
            </a:blipFill>
          </p:spPr>
          <p:txBody>
            <a:bodyPr/>
            <a:p/>
          </p:txBody>
        </p:sp>
        <p:sp>
          <p:nvSpPr>
            <p:cNvPr id="23" name="TextBox 23"/>
            <p:cNvSpPr txBox="1"/>
            <p:nvPr/>
          </p:nvSpPr>
          <p:spPr>
            <a:xfrm>
              <a:off x="0" y="-38100"/>
              <a:ext cx="22188830" cy="1135380"/>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EM = Exact Match (khớp tuyệt đối) · VQA-Acc = VQA Accuracy (min(số gold khớp / 3, 1); = EM khi chỉ có 1 gold) · ANLS = Average Normalized Levenshtein Similarity (ngưỡng 0,5) · F1 = F1 theo token · bf16 = bfloat16 · NF4 = 4-bit NormalFloat (QLoRA) · CI95 = khoảng tin cậy 95% · McNemar = kiểm định ghép cặp trên các câu chỉ một run đúng</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05 · KIỂM CHỨNG PIPELINE (R0)</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Pipeline của nhóm tái lập được số đã công bố</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pic>
        <p:nvPicPr>
          <p:cNvPr id="7" name="Picture 7"/>
          <p:cNvPicPr>
            <a:picLocks noChangeAspect="1"/>
          </p:cNvPicPr>
          <p:nvPr/>
        </p:nvPicPr>
        <p:blipFill>
          <a:blip r:embed="rId2"/>
          <a:stretch>
            <a:fillRect/>
          </a:stretch>
        </p:blipFill>
        <p:spPr>
          <a:xfrm>
            <a:off x="-164592" y="1069848"/>
            <a:ext cx="11850624" cy="9244584"/>
          </a:xfrm>
          <a:prstGeom prst="rect">
            <a:avLst/>
          </a:prstGeom>
        </p:spPr>
      </p:pic>
      <p:grpSp>
        <p:nvGrpSpPr>
          <p:cNvPr id="8" name="Group 8"/>
          <p:cNvGrpSpPr/>
          <p:nvPr/>
        </p:nvGrpSpPr>
        <p:grpSpPr>
          <a:xfrm rot="0">
            <a:off x="11237595" y="2047875"/>
            <a:ext cx="6236513" cy="3379470"/>
            <a:chOff x="0" y="0"/>
            <a:chExt cx="8315350" cy="4505960"/>
          </a:xfrm>
        </p:grpSpPr>
        <p:sp>
          <p:nvSpPr>
            <p:cNvPr id="9" name="Freeform 9"/>
            <p:cNvSpPr/>
            <p:nvPr/>
          </p:nvSpPr>
          <p:spPr>
            <a:xfrm>
              <a:off x="0" y="0"/>
              <a:ext cx="8315325" cy="4505960"/>
            </a:xfrm>
            <a:custGeom>
              <a:avLst/>
              <a:gdLst/>
              <a:ahLst/>
              <a:cxnLst/>
              <a:rect l="l" t="t" r="r" b="b"/>
              <a:pathLst>
                <a:path w="8315325" h="4505960">
                  <a:moveTo>
                    <a:pt x="0" y="147066"/>
                  </a:moveTo>
                  <a:cubicBezTo>
                    <a:pt x="0" y="65913"/>
                    <a:pt x="65913" y="0"/>
                    <a:pt x="147066" y="0"/>
                  </a:cubicBezTo>
                  <a:lnTo>
                    <a:pt x="8168259" y="0"/>
                  </a:lnTo>
                  <a:cubicBezTo>
                    <a:pt x="8249539" y="0"/>
                    <a:pt x="8315325" y="65913"/>
                    <a:pt x="8315325" y="147066"/>
                  </a:cubicBezTo>
                  <a:lnTo>
                    <a:pt x="8315325" y="4358894"/>
                  </a:lnTo>
                  <a:cubicBezTo>
                    <a:pt x="8315325" y="4440174"/>
                    <a:pt x="8249412" y="4505960"/>
                    <a:pt x="8168259" y="4505960"/>
                  </a:cubicBezTo>
                  <a:lnTo>
                    <a:pt x="147066" y="4505960"/>
                  </a:lnTo>
                  <a:cubicBezTo>
                    <a:pt x="65913" y="4505960"/>
                    <a:pt x="0" y="4440047"/>
                    <a:pt x="0" y="4358894"/>
                  </a:cubicBezTo>
                  <a:close/>
                </a:path>
              </a:pathLst>
            </a:custGeom>
            <a:solidFill>
              <a:srgbClr val="E7F0F3"/>
            </a:solidFill>
            <a:ln w="19050" cap="sq">
              <a:solidFill>
                <a:srgbClr val="E7F0F3"/>
              </a:solidFill>
              <a:prstDash val="solid"/>
              <a:miter/>
            </a:ln>
          </p:spPr>
          <p:txBody>
            <a:bodyPr/>
            <a:p/>
          </p:txBody>
        </p:sp>
      </p:grpSp>
      <p:sp>
        <p:nvSpPr>
          <p:cNvPr id="10" name="TextBox 10"/>
          <p:cNvSpPr txBox="1"/>
          <p:nvPr/>
        </p:nvSpPr>
        <p:spPr>
          <a:xfrm>
            <a:off x="11658600" y="2225040"/>
            <a:ext cx="539450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Luật chốt trước khi chạy</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1658600" y="2823210"/>
            <a:ext cx="5394503" cy="23888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Tái lập được nếu |nhóm − 79,3| ≤ 2,0 trên toàn bộ val → 79,6 (+0,3): đạt.</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11237595" y="5682615"/>
            <a:ext cx="6236513" cy="3653790"/>
            <a:chOff x="0" y="0"/>
            <a:chExt cx="8315350" cy="4871720"/>
          </a:xfrm>
        </p:grpSpPr>
        <p:sp>
          <p:nvSpPr>
            <p:cNvPr id="13" name="Freeform 13"/>
            <p:cNvSpPr/>
            <p:nvPr/>
          </p:nvSpPr>
          <p:spPr>
            <a:xfrm>
              <a:off x="0" y="0"/>
              <a:ext cx="8315325" cy="4871720"/>
            </a:xfrm>
            <a:custGeom>
              <a:avLst/>
              <a:gdLst/>
              <a:ahLst/>
              <a:cxnLst/>
              <a:rect l="l" t="t" r="r" b="b"/>
              <a:pathLst>
                <a:path w="8315325" h="4871720">
                  <a:moveTo>
                    <a:pt x="0" y="147066"/>
                  </a:moveTo>
                  <a:cubicBezTo>
                    <a:pt x="0" y="65786"/>
                    <a:pt x="65786" y="0"/>
                    <a:pt x="147066" y="0"/>
                  </a:cubicBezTo>
                  <a:lnTo>
                    <a:pt x="8168259" y="0"/>
                  </a:lnTo>
                  <a:cubicBezTo>
                    <a:pt x="8249539" y="0"/>
                    <a:pt x="8315325" y="65786"/>
                    <a:pt x="8315325" y="147066"/>
                  </a:cubicBezTo>
                  <a:lnTo>
                    <a:pt x="8315325" y="4724654"/>
                  </a:lnTo>
                  <a:cubicBezTo>
                    <a:pt x="8315325" y="4805934"/>
                    <a:pt x="8249539" y="4871720"/>
                    <a:pt x="8168259" y="4871720"/>
                  </a:cubicBezTo>
                  <a:lnTo>
                    <a:pt x="147066" y="4871720"/>
                  </a:lnTo>
                  <a:cubicBezTo>
                    <a:pt x="65786" y="4871720"/>
                    <a:pt x="0" y="4805934"/>
                    <a:pt x="0" y="4724654"/>
                  </a:cubicBezTo>
                  <a:close/>
                </a:path>
              </a:pathLst>
            </a:custGeom>
            <a:solidFill>
              <a:srgbClr val="F3F5F8"/>
            </a:solidFill>
            <a:ln w="19050" cap="sq">
              <a:solidFill>
                <a:srgbClr val="F3F5F8"/>
              </a:solidFill>
              <a:prstDash val="solid"/>
              <a:miter/>
            </a:ln>
          </p:spPr>
          <p:txBody>
            <a:bodyPr/>
            <a:p/>
          </p:txBody>
        </p:sp>
      </p:grpSp>
      <p:sp>
        <p:nvSpPr>
          <p:cNvPr id="14" name="TextBox 14"/>
          <p:cNvSpPr txBox="1"/>
          <p:nvPr/>
        </p:nvSpPr>
        <p:spPr>
          <a:xfrm>
            <a:off x="11658600" y="5859780"/>
            <a:ext cx="539450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Cái giá của cấu hình tiết kiệm</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11658600" y="6457950"/>
            <a:ext cx="5394503" cy="2663190"/>
          </a:xfrm>
          <a:prstGeom prst="rect">
            <a:avLst/>
          </a:prstGeom>
        </p:spPr>
        <p:txBody>
          <a:bodyPr lIns="0" tIns="0" rIns="0" bIns="0" rtlCol="0" anchor="t">
            <a:spAutoFit/>
          </a:bodyPr>
          <a:lstStyle/>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−4,4 điểm accuracy</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VRAM 10,9 → 2,5 GB (ít hơn 4,3 lần)</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Giữ 94,5% độ chính xác — báo cáo như số đo hiệu quả, không phải giả thuyết (slide 9)</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06 · BASELINE ZERO-SHOT (B1)</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Zero-shot sai chủ yếu ở định dạng câu trả lời</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125980"/>
          <a:ext cx="9029700" cy="2743200"/>
        </p:xfrm>
        <a:graphic>
          <a:graphicData uri="http://schemas.openxmlformats.org/drawingml/2006/table">
            <a:tbl>
              <a:tblPr/>
              <a:tblGrid>
                <a:gridCol w="4486703"/>
                <a:gridCol w="1514332"/>
                <a:gridCol w="1514332"/>
                <a:gridCol w="1514332"/>
              </a:tblGrid>
              <a:tr h="6858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Tập test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ANLS</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ViVQA (3.001)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22,1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28,6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38,1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ViTextVQA tập con (2.000)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28,8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47,5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ViTextVQA đầy đủ (10.028)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29,1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47,6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8" name="Group 8"/>
          <p:cNvGrpSpPr/>
          <p:nvPr/>
        </p:nvGrpSpPr>
        <p:grpSpPr>
          <a:xfrm rot="0">
            <a:off x="813435" y="5271135"/>
            <a:ext cx="9071610" cy="4133850"/>
            <a:chOff x="0" y="0"/>
            <a:chExt cx="12095480" cy="5511800"/>
          </a:xfrm>
        </p:grpSpPr>
        <p:sp>
          <p:nvSpPr>
            <p:cNvPr id="9" name="Freeform 9"/>
            <p:cNvSpPr/>
            <p:nvPr/>
          </p:nvSpPr>
          <p:spPr>
            <a:xfrm>
              <a:off x="0" y="0"/>
              <a:ext cx="12095480" cy="5511800"/>
            </a:xfrm>
            <a:custGeom>
              <a:avLst/>
              <a:gdLst/>
              <a:ahLst/>
              <a:cxnLst/>
              <a:rect l="l" t="t" r="r" b="b"/>
              <a:pathLst>
                <a:path w="12095480" h="5511800">
                  <a:moveTo>
                    <a:pt x="0" y="146939"/>
                  </a:moveTo>
                  <a:cubicBezTo>
                    <a:pt x="0" y="65786"/>
                    <a:pt x="65786" y="0"/>
                    <a:pt x="146939" y="0"/>
                  </a:cubicBezTo>
                  <a:lnTo>
                    <a:pt x="11948541" y="0"/>
                  </a:lnTo>
                  <a:cubicBezTo>
                    <a:pt x="12029694" y="0"/>
                    <a:pt x="12095480" y="65786"/>
                    <a:pt x="12095480" y="146939"/>
                  </a:cubicBezTo>
                  <a:lnTo>
                    <a:pt x="12095480" y="5364861"/>
                  </a:lnTo>
                  <a:cubicBezTo>
                    <a:pt x="12095480" y="5446014"/>
                    <a:pt x="12029694" y="5511800"/>
                    <a:pt x="11948541" y="5511800"/>
                  </a:cubicBezTo>
                  <a:lnTo>
                    <a:pt x="146939" y="5511800"/>
                  </a:lnTo>
                  <a:cubicBezTo>
                    <a:pt x="65786" y="5511800"/>
                    <a:pt x="0" y="5446014"/>
                    <a:pt x="0" y="5364861"/>
                  </a:cubicBezTo>
                  <a:close/>
                </a:path>
              </a:pathLst>
            </a:custGeom>
            <a:solidFill>
              <a:srgbClr val="F3F5F8"/>
            </a:solidFill>
            <a:ln w="19050" cap="sq">
              <a:solidFill>
                <a:srgbClr val="F3F5F8"/>
              </a:solidFill>
              <a:prstDash val="solid"/>
              <a:miter/>
            </a:ln>
          </p:spPr>
          <p:txBody>
            <a:bodyPr/>
            <a:p/>
          </p:txBody>
        </p:sp>
      </p:grpSp>
      <p:sp>
        <p:nvSpPr>
          <p:cNvPr id="10" name="TextBox 10"/>
          <p:cNvSpPr txBox="1"/>
          <p:nvPr/>
        </p:nvSpPr>
        <p:spPr>
          <a:xfrm>
            <a:off x="1234440" y="5448300"/>
            <a:ext cx="8229600"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ViVQA EM theo loại câu hỏi</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pic>
        <p:nvPicPr>
          <p:cNvPr id="11" name="Picture 11"/>
          <p:cNvPicPr>
            <a:picLocks noChangeAspect="1"/>
          </p:cNvPicPr>
          <p:nvPr/>
        </p:nvPicPr>
        <p:blipFill>
          <a:blip r:embed="rId2"/>
          <a:stretch>
            <a:fillRect/>
          </a:stretch>
        </p:blipFill>
        <p:spPr>
          <a:xfrm>
            <a:off x="246888" y="5184648"/>
            <a:ext cx="10204704" cy="4924044"/>
          </a:xfrm>
          <a:prstGeom prst="rect">
            <a:avLst/>
          </a:prstGeom>
        </p:spPr>
      </p:pic>
      <p:grpSp>
        <p:nvGrpSpPr>
          <p:cNvPr id="12" name="Group 12"/>
          <p:cNvGrpSpPr/>
          <p:nvPr/>
        </p:nvGrpSpPr>
        <p:grpSpPr>
          <a:xfrm rot="0">
            <a:off x="10414635" y="2116455"/>
            <a:ext cx="7059473" cy="7288530"/>
            <a:chOff x="0" y="0"/>
            <a:chExt cx="9412630" cy="9718040"/>
          </a:xfrm>
        </p:grpSpPr>
        <p:sp>
          <p:nvSpPr>
            <p:cNvPr id="13" name="Freeform 13"/>
            <p:cNvSpPr/>
            <p:nvPr/>
          </p:nvSpPr>
          <p:spPr>
            <a:xfrm>
              <a:off x="0" y="0"/>
              <a:ext cx="9412605" cy="9718040"/>
            </a:xfrm>
            <a:custGeom>
              <a:avLst/>
              <a:gdLst/>
              <a:ahLst/>
              <a:cxnLst/>
              <a:rect l="l" t="t" r="r" b="b"/>
              <a:pathLst>
                <a:path w="9412605" h="9718040">
                  <a:moveTo>
                    <a:pt x="0" y="146685"/>
                  </a:moveTo>
                  <a:cubicBezTo>
                    <a:pt x="0" y="65659"/>
                    <a:pt x="65659" y="0"/>
                    <a:pt x="146685" y="0"/>
                  </a:cubicBezTo>
                  <a:lnTo>
                    <a:pt x="9265920" y="0"/>
                  </a:lnTo>
                  <a:cubicBezTo>
                    <a:pt x="9346946" y="0"/>
                    <a:pt x="9412605" y="65659"/>
                    <a:pt x="9412605" y="146685"/>
                  </a:cubicBezTo>
                  <a:lnTo>
                    <a:pt x="9412605" y="9571355"/>
                  </a:lnTo>
                  <a:cubicBezTo>
                    <a:pt x="9412605" y="9652381"/>
                    <a:pt x="9346946" y="9718040"/>
                    <a:pt x="9265920" y="9718040"/>
                  </a:cubicBezTo>
                  <a:lnTo>
                    <a:pt x="146685" y="9718040"/>
                  </a:lnTo>
                  <a:cubicBezTo>
                    <a:pt x="65659" y="9718040"/>
                    <a:pt x="0" y="9652381"/>
                    <a:pt x="0" y="9571355"/>
                  </a:cubicBezTo>
                  <a:close/>
                </a:path>
              </a:pathLst>
            </a:custGeom>
            <a:solidFill>
              <a:srgbClr val="FBF0DA"/>
            </a:solidFill>
            <a:ln w="19050" cap="sq">
              <a:solidFill>
                <a:srgbClr val="FBF0DA"/>
              </a:solidFill>
              <a:prstDash val="solid"/>
              <a:miter/>
            </a:ln>
          </p:spPr>
          <p:txBody>
            <a:bodyPr/>
            <a:p/>
          </p:txBody>
        </p:sp>
      </p:grpSp>
      <p:sp>
        <p:nvSpPr>
          <p:cNvPr id="14" name="TextBox 14"/>
          <p:cNvSpPr txBox="1"/>
          <p:nvPr/>
        </p:nvSpPr>
        <p:spPr>
          <a:xfrm>
            <a:off x="10835640" y="2293620"/>
            <a:ext cx="621746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Lỗi chính: trả lời dài dòng</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10835640" y="2960370"/>
            <a:ext cx="6217463" cy="6229350"/>
          </a:xfrm>
          <a:prstGeom prst="rect">
            <a:avLst/>
          </a:prstGeom>
        </p:spPr>
        <p:txBody>
          <a:bodyPr lIns="0" tIns="0" rIns="0" bIns="0" rtlCol="0" anchor="t">
            <a:spAutoFit/>
          </a:bodyPr>
          <a:lstStyle/>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Số từ mỗi câu trả lời: 2,9 so với gold 1,6 (ViVQA); 5,5 so với 3,7 (ViTextVQA)</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19% câu trả lời ViTextVQA chứa đáp án gold nhưng vẫn trượt EM</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“Lịch tết năm 2021” so với gold “2021”</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407035" lvl="1" indent="-20383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Ngoài ra: chen tiếng Anh (“truck”), hallucination, gold nhiễu (“tía”)</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07 · ABLATION BACKBONE (R1)</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Model lớn hơn không tốt hơn ở bài này</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125980"/>
          <a:ext cx="16573500" cy="3524250"/>
        </p:xfrm>
        <a:graphic>
          <a:graphicData uri="http://schemas.openxmlformats.org/drawingml/2006/table">
            <a:tbl>
              <a:tblPr/>
              <a:tblGrid>
                <a:gridCol w="6830680"/>
                <a:gridCol w="1651039"/>
                <a:gridCol w="1651039"/>
                <a:gridCol w="1921516"/>
                <a:gridCol w="1921516"/>
                <a:gridCol w="2597710"/>
              </a:tblGrid>
              <a:tr h="70485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Run (ViTextVQA, 2.000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số từ</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s /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VRAM GB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704850">
                <a:tc>
                  <a:txBody>
                    <a:bodyPr rtlCol="0"/>
                    <a:lstStyle/>
                    <a:p>
                      <a:pPr algn="l">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B1 · Qwen2.5-VL-3B [1] · 4-bit · 512 token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28,8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53,8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5,5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0,86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 2,5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0485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R1b · Qwen2-VL-7B [2] · 4-bit · 512 token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16,2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41,3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8,0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1,02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0485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R1 · Qwen2-VL-7B [2] · bf16 · đủ độ phân giải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16,7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43,5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8,2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2,85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20,3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0485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Paper ViTextVQA [3] Table 7 · “QwenVL-7b” (100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28,0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8" name="Group 8"/>
          <p:cNvGrpSpPr/>
          <p:nvPr/>
        </p:nvGrpSpPr>
        <p:grpSpPr>
          <a:xfrm rot="0">
            <a:off x="813435" y="6025515"/>
            <a:ext cx="5200498" cy="2556510"/>
            <a:chOff x="0" y="0"/>
            <a:chExt cx="6933997" cy="3408680"/>
          </a:xfrm>
        </p:grpSpPr>
        <p:sp>
          <p:nvSpPr>
            <p:cNvPr id="9" name="Freeform 9"/>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F3F5F8"/>
            </a:solidFill>
            <a:ln w="19050" cap="sq">
              <a:solidFill>
                <a:srgbClr val="F3F5F8"/>
              </a:solidFill>
              <a:prstDash val="solid"/>
              <a:miter/>
            </a:ln>
          </p:spPr>
          <p:txBody>
            <a:bodyPr/>
            <a:p/>
          </p:txBody>
        </p:sp>
      </p:grpSp>
      <p:sp>
        <p:nvSpPr>
          <p:cNvPr id="10" name="TextBox 10"/>
          <p:cNvSpPr txBox="1"/>
          <p:nvPr/>
        </p:nvSpPr>
        <p:spPr>
          <a:xfrm>
            <a:off x="1165860" y="620268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7B &lt; 3B trong cùng điều kiện</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165860" y="6878955"/>
            <a:ext cx="4495648" cy="148780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−12,6 EM, McNemar p ≈ 10⁻³³; tăng độ phân giải không giúp (R1 = R1b, p = 0,45)</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6543523" y="6025515"/>
            <a:ext cx="5200498" cy="2556510"/>
            <a:chOff x="0" y="0"/>
            <a:chExt cx="6933997" cy="3408680"/>
          </a:xfrm>
        </p:grpSpPr>
        <p:sp>
          <p:nvSpPr>
            <p:cNvPr id="13" name="Freeform 13"/>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F3F5F8"/>
            </a:solidFill>
            <a:ln w="19050" cap="sq">
              <a:solidFill>
                <a:srgbClr val="F3F5F8"/>
              </a:solidFill>
              <a:prstDash val="solid"/>
              <a:miter/>
            </a:ln>
          </p:spPr>
          <p:txBody>
            <a:bodyPr/>
            <a:p/>
          </p:txBody>
        </p:sp>
      </p:grpSp>
      <p:sp>
        <p:nvSpPr>
          <p:cNvPr id="14" name="TextBox 14"/>
          <p:cNvSpPr txBox="1"/>
          <p:nvPr/>
        </p:nvSpPr>
        <p:spPr>
          <a:xfrm>
            <a:off x="6895948" y="620268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Vì sao: tuân thủ chỉ dẫn</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6895948" y="6878955"/>
            <a:ext cx="4495648" cy="148780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7B trả lời 8,2 từ so với gold 3,7 — EM trượt dù đọc đúng chữ</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6" name="Group 16"/>
          <p:cNvGrpSpPr/>
          <p:nvPr/>
        </p:nvGrpSpPr>
        <p:grpSpPr>
          <a:xfrm rot="0">
            <a:off x="12273610" y="6025515"/>
            <a:ext cx="5200498" cy="2556510"/>
            <a:chOff x="0" y="0"/>
            <a:chExt cx="6933997" cy="3408680"/>
          </a:xfrm>
        </p:grpSpPr>
        <p:sp>
          <p:nvSpPr>
            <p:cNvPr id="17" name="Freeform 17"/>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E7F0F3"/>
            </a:solidFill>
            <a:ln w="19050" cap="sq">
              <a:solidFill>
                <a:srgbClr val="E7F0F3"/>
              </a:solidFill>
              <a:prstDash val="solid"/>
              <a:miter/>
            </a:ln>
          </p:spPr>
          <p:txBody>
            <a:bodyPr/>
            <a:p/>
          </p:txBody>
        </p:sp>
      </p:grpSp>
      <p:sp>
        <p:nvSpPr>
          <p:cNvPr id="18" name="TextBox 18"/>
          <p:cNvSpPr txBox="1"/>
          <p:nvPr/>
        </p:nvSpPr>
        <p:spPr>
          <a:xfrm>
            <a:off x="12626035" y="620268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Table 7 không đủ để quyết định</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9" name="TextBox 19"/>
          <p:cNvSpPr txBox="1"/>
          <p:nvPr/>
        </p:nvSpPr>
        <p:spPr>
          <a:xfrm>
            <a:off x="12626035" y="6878955"/>
            <a:ext cx="4495648" cy="148780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 = 100 → ±9 EM; B1 đã nhất quán với nó. Quyết định: giữ Qwen2.5-VL-3B</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0" name="Group 20"/>
          <p:cNvGrpSpPr/>
          <p:nvPr/>
        </p:nvGrpSpPr>
        <p:grpSpPr>
          <a:xfrm rot="0">
            <a:off x="822960" y="8709660"/>
            <a:ext cx="16641623" cy="850392"/>
            <a:chOff x="0" y="0"/>
            <a:chExt cx="22188830" cy="1133856"/>
          </a:xfrm>
        </p:grpSpPr>
        <p:sp>
          <p:nvSpPr>
            <p:cNvPr id="21" name="Freeform 21"/>
            <p:cNvSpPr/>
            <p:nvPr/>
          </p:nvSpPr>
          <p:spPr>
            <a:xfrm>
              <a:off x="0" y="0"/>
              <a:ext cx="22188830" cy="1133856"/>
            </a:xfrm>
            <a:custGeom>
              <a:avLst/>
              <a:gdLst/>
              <a:ahLst/>
              <a:cxnLst/>
              <a:rect l="l" t="t" r="r" b="b"/>
              <a:pathLst>
                <a:path w="22188830" h="1133856">
                  <a:moveTo>
                    <a:pt x="0" y="0"/>
                  </a:moveTo>
                  <a:lnTo>
                    <a:pt x="22188830" y="0"/>
                  </a:lnTo>
                  <a:lnTo>
                    <a:pt x="22188830" y="1133856"/>
                  </a:lnTo>
                  <a:lnTo>
                    <a:pt x="0" y="1133856"/>
                  </a:lnTo>
                  <a:close/>
                </a:path>
              </a:pathLst>
            </a:custGeom>
            <a:blipFill>
              <a:blip r:embed="rId1">
                <a:alphaModFix amt="0"/>
              </a:blip>
              <a:stretch>
                <a:fillRect t="-331309" b="-331309"/>
              </a:stretch>
            </a:blipFill>
          </p:spPr>
          <p:txBody>
            <a:bodyPr/>
            <a:p/>
          </p:txBody>
        </p:sp>
        <p:sp>
          <p:nvSpPr>
            <p:cNvPr id="22" name="TextBox 22"/>
            <p:cNvSpPr txBox="1"/>
            <p:nvPr/>
          </p:nvSpPr>
          <p:spPr>
            <a:xfrm>
              <a:off x="0" y="-38100"/>
              <a:ext cx="22188830" cy="1171956"/>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[1] Bai và cs., Qwen2.5-VL Technical Report, arXiv:2502.13923, 2025 · [2] Wang và cs., Qwen2-VL, arXiv:2409.12191, 2024 · [3] Nguyen và cs., ViTextVQA, arXiv:2404.10652, 2024 (bản mở rộng: Expert Systems with Applications, 2025). Run của nhóm: experiments/W07_B1_zeroshot_…_test2000, W07_R1_…, W07_R1b_… (cùng 2.000 câu, seed 42).</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01 · LỘ TRÌNH</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Lộ trình: mỗi bước chỉ đổi một yếu tố</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390775"/>
            <a:ext cx="3819411" cy="4682490"/>
            <a:chOff x="0" y="0"/>
            <a:chExt cx="5092548" cy="6243320"/>
          </a:xfrm>
        </p:grpSpPr>
        <p:sp>
          <p:nvSpPr>
            <p:cNvPr id="8" name="Freeform 8"/>
            <p:cNvSpPr/>
            <p:nvPr/>
          </p:nvSpPr>
          <p:spPr>
            <a:xfrm>
              <a:off x="0" y="0"/>
              <a:ext cx="5092573" cy="6243320"/>
            </a:xfrm>
            <a:custGeom>
              <a:avLst/>
              <a:gdLst/>
              <a:ahLst/>
              <a:cxnLst/>
              <a:rect l="l" t="t" r="r" b="b"/>
              <a:pathLst>
                <a:path w="5092573" h="6243320">
                  <a:moveTo>
                    <a:pt x="0" y="147066"/>
                  </a:moveTo>
                  <a:cubicBezTo>
                    <a:pt x="0" y="65786"/>
                    <a:pt x="65786" y="0"/>
                    <a:pt x="147066" y="0"/>
                  </a:cubicBezTo>
                  <a:lnTo>
                    <a:pt x="4945507" y="0"/>
                  </a:lnTo>
                  <a:cubicBezTo>
                    <a:pt x="5026660" y="0"/>
                    <a:pt x="5092573" y="65786"/>
                    <a:pt x="5092573" y="147066"/>
                  </a:cubicBezTo>
                  <a:lnTo>
                    <a:pt x="5092573" y="6096254"/>
                  </a:lnTo>
                  <a:cubicBezTo>
                    <a:pt x="5092573" y="6177407"/>
                    <a:pt x="5026787" y="6243320"/>
                    <a:pt x="4945507" y="6243320"/>
                  </a:cubicBezTo>
                  <a:lnTo>
                    <a:pt x="147066" y="6243320"/>
                  </a:lnTo>
                  <a:cubicBezTo>
                    <a:pt x="65786" y="6243320"/>
                    <a:pt x="0" y="6177534"/>
                    <a:pt x="0" y="6096254"/>
                  </a:cubicBezTo>
                  <a:close/>
                </a:path>
              </a:pathLst>
            </a:custGeom>
            <a:solidFill>
              <a:srgbClr val="E7F0F3"/>
            </a:solidFill>
            <a:ln w="19050" cap="sq">
              <a:solidFill>
                <a:srgbClr val="E7F0F3"/>
              </a:solidFill>
              <a:prstDash val="solid"/>
              <a:miter/>
            </a:ln>
          </p:spPr>
          <p:txBody>
            <a:bodyPr/>
            <a:p/>
          </p:txBody>
        </p:sp>
      </p:grpSp>
      <p:grpSp>
        <p:nvGrpSpPr>
          <p:cNvPr id="9" name="Group 9"/>
          <p:cNvGrpSpPr/>
          <p:nvPr/>
        </p:nvGrpSpPr>
        <p:grpSpPr>
          <a:xfrm rot="0">
            <a:off x="1224915" y="2802255"/>
            <a:ext cx="1322070" cy="1322070"/>
            <a:chOff x="0" y="0"/>
            <a:chExt cx="1762760" cy="1762760"/>
          </a:xfrm>
        </p:grpSpPr>
        <p:sp>
          <p:nvSpPr>
            <p:cNvPr id="10" name="Freeform 10"/>
            <p:cNvSpPr/>
            <p:nvPr/>
          </p:nvSpPr>
          <p:spPr>
            <a:xfrm>
              <a:off x="0" y="0"/>
              <a:ext cx="1762760" cy="1762760"/>
            </a:xfrm>
            <a:custGeom>
              <a:avLst/>
              <a:gdLst/>
              <a:ahLst/>
              <a:cxnLst/>
              <a:rect l="l" t="t" r="r" b="b"/>
              <a:pathLst>
                <a:path w="1762760" h="1762760">
                  <a:moveTo>
                    <a:pt x="0" y="881380"/>
                  </a:moveTo>
                  <a:cubicBezTo>
                    <a:pt x="0" y="394589"/>
                    <a:pt x="394589" y="0"/>
                    <a:pt x="881380" y="0"/>
                  </a:cubicBezTo>
                  <a:cubicBezTo>
                    <a:pt x="1368171" y="0"/>
                    <a:pt x="1762760" y="394589"/>
                    <a:pt x="1762760" y="881380"/>
                  </a:cubicBezTo>
                  <a:cubicBezTo>
                    <a:pt x="1762760" y="1368171"/>
                    <a:pt x="1368171" y="1762760"/>
                    <a:pt x="881380" y="1762760"/>
                  </a:cubicBezTo>
                  <a:cubicBezTo>
                    <a:pt x="394589" y="1762760"/>
                    <a:pt x="0" y="1368171"/>
                    <a:pt x="0" y="881380"/>
                  </a:cubicBezTo>
                  <a:close/>
                </a:path>
              </a:pathLst>
            </a:custGeom>
            <a:solidFill>
              <a:srgbClr val="1C7293"/>
            </a:solidFill>
            <a:ln w="19050" cap="sq">
              <a:solidFill>
                <a:srgbClr val="FFFFFF"/>
              </a:solidFill>
              <a:prstDash val="solid"/>
              <a:miter/>
            </a:ln>
          </p:spPr>
          <p:txBody>
            <a:bodyPr/>
            <a:p/>
          </p:txBody>
        </p:sp>
      </p:grpSp>
      <p:grpSp>
        <p:nvGrpSpPr>
          <p:cNvPr id="11" name="Group 11"/>
          <p:cNvGrpSpPr/>
          <p:nvPr/>
        </p:nvGrpSpPr>
        <p:grpSpPr>
          <a:xfrm rot="0">
            <a:off x="1234440" y="2811780"/>
            <a:ext cx="1303020" cy="1303020"/>
            <a:chOff x="0" y="0"/>
            <a:chExt cx="1737360" cy="1737360"/>
          </a:xfrm>
        </p:grpSpPr>
        <p:sp>
          <p:nvSpPr>
            <p:cNvPr id="12" name="Freeform 12"/>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03" r="-78303"/>
              </a:stretch>
            </a:blipFill>
          </p:spPr>
          <p:txBody>
            <a:bodyPr/>
            <a:p/>
          </p:txBody>
        </p:sp>
        <p:sp>
          <p:nvSpPr>
            <p:cNvPr id="13" name="TextBox 13"/>
            <p:cNvSpPr txBox="1"/>
            <p:nvPr/>
          </p:nvSpPr>
          <p:spPr>
            <a:xfrm>
              <a:off x="0" y="-47625"/>
              <a:ext cx="1737360" cy="178498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B2</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4" name="TextBox 14"/>
          <p:cNvSpPr txBox="1"/>
          <p:nvPr/>
        </p:nvSpPr>
        <p:spPr>
          <a:xfrm>
            <a:off x="1234440" y="4400550"/>
            <a:ext cx="2977401" cy="2388870"/>
          </a:xfrm>
          <a:prstGeom prst="rect">
            <a:avLst/>
          </a:prstGeom>
        </p:spPr>
        <p:txBody>
          <a:bodyPr lIns="0" tIns="0" rIns="0" bIns="0" rtlCol="0" anchor="t">
            <a:spAutoFit/>
          </a:bodyPr>
          <a:lstStyle/>
          <a:p>
            <a:pPr algn="l">
              <a:lnSpc>
                <a:spcPts val="2700"/>
              </a:lnSpc>
            </a:pPr>
            <a:r>
              <a:rPr lang="en-US" sz="2250" b="1">
                <a:solidFill>
                  <a:srgbClr val="243044"/>
                </a:solidFill>
                <a:latin typeface="Calibri (MS)" panose="020F0502020204030204"/>
                <a:ea typeface="Calibri (MS)" panose="020F0502020204030204"/>
                <a:cs typeface="Calibri (MS)" panose="020F0502020204030204"/>
                <a:sym typeface="Calibri (MS)" panose="020F0502020204030204"/>
              </a:rPr>
              <a:t>QLoRA (không OCR)</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PEFT có hơn zero-shot? → +21,1 EM ViTextVQA, +51,7 ViVQA</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5" name="Group 15"/>
          <p:cNvGrpSpPr/>
          <p:nvPr/>
        </p:nvGrpSpPr>
        <p:grpSpPr>
          <a:xfrm rot="0">
            <a:off x="5093856" y="2390775"/>
            <a:ext cx="3819411" cy="4682490"/>
            <a:chOff x="0" y="0"/>
            <a:chExt cx="5092548" cy="6243320"/>
          </a:xfrm>
        </p:grpSpPr>
        <p:sp>
          <p:nvSpPr>
            <p:cNvPr id="16" name="Freeform 16"/>
            <p:cNvSpPr/>
            <p:nvPr/>
          </p:nvSpPr>
          <p:spPr>
            <a:xfrm>
              <a:off x="0" y="0"/>
              <a:ext cx="5092573" cy="6243320"/>
            </a:xfrm>
            <a:custGeom>
              <a:avLst/>
              <a:gdLst/>
              <a:ahLst/>
              <a:cxnLst/>
              <a:rect l="l" t="t" r="r" b="b"/>
              <a:pathLst>
                <a:path w="5092573" h="6243320">
                  <a:moveTo>
                    <a:pt x="0" y="147066"/>
                  </a:moveTo>
                  <a:cubicBezTo>
                    <a:pt x="0" y="65786"/>
                    <a:pt x="65786" y="0"/>
                    <a:pt x="147066" y="0"/>
                  </a:cubicBezTo>
                  <a:lnTo>
                    <a:pt x="4945507" y="0"/>
                  </a:lnTo>
                  <a:cubicBezTo>
                    <a:pt x="5026660" y="0"/>
                    <a:pt x="5092573" y="65786"/>
                    <a:pt x="5092573" y="147066"/>
                  </a:cubicBezTo>
                  <a:lnTo>
                    <a:pt x="5092573" y="6096254"/>
                  </a:lnTo>
                  <a:cubicBezTo>
                    <a:pt x="5092573" y="6177407"/>
                    <a:pt x="5026787" y="6243320"/>
                    <a:pt x="4945507" y="6243320"/>
                  </a:cubicBezTo>
                  <a:lnTo>
                    <a:pt x="147066" y="6243320"/>
                  </a:lnTo>
                  <a:cubicBezTo>
                    <a:pt x="65786" y="6243320"/>
                    <a:pt x="0" y="6177534"/>
                    <a:pt x="0" y="6096254"/>
                  </a:cubicBezTo>
                  <a:close/>
                </a:path>
              </a:pathLst>
            </a:custGeom>
            <a:solidFill>
              <a:srgbClr val="F3F5F8"/>
            </a:solidFill>
            <a:ln w="19050" cap="sq">
              <a:solidFill>
                <a:srgbClr val="F3F5F8"/>
              </a:solidFill>
              <a:prstDash val="solid"/>
              <a:miter/>
            </a:ln>
          </p:spPr>
          <p:txBody>
            <a:bodyPr/>
            <a:p/>
          </p:txBody>
        </p:sp>
      </p:grpSp>
      <p:grpSp>
        <p:nvGrpSpPr>
          <p:cNvPr id="17" name="Group 17"/>
          <p:cNvGrpSpPr/>
          <p:nvPr/>
        </p:nvGrpSpPr>
        <p:grpSpPr>
          <a:xfrm rot="0">
            <a:off x="5505336" y="2802255"/>
            <a:ext cx="1322070" cy="1322070"/>
            <a:chOff x="0" y="0"/>
            <a:chExt cx="1762760" cy="1762760"/>
          </a:xfrm>
        </p:grpSpPr>
        <p:sp>
          <p:nvSpPr>
            <p:cNvPr id="18" name="Freeform 18"/>
            <p:cNvSpPr/>
            <p:nvPr/>
          </p:nvSpPr>
          <p:spPr>
            <a:xfrm>
              <a:off x="0" y="0"/>
              <a:ext cx="1762760" cy="1762760"/>
            </a:xfrm>
            <a:custGeom>
              <a:avLst/>
              <a:gdLst/>
              <a:ahLst/>
              <a:cxnLst/>
              <a:rect l="l" t="t" r="r" b="b"/>
              <a:pathLst>
                <a:path w="1762760" h="1762760">
                  <a:moveTo>
                    <a:pt x="0" y="881380"/>
                  </a:moveTo>
                  <a:cubicBezTo>
                    <a:pt x="0" y="394589"/>
                    <a:pt x="394589" y="0"/>
                    <a:pt x="881380" y="0"/>
                  </a:cubicBezTo>
                  <a:cubicBezTo>
                    <a:pt x="1368171" y="0"/>
                    <a:pt x="1762760" y="394589"/>
                    <a:pt x="1762760" y="881380"/>
                  </a:cubicBezTo>
                  <a:cubicBezTo>
                    <a:pt x="1762760" y="1368171"/>
                    <a:pt x="1368171" y="1762760"/>
                    <a:pt x="881380" y="1762760"/>
                  </a:cubicBezTo>
                  <a:cubicBezTo>
                    <a:pt x="394589" y="1762760"/>
                    <a:pt x="0" y="1368171"/>
                    <a:pt x="0" y="881380"/>
                  </a:cubicBezTo>
                  <a:close/>
                </a:path>
              </a:pathLst>
            </a:custGeom>
            <a:solidFill>
              <a:srgbClr val="13294B"/>
            </a:solidFill>
            <a:ln w="19050" cap="sq">
              <a:solidFill>
                <a:srgbClr val="FFFFFF"/>
              </a:solidFill>
              <a:prstDash val="solid"/>
              <a:miter/>
            </a:ln>
          </p:spPr>
          <p:txBody>
            <a:bodyPr/>
            <a:p/>
          </p:txBody>
        </p:sp>
      </p:grpSp>
      <p:grpSp>
        <p:nvGrpSpPr>
          <p:cNvPr id="19" name="Group 19"/>
          <p:cNvGrpSpPr/>
          <p:nvPr/>
        </p:nvGrpSpPr>
        <p:grpSpPr>
          <a:xfrm rot="0">
            <a:off x="5514861" y="2811780"/>
            <a:ext cx="1303020" cy="1303020"/>
            <a:chOff x="0" y="0"/>
            <a:chExt cx="1737360" cy="1737360"/>
          </a:xfrm>
        </p:grpSpPr>
        <p:sp>
          <p:nvSpPr>
            <p:cNvPr id="20" name="Freeform 20"/>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03" r="-78303"/>
              </a:stretch>
            </a:blipFill>
          </p:spPr>
          <p:txBody>
            <a:bodyPr/>
            <a:p/>
          </p:txBody>
        </p:sp>
        <p:sp>
          <p:nvSpPr>
            <p:cNvPr id="21" name="TextBox 21"/>
            <p:cNvSpPr txBox="1"/>
            <p:nvPr/>
          </p:nvSpPr>
          <p:spPr>
            <a:xfrm>
              <a:off x="0" y="-47625"/>
              <a:ext cx="1737360" cy="178498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B3</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2" name="TextBox 22"/>
          <p:cNvSpPr txBox="1"/>
          <p:nvPr/>
        </p:nvSpPr>
        <p:spPr>
          <a:xfrm>
            <a:off x="5514861" y="4400550"/>
            <a:ext cx="2977401" cy="2388870"/>
          </a:xfrm>
          <a:prstGeom prst="rect">
            <a:avLst/>
          </a:prstGeom>
        </p:spPr>
        <p:txBody>
          <a:bodyPr lIns="0" tIns="0" rIns="0" bIns="0" rtlCol="0" anchor="t">
            <a:spAutoFit/>
          </a:bodyPr>
          <a:lstStyle/>
          <a:p>
            <a:pPr algn="l">
              <a:lnSpc>
                <a:spcPts val="2700"/>
              </a:lnSpc>
            </a:pPr>
            <a:r>
              <a:rPr lang="en-US" sz="2250" b="1">
                <a:solidFill>
                  <a:srgbClr val="243044"/>
                </a:solidFill>
                <a:latin typeface="Calibri (MS)" panose="020F0502020204030204"/>
                <a:ea typeface="Calibri (MS)" panose="020F0502020204030204"/>
                <a:cs typeface="Calibri (MS)" panose="020F0502020204030204"/>
                <a:sym typeface="Calibri (MS)" panose="020F0502020204030204"/>
              </a:rPr>
              <a:t>QLoRA + dòng OCR (8k câu)</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Dạy model dùng chữ OCR có giúp? → +2,5 EM so với B2-sub</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9374276" y="2390775"/>
            <a:ext cx="3819411" cy="4682490"/>
            <a:chOff x="0" y="0"/>
            <a:chExt cx="5092548" cy="6243320"/>
          </a:xfrm>
        </p:grpSpPr>
        <p:sp>
          <p:nvSpPr>
            <p:cNvPr id="24" name="Freeform 24"/>
            <p:cNvSpPr/>
            <p:nvPr/>
          </p:nvSpPr>
          <p:spPr>
            <a:xfrm>
              <a:off x="0" y="0"/>
              <a:ext cx="5092573" cy="6243320"/>
            </a:xfrm>
            <a:custGeom>
              <a:avLst/>
              <a:gdLst/>
              <a:ahLst/>
              <a:cxnLst/>
              <a:rect l="l" t="t" r="r" b="b"/>
              <a:pathLst>
                <a:path w="5092573" h="6243320">
                  <a:moveTo>
                    <a:pt x="0" y="147066"/>
                  </a:moveTo>
                  <a:cubicBezTo>
                    <a:pt x="0" y="65786"/>
                    <a:pt x="65786" y="0"/>
                    <a:pt x="147066" y="0"/>
                  </a:cubicBezTo>
                  <a:lnTo>
                    <a:pt x="4945507" y="0"/>
                  </a:lnTo>
                  <a:cubicBezTo>
                    <a:pt x="5026660" y="0"/>
                    <a:pt x="5092573" y="65786"/>
                    <a:pt x="5092573" y="147066"/>
                  </a:cubicBezTo>
                  <a:lnTo>
                    <a:pt x="5092573" y="6096254"/>
                  </a:lnTo>
                  <a:cubicBezTo>
                    <a:pt x="5092573" y="6177407"/>
                    <a:pt x="5026787" y="6243320"/>
                    <a:pt x="4945507" y="6243320"/>
                  </a:cubicBezTo>
                  <a:lnTo>
                    <a:pt x="147066" y="6243320"/>
                  </a:lnTo>
                  <a:cubicBezTo>
                    <a:pt x="65786" y="6243320"/>
                    <a:pt x="0" y="6177534"/>
                    <a:pt x="0" y="6096254"/>
                  </a:cubicBezTo>
                  <a:close/>
                </a:path>
              </a:pathLst>
            </a:custGeom>
            <a:solidFill>
              <a:srgbClr val="F3F5F8"/>
            </a:solidFill>
            <a:ln w="19050" cap="sq">
              <a:solidFill>
                <a:srgbClr val="F3F5F8"/>
              </a:solidFill>
              <a:prstDash val="solid"/>
              <a:miter/>
            </a:ln>
          </p:spPr>
          <p:txBody>
            <a:bodyPr/>
            <a:p/>
          </p:txBody>
        </p:sp>
      </p:grpSp>
      <p:grpSp>
        <p:nvGrpSpPr>
          <p:cNvPr id="25" name="Group 25"/>
          <p:cNvGrpSpPr/>
          <p:nvPr/>
        </p:nvGrpSpPr>
        <p:grpSpPr>
          <a:xfrm rot="0">
            <a:off x="9785756" y="2802255"/>
            <a:ext cx="1322070" cy="1322070"/>
            <a:chOff x="0" y="0"/>
            <a:chExt cx="1762760" cy="1762760"/>
          </a:xfrm>
        </p:grpSpPr>
        <p:sp>
          <p:nvSpPr>
            <p:cNvPr id="26" name="Freeform 26"/>
            <p:cNvSpPr/>
            <p:nvPr/>
          </p:nvSpPr>
          <p:spPr>
            <a:xfrm>
              <a:off x="0" y="0"/>
              <a:ext cx="1762760" cy="1762760"/>
            </a:xfrm>
            <a:custGeom>
              <a:avLst/>
              <a:gdLst/>
              <a:ahLst/>
              <a:cxnLst/>
              <a:rect l="l" t="t" r="r" b="b"/>
              <a:pathLst>
                <a:path w="1762760" h="1762760">
                  <a:moveTo>
                    <a:pt x="0" y="881380"/>
                  </a:moveTo>
                  <a:cubicBezTo>
                    <a:pt x="0" y="394589"/>
                    <a:pt x="394589" y="0"/>
                    <a:pt x="881380" y="0"/>
                  </a:cubicBezTo>
                  <a:cubicBezTo>
                    <a:pt x="1368171" y="0"/>
                    <a:pt x="1762760" y="394589"/>
                    <a:pt x="1762760" y="881380"/>
                  </a:cubicBezTo>
                  <a:cubicBezTo>
                    <a:pt x="1762760" y="1368171"/>
                    <a:pt x="1368171" y="1762760"/>
                    <a:pt x="881380" y="1762760"/>
                  </a:cubicBezTo>
                  <a:cubicBezTo>
                    <a:pt x="394589" y="1762760"/>
                    <a:pt x="0" y="1368171"/>
                    <a:pt x="0" y="881380"/>
                  </a:cubicBezTo>
                  <a:close/>
                </a:path>
              </a:pathLst>
            </a:custGeom>
            <a:solidFill>
              <a:srgbClr val="13294B"/>
            </a:solidFill>
            <a:ln w="19050" cap="sq">
              <a:solidFill>
                <a:srgbClr val="FFFFFF"/>
              </a:solidFill>
              <a:prstDash val="solid"/>
              <a:miter/>
            </a:ln>
          </p:spPr>
          <p:txBody>
            <a:bodyPr/>
            <a:p/>
          </p:txBody>
        </p:sp>
      </p:grpSp>
      <p:grpSp>
        <p:nvGrpSpPr>
          <p:cNvPr id="27" name="Group 27"/>
          <p:cNvGrpSpPr/>
          <p:nvPr/>
        </p:nvGrpSpPr>
        <p:grpSpPr>
          <a:xfrm rot="0">
            <a:off x="9795281" y="2811780"/>
            <a:ext cx="1303020" cy="1303020"/>
            <a:chOff x="0" y="0"/>
            <a:chExt cx="1737360" cy="1737360"/>
          </a:xfrm>
        </p:grpSpPr>
        <p:sp>
          <p:nvSpPr>
            <p:cNvPr id="28" name="Freeform 28"/>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03" r="-78303"/>
              </a:stretch>
            </a:blipFill>
          </p:spPr>
          <p:txBody>
            <a:bodyPr/>
            <a:p/>
          </p:txBody>
        </p:sp>
        <p:sp>
          <p:nvSpPr>
            <p:cNvPr id="29" name="TextBox 29"/>
            <p:cNvSpPr txBox="1"/>
            <p:nvPr/>
          </p:nvSpPr>
          <p:spPr>
            <a:xfrm>
              <a:off x="0" y="-47625"/>
              <a:ext cx="1737360" cy="178498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B3F</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0" name="TextBox 30"/>
          <p:cNvSpPr txBox="1"/>
          <p:nvPr/>
        </p:nvSpPr>
        <p:spPr>
          <a:xfrm>
            <a:off x="9795281" y="4400550"/>
            <a:ext cx="2977401" cy="2388870"/>
          </a:xfrm>
          <a:prstGeom prst="rect">
            <a:avLst/>
          </a:prstGeom>
        </p:spPr>
        <p:txBody>
          <a:bodyPr lIns="0" tIns="0" rIns="0" bIns="0" rtlCol="0" anchor="t">
            <a:spAutoFit/>
          </a:bodyPr>
          <a:lstStyle/>
          <a:p>
            <a:pPr algn="l">
              <a:lnSpc>
                <a:spcPts val="2700"/>
              </a:lnSpc>
            </a:pPr>
            <a:r>
              <a:rPr lang="en-US" sz="2250" b="1">
                <a:solidFill>
                  <a:srgbClr val="243044"/>
                </a:solidFill>
                <a:latin typeface="Calibri (MS)" panose="020F0502020204030204"/>
                <a:ea typeface="Calibri (MS)" panose="020F0502020204030204"/>
                <a:cs typeface="Calibri (MS)" panose="020F0502020204030204"/>
                <a:sym typeface="Calibri (MS)" panose="020F0502020204030204"/>
              </a:rPr>
              <a:t>B3 trên toàn bộ dữ liệu</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Đủ dữ liệu OCR còn giúp? → +3,1 EM so với B2</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1" name="Group 31"/>
          <p:cNvGrpSpPr/>
          <p:nvPr/>
        </p:nvGrpSpPr>
        <p:grpSpPr>
          <a:xfrm rot="0">
            <a:off x="13654697" y="2390775"/>
            <a:ext cx="3819411" cy="4682490"/>
            <a:chOff x="0" y="0"/>
            <a:chExt cx="5092548" cy="6243320"/>
          </a:xfrm>
        </p:grpSpPr>
        <p:sp>
          <p:nvSpPr>
            <p:cNvPr id="32" name="Freeform 32"/>
            <p:cNvSpPr/>
            <p:nvPr/>
          </p:nvSpPr>
          <p:spPr>
            <a:xfrm>
              <a:off x="0" y="0"/>
              <a:ext cx="5092573" cy="6243320"/>
            </a:xfrm>
            <a:custGeom>
              <a:avLst/>
              <a:gdLst/>
              <a:ahLst/>
              <a:cxnLst/>
              <a:rect l="l" t="t" r="r" b="b"/>
              <a:pathLst>
                <a:path w="5092573" h="6243320">
                  <a:moveTo>
                    <a:pt x="0" y="147066"/>
                  </a:moveTo>
                  <a:cubicBezTo>
                    <a:pt x="0" y="65786"/>
                    <a:pt x="65786" y="0"/>
                    <a:pt x="147066" y="0"/>
                  </a:cubicBezTo>
                  <a:lnTo>
                    <a:pt x="4945507" y="0"/>
                  </a:lnTo>
                  <a:cubicBezTo>
                    <a:pt x="5026660" y="0"/>
                    <a:pt x="5092573" y="65786"/>
                    <a:pt x="5092573" y="147066"/>
                  </a:cubicBezTo>
                  <a:lnTo>
                    <a:pt x="5092573" y="6096254"/>
                  </a:lnTo>
                  <a:cubicBezTo>
                    <a:pt x="5092573" y="6177407"/>
                    <a:pt x="5026787" y="6243320"/>
                    <a:pt x="4945507" y="6243320"/>
                  </a:cubicBezTo>
                  <a:lnTo>
                    <a:pt x="147066" y="6243320"/>
                  </a:lnTo>
                  <a:cubicBezTo>
                    <a:pt x="65786" y="6243320"/>
                    <a:pt x="0" y="6177534"/>
                    <a:pt x="0" y="6096254"/>
                  </a:cubicBezTo>
                  <a:close/>
                </a:path>
              </a:pathLst>
            </a:custGeom>
            <a:solidFill>
              <a:srgbClr val="F3F5F8"/>
            </a:solidFill>
            <a:ln w="19050" cap="sq">
              <a:solidFill>
                <a:srgbClr val="F3F5F8"/>
              </a:solidFill>
              <a:prstDash val="solid"/>
              <a:miter/>
            </a:ln>
          </p:spPr>
          <p:txBody>
            <a:bodyPr/>
            <a:p/>
          </p:txBody>
        </p:sp>
      </p:grpSp>
      <p:grpSp>
        <p:nvGrpSpPr>
          <p:cNvPr id="33" name="Group 33"/>
          <p:cNvGrpSpPr/>
          <p:nvPr/>
        </p:nvGrpSpPr>
        <p:grpSpPr>
          <a:xfrm rot="0">
            <a:off x="14066177" y="2802255"/>
            <a:ext cx="1322070" cy="1322070"/>
            <a:chOff x="0" y="0"/>
            <a:chExt cx="1762760" cy="1762760"/>
          </a:xfrm>
        </p:grpSpPr>
        <p:sp>
          <p:nvSpPr>
            <p:cNvPr id="34" name="Freeform 34"/>
            <p:cNvSpPr/>
            <p:nvPr/>
          </p:nvSpPr>
          <p:spPr>
            <a:xfrm>
              <a:off x="0" y="0"/>
              <a:ext cx="1762760" cy="1762760"/>
            </a:xfrm>
            <a:custGeom>
              <a:avLst/>
              <a:gdLst/>
              <a:ahLst/>
              <a:cxnLst/>
              <a:rect l="l" t="t" r="r" b="b"/>
              <a:pathLst>
                <a:path w="1762760" h="1762760">
                  <a:moveTo>
                    <a:pt x="0" y="881380"/>
                  </a:moveTo>
                  <a:cubicBezTo>
                    <a:pt x="0" y="394589"/>
                    <a:pt x="394589" y="0"/>
                    <a:pt x="881380" y="0"/>
                  </a:cubicBezTo>
                  <a:cubicBezTo>
                    <a:pt x="1368171" y="0"/>
                    <a:pt x="1762760" y="394589"/>
                    <a:pt x="1762760" y="881380"/>
                  </a:cubicBezTo>
                  <a:cubicBezTo>
                    <a:pt x="1762760" y="1368171"/>
                    <a:pt x="1368171" y="1762760"/>
                    <a:pt x="881380" y="1762760"/>
                  </a:cubicBezTo>
                  <a:cubicBezTo>
                    <a:pt x="394589" y="1762760"/>
                    <a:pt x="0" y="1368171"/>
                    <a:pt x="0" y="881380"/>
                  </a:cubicBezTo>
                  <a:close/>
                </a:path>
              </a:pathLst>
            </a:custGeom>
            <a:solidFill>
              <a:srgbClr val="13294B"/>
            </a:solidFill>
            <a:ln w="19050" cap="sq">
              <a:solidFill>
                <a:srgbClr val="FFFFFF"/>
              </a:solidFill>
              <a:prstDash val="solid"/>
              <a:miter/>
            </a:ln>
          </p:spPr>
          <p:txBody>
            <a:bodyPr/>
            <a:p/>
          </p:txBody>
        </p:sp>
      </p:grpSp>
      <p:grpSp>
        <p:nvGrpSpPr>
          <p:cNvPr id="35" name="Group 35"/>
          <p:cNvGrpSpPr/>
          <p:nvPr/>
        </p:nvGrpSpPr>
        <p:grpSpPr>
          <a:xfrm rot="0">
            <a:off x="14075702" y="2811780"/>
            <a:ext cx="1303020" cy="1303020"/>
            <a:chOff x="0" y="0"/>
            <a:chExt cx="1737360" cy="1737360"/>
          </a:xfrm>
        </p:grpSpPr>
        <p:sp>
          <p:nvSpPr>
            <p:cNvPr id="36" name="Freeform 36"/>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03" r="-78303"/>
              </a:stretch>
            </a:blipFill>
          </p:spPr>
          <p:txBody>
            <a:bodyPr/>
            <a:p/>
          </p:txBody>
        </p:sp>
        <p:sp>
          <p:nvSpPr>
            <p:cNvPr id="37" name="TextBox 37"/>
            <p:cNvSpPr txBox="1"/>
            <p:nvPr/>
          </p:nvSpPr>
          <p:spPr>
            <a:xfrm>
              <a:off x="0" y="-47625"/>
              <a:ext cx="1737360" cy="178498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SH</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8" name="TextBox 38"/>
          <p:cNvSpPr txBox="1"/>
          <p:nvPr/>
        </p:nvSpPr>
        <p:spPr>
          <a:xfrm>
            <a:off x="14075702" y="4400550"/>
            <a:ext cx="2977401" cy="2388870"/>
          </a:xfrm>
          <a:prstGeom prst="rect">
            <a:avLst/>
          </a:prstGeom>
        </p:spPr>
        <p:txBody>
          <a:bodyPr lIns="0" tIns="0" rIns="0" bIns="0" rtlCol="0" anchor="t">
            <a:spAutoFit/>
          </a:bodyPr>
          <a:lstStyle/>
          <a:p>
            <a:pPr algn="l">
              <a:lnSpc>
                <a:spcPts val="2700"/>
              </a:lnSpc>
            </a:pPr>
            <a:r>
              <a:rPr lang="en-US" sz="2250" b="1">
                <a:solidFill>
                  <a:srgbClr val="243044"/>
                </a:solidFill>
                <a:latin typeface="Calibri (MS)" panose="020F0502020204030204"/>
                <a:ea typeface="Calibri (MS)" panose="020F0502020204030204"/>
                <a:cs typeface="Calibri (MS)" panose="020F0502020204030204"/>
                <a:sym typeface="Calibri (MS)" panose="020F0502020204030204"/>
              </a:rPr>
              <a:t>Một adapter, hai dataset</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Dùng chung có kém? → không kém (δ = 1,5 EM)</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9" name="TextBox 39"/>
          <p:cNvSpPr txBox="1"/>
          <p:nvPr/>
        </p:nvSpPr>
        <p:spPr>
          <a:xfrm>
            <a:off x="822960" y="7496175"/>
            <a:ext cx="16641623" cy="664845"/>
          </a:xfrm>
          <a:prstGeom prst="rect">
            <a:avLst/>
          </a:prstGeom>
        </p:spPr>
        <p:txBody>
          <a:bodyPr lIns="0" tIns="0" rIns="0" bIns="0" rtlCol="0" anchor="t">
            <a:spAutoFit/>
          </a:bodyPr>
          <a:lstStyle/>
          <a:p>
            <a:pPr algn="l">
              <a:lnSpc>
                <a:spcPts val="2520"/>
              </a:lnSpc>
            </a:pPr>
            <a:r>
              <a:rPr lang="en-US" sz="2100">
                <a:solidFill>
                  <a:srgbClr val="6B7280"/>
                </a:solidFill>
                <a:latin typeface="Calibri (MS)" panose="020F0502020204030204"/>
                <a:ea typeface="Calibri (MS)" panose="020F0502020204030204"/>
                <a:cs typeface="Calibri (MS)" panose="020F0502020204030204"/>
                <a:sym typeface="Calibri (MS)" panose="020F0502020204030204"/>
              </a:rPr>
              <a:t>Khởi điểm: B1 zero-shot (EM 22,1 ViVQA · 29,1 ViTextVQA). Mỗi bước chỉ đổi một yếu tố; luật kết luận chốt trước khi chạy.</a:t>
            </a:r>
            <a:endParaRPr lang="en-US" sz="2100">
              <a:solidFill>
                <a:srgbClr val="6B7280"/>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02 · QLoRA (B2)</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QLoRA một epoch: tăng lớn và có ý nghĩa thống kê</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pic>
        <p:nvPicPr>
          <p:cNvPr id="7" name="Picture 7"/>
          <p:cNvPicPr>
            <a:picLocks noChangeAspect="1"/>
          </p:cNvPicPr>
          <p:nvPr/>
        </p:nvPicPr>
        <p:blipFill>
          <a:blip r:embed="rId2"/>
          <a:stretch>
            <a:fillRect/>
          </a:stretch>
        </p:blipFill>
        <p:spPr>
          <a:xfrm>
            <a:off x="-192024" y="1042416"/>
            <a:ext cx="12179808" cy="9368028"/>
          </a:xfrm>
          <a:prstGeom prst="rect">
            <a:avLst/>
          </a:prstGeom>
        </p:spPr>
      </p:pic>
      <p:graphicFrame>
        <p:nvGraphicFramePr>
          <p:cNvPr id="8" name="Table 8"/>
          <p:cNvGraphicFramePr>
            <a:graphicFrameLocks noGrp="1"/>
          </p:cNvGraphicFramePr>
          <p:nvPr/>
        </p:nvGraphicFramePr>
        <p:xfrm>
          <a:off x="11521440" y="2057400"/>
          <a:ext cx="6457950" cy="3429000"/>
        </p:xfrm>
        <a:graphic>
          <a:graphicData uri="http://schemas.openxmlformats.org/drawingml/2006/table">
            <a:tbl>
              <a:tblPr/>
              <a:tblGrid>
                <a:gridCol w="2723097"/>
                <a:gridCol w="1860689"/>
                <a:gridCol w="1874164"/>
              </a:tblGrid>
              <a:tr h="6858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Chi phí</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ViVQA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ViTextVQA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Mẫu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10.799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35.159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Thời gian train (L4)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3,0 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12,0 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VRAM đỉnh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6,6 GB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6,9 GB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Suy luận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0,57 s /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1,0 s /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9" name="Group 9"/>
          <p:cNvGrpSpPr/>
          <p:nvPr/>
        </p:nvGrpSpPr>
        <p:grpSpPr>
          <a:xfrm rot="0">
            <a:off x="11511915" y="5819775"/>
            <a:ext cx="5962193" cy="3585210"/>
            <a:chOff x="0" y="0"/>
            <a:chExt cx="7949590" cy="4780280"/>
          </a:xfrm>
        </p:grpSpPr>
        <p:sp>
          <p:nvSpPr>
            <p:cNvPr id="10" name="Freeform 10"/>
            <p:cNvSpPr/>
            <p:nvPr/>
          </p:nvSpPr>
          <p:spPr>
            <a:xfrm>
              <a:off x="0" y="0"/>
              <a:ext cx="7949565" cy="4780280"/>
            </a:xfrm>
            <a:custGeom>
              <a:avLst/>
              <a:gdLst/>
              <a:ahLst/>
              <a:cxnLst/>
              <a:rect l="l" t="t" r="r" b="b"/>
              <a:pathLst>
                <a:path w="7949565" h="4780280">
                  <a:moveTo>
                    <a:pt x="0" y="147066"/>
                  </a:moveTo>
                  <a:cubicBezTo>
                    <a:pt x="0" y="65913"/>
                    <a:pt x="65913" y="0"/>
                    <a:pt x="147066" y="0"/>
                  </a:cubicBezTo>
                  <a:lnTo>
                    <a:pt x="7802499" y="0"/>
                  </a:lnTo>
                  <a:cubicBezTo>
                    <a:pt x="7883779" y="0"/>
                    <a:pt x="7949565" y="65913"/>
                    <a:pt x="7949565" y="147066"/>
                  </a:cubicBezTo>
                  <a:lnTo>
                    <a:pt x="7949565" y="4633214"/>
                  </a:lnTo>
                  <a:cubicBezTo>
                    <a:pt x="7949565" y="4714494"/>
                    <a:pt x="7883652" y="4780280"/>
                    <a:pt x="7802499" y="4780280"/>
                  </a:cubicBezTo>
                  <a:lnTo>
                    <a:pt x="147066" y="4780280"/>
                  </a:lnTo>
                  <a:cubicBezTo>
                    <a:pt x="65913" y="4780280"/>
                    <a:pt x="0" y="4714367"/>
                    <a:pt x="0" y="4633214"/>
                  </a:cubicBezTo>
                  <a:close/>
                </a:path>
              </a:pathLst>
            </a:custGeom>
            <a:solidFill>
              <a:srgbClr val="E7F0F3"/>
            </a:solidFill>
            <a:ln w="19050" cap="sq">
              <a:solidFill>
                <a:srgbClr val="E7F0F3"/>
              </a:solidFill>
              <a:prstDash val="solid"/>
              <a:miter/>
            </a:ln>
          </p:spPr>
          <p:txBody>
            <a:bodyPr/>
            <a:p/>
          </p:txBody>
        </p:sp>
      </p:grpSp>
      <p:sp>
        <p:nvSpPr>
          <p:cNvPr id="11" name="TextBox 11"/>
          <p:cNvSpPr txBox="1"/>
          <p:nvPr/>
        </p:nvSpPr>
        <p:spPr>
          <a:xfrm>
            <a:off x="11864340" y="5996940"/>
            <a:ext cx="525734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Luật chốt trước khi chạy</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2" name="TextBox 12"/>
          <p:cNvSpPr txBox="1"/>
          <p:nvPr/>
        </p:nvSpPr>
        <p:spPr>
          <a:xfrm>
            <a:off x="11864340" y="6604635"/>
            <a:ext cx="5257343" cy="26536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Cải thiện nếu EM tăng và McNemar p &lt; 0,05 → đạt trên cả hai dataset (ViTextVQA đầy đủ: 2.543 so với 423 câu chỉ một model đúng).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03 · ĐỐI CHỨNG</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Mức tăng là thật, không do rò rỉ, không chỉ do định dạng</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047875"/>
            <a:ext cx="5368290" cy="3516630"/>
            <a:chOff x="0" y="0"/>
            <a:chExt cx="7157720" cy="4688840"/>
          </a:xfrm>
        </p:grpSpPr>
        <p:sp>
          <p:nvSpPr>
            <p:cNvPr id="8" name="Freeform 8"/>
            <p:cNvSpPr/>
            <p:nvPr/>
          </p:nvSpPr>
          <p:spPr>
            <a:xfrm>
              <a:off x="0" y="0"/>
              <a:ext cx="7157720" cy="4688840"/>
            </a:xfrm>
            <a:custGeom>
              <a:avLst/>
              <a:gdLst/>
              <a:ahLst/>
              <a:cxnLst/>
              <a:rect l="l" t="t" r="r" b="b"/>
              <a:pathLst>
                <a:path w="7157720" h="4688840">
                  <a:moveTo>
                    <a:pt x="0" y="147066"/>
                  </a:moveTo>
                  <a:cubicBezTo>
                    <a:pt x="0" y="65913"/>
                    <a:pt x="65913" y="0"/>
                    <a:pt x="147066" y="0"/>
                  </a:cubicBezTo>
                  <a:lnTo>
                    <a:pt x="7010654" y="0"/>
                  </a:lnTo>
                  <a:cubicBezTo>
                    <a:pt x="7091935" y="0"/>
                    <a:pt x="7157720" y="65913"/>
                    <a:pt x="7157720" y="147066"/>
                  </a:cubicBezTo>
                  <a:lnTo>
                    <a:pt x="7157720" y="4541774"/>
                  </a:lnTo>
                  <a:cubicBezTo>
                    <a:pt x="7157720" y="4623054"/>
                    <a:pt x="7091807" y="4688840"/>
                    <a:pt x="7010654" y="4688840"/>
                  </a:cubicBezTo>
                  <a:lnTo>
                    <a:pt x="147066" y="4688840"/>
                  </a:lnTo>
                  <a:cubicBezTo>
                    <a:pt x="65913" y="4688840"/>
                    <a:pt x="0" y="4622927"/>
                    <a:pt x="0" y="4541774"/>
                  </a:cubicBezTo>
                  <a:close/>
                </a:path>
              </a:pathLst>
            </a:custGeom>
            <a:solidFill>
              <a:srgbClr val="F3F5F8"/>
            </a:solidFill>
            <a:ln w="19050" cap="sq">
              <a:solidFill>
                <a:srgbClr val="F3F5F8"/>
              </a:solidFill>
              <a:prstDash val="solid"/>
              <a:miter/>
            </a:ln>
          </p:spPr>
          <p:txBody>
            <a:bodyPr/>
            <a:p/>
          </p:txBody>
        </p:sp>
      </p:grpSp>
      <p:sp>
        <p:nvSpPr>
          <p:cNvPr id="9" name="TextBox 9"/>
          <p:cNvSpPr txBox="1"/>
          <p:nvPr/>
        </p:nvSpPr>
        <p:spPr>
          <a:xfrm>
            <a:off x="1165860" y="2183892"/>
            <a:ext cx="4663440"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Phân tầng rò rỉ ViVQA</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1165860" y="2832735"/>
            <a:ext cx="4663440" cy="258508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Tập sạch (n = 1.219): </a:t>
            </a:r>
            <a:r>
              <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rPr>
              <a:t>EM 25,0 → 69,1</a:t>
            </a:r>
            <a:endPar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Mốc đoán theo phân bố đáp án: 14,4</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1" name="Group 11"/>
          <p:cNvGrpSpPr/>
          <p:nvPr/>
        </p:nvGrpSpPr>
        <p:grpSpPr>
          <a:xfrm rot="0">
            <a:off x="813435" y="5888355"/>
            <a:ext cx="5368290" cy="3516630"/>
            <a:chOff x="0" y="0"/>
            <a:chExt cx="7157720" cy="4688840"/>
          </a:xfrm>
        </p:grpSpPr>
        <p:sp>
          <p:nvSpPr>
            <p:cNvPr id="12" name="Freeform 12"/>
            <p:cNvSpPr/>
            <p:nvPr/>
          </p:nvSpPr>
          <p:spPr>
            <a:xfrm>
              <a:off x="0" y="0"/>
              <a:ext cx="7157720" cy="4688840"/>
            </a:xfrm>
            <a:custGeom>
              <a:avLst/>
              <a:gdLst/>
              <a:ahLst/>
              <a:cxnLst/>
              <a:rect l="l" t="t" r="r" b="b"/>
              <a:pathLst>
                <a:path w="7157720" h="4688840">
                  <a:moveTo>
                    <a:pt x="0" y="147066"/>
                  </a:moveTo>
                  <a:cubicBezTo>
                    <a:pt x="0" y="65913"/>
                    <a:pt x="65913" y="0"/>
                    <a:pt x="147066" y="0"/>
                  </a:cubicBezTo>
                  <a:lnTo>
                    <a:pt x="7010654" y="0"/>
                  </a:lnTo>
                  <a:cubicBezTo>
                    <a:pt x="7091935" y="0"/>
                    <a:pt x="7157720" y="65913"/>
                    <a:pt x="7157720" y="147066"/>
                  </a:cubicBezTo>
                  <a:lnTo>
                    <a:pt x="7157720" y="4541774"/>
                  </a:lnTo>
                  <a:cubicBezTo>
                    <a:pt x="7157720" y="4623054"/>
                    <a:pt x="7091807" y="4688840"/>
                    <a:pt x="7010654" y="4688840"/>
                  </a:cubicBezTo>
                  <a:lnTo>
                    <a:pt x="147066" y="4688840"/>
                  </a:lnTo>
                  <a:cubicBezTo>
                    <a:pt x="65913" y="4688840"/>
                    <a:pt x="0" y="4622927"/>
                    <a:pt x="0" y="4541774"/>
                  </a:cubicBezTo>
                  <a:close/>
                </a:path>
              </a:pathLst>
            </a:custGeom>
            <a:solidFill>
              <a:srgbClr val="F3F5F8"/>
            </a:solidFill>
            <a:ln w="19050" cap="sq">
              <a:solidFill>
                <a:srgbClr val="F3F5F8"/>
              </a:solidFill>
              <a:prstDash val="solid"/>
              <a:miter/>
            </a:ln>
          </p:spPr>
          <p:txBody>
            <a:bodyPr/>
            <a:p/>
          </p:txBody>
        </p:sp>
      </p:grpSp>
      <p:sp>
        <p:nvSpPr>
          <p:cNvPr id="13" name="TextBox 13"/>
          <p:cNvSpPr txBox="1"/>
          <p:nvPr/>
        </p:nvSpPr>
        <p:spPr>
          <a:xfrm>
            <a:off x="1165860" y="6024372"/>
            <a:ext cx="4663440"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ViTextVQA: không trùng ảnh</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4" name="TextBox 14"/>
          <p:cNvSpPr txBox="1"/>
          <p:nvPr/>
        </p:nvSpPr>
        <p:spPr>
          <a:xfrm>
            <a:off x="1165860" y="6673215"/>
            <a:ext cx="4663440" cy="258508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0 ảnh trùng train–test, </a:t>
            </a:r>
            <a:r>
              <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rPr>
              <a:t>vẫn +21,1 EM trên full test</a:t>
            </a:r>
            <a:endPar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15" name="Group 15"/>
          <p:cNvGrpSpPr/>
          <p:nvPr/>
        </p:nvGrpSpPr>
        <p:grpSpPr>
          <a:xfrm rot="0">
            <a:off x="6711315" y="2047875"/>
            <a:ext cx="10762793" cy="7357110"/>
            <a:chOff x="0" y="0"/>
            <a:chExt cx="14350390" cy="9809480"/>
          </a:xfrm>
        </p:grpSpPr>
        <p:sp>
          <p:nvSpPr>
            <p:cNvPr id="16" name="Freeform 16"/>
            <p:cNvSpPr/>
            <p:nvPr/>
          </p:nvSpPr>
          <p:spPr>
            <a:xfrm>
              <a:off x="0" y="0"/>
              <a:ext cx="14350366" cy="9809480"/>
            </a:xfrm>
            <a:custGeom>
              <a:avLst/>
              <a:gdLst/>
              <a:ahLst/>
              <a:cxnLst/>
              <a:rect l="l" t="t" r="r" b="b"/>
              <a:pathLst>
                <a:path w="14350366" h="9809480">
                  <a:moveTo>
                    <a:pt x="0" y="146685"/>
                  </a:moveTo>
                  <a:cubicBezTo>
                    <a:pt x="0" y="65659"/>
                    <a:pt x="65659" y="0"/>
                    <a:pt x="146685" y="0"/>
                  </a:cubicBezTo>
                  <a:lnTo>
                    <a:pt x="14203680" y="0"/>
                  </a:lnTo>
                  <a:cubicBezTo>
                    <a:pt x="14284706" y="0"/>
                    <a:pt x="14350366" y="65659"/>
                    <a:pt x="14350366" y="146685"/>
                  </a:cubicBezTo>
                  <a:lnTo>
                    <a:pt x="14350366" y="9662795"/>
                  </a:lnTo>
                  <a:cubicBezTo>
                    <a:pt x="14350366" y="9743821"/>
                    <a:pt x="14284706" y="9809480"/>
                    <a:pt x="14203680" y="9809480"/>
                  </a:cubicBezTo>
                  <a:lnTo>
                    <a:pt x="146685" y="9809480"/>
                  </a:lnTo>
                  <a:cubicBezTo>
                    <a:pt x="65659" y="9809480"/>
                    <a:pt x="0" y="9743821"/>
                    <a:pt x="0" y="9662795"/>
                  </a:cubicBezTo>
                  <a:close/>
                </a:path>
              </a:pathLst>
            </a:custGeom>
            <a:solidFill>
              <a:srgbClr val="F3F5F8"/>
            </a:solidFill>
            <a:ln w="19050" cap="sq">
              <a:solidFill>
                <a:srgbClr val="F3F5F8"/>
              </a:solidFill>
              <a:prstDash val="solid"/>
              <a:miter/>
            </a:ln>
          </p:spPr>
          <p:txBody>
            <a:bodyPr/>
            <a:p/>
          </p:txBody>
        </p:sp>
      </p:grpSp>
      <p:sp>
        <p:nvSpPr>
          <p:cNvPr id="17" name="TextBox 17"/>
          <p:cNvSpPr txBox="1"/>
          <p:nvPr/>
        </p:nvSpPr>
        <p:spPr>
          <a:xfrm>
            <a:off x="7132320" y="2183892"/>
            <a:ext cx="992078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Đối chứng few-shot: 5 ví dụ chữ trong prompt (FS5)</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pic>
        <p:nvPicPr>
          <p:cNvPr id="18" name="Picture 18"/>
          <p:cNvPicPr>
            <a:picLocks noChangeAspect="1"/>
          </p:cNvPicPr>
          <p:nvPr/>
        </p:nvPicPr>
        <p:blipFill>
          <a:blip r:embed="rId2"/>
          <a:stretch>
            <a:fillRect/>
          </a:stretch>
        </p:blipFill>
        <p:spPr>
          <a:xfrm>
            <a:off x="5893354" y="1778554"/>
            <a:ext cx="12398714" cy="6935632"/>
          </a:xfrm>
          <a:prstGeom prst="rect">
            <a:avLst/>
          </a:prstGeom>
        </p:spPr>
      </p:pic>
      <p:sp>
        <p:nvSpPr>
          <p:cNvPr id="19" name="TextBox 19"/>
          <p:cNvSpPr txBox="1"/>
          <p:nvPr/>
        </p:nvSpPr>
        <p:spPr>
          <a:xfrm>
            <a:off x="7132320" y="7701915"/>
            <a:ext cx="9920783" cy="155638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Few-shot làm câu trả lời ngắn lại nhưng mất nội dung (EM −2,1 ở ViVQA, p = 0,004; −1,2 ở ViTextVQA, không ý nghĩa). B2 vượt FS5 ở cả hai (p ≈ 0) → QLoRA học nhiều hơn định dạng.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04 · SO VỚI SOTA</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Full test ViTextVQA: cao hơn SOTA đã công bố</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125980"/>
          <a:ext cx="16611600" cy="3352800"/>
        </p:xfrm>
        <a:graphic>
          <a:graphicData uri="http://schemas.openxmlformats.org/drawingml/2006/table">
            <a:tbl>
              <a:tblPr/>
              <a:tblGrid>
                <a:gridCol w="5468816"/>
                <a:gridCol w="3496642"/>
                <a:gridCol w="3496642"/>
                <a:gridCol w="4149500"/>
              </a:tblGrid>
              <a:tr h="8382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Model (full test, 10.028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 [CI95]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F1 [CI95]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so với SOTA (luật: cận dưới CI95 &gt; số công bố)</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838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ViTextBLIP-2 · Nguyen và cs. [3], Table 6 (có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25,48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B1 · Qwen2.5-VL-3B zero-shot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29,12 [28,23; 29,99]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53,89 [53,11; 54,66]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cao hơn về EM; F1 ngang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B2 · + QLoRA, 1 epoch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50,26 [49,27; 51,23]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71,16 [70,42; 71,89]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l">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cao hơn cả EM và 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grpSp>
        <p:nvGrpSpPr>
          <p:cNvPr id="8" name="Group 8"/>
          <p:cNvGrpSpPr/>
          <p:nvPr/>
        </p:nvGrpSpPr>
        <p:grpSpPr>
          <a:xfrm rot="0">
            <a:off x="813435" y="5819775"/>
            <a:ext cx="5200498" cy="2556510"/>
            <a:chOff x="0" y="0"/>
            <a:chExt cx="6933997" cy="3408680"/>
          </a:xfrm>
        </p:grpSpPr>
        <p:sp>
          <p:nvSpPr>
            <p:cNvPr id="9" name="Freeform 9"/>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F3F5F8"/>
            </a:solidFill>
            <a:ln w="19050" cap="sq">
              <a:solidFill>
                <a:srgbClr val="F3F5F8"/>
              </a:solidFill>
              <a:prstDash val="solid"/>
              <a:miter/>
            </a:ln>
          </p:spPr>
          <p:txBody>
            <a:bodyPr/>
            <a:p/>
          </p:txBody>
        </p:sp>
      </p:grpSp>
      <p:sp>
        <p:nvSpPr>
          <p:cNvPr id="10" name="TextBox 10"/>
          <p:cNvSpPr txBox="1"/>
          <p:nvPr/>
        </p:nvSpPr>
        <p:spPr>
          <a:xfrm>
            <a:off x="1165860" y="599694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Tái lập được</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165860" y="6673215"/>
            <a:ext cx="4495648" cy="148780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Dự đoán full test trùng 100% với các run tập con trên 2.000 câu chung.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6543523" y="5819775"/>
            <a:ext cx="5200498" cy="2556510"/>
            <a:chOff x="0" y="0"/>
            <a:chExt cx="6933997" cy="3408680"/>
          </a:xfrm>
        </p:grpSpPr>
        <p:sp>
          <p:nvSpPr>
            <p:cNvPr id="13" name="Freeform 13"/>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F3F5F8"/>
            </a:solidFill>
            <a:ln w="19050" cap="sq">
              <a:solidFill>
                <a:srgbClr val="F3F5F8"/>
              </a:solidFill>
              <a:prstDash val="solid"/>
              <a:miter/>
            </a:ln>
          </p:spPr>
          <p:txBody>
            <a:bodyPr/>
            <a:p/>
          </p:txBody>
        </p:sp>
      </p:grpSp>
      <p:sp>
        <p:nvSpPr>
          <p:cNvPr id="14" name="TextBox 14"/>
          <p:cNvSpPr txBox="1"/>
          <p:nvPr/>
        </p:nvSpPr>
        <p:spPr>
          <a:xfrm>
            <a:off x="6895948" y="599694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Công bằng về loại</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6895948" y="6673215"/>
            <a:ext cx="4495648" cy="148780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Cả B2 và ViTextBLIP-2 đều được train trên tập train ViTextVQA.</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6" name="Group 16"/>
          <p:cNvGrpSpPr/>
          <p:nvPr/>
        </p:nvGrpSpPr>
        <p:grpSpPr>
          <a:xfrm rot="0">
            <a:off x="12273610" y="5819775"/>
            <a:ext cx="5200498" cy="2556510"/>
            <a:chOff x="0" y="0"/>
            <a:chExt cx="6933997" cy="3408680"/>
          </a:xfrm>
        </p:grpSpPr>
        <p:sp>
          <p:nvSpPr>
            <p:cNvPr id="17" name="Freeform 17"/>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FBF0DA"/>
            </a:solidFill>
            <a:ln w="19050" cap="sq">
              <a:solidFill>
                <a:srgbClr val="FBF0DA"/>
              </a:solidFill>
              <a:prstDash val="solid"/>
              <a:miter/>
            </a:ln>
          </p:spPr>
          <p:txBody>
            <a:bodyPr/>
            <a:p/>
          </p:txBody>
        </p:sp>
      </p:grpSp>
      <p:sp>
        <p:nvSpPr>
          <p:cNvPr id="18" name="TextBox 18"/>
          <p:cNvSpPr txBox="1"/>
          <p:nvPr/>
        </p:nvSpPr>
        <p:spPr>
          <a:xfrm>
            <a:off x="12626035" y="599694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Giới hạn</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9" name="TextBox 19"/>
          <p:cNvSpPr txBox="1"/>
          <p:nvPr/>
        </p:nvSpPr>
        <p:spPr>
          <a:xfrm>
            <a:off x="12626035" y="6673215"/>
            <a:ext cx="4495648" cy="148780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Paper không công bố cách chuẩn hoá đáp án; phép so giả định cách chấm tương đương.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0" name="Group 20"/>
          <p:cNvGrpSpPr/>
          <p:nvPr/>
        </p:nvGrpSpPr>
        <p:grpSpPr>
          <a:xfrm rot="0">
            <a:off x="822960" y="8641080"/>
            <a:ext cx="16641623" cy="685800"/>
            <a:chOff x="0" y="0"/>
            <a:chExt cx="22188830" cy="914400"/>
          </a:xfrm>
        </p:grpSpPr>
        <p:sp>
          <p:nvSpPr>
            <p:cNvPr id="21" name="Freeform 21"/>
            <p:cNvSpPr/>
            <p:nvPr/>
          </p:nvSpPr>
          <p:spPr>
            <a:xfrm>
              <a:off x="0" y="0"/>
              <a:ext cx="22188830" cy="914400"/>
            </a:xfrm>
            <a:custGeom>
              <a:avLst/>
              <a:gdLst/>
              <a:ahLst/>
              <a:cxnLst/>
              <a:rect l="l" t="t" r="r" b="b"/>
              <a:pathLst>
                <a:path w="22188830" h="914400">
                  <a:moveTo>
                    <a:pt x="0" y="0"/>
                  </a:moveTo>
                  <a:lnTo>
                    <a:pt x="22188830" y="0"/>
                  </a:lnTo>
                  <a:lnTo>
                    <a:pt x="22188830" y="914400"/>
                  </a:lnTo>
                  <a:lnTo>
                    <a:pt x="0" y="914400"/>
                  </a:lnTo>
                  <a:close/>
                </a:path>
              </a:pathLst>
            </a:custGeom>
            <a:blipFill>
              <a:blip r:embed="rId1">
                <a:alphaModFix amt="0"/>
              </a:blip>
              <a:stretch>
                <a:fillRect t="-422823" b="-422823"/>
              </a:stretch>
            </a:blipFill>
          </p:spPr>
          <p:txBody>
            <a:bodyPr/>
            <a:p/>
          </p:txBody>
        </p:sp>
        <p:sp>
          <p:nvSpPr>
            <p:cNvPr id="22" name="TextBox 22"/>
            <p:cNvSpPr txBox="1"/>
            <p:nvPr/>
          </p:nvSpPr>
          <p:spPr>
            <a:xfrm>
              <a:off x="0" y="-38100"/>
              <a:ext cx="22188830" cy="952500"/>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[3] Nguyen và cs., ViTextVQA, arXiv:2404.10652, 2024. CI95 = bootstrap ghép cặp, 10.000 lần lấy mẫu, seed 42. Số của nhóm: experiments/W07_B1_zeroshot_…_testfull, W07_B2_eval_…_testfull, W07_fulltest_summary_L4_seed42.</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05 · SOTA SO VỚI NHÓM</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ViTextBLIP-2 làm thế nào — và nhóm khác ở đâu</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1988820"/>
          <a:ext cx="16611600" cy="6172200"/>
        </p:xfrm>
        <a:graphic>
          <a:graphicData uri="http://schemas.openxmlformats.org/drawingml/2006/table">
            <a:tbl>
              <a:tblPr/>
              <a:tblGrid>
                <a:gridCol w="3025761"/>
                <a:gridCol w="6840605"/>
                <a:gridCol w="6745234"/>
              </a:tblGrid>
              <a:tr h="6858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Khía cạnh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ViTextBLIP-2 (SOTA, paper [3])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Nhóm: B2 = Qwen2.5-VL-3B + QLoRA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Thị giác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ViT pretrained, đóng băng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ViT của Qwen2.5-VL (32 khối), đóng băng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Chữ trong ảnh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SwinTextSpotter [4], không fine-tune, bộ ký tự tiếng Việt; token OCR trộn như đặc trưng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Không dùng OCR ngoài — VLM tự đọc chữ từ ảnh (OCR thêm ở B3, slide 34)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Mô hình ngôn ngữ</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ViT5 [5] (T5 tiếng Việt), đóng băng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Decoder Qwen2.5-3B, 36 lớp, 4-bit NF4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Phần được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Q-Former (khởi tạo từ BLIP-2) trộn ảnh, câu hỏi và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LoRA trên q, k, v, o: 7,37 triệu tham số (0,196%)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Xử lý dữ liệu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Sắp chữ OCR trái-trên → phải-dưới (giúp hầu hết model)</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Split chính thức; chuẩn hoá tiếng Việt (NFC, chữ thường, giữ dấu thanh)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Dữ liệu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Toàn bộ train ViTextVQA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Toàn bộ train ViTextVQA, 1 epoch (12,0 h trên 1 L4)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Metric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EM, F1; không công bố cách chuẩn hoá</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EM, ANLS (+ F1 để so); hàm chuẩn hoá công khai trong code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Full test (EM / 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l">
                        <a:lnSpc>
                          <a:spcPts val="2160"/>
                        </a:lnSpc>
                        <a:defRPr/>
                      </a:pPr>
                      <a:r>
                        <a:rPr lang="en-US" sz="1800" b="1">
                          <a:solidFill>
                            <a:srgbClr val="243044"/>
                          </a:solidFill>
                          <a:latin typeface="Calibri (MS) Bold" panose="020F0702030404030204"/>
                          <a:ea typeface="Calibri (MS) Bold" panose="020F0702030404030204"/>
                          <a:cs typeface="Calibri (MS) Bold" panose="020F0702030404030204"/>
                          <a:sym typeface="Calibri (MS) Bold" panose="020F0702030404030204"/>
                        </a:rPr>
                        <a:t>25,48 / 53,95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l">
                        <a:lnSpc>
                          <a:spcPts val="2160"/>
                        </a:lnSpc>
                        <a:defRPr/>
                      </a:pPr>
                      <a:r>
                        <a:rPr lang="en-US" sz="1800" b="1">
                          <a:solidFill>
                            <a:srgbClr val="243044"/>
                          </a:solidFill>
                          <a:latin typeface="Calibri (MS) Bold" panose="020F0702030404030204"/>
                          <a:ea typeface="Calibri (MS) Bold" panose="020F0702030404030204"/>
                          <a:cs typeface="Calibri (MS) Bold" panose="020F0702030404030204"/>
                          <a:sym typeface="Calibri (MS) Bold" panose="020F0702030404030204"/>
                        </a:rPr>
                        <a:t>50,26 / 71,16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grpSp>
        <p:nvGrpSpPr>
          <p:cNvPr id="8" name="Group 8"/>
          <p:cNvGrpSpPr/>
          <p:nvPr/>
        </p:nvGrpSpPr>
        <p:grpSpPr>
          <a:xfrm rot="0">
            <a:off x="822960" y="8641080"/>
            <a:ext cx="16641623" cy="850392"/>
            <a:chOff x="0" y="0"/>
            <a:chExt cx="22188830" cy="1133856"/>
          </a:xfrm>
        </p:grpSpPr>
        <p:sp>
          <p:nvSpPr>
            <p:cNvPr id="9" name="Freeform 9"/>
            <p:cNvSpPr/>
            <p:nvPr/>
          </p:nvSpPr>
          <p:spPr>
            <a:xfrm>
              <a:off x="0" y="0"/>
              <a:ext cx="22188830" cy="1133856"/>
            </a:xfrm>
            <a:custGeom>
              <a:avLst/>
              <a:gdLst/>
              <a:ahLst/>
              <a:cxnLst/>
              <a:rect l="l" t="t" r="r" b="b"/>
              <a:pathLst>
                <a:path w="22188830" h="1133856">
                  <a:moveTo>
                    <a:pt x="0" y="0"/>
                  </a:moveTo>
                  <a:lnTo>
                    <a:pt x="22188830" y="0"/>
                  </a:lnTo>
                  <a:lnTo>
                    <a:pt x="22188830" y="1133856"/>
                  </a:lnTo>
                  <a:lnTo>
                    <a:pt x="0" y="1133856"/>
                  </a:lnTo>
                  <a:close/>
                </a:path>
              </a:pathLst>
            </a:custGeom>
            <a:blipFill>
              <a:blip r:embed="rId1">
                <a:alphaModFix amt="0"/>
              </a:blip>
              <a:stretch>
                <a:fillRect t="-331309" b="-331309"/>
              </a:stretch>
            </a:blipFill>
          </p:spPr>
          <p:txBody>
            <a:bodyPr/>
            <a:p/>
          </p:txBody>
        </p:sp>
        <p:sp>
          <p:nvSpPr>
            <p:cNvPr id="10" name="TextBox 10"/>
            <p:cNvSpPr txBox="1"/>
            <p:nvPr/>
          </p:nvSpPr>
          <p:spPr>
            <a:xfrm>
              <a:off x="0" y="-38100"/>
              <a:ext cx="22188830" cy="1171956"/>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[3] Nguyen và cs., ViTextVQA, arXiv:2404.10652, 2024 (bản mở rộng ESWA 2025) · [4] Huang và cs., SwinTextSpotter, CVPR 2022 · [5] Phan và cs., ViT5, NAACL SRW 2022. Lưu ý: số 25,48 / 53,95 của paper nằm ở cột “OCR confidence” trong Table 10; bảng ablation báo 24,83 / 52,51 cho model đầy đủ.</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06 · PHÂN TÍCH LỖI B2</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B2 còn sai ở đâu</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pic>
        <p:nvPicPr>
          <p:cNvPr id="7" name="Picture 7"/>
          <p:cNvPicPr>
            <a:picLocks noChangeAspect="1"/>
          </p:cNvPicPr>
          <p:nvPr/>
        </p:nvPicPr>
        <p:blipFill>
          <a:blip r:embed="rId2"/>
          <a:stretch>
            <a:fillRect/>
          </a:stretch>
        </p:blipFill>
        <p:spPr>
          <a:xfrm>
            <a:off x="-137160" y="1028700"/>
            <a:ext cx="11521440" cy="6103620"/>
          </a:xfrm>
          <a:prstGeom prst="rect">
            <a:avLst/>
          </a:prstGeom>
        </p:spPr>
      </p:pic>
      <p:graphicFrame>
        <p:nvGraphicFramePr>
          <p:cNvPr id="8" name="Table 8"/>
          <p:cNvGraphicFramePr>
            <a:graphicFrameLocks noGrp="1"/>
          </p:cNvGraphicFramePr>
          <p:nvPr/>
        </p:nvGraphicFramePr>
        <p:xfrm>
          <a:off x="822960" y="6336792"/>
          <a:ext cx="9582150" cy="2362200"/>
        </p:xfrm>
        <a:graphic>
          <a:graphicData uri="http://schemas.openxmlformats.org/drawingml/2006/table">
            <a:tbl>
              <a:tblPr/>
              <a:tblGrid>
                <a:gridCol w="2470442"/>
                <a:gridCol w="3352339"/>
                <a:gridCol w="3759369"/>
              </a:tblGrid>
              <a:tr h="59055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Nhóm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B2 trả lời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Gold</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9055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dấu thanh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đặng việt thủy</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đặng việt thúy</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9055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lệch ký tự</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372 . 568 . 177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372 . 566 . 177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9055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thiếu chữ</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nhân dân quận 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ủy ban nhân dân quận 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9" name="Group 9"/>
          <p:cNvGrpSpPr/>
          <p:nvPr/>
        </p:nvGrpSpPr>
        <p:grpSpPr>
          <a:xfrm rot="0">
            <a:off x="10963275" y="2047875"/>
            <a:ext cx="6510833" cy="6808470"/>
            <a:chOff x="0" y="0"/>
            <a:chExt cx="8681110" cy="9077960"/>
          </a:xfrm>
        </p:grpSpPr>
        <p:sp>
          <p:nvSpPr>
            <p:cNvPr id="10" name="Freeform 10"/>
            <p:cNvSpPr/>
            <p:nvPr/>
          </p:nvSpPr>
          <p:spPr>
            <a:xfrm>
              <a:off x="0" y="0"/>
              <a:ext cx="8681085" cy="9077960"/>
            </a:xfrm>
            <a:custGeom>
              <a:avLst/>
              <a:gdLst/>
              <a:ahLst/>
              <a:cxnLst/>
              <a:rect l="l" t="t" r="r" b="b"/>
              <a:pathLst>
                <a:path w="8681085" h="9077960">
                  <a:moveTo>
                    <a:pt x="0" y="146685"/>
                  </a:moveTo>
                  <a:cubicBezTo>
                    <a:pt x="0" y="65659"/>
                    <a:pt x="65659" y="0"/>
                    <a:pt x="146685" y="0"/>
                  </a:cubicBezTo>
                  <a:lnTo>
                    <a:pt x="8534400" y="0"/>
                  </a:lnTo>
                  <a:cubicBezTo>
                    <a:pt x="8615426" y="0"/>
                    <a:pt x="8681085" y="65659"/>
                    <a:pt x="8681085" y="146685"/>
                  </a:cubicBezTo>
                  <a:lnTo>
                    <a:pt x="8681085" y="8931275"/>
                  </a:lnTo>
                  <a:cubicBezTo>
                    <a:pt x="8681085" y="9012301"/>
                    <a:pt x="8615426" y="9077960"/>
                    <a:pt x="8534400" y="9077960"/>
                  </a:cubicBezTo>
                  <a:lnTo>
                    <a:pt x="146685" y="9077960"/>
                  </a:lnTo>
                  <a:cubicBezTo>
                    <a:pt x="65659" y="9077960"/>
                    <a:pt x="0" y="9012301"/>
                    <a:pt x="0" y="8931275"/>
                  </a:cubicBezTo>
                  <a:close/>
                </a:path>
              </a:pathLst>
            </a:custGeom>
            <a:solidFill>
              <a:srgbClr val="F3F5F8"/>
            </a:solidFill>
            <a:ln w="19050" cap="sq">
              <a:solidFill>
                <a:srgbClr val="F3F5F8"/>
              </a:solidFill>
              <a:prstDash val="solid"/>
              <a:miter/>
            </a:ln>
          </p:spPr>
          <p:txBody>
            <a:bodyPr/>
            <a:p/>
          </p:txBody>
        </p:sp>
      </p:grpSp>
      <p:sp>
        <p:nvSpPr>
          <p:cNvPr id="11" name="TextBox 11"/>
          <p:cNvSpPr txBox="1"/>
          <p:nvPr/>
        </p:nvSpPr>
        <p:spPr>
          <a:xfrm>
            <a:off x="11384280" y="2225040"/>
            <a:ext cx="5668823" cy="106680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Duyệt tay 200 lỗi B2 (đã phân xử)</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2" name="TextBox 12"/>
          <p:cNvSpPr txBox="1"/>
          <p:nvPr/>
        </p:nvSpPr>
        <p:spPr>
          <a:xfrm>
            <a:off x="11384280" y="3244215"/>
            <a:ext cx="5668823" cy="5465445"/>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54% thực ra đúng ý: EM quá khắt khe (ViVQA 62%, ViTextVQA 46%)</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Gold nhiễu: 12,5% (ViVQA 19%)</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Lỗi thật ở ViTextVQA: đọc sai chữ 28%, nhầm vùng chữ 23%, dấu thanh 8%</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Hallucination (không có trong ảnh): 7% số lỗi (CI95 4–11%)</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 người + nhãn gợi ý của AI; κ = 0,62 (2 người độc lập); bỏ 42 dòng có AI hỗ trợ, kết luận không đổi</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3" name="Group 13"/>
          <p:cNvGrpSpPr/>
          <p:nvPr/>
        </p:nvGrpSpPr>
        <p:grpSpPr>
          <a:xfrm rot="0">
            <a:off x="822960" y="8778240"/>
            <a:ext cx="16641623" cy="754380"/>
            <a:chOff x="0" y="0"/>
            <a:chExt cx="22188830" cy="1005840"/>
          </a:xfrm>
        </p:grpSpPr>
        <p:sp>
          <p:nvSpPr>
            <p:cNvPr id="14" name="Freeform 14"/>
            <p:cNvSpPr/>
            <p:nvPr/>
          </p:nvSpPr>
          <p:spPr>
            <a:xfrm>
              <a:off x="0" y="0"/>
              <a:ext cx="22188830" cy="1005840"/>
            </a:xfrm>
            <a:custGeom>
              <a:avLst/>
              <a:gdLst/>
              <a:ahLst/>
              <a:cxnLst/>
              <a:rect l="l" t="t" r="r" b="b"/>
              <a:pathLst>
                <a:path w="22188830" h="1005840">
                  <a:moveTo>
                    <a:pt x="0" y="0"/>
                  </a:moveTo>
                  <a:lnTo>
                    <a:pt x="22188830" y="0"/>
                  </a:lnTo>
                  <a:lnTo>
                    <a:pt x="22188830" y="1005840"/>
                  </a:lnTo>
                  <a:lnTo>
                    <a:pt x="0" y="1005840"/>
                  </a:lnTo>
                  <a:close/>
                </a:path>
              </a:pathLst>
            </a:custGeom>
            <a:blipFill>
              <a:blip r:embed="rId1">
                <a:alphaModFix amt="0"/>
              </a:blip>
              <a:stretch>
                <a:fillRect t="-379839" b="-379839"/>
              </a:stretch>
            </a:blipFill>
          </p:spPr>
          <p:txBody>
            <a:bodyPr/>
            <a:p/>
          </p:txBody>
        </p:sp>
        <p:sp>
          <p:nvSpPr>
            <p:cNvPr id="15" name="TextBox 15"/>
            <p:cNvSpPr txBox="1"/>
            <p:nvPr/>
          </p:nvSpPr>
          <p:spPr>
            <a:xfrm>
              <a:off x="0" y="-38100"/>
              <a:ext cx="22188830" cy="1043940"/>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Nguồn — phân loại tự động: python -m src.eval.answer_format --buckets trên experiments/W07_B2_eval_qlora_r16_ep1_vitextvqa_testfull_… (4.988 = 10.028 − 5.040 câu đúng). Duyệt tay: docs/W07/audit/W07_error_audit_final.json (nhãn ở docs/W07/audit/labels/, tính bằng compute_error_audit.py).</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07 · PHƯƠNG PHÁP ĐỀ XUẤT (B3)</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QLoRA nhận biết OCR: dạy model dùng văn bản OCR</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116455"/>
            <a:ext cx="2996241" cy="1802130"/>
            <a:chOff x="0" y="0"/>
            <a:chExt cx="3994988" cy="2402840"/>
          </a:xfrm>
        </p:grpSpPr>
        <p:sp>
          <p:nvSpPr>
            <p:cNvPr id="8" name="Freeform 8"/>
            <p:cNvSpPr/>
            <p:nvPr/>
          </p:nvSpPr>
          <p:spPr>
            <a:xfrm>
              <a:off x="0" y="0"/>
              <a:ext cx="3994912" cy="2402840"/>
            </a:xfrm>
            <a:custGeom>
              <a:avLst/>
              <a:gdLst/>
              <a:ahLst/>
              <a:cxnLst/>
              <a:rect l="l" t="t" r="r" b="b"/>
              <a:pathLst>
                <a:path w="3994912" h="2402840">
                  <a:moveTo>
                    <a:pt x="0" y="147828"/>
                  </a:moveTo>
                  <a:cubicBezTo>
                    <a:pt x="0" y="66167"/>
                    <a:pt x="66167" y="0"/>
                    <a:pt x="147828" y="0"/>
                  </a:cubicBezTo>
                  <a:lnTo>
                    <a:pt x="3847084" y="0"/>
                  </a:lnTo>
                  <a:cubicBezTo>
                    <a:pt x="3928745" y="0"/>
                    <a:pt x="3994912" y="66167"/>
                    <a:pt x="3994912" y="147828"/>
                  </a:cubicBezTo>
                  <a:lnTo>
                    <a:pt x="3994912" y="2255012"/>
                  </a:lnTo>
                  <a:cubicBezTo>
                    <a:pt x="3994912" y="2336673"/>
                    <a:pt x="3928745" y="2402840"/>
                    <a:pt x="3847084" y="2402840"/>
                  </a:cubicBezTo>
                  <a:lnTo>
                    <a:pt x="147828" y="2402840"/>
                  </a:lnTo>
                  <a:cubicBezTo>
                    <a:pt x="66167" y="2402840"/>
                    <a:pt x="0" y="2336673"/>
                    <a:pt x="0" y="2255012"/>
                  </a:cubicBezTo>
                  <a:close/>
                </a:path>
              </a:pathLst>
            </a:custGeom>
            <a:solidFill>
              <a:srgbClr val="F3F5F8"/>
            </a:solidFill>
            <a:ln w="19050" cap="sq">
              <a:solidFill>
                <a:srgbClr val="F3F5F8"/>
              </a:solidFill>
              <a:prstDash val="solid"/>
              <a:miter/>
            </a:ln>
          </p:spPr>
          <p:txBody>
            <a:bodyPr/>
            <a:p/>
          </p:txBody>
        </p:sp>
      </p:grpSp>
      <p:sp>
        <p:nvSpPr>
          <p:cNvPr id="9" name="TextBox 9"/>
          <p:cNvSpPr txBox="1"/>
          <p:nvPr/>
        </p:nvSpPr>
        <p:spPr>
          <a:xfrm>
            <a:off x="960120" y="2233422"/>
            <a:ext cx="2702871" cy="6332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Ảnh</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1028700" y="2938272"/>
            <a:ext cx="2565711" cy="8610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chữ trong ảnh</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1" name="Group 11"/>
          <p:cNvGrpSpPr/>
          <p:nvPr/>
        </p:nvGrpSpPr>
        <p:grpSpPr>
          <a:xfrm rot="0">
            <a:off x="3859206" y="2857119"/>
            <a:ext cx="320802" cy="320802"/>
            <a:chOff x="0" y="0"/>
            <a:chExt cx="427736" cy="427736"/>
          </a:xfrm>
        </p:grpSpPr>
        <p:sp>
          <p:nvSpPr>
            <p:cNvPr id="12" name="Freeform 12"/>
            <p:cNvSpPr/>
            <p:nvPr/>
          </p:nvSpPr>
          <p:spPr>
            <a:xfrm>
              <a:off x="0" y="0"/>
              <a:ext cx="427736" cy="427736"/>
            </a:xfrm>
            <a:custGeom>
              <a:avLst/>
              <a:gdLst/>
              <a:ahLst/>
              <a:cxnLst/>
              <a:rect l="l" t="t" r="r" b="b"/>
              <a:pathLst>
                <a:path w="427736" h="427736">
                  <a:moveTo>
                    <a:pt x="0" y="106934"/>
                  </a:moveTo>
                  <a:lnTo>
                    <a:pt x="213868" y="106934"/>
                  </a:lnTo>
                  <a:lnTo>
                    <a:pt x="213868" y="0"/>
                  </a:lnTo>
                  <a:lnTo>
                    <a:pt x="427736" y="213868"/>
                  </a:lnTo>
                  <a:lnTo>
                    <a:pt x="213868" y="427736"/>
                  </a:lnTo>
                  <a:lnTo>
                    <a:pt x="213868" y="320802"/>
                  </a:lnTo>
                  <a:lnTo>
                    <a:pt x="0" y="320802"/>
                  </a:lnTo>
                  <a:close/>
                </a:path>
              </a:pathLst>
            </a:custGeom>
            <a:solidFill>
              <a:srgbClr val="6B7280"/>
            </a:solidFill>
            <a:ln w="19050" cap="sq">
              <a:solidFill>
                <a:srgbClr val="6B7280"/>
              </a:solidFill>
              <a:prstDash val="solid"/>
              <a:miter/>
            </a:ln>
          </p:spPr>
          <p:txBody>
            <a:bodyPr/>
            <a:p/>
          </p:txBody>
        </p:sp>
      </p:grpSp>
      <p:grpSp>
        <p:nvGrpSpPr>
          <p:cNvPr id="13" name="Group 13"/>
          <p:cNvGrpSpPr/>
          <p:nvPr/>
        </p:nvGrpSpPr>
        <p:grpSpPr>
          <a:xfrm rot="0">
            <a:off x="4229538" y="2116455"/>
            <a:ext cx="2996241" cy="1802130"/>
            <a:chOff x="0" y="0"/>
            <a:chExt cx="3994988" cy="2402840"/>
          </a:xfrm>
        </p:grpSpPr>
        <p:sp>
          <p:nvSpPr>
            <p:cNvPr id="14" name="Freeform 14"/>
            <p:cNvSpPr/>
            <p:nvPr/>
          </p:nvSpPr>
          <p:spPr>
            <a:xfrm>
              <a:off x="0" y="0"/>
              <a:ext cx="3994912" cy="2402840"/>
            </a:xfrm>
            <a:custGeom>
              <a:avLst/>
              <a:gdLst/>
              <a:ahLst/>
              <a:cxnLst/>
              <a:rect l="l" t="t" r="r" b="b"/>
              <a:pathLst>
                <a:path w="3994912" h="2402840">
                  <a:moveTo>
                    <a:pt x="0" y="147828"/>
                  </a:moveTo>
                  <a:cubicBezTo>
                    <a:pt x="0" y="66167"/>
                    <a:pt x="66167" y="0"/>
                    <a:pt x="147828" y="0"/>
                  </a:cubicBezTo>
                  <a:lnTo>
                    <a:pt x="3847084" y="0"/>
                  </a:lnTo>
                  <a:cubicBezTo>
                    <a:pt x="3928745" y="0"/>
                    <a:pt x="3994912" y="66167"/>
                    <a:pt x="3994912" y="147828"/>
                  </a:cubicBezTo>
                  <a:lnTo>
                    <a:pt x="3994912" y="2255012"/>
                  </a:lnTo>
                  <a:cubicBezTo>
                    <a:pt x="3994912" y="2336673"/>
                    <a:pt x="3928745" y="2402840"/>
                    <a:pt x="3847084" y="2402840"/>
                  </a:cubicBezTo>
                  <a:lnTo>
                    <a:pt x="147828" y="2402840"/>
                  </a:lnTo>
                  <a:cubicBezTo>
                    <a:pt x="66167" y="2402840"/>
                    <a:pt x="0" y="2336673"/>
                    <a:pt x="0" y="2255012"/>
                  </a:cubicBezTo>
                  <a:close/>
                </a:path>
              </a:pathLst>
            </a:custGeom>
            <a:solidFill>
              <a:srgbClr val="F3F5F8"/>
            </a:solidFill>
            <a:ln w="19050" cap="sq">
              <a:solidFill>
                <a:srgbClr val="F3F5F8"/>
              </a:solidFill>
              <a:prstDash val="solid"/>
              <a:miter/>
            </a:ln>
          </p:spPr>
          <p:txBody>
            <a:bodyPr/>
            <a:p/>
          </p:txBody>
        </p:sp>
      </p:grpSp>
      <p:sp>
        <p:nvSpPr>
          <p:cNvPr id="15" name="TextBox 15"/>
          <p:cNvSpPr txBox="1"/>
          <p:nvPr/>
        </p:nvSpPr>
        <p:spPr>
          <a:xfrm>
            <a:off x="4376223" y="2233422"/>
            <a:ext cx="2702871" cy="6332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PaddleOCR</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6" name="TextBox 16"/>
          <p:cNvSpPr txBox="1"/>
          <p:nvPr/>
        </p:nvSpPr>
        <p:spPr>
          <a:xfrm>
            <a:off x="4444803" y="2938272"/>
            <a:ext cx="2565711" cy="8610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dò dòng chữ</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7" name="Group 17"/>
          <p:cNvGrpSpPr/>
          <p:nvPr/>
        </p:nvGrpSpPr>
        <p:grpSpPr>
          <a:xfrm rot="0">
            <a:off x="7275319" y="2857119"/>
            <a:ext cx="320802" cy="320802"/>
            <a:chOff x="0" y="0"/>
            <a:chExt cx="427736" cy="427736"/>
          </a:xfrm>
        </p:grpSpPr>
        <p:sp>
          <p:nvSpPr>
            <p:cNvPr id="18" name="Freeform 18"/>
            <p:cNvSpPr/>
            <p:nvPr/>
          </p:nvSpPr>
          <p:spPr>
            <a:xfrm>
              <a:off x="0" y="0"/>
              <a:ext cx="427736" cy="427736"/>
            </a:xfrm>
            <a:custGeom>
              <a:avLst/>
              <a:gdLst/>
              <a:ahLst/>
              <a:cxnLst/>
              <a:rect l="l" t="t" r="r" b="b"/>
              <a:pathLst>
                <a:path w="427736" h="427736">
                  <a:moveTo>
                    <a:pt x="0" y="106934"/>
                  </a:moveTo>
                  <a:lnTo>
                    <a:pt x="213868" y="106934"/>
                  </a:lnTo>
                  <a:lnTo>
                    <a:pt x="213868" y="0"/>
                  </a:lnTo>
                  <a:lnTo>
                    <a:pt x="427736" y="213868"/>
                  </a:lnTo>
                  <a:lnTo>
                    <a:pt x="213868" y="427736"/>
                  </a:lnTo>
                  <a:lnTo>
                    <a:pt x="213868" y="320802"/>
                  </a:lnTo>
                  <a:lnTo>
                    <a:pt x="0" y="320802"/>
                  </a:lnTo>
                  <a:close/>
                </a:path>
              </a:pathLst>
            </a:custGeom>
            <a:solidFill>
              <a:srgbClr val="6B7280"/>
            </a:solidFill>
            <a:ln w="19050" cap="sq">
              <a:solidFill>
                <a:srgbClr val="6B7280"/>
              </a:solidFill>
              <a:prstDash val="solid"/>
              <a:miter/>
            </a:ln>
          </p:spPr>
          <p:txBody>
            <a:bodyPr/>
            <a:p/>
          </p:txBody>
        </p:sp>
      </p:grpSp>
      <p:grpSp>
        <p:nvGrpSpPr>
          <p:cNvPr id="19" name="Group 19"/>
          <p:cNvGrpSpPr/>
          <p:nvPr/>
        </p:nvGrpSpPr>
        <p:grpSpPr>
          <a:xfrm rot="0">
            <a:off x="7645651" y="2116455"/>
            <a:ext cx="2996241" cy="1802130"/>
            <a:chOff x="0" y="0"/>
            <a:chExt cx="3994988" cy="2402840"/>
          </a:xfrm>
        </p:grpSpPr>
        <p:sp>
          <p:nvSpPr>
            <p:cNvPr id="20" name="Freeform 20"/>
            <p:cNvSpPr/>
            <p:nvPr/>
          </p:nvSpPr>
          <p:spPr>
            <a:xfrm>
              <a:off x="0" y="0"/>
              <a:ext cx="3994912" cy="2402840"/>
            </a:xfrm>
            <a:custGeom>
              <a:avLst/>
              <a:gdLst/>
              <a:ahLst/>
              <a:cxnLst/>
              <a:rect l="l" t="t" r="r" b="b"/>
              <a:pathLst>
                <a:path w="3994912" h="2402840">
                  <a:moveTo>
                    <a:pt x="0" y="147828"/>
                  </a:moveTo>
                  <a:cubicBezTo>
                    <a:pt x="0" y="66167"/>
                    <a:pt x="66167" y="0"/>
                    <a:pt x="147828" y="0"/>
                  </a:cubicBezTo>
                  <a:lnTo>
                    <a:pt x="3847084" y="0"/>
                  </a:lnTo>
                  <a:cubicBezTo>
                    <a:pt x="3928745" y="0"/>
                    <a:pt x="3994912" y="66167"/>
                    <a:pt x="3994912" y="147828"/>
                  </a:cubicBezTo>
                  <a:lnTo>
                    <a:pt x="3994912" y="2255012"/>
                  </a:lnTo>
                  <a:cubicBezTo>
                    <a:pt x="3994912" y="2336673"/>
                    <a:pt x="3928745" y="2402840"/>
                    <a:pt x="3847084" y="2402840"/>
                  </a:cubicBezTo>
                  <a:lnTo>
                    <a:pt x="147828" y="2402840"/>
                  </a:lnTo>
                  <a:cubicBezTo>
                    <a:pt x="66167" y="2402840"/>
                    <a:pt x="0" y="2336673"/>
                    <a:pt x="0" y="2255012"/>
                  </a:cubicBezTo>
                  <a:close/>
                </a:path>
              </a:pathLst>
            </a:custGeom>
            <a:solidFill>
              <a:srgbClr val="F3F5F8"/>
            </a:solidFill>
            <a:ln w="19050" cap="sq">
              <a:solidFill>
                <a:srgbClr val="F3F5F8"/>
              </a:solidFill>
              <a:prstDash val="solid"/>
              <a:miter/>
            </a:ln>
          </p:spPr>
          <p:txBody>
            <a:bodyPr/>
            <a:p/>
          </p:txBody>
        </p:sp>
      </p:grpSp>
      <p:sp>
        <p:nvSpPr>
          <p:cNvPr id="21" name="TextBox 21"/>
          <p:cNvSpPr txBox="1"/>
          <p:nvPr/>
        </p:nvSpPr>
        <p:spPr>
          <a:xfrm>
            <a:off x="7792336" y="2233422"/>
            <a:ext cx="2702871" cy="6332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VietOCR</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2" name="TextBox 22"/>
          <p:cNvSpPr txBox="1"/>
          <p:nvPr/>
        </p:nvSpPr>
        <p:spPr>
          <a:xfrm>
            <a:off x="7860916" y="2938272"/>
            <a:ext cx="2565711" cy="8610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đọc tiếng Việt, giữ dấu</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10691422" y="2857119"/>
            <a:ext cx="320802" cy="320802"/>
            <a:chOff x="0" y="0"/>
            <a:chExt cx="427736" cy="427736"/>
          </a:xfrm>
        </p:grpSpPr>
        <p:sp>
          <p:nvSpPr>
            <p:cNvPr id="24" name="Freeform 24"/>
            <p:cNvSpPr/>
            <p:nvPr/>
          </p:nvSpPr>
          <p:spPr>
            <a:xfrm>
              <a:off x="0" y="0"/>
              <a:ext cx="427736" cy="427736"/>
            </a:xfrm>
            <a:custGeom>
              <a:avLst/>
              <a:gdLst/>
              <a:ahLst/>
              <a:cxnLst/>
              <a:rect l="l" t="t" r="r" b="b"/>
              <a:pathLst>
                <a:path w="427736" h="427736">
                  <a:moveTo>
                    <a:pt x="0" y="106934"/>
                  </a:moveTo>
                  <a:lnTo>
                    <a:pt x="213868" y="106934"/>
                  </a:lnTo>
                  <a:lnTo>
                    <a:pt x="213868" y="0"/>
                  </a:lnTo>
                  <a:lnTo>
                    <a:pt x="427736" y="213868"/>
                  </a:lnTo>
                  <a:lnTo>
                    <a:pt x="213868" y="427736"/>
                  </a:lnTo>
                  <a:lnTo>
                    <a:pt x="213868" y="320802"/>
                  </a:lnTo>
                  <a:lnTo>
                    <a:pt x="0" y="320802"/>
                  </a:lnTo>
                  <a:close/>
                </a:path>
              </a:pathLst>
            </a:custGeom>
            <a:solidFill>
              <a:srgbClr val="6B7280"/>
            </a:solidFill>
            <a:ln w="19050" cap="sq">
              <a:solidFill>
                <a:srgbClr val="6B7280"/>
              </a:solidFill>
              <a:prstDash val="solid"/>
              <a:miter/>
            </a:ln>
          </p:spPr>
          <p:txBody>
            <a:bodyPr/>
            <a:p/>
          </p:txBody>
        </p:sp>
      </p:grpSp>
      <p:grpSp>
        <p:nvGrpSpPr>
          <p:cNvPr id="25" name="Group 25"/>
          <p:cNvGrpSpPr/>
          <p:nvPr/>
        </p:nvGrpSpPr>
        <p:grpSpPr>
          <a:xfrm rot="0">
            <a:off x="11061754" y="2116455"/>
            <a:ext cx="2996241" cy="1802130"/>
            <a:chOff x="0" y="0"/>
            <a:chExt cx="3994988" cy="2402840"/>
          </a:xfrm>
        </p:grpSpPr>
        <p:sp>
          <p:nvSpPr>
            <p:cNvPr id="26" name="Freeform 26"/>
            <p:cNvSpPr/>
            <p:nvPr/>
          </p:nvSpPr>
          <p:spPr>
            <a:xfrm>
              <a:off x="0" y="0"/>
              <a:ext cx="3994912" cy="2402840"/>
            </a:xfrm>
            <a:custGeom>
              <a:avLst/>
              <a:gdLst/>
              <a:ahLst/>
              <a:cxnLst/>
              <a:rect l="l" t="t" r="r" b="b"/>
              <a:pathLst>
                <a:path w="3994912" h="2402840">
                  <a:moveTo>
                    <a:pt x="0" y="147828"/>
                  </a:moveTo>
                  <a:cubicBezTo>
                    <a:pt x="0" y="66167"/>
                    <a:pt x="66167" y="0"/>
                    <a:pt x="147828" y="0"/>
                  </a:cubicBezTo>
                  <a:lnTo>
                    <a:pt x="3847084" y="0"/>
                  </a:lnTo>
                  <a:cubicBezTo>
                    <a:pt x="3928745" y="0"/>
                    <a:pt x="3994912" y="66167"/>
                    <a:pt x="3994912" y="147828"/>
                  </a:cubicBezTo>
                  <a:lnTo>
                    <a:pt x="3994912" y="2255012"/>
                  </a:lnTo>
                  <a:cubicBezTo>
                    <a:pt x="3994912" y="2336673"/>
                    <a:pt x="3928745" y="2402840"/>
                    <a:pt x="3847084" y="2402840"/>
                  </a:cubicBezTo>
                  <a:lnTo>
                    <a:pt x="147828" y="2402840"/>
                  </a:lnTo>
                  <a:cubicBezTo>
                    <a:pt x="66167" y="2402840"/>
                    <a:pt x="0" y="2336673"/>
                    <a:pt x="0" y="2255012"/>
                  </a:cubicBezTo>
                  <a:close/>
                </a:path>
              </a:pathLst>
            </a:custGeom>
            <a:solidFill>
              <a:srgbClr val="E7F0F3"/>
            </a:solidFill>
            <a:ln w="19050" cap="sq">
              <a:solidFill>
                <a:srgbClr val="E7F0F3"/>
              </a:solidFill>
              <a:prstDash val="solid"/>
              <a:miter/>
            </a:ln>
          </p:spPr>
          <p:txBody>
            <a:bodyPr/>
            <a:p/>
          </p:txBody>
        </p:sp>
      </p:grpSp>
      <p:sp>
        <p:nvSpPr>
          <p:cNvPr id="27" name="TextBox 27"/>
          <p:cNvSpPr txBox="1"/>
          <p:nvPr/>
        </p:nvSpPr>
        <p:spPr>
          <a:xfrm>
            <a:off x="11208439" y="2233422"/>
            <a:ext cx="2702871" cy="6332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Prompt</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8" name="TextBox 28"/>
          <p:cNvSpPr txBox="1"/>
          <p:nvPr/>
        </p:nvSpPr>
        <p:spPr>
          <a:xfrm>
            <a:off x="11277019" y="2938272"/>
            <a:ext cx="2565711" cy="8610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1 dòng OCR + câu hỏi</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9" name="Group 29"/>
          <p:cNvGrpSpPr/>
          <p:nvPr/>
        </p:nvGrpSpPr>
        <p:grpSpPr>
          <a:xfrm rot="0">
            <a:off x="14107535" y="2857119"/>
            <a:ext cx="320802" cy="320802"/>
            <a:chOff x="0" y="0"/>
            <a:chExt cx="427736" cy="427736"/>
          </a:xfrm>
        </p:grpSpPr>
        <p:sp>
          <p:nvSpPr>
            <p:cNvPr id="30" name="Freeform 30"/>
            <p:cNvSpPr/>
            <p:nvPr/>
          </p:nvSpPr>
          <p:spPr>
            <a:xfrm>
              <a:off x="0" y="0"/>
              <a:ext cx="427736" cy="427736"/>
            </a:xfrm>
            <a:custGeom>
              <a:avLst/>
              <a:gdLst/>
              <a:ahLst/>
              <a:cxnLst/>
              <a:rect l="l" t="t" r="r" b="b"/>
              <a:pathLst>
                <a:path w="427736" h="427736">
                  <a:moveTo>
                    <a:pt x="0" y="106934"/>
                  </a:moveTo>
                  <a:lnTo>
                    <a:pt x="213868" y="106934"/>
                  </a:lnTo>
                  <a:lnTo>
                    <a:pt x="213868" y="0"/>
                  </a:lnTo>
                  <a:lnTo>
                    <a:pt x="427736" y="213868"/>
                  </a:lnTo>
                  <a:lnTo>
                    <a:pt x="213868" y="427736"/>
                  </a:lnTo>
                  <a:lnTo>
                    <a:pt x="213868" y="320802"/>
                  </a:lnTo>
                  <a:lnTo>
                    <a:pt x="0" y="320802"/>
                  </a:lnTo>
                  <a:close/>
                </a:path>
              </a:pathLst>
            </a:custGeom>
            <a:solidFill>
              <a:srgbClr val="6B7280"/>
            </a:solidFill>
            <a:ln w="19050" cap="sq">
              <a:solidFill>
                <a:srgbClr val="6B7280"/>
              </a:solidFill>
              <a:prstDash val="solid"/>
              <a:miter/>
            </a:ln>
          </p:spPr>
          <p:txBody>
            <a:bodyPr/>
            <a:p/>
          </p:txBody>
        </p:sp>
      </p:grpSp>
      <p:grpSp>
        <p:nvGrpSpPr>
          <p:cNvPr id="31" name="Group 31"/>
          <p:cNvGrpSpPr/>
          <p:nvPr/>
        </p:nvGrpSpPr>
        <p:grpSpPr>
          <a:xfrm rot="0">
            <a:off x="14477867" y="2116455"/>
            <a:ext cx="2996241" cy="1802130"/>
            <a:chOff x="0" y="0"/>
            <a:chExt cx="3994988" cy="2402840"/>
          </a:xfrm>
        </p:grpSpPr>
        <p:sp>
          <p:nvSpPr>
            <p:cNvPr id="32" name="Freeform 32"/>
            <p:cNvSpPr/>
            <p:nvPr/>
          </p:nvSpPr>
          <p:spPr>
            <a:xfrm>
              <a:off x="0" y="0"/>
              <a:ext cx="3994912" cy="2402840"/>
            </a:xfrm>
            <a:custGeom>
              <a:avLst/>
              <a:gdLst/>
              <a:ahLst/>
              <a:cxnLst/>
              <a:rect l="l" t="t" r="r" b="b"/>
              <a:pathLst>
                <a:path w="3994912" h="2402840">
                  <a:moveTo>
                    <a:pt x="0" y="147828"/>
                  </a:moveTo>
                  <a:cubicBezTo>
                    <a:pt x="0" y="66167"/>
                    <a:pt x="66167" y="0"/>
                    <a:pt x="147828" y="0"/>
                  </a:cubicBezTo>
                  <a:lnTo>
                    <a:pt x="3847084" y="0"/>
                  </a:lnTo>
                  <a:cubicBezTo>
                    <a:pt x="3928745" y="0"/>
                    <a:pt x="3994912" y="66167"/>
                    <a:pt x="3994912" y="147828"/>
                  </a:cubicBezTo>
                  <a:lnTo>
                    <a:pt x="3994912" y="2255012"/>
                  </a:lnTo>
                  <a:cubicBezTo>
                    <a:pt x="3994912" y="2336673"/>
                    <a:pt x="3928745" y="2402840"/>
                    <a:pt x="3847084" y="2402840"/>
                  </a:cubicBezTo>
                  <a:lnTo>
                    <a:pt x="147828" y="2402840"/>
                  </a:lnTo>
                  <a:cubicBezTo>
                    <a:pt x="66167" y="2402840"/>
                    <a:pt x="0" y="2336673"/>
                    <a:pt x="0" y="2255012"/>
                  </a:cubicBezTo>
                  <a:close/>
                </a:path>
              </a:pathLst>
            </a:custGeom>
            <a:solidFill>
              <a:srgbClr val="FBF0DA"/>
            </a:solidFill>
            <a:ln w="19050" cap="sq">
              <a:solidFill>
                <a:srgbClr val="FBF0DA"/>
              </a:solidFill>
              <a:prstDash val="solid"/>
              <a:miter/>
            </a:ln>
          </p:spPr>
          <p:txBody>
            <a:bodyPr/>
            <a:p/>
          </p:txBody>
        </p:sp>
      </p:grpSp>
      <p:sp>
        <p:nvSpPr>
          <p:cNvPr id="33" name="TextBox 33"/>
          <p:cNvSpPr txBox="1"/>
          <p:nvPr/>
        </p:nvSpPr>
        <p:spPr>
          <a:xfrm>
            <a:off x="14624552" y="2233422"/>
            <a:ext cx="2702871" cy="6332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Qwen2.5-VL + LoRA</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4" name="TextBox 34"/>
          <p:cNvSpPr txBox="1"/>
          <p:nvPr/>
        </p:nvSpPr>
        <p:spPr>
          <a:xfrm>
            <a:off x="14693132" y="2938272"/>
            <a:ext cx="2565711" cy="8610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LoRA train cùng dòng OCR</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5" name="Group 35"/>
          <p:cNvGrpSpPr/>
          <p:nvPr/>
        </p:nvGrpSpPr>
        <p:grpSpPr>
          <a:xfrm rot="0">
            <a:off x="813435" y="4242435"/>
            <a:ext cx="16660673" cy="1047750"/>
            <a:chOff x="0" y="0"/>
            <a:chExt cx="22214230" cy="1397000"/>
          </a:xfrm>
        </p:grpSpPr>
        <p:sp>
          <p:nvSpPr>
            <p:cNvPr id="36" name="Freeform 36"/>
            <p:cNvSpPr/>
            <p:nvPr/>
          </p:nvSpPr>
          <p:spPr>
            <a:xfrm>
              <a:off x="0" y="0"/>
              <a:ext cx="22214205" cy="1397000"/>
            </a:xfrm>
            <a:custGeom>
              <a:avLst/>
              <a:gdLst/>
              <a:ahLst/>
              <a:cxnLst/>
              <a:rect l="l" t="t" r="r" b="b"/>
              <a:pathLst>
                <a:path w="22214205" h="1397000">
                  <a:moveTo>
                    <a:pt x="0" y="148971"/>
                  </a:moveTo>
                  <a:cubicBezTo>
                    <a:pt x="0" y="66675"/>
                    <a:pt x="66675" y="0"/>
                    <a:pt x="148971" y="0"/>
                  </a:cubicBezTo>
                  <a:lnTo>
                    <a:pt x="22065235" y="0"/>
                  </a:lnTo>
                  <a:cubicBezTo>
                    <a:pt x="22147530" y="0"/>
                    <a:pt x="22214205" y="66675"/>
                    <a:pt x="22214205" y="148971"/>
                  </a:cubicBezTo>
                  <a:lnTo>
                    <a:pt x="22214205" y="1248029"/>
                  </a:lnTo>
                  <a:cubicBezTo>
                    <a:pt x="22214205" y="1330325"/>
                    <a:pt x="22147530" y="1397000"/>
                    <a:pt x="22065235" y="1397000"/>
                  </a:cubicBezTo>
                  <a:lnTo>
                    <a:pt x="148971" y="1397000"/>
                  </a:lnTo>
                  <a:cubicBezTo>
                    <a:pt x="66675" y="1397000"/>
                    <a:pt x="0" y="1330325"/>
                    <a:pt x="0" y="1248029"/>
                  </a:cubicBezTo>
                  <a:close/>
                </a:path>
              </a:pathLst>
            </a:custGeom>
            <a:solidFill>
              <a:srgbClr val="F3F5F8"/>
            </a:solidFill>
            <a:ln w="19050" cap="sq">
              <a:solidFill>
                <a:srgbClr val="F3F5F8"/>
              </a:solidFill>
              <a:prstDash val="solid"/>
              <a:miter/>
            </a:ln>
          </p:spPr>
          <p:txBody>
            <a:bodyPr/>
            <a:p/>
          </p:txBody>
        </p:sp>
      </p:grpSp>
      <p:grpSp>
        <p:nvGrpSpPr>
          <p:cNvPr id="37" name="Group 37"/>
          <p:cNvGrpSpPr/>
          <p:nvPr/>
        </p:nvGrpSpPr>
        <p:grpSpPr>
          <a:xfrm rot="0">
            <a:off x="1234440" y="4251960"/>
            <a:ext cx="15818663" cy="1028700"/>
            <a:chOff x="0" y="0"/>
            <a:chExt cx="21091550" cy="1371600"/>
          </a:xfrm>
        </p:grpSpPr>
        <p:sp>
          <p:nvSpPr>
            <p:cNvPr id="38" name="Freeform 38"/>
            <p:cNvSpPr/>
            <p:nvPr/>
          </p:nvSpPr>
          <p:spPr>
            <a:xfrm>
              <a:off x="0" y="0"/>
              <a:ext cx="21091550" cy="1371600"/>
            </a:xfrm>
            <a:custGeom>
              <a:avLst/>
              <a:gdLst/>
              <a:ahLst/>
              <a:cxnLst/>
              <a:rect l="l" t="t" r="r" b="b"/>
              <a:pathLst>
                <a:path w="21091550" h="1371600">
                  <a:moveTo>
                    <a:pt x="0" y="0"/>
                  </a:moveTo>
                  <a:lnTo>
                    <a:pt x="21091550" y="0"/>
                  </a:lnTo>
                  <a:lnTo>
                    <a:pt x="21091550" y="1371600"/>
                  </a:lnTo>
                  <a:lnTo>
                    <a:pt x="0" y="1371600"/>
                  </a:lnTo>
                  <a:close/>
                </a:path>
              </a:pathLst>
            </a:custGeom>
            <a:blipFill>
              <a:blip r:embed="rId1">
                <a:alphaModFix amt="0"/>
              </a:blip>
              <a:stretch>
                <a:fillRect t="-249627" b="-249627"/>
              </a:stretch>
            </a:blipFill>
          </p:spPr>
          <p:txBody>
            <a:bodyPr/>
            <a:p/>
          </p:txBody>
        </p:sp>
        <p:sp>
          <p:nvSpPr>
            <p:cNvPr id="39" name="TextBox 39"/>
            <p:cNvSpPr txBox="1"/>
            <p:nvPr/>
          </p:nvSpPr>
          <p:spPr>
            <a:xfrm>
              <a:off x="0" y="-9525"/>
              <a:ext cx="21091550" cy="1381125"/>
            </a:xfrm>
            <a:prstGeom prst="rect">
              <a:avLst/>
            </a:prstGeom>
          </p:spPr>
          <p:txBody>
            <a:bodyPr lIns="0" tIns="0" rIns="0" bIns="0" rtlCol="0" anchor="ctr"/>
            <a:lstStyle/>
            <a:p>
              <a:pPr algn="l">
                <a:lnSpc>
                  <a:spcPts val="2340"/>
                </a:lnSpc>
              </a:pPr>
              <a:r>
                <a:rPr lang="en-US" sz="1950" b="1">
                  <a:solidFill>
                    <a:srgbClr val="13294B"/>
                  </a:solidFill>
                  <a:latin typeface="Courier New Bold" panose="02070609020205020404"/>
                  <a:ea typeface="Courier New Bold" panose="02070609020205020404"/>
                  <a:cs typeface="Courier New Bold" panose="02070609020205020404"/>
                  <a:sym typeface="Courier New Bold" panose="02070609020205020404"/>
                </a:rPr>
                <a:t>Dòng prompt:  </a:t>
              </a:r>
              <a:r>
                <a:rPr lang="en-US" sz="1950">
                  <a:solidFill>
                    <a:srgbClr val="243044"/>
                  </a:solidFill>
                  <a:latin typeface="Courier New" panose="02070309020205020404"/>
                  <a:ea typeface="Courier New" panose="02070309020205020404"/>
                  <a:cs typeface="Courier New" panose="02070309020205020404"/>
                  <a:sym typeface="Courier New" panose="02070309020205020404"/>
                </a:rPr>
                <a:t>Văn bản đọc được trong ảnh: NHÀ THUỐC TÂM AN | 0919 467 868 …   Câu hỏi: tên nhà thuốc là gì?</a:t>
              </a:r>
              <a:endParaRPr lang="en-US" sz="1950">
                <a:solidFill>
                  <a:srgbClr val="243044"/>
                </a:solidFill>
                <a:latin typeface="Courier New" panose="02070309020205020404"/>
                <a:ea typeface="Courier New" panose="02070309020205020404"/>
                <a:cs typeface="Courier New" panose="02070309020205020404"/>
                <a:sym typeface="Courier New" panose="02070309020205020404"/>
              </a:endParaRPr>
            </a:p>
          </p:txBody>
        </p:sp>
      </p:grpSp>
      <p:grpSp>
        <p:nvGrpSpPr>
          <p:cNvPr id="40" name="Group 40"/>
          <p:cNvGrpSpPr/>
          <p:nvPr/>
        </p:nvGrpSpPr>
        <p:grpSpPr>
          <a:xfrm rot="0">
            <a:off x="813435" y="5682615"/>
            <a:ext cx="5200498" cy="3722370"/>
            <a:chOff x="0" y="0"/>
            <a:chExt cx="6933997" cy="4963160"/>
          </a:xfrm>
        </p:grpSpPr>
        <p:sp>
          <p:nvSpPr>
            <p:cNvPr id="41" name="Freeform 41"/>
            <p:cNvSpPr/>
            <p:nvPr/>
          </p:nvSpPr>
          <p:spPr>
            <a:xfrm>
              <a:off x="0" y="0"/>
              <a:ext cx="6933947" cy="4963160"/>
            </a:xfrm>
            <a:custGeom>
              <a:avLst/>
              <a:gdLst/>
              <a:ahLst/>
              <a:cxnLst/>
              <a:rect l="l" t="t" r="r" b="b"/>
              <a:pathLst>
                <a:path w="6933947" h="4963160">
                  <a:moveTo>
                    <a:pt x="0" y="147066"/>
                  </a:moveTo>
                  <a:cubicBezTo>
                    <a:pt x="0" y="65786"/>
                    <a:pt x="65786" y="0"/>
                    <a:pt x="147066" y="0"/>
                  </a:cubicBezTo>
                  <a:lnTo>
                    <a:pt x="6786880" y="0"/>
                  </a:lnTo>
                  <a:cubicBezTo>
                    <a:pt x="6868161" y="0"/>
                    <a:pt x="6933947" y="65786"/>
                    <a:pt x="6933947" y="147066"/>
                  </a:cubicBezTo>
                  <a:lnTo>
                    <a:pt x="6933947" y="4816094"/>
                  </a:lnTo>
                  <a:cubicBezTo>
                    <a:pt x="6933947" y="4897374"/>
                    <a:pt x="6868161" y="4963160"/>
                    <a:pt x="6786880" y="4963160"/>
                  </a:cubicBezTo>
                  <a:lnTo>
                    <a:pt x="147066" y="4963160"/>
                  </a:lnTo>
                  <a:cubicBezTo>
                    <a:pt x="65786" y="4963160"/>
                    <a:pt x="0" y="4897374"/>
                    <a:pt x="0" y="4816094"/>
                  </a:cubicBezTo>
                  <a:close/>
                </a:path>
              </a:pathLst>
            </a:custGeom>
            <a:solidFill>
              <a:srgbClr val="F3F5F8"/>
            </a:solidFill>
            <a:ln w="19050" cap="sq">
              <a:solidFill>
                <a:srgbClr val="F3F5F8"/>
              </a:solidFill>
              <a:prstDash val="solid"/>
              <a:miter/>
            </a:ln>
          </p:spPr>
          <p:txBody>
            <a:bodyPr/>
            <a:p/>
          </p:txBody>
        </p:sp>
      </p:grpSp>
      <p:sp>
        <p:nvSpPr>
          <p:cNvPr id="42" name="TextBox 42"/>
          <p:cNvSpPr txBox="1"/>
          <p:nvPr/>
        </p:nvSpPr>
        <p:spPr>
          <a:xfrm>
            <a:off x="1165860" y="585978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Vì sao OCR</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43" name="TextBox 43"/>
          <p:cNvSpPr txBox="1"/>
          <p:nvPr/>
        </p:nvSpPr>
        <p:spPr>
          <a:xfrm>
            <a:off x="1165860" y="6536055"/>
            <a:ext cx="4495648" cy="2653665"/>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Lỗi thật của B2 ở ViTextVQA: đọc sai chữ 28%, nhầm vùng chữ 23%, sai dấu 8%</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Chữ tiếng Việt trong ảnh là gap nghiên cứu G2</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44" name="Group 44"/>
          <p:cNvGrpSpPr/>
          <p:nvPr/>
        </p:nvGrpSpPr>
        <p:grpSpPr>
          <a:xfrm rot="0">
            <a:off x="6543523" y="5682615"/>
            <a:ext cx="5200498" cy="3722370"/>
            <a:chOff x="0" y="0"/>
            <a:chExt cx="6933997" cy="4963160"/>
          </a:xfrm>
        </p:grpSpPr>
        <p:sp>
          <p:nvSpPr>
            <p:cNvPr id="45" name="Freeform 45"/>
            <p:cNvSpPr/>
            <p:nvPr/>
          </p:nvSpPr>
          <p:spPr>
            <a:xfrm>
              <a:off x="0" y="0"/>
              <a:ext cx="6933947" cy="4963160"/>
            </a:xfrm>
            <a:custGeom>
              <a:avLst/>
              <a:gdLst/>
              <a:ahLst/>
              <a:cxnLst/>
              <a:rect l="l" t="t" r="r" b="b"/>
              <a:pathLst>
                <a:path w="6933947" h="4963160">
                  <a:moveTo>
                    <a:pt x="0" y="147066"/>
                  </a:moveTo>
                  <a:cubicBezTo>
                    <a:pt x="0" y="65786"/>
                    <a:pt x="65786" y="0"/>
                    <a:pt x="147066" y="0"/>
                  </a:cubicBezTo>
                  <a:lnTo>
                    <a:pt x="6786880" y="0"/>
                  </a:lnTo>
                  <a:cubicBezTo>
                    <a:pt x="6868161" y="0"/>
                    <a:pt x="6933947" y="65786"/>
                    <a:pt x="6933947" y="147066"/>
                  </a:cubicBezTo>
                  <a:lnTo>
                    <a:pt x="6933947" y="4816094"/>
                  </a:lnTo>
                  <a:cubicBezTo>
                    <a:pt x="6933947" y="4897374"/>
                    <a:pt x="6868161" y="4963160"/>
                    <a:pt x="6786880" y="4963160"/>
                  </a:cubicBezTo>
                  <a:lnTo>
                    <a:pt x="147066" y="4963160"/>
                  </a:lnTo>
                  <a:cubicBezTo>
                    <a:pt x="65786" y="4963160"/>
                    <a:pt x="0" y="4897374"/>
                    <a:pt x="0" y="4816094"/>
                  </a:cubicBezTo>
                  <a:close/>
                </a:path>
              </a:pathLst>
            </a:custGeom>
            <a:solidFill>
              <a:srgbClr val="F3F5F8"/>
            </a:solidFill>
            <a:ln w="19050" cap="sq">
              <a:solidFill>
                <a:srgbClr val="F3F5F8"/>
              </a:solidFill>
              <a:prstDash val="solid"/>
              <a:miter/>
            </a:ln>
          </p:spPr>
          <p:txBody>
            <a:bodyPr/>
            <a:p/>
          </p:txBody>
        </p:sp>
      </p:grpSp>
      <p:sp>
        <p:nvSpPr>
          <p:cNvPr id="46" name="TextBox 46"/>
          <p:cNvSpPr txBox="1"/>
          <p:nvPr/>
        </p:nvSpPr>
        <p:spPr>
          <a:xfrm>
            <a:off x="6895948" y="585978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Chọn OCR (luật chốt, dev300)</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47" name="TextBox 47"/>
          <p:cNvSpPr txBox="1"/>
          <p:nvPr/>
        </p:nvSpPr>
        <p:spPr>
          <a:xfrm>
            <a:off x="6895948" y="6536055"/>
            <a:ext cx="4495648" cy="2653665"/>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PaddleOCR bản Latin làm rơi dấu: “Kiểu Thẩm” → “Kiu Thm”</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Đáp án nằm trong văn bản OCR: VietOCR 37,7% so với 27,0% (p = 0,0008) → VietOCR</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48" name="Group 48"/>
          <p:cNvGrpSpPr/>
          <p:nvPr/>
        </p:nvGrpSpPr>
        <p:grpSpPr>
          <a:xfrm rot="0">
            <a:off x="12273610" y="5682615"/>
            <a:ext cx="5200498" cy="3722370"/>
            <a:chOff x="0" y="0"/>
            <a:chExt cx="6933997" cy="4963160"/>
          </a:xfrm>
        </p:grpSpPr>
        <p:sp>
          <p:nvSpPr>
            <p:cNvPr id="49" name="Freeform 49"/>
            <p:cNvSpPr/>
            <p:nvPr/>
          </p:nvSpPr>
          <p:spPr>
            <a:xfrm>
              <a:off x="0" y="0"/>
              <a:ext cx="6933947" cy="4963160"/>
            </a:xfrm>
            <a:custGeom>
              <a:avLst/>
              <a:gdLst/>
              <a:ahLst/>
              <a:cxnLst/>
              <a:rect l="l" t="t" r="r" b="b"/>
              <a:pathLst>
                <a:path w="6933947" h="4963160">
                  <a:moveTo>
                    <a:pt x="0" y="147066"/>
                  </a:moveTo>
                  <a:cubicBezTo>
                    <a:pt x="0" y="65786"/>
                    <a:pt x="65786" y="0"/>
                    <a:pt x="147066" y="0"/>
                  </a:cubicBezTo>
                  <a:lnTo>
                    <a:pt x="6786880" y="0"/>
                  </a:lnTo>
                  <a:cubicBezTo>
                    <a:pt x="6868161" y="0"/>
                    <a:pt x="6933947" y="65786"/>
                    <a:pt x="6933947" y="147066"/>
                  </a:cubicBezTo>
                  <a:lnTo>
                    <a:pt x="6933947" y="4816094"/>
                  </a:lnTo>
                  <a:cubicBezTo>
                    <a:pt x="6933947" y="4897374"/>
                    <a:pt x="6868161" y="4963160"/>
                    <a:pt x="6786880" y="4963160"/>
                  </a:cubicBezTo>
                  <a:lnTo>
                    <a:pt x="147066" y="4963160"/>
                  </a:lnTo>
                  <a:cubicBezTo>
                    <a:pt x="65786" y="4963160"/>
                    <a:pt x="0" y="4897374"/>
                    <a:pt x="0" y="4816094"/>
                  </a:cubicBezTo>
                  <a:close/>
                </a:path>
              </a:pathLst>
            </a:custGeom>
            <a:solidFill>
              <a:srgbClr val="E7F0F3"/>
            </a:solidFill>
            <a:ln w="19050" cap="sq">
              <a:solidFill>
                <a:srgbClr val="E7F0F3"/>
              </a:solidFill>
              <a:prstDash val="solid"/>
              <a:miter/>
            </a:ln>
          </p:spPr>
          <p:txBody>
            <a:bodyPr/>
            <a:p/>
          </p:txBody>
        </p:sp>
      </p:grpSp>
      <p:sp>
        <p:nvSpPr>
          <p:cNvPr id="50" name="TextBox 50"/>
          <p:cNvSpPr txBox="1"/>
          <p:nvPr/>
        </p:nvSpPr>
        <p:spPr>
          <a:xfrm>
            <a:off x="12626035" y="585978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Train gì</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1" name="TextBox 51"/>
          <p:cNvSpPr txBox="1"/>
          <p:nvPr/>
        </p:nvSpPr>
        <p:spPr>
          <a:xfrm>
            <a:off x="12626035" y="6536055"/>
            <a:ext cx="4495648" cy="2653665"/>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QLoRA y hệt B2 (r = 16, 0,196% tham số); chỉ thêm dòng OCR vào prompt</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Phép thử có kiểm soát: tập con 8.000 câu, B3 so với B2-sub (cùng tập, không OCR)</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08 · ABLATION: OCR LÚC TRAIN × OCR LÚC TEST</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OCR chỉ giúp khi model được train cùng OCR</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7" name="TextBox 7"/>
          <p:cNvSpPr txBox="1"/>
          <p:nvPr/>
        </p:nvSpPr>
        <p:spPr>
          <a:xfrm>
            <a:off x="3497580" y="2009775"/>
            <a:ext cx="3360420" cy="596265"/>
          </a:xfrm>
          <a:prstGeom prst="rect">
            <a:avLst/>
          </a:prstGeom>
        </p:spPr>
        <p:txBody>
          <a:bodyPr lIns="0" tIns="0" rIns="0" bIns="0" rtlCol="0" anchor="t">
            <a:spAutoFit/>
          </a:bodyPr>
          <a:lstStyle/>
          <a:p>
            <a:pPr algn="ctr">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Test không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8" name="TextBox 8"/>
          <p:cNvSpPr txBox="1"/>
          <p:nvPr/>
        </p:nvSpPr>
        <p:spPr>
          <a:xfrm>
            <a:off x="7063740" y="2009775"/>
            <a:ext cx="3360420" cy="596265"/>
          </a:xfrm>
          <a:prstGeom prst="rect">
            <a:avLst/>
          </a:prstGeom>
        </p:spPr>
        <p:txBody>
          <a:bodyPr lIns="0" tIns="0" rIns="0" bIns="0" rtlCol="0" anchor="t">
            <a:spAutoFit/>
          </a:bodyPr>
          <a:lstStyle/>
          <a:p>
            <a:pPr algn="ctr">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Test có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9" name="Group 9"/>
          <p:cNvGrpSpPr/>
          <p:nvPr/>
        </p:nvGrpSpPr>
        <p:grpSpPr>
          <a:xfrm rot="0">
            <a:off x="822960" y="2674620"/>
            <a:ext cx="2537460" cy="2125980"/>
            <a:chOff x="0" y="0"/>
            <a:chExt cx="3383280" cy="2834640"/>
          </a:xfrm>
        </p:grpSpPr>
        <p:sp>
          <p:nvSpPr>
            <p:cNvPr id="10" name="Freeform 10"/>
            <p:cNvSpPr/>
            <p:nvPr/>
          </p:nvSpPr>
          <p:spPr>
            <a:xfrm>
              <a:off x="0" y="0"/>
              <a:ext cx="3383280" cy="2834640"/>
            </a:xfrm>
            <a:custGeom>
              <a:avLst/>
              <a:gdLst/>
              <a:ahLst/>
              <a:cxnLst/>
              <a:rect l="l" t="t" r="r" b="b"/>
              <a:pathLst>
                <a:path w="3383280" h="2834640">
                  <a:moveTo>
                    <a:pt x="0" y="0"/>
                  </a:moveTo>
                  <a:lnTo>
                    <a:pt x="3383280" y="0"/>
                  </a:lnTo>
                  <a:lnTo>
                    <a:pt x="3383280" y="2834640"/>
                  </a:lnTo>
                  <a:lnTo>
                    <a:pt x="0" y="2834640"/>
                  </a:lnTo>
                  <a:close/>
                </a:path>
              </a:pathLst>
            </a:custGeom>
            <a:blipFill>
              <a:blip r:embed="rId1">
                <a:alphaModFix amt="0"/>
              </a:blip>
              <a:stretch>
                <a:fillRect l="-57497" r="-57497"/>
              </a:stretch>
            </a:blipFill>
          </p:spPr>
          <p:txBody>
            <a:bodyPr/>
            <a:p/>
          </p:txBody>
        </p:sp>
        <p:sp>
          <p:nvSpPr>
            <p:cNvPr id="11" name="TextBox 11"/>
            <p:cNvSpPr txBox="1"/>
            <p:nvPr/>
          </p:nvSpPr>
          <p:spPr>
            <a:xfrm>
              <a:off x="0" y="-47625"/>
              <a:ext cx="3383280" cy="288226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Train không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2" name="Group 12"/>
          <p:cNvGrpSpPr/>
          <p:nvPr/>
        </p:nvGrpSpPr>
        <p:grpSpPr>
          <a:xfrm rot="0">
            <a:off x="822960" y="5006340"/>
            <a:ext cx="2537460" cy="2125980"/>
            <a:chOff x="0" y="0"/>
            <a:chExt cx="3383280" cy="2834640"/>
          </a:xfrm>
        </p:grpSpPr>
        <p:sp>
          <p:nvSpPr>
            <p:cNvPr id="13" name="Freeform 13"/>
            <p:cNvSpPr/>
            <p:nvPr/>
          </p:nvSpPr>
          <p:spPr>
            <a:xfrm>
              <a:off x="0" y="0"/>
              <a:ext cx="3383280" cy="2834640"/>
            </a:xfrm>
            <a:custGeom>
              <a:avLst/>
              <a:gdLst/>
              <a:ahLst/>
              <a:cxnLst/>
              <a:rect l="l" t="t" r="r" b="b"/>
              <a:pathLst>
                <a:path w="3383280" h="2834640">
                  <a:moveTo>
                    <a:pt x="0" y="0"/>
                  </a:moveTo>
                  <a:lnTo>
                    <a:pt x="3383280" y="0"/>
                  </a:lnTo>
                  <a:lnTo>
                    <a:pt x="3383280" y="2834640"/>
                  </a:lnTo>
                  <a:lnTo>
                    <a:pt x="0" y="2834640"/>
                  </a:lnTo>
                  <a:close/>
                </a:path>
              </a:pathLst>
            </a:custGeom>
            <a:blipFill>
              <a:blip r:embed="rId1">
                <a:alphaModFix amt="0"/>
              </a:blip>
              <a:stretch>
                <a:fillRect l="-57497" r="-57497"/>
              </a:stretch>
            </a:blipFill>
          </p:spPr>
          <p:txBody>
            <a:bodyPr/>
            <a:p/>
          </p:txBody>
        </p:sp>
        <p:sp>
          <p:nvSpPr>
            <p:cNvPr id="14" name="TextBox 14"/>
            <p:cNvSpPr txBox="1"/>
            <p:nvPr/>
          </p:nvSpPr>
          <p:spPr>
            <a:xfrm>
              <a:off x="0" y="-47625"/>
              <a:ext cx="3383280" cy="288226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Train có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5" name="Group 15"/>
          <p:cNvGrpSpPr/>
          <p:nvPr/>
        </p:nvGrpSpPr>
        <p:grpSpPr>
          <a:xfrm rot="0">
            <a:off x="3488055" y="2665095"/>
            <a:ext cx="3379470" cy="2145030"/>
            <a:chOff x="0" y="0"/>
            <a:chExt cx="4505960" cy="2860040"/>
          </a:xfrm>
        </p:grpSpPr>
        <p:sp>
          <p:nvSpPr>
            <p:cNvPr id="16" name="Freeform 16"/>
            <p:cNvSpPr/>
            <p:nvPr/>
          </p:nvSpPr>
          <p:spPr>
            <a:xfrm>
              <a:off x="0" y="0"/>
              <a:ext cx="4505960" cy="2860040"/>
            </a:xfrm>
            <a:custGeom>
              <a:avLst/>
              <a:gdLst/>
              <a:ahLst/>
              <a:cxnLst/>
              <a:rect l="l" t="t" r="r" b="b"/>
              <a:pathLst>
                <a:path w="4505960" h="2860040">
                  <a:moveTo>
                    <a:pt x="0" y="147574"/>
                  </a:moveTo>
                  <a:cubicBezTo>
                    <a:pt x="0" y="66040"/>
                    <a:pt x="66040" y="0"/>
                    <a:pt x="147574" y="0"/>
                  </a:cubicBezTo>
                  <a:lnTo>
                    <a:pt x="4358386" y="0"/>
                  </a:lnTo>
                  <a:cubicBezTo>
                    <a:pt x="4439920" y="0"/>
                    <a:pt x="4505960" y="66040"/>
                    <a:pt x="4505960" y="147574"/>
                  </a:cubicBezTo>
                  <a:lnTo>
                    <a:pt x="4505960" y="2712466"/>
                  </a:lnTo>
                  <a:cubicBezTo>
                    <a:pt x="4505960" y="2794000"/>
                    <a:pt x="4439920" y="2860040"/>
                    <a:pt x="4358386" y="2860040"/>
                  </a:cubicBezTo>
                  <a:lnTo>
                    <a:pt x="147574" y="2860040"/>
                  </a:lnTo>
                  <a:cubicBezTo>
                    <a:pt x="66040" y="2860040"/>
                    <a:pt x="0" y="2794000"/>
                    <a:pt x="0" y="2712466"/>
                  </a:cubicBezTo>
                  <a:close/>
                </a:path>
              </a:pathLst>
            </a:custGeom>
            <a:solidFill>
              <a:srgbClr val="F3F5F8"/>
            </a:solidFill>
            <a:ln w="19050" cap="sq">
              <a:solidFill>
                <a:srgbClr val="F3F5F8"/>
              </a:solidFill>
              <a:prstDash val="solid"/>
              <a:miter/>
            </a:ln>
          </p:spPr>
          <p:txBody>
            <a:bodyPr/>
            <a:p/>
          </p:txBody>
        </p:sp>
      </p:grpSp>
      <p:sp>
        <p:nvSpPr>
          <p:cNvPr id="17" name="TextBox 17"/>
          <p:cNvSpPr txBox="1"/>
          <p:nvPr/>
        </p:nvSpPr>
        <p:spPr>
          <a:xfrm>
            <a:off x="3497580" y="2911983"/>
            <a:ext cx="3360420" cy="103822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45,55</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8" name="TextBox 18"/>
          <p:cNvSpPr txBox="1"/>
          <p:nvPr/>
        </p:nvSpPr>
        <p:spPr>
          <a:xfrm>
            <a:off x="3634740" y="3930015"/>
            <a:ext cx="3086100" cy="66484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B2-sub</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7054215" y="2665095"/>
            <a:ext cx="3379470" cy="2145030"/>
            <a:chOff x="0" y="0"/>
            <a:chExt cx="4505960" cy="2860040"/>
          </a:xfrm>
        </p:grpSpPr>
        <p:sp>
          <p:nvSpPr>
            <p:cNvPr id="20" name="Freeform 20"/>
            <p:cNvSpPr/>
            <p:nvPr/>
          </p:nvSpPr>
          <p:spPr>
            <a:xfrm>
              <a:off x="0" y="0"/>
              <a:ext cx="4505960" cy="2860040"/>
            </a:xfrm>
            <a:custGeom>
              <a:avLst/>
              <a:gdLst/>
              <a:ahLst/>
              <a:cxnLst/>
              <a:rect l="l" t="t" r="r" b="b"/>
              <a:pathLst>
                <a:path w="4505960" h="2860040">
                  <a:moveTo>
                    <a:pt x="0" y="147574"/>
                  </a:moveTo>
                  <a:cubicBezTo>
                    <a:pt x="0" y="66040"/>
                    <a:pt x="66040" y="0"/>
                    <a:pt x="147574" y="0"/>
                  </a:cubicBezTo>
                  <a:lnTo>
                    <a:pt x="4358386" y="0"/>
                  </a:lnTo>
                  <a:cubicBezTo>
                    <a:pt x="4439920" y="0"/>
                    <a:pt x="4505960" y="66040"/>
                    <a:pt x="4505960" y="147574"/>
                  </a:cubicBezTo>
                  <a:lnTo>
                    <a:pt x="4505960" y="2712466"/>
                  </a:lnTo>
                  <a:cubicBezTo>
                    <a:pt x="4505960" y="2794000"/>
                    <a:pt x="4439920" y="2860040"/>
                    <a:pt x="4358386" y="2860040"/>
                  </a:cubicBezTo>
                  <a:lnTo>
                    <a:pt x="147574" y="2860040"/>
                  </a:lnTo>
                  <a:cubicBezTo>
                    <a:pt x="66040" y="2860040"/>
                    <a:pt x="0" y="2794000"/>
                    <a:pt x="0" y="2712466"/>
                  </a:cubicBezTo>
                  <a:close/>
                </a:path>
              </a:pathLst>
            </a:custGeom>
            <a:solidFill>
              <a:srgbClr val="F3F5F8"/>
            </a:solidFill>
            <a:ln w="19050" cap="sq">
              <a:solidFill>
                <a:srgbClr val="F3F5F8"/>
              </a:solidFill>
              <a:prstDash val="solid"/>
              <a:miter/>
            </a:ln>
          </p:spPr>
          <p:txBody>
            <a:bodyPr/>
            <a:p/>
          </p:txBody>
        </p:sp>
      </p:grpSp>
      <p:sp>
        <p:nvSpPr>
          <p:cNvPr id="21" name="TextBox 21"/>
          <p:cNvSpPr txBox="1"/>
          <p:nvPr/>
        </p:nvSpPr>
        <p:spPr>
          <a:xfrm>
            <a:off x="7063740" y="2911983"/>
            <a:ext cx="3360420" cy="103822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44,90</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2" name="TextBox 22"/>
          <p:cNvSpPr txBox="1"/>
          <p:nvPr/>
        </p:nvSpPr>
        <p:spPr>
          <a:xfrm>
            <a:off x="7200900" y="3930015"/>
            <a:ext cx="3086100" cy="66484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B2-sub + OCR lúc test</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3488055" y="4996815"/>
            <a:ext cx="3379470" cy="2145030"/>
            <a:chOff x="0" y="0"/>
            <a:chExt cx="4505960" cy="2860040"/>
          </a:xfrm>
        </p:grpSpPr>
        <p:sp>
          <p:nvSpPr>
            <p:cNvPr id="24" name="Freeform 24"/>
            <p:cNvSpPr/>
            <p:nvPr/>
          </p:nvSpPr>
          <p:spPr>
            <a:xfrm>
              <a:off x="0" y="0"/>
              <a:ext cx="4505960" cy="2860040"/>
            </a:xfrm>
            <a:custGeom>
              <a:avLst/>
              <a:gdLst/>
              <a:ahLst/>
              <a:cxnLst/>
              <a:rect l="l" t="t" r="r" b="b"/>
              <a:pathLst>
                <a:path w="4505960" h="2860040">
                  <a:moveTo>
                    <a:pt x="0" y="147574"/>
                  </a:moveTo>
                  <a:cubicBezTo>
                    <a:pt x="0" y="66040"/>
                    <a:pt x="66040" y="0"/>
                    <a:pt x="147574" y="0"/>
                  </a:cubicBezTo>
                  <a:lnTo>
                    <a:pt x="4358386" y="0"/>
                  </a:lnTo>
                  <a:cubicBezTo>
                    <a:pt x="4439920" y="0"/>
                    <a:pt x="4505960" y="66040"/>
                    <a:pt x="4505960" y="147574"/>
                  </a:cubicBezTo>
                  <a:lnTo>
                    <a:pt x="4505960" y="2712466"/>
                  </a:lnTo>
                  <a:cubicBezTo>
                    <a:pt x="4505960" y="2794000"/>
                    <a:pt x="4439920" y="2860040"/>
                    <a:pt x="4358386" y="2860040"/>
                  </a:cubicBezTo>
                  <a:lnTo>
                    <a:pt x="147574" y="2860040"/>
                  </a:lnTo>
                  <a:cubicBezTo>
                    <a:pt x="66040" y="2860040"/>
                    <a:pt x="0" y="2794000"/>
                    <a:pt x="0" y="2712466"/>
                  </a:cubicBezTo>
                  <a:close/>
                </a:path>
              </a:pathLst>
            </a:custGeom>
            <a:solidFill>
              <a:srgbClr val="F3F5F8"/>
            </a:solidFill>
            <a:ln w="19050" cap="sq">
              <a:solidFill>
                <a:srgbClr val="F3F5F8"/>
              </a:solidFill>
              <a:prstDash val="solid"/>
              <a:miter/>
            </a:ln>
          </p:spPr>
          <p:txBody>
            <a:bodyPr/>
            <a:p/>
          </p:txBody>
        </p:sp>
      </p:grpSp>
      <p:sp>
        <p:nvSpPr>
          <p:cNvPr id="25" name="TextBox 25"/>
          <p:cNvSpPr txBox="1"/>
          <p:nvPr/>
        </p:nvSpPr>
        <p:spPr>
          <a:xfrm>
            <a:off x="3497580" y="5243703"/>
            <a:ext cx="3360420" cy="103822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45,00</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6" name="TextBox 26"/>
          <p:cNvSpPr txBox="1"/>
          <p:nvPr/>
        </p:nvSpPr>
        <p:spPr>
          <a:xfrm>
            <a:off x="3634740" y="6261735"/>
            <a:ext cx="3086100" cy="66484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 bỏ OCR lúc test</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7" name="Group 27"/>
          <p:cNvGrpSpPr/>
          <p:nvPr/>
        </p:nvGrpSpPr>
        <p:grpSpPr>
          <a:xfrm rot="0">
            <a:off x="7054215" y="4996815"/>
            <a:ext cx="3379470" cy="2145030"/>
            <a:chOff x="0" y="0"/>
            <a:chExt cx="4505960" cy="2860040"/>
          </a:xfrm>
        </p:grpSpPr>
        <p:sp>
          <p:nvSpPr>
            <p:cNvPr id="28" name="Freeform 28"/>
            <p:cNvSpPr/>
            <p:nvPr/>
          </p:nvSpPr>
          <p:spPr>
            <a:xfrm>
              <a:off x="0" y="0"/>
              <a:ext cx="4505960" cy="2860040"/>
            </a:xfrm>
            <a:custGeom>
              <a:avLst/>
              <a:gdLst/>
              <a:ahLst/>
              <a:cxnLst/>
              <a:rect l="l" t="t" r="r" b="b"/>
              <a:pathLst>
                <a:path w="4505960" h="2860040">
                  <a:moveTo>
                    <a:pt x="0" y="147574"/>
                  </a:moveTo>
                  <a:cubicBezTo>
                    <a:pt x="0" y="66040"/>
                    <a:pt x="66040" y="0"/>
                    <a:pt x="147574" y="0"/>
                  </a:cubicBezTo>
                  <a:lnTo>
                    <a:pt x="4358386" y="0"/>
                  </a:lnTo>
                  <a:cubicBezTo>
                    <a:pt x="4439920" y="0"/>
                    <a:pt x="4505960" y="66040"/>
                    <a:pt x="4505960" y="147574"/>
                  </a:cubicBezTo>
                  <a:lnTo>
                    <a:pt x="4505960" y="2712466"/>
                  </a:lnTo>
                  <a:cubicBezTo>
                    <a:pt x="4505960" y="2794000"/>
                    <a:pt x="4439920" y="2860040"/>
                    <a:pt x="4358386" y="2860040"/>
                  </a:cubicBezTo>
                  <a:lnTo>
                    <a:pt x="147574" y="2860040"/>
                  </a:lnTo>
                  <a:cubicBezTo>
                    <a:pt x="66040" y="2860040"/>
                    <a:pt x="0" y="2794000"/>
                    <a:pt x="0" y="2712466"/>
                  </a:cubicBezTo>
                  <a:close/>
                </a:path>
              </a:pathLst>
            </a:custGeom>
            <a:solidFill>
              <a:srgbClr val="FBF0DA"/>
            </a:solidFill>
            <a:ln w="19050" cap="sq">
              <a:solidFill>
                <a:srgbClr val="FBF0DA"/>
              </a:solidFill>
              <a:prstDash val="solid"/>
              <a:miter/>
            </a:ln>
          </p:spPr>
          <p:txBody>
            <a:bodyPr/>
            <a:p/>
          </p:txBody>
        </p:sp>
      </p:grpSp>
      <p:sp>
        <p:nvSpPr>
          <p:cNvPr id="29" name="TextBox 29"/>
          <p:cNvSpPr txBox="1"/>
          <p:nvPr/>
        </p:nvSpPr>
        <p:spPr>
          <a:xfrm>
            <a:off x="7063740" y="5243703"/>
            <a:ext cx="3360420" cy="1038225"/>
          </a:xfrm>
          <a:prstGeom prst="rect">
            <a:avLst/>
          </a:prstGeom>
        </p:spPr>
        <p:txBody>
          <a:bodyPr lIns="0" tIns="0" rIns="0" bIns="0" rtlCol="0" anchor="t">
            <a:spAutoFit/>
          </a:bodyPr>
          <a:lstStyle/>
          <a:p>
            <a:pPr algn="ctr">
              <a:lnSpc>
                <a:spcPts val="6120"/>
              </a:lnSpc>
            </a:pPr>
            <a:r>
              <a:rPr lang="en-US" sz="5100" b="1">
                <a:solidFill>
                  <a:srgbClr val="E8A33D"/>
                </a:solidFill>
                <a:latin typeface="Cambria Bold" panose="02040803050406030204"/>
                <a:ea typeface="Cambria Bold" panose="02040803050406030204"/>
                <a:cs typeface="Cambria Bold" panose="02040803050406030204"/>
                <a:sym typeface="Cambria Bold" panose="02040803050406030204"/>
              </a:rPr>
              <a:t>49,25</a:t>
            </a:r>
            <a:endParaRPr lang="en-US" sz="51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30" name="TextBox 30"/>
          <p:cNvSpPr txBox="1"/>
          <p:nvPr/>
        </p:nvSpPr>
        <p:spPr>
          <a:xfrm>
            <a:off x="7200900" y="6261735"/>
            <a:ext cx="3086100" cy="66484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 (đề xuất)</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1" name="TextBox 31"/>
          <p:cNvSpPr txBox="1"/>
          <p:nvPr/>
        </p:nvSpPr>
        <p:spPr>
          <a:xfrm>
            <a:off x="3497580" y="7258812"/>
            <a:ext cx="6926580" cy="518160"/>
          </a:xfrm>
          <a:prstGeom prst="rect">
            <a:avLst/>
          </a:prstGeom>
        </p:spPr>
        <p:txBody>
          <a:bodyPr lIns="0" tIns="0" rIns="0" bIns="0" rtlCol="0" anchor="t">
            <a:spAutoFit/>
          </a:bodyPr>
          <a:lstStyle/>
          <a:p>
            <a:pPr algn="ctr">
              <a:lnSpc>
                <a:spcPts val="2160"/>
              </a:lnSpc>
            </a:pPr>
            <a:r>
              <a:rPr lang="en-US" sz="1800">
                <a:solidFill>
                  <a:srgbClr val="6B7280"/>
                </a:solidFill>
                <a:latin typeface="Calibri (MS)" panose="020F0502020204030204"/>
                <a:ea typeface="Calibri (MS)" panose="020F0502020204030204"/>
                <a:cs typeface="Calibri (MS)" panose="020F0502020204030204"/>
                <a:sym typeface="Calibri (MS)" panose="020F0502020204030204"/>
              </a:rPr>
              <a:t>EM (%), ViTextVQA tập con test (2.000 câu), seed 42</a:t>
            </a:r>
            <a:endParaRPr lang="en-US" sz="18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nvGrpSpPr>
          <p:cNvPr id="32" name="Group 32"/>
          <p:cNvGrpSpPr/>
          <p:nvPr/>
        </p:nvGrpSpPr>
        <p:grpSpPr>
          <a:xfrm rot="0">
            <a:off x="11031855" y="2047875"/>
            <a:ext cx="6442253" cy="3173730"/>
            <a:chOff x="0" y="0"/>
            <a:chExt cx="8589670" cy="4231640"/>
          </a:xfrm>
        </p:grpSpPr>
        <p:sp>
          <p:nvSpPr>
            <p:cNvPr id="33" name="Freeform 33"/>
            <p:cNvSpPr/>
            <p:nvPr/>
          </p:nvSpPr>
          <p:spPr>
            <a:xfrm>
              <a:off x="0" y="0"/>
              <a:ext cx="8589645" cy="4231640"/>
            </a:xfrm>
            <a:custGeom>
              <a:avLst/>
              <a:gdLst/>
              <a:ahLst/>
              <a:cxnLst/>
              <a:rect l="l" t="t" r="r" b="b"/>
              <a:pathLst>
                <a:path w="8589645" h="4231640">
                  <a:moveTo>
                    <a:pt x="0" y="147193"/>
                  </a:moveTo>
                  <a:cubicBezTo>
                    <a:pt x="0" y="65913"/>
                    <a:pt x="65913" y="0"/>
                    <a:pt x="147193" y="0"/>
                  </a:cubicBezTo>
                  <a:lnTo>
                    <a:pt x="8442452" y="0"/>
                  </a:lnTo>
                  <a:cubicBezTo>
                    <a:pt x="8523732" y="0"/>
                    <a:pt x="8589645" y="65913"/>
                    <a:pt x="8589645" y="147193"/>
                  </a:cubicBezTo>
                  <a:lnTo>
                    <a:pt x="8589645" y="4084447"/>
                  </a:lnTo>
                  <a:cubicBezTo>
                    <a:pt x="8589645" y="4165727"/>
                    <a:pt x="8523732" y="4231640"/>
                    <a:pt x="8442452" y="4231640"/>
                  </a:cubicBezTo>
                  <a:lnTo>
                    <a:pt x="147193" y="4231640"/>
                  </a:lnTo>
                  <a:cubicBezTo>
                    <a:pt x="65913" y="4231640"/>
                    <a:pt x="0" y="4165727"/>
                    <a:pt x="0" y="4084447"/>
                  </a:cubicBezTo>
                  <a:close/>
                </a:path>
              </a:pathLst>
            </a:custGeom>
            <a:solidFill>
              <a:srgbClr val="F3F5F8"/>
            </a:solidFill>
            <a:ln w="19050" cap="sq">
              <a:solidFill>
                <a:srgbClr val="F3F5F8"/>
              </a:solidFill>
              <a:prstDash val="solid"/>
              <a:miter/>
            </a:ln>
          </p:spPr>
          <p:txBody>
            <a:bodyPr/>
            <a:p/>
          </p:txBody>
        </p:sp>
      </p:grpSp>
      <p:sp>
        <p:nvSpPr>
          <p:cNvPr id="34" name="TextBox 34"/>
          <p:cNvSpPr txBox="1"/>
          <p:nvPr/>
        </p:nvSpPr>
        <p:spPr>
          <a:xfrm>
            <a:off x="11384280" y="2183892"/>
            <a:ext cx="573740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Kiểm định ghép cặp (McNemar, EM)</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5" name="TextBox 35"/>
          <p:cNvSpPr txBox="1"/>
          <p:nvPr/>
        </p:nvSpPr>
        <p:spPr>
          <a:xfrm>
            <a:off x="11384280" y="2764155"/>
            <a:ext cx="5737403" cy="2379345"/>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Chỉ OCR lúc test: −0,65 (p = 0,49)</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Chỉ OCR lúc train: −0,55 (p = 0,35)</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Cả train lẫn test: +4,35 (p = 2 × 10⁻⁸)</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Bỏ OCR khỏi B3: −4,25 (p = 4 × 10⁻⁹)</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6" name="Group 36"/>
          <p:cNvGrpSpPr/>
          <p:nvPr/>
        </p:nvGrpSpPr>
        <p:grpSpPr>
          <a:xfrm rot="0">
            <a:off x="11031855" y="5476875"/>
            <a:ext cx="6442253" cy="1939290"/>
            <a:chOff x="0" y="0"/>
            <a:chExt cx="8589670" cy="2585720"/>
          </a:xfrm>
        </p:grpSpPr>
        <p:sp>
          <p:nvSpPr>
            <p:cNvPr id="37" name="Freeform 37"/>
            <p:cNvSpPr/>
            <p:nvPr/>
          </p:nvSpPr>
          <p:spPr>
            <a:xfrm>
              <a:off x="0" y="0"/>
              <a:ext cx="8589645" cy="2585720"/>
            </a:xfrm>
            <a:custGeom>
              <a:avLst/>
              <a:gdLst/>
              <a:ahLst/>
              <a:cxnLst/>
              <a:rect l="l" t="t" r="r" b="b"/>
              <a:pathLst>
                <a:path w="8589645" h="2585720">
                  <a:moveTo>
                    <a:pt x="0" y="147701"/>
                  </a:moveTo>
                  <a:cubicBezTo>
                    <a:pt x="0" y="66167"/>
                    <a:pt x="66167" y="0"/>
                    <a:pt x="147701" y="0"/>
                  </a:cubicBezTo>
                  <a:lnTo>
                    <a:pt x="8441944" y="0"/>
                  </a:lnTo>
                  <a:cubicBezTo>
                    <a:pt x="8523605" y="0"/>
                    <a:pt x="8589645" y="66167"/>
                    <a:pt x="8589645" y="147701"/>
                  </a:cubicBezTo>
                  <a:lnTo>
                    <a:pt x="8589645" y="2438019"/>
                  </a:lnTo>
                  <a:cubicBezTo>
                    <a:pt x="8589645" y="2519680"/>
                    <a:pt x="8523477" y="2585720"/>
                    <a:pt x="8441944" y="2585720"/>
                  </a:cubicBezTo>
                  <a:lnTo>
                    <a:pt x="147701" y="2585720"/>
                  </a:lnTo>
                  <a:cubicBezTo>
                    <a:pt x="66167" y="2585720"/>
                    <a:pt x="0" y="2519553"/>
                    <a:pt x="0" y="2438019"/>
                  </a:cubicBezTo>
                  <a:close/>
                </a:path>
              </a:pathLst>
            </a:custGeom>
            <a:solidFill>
              <a:srgbClr val="E7F0F3"/>
            </a:solidFill>
            <a:ln w="19050" cap="sq">
              <a:solidFill>
                <a:srgbClr val="E7F0F3"/>
              </a:solidFill>
              <a:prstDash val="solid"/>
              <a:miter/>
            </a:ln>
          </p:spPr>
          <p:txBody>
            <a:bodyPr/>
            <a:p/>
          </p:txBody>
        </p:sp>
      </p:grpSp>
      <p:grpSp>
        <p:nvGrpSpPr>
          <p:cNvPr id="38" name="Group 38"/>
          <p:cNvGrpSpPr/>
          <p:nvPr/>
        </p:nvGrpSpPr>
        <p:grpSpPr>
          <a:xfrm rot="0">
            <a:off x="11384280" y="5486400"/>
            <a:ext cx="5737403" cy="1920240"/>
            <a:chOff x="0" y="0"/>
            <a:chExt cx="7649870" cy="2560320"/>
          </a:xfrm>
        </p:grpSpPr>
        <p:sp>
          <p:nvSpPr>
            <p:cNvPr id="39" name="Freeform 39"/>
            <p:cNvSpPr/>
            <p:nvPr/>
          </p:nvSpPr>
          <p:spPr>
            <a:xfrm>
              <a:off x="0" y="0"/>
              <a:ext cx="7649870" cy="2560320"/>
            </a:xfrm>
            <a:custGeom>
              <a:avLst/>
              <a:gdLst/>
              <a:ahLst/>
              <a:cxnLst/>
              <a:rect l="l" t="t" r="r" b="b"/>
              <a:pathLst>
                <a:path w="7649870" h="2560320">
                  <a:moveTo>
                    <a:pt x="0" y="0"/>
                  </a:moveTo>
                  <a:lnTo>
                    <a:pt x="7649870" y="0"/>
                  </a:lnTo>
                  <a:lnTo>
                    <a:pt x="7649870" y="2560320"/>
                  </a:lnTo>
                  <a:lnTo>
                    <a:pt x="0" y="2560320"/>
                  </a:lnTo>
                  <a:close/>
                </a:path>
              </a:pathLst>
            </a:custGeom>
            <a:blipFill>
              <a:blip r:embed="rId1">
                <a:alphaModFix amt="0"/>
              </a:blip>
              <a:stretch>
                <a:fillRect t="-8218" b="-8218"/>
              </a:stretch>
            </a:blipFill>
          </p:spPr>
          <p:txBody>
            <a:bodyPr/>
            <a:p/>
          </p:txBody>
        </p:sp>
        <p:sp>
          <p:nvSpPr>
            <p:cNvPr id="40" name="TextBox 40"/>
            <p:cNvSpPr txBox="1"/>
            <p:nvPr/>
          </p:nvSpPr>
          <p:spPr>
            <a:xfrm>
              <a:off x="0" y="-57150"/>
              <a:ext cx="7649870" cy="2617470"/>
            </a:xfrm>
            <a:prstGeom prst="rect">
              <a:avLst/>
            </a:prstGeom>
          </p:spPr>
          <p:txBody>
            <a:bodyPr lIns="0" tIns="0" rIns="0" bIns="0" rtlCol="0" anchor="ct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Tương tác +4,9 EM </a:t>
              </a:r>
              <a:r>
                <a:rPr lang="en-US" sz="2250">
                  <a:solidFill>
                    <a:srgbClr val="243044"/>
                  </a:solidFill>
                  <a:latin typeface="Calibri (MS)" panose="020F0502020204030204"/>
                  <a:ea typeface="Calibri (MS)" panose="020F0502020204030204"/>
                  <a:cs typeface="Calibri (MS)" panose="020F0502020204030204"/>
                  <a:sym typeface="Calibri (MS)" panose="020F0502020204030204"/>
                </a:rPr>
                <a:t>(CI95 +3,2 đến +6,6) → cần OCR ở cả train lẫn test</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grpSp>
        <p:nvGrpSpPr>
          <p:cNvPr id="41" name="Group 41"/>
          <p:cNvGrpSpPr/>
          <p:nvPr/>
        </p:nvGrpSpPr>
        <p:grpSpPr>
          <a:xfrm rot="0">
            <a:off x="813435" y="8014335"/>
            <a:ext cx="16660673" cy="1390650"/>
            <a:chOff x="0" y="0"/>
            <a:chExt cx="22214230" cy="1854200"/>
          </a:xfrm>
        </p:grpSpPr>
        <p:sp>
          <p:nvSpPr>
            <p:cNvPr id="42" name="Freeform 42"/>
            <p:cNvSpPr/>
            <p:nvPr/>
          </p:nvSpPr>
          <p:spPr>
            <a:xfrm>
              <a:off x="0" y="0"/>
              <a:ext cx="22214205" cy="1854200"/>
            </a:xfrm>
            <a:custGeom>
              <a:avLst/>
              <a:gdLst/>
              <a:ahLst/>
              <a:cxnLst/>
              <a:rect l="l" t="t" r="r" b="b"/>
              <a:pathLst>
                <a:path w="22214205" h="1854200">
                  <a:moveTo>
                    <a:pt x="0" y="148336"/>
                  </a:moveTo>
                  <a:cubicBezTo>
                    <a:pt x="0" y="66421"/>
                    <a:pt x="66421" y="0"/>
                    <a:pt x="148336" y="0"/>
                  </a:cubicBezTo>
                  <a:lnTo>
                    <a:pt x="22065869" y="0"/>
                  </a:lnTo>
                  <a:cubicBezTo>
                    <a:pt x="22147783" y="0"/>
                    <a:pt x="22214205" y="66421"/>
                    <a:pt x="22214205" y="148336"/>
                  </a:cubicBezTo>
                  <a:lnTo>
                    <a:pt x="22214205" y="1705864"/>
                  </a:lnTo>
                  <a:cubicBezTo>
                    <a:pt x="22214205" y="1787779"/>
                    <a:pt x="22147783" y="1854200"/>
                    <a:pt x="22065869" y="1854200"/>
                  </a:cubicBezTo>
                  <a:lnTo>
                    <a:pt x="148336" y="1854200"/>
                  </a:lnTo>
                  <a:cubicBezTo>
                    <a:pt x="66421" y="1854200"/>
                    <a:pt x="0" y="1787779"/>
                    <a:pt x="0" y="1705864"/>
                  </a:cubicBezTo>
                  <a:close/>
                </a:path>
              </a:pathLst>
            </a:custGeom>
            <a:solidFill>
              <a:srgbClr val="FBF0DA"/>
            </a:solidFill>
            <a:ln w="19050" cap="sq">
              <a:solidFill>
                <a:srgbClr val="FBF0DA"/>
              </a:solidFill>
              <a:prstDash val="solid"/>
              <a:miter/>
            </a:ln>
          </p:spPr>
          <p:txBody>
            <a:bodyPr/>
            <a:p/>
          </p:txBody>
        </p:sp>
      </p:grpSp>
      <p:grpSp>
        <p:nvGrpSpPr>
          <p:cNvPr id="43" name="Group 43"/>
          <p:cNvGrpSpPr/>
          <p:nvPr/>
        </p:nvGrpSpPr>
        <p:grpSpPr>
          <a:xfrm rot="0">
            <a:off x="1234440" y="8023860"/>
            <a:ext cx="15818663" cy="1371600"/>
            <a:chOff x="0" y="0"/>
            <a:chExt cx="21091550" cy="1828800"/>
          </a:xfrm>
        </p:grpSpPr>
        <p:sp>
          <p:nvSpPr>
            <p:cNvPr id="44" name="Freeform 44"/>
            <p:cNvSpPr/>
            <p:nvPr/>
          </p:nvSpPr>
          <p:spPr>
            <a:xfrm>
              <a:off x="0" y="0"/>
              <a:ext cx="21091550" cy="1828800"/>
            </a:xfrm>
            <a:custGeom>
              <a:avLst/>
              <a:gdLst/>
              <a:ahLst/>
              <a:cxnLst/>
              <a:rect l="l" t="t" r="r" b="b"/>
              <a:pathLst>
                <a:path w="21091550" h="1828800">
                  <a:moveTo>
                    <a:pt x="0" y="0"/>
                  </a:moveTo>
                  <a:lnTo>
                    <a:pt x="21091550" y="0"/>
                  </a:lnTo>
                  <a:lnTo>
                    <a:pt x="21091550" y="1828800"/>
                  </a:lnTo>
                  <a:lnTo>
                    <a:pt x="0" y="1828800"/>
                  </a:lnTo>
                  <a:close/>
                </a:path>
              </a:pathLst>
            </a:custGeom>
            <a:blipFill>
              <a:blip r:embed="rId1">
                <a:alphaModFix amt="0"/>
              </a:blip>
              <a:stretch>
                <a:fillRect t="-174720" b="-174720"/>
              </a:stretch>
            </a:blipFill>
          </p:spPr>
          <p:txBody>
            <a:bodyPr/>
            <a:p/>
          </p:txBody>
        </p:sp>
        <p:sp>
          <p:nvSpPr>
            <p:cNvPr id="45" name="TextBox 45"/>
            <p:cNvSpPr txBox="1"/>
            <p:nvPr/>
          </p:nvSpPr>
          <p:spPr>
            <a:xfrm>
              <a:off x="0" y="-57150"/>
              <a:ext cx="21091550" cy="1885950"/>
            </a:xfrm>
            <a:prstGeom prst="rect">
              <a:avLst/>
            </a:prstGeom>
          </p:spPr>
          <p:txBody>
            <a:bodyPr lIns="0" tIns="0" rIns="0" bIns="0" rtlCol="0" anchor="ct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Kết luận  </a:t>
              </a:r>
              <a:r>
                <a:rPr lang="en-US" sz="2250">
                  <a:solidFill>
                    <a:srgbClr val="243044"/>
                  </a:solidFill>
                  <a:latin typeface="Calibri (MS)" panose="020F0502020204030204"/>
                  <a:ea typeface="Calibri (MS)" panose="020F0502020204030204"/>
                  <a:cs typeface="Calibri (MS)" panose="020F0502020204030204"/>
                  <a:sym typeface="Calibri (MS)" panose="020F0502020204030204"/>
                </a:rPr>
                <a:t>đóng góp không phải “thêm OCR vào prompt” — mà là dùng QLoRA dạy model khi nào tin OCR, khi nào tin ảnh.</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09 · ĐỘ VỮNG</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Mức tăng giữ vững qua các seed và trên full test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pic>
        <p:nvPicPr>
          <p:cNvPr id="7" name="Picture 7"/>
          <p:cNvPicPr>
            <a:picLocks noChangeAspect="1"/>
          </p:cNvPicPr>
          <p:nvPr/>
        </p:nvPicPr>
        <p:blipFill>
          <a:blip r:embed="rId2"/>
          <a:stretch>
            <a:fillRect/>
          </a:stretch>
        </p:blipFill>
        <p:spPr>
          <a:xfrm>
            <a:off x="54864" y="1289304"/>
            <a:ext cx="9217152" cy="7022592"/>
          </a:xfrm>
          <a:prstGeom prst="rect">
            <a:avLst/>
          </a:prstGeom>
        </p:spPr>
      </p:pic>
      <p:grpSp>
        <p:nvGrpSpPr>
          <p:cNvPr id="8" name="Group 8"/>
          <p:cNvGrpSpPr/>
          <p:nvPr/>
        </p:nvGrpSpPr>
        <p:grpSpPr>
          <a:xfrm rot="0">
            <a:off x="813435" y="7808595"/>
            <a:ext cx="7700010" cy="1596390"/>
            <a:chOff x="0" y="0"/>
            <a:chExt cx="10266680" cy="2128520"/>
          </a:xfrm>
        </p:grpSpPr>
        <p:sp>
          <p:nvSpPr>
            <p:cNvPr id="9" name="Freeform 9"/>
            <p:cNvSpPr/>
            <p:nvPr/>
          </p:nvSpPr>
          <p:spPr>
            <a:xfrm>
              <a:off x="0" y="0"/>
              <a:ext cx="10266680" cy="2128520"/>
            </a:xfrm>
            <a:custGeom>
              <a:avLst/>
              <a:gdLst/>
              <a:ahLst/>
              <a:cxnLst/>
              <a:rect l="l" t="t" r="r" b="b"/>
              <a:pathLst>
                <a:path w="10266680" h="2128520">
                  <a:moveTo>
                    <a:pt x="0" y="148082"/>
                  </a:moveTo>
                  <a:cubicBezTo>
                    <a:pt x="0" y="66294"/>
                    <a:pt x="66294" y="0"/>
                    <a:pt x="148082" y="0"/>
                  </a:cubicBezTo>
                  <a:lnTo>
                    <a:pt x="10118598" y="0"/>
                  </a:lnTo>
                  <a:cubicBezTo>
                    <a:pt x="10200386" y="0"/>
                    <a:pt x="10266680" y="66294"/>
                    <a:pt x="10266680" y="148082"/>
                  </a:cubicBezTo>
                  <a:lnTo>
                    <a:pt x="10266680" y="1980438"/>
                  </a:lnTo>
                  <a:cubicBezTo>
                    <a:pt x="10266680" y="2062226"/>
                    <a:pt x="10200386" y="2128520"/>
                    <a:pt x="10118598" y="2128520"/>
                  </a:cubicBezTo>
                  <a:lnTo>
                    <a:pt x="148082" y="2128520"/>
                  </a:lnTo>
                  <a:cubicBezTo>
                    <a:pt x="66294" y="2128520"/>
                    <a:pt x="0" y="2062226"/>
                    <a:pt x="0" y="1980438"/>
                  </a:cubicBezTo>
                  <a:close/>
                </a:path>
              </a:pathLst>
            </a:custGeom>
            <a:solidFill>
              <a:srgbClr val="E7F0F3"/>
            </a:solidFill>
            <a:ln w="19050" cap="sq">
              <a:solidFill>
                <a:srgbClr val="E7F0F3"/>
              </a:solidFill>
              <a:prstDash val="solid"/>
              <a:miter/>
            </a:ln>
          </p:spPr>
          <p:txBody>
            <a:bodyPr/>
            <a:p/>
          </p:txBody>
        </p:sp>
      </p:grpSp>
      <p:grpSp>
        <p:nvGrpSpPr>
          <p:cNvPr id="10" name="Group 10"/>
          <p:cNvGrpSpPr/>
          <p:nvPr/>
        </p:nvGrpSpPr>
        <p:grpSpPr>
          <a:xfrm rot="0">
            <a:off x="1165860" y="7818120"/>
            <a:ext cx="6995160" cy="1577340"/>
            <a:chOff x="0" y="0"/>
            <a:chExt cx="9326880" cy="2103120"/>
          </a:xfrm>
        </p:grpSpPr>
        <p:sp>
          <p:nvSpPr>
            <p:cNvPr id="11" name="Freeform 11"/>
            <p:cNvSpPr/>
            <p:nvPr/>
          </p:nvSpPr>
          <p:spPr>
            <a:xfrm>
              <a:off x="0" y="0"/>
              <a:ext cx="9326880" cy="2103120"/>
            </a:xfrm>
            <a:custGeom>
              <a:avLst/>
              <a:gdLst/>
              <a:ahLst/>
              <a:cxnLst/>
              <a:rect l="l" t="t" r="r" b="b"/>
              <a:pathLst>
                <a:path w="9326880" h="2103120">
                  <a:moveTo>
                    <a:pt x="0" y="0"/>
                  </a:moveTo>
                  <a:lnTo>
                    <a:pt x="9326880" y="0"/>
                  </a:lnTo>
                  <a:lnTo>
                    <a:pt x="9326880" y="2103120"/>
                  </a:lnTo>
                  <a:lnTo>
                    <a:pt x="0" y="2103120"/>
                  </a:lnTo>
                  <a:close/>
                </a:path>
              </a:pathLst>
            </a:custGeom>
            <a:blipFill>
              <a:blip r:embed="rId1">
                <a:alphaModFix amt="0"/>
              </a:blip>
              <a:stretch>
                <a:fillRect t="-36411" b="-36411"/>
              </a:stretch>
            </a:blipFill>
          </p:spPr>
          <p:txBody>
            <a:bodyPr/>
            <a:p/>
          </p:txBody>
        </p:sp>
        <p:sp>
          <p:nvSpPr>
            <p:cNvPr id="12" name="TextBox 12"/>
            <p:cNvSpPr txBox="1"/>
            <p:nvPr/>
          </p:nvSpPr>
          <p:spPr>
            <a:xfrm>
              <a:off x="0" y="-47625"/>
              <a:ext cx="9326880" cy="215074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+3,57 ± 0,76 EM</a:t>
              </a:r>
              <a:r>
                <a:rPr lang="en-US" sz="2100">
                  <a:solidFill>
                    <a:srgbClr val="243044"/>
                  </a:solidFill>
                  <a:latin typeface="Calibri (MS)" panose="020F0502020204030204"/>
                  <a:ea typeface="Calibri (MS)" panose="020F0502020204030204"/>
                  <a:cs typeface="Calibri (MS)" panose="020F0502020204030204"/>
                  <a:sym typeface="Calibri (MS)" panose="020F0502020204030204"/>
                </a:rPr>
                <a:t> · cả 3 seed p ≤ 1,4 × 10⁻⁴ → ổn định (luật chốt trước)</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graphicFrame>
        <p:nvGraphicFramePr>
          <p:cNvPr id="13" name="Table 13"/>
          <p:cNvGraphicFramePr>
            <a:graphicFrameLocks noGrp="1"/>
          </p:cNvGraphicFramePr>
          <p:nvPr/>
        </p:nvGraphicFramePr>
        <p:xfrm>
          <a:off x="9052560" y="2057400"/>
          <a:ext cx="8382000" cy="3429000"/>
        </p:xfrm>
        <a:graphic>
          <a:graphicData uri="http://schemas.openxmlformats.org/drawingml/2006/table">
            <a:tbl>
              <a:tblPr/>
              <a:tblGrid>
                <a:gridCol w="3468142"/>
                <a:gridCol w="1984205"/>
                <a:gridCol w="1512043"/>
                <a:gridCol w="1417610"/>
              </a:tblGrid>
              <a:tr h="6858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Full test (10.028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Dữ liệu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ViTextBLIP-2 (paper)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toàn bộ</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25,48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B2-sub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46,56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67,83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B3 (nhận biết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23%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49,10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70,03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B2 (QLoRA, không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100%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50,26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71,16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14" name="Group 14"/>
          <p:cNvGrpSpPr/>
          <p:nvPr/>
        </p:nvGrpSpPr>
        <p:grpSpPr>
          <a:xfrm rot="0">
            <a:off x="9043035" y="5819775"/>
            <a:ext cx="8431073" cy="3585210"/>
            <a:chOff x="0" y="0"/>
            <a:chExt cx="11241430" cy="4780280"/>
          </a:xfrm>
        </p:grpSpPr>
        <p:sp>
          <p:nvSpPr>
            <p:cNvPr id="15" name="Freeform 15"/>
            <p:cNvSpPr/>
            <p:nvPr/>
          </p:nvSpPr>
          <p:spPr>
            <a:xfrm>
              <a:off x="0" y="0"/>
              <a:ext cx="11241405" cy="4780280"/>
            </a:xfrm>
            <a:custGeom>
              <a:avLst/>
              <a:gdLst/>
              <a:ahLst/>
              <a:cxnLst/>
              <a:rect l="l" t="t" r="r" b="b"/>
              <a:pathLst>
                <a:path w="11241405" h="4780280">
                  <a:moveTo>
                    <a:pt x="0" y="147066"/>
                  </a:moveTo>
                  <a:cubicBezTo>
                    <a:pt x="0" y="65913"/>
                    <a:pt x="65913" y="0"/>
                    <a:pt x="147066" y="0"/>
                  </a:cubicBezTo>
                  <a:lnTo>
                    <a:pt x="11094339" y="0"/>
                  </a:lnTo>
                  <a:cubicBezTo>
                    <a:pt x="11175619" y="0"/>
                    <a:pt x="11241405" y="65913"/>
                    <a:pt x="11241405" y="147066"/>
                  </a:cubicBezTo>
                  <a:lnTo>
                    <a:pt x="11241405" y="4633214"/>
                  </a:lnTo>
                  <a:cubicBezTo>
                    <a:pt x="11241405" y="4714494"/>
                    <a:pt x="11175492" y="4780280"/>
                    <a:pt x="11094339" y="4780280"/>
                  </a:cubicBezTo>
                  <a:lnTo>
                    <a:pt x="147066" y="4780280"/>
                  </a:lnTo>
                  <a:cubicBezTo>
                    <a:pt x="65913" y="4780280"/>
                    <a:pt x="0" y="4714367"/>
                    <a:pt x="0" y="4633214"/>
                  </a:cubicBezTo>
                  <a:close/>
                </a:path>
              </a:pathLst>
            </a:custGeom>
            <a:solidFill>
              <a:srgbClr val="F3F5F8"/>
            </a:solidFill>
            <a:ln w="19050" cap="sq">
              <a:solidFill>
                <a:srgbClr val="F3F5F8"/>
              </a:solidFill>
              <a:prstDash val="solid"/>
              <a:miter/>
            </a:ln>
          </p:spPr>
          <p:txBody>
            <a:bodyPr/>
            <a:p/>
          </p:txBody>
        </p:sp>
      </p:grpSp>
      <p:sp>
        <p:nvSpPr>
          <p:cNvPr id="16" name="TextBox 16"/>
          <p:cNvSpPr txBox="1"/>
          <p:nvPr/>
        </p:nvSpPr>
        <p:spPr>
          <a:xfrm>
            <a:off x="9395460" y="5987415"/>
            <a:ext cx="7726223" cy="3270885"/>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B3 so với B2-sub: +2,54 EM (672 so với 417 câu chỉ một model đúng, p = 10⁻¹⁴)</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Cao hơn ViTextBLIP-2 cả EM và F1 (cận dưới CI95 48,1 / 69,3)</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Đính chính: vẫn thấp hơn B2 dữ liệu đầy đủ 1,16 EM (p = 0,003); OCR bù ≈ 69% phần mất do cắt dữ liệu với 25% thời gian train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10 · B3 TRÊN TOÀN BỘ DỮ LIỆU (B3-full)</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Đủ dữ liệu: QLoRA nhận biết OCR vượt QLoRA thường</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7" name="TextBox 7"/>
          <p:cNvSpPr txBox="1"/>
          <p:nvPr/>
        </p:nvSpPr>
        <p:spPr>
          <a:xfrm>
            <a:off x="3497580" y="2009775"/>
            <a:ext cx="3360420" cy="596265"/>
          </a:xfrm>
          <a:prstGeom prst="rect">
            <a:avLst/>
          </a:prstGeom>
        </p:spPr>
        <p:txBody>
          <a:bodyPr lIns="0" tIns="0" rIns="0" bIns="0" rtlCol="0" anchor="t">
            <a:spAutoFit/>
          </a:bodyPr>
          <a:lstStyle/>
          <a:p>
            <a:pPr algn="ctr">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Không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8" name="TextBox 8"/>
          <p:cNvSpPr txBox="1"/>
          <p:nvPr/>
        </p:nvSpPr>
        <p:spPr>
          <a:xfrm>
            <a:off x="7063740" y="2009775"/>
            <a:ext cx="3360420" cy="596265"/>
          </a:xfrm>
          <a:prstGeom prst="rect">
            <a:avLst/>
          </a:prstGeom>
        </p:spPr>
        <p:txBody>
          <a:bodyPr lIns="0" tIns="0" rIns="0" bIns="0" rtlCol="0" anchor="t">
            <a:spAutoFit/>
          </a:bodyPr>
          <a:lstStyle/>
          <a:p>
            <a:pPr algn="ctr">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Có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9" name="Group 9"/>
          <p:cNvGrpSpPr/>
          <p:nvPr/>
        </p:nvGrpSpPr>
        <p:grpSpPr>
          <a:xfrm rot="0">
            <a:off x="822960" y="2674620"/>
            <a:ext cx="2537460" cy="2125980"/>
            <a:chOff x="0" y="0"/>
            <a:chExt cx="3383280" cy="2834640"/>
          </a:xfrm>
        </p:grpSpPr>
        <p:sp>
          <p:nvSpPr>
            <p:cNvPr id="10" name="Freeform 10"/>
            <p:cNvSpPr/>
            <p:nvPr/>
          </p:nvSpPr>
          <p:spPr>
            <a:xfrm>
              <a:off x="0" y="0"/>
              <a:ext cx="3383280" cy="2834640"/>
            </a:xfrm>
            <a:custGeom>
              <a:avLst/>
              <a:gdLst/>
              <a:ahLst/>
              <a:cxnLst/>
              <a:rect l="l" t="t" r="r" b="b"/>
              <a:pathLst>
                <a:path w="3383280" h="2834640">
                  <a:moveTo>
                    <a:pt x="0" y="0"/>
                  </a:moveTo>
                  <a:lnTo>
                    <a:pt x="3383280" y="0"/>
                  </a:lnTo>
                  <a:lnTo>
                    <a:pt x="3383280" y="2834640"/>
                  </a:lnTo>
                  <a:lnTo>
                    <a:pt x="0" y="2834640"/>
                  </a:lnTo>
                  <a:close/>
                </a:path>
              </a:pathLst>
            </a:custGeom>
            <a:blipFill>
              <a:blip r:embed="rId1">
                <a:alphaModFix amt="0"/>
              </a:blip>
              <a:stretch>
                <a:fillRect l="-57497" r="-57497"/>
              </a:stretch>
            </a:blipFill>
          </p:spPr>
          <p:txBody>
            <a:bodyPr/>
            <a:p/>
          </p:txBody>
        </p:sp>
        <p:sp>
          <p:nvSpPr>
            <p:cNvPr id="11" name="TextBox 11"/>
            <p:cNvSpPr txBox="1"/>
            <p:nvPr/>
          </p:nvSpPr>
          <p:spPr>
            <a:xfrm>
              <a:off x="0" y="-47625"/>
              <a:ext cx="3383280" cy="288226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23% train (8k)</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2" name="Group 12"/>
          <p:cNvGrpSpPr/>
          <p:nvPr/>
        </p:nvGrpSpPr>
        <p:grpSpPr>
          <a:xfrm rot="0">
            <a:off x="822960" y="5006340"/>
            <a:ext cx="2537460" cy="2125980"/>
            <a:chOff x="0" y="0"/>
            <a:chExt cx="3383280" cy="2834640"/>
          </a:xfrm>
        </p:grpSpPr>
        <p:sp>
          <p:nvSpPr>
            <p:cNvPr id="13" name="Freeform 13"/>
            <p:cNvSpPr/>
            <p:nvPr/>
          </p:nvSpPr>
          <p:spPr>
            <a:xfrm>
              <a:off x="0" y="0"/>
              <a:ext cx="3383280" cy="2834640"/>
            </a:xfrm>
            <a:custGeom>
              <a:avLst/>
              <a:gdLst/>
              <a:ahLst/>
              <a:cxnLst/>
              <a:rect l="l" t="t" r="r" b="b"/>
              <a:pathLst>
                <a:path w="3383280" h="2834640">
                  <a:moveTo>
                    <a:pt x="0" y="0"/>
                  </a:moveTo>
                  <a:lnTo>
                    <a:pt x="3383280" y="0"/>
                  </a:lnTo>
                  <a:lnTo>
                    <a:pt x="3383280" y="2834640"/>
                  </a:lnTo>
                  <a:lnTo>
                    <a:pt x="0" y="2834640"/>
                  </a:lnTo>
                  <a:close/>
                </a:path>
              </a:pathLst>
            </a:custGeom>
            <a:blipFill>
              <a:blip r:embed="rId1">
                <a:alphaModFix amt="0"/>
              </a:blip>
              <a:stretch>
                <a:fillRect l="-57497" r="-57497"/>
              </a:stretch>
            </a:blipFill>
          </p:spPr>
          <p:txBody>
            <a:bodyPr/>
            <a:p/>
          </p:txBody>
        </p:sp>
        <p:sp>
          <p:nvSpPr>
            <p:cNvPr id="14" name="TextBox 14"/>
            <p:cNvSpPr txBox="1"/>
            <p:nvPr/>
          </p:nvSpPr>
          <p:spPr>
            <a:xfrm>
              <a:off x="0" y="-47625"/>
              <a:ext cx="3383280" cy="288226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100% train</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5" name="Group 15"/>
          <p:cNvGrpSpPr/>
          <p:nvPr/>
        </p:nvGrpSpPr>
        <p:grpSpPr>
          <a:xfrm rot="0">
            <a:off x="3488055" y="2665095"/>
            <a:ext cx="3379470" cy="2145030"/>
            <a:chOff x="0" y="0"/>
            <a:chExt cx="4505960" cy="2860040"/>
          </a:xfrm>
        </p:grpSpPr>
        <p:sp>
          <p:nvSpPr>
            <p:cNvPr id="16" name="Freeform 16"/>
            <p:cNvSpPr/>
            <p:nvPr/>
          </p:nvSpPr>
          <p:spPr>
            <a:xfrm>
              <a:off x="0" y="0"/>
              <a:ext cx="4505960" cy="2860040"/>
            </a:xfrm>
            <a:custGeom>
              <a:avLst/>
              <a:gdLst/>
              <a:ahLst/>
              <a:cxnLst/>
              <a:rect l="l" t="t" r="r" b="b"/>
              <a:pathLst>
                <a:path w="4505960" h="2860040">
                  <a:moveTo>
                    <a:pt x="0" y="147574"/>
                  </a:moveTo>
                  <a:cubicBezTo>
                    <a:pt x="0" y="66040"/>
                    <a:pt x="66040" y="0"/>
                    <a:pt x="147574" y="0"/>
                  </a:cubicBezTo>
                  <a:lnTo>
                    <a:pt x="4358386" y="0"/>
                  </a:lnTo>
                  <a:cubicBezTo>
                    <a:pt x="4439920" y="0"/>
                    <a:pt x="4505960" y="66040"/>
                    <a:pt x="4505960" y="147574"/>
                  </a:cubicBezTo>
                  <a:lnTo>
                    <a:pt x="4505960" y="2712466"/>
                  </a:lnTo>
                  <a:cubicBezTo>
                    <a:pt x="4505960" y="2794000"/>
                    <a:pt x="4439920" y="2860040"/>
                    <a:pt x="4358386" y="2860040"/>
                  </a:cubicBezTo>
                  <a:lnTo>
                    <a:pt x="147574" y="2860040"/>
                  </a:lnTo>
                  <a:cubicBezTo>
                    <a:pt x="66040" y="2860040"/>
                    <a:pt x="0" y="2794000"/>
                    <a:pt x="0" y="2712466"/>
                  </a:cubicBezTo>
                  <a:close/>
                </a:path>
              </a:pathLst>
            </a:custGeom>
            <a:solidFill>
              <a:srgbClr val="F3F5F8"/>
            </a:solidFill>
            <a:ln w="19050" cap="sq">
              <a:solidFill>
                <a:srgbClr val="F3F5F8"/>
              </a:solidFill>
              <a:prstDash val="solid"/>
              <a:miter/>
            </a:ln>
          </p:spPr>
          <p:txBody>
            <a:bodyPr/>
            <a:p/>
          </p:txBody>
        </p:sp>
      </p:grpSp>
      <p:sp>
        <p:nvSpPr>
          <p:cNvPr id="17" name="TextBox 17"/>
          <p:cNvSpPr txBox="1"/>
          <p:nvPr/>
        </p:nvSpPr>
        <p:spPr>
          <a:xfrm>
            <a:off x="3497580" y="2911983"/>
            <a:ext cx="3360420" cy="103822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46,56</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8" name="TextBox 18"/>
          <p:cNvSpPr txBox="1"/>
          <p:nvPr/>
        </p:nvSpPr>
        <p:spPr>
          <a:xfrm>
            <a:off x="3634740" y="3930015"/>
            <a:ext cx="3086100" cy="66484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B2-sub</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7054215" y="2665095"/>
            <a:ext cx="3379470" cy="2145030"/>
            <a:chOff x="0" y="0"/>
            <a:chExt cx="4505960" cy="2860040"/>
          </a:xfrm>
        </p:grpSpPr>
        <p:sp>
          <p:nvSpPr>
            <p:cNvPr id="20" name="Freeform 20"/>
            <p:cNvSpPr/>
            <p:nvPr/>
          </p:nvSpPr>
          <p:spPr>
            <a:xfrm>
              <a:off x="0" y="0"/>
              <a:ext cx="4505960" cy="2860040"/>
            </a:xfrm>
            <a:custGeom>
              <a:avLst/>
              <a:gdLst/>
              <a:ahLst/>
              <a:cxnLst/>
              <a:rect l="l" t="t" r="r" b="b"/>
              <a:pathLst>
                <a:path w="4505960" h="2860040">
                  <a:moveTo>
                    <a:pt x="0" y="147574"/>
                  </a:moveTo>
                  <a:cubicBezTo>
                    <a:pt x="0" y="66040"/>
                    <a:pt x="66040" y="0"/>
                    <a:pt x="147574" y="0"/>
                  </a:cubicBezTo>
                  <a:lnTo>
                    <a:pt x="4358386" y="0"/>
                  </a:lnTo>
                  <a:cubicBezTo>
                    <a:pt x="4439920" y="0"/>
                    <a:pt x="4505960" y="66040"/>
                    <a:pt x="4505960" y="147574"/>
                  </a:cubicBezTo>
                  <a:lnTo>
                    <a:pt x="4505960" y="2712466"/>
                  </a:lnTo>
                  <a:cubicBezTo>
                    <a:pt x="4505960" y="2794000"/>
                    <a:pt x="4439920" y="2860040"/>
                    <a:pt x="4358386" y="2860040"/>
                  </a:cubicBezTo>
                  <a:lnTo>
                    <a:pt x="147574" y="2860040"/>
                  </a:lnTo>
                  <a:cubicBezTo>
                    <a:pt x="66040" y="2860040"/>
                    <a:pt x="0" y="2794000"/>
                    <a:pt x="0" y="2712466"/>
                  </a:cubicBezTo>
                  <a:close/>
                </a:path>
              </a:pathLst>
            </a:custGeom>
            <a:solidFill>
              <a:srgbClr val="F3F5F8"/>
            </a:solidFill>
            <a:ln w="19050" cap="sq">
              <a:solidFill>
                <a:srgbClr val="F3F5F8"/>
              </a:solidFill>
              <a:prstDash val="solid"/>
              <a:miter/>
            </a:ln>
          </p:spPr>
          <p:txBody>
            <a:bodyPr/>
            <a:p/>
          </p:txBody>
        </p:sp>
      </p:grpSp>
      <p:sp>
        <p:nvSpPr>
          <p:cNvPr id="21" name="TextBox 21"/>
          <p:cNvSpPr txBox="1"/>
          <p:nvPr/>
        </p:nvSpPr>
        <p:spPr>
          <a:xfrm>
            <a:off x="7063740" y="2911983"/>
            <a:ext cx="3360420" cy="103822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49,10</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2" name="TextBox 22"/>
          <p:cNvSpPr txBox="1"/>
          <p:nvPr/>
        </p:nvSpPr>
        <p:spPr>
          <a:xfrm>
            <a:off x="7200900" y="3930015"/>
            <a:ext cx="3086100" cy="66484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3488055" y="4996815"/>
            <a:ext cx="3379470" cy="2145030"/>
            <a:chOff x="0" y="0"/>
            <a:chExt cx="4505960" cy="2860040"/>
          </a:xfrm>
        </p:grpSpPr>
        <p:sp>
          <p:nvSpPr>
            <p:cNvPr id="24" name="Freeform 24"/>
            <p:cNvSpPr/>
            <p:nvPr/>
          </p:nvSpPr>
          <p:spPr>
            <a:xfrm>
              <a:off x="0" y="0"/>
              <a:ext cx="4505960" cy="2860040"/>
            </a:xfrm>
            <a:custGeom>
              <a:avLst/>
              <a:gdLst/>
              <a:ahLst/>
              <a:cxnLst/>
              <a:rect l="l" t="t" r="r" b="b"/>
              <a:pathLst>
                <a:path w="4505960" h="2860040">
                  <a:moveTo>
                    <a:pt x="0" y="147574"/>
                  </a:moveTo>
                  <a:cubicBezTo>
                    <a:pt x="0" y="66040"/>
                    <a:pt x="66040" y="0"/>
                    <a:pt x="147574" y="0"/>
                  </a:cubicBezTo>
                  <a:lnTo>
                    <a:pt x="4358386" y="0"/>
                  </a:lnTo>
                  <a:cubicBezTo>
                    <a:pt x="4439920" y="0"/>
                    <a:pt x="4505960" y="66040"/>
                    <a:pt x="4505960" y="147574"/>
                  </a:cubicBezTo>
                  <a:lnTo>
                    <a:pt x="4505960" y="2712466"/>
                  </a:lnTo>
                  <a:cubicBezTo>
                    <a:pt x="4505960" y="2794000"/>
                    <a:pt x="4439920" y="2860040"/>
                    <a:pt x="4358386" y="2860040"/>
                  </a:cubicBezTo>
                  <a:lnTo>
                    <a:pt x="147574" y="2860040"/>
                  </a:lnTo>
                  <a:cubicBezTo>
                    <a:pt x="66040" y="2860040"/>
                    <a:pt x="0" y="2794000"/>
                    <a:pt x="0" y="2712466"/>
                  </a:cubicBezTo>
                  <a:close/>
                </a:path>
              </a:pathLst>
            </a:custGeom>
            <a:solidFill>
              <a:srgbClr val="F3F5F8"/>
            </a:solidFill>
            <a:ln w="19050" cap="sq">
              <a:solidFill>
                <a:srgbClr val="F3F5F8"/>
              </a:solidFill>
              <a:prstDash val="solid"/>
              <a:miter/>
            </a:ln>
          </p:spPr>
          <p:txBody>
            <a:bodyPr/>
            <a:p/>
          </p:txBody>
        </p:sp>
      </p:grpSp>
      <p:sp>
        <p:nvSpPr>
          <p:cNvPr id="25" name="TextBox 25"/>
          <p:cNvSpPr txBox="1"/>
          <p:nvPr/>
        </p:nvSpPr>
        <p:spPr>
          <a:xfrm>
            <a:off x="3497580" y="5243703"/>
            <a:ext cx="3360420" cy="103822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50,26</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6" name="TextBox 26"/>
          <p:cNvSpPr txBox="1"/>
          <p:nvPr/>
        </p:nvSpPr>
        <p:spPr>
          <a:xfrm>
            <a:off x="3634740" y="6261735"/>
            <a:ext cx="3086100" cy="66484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B2</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7" name="Group 27"/>
          <p:cNvGrpSpPr/>
          <p:nvPr/>
        </p:nvGrpSpPr>
        <p:grpSpPr>
          <a:xfrm rot="0">
            <a:off x="7054215" y="4996815"/>
            <a:ext cx="3379470" cy="2145030"/>
            <a:chOff x="0" y="0"/>
            <a:chExt cx="4505960" cy="2860040"/>
          </a:xfrm>
        </p:grpSpPr>
        <p:sp>
          <p:nvSpPr>
            <p:cNvPr id="28" name="Freeform 28"/>
            <p:cNvSpPr/>
            <p:nvPr/>
          </p:nvSpPr>
          <p:spPr>
            <a:xfrm>
              <a:off x="0" y="0"/>
              <a:ext cx="4505960" cy="2860040"/>
            </a:xfrm>
            <a:custGeom>
              <a:avLst/>
              <a:gdLst/>
              <a:ahLst/>
              <a:cxnLst/>
              <a:rect l="l" t="t" r="r" b="b"/>
              <a:pathLst>
                <a:path w="4505960" h="2860040">
                  <a:moveTo>
                    <a:pt x="0" y="147574"/>
                  </a:moveTo>
                  <a:cubicBezTo>
                    <a:pt x="0" y="66040"/>
                    <a:pt x="66040" y="0"/>
                    <a:pt x="147574" y="0"/>
                  </a:cubicBezTo>
                  <a:lnTo>
                    <a:pt x="4358386" y="0"/>
                  </a:lnTo>
                  <a:cubicBezTo>
                    <a:pt x="4439920" y="0"/>
                    <a:pt x="4505960" y="66040"/>
                    <a:pt x="4505960" y="147574"/>
                  </a:cubicBezTo>
                  <a:lnTo>
                    <a:pt x="4505960" y="2712466"/>
                  </a:lnTo>
                  <a:cubicBezTo>
                    <a:pt x="4505960" y="2794000"/>
                    <a:pt x="4439920" y="2860040"/>
                    <a:pt x="4358386" y="2860040"/>
                  </a:cubicBezTo>
                  <a:lnTo>
                    <a:pt x="147574" y="2860040"/>
                  </a:lnTo>
                  <a:cubicBezTo>
                    <a:pt x="66040" y="2860040"/>
                    <a:pt x="0" y="2794000"/>
                    <a:pt x="0" y="2712466"/>
                  </a:cubicBezTo>
                  <a:close/>
                </a:path>
              </a:pathLst>
            </a:custGeom>
            <a:solidFill>
              <a:srgbClr val="FBF0DA"/>
            </a:solidFill>
            <a:ln w="19050" cap="sq">
              <a:solidFill>
                <a:srgbClr val="FBF0DA"/>
              </a:solidFill>
              <a:prstDash val="solid"/>
              <a:miter/>
            </a:ln>
          </p:spPr>
          <p:txBody>
            <a:bodyPr/>
            <a:p/>
          </p:txBody>
        </p:sp>
      </p:grpSp>
      <p:sp>
        <p:nvSpPr>
          <p:cNvPr id="29" name="TextBox 29"/>
          <p:cNvSpPr txBox="1"/>
          <p:nvPr/>
        </p:nvSpPr>
        <p:spPr>
          <a:xfrm>
            <a:off x="7063740" y="5243703"/>
            <a:ext cx="3360420" cy="1038225"/>
          </a:xfrm>
          <a:prstGeom prst="rect">
            <a:avLst/>
          </a:prstGeom>
        </p:spPr>
        <p:txBody>
          <a:bodyPr lIns="0" tIns="0" rIns="0" bIns="0" rtlCol="0" anchor="t">
            <a:spAutoFit/>
          </a:bodyPr>
          <a:lstStyle/>
          <a:p>
            <a:pPr algn="ctr">
              <a:lnSpc>
                <a:spcPts val="6120"/>
              </a:lnSpc>
            </a:pPr>
            <a:r>
              <a:rPr lang="en-US" sz="5100" b="1">
                <a:solidFill>
                  <a:srgbClr val="E8A33D"/>
                </a:solidFill>
                <a:latin typeface="Cambria Bold" panose="02040803050406030204"/>
                <a:ea typeface="Cambria Bold" panose="02040803050406030204"/>
                <a:cs typeface="Cambria Bold" panose="02040803050406030204"/>
                <a:sym typeface="Cambria Bold" panose="02040803050406030204"/>
              </a:rPr>
              <a:t>53,35</a:t>
            </a:r>
            <a:endParaRPr lang="en-US" sz="51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30" name="TextBox 30"/>
          <p:cNvSpPr txBox="1"/>
          <p:nvPr/>
        </p:nvSpPr>
        <p:spPr>
          <a:xfrm>
            <a:off x="7200900" y="6261735"/>
            <a:ext cx="3086100" cy="66484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B3-full (đề xuất)</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1" name="TextBox 31"/>
          <p:cNvSpPr txBox="1"/>
          <p:nvPr/>
        </p:nvSpPr>
        <p:spPr>
          <a:xfrm>
            <a:off x="3497580" y="7258812"/>
            <a:ext cx="6926580" cy="518160"/>
          </a:xfrm>
          <a:prstGeom prst="rect">
            <a:avLst/>
          </a:prstGeom>
        </p:spPr>
        <p:txBody>
          <a:bodyPr lIns="0" tIns="0" rIns="0" bIns="0" rtlCol="0" anchor="t">
            <a:spAutoFit/>
          </a:bodyPr>
          <a:lstStyle/>
          <a:p>
            <a:pPr algn="ctr">
              <a:lnSpc>
                <a:spcPts val="2160"/>
              </a:lnSpc>
            </a:pPr>
            <a:r>
              <a:rPr lang="en-US" sz="1800">
                <a:solidFill>
                  <a:srgbClr val="6B7280"/>
                </a:solidFill>
                <a:latin typeface="Calibri (MS)" panose="020F0502020204030204"/>
                <a:ea typeface="Calibri (MS)" panose="020F0502020204030204"/>
                <a:cs typeface="Calibri (MS)" panose="020F0502020204030204"/>
                <a:sym typeface="Calibri (MS)" panose="020F0502020204030204"/>
              </a:rPr>
              <a:t>EM (%), ViTextVQA full test (10.028 câu), seed 42</a:t>
            </a:r>
            <a:endParaRPr lang="en-US" sz="18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nvGrpSpPr>
          <p:cNvPr id="32" name="Group 32"/>
          <p:cNvGrpSpPr/>
          <p:nvPr/>
        </p:nvGrpSpPr>
        <p:grpSpPr>
          <a:xfrm rot="0">
            <a:off x="11031855" y="2047875"/>
            <a:ext cx="6442253" cy="3173730"/>
            <a:chOff x="0" y="0"/>
            <a:chExt cx="8589670" cy="4231640"/>
          </a:xfrm>
        </p:grpSpPr>
        <p:sp>
          <p:nvSpPr>
            <p:cNvPr id="33" name="Freeform 33"/>
            <p:cNvSpPr/>
            <p:nvPr/>
          </p:nvSpPr>
          <p:spPr>
            <a:xfrm>
              <a:off x="0" y="0"/>
              <a:ext cx="8589645" cy="4231640"/>
            </a:xfrm>
            <a:custGeom>
              <a:avLst/>
              <a:gdLst/>
              <a:ahLst/>
              <a:cxnLst/>
              <a:rect l="l" t="t" r="r" b="b"/>
              <a:pathLst>
                <a:path w="8589645" h="4231640">
                  <a:moveTo>
                    <a:pt x="0" y="147193"/>
                  </a:moveTo>
                  <a:cubicBezTo>
                    <a:pt x="0" y="65913"/>
                    <a:pt x="65913" y="0"/>
                    <a:pt x="147193" y="0"/>
                  </a:cubicBezTo>
                  <a:lnTo>
                    <a:pt x="8442452" y="0"/>
                  </a:lnTo>
                  <a:cubicBezTo>
                    <a:pt x="8523732" y="0"/>
                    <a:pt x="8589645" y="65913"/>
                    <a:pt x="8589645" y="147193"/>
                  </a:cubicBezTo>
                  <a:lnTo>
                    <a:pt x="8589645" y="4084447"/>
                  </a:lnTo>
                  <a:cubicBezTo>
                    <a:pt x="8589645" y="4165727"/>
                    <a:pt x="8523732" y="4231640"/>
                    <a:pt x="8442452" y="4231640"/>
                  </a:cubicBezTo>
                  <a:lnTo>
                    <a:pt x="147193" y="4231640"/>
                  </a:lnTo>
                  <a:cubicBezTo>
                    <a:pt x="65913" y="4231640"/>
                    <a:pt x="0" y="4165727"/>
                    <a:pt x="0" y="4084447"/>
                  </a:cubicBezTo>
                  <a:close/>
                </a:path>
              </a:pathLst>
            </a:custGeom>
            <a:solidFill>
              <a:srgbClr val="F3F5F8"/>
            </a:solidFill>
            <a:ln w="19050" cap="sq">
              <a:solidFill>
                <a:srgbClr val="F3F5F8"/>
              </a:solidFill>
              <a:prstDash val="solid"/>
              <a:miter/>
            </a:ln>
          </p:spPr>
          <p:txBody>
            <a:bodyPr/>
            <a:p/>
          </p:txBody>
        </p:sp>
      </p:grpSp>
      <p:sp>
        <p:nvSpPr>
          <p:cNvPr id="34" name="TextBox 34"/>
          <p:cNvSpPr txBox="1"/>
          <p:nvPr/>
        </p:nvSpPr>
        <p:spPr>
          <a:xfrm>
            <a:off x="11384280" y="2183892"/>
            <a:ext cx="573740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Kiểm định ghép cặp (McNemar, EM)</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5" name="TextBox 35"/>
          <p:cNvSpPr txBox="1"/>
          <p:nvPr/>
        </p:nvSpPr>
        <p:spPr>
          <a:xfrm>
            <a:off x="11384280" y="2764155"/>
            <a:ext cx="5737403" cy="2379345"/>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OCR ở 23% dữ liệu: +2,54 (p = 10⁻¹⁴)</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OCR ở 100% dữ liệu: +3,09 (705 so với 395 câu, p = 7 × 10⁻²¹)</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ΔANLS +1,87 (CI95 +1,38 đến +2,36)</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Hơn ViTextBLIP-2: 25,48 EM / 53,95 F1</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6" name="Group 36"/>
          <p:cNvGrpSpPr/>
          <p:nvPr/>
        </p:nvGrpSpPr>
        <p:grpSpPr>
          <a:xfrm rot="0">
            <a:off x="11031855" y="5476875"/>
            <a:ext cx="6442253" cy="1939290"/>
            <a:chOff x="0" y="0"/>
            <a:chExt cx="8589670" cy="2585720"/>
          </a:xfrm>
        </p:grpSpPr>
        <p:sp>
          <p:nvSpPr>
            <p:cNvPr id="37" name="Freeform 37"/>
            <p:cNvSpPr/>
            <p:nvPr/>
          </p:nvSpPr>
          <p:spPr>
            <a:xfrm>
              <a:off x="0" y="0"/>
              <a:ext cx="8589645" cy="2585720"/>
            </a:xfrm>
            <a:custGeom>
              <a:avLst/>
              <a:gdLst/>
              <a:ahLst/>
              <a:cxnLst/>
              <a:rect l="l" t="t" r="r" b="b"/>
              <a:pathLst>
                <a:path w="8589645" h="2585720">
                  <a:moveTo>
                    <a:pt x="0" y="147701"/>
                  </a:moveTo>
                  <a:cubicBezTo>
                    <a:pt x="0" y="66167"/>
                    <a:pt x="66167" y="0"/>
                    <a:pt x="147701" y="0"/>
                  </a:cubicBezTo>
                  <a:lnTo>
                    <a:pt x="8441944" y="0"/>
                  </a:lnTo>
                  <a:cubicBezTo>
                    <a:pt x="8523605" y="0"/>
                    <a:pt x="8589645" y="66167"/>
                    <a:pt x="8589645" y="147701"/>
                  </a:cubicBezTo>
                  <a:lnTo>
                    <a:pt x="8589645" y="2438019"/>
                  </a:lnTo>
                  <a:cubicBezTo>
                    <a:pt x="8589645" y="2519680"/>
                    <a:pt x="8523477" y="2585720"/>
                    <a:pt x="8441944" y="2585720"/>
                  </a:cubicBezTo>
                  <a:lnTo>
                    <a:pt x="147701" y="2585720"/>
                  </a:lnTo>
                  <a:cubicBezTo>
                    <a:pt x="66167" y="2585720"/>
                    <a:pt x="0" y="2519553"/>
                    <a:pt x="0" y="2438019"/>
                  </a:cubicBezTo>
                  <a:close/>
                </a:path>
              </a:pathLst>
            </a:custGeom>
            <a:solidFill>
              <a:srgbClr val="E7F0F3"/>
            </a:solidFill>
            <a:ln w="19050" cap="sq">
              <a:solidFill>
                <a:srgbClr val="E7F0F3"/>
              </a:solidFill>
              <a:prstDash val="solid"/>
              <a:miter/>
            </a:ln>
          </p:spPr>
          <p:txBody>
            <a:bodyPr/>
            <a:p/>
          </p:txBody>
        </p:sp>
      </p:grpSp>
      <p:grpSp>
        <p:nvGrpSpPr>
          <p:cNvPr id="38" name="Group 38"/>
          <p:cNvGrpSpPr/>
          <p:nvPr/>
        </p:nvGrpSpPr>
        <p:grpSpPr>
          <a:xfrm rot="0">
            <a:off x="11384280" y="5486400"/>
            <a:ext cx="5737403" cy="1920240"/>
            <a:chOff x="0" y="0"/>
            <a:chExt cx="7649870" cy="2560320"/>
          </a:xfrm>
        </p:grpSpPr>
        <p:sp>
          <p:nvSpPr>
            <p:cNvPr id="39" name="Freeform 39"/>
            <p:cNvSpPr/>
            <p:nvPr/>
          </p:nvSpPr>
          <p:spPr>
            <a:xfrm>
              <a:off x="0" y="0"/>
              <a:ext cx="7649870" cy="2560320"/>
            </a:xfrm>
            <a:custGeom>
              <a:avLst/>
              <a:gdLst/>
              <a:ahLst/>
              <a:cxnLst/>
              <a:rect l="l" t="t" r="r" b="b"/>
              <a:pathLst>
                <a:path w="7649870" h="2560320">
                  <a:moveTo>
                    <a:pt x="0" y="0"/>
                  </a:moveTo>
                  <a:lnTo>
                    <a:pt x="7649870" y="0"/>
                  </a:lnTo>
                  <a:lnTo>
                    <a:pt x="7649870" y="2560320"/>
                  </a:lnTo>
                  <a:lnTo>
                    <a:pt x="0" y="2560320"/>
                  </a:lnTo>
                  <a:close/>
                </a:path>
              </a:pathLst>
            </a:custGeom>
            <a:blipFill>
              <a:blip r:embed="rId1">
                <a:alphaModFix amt="0"/>
              </a:blip>
              <a:stretch>
                <a:fillRect t="-8218" b="-8218"/>
              </a:stretch>
            </a:blipFill>
          </p:spPr>
          <p:txBody>
            <a:bodyPr/>
            <a:p/>
          </p:txBody>
        </p:sp>
        <p:sp>
          <p:nvSpPr>
            <p:cNvPr id="40" name="TextBox 40"/>
            <p:cNvSpPr txBox="1"/>
            <p:nvPr/>
          </p:nvSpPr>
          <p:spPr>
            <a:xfrm>
              <a:off x="0" y="-57150"/>
              <a:ext cx="7649870" cy="2617470"/>
            </a:xfrm>
            <a:prstGeom prst="rect">
              <a:avLst/>
            </a:prstGeom>
          </p:spPr>
          <p:txBody>
            <a:bodyPr lIns="0" tIns="0" rIns="0" bIns="0" rtlCol="0" anchor="ctr"/>
            <a:lstStyle/>
            <a:p>
              <a:pPr algn="l">
                <a:lnSpc>
                  <a:spcPts val="2700"/>
                </a:lnSpc>
              </a:pP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Tương tác dữ liệu × OCR +0,55 </a:t>
              </a:r>
              <a:r>
                <a:rPr lang="en-US" sz="2250">
                  <a:solidFill>
                    <a:srgbClr val="243044"/>
                  </a:solidFill>
                  <a:latin typeface="Calibri (MS)" panose="020F0502020204030204"/>
                  <a:ea typeface="Calibri (MS)" panose="020F0502020204030204"/>
                  <a:cs typeface="Calibri (MS)" panose="020F0502020204030204"/>
                  <a:sym typeface="Calibri (MS)" panose="020F0502020204030204"/>
                </a:rPr>
                <a:t>(CI95 −0,20 đến +1,29) → lợi ích của OCR không giảm khi thêm dữ liệu</a:t>
              </a:r>
            </a:p>
          </p:txBody>
        </p:sp>
      </p:grpSp>
      <p:grpSp>
        <p:nvGrpSpPr>
          <p:cNvPr id="41" name="Group 41"/>
          <p:cNvGrpSpPr/>
          <p:nvPr/>
        </p:nvGrpSpPr>
        <p:grpSpPr>
          <a:xfrm rot="0">
            <a:off x="813435" y="8014335"/>
            <a:ext cx="16660673" cy="1390650"/>
            <a:chOff x="0" y="0"/>
            <a:chExt cx="22214230" cy="1854200"/>
          </a:xfrm>
        </p:grpSpPr>
        <p:sp>
          <p:nvSpPr>
            <p:cNvPr id="42" name="Freeform 42"/>
            <p:cNvSpPr/>
            <p:nvPr/>
          </p:nvSpPr>
          <p:spPr>
            <a:xfrm>
              <a:off x="0" y="0"/>
              <a:ext cx="22214205" cy="1854200"/>
            </a:xfrm>
            <a:custGeom>
              <a:avLst/>
              <a:gdLst/>
              <a:ahLst/>
              <a:cxnLst/>
              <a:rect l="l" t="t" r="r" b="b"/>
              <a:pathLst>
                <a:path w="22214205" h="1854200">
                  <a:moveTo>
                    <a:pt x="0" y="148336"/>
                  </a:moveTo>
                  <a:cubicBezTo>
                    <a:pt x="0" y="66421"/>
                    <a:pt x="66421" y="0"/>
                    <a:pt x="148336" y="0"/>
                  </a:cubicBezTo>
                  <a:lnTo>
                    <a:pt x="22065869" y="0"/>
                  </a:lnTo>
                  <a:cubicBezTo>
                    <a:pt x="22147783" y="0"/>
                    <a:pt x="22214205" y="66421"/>
                    <a:pt x="22214205" y="148336"/>
                  </a:cubicBezTo>
                  <a:lnTo>
                    <a:pt x="22214205" y="1705864"/>
                  </a:lnTo>
                  <a:cubicBezTo>
                    <a:pt x="22214205" y="1787779"/>
                    <a:pt x="22147783" y="1854200"/>
                    <a:pt x="22065869" y="1854200"/>
                  </a:cubicBezTo>
                  <a:lnTo>
                    <a:pt x="148336" y="1854200"/>
                  </a:lnTo>
                  <a:cubicBezTo>
                    <a:pt x="66421" y="1854200"/>
                    <a:pt x="0" y="1787779"/>
                    <a:pt x="0" y="1705864"/>
                  </a:cubicBezTo>
                  <a:close/>
                </a:path>
              </a:pathLst>
            </a:custGeom>
            <a:solidFill>
              <a:srgbClr val="FBF0DA"/>
            </a:solidFill>
            <a:ln w="19050" cap="sq">
              <a:solidFill>
                <a:srgbClr val="FBF0DA"/>
              </a:solidFill>
              <a:prstDash val="solid"/>
              <a:miter/>
            </a:ln>
          </p:spPr>
          <p:txBody>
            <a:bodyPr/>
            <a:p/>
          </p:txBody>
        </p:sp>
      </p:grpSp>
      <p:grpSp>
        <p:nvGrpSpPr>
          <p:cNvPr id="43" name="Group 43"/>
          <p:cNvGrpSpPr/>
          <p:nvPr/>
        </p:nvGrpSpPr>
        <p:grpSpPr>
          <a:xfrm rot="0">
            <a:off x="1234440" y="8023860"/>
            <a:ext cx="15818663" cy="1371600"/>
            <a:chOff x="0" y="0"/>
            <a:chExt cx="21091550" cy="1828800"/>
          </a:xfrm>
        </p:grpSpPr>
        <p:sp>
          <p:nvSpPr>
            <p:cNvPr id="44" name="Freeform 44"/>
            <p:cNvSpPr/>
            <p:nvPr/>
          </p:nvSpPr>
          <p:spPr>
            <a:xfrm>
              <a:off x="0" y="0"/>
              <a:ext cx="21091550" cy="1828800"/>
            </a:xfrm>
            <a:custGeom>
              <a:avLst/>
              <a:gdLst/>
              <a:ahLst/>
              <a:cxnLst/>
              <a:rect l="l" t="t" r="r" b="b"/>
              <a:pathLst>
                <a:path w="21091550" h="1828800">
                  <a:moveTo>
                    <a:pt x="0" y="0"/>
                  </a:moveTo>
                  <a:lnTo>
                    <a:pt x="21091550" y="0"/>
                  </a:lnTo>
                  <a:lnTo>
                    <a:pt x="21091550" y="1828800"/>
                  </a:lnTo>
                  <a:lnTo>
                    <a:pt x="0" y="1828800"/>
                  </a:lnTo>
                  <a:close/>
                </a:path>
              </a:pathLst>
            </a:custGeom>
            <a:blipFill>
              <a:blip r:embed="rId1">
                <a:alphaModFix amt="0"/>
              </a:blip>
              <a:stretch>
                <a:fillRect t="-174720" b="-174720"/>
              </a:stretch>
            </a:blipFill>
          </p:spPr>
          <p:txBody>
            <a:bodyPr/>
            <a:p/>
          </p:txBody>
        </p:sp>
        <p:sp>
          <p:nvSpPr>
            <p:cNvPr id="45" name="TextBox 45"/>
            <p:cNvSpPr txBox="1"/>
            <p:nvPr/>
          </p:nvSpPr>
          <p:spPr>
            <a:xfrm>
              <a:off x="0" y="-57150"/>
              <a:ext cx="21091550" cy="1885950"/>
            </a:xfrm>
            <a:prstGeom prst="rect">
              <a:avLst/>
            </a:prstGeom>
          </p:spPr>
          <p:txBody>
            <a:bodyPr lIns="0" tIns="0" rIns="0" bIns="0" rtlCol="0" anchor="ctr"/>
            <a:lstStyle/>
            <a:p>
              <a:pPr algn="l">
                <a:lnSpc>
                  <a:spcPts val="2700"/>
                </a:lnSpc>
              </a:pP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Kết luận  </a:t>
              </a:r>
              <a:r>
                <a:rPr lang="en-US" sz="2250">
                  <a:solidFill>
                    <a:srgbClr val="243044"/>
                  </a:solidFill>
                  <a:latin typeface="Calibri (MS)" panose="020F0502020204030204"/>
                  <a:ea typeface="Calibri (MS)" panose="020F0502020204030204"/>
                  <a:cs typeface="Calibri (MS)" panose="020F0502020204030204"/>
                  <a:sym typeface="Calibri (MS)" panose="020F0502020204030204"/>
                </a:rPr>
                <a:t>B3-full là mô hình ViTextVQA chính thức: EM 53,35 / F1 73,73 — EM gấp đôi SOTA công bố; 12,8 h train trên một L4 (B2: 12,0 h).</a:t>
              </a: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11 · ABLATION CẤU HÌNH LoRA</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Cấu hình LoRA đã hợp lý — giữ r = 16 trên q, k, v, o</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130552"/>
          <a:ext cx="16568927" cy="3524250"/>
        </p:xfrm>
        <a:graphic>
          <a:graphicData uri="http://schemas.openxmlformats.org/drawingml/2006/table">
            <a:tbl>
              <a:tblPr/>
              <a:tblGrid>
                <a:gridCol w="3749039"/>
                <a:gridCol w="3931920"/>
                <a:gridCol w="2377440"/>
                <a:gridCol w="1188720"/>
                <a:gridCol w="2743200"/>
                <a:gridCol w="2578608"/>
              </a:tblGrid>
              <a:tr h="70485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Run (công thức B3, test2000)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LoRA gắn vào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Tham số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ΔEM so với B3 · p</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Train · adapter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704850">
                <a:tc>
                  <a:txBody>
                    <a:bodyPr rtlCol="0"/>
                    <a:lstStyle/>
                    <a:p>
                      <a:pPr algn="l">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B3 (mốc)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q, k, v, o · r 16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7,37 tr · 0,196%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49,25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3,0 h · 29,5 MB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0485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A1 · module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 MLP (gate, up, down) · r 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7,48 tr · 0,199%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48,70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−0,55 · p = 0,34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3,5 h · 30,0 MB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0485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A2 · rank</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q, k, v, o · r 64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29,5 tr · 0,779%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50,30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+1,05 · p = 0,07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2,9 h · 118 MB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8" name="Group 8"/>
          <p:cNvGrpSpPr/>
          <p:nvPr/>
        </p:nvGrpSpPr>
        <p:grpSpPr>
          <a:xfrm rot="0">
            <a:off x="813435" y="6025515"/>
            <a:ext cx="5200498" cy="2556510"/>
            <a:chOff x="0" y="0"/>
            <a:chExt cx="6933997" cy="3408680"/>
          </a:xfrm>
        </p:grpSpPr>
        <p:sp>
          <p:nvSpPr>
            <p:cNvPr id="9" name="Freeform 9"/>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F3F5F8"/>
            </a:solidFill>
            <a:ln w="19050" cap="sq">
              <a:solidFill>
                <a:srgbClr val="F3F5F8"/>
              </a:solidFill>
              <a:prstDash val="solid"/>
              <a:miter/>
            </a:ln>
          </p:spPr>
          <p:txBody>
            <a:bodyPr/>
            <a:p/>
          </p:txBody>
        </p:sp>
      </p:grpSp>
      <p:sp>
        <p:nvSpPr>
          <p:cNvPr id="10" name="TextBox 10"/>
          <p:cNvSpPr txBox="1"/>
          <p:nvPr/>
        </p:nvSpPr>
        <p:spPr>
          <a:xfrm>
            <a:off x="1165860" y="620268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A1: thêm MLP không giúp</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165860" y="6878955"/>
            <a:ext cx="4495648" cy="148780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Cùng ngân sách tham số: CI95 [−1,60; +0,45]; chậm hơn 17,5% mỗi step</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6543523" y="6025515"/>
            <a:ext cx="5200498" cy="2556510"/>
            <a:chOff x="0" y="0"/>
            <a:chExt cx="6933997" cy="3408680"/>
          </a:xfrm>
        </p:grpSpPr>
        <p:sp>
          <p:nvSpPr>
            <p:cNvPr id="13" name="Freeform 13"/>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F3F5F8"/>
            </a:solidFill>
            <a:ln w="19050" cap="sq">
              <a:solidFill>
                <a:srgbClr val="F3F5F8"/>
              </a:solidFill>
              <a:prstDash val="solid"/>
              <a:miter/>
            </a:ln>
          </p:spPr>
          <p:txBody>
            <a:bodyPr/>
            <a:p/>
          </p:txBody>
        </p:sp>
      </p:grpSp>
      <p:sp>
        <p:nvSpPr>
          <p:cNvPr id="14" name="TextBox 14"/>
          <p:cNvSpPr txBox="1"/>
          <p:nvPr/>
        </p:nvSpPr>
        <p:spPr>
          <a:xfrm>
            <a:off x="6895948" y="620268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A2: rank 64 không khác rõ</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6895948" y="6878955"/>
            <a:ext cx="4495648" cy="148780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CI95 [−0,05; +2,15], p = 0,07 — dưới ngưỡng; adapter lớn gấp 4</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6" name="Group 16"/>
          <p:cNvGrpSpPr/>
          <p:nvPr/>
        </p:nvGrpSpPr>
        <p:grpSpPr>
          <a:xfrm rot="0">
            <a:off x="12273610" y="6025515"/>
            <a:ext cx="5200498" cy="2556510"/>
            <a:chOff x="0" y="0"/>
            <a:chExt cx="6933997" cy="3408680"/>
          </a:xfrm>
        </p:grpSpPr>
        <p:sp>
          <p:nvSpPr>
            <p:cNvPr id="17" name="Freeform 17"/>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E7F0F3"/>
            </a:solidFill>
            <a:ln w="19050" cap="sq">
              <a:solidFill>
                <a:srgbClr val="E7F0F3"/>
              </a:solidFill>
              <a:prstDash val="solid"/>
              <a:miter/>
            </a:ln>
          </p:spPr>
          <p:txBody>
            <a:bodyPr/>
            <a:p/>
          </p:txBody>
        </p:sp>
      </p:grpSp>
      <p:sp>
        <p:nvSpPr>
          <p:cNvPr id="18" name="TextBox 18"/>
          <p:cNvSpPr txBox="1"/>
          <p:nvPr/>
        </p:nvSpPr>
        <p:spPr>
          <a:xfrm>
            <a:off x="12626035" y="6202680"/>
            <a:ext cx="4495648" cy="6553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Quyết định</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9" name="TextBox 19"/>
          <p:cNvSpPr txBox="1"/>
          <p:nvPr/>
        </p:nvSpPr>
        <p:spPr>
          <a:xfrm>
            <a:off x="12626035" y="6878955"/>
            <a:ext cx="4495648" cy="148780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Giữ r = 16 trên q, k, v, o cho mọi run; không chọn cấu hình bằng test</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0" name="Group 20"/>
          <p:cNvGrpSpPr/>
          <p:nvPr/>
        </p:nvGrpSpPr>
        <p:grpSpPr>
          <a:xfrm rot="0">
            <a:off x="822960" y="8709660"/>
            <a:ext cx="16641623" cy="850392"/>
            <a:chOff x="0" y="0"/>
            <a:chExt cx="22188830" cy="1133856"/>
          </a:xfrm>
        </p:grpSpPr>
        <p:sp>
          <p:nvSpPr>
            <p:cNvPr id="21" name="Freeform 21"/>
            <p:cNvSpPr/>
            <p:nvPr/>
          </p:nvSpPr>
          <p:spPr>
            <a:xfrm>
              <a:off x="0" y="0"/>
              <a:ext cx="22188830" cy="1133856"/>
            </a:xfrm>
            <a:custGeom>
              <a:avLst/>
              <a:gdLst/>
              <a:ahLst/>
              <a:cxnLst/>
              <a:rect l="l" t="t" r="r" b="b"/>
              <a:pathLst>
                <a:path w="22188830" h="1133856">
                  <a:moveTo>
                    <a:pt x="0" y="0"/>
                  </a:moveTo>
                  <a:lnTo>
                    <a:pt x="22188830" y="0"/>
                  </a:lnTo>
                  <a:lnTo>
                    <a:pt x="22188830" y="1133856"/>
                  </a:lnTo>
                  <a:lnTo>
                    <a:pt x="0" y="1133856"/>
                  </a:lnTo>
                  <a:close/>
                </a:path>
              </a:pathLst>
            </a:custGeom>
            <a:blipFill>
              <a:blip r:embed="rId1">
                <a:alphaModFix amt="0"/>
              </a:blip>
              <a:stretch>
                <a:fillRect t="-331309" b="-331309"/>
              </a:stretch>
            </a:blipFill>
          </p:spPr>
          <p:txBody>
            <a:bodyPr/>
            <a:p/>
          </p:txBody>
        </p:sp>
        <p:sp>
          <p:nvSpPr>
            <p:cNvPr id="22" name="TextBox 22"/>
            <p:cNvSpPr txBox="1"/>
            <p:nvPr/>
          </p:nvSpPr>
          <p:spPr>
            <a:xfrm>
              <a:off x="0" y="-38100"/>
              <a:ext cx="22188830" cy="1171956"/>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Luật chốt trước: chỉ kết luận khác biệt khi McNemar p &lt; 0,05. Một seed (42); độ lệch chuẩn EM của B3 qua 3 seed là 0,23 điểm. α = 2r ở mọi run; LoRA chỉ gắn vào LLM (0 lớp vision). Run: experiments/W10_A2_…, W10_A3_… (tên thư mục cũ).</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12 · ViVQA: SỐ EPOCH</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ViVQA: epoch thứ hai có ích — chọn mà không chạm test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pic>
        <p:nvPicPr>
          <p:cNvPr id="7" name="Picture 7"/>
          <p:cNvPicPr>
            <a:picLocks noChangeAspect="1"/>
          </p:cNvPicPr>
          <p:nvPr/>
        </p:nvPicPr>
        <p:blipFill>
          <a:blip r:embed="rId2"/>
          <a:stretch>
            <a:fillRect/>
          </a:stretch>
        </p:blipFill>
        <p:spPr>
          <a:xfrm>
            <a:off x="-137160" y="1097280"/>
            <a:ext cx="11521440" cy="6858000"/>
          </a:xfrm>
          <a:prstGeom prst="rect">
            <a:avLst/>
          </a:prstGeom>
        </p:spPr>
      </p:pic>
      <p:grpSp>
        <p:nvGrpSpPr>
          <p:cNvPr id="8" name="Group 8"/>
          <p:cNvGrpSpPr/>
          <p:nvPr/>
        </p:nvGrpSpPr>
        <p:grpSpPr>
          <a:xfrm rot="0">
            <a:off x="813435" y="7259955"/>
            <a:ext cx="9620250" cy="2145030"/>
            <a:chOff x="0" y="0"/>
            <a:chExt cx="12827000" cy="2860040"/>
          </a:xfrm>
        </p:grpSpPr>
        <p:sp>
          <p:nvSpPr>
            <p:cNvPr id="9" name="Freeform 9"/>
            <p:cNvSpPr/>
            <p:nvPr/>
          </p:nvSpPr>
          <p:spPr>
            <a:xfrm>
              <a:off x="0" y="0"/>
              <a:ext cx="12827000" cy="2860040"/>
            </a:xfrm>
            <a:custGeom>
              <a:avLst/>
              <a:gdLst/>
              <a:ahLst/>
              <a:cxnLst/>
              <a:rect l="l" t="t" r="r" b="b"/>
              <a:pathLst>
                <a:path w="12827000" h="2860040">
                  <a:moveTo>
                    <a:pt x="0" y="147574"/>
                  </a:moveTo>
                  <a:cubicBezTo>
                    <a:pt x="0" y="66040"/>
                    <a:pt x="66040" y="0"/>
                    <a:pt x="147574" y="0"/>
                  </a:cubicBezTo>
                  <a:lnTo>
                    <a:pt x="12679426" y="0"/>
                  </a:lnTo>
                  <a:cubicBezTo>
                    <a:pt x="12760960" y="0"/>
                    <a:pt x="12827000" y="66040"/>
                    <a:pt x="12827000" y="147574"/>
                  </a:cubicBezTo>
                  <a:lnTo>
                    <a:pt x="12827000" y="2712466"/>
                  </a:lnTo>
                  <a:cubicBezTo>
                    <a:pt x="12827000" y="2794000"/>
                    <a:pt x="12760960" y="2860040"/>
                    <a:pt x="12679426" y="2860040"/>
                  </a:cubicBezTo>
                  <a:lnTo>
                    <a:pt x="147574" y="2860040"/>
                  </a:lnTo>
                  <a:cubicBezTo>
                    <a:pt x="66040" y="2860040"/>
                    <a:pt x="0" y="2794000"/>
                    <a:pt x="0" y="2712466"/>
                  </a:cubicBezTo>
                  <a:close/>
                </a:path>
              </a:pathLst>
            </a:custGeom>
            <a:solidFill>
              <a:srgbClr val="E7F0F3"/>
            </a:solidFill>
            <a:ln w="19050" cap="sq">
              <a:solidFill>
                <a:srgbClr val="E7F0F3"/>
              </a:solidFill>
              <a:prstDash val="solid"/>
              <a:miter/>
            </a:ln>
          </p:spPr>
          <p:txBody>
            <a:bodyPr/>
            <a:p/>
          </p:txBody>
        </p:sp>
      </p:grpSp>
      <p:grpSp>
        <p:nvGrpSpPr>
          <p:cNvPr id="10" name="Group 10"/>
          <p:cNvGrpSpPr/>
          <p:nvPr/>
        </p:nvGrpSpPr>
        <p:grpSpPr>
          <a:xfrm rot="0">
            <a:off x="1165860" y="7269480"/>
            <a:ext cx="8915400" cy="2125980"/>
            <a:chOff x="0" y="0"/>
            <a:chExt cx="11887200" cy="2834640"/>
          </a:xfrm>
        </p:grpSpPr>
        <p:sp>
          <p:nvSpPr>
            <p:cNvPr id="11" name="Freeform 11"/>
            <p:cNvSpPr/>
            <p:nvPr/>
          </p:nvSpPr>
          <p:spPr>
            <a:xfrm>
              <a:off x="0" y="0"/>
              <a:ext cx="11887200" cy="2834640"/>
            </a:xfrm>
            <a:custGeom>
              <a:avLst/>
              <a:gdLst/>
              <a:ahLst/>
              <a:cxnLst/>
              <a:rect l="l" t="t" r="r" b="b"/>
              <a:pathLst>
                <a:path w="11887200" h="2834640">
                  <a:moveTo>
                    <a:pt x="0" y="0"/>
                  </a:moveTo>
                  <a:lnTo>
                    <a:pt x="11887200" y="0"/>
                  </a:lnTo>
                  <a:lnTo>
                    <a:pt x="11887200" y="2834640"/>
                  </a:lnTo>
                  <a:lnTo>
                    <a:pt x="0" y="2834640"/>
                  </a:lnTo>
                  <a:close/>
                </a:path>
              </a:pathLst>
            </a:custGeom>
            <a:blipFill>
              <a:blip r:embed="rId1">
                <a:alphaModFix amt="0"/>
              </a:blip>
              <a:stretch>
                <a:fillRect t="-31711" b="-31711"/>
              </a:stretch>
            </a:blipFill>
          </p:spPr>
          <p:txBody>
            <a:bodyPr/>
            <a:p/>
          </p:txBody>
        </p:sp>
        <p:sp>
          <p:nvSpPr>
            <p:cNvPr id="12" name="TextBox 12"/>
            <p:cNvSpPr txBox="1"/>
            <p:nvPr/>
          </p:nvSpPr>
          <p:spPr>
            <a:xfrm>
              <a:off x="0" y="-47625"/>
              <a:ext cx="11887200" cy="2882265"/>
            </a:xfrm>
            <a:prstGeom prst="rect">
              <a:avLst/>
            </a:prstGeom>
          </p:spPr>
          <p:txBody>
            <a:bodyPr lIns="0" tIns="0" rIns="0" bIns="0" rtlCol="0" anchor="ctr"/>
            <a:lstStyle/>
            <a:p>
              <a:pPr algn="l">
                <a:lnSpc>
                  <a:spcPts val="2520"/>
                </a:lnSpc>
              </a:pPr>
              <a:r>
                <a:rPr lang="en-US" sz="2100">
                  <a:solidFill>
                    <a:srgbClr val="13294B"/>
                  </a:solidFill>
                  <a:latin typeface="Calibri (MS)" panose="020F0502020204030204"/>
                  <a:ea typeface="Calibri (MS)" panose="020F0502020204030204"/>
                  <a:cs typeface="Calibri (MS)" panose="020F0502020204030204"/>
                  <a:sym typeface="Calibri (MS)" panose="020F0502020204030204"/>
                </a:rPr>
                <a:t>Luật chốt trước: EM cao nhất trên val sạch; giữ C1 trừ khi hơn có ý nghĩa → C3 (+3,9 EM, p = 1,4 × 10⁻⁴)</a:t>
              </a:r>
              <a:endParaRPr lang="en-US" sz="2100">
                <a:solidFill>
                  <a:srgbClr val="13294B"/>
                </a:solidFill>
                <a:latin typeface="Calibri (MS)" panose="020F0502020204030204"/>
                <a:ea typeface="Calibri (MS)" panose="020F0502020204030204"/>
                <a:cs typeface="Calibri (MS)" panose="020F0502020204030204"/>
                <a:sym typeface="Calibri (MS)" panose="020F0502020204030204"/>
              </a:endParaRPr>
            </a:p>
          </p:txBody>
        </p:sp>
      </p:grpSp>
      <p:grpSp>
        <p:nvGrpSpPr>
          <p:cNvPr id="13" name="Group 13"/>
          <p:cNvGrpSpPr/>
          <p:nvPr/>
        </p:nvGrpSpPr>
        <p:grpSpPr>
          <a:xfrm rot="0">
            <a:off x="10963275" y="2047875"/>
            <a:ext cx="6510833" cy="3585210"/>
            <a:chOff x="0" y="0"/>
            <a:chExt cx="8681110" cy="4780280"/>
          </a:xfrm>
        </p:grpSpPr>
        <p:sp>
          <p:nvSpPr>
            <p:cNvPr id="14" name="Freeform 14"/>
            <p:cNvSpPr/>
            <p:nvPr/>
          </p:nvSpPr>
          <p:spPr>
            <a:xfrm>
              <a:off x="0" y="0"/>
              <a:ext cx="8681085" cy="4780280"/>
            </a:xfrm>
            <a:custGeom>
              <a:avLst/>
              <a:gdLst/>
              <a:ahLst/>
              <a:cxnLst/>
              <a:rect l="l" t="t" r="r" b="b"/>
              <a:pathLst>
                <a:path w="8681085" h="4780280">
                  <a:moveTo>
                    <a:pt x="0" y="147066"/>
                  </a:moveTo>
                  <a:cubicBezTo>
                    <a:pt x="0" y="65913"/>
                    <a:pt x="65913" y="0"/>
                    <a:pt x="147066" y="0"/>
                  </a:cubicBezTo>
                  <a:lnTo>
                    <a:pt x="8534019" y="0"/>
                  </a:lnTo>
                  <a:cubicBezTo>
                    <a:pt x="8615299" y="0"/>
                    <a:pt x="8681085" y="65913"/>
                    <a:pt x="8681085" y="147066"/>
                  </a:cubicBezTo>
                  <a:lnTo>
                    <a:pt x="8681085" y="4633214"/>
                  </a:lnTo>
                  <a:cubicBezTo>
                    <a:pt x="8681085" y="4714494"/>
                    <a:pt x="8615172" y="4780280"/>
                    <a:pt x="8534019" y="4780280"/>
                  </a:cubicBezTo>
                  <a:lnTo>
                    <a:pt x="147066" y="4780280"/>
                  </a:lnTo>
                  <a:cubicBezTo>
                    <a:pt x="65913" y="4780280"/>
                    <a:pt x="0" y="4714367"/>
                    <a:pt x="0" y="4633214"/>
                  </a:cubicBezTo>
                  <a:close/>
                </a:path>
              </a:pathLst>
            </a:custGeom>
            <a:solidFill>
              <a:srgbClr val="FBF0DA"/>
            </a:solidFill>
            <a:ln w="19050" cap="sq">
              <a:solidFill>
                <a:srgbClr val="FBF0DA"/>
              </a:solidFill>
              <a:prstDash val="solid"/>
              <a:miter/>
            </a:ln>
          </p:spPr>
          <p:txBody>
            <a:bodyPr/>
            <a:p/>
          </p:txBody>
        </p:sp>
      </p:grpSp>
      <p:sp>
        <p:nvSpPr>
          <p:cNvPr id="15" name="TextBox 15"/>
          <p:cNvSpPr txBox="1"/>
          <p:nvPr/>
        </p:nvSpPr>
        <p:spPr>
          <a:xfrm>
            <a:off x="11384280" y="2253615"/>
            <a:ext cx="5668823" cy="1243965"/>
          </a:xfrm>
          <a:prstGeom prst="rect">
            <a:avLst/>
          </a:prstGeom>
        </p:spPr>
        <p:txBody>
          <a:bodyPr lIns="0" tIns="0" rIns="0" bIns="0" rtlCol="0" anchor="t">
            <a:spAutoFit/>
          </a:bodyPr>
          <a:lstStyle/>
          <a:p>
            <a:pPr algn="l">
              <a:lnSpc>
                <a:spcPts val="7200"/>
              </a:lnSpc>
            </a:pPr>
            <a:r>
              <a:rPr lang="en-US" sz="6000" b="1">
                <a:solidFill>
                  <a:srgbClr val="13294B"/>
                </a:solidFill>
                <a:latin typeface="Cambria Bold" panose="02040803050406030204"/>
                <a:ea typeface="Cambria Bold" panose="02040803050406030204"/>
                <a:cs typeface="Cambria Bold" panose="02040803050406030204"/>
                <a:sym typeface="Cambria Bold" panose="02040803050406030204"/>
              </a:rPr>
              <a:t>73,8 → 76,6</a:t>
            </a:r>
            <a:endParaRPr lang="en-US" sz="60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6" name="TextBox 16"/>
          <p:cNvSpPr txBox="1"/>
          <p:nvPr/>
        </p:nvSpPr>
        <p:spPr>
          <a:xfrm>
            <a:off x="11384280" y="3518535"/>
            <a:ext cx="5668823" cy="12820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EM test ViVQA (3.001 câu), chạm một lần: +2,9, p = 4,6 × 10⁻⁹</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7" name="TextBox 17"/>
          <p:cNvSpPr txBox="1"/>
          <p:nvPr/>
        </p:nvSpPr>
        <p:spPr>
          <a:xfrm>
            <a:off x="11384280" y="4341495"/>
            <a:ext cx="5668823" cy="1213485"/>
          </a:xfrm>
          <a:prstGeom prst="rect">
            <a:avLst/>
          </a:prstGeom>
        </p:spPr>
        <p:txBody>
          <a:bodyPr lIns="0" tIns="0" rIns="0" bIns="0" rtlCol="0" anchor="t">
            <a:spAutoFit/>
          </a:bodyPr>
          <a:lstStyle/>
          <a:p>
            <a:pPr algn="l">
              <a:lnSpc>
                <a:spcPts val="2340"/>
              </a:lnSpc>
            </a:pPr>
            <a:r>
              <a:rPr lang="en-US" sz="1950" i="1">
                <a:solidFill>
                  <a:srgbClr val="243044"/>
                </a:solidFill>
                <a:latin typeface="Calibri (MS) Italics" panose="020F05020202040A0204"/>
                <a:ea typeface="Calibri (MS) Italics" panose="020F05020202040A0204"/>
                <a:cs typeface="Calibri (MS) Italics" panose="020F05020202040A0204"/>
                <a:sym typeface="Calibri (MS) Italics" panose="020F05020202040A0204"/>
              </a:rPr>
              <a:t>Không phải nhớ ảnh (kiểm sau): trên phần test sạch — ảnh và cặp hỏi–đáp chưa thấy, n = 1.219 — +3,2 EM (69,1 → 72,3, p = 1,5 × 10⁻⁴)</a:t>
            </a:r>
            <a:endParaRPr lang="en-US" sz="1950" i="1">
              <a:solidFill>
                <a:srgbClr val="243044"/>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nvGrpSpPr>
          <p:cNvPr id="18" name="Group 18"/>
          <p:cNvGrpSpPr/>
          <p:nvPr/>
        </p:nvGrpSpPr>
        <p:grpSpPr>
          <a:xfrm rot="0">
            <a:off x="10963275" y="5888355"/>
            <a:ext cx="6510833" cy="3516630"/>
            <a:chOff x="0" y="0"/>
            <a:chExt cx="8681110" cy="4688840"/>
          </a:xfrm>
        </p:grpSpPr>
        <p:sp>
          <p:nvSpPr>
            <p:cNvPr id="19" name="Freeform 19"/>
            <p:cNvSpPr/>
            <p:nvPr/>
          </p:nvSpPr>
          <p:spPr>
            <a:xfrm>
              <a:off x="0" y="0"/>
              <a:ext cx="8681085" cy="4688840"/>
            </a:xfrm>
            <a:custGeom>
              <a:avLst/>
              <a:gdLst/>
              <a:ahLst/>
              <a:cxnLst/>
              <a:rect l="l" t="t" r="r" b="b"/>
              <a:pathLst>
                <a:path w="8681085" h="4688840">
                  <a:moveTo>
                    <a:pt x="0" y="147066"/>
                  </a:moveTo>
                  <a:cubicBezTo>
                    <a:pt x="0" y="65913"/>
                    <a:pt x="65913" y="0"/>
                    <a:pt x="147066" y="0"/>
                  </a:cubicBezTo>
                  <a:lnTo>
                    <a:pt x="8534019" y="0"/>
                  </a:lnTo>
                  <a:cubicBezTo>
                    <a:pt x="8615299" y="0"/>
                    <a:pt x="8681085" y="65913"/>
                    <a:pt x="8681085" y="147066"/>
                  </a:cubicBezTo>
                  <a:lnTo>
                    <a:pt x="8681085" y="4541774"/>
                  </a:lnTo>
                  <a:cubicBezTo>
                    <a:pt x="8681085" y="4623054"/>
                    <a:pt x="8615172" y="4688840"/>
                    <a:pt x="8534019" y="4688840"/>
                  </a:cubicBezTo>
                  <a:lnTo>
                    <a:pt x="147066" y="4688840"/>
                  </a:lnTo>
                  <a:cubicBezTo>
                    <a:pt x="65913" y="4688840"/>
                    <a:pt x="0" y="4622927"/>
                    <a:pt x="0" y="4541774"/>
                  </a:cubicBezTo>
                  <a:close/>
                </a:path>
              </a:pathLst>
            </a:custGeom>
            <a:solidFill>
              <a:srgbClr val="F3F5F8"/>
            </a:solidFill>
            <a:ln w="19050" cap="sq">
              <a:solidFill>
                <a:srgbClr val="F3F5F8"/>
              </a:solidFill>
              <a:prstDash val="solid"/>
              <a:miter/>
            </a:ln>
          </p:spPr>
          <p:txBody>
            <a:bodyPr/>
            <a:p/>
          </p:txBody>
        </p:sp>
      </p:grpSp>
      <p:sp>
        <p:nvSpPr>
          <p:cNvPr id="20" name="TextBox 20"/>
          <p:cNvSpPr txBox="1"/>
          <p:nvPr/>
        </p:nvSpPr>
        <p:spPr>
          <a:xfrm>
            <a:off x="11384280" y="6024372"/>
            <a:ext cx="5668823" cy="5867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Vì sao dùng val sạch</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1" name="TextBox 21"/>
          <p:cNvSpPr txBox="1"/>
          <p:nvPr/>
        </p:nvSpPr>
        <p:spPr>
          <a:xfrm>
            <a:off x="11384280" y="6604635"/>
            <a:ext cx="5668823" cy="2722245"/>
          </a:xfrm>
          <a:prstGeom prst="rect">
            <a:avLst/>
          </a:prstGeom>
        </p:spPr>
        <p:txBody>
          <a:bodyPr lIns="0" tIns="0" rIns="0" bIns="0" rtlCol="0" anchor="t">
            <a:spAutoFit/>
          </a:bodyPr>
          <a:lstStyle/>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512 / 1.200 câu val dùng chung ảnh với train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Train lâu hơn nhớ ảnh → val thường thiên vị</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380365" lvl="1" indent="-189865"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Chi phí: 6,1 giờ thay vì 3,0 giờ trên một L4</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13 · ADAPTER DÙNG CHUNG (SH)</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Một adapter cho hai dataset — không kém</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390775"/>
            <a:ext cx="3819411" cy="3996690"/>
            <a:chOff x="0" y="0"/>
            <a:chExt cx="5092548" cy="5328920"/>
          </a:xfrm>
        </p:grpSpPr>
        <p:sp>
          <p:nvSpPr>
            <p:cNvPr id="8" name="Freeform 8"/>
            <p:cNvSpPr/>
            <p:nvPr/>
          </p:nvSpPr>
          <p:spPr>
            <a:xfrm>
              <a:off x="0" y="0"/>
              <a:ext cx="5092573" cy="5328920"/>
            </a:xfrm>
            <a:custGeom>
              <a:avLst/>
              <a:gdLst/>
              <a:ahLst/>
              <a:cxnLst/>
              <a:rect l="l" t="t" r="r" b="b"/>
              <a:pathLst>
                <a:path w="5092573" h="5328920">
                  <a:moveTo>
                    <a:pt x="0" y="147066"/>
                  </a:moveTo>
                  <a:cubicBezTo>
                    <a:pt x="0" y="65786"/>
                    <a:pt x="65786" y="0"/>
                    <a:pt x="147066" y="0"/>
                  </a:cubicBezTo>
                  <a:lnTo>
                    <a:pt x="4945507" y="0"/>
                  </a:lnTo>
                  <a:cubicBezTo>
                    <a:pt x="5026660" y="0"/>
                    <a:pt x="5092573" y="65786"/>
                    <a:pt x="5092573" y="147066"/>
                  </a:cubicBezTo>
                  <a:lnTo>
                    <a:pt x="5092573" y="5181854"/>
                  </a:lnTo>
                  <a:cubicBezTo>
                    <a:pt x="5092573" y="5263007"/>
                    <a:pt x="5026787" y="5328920"/>
                    <a:pt x="4945507" y="5328920"/>
                  </a:cubicBezTo>
                  <a:lnTo>
                    <a:pt x="147066" y="5328920"/>
                  </a:lnTo>
                  <a:cubicBezTo>
                    <a:pt x="65786" y="5328920"/>
                    <a:pt x="0" y="5263134"/>
                    <a:pt x="0" y="5181854"/>
                  </a:cubicBezTo>
                  <a:close/>
                </a:path>
              </a:pathLst>
            </a:custGeom>
            <a:solidFill>
              <a:srgbClr val="F3F5F8"/>
            </a:solidFill>
            <a:ln w="19050" cap="sq">
              <a:solidFill>
                <a:srgbClr val="F3F5F8"/>
              </a:solidFill>
              <a:prstDash val="solid"/>
              <a:miter/>
            </a:ln>
          </p:spPr>
          <p:txBody>
            <a:bodyPr/>
            <a:p/>
          </p:txBody>
        </p:sp>
      </p:grpSp>
      <p:sp>
        <p:nvSpPr>
          <p:cNvPr id="9" name="TextBox 9"/>
          <p:cNvSpPr txBox="1"/>
          <p:nvPr/>
        </p:nvSpPr>
        <p:spPr>
          <a:xfrm>
            <a:off x="1234440" y="3007995"/>
            <a:ext cx="2977401" cy="1243965"/>
          </a:xfrm>
          <a:prstGeom prst="rect">
            <a:avLst/>
          </a:prstGeom>
        </p:spPr>
        <p:txBody>
          <a:bodyPr lIns="0" tIns="0" rIns="0" bIns="0" rtlCol="0" anchor="t">
            <a:spAutoFit/>
          </a:bodyPr>
          <a:lstStyle/>
          <a:p>
            <a:pPr algn="l">
              <a:lnSpc>
                <a:spcPts val="6480"/>
              </a:lnSpc>
            </a:pPr>
            <a:r>
              <a:rPr lang="en-US" sz="5400" b="1">
                <a:solidFill>
                  <a:srgbClr val="1C7293"/>
                </a:solidFill>
                <a:latin typeface="Cambria Bold" panose="02040803050406030204"/>
                <a:ea typeface="Cambria Bold" panose="02040803050406030204"/>
                <a:cs typeface="Cambria Bold" panose="02040803050406030204"/>
                <a:sym typeface="Cambria Bold" panose="02040803050406030204"/>
              </a:rPr>
              <a:t>−0,27</a:t>
            </a:r>
            <a:endParaRPr lang="en-US" sz="54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10" name="TextBox 10"/>
          <p:cNvSpPr txBox="1"/>
          <p:nvPr/>
        </p:nvSpPr>
        <p:spPr>
          <a:xfrm>
            <a:off x="1234440" y="4272915"/>
            <a:ext cx="2977401" cy="12820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ViVQA: SH so với C1 (cùng 1 epoch); CI95 [−1,13; +0,60] → không kém</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1" name="Group 11"/>
          <p:cNvGrpSpPr/>
          <p:nvPr/>
        </p:nvGrpSpPr>
        <p:grpSpPr>
          <a:xfrm rot="0">
            <a:off x="5093856" y="2390775"/>
            <a:ext cx="3819411" cy="3996690"/>
            <a:chOff x="0" y="0"/>
            <a:chExt cx="5092548" cy="5328920"/>
          </a:xfrm>
        </p:grpSpPr>
        <p:sp>
          <p:nvSpPr>
            <p:cNvPr id="12" name="Freeform 12"/>
            <p:cNvSpPr/>
            <p:nvPr/>
          </p:nvSpPr>
          <p:spPr>
            <a:xfrm>
              <a:off x="0" y="0"/>
              <a:ext cx="5092573" cy="5328920"/>
            </a:xfrm>
            <a:custGeom>
              <a:avLst/>
              <a:gdLst/>
              <a:ahLst/>
              <a:cxnLst/>
              <a:rect l="l" t="t" r="r" b="b"/>
              <a:pathLst>
                <a:path w="5092573" h="5328920">
                  <a:moveTo>
                    <a:pt x="0" y="147066"/>
                  </a:moveTo>
                  <a:cubicBezTo>
                    <a:pt x="0" y="65786"/>
                    <a:pt x="65786" y="0"/>
                    <a:pt x="147066" y="0"/>
                  </a:cubicBezTo>
                  <a:lnTo>
                    <a:pt x="4945507" y="0"/>
                  </a:lnTo>
                  <a:cubicBezTo>
                    <a:pt x="5026660" y="0"/>
                    <a:pt x="5092573" y="65786"/>
                    <a:pt x="5092573" y="147066"/>
                  </a:cubicBezTo>
                  <a:lnTo>
                    <a:pt x="5092573" y="5181854"/>
                  </a:lnTo>
                  <a:cubicBezTo>
                    <a:pt x="5092573" y="5263007"/>
                    <a:pt x="5026787" y="5328920"/>
                    <a:pt x="4945507" y="5328920"/>
                  </a:cubicBezTo>
                  <a:lnTo>
                    <a:pt x="147066" y="5328920"/>
                  </a:lnTo>
                  <a:cubicBezTo>
                    <a:pt x="65786" y="5328920"/>
                    <a:pt x="0" y="5263134"/>
                    <a:pt x="0" y="5181854"/>
                  </a:cubicBezTo>
                  <a:close/>
                </a:path>
              </a:pathLst>
            </a:custGeom>
            <a:solidFill>
              <a:srgbClr val="F3F5F8"/>
            </a:solidFill>
            <a:ln w="19050" cap="sq">
              <a:solidFill>
                <a:srgbClr val="F3F5F8"/>
              </a:solidFill>
              <a:prstDash val="solid"/>
              <a:miter/>
            </a:ln>
          </p:spPr>
          <p:txBody>
            <a:bodyPr/>
            <a:p/>
          </p:txBody>
        </p:sp>
      </p:grpSp>
      <p:sp>
        <p:nvSpPr>
          <p:cNvPr id="13" name="TextBox 13"/>
          <p:cNvSpPr txBox="1"/>
          <p:nvPr/>
        </p:nvSpPr>
        <p:spPr>
          <a:xfrm>
            <a:off x="5514861" y="3007995"/>
            <a:ext cx="2977401" cy="1243965"/>
          </a:xfrm>
          <a:prstGeom prst="rect">
            <a:avLst/>
          </a:prstGeom>
        </p:spPr>
        <p:txBody>
          <a:bodyPr lIns="0" tIns="0" rIns="0" bIns="0" rtlCol="0" anchor="t">
            <a:spAutoFit/>
          </a:bodyPr>
          <a:lstStyle/>
          <a:p>
            <a:pPr algn="l">
              <a:lnSpc>
                <a:spcPts val="6480"/>
              </a:lnSpc>
            </a:pPr>
            <a:r>
              <a:rPr lang="en-US" sz="5400" b="1">
                <a:solidFill>
                  <a:srgbClr val="13294B"/>
                </a:solidFill>
                <a:latin typeface="Cambria Bold" panose="02040803050406030204"/>
                <a:ea typeface="Cambria Bold" panose="02040803050406030204"/>
                <a:cs typeface="Cambria Bold" panose="02040803050406030204"/>
                <a:sym typeface="Cambria Bold" panose="02040803050406030204"/>
              </a:rPr>
              <a:t>+0,25</a:t>
            </a:r>
            <a:endParaRPr lang="en-US" sz="54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4" name="TextBox 14"/>
          <p:cNvSpPr txBox="1"/>
          <p:nvPr/>
        </p:nvSpPr>
        <p:spPr>
          <a:xfrm>
            <a:off x="5514861" y="4272915"/>
            <a:ext cx="2977401" cy="12820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ViTextVQA test2000: SH so với B3 (cùng 8k câu); CI95 [−0,95; +1,45] → không kém</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5" name="Group 15"/>
          <p:cNvGrpSpPr/>
          <p:nvPr/>
        </p:nvGrpSpPr>
        <p:grpSpPr>
          <a:xfrm rot="0">
            <a:off x="9374276" y="2390775"/>
            <a:ext cx="3819411" cy="3996690"/>
            <a:chOff x="0" y="0"/>
            <a:chExt cx="5092548" cy="5328920"/>
          </a:xfrm>
        </p:grpSpPr>
        <p:sp>
          <p:nvSpPr>
            <p:cNvPr id="16" name="Freeform 16"/>
            <p:cNvSpPr/>
            <p:nvPr/>
          </p:nvSpPr>
          <p:spPr>
            <a:xfrm>
              <a:off x="0" y="0"/>
              <a:ext cx="5092573" cy="5328920"/>
            </a:xfrm>
            <a:custGeom>
              <a:avLst/>
              <a:gdLst/>
              <a:ahLst/>
              <a:cxnLst/>
              <a:rect l="l" t="t" r="r" b="b"/>
              <a:pathLst>
                <a:path w="5092573" h="5328920">
                  <a:moveTo>
                    <a:pt x="0" y="147066"/>
                  </a:moveTo>
                  <a:cubicBezTo>
                    <a:pt x="0" y="65786"/>
                    <a:pt x="65786" y="0"/>
                    <a:pt x="147066" y="0"/>
                  </a:cubicBezTo>
                  <a:lnTo>
                    <a:pt x="4945507" y="0"/>
                  </a:lnTo>
                  <a:cubicBezTo>
                    <a:pt x="5026660" y="0"/>
                    <a:pt x="5092573" y="65786"/>
                    <a:pt x="5092573" y="147066"/>
                  </a:cubicBezTo>
                  <a:lnTo>
                    <a:pt x="5092573" y="5181854"/>
                  </a:lnTo>
                  <a:cubicBezTo>
                    <a:pt x="5092573" y="5263007"/>
                    <a:pt x="5026787" y="5328920"/>
                    <a:pt x="4945507" y="5328920"/>
                  </a:cubicBezTo>
                  <a:lnTo>
                    <a:pt x="147066" y="5328920"/>
                  </a:lnTo>
                  <a:cubicBezTo>
                    <a:pt x="65786" y="5328920"/>
                    <a:pt x="0" y="5263134"/>
                    <a:pt x="0" y="5181854"/>
                  </a:cubicBezTo>
                  <a:close/>
                </a:path>
              </a:pathLst>
            </a:custGeom>
            <a:solidFill>
              <a:srgbClr val="F3F5F8"/>
            </a:solidFill>
            <a:ln w="19050" cap="sq">
              <a:solidFill>
                <a:srgbClr val="F3F5F8"/>
              </a:solidFill>
              <a:prstDash val="solid"/>
              <a:miter/>
            </a:ln>
          </p:spPr>
          <p:txBody>
            <a:bodyPr/>
            <a:p/>
          </p:txBody>
        </p:sp>
      </p:grpSp>
      <p:sp>
        <p:nvSpPr>
          <p:cNvPr id="17" name="TextBox 17"/>
          <p:cNvSpPr txBox="1"/>
          <p:nvPr/>
        </p:nvSpPr>
        <p:spPr>
          <a:xfrm>
            <a:off x="9795281" y="3007995"/>
            <a:ext cx="2977401" cy="1243965"/>
          </a:xfrm>
          <a:prstGeom prst="rect">
            <a:avLst/>
          </a:prstGeom>
        </p:spPr>
        <p:txBody>
          <a:bodyPr lIns="0" tIns="0" rIns="0" bIns="0" rtlCol="0" anchor="t">
            <a:spAutoFit/>
          </a:bodyPr>
          <a:lstStyle/>
          <a:p>
            <a:pPr algn="l">
              <a:lnSpc>
                <a:spcPts val="6480"/>
              </a:lnSpc>
            </a:pPr>
            <a:r>
              <a:rPr lang="en-US" sz="5400" b="1">
                <a:solidFill>
                  <a:srgbClr val="13294B"/>
                </a:solidFill>
                <a:latin typeface="Cambria Bold" panose="02040803050406030204"/>
                <a:ea typeface="Cambria Bold" panose="02040803050406030204"/>
                <a:cs typeface="Cambria Bold" panose="02040803050406030204"/>
                <a:sym typeface="Cambria Bold" panose="02040803050406030204"/>
              </a:rPr>
              <a:t>+0,15</a:t>
            </a:r>
            <a:endParaRPr lang="en-US" sz="54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8" name="TextBox 18"/>
          <p:cNvSpPr txBox="1"/>
          <p:nvPr/>
        </p:nvSpPr>
        <p:spPr>
          <a:xfrm>
            <a:off x="9795281" y="4272915"/>
            <a:ext cx="2977401" cy="12820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Câu ViVQA có dòng OCR vô nghĩa (n = 1.328): không bị hại; chép nhầm OCR 0,3%</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13654697" y="2390775"/>
            <a:ext cx="3819411" cy="3996690"/>
            <a:chOff x="0" y="0"/>
            <a:chExt cx="5092548" cy="5328920"/>
          </a:xfrm>
        </p:grpSpPr>
        <p:sp>
          <p:nvSpPr>
            <p:cNvPr id="20" name="Freeform 20"/>
            <p:cNvSpPr/>
            <p:nvPr/>
          </p:nvSpPr>
          <p:spPr>
            <a:xfrm>
              <a:off x="0" y="0"/>
              <a:ext cx="5092573" cy="5328920"/>
            </a:xfrm>
            <a:custGeom>
              <a:avLst/>
              <a:gdLst/>
              <a:ahLst/>
              <a:cxnLst/>
              <a:rect l="l" t="t" r="r" b="b"/>
              <a:pathLst>
                <a:path w="5092573" h="5328920">
                  <a:moveTo>
                    <a:pt x="0" y="147066"/>
                  </a:moveTo>
                  <a:cubicBezTo>
                    <a:pt x="0" y="65786"/>
                    <a:pt x="65786" y="0"/>
                    <a:pt x="147066" y="0"/>
                  </a:cubicBezTo>
                  <a:lnTo>
                    <a:pt x="4945507" y="0"/>
                  </a:lnTo>
                  <a:cubicBezTo>
                    <a:pt x="5026660" y="0"/>
                    <a:pt x="5092573" y="65786"/>
                    <a:pt x="5092573" y="147066"/>
                  </a:cubicBezTo>
                  <a:lnTo>
                    <a:pt x="5092573" y="5181854"/>
                  </a:lnTo>
                  <a:cubicBezTo>
                    <a:pt x="5092573" y="5263007"/>
                    <a:pt x="5026787" y="5328920"/>
                    <a:pt x="4945507" y="5328920"/>
                  </a:cubicBezTo>
                  <a:lnTo>
                    <a:pt x="147066" y="5328920"/>
                  </a:lnTo>
                  <a:cubicBezTo>
                    <a:pt x="65786" y="5328920"/>
                    <a:pt x="0" y="5263134"/>
                    <a:pt x="0" y="5181854"/>
                  </a:cubicBezTo>
                  <a:close/>
                </a:path>
              </a:pathLst>
            </a:custGeom>
            <a:solidFill>
              <a:srgbClr val="FBF0DA"/>
            </a:solidFill>
            <a:ln w="19050" cap="sq">
              <a:solidFill>
                <a:srgbClr val="FBF0DA"/>
              </a:solidFill>
              <a:prstDash val="solid"/>
              <a:miter/>
            </a:ln>
          </p:spPr>
          <p:txBody>
            <a:bodyPr/>
            <a:p/>
          </p:txBody>
        </p:sp>
      </p:grpSp>
      <p:sp>
        <p:nvSpPr>
          <p:cNvPr id="21" name="TextBox 21"/>
          <p:cNvSpPr txBox="1"/>
          <p:nvPr/>
        </p:nvSpPr>
        <p:spPr>
          <a:xfrm>
            <a:off x="14075702" y="3007995"/>
            <a:ext cx="2977401" cy="1243965"/>
          </a:xfrm>
          <a:prstGeom prst="rect">
            <a:avLst/>
          </a:prstGeom>
        </p:spPr>
        <p:txBody>
          <a:bodyPr lIns="0" tIns="0" rIns="0" bIns="0" rtlCol="0" anchor="t">
            <a:spAutoFit/>
          </a:bodyPr>
          <a:lstStyle/>
          <a:p>
            <a:pPr algn="l">
              <a:lnSpc>
                <a:spcPts val="6480"/>
              </a:lnSpc>
            </a:pPr>
            <a:r>
              <a:rPr lang="en-US" sz="5400" b="1">
                <a:solidFill>
                  <a:srgbClr val="E8A33D"/>
                </a:solidFill>
                <a:latin typeface="Cambria Bold" panose="02040803050406030204"/>
                <a:ea typeface="Cambria Bold" panose="02040803050406030204"/>
                <a:cs typeface="Cambria Bold" panose="02040803050406030204"/>
                <a:sym typeface="Cambria Bold" panose="02040803050406030204"/>
              </a:rPr>
              <a:t>1</a:t>
            </a:r>
            <a:endParaRPr lang="en-US" sz="54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22" name="TextBox 22"/>
          <p:cNvSpPr txBox="1"/>
          <p:nvPr/>
        </p:nvSpPr>
        <p:spPr>
          <a:xfrm>
            <a:off x="14075702" y="4272915"/>
            <a:ext cx="2977401" cy="128206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adapter (29,5 MB) thay vì 2; train 6,1 h = C1 + B3; demo không cần bộ chọn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813435" y="6848475"/>
            <a:ext cx="16660673" cy="1459230"/>
            <a:chOff x="0" y="0"/>
            <a:chExt cx="22214230" cy="1945640"/>
          </a:xfrm>
        </p:grpSpPr>
        <p:sp>
          <p:nvSpPr>
            <p:cNvPr id="24" name="Freeform 24"/>
            <p:cNvSpPr/>
            <p:nvPr/>
          </p:nvSpPr>
          <p:spPr>
            <a:xfrm>
              <a:off x="0" y="0"/>
              <a:ext cx="22214205" cy="1945640"/>
            </a:xfrm>
            <a:custGeom>
              <a:avLst/>
              <a:gdLst/>
              <a:ahLst/>
              <a:cxnLst/>
              <a:rect l="l" t="t" r="r" b="b"/>
              <a:pathLst>
                <a:path w="22214205" h="1945640">
                  <a:moveTo>
                    <a:pt x="0" y="148209"/>
                  </a:moveTo>
                  <a:cubicBezTo>
                    <a:pt x="0" y="66421"/>
                    <a:pt x="66421" y="0"/>
                    <a:pt x="148209" y="0"/>
                  </a:cubicBezTo>
                  <a:lnTo>
                    <a:pt x="22065996" y="0"/>
                  </a:lnTo>
                  <a:cubicBezTo>
                    <a:pt x="22147910" y="0"/>
                    <a:pt x="22214205" y="66421"/>
                    <a:pt x="22214205" y="148209"/>
                  </a:cubicBezTo>
                  <a:lnTo>
                    <a:pt x="22214205" y="1797431"/>
                  </a:lnTo>
                  <a:cubicBezTo>
                    <a:pt x="22214205" y="1879346"/>
                    <a:pt x="22147785" y="1945640"/>
                    <a:pt x="22065996" y="1945640"/>
                  </a:cubicBezTo>
                  <a:lnTo>
                    <a:pt x="148209" y="1945640"/>
                  </a:lnTo>
                  <a:cubicBezTo>
                    <a:pt x="66421" y="1945640"/>
                    <a:pt x="0" y="1879219"/>
                    <a:pt x="0" y="1797431"/>
                  </a:cubicBezTo>
                  <a:close/>
                </a:path>
              </a:pathLst>
            </a:custGeom>
            <a:solidFill>
              <a:srgbClr val="E7F0F3"/>
            </a:solidFill>
            <a:ln w="19050" cap="sq">
              <a:solidFill>
                <a:srgbClr val="E7F0F3"/>
              </a:solidFill>
              <a:prstDash val="solid"/>
              <a:miter/>
            </a:ln>
          </p:spPr>
          <p:txBody>
            <a:bodyPr/>
            <a:p/>
          </p:txBody>
        </p:sp>
      </p:grpSp>
      <p:grpSp>
        <p:nvGrpSpPr>
          <p:cNvPr id="25" name="Group 25"/>
          <p:cNvGrpSpPr/>
          <p:nvPr/>
        </p:nvGrpSpPr>
        <p:grpSpPr>
          <a:xfrm rot="0">
            <a:off x="1303020" y="6858000"/>
            <a:ext cx="15681503" cy="1440180"/>
            <a:chOff x="0" y="0"/>
            <a:chExt cx="20908670" cy="1920240"/>
          </a:xfrm>
        </p:grpSpPr>
        <p:sp>
          <p:nvSpPr>
            <p:cNvPr id="26" name="Freeform 26"/>
            <p:cNvSpPr/>
            <p:nvPr/>
          </p:nvSpPr>
          <p:spPr>
            <a:xfrm>
              <a:off x="0" y="0"/>
              <a:ext cx="20908669" cy="1920240"/>
            </a:xfrm>
            <a:custGeom>
              <a:avLst/>
              <a:gdLst/>
              <a:ahLst/>
              <a:cxnLst/>
              <a:rect l="l" t="t" r="r" b="b"/>
              <a:pathLst>
                <a:path w="20908669" h="1920240">
                  <a:moveTo>
                    <a:pt x="0" y="0"/>
                  </a:moveTo>
                  <a:lnTo>
                    <a:pt x="20908669" y="0"/>
                  </a:lnTo>
                  <a:lnTo>
                    <a:pt x="20908669" y="1920240"/>
                  </a:lnTo>
                  <a:lnTo>
                    <a:pt x="0" y="1920240"/>
                  </a:lnTo>
                  <a:close/>
                </a:path>
              </a:pathLst>
            </a:custGeom>
            <a:blipFill>
              <a:blip r:embed="rId1">
                <a:alphaModFix amt="0"/>
              </a:blip>
              <a:stretch>
                <a:fillRect t="-162164" b="-162164"/>
              </a:stretch>
            </a:blipFill>
          </p:spPr>
          <p:txBody>
            <a:bodyPr/>
            <a:p/>
          </p:txBody>
        </p:sp>
        <p:sp>
          <p:nvSpPr>
            <p:cNvPr id="27" name="TextBox 27"/>
            <p:cNvSpPr txBox="1"/>
            <p:nvPr/>
          </p:nvSpPr>
          <p:spPr>
            <a:xfrm>
              <a:off x="0" y="-38100"/>
              <a:ext cx="20908670" cy="1958340"/>
            </a:xfrm>
            <a:prstGeom prst="rect">
              <a:avLst/>
            </a:prstGeom>
          </p:spPr>
          <p:txBody>
            <a:bodyPr lIns="0" tIns="0" rIns="0" bIns="0" rtlCol="0" anchor="ctr"/>
            <a:lstStyle/>
            <a:p>
              <a:pPr algn="l">
                <a:lnSpc>
                  <a:spcPts val="2880"/>
                </a:lnSpc>
              </a:pPr>
              <a:r>
                <a:rPr lang="en-US" sz="2400">
                  <a:solidFill>
                    <a:srgbClr val="13294B"/>
                  </a:solidFill>
                  <a:latin typeface="Calibri (MS)" panose="020F0502020204030204"/>
                  <a:ea typeface="Calibri (MS)" panose="020F0502020204030204"/>
                  <a:cs typeface="Calibri (MS)" panose="020F0502020204030204"/>
                  <a:sym typeface="Calibri (MS)" panose="020F0502020204030204"/>
                </a:rPr>
                <a:t>Luật chốt trước: không kém nếu cận dưới CI95 ΔEM &gt; −1,5 trên cả hai → ĐẠT. Đánh đổi: SH là bản rẻ (1 epoch ViVQA, 23% ViTextVQA), thấp hơn C3 3,1 và B3-full 4,4 EM → bảng chính giữ C3 / B3-full; prototype dùng SH.</a:t>
              </a:r>
              <a:endParaRPr lang="en-US" sz="2400">
                <a:solidFill>
                  <a:srgbClr val="13294B"/>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14 · KẾT QUẢ THEO LOẠI CÂU HỎI</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OCR giúp nhiều nhất ở câu phải chép đúng từng ký tự</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011680"/>
          <a:ext cx="10881360" cy="6035040"/>
        </p:xfrm>
        <a:graphic>
          <a:graphicData uri="http://schemas.openxmlformats.org/drawingml/2006/table">
            <a:tbl>
              <a:tblPr/>
              <a:tblGrid>
                <a:gridCol w="4572000"/>
                <a:gridCol w="1325880"/>
                <a:gridCol w="1325880"/>
                <a:gridCol w="1508760"/>
                <a:gridCol w="2148840"/>
              </a:tblGrid>
              <a:tr h="54864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Loại câu hỏi (số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B3-full</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Δ B2 → B3-full</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4864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Liên hệ: SĐT, web (641)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47,9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55,5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64,1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+8,6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864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Tên người (420)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40,7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54,8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61,2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864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Khác ⚠ (2.404)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21,5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46,1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49,6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864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Số, thời gian (1.041)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41,2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55,7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58,8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864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Địa điểm (969)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25,3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44,0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47,0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864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Nội dung chữ ⚠ (777)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27,4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48,6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51,1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864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Tên riêng ⚠ (1.971)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34,9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55,7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57,6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864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Sản phẩm, dịch vụ (1.144)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16,5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42,5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44,1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864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Nguồn ảnh (661)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24,5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57,2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58,1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+0,9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8640">
                <a:tc>
                  <a:txBody>
                    <a:bodyPr rtlCol="0"/>
                    <a:lstStyle/>
                    <a:p>
                      <a:pPr algn="l">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Tất cả (10.028)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29,1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50,3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53,4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+3,1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8" name="Group 8"/>
          <p:cNvGrpSpPr/>
          <p:nvPr/>
        </p:nvGrpSpPr>
        <p:grpSpPr>
          <a:xfrm rot="0">
            <a:off x="12024360" y="2011680"/>
            <a:ext cx="5440680" cy="1892807"/>
            <a:chOff x="0" y="0"/>
            <a:chExt cx="6933997" cy="3408680"/>
          </a:xfrm>
        </p:grpSpPr>
        <p:sp>
          <p:nvSpPr>
            <p:cNvPr id="9" name="Freeform 9"/>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F3F5F8"/>
            </a:solidFill>
            <a:ln w="19050" cap="sq">
              <a:solidFill>
                <a:srgbClr val="F3F5F8"/>
              </a:solidFill>
              <a:prstDash val="solid"/>
              <a:miter/>
            </a:ln>
          </p:spPr>
          <p:txBody>
            <a:bodyPr/>
            <a:p/>
          </p:txBody>
        </p:sp>
      </p:grpSp>
      <p:sp>
        <p:nvSpPr>
          <p:cNvPr id="10" name="TextBox 10"/>
          <p:cNvSpPr txBox="1"/>
          <p:nvPr/>
        </p:nvSpPr>
        <p:spPr>
          <a:xfrm>
            <a:off x="12344400" y="2167128"/>
            <a:ext cx="4846320" cy="658368"/>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Chép chính xác: lợi nhiều nhất</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2344400" y="2788920"/>
            <a:ext cx="4846320" cy="1051560"/>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Liên hệ +8,6; bỏ OCR khỏi B3 thì loại này giảm mạnh nhất (64,4 → 53,0)</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12024360" y="4087368"/>
            <a:ext cx="5440680" cy="1892807"/>
            <a:chOff x="0" y="0"/>
            <a:chExt cx="6933997" cy="3408680"/>
          </a:xfrm>
        </p:grpSpPr>
        <p:sp>
          <p:nvSpPr>
            <p:cNvPr id="13" name="Freeform 13"/>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F3F5F8"/>
            </a:solidFill>
            <a:ln w="19050" cap="sq">
              <a:solidFill>
                <a:srgbClr val="F3F5F8"/>
              </a:solidFill>
              <a:prstDash val="solid"/>
              <a:miter/>
            </a:ln>
          </p:spPr>
          <p:txBody>
            <a:bodyPr/>
            <a:p/>
          </p:txBody>
        </p:sp>
      </p:grpSp>
      <p:sp>
        <p:nvSpPr>
          <p:cNvPr id="14" name="TextBox 14"/>
          <p:cNvSpPr txBox="1"/>
          <p:nvPr/>
        </p:nvSpPr>
        <p:spPr>
          <a:xfrm>
            <a:off x="12344400" y="4242816"/>
            <a:ext cx="4846320" cy="658368"/>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Watermark: OCR ít giúp</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12344400" y="4864608"/>
            <a:ext cx="4846320" cy="1051560"/>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Nguồn ảnh +0,9 — chữ nhỏ, mờ, nằm ở góc ảnh</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6" name="Group 16"/>
          <p:cNvGrpSpPr/>
          <p:nvPr/>
        </p:nvGrpSpPr>
        <p:grpSpPr>
          <a:xfrm rot="0">
            <a:off x="12024360" y="6163056"/>
            <a:ext cx="5440680" cy="1892807"/>
            <a:chOff x="0" y="0"/>
            <a:chExt cx="6933997" cy="3408680"/>
          </a:xfrm>
        </p:grpSpPr>
        <p:sp>
          <p:nvSpPr>
            <p:cNvPr id="17" name="Freeform 17"/>
            <p:cNvSpPr/>
            <p:nvPr/>
          </p:nvSpPr>
          <p:spPr>
            <a:xfrm>
              <a:off x="0" y="0"/>
              <a:ext cx="6934073" cy="3408680"/>
            </a:xfrm>
            <a:custGeom>
              <a:avLst/>
              <a:gdLst/>
              <a:ahLst/>
              <a:cxnLst/>
              <a:rect l="l" t="t" r="r" b="b"/>
              <a:pathLst>
                <a:path w="6934073" h="3408680">
                  <a:moveTo>
                    <a:pt x="0" y="147447"/>
                  </a:moveTo>
                  <a:cubicBezTo>
                    <a:pt x="0" y="66040"/>
                    <a:pt x="66040" y="0"/>
                    <a:pt x="147447" y="0"/>
                  </a:cubicBezTo>
                  <a:lnTo>
                    <a:pt x="6786626" y="0"/>
                  </a:lnTo>
                  <a:cubicBezTo>
                    <a:pt x="6868033" y="0"/>
                    <a:pt x="6934073" y="66040"/>
                    <a:pt x="6934073" y="147447"/>
                  </a:cubicBezTo>
                  <a:lnTo>
                    <a:pt x="6934073" y="3261233"/>
                  </a:lnTo>
                  <a:cubicBezTo>
                    <a:pt x="6934073" y="3342640"/>
                    <a:pt x="6868033" y="3408680"/>
                    <a:pt x="6786626" y="3408680"/>
                  </a:cubicBezTo>
                  <a:lnTo>
                    <a:pt x="147447" y="3408680"/>
                  </a:lnTo>
                  <a:cubicBezTo>
                    <a:pt x="66040" y="3408680"/>
                    <a:pt x="0" y="3342640"/>
                    <a:pt x="0" y="3261233"/>
                  </a:cubicBezTo>
                  <a:close/>
                </a:path>
              </a:pathLst>
            </a:custGeom>
            <a:solidFill>
              <a:srgbClr val="E7F0F3"/>
            </a:solidFill>
            <a:ln w="19050" cap="sq">
              <a:solidFill>
                <a:srgbClr val="E7F0F3"/>
              </a:solidFill>
              <a:prstDash val="solid"/>
              <a:miter/>
            </a:ln>
          </p:spPr>
          <p:txBody>
            <a:bodyPr/>
            <a:p/>
          </p:txBody>
        </p:sp>
      </p:grpSp>
      <p:sp>
        <p:nvSpPr>
          <p:cNvPr id="18" name="TextBox 18"/>
          <p:cNvSpPr txBox="1"/>
          <p:nvPr/>
        </p:nvSpPr>
        <p:spPr>
          <a:xfrm>
            <a:off x="12344400" y="6318504"/>
            <a:ext cx="4846320" cy="658368"/>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Khó nhất: phải suy ra từ chữ</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9" name="TextBox 19"/>
          <p:cNvSpPr txBox="1"/>
          <p:nvPr/>
        </p:nvSpPr>
        <p:spPr>
          <a:xfrm>
            <a:off x="12344400" y="6940296"/>
            <a:ext cx="4846320" cy="1051560"/>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Sản phẩm, dịch vụ 44,1; địa điểm 47,0 → trọng tâm phân tích lỗi tiếp theo</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0" name="Group 20"/>
          <p:cNvGrpSpPr/>
          <p:nvPr/>
        </p:nvGrpSpPr>
        <p:grpSpPr>
          <a:xfrm rot="0">
            <a:off x="822960" y="8709660"/>
            <a:ext cx="16641623" cy="850392"/>
            <a:chOff x="0" y="0"/>
            <a:chExt cx="22188830" cy="1133856"/>
          </a:xfrm>
        </p:grpSpPr>
        <p:sp>
          <p:nvSpPr>
            <p:cNvPr id="21" name="Freeform 21"/>
            <p:cNvSpPr/>
            <p:nvPr/>
          </p:nvSpPr>
          <p:spPr>
            <a:xfrm>
              <a:off x="0" y="0"/>
              <a:ext cx="22188830" cy="1133856"/>
            </a:xfrm>
            <a:custGeom>
              <a:avLst/>
              <a:gdLst/>
              <a:ahLst/>
              <a:cxnLst/>
              <a:rect l="l" t="t" r="r" b="b"/>
              <a:pathLst>
                <a:path w="22188830" h="1133856">
                  <a:moveTo>
                    <a:pt x="0" y="0"/>
                  </a:moveTo>
                  <a:lnTo>
                    <a:pt x="22188830" y="0"/>
                  </a:lnTo>
                  <a:lnTo>
                    <a:pt x="22188830" y="1133856"/>
                  </a:lnTo>
                  <a:lnTo>
                    <a:pt x="0" y="1133856"/>
                  </a:lnTo>
                  <a:close/>
                </a:path>
              </a:pathLst>
            </a:custGeom>
            <a:blipFill>
              <a:blip r:embed="rId1">
                <a:alphaModFix amt="0"/>
              </a:blip>
              <a:stretch>
                <a:fillRect t="-331309" b="-331309"/>
              </a:stretch>
            </a:blipFill>
          </p:spPr>
          <p:txBody>
            <a:bodyPr/>
            <a:p/>
          </p:txBody>
        </p:sp>
        <p:sp>
          <p:nvSpPr>
            <p:cNvPr id="22" name="TextBox 22"/>
            <p:cNvSpPr txBox="1"/>
            <p:nvPr/>
          </p:nvSpPr>
          <p:spPr>
            <a:xfrm>
              <a:off x="0" y="-38100"/>
              <a:ext cx="22188830" cy="1171956"/>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Loại câu hỏi gán bằng luật từ khoá qt-v1 (thiết kế trên dev, đóng băng trước khi chạy test); kiểm bằng 150 câu gán tay mù: khớp 80,7%. ⚠ = precision &lt; 80%, chỉ mô tả. EM %, full test; chưa kiểm định theo loại.</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GIẢ THUYẾT</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Bằng chứng đến thời điểm này</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7" name="Table 7"/>
          <p:cNvGraphicFramePr>
            <a:graphicFrameLocks noGrp="1"/>
          </p:cNvGraphicFramePr>
          <p:nvPr/>
        </p:nvGraphicFramePr>
        <p:xfrm>
          <a:off x="822960" y="2057400"/>
          <a:ext cx="16611601" cy="5067300"/>
        </p:xfrm>
        <a:graphic>
          <a:graphicData uri="http://schemas.openxmlformats.org/drawingml/2006/table">
            <a:tbl>
              <a:tblPr/>
              <a:tblGrid>
                <a:gridCol w="7113094"/>
                <a:gridCol w="6745234"/>
                <a:gridCol w="2753273"/>
              </a:tblGrid>
              <a:tr h="7239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Giả thuyết (slide 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Bằng chứng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Trạng thái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H1  QLoRA ≥ +5 EM so với zero-shot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+51,7 (ViVQA), +21,1 (ViTextVQA đầy đủ), p ≈ 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rPr>
                        <a:t>Ủng hộ</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H2  Chữ OCR ≥ +3 ANLS, tốt nhất khi kết hợp QLoRA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Tương tác +4,9 EM; đủ dữ liệu +3,1 EM (p ≈ 10⁻²¹); nhưng ANLS +1,87 (&lt; +3)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E8A33D"/>
                          </a:solidFill>
                          <a:latin typeface="Calibri (MS) Bold" panose="020F0702030404030204"/>
                          <a:ea typeface="Calibri (MS) Bold" panose="020F0702030404030204"/>
                          <a:cs typeface="Calibri (MS) Bold" panose="020F0702030404030204"/>
                          <a:sym typeface="Calibri (MS) Bold" panose="020F0702030404030204"/>
                        </a:rPr>
                        <a:t>Một phần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H3  Prompt định dạng tiếng Việt ≥ +3 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Dạng few-shot: −2,1 / −1,2 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B42318"/>
                          </a:solidFill>
                          <a:latin typeface="Calibri (MS) Bold" panose="020F0702030404030204"/>
                          <a:ea typeface="Calibri (MS) Bold" panose="020F0702030404030204"/>
                          <a:cs typeface="Calibri (MS) Bold" panose="020F0702030404030204"/>
                          <a:sym typeface="Calibri (MS) Bold" panose="020F0702030404030204"/>
                        </a:rPr>
                        <a:t>Chưa ủng hộ</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H4  QLoRA không làm tăng hallucination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Duyệt tay: 7% lỗi B2 là hallucination (CI 4–11%); đo kiểu POPE (vi) ở W9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6B7280"/>
                          </a:solidFill>
                          <a:latin typeface="Calibri (MS) Bold" panose="020F0702030404030204"/>
                          <a:ea typeface="Calibri (MS) Bold" panose="020F0702030404030204"/>
                          <a:cs typeface="Calibri (MS) Bold" panose="020F0702030404030204"/>
                          <a:sym typeface="Calibri (MS) Bold" panose="020F0702030404030204"/>
                        </a:rPr>
                        <a:t>Đang chờ</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Hiệu quả (số đo, không phải giả thuyết)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4-bit giữ 94,5% độ chính xác; VRAM −77%; adapter dùng chung không kém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Đã đo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Ablation A1 (module), A2 (rank)</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A1 −0,55 (p = 0,34); A2 +1,05 (p = 0,07) → giữ r = 16, q, k, v, 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6B7280"/>
                          </a:solidFill>
                          <a:latin typeface="Calibri (MS) Bold" panose="020F0702030404030204"/>
                          <a:ea typeface="Calibri (MS) Bold" panose="020F0702030404030204"/>
                          <a:cs typeface="Calibri (MS) Bold" panose="020F0702030404030204"/>
                          <a:sym typeface="Calibri (MS) Bold" panose="020F0702030404030204"/>
                        </a:rPr>
                        <a:t>Đã làm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8" name="Group 8"/>
          <p:cNvGrpSpPr/>
          <p:nvPr/>
        </p:nvGrpSpPr>
        <p:grpSpPr>
          <a:xfrm rot="0">
            <a:off x="813435" y="7671435"/>
            <a:ext cx="16660673" cy="1733550"/>
            <a:chOff x="0" y="0"/>
            <a:chExt cx="22214230" cy="2311400"/>
          </a:xfrm>
        </p:grpSpPr>
        <p:sp>
          <p:nvSpPr>
            <p:cNvPr id="9" name="Freeform 9"/>
            <p:cNvSpPr/>
            <p:nvPr/>
          </p:nvSpPr>
          <p:spPr>
            <a:xfrm>
              <a:off x="0" y="0"/>
              <a:ext cx="22214205" cy="2311400"/>
            </a:xfrm>
            <a:custGeom>
              <a:avLst/>
              <a:gdLst/>
              <a:ahLst/>
              <a:cxnLst/>
              <a:rect l="l" t="t" r="r" b="b"/>
              <a:pathLst>
                <a:path w="22214205" h="2311400">
                  <a:moveTo>
                    <a:pt x="0" y="147955"/>
                  </a:moveTo>
                  <a:cubicBezTo>
                    <a:pt x="0" y="66167"/>
                    <a:pt x="66167" y="0"/>
                    <a:pt x="147955" y="0"/>
                  </a:cubicBezTo>
                  <a:lnTo>
                    <a:pt x="22066250" y="0"/>
                  </a:lnTo>
                  <a:cubicBezTo>
                    <a:pt x="22147912" y="0"/>
                    <a:pt x="22214205" y="66167"/>
                    <a:pt x="22214205" y="147955"/>
                  </a:cubicBezTo>
                  <a:lnTo>
                    <a:pt x="22214205" y="2163445"/>
                  </a:lnTo>
                  <a:cubicBezTo>
                    <a:pt x="22214205" y="2245106"/>
                    <a:pt x="22148037" y="2311400"/>
                    <a:pt x="22066250" y="2311400"/>
                  </a:cubicBezTo>
                  <a:lnTo>
                    <a:pt x="147955" y="2311400"/>
                  </a:lnTo>
                  <a:cubicBezTo>
                    <a:pt x="66167" y="2311400"/>
                    <a:pt x="0" y="2245233"/>
                    <a:pt x="0" y="2163445"/>
                  </a:cubicBezTo>
                  <a:close/>
                </a:path>
              </a:pathLst>
            </a:custGeom>
            <a:solidFill>
              <a:srgbClr val="E7F0F3"/>
            </a:solidFill>
            <a:ln w="19050" cap="sq">
              <a:solidFill>
                <a:srgbClr val="E7F0F3"/>
              </a:solidFill>
              <a:prstDash val="solid"/>
              <a:miter/>
            </a:ln>
          </p:spPr>
          <p:txBody>
            <a:bodyPr/>
            <a:p/>
          </p:txBody>
        </p:sp>
      </p:grpSp>
      <p:grpSp>
        <p:nvGrpSpPr>
          <p:cNvPr id="10" name="Group 10"/>
          <p:cNvGrpSpPr/>
          <p:nvPr/>
        </p:nvGrpSpPr>
        <p:grpSpPr>
          <a:xfrm rot="0">
            <a:off x="1303020" y="7680960"/>
            <a:ext cx="15681503" cy="1714500"/>
            <a:chOff x="0" y="0"/>
            <a:chExt cx="20908670" cy="2286000"/>
          </a:xfrm>
        </p:grpSpPr>
        <p:sp>
          <p:nvSpPr>
            <p:cNvPr id="11" name="Freeform 11"/>
            <p:cNvSpPr/>
            <p:nvPr/>
          </p:nvSpPr>
          <p:spPr>
            <a:xfrm>
              <a:off x="0" y="0"/>
              <a:ext cx="20908669" cy="2286000"/>
            </a:xfrm>
            <a:custGeom>
              <a:avLst/>
              <a:gdLst/>
              <a:ahLst/>
              <a:cxnLst/>
              <a:rect l="l" t="t" r="r" b="b"/>
              <a:pathLst>
                <a:path w="20908669" h="2286000">
                  <a:moveTo>
                    <a:pt x="0" y="0"/>
                  </a:moveTo>
                  <a:lnTo>
                    <a:pt x="20908669" y="0"/>
                  </a:lnTo>
                  <a:lnTo>
                    <a:pt x="20908669" y="2286000"/>
                  </a:lnTo>
                  <a:lnTo>
                    <a:pt x="0" y="2286000"/>
                  </a:lnTo>
                  <a:close/>
                </a:path>
              </a:pathLst>
            </a:custGeom>
            <a:blipFill>
              <a:blip r:embed="rId1">
                <a:alphaModFix amt="0"/>
              </a:blip>
              <a:stretch>
                <a:fillRect t="-128217" b="-128217"/>
              </a:stretch>
            </a:blipFill>
          </p:spPr>
          <p:txBody>
            <a:bodyPr/>
            <a:p/>
          </p:txBody>
        </p:sp>
        <p:sp>
          <p:nvSpPr>
            <p:cNvPr id="12" name="TextBox 12"/>
            <p:cNvSpPr txBox="1"/>
            <p:nvPr/>
          </p:nvSpPr>
          <p:spPr>
            <a:xfrm>
              <a:off x="0" y="-57150"/>
              <a:ext cx="20908670" cy="2343150"/>
            </a:xfrm>
            <a:prstGeom prst="rect">
              <a:avLst/>
            </a:prstGeom>
          </p:spPr>
          <p:txBody>
            <a:bodyPr lIns="0" tIns="0" rIns="0" bIns="0" rtlCol="0" anchor="ctr"/>
            <a:lstStyle/>
            <a:p>
              <a:pPr algn="l">
                <a:lnSpc>
                  <a:spcPts val="2700"/>
                </a:lnSpc>
              </a:pPr>
              <a:r>
                <a:rPr lang="en-US" sz="2250">
                  <a:solidFill>
                    <a:srgbClr val="13294B"/>
                  </a:solidFill>
                  <a:latin typeface="Calibri (MS)" panose="020F0502020204030204"/>
                  <a:ea typeface="Calibri (MS)" panose="020F0502020204030204"/>
                  <a:cs typeface="Calibri (MS)" panose="020F0502020204030204"/>
                  <a:sym typeface="Calibri (MS)" panose="020F0502020204030204"/>
                </a:rPr>
                <a:t>RQ1: zero-shot EM 22,1 (ViVQA), 29,1 (ViTextVQA).  RQ2: QLoRA +51,7 / +21,1 EM.  RQ3: QLoRA nhận biết OCR +3,1 EM so với cùng QLoRA (full test, đủ dữ liệu).  RQ4: đo ở W9.</a:t>
              </a:r>
              <a:endParaRPr lang="en-US" sz="2250">
                <a:solidFill>
                  <a:srgbClr val="13294B"/>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501" b="-599501"/>
              </a:stretch>
            </a:blipFill>
          </p:spPr>
          <p:txBody>
            <a:bodyPr/>
            <a:p/>
          </p:txBody>
        </p:sp>
        <p:sp>
          <p:nvSpPr>
            <p:cNvPr id="4" name="TextBox 4"/>
            <p:cNvSpPr txBox="1"/>
            <p:nvPr/>
          </p:nvSpPr>
          <p:spPr>
            <a:xfrm>
              <a:off x="0" y="-38100"/>
              <a:ext cx="18288000" cy="5867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5" name="TextBox 5"/>
          <p:cNvSpPr txBox="1"/>
          <p:nvPr/>
        </p:nvSpPr>
        <p:spPr>
          <a:xfrm>
            <a:off x="822960" y="410337"/>
            <a:ext cx="16641623" cy="440055"/>
          </a:xfrm>
          <a:prstGeom prst="rect">
            <a:avLst/>
          </a:prstGeom>
        </p:spPr>
        <p:txBody>
          <a:bodyPr lIns="0" tIns="0" rIns="0" bIns="0" rtlCol="0" anchor="t">
            <a:spAutoFit/>
          </a:bodyPr>
          <a:lstStyle/>
          <a:p>
            <a:pPr algn="l">
              <a:lnSpc>
                <a:spcPts val="1980"/>
              </a:lnSpc>
            </a:pPr>
            <a:r>
              <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BƯỚC TIẾP THEO</a:t>
            </a:r>
            <a:endParaRPr lang="en-US" sz="1650" b="1" spc="299">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6" name="TextBox 6"/>
          <p:cNvSpPr txBox="1"/>
          <p:nvPr/>
        </p:nvSpPr>
        <p:spPr>
          <a:xfrm>
            <a:off x="822960" y="840867"/>
            <a:ext cx="16641623" cy="96964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Đến Review 3 — đi trước kế hoạch khoảng 2 tuần</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7" name="Group 7"/>
          <p:cNvGrpSpPr/>
          <p:nvPr/>
        </p:nvGrpSpPr>
        <p:grpSpPr>
          <a:xfrm rot="0">
            <a:off x="813435" y="2390775"/>
            <a:ext cx="3819411" cy="4682490"/>
            <a:chOff x="0" y="0"/>
            <a:chExt cx="5092548" cy="6243320"/>
          </a:xfrm>
        </p:grpSpPr>
        <p:sp>
          <p:nvSpPr>
            <p:cNvPr id="8" name="Freeform 8"/>
            <p:cNvSpPr/>
            <p:nvPr/>
          </p:nvSpPr>
          <p:spPr>
            <a:xfrm>
              <a:off x="0" y="0"/>
              <a:ext cx="5092573" cy="6243320"/>
            </a:xfrm>
            <a:custGeom>
              <a:avLst/>
              <a:gdLst/>
              <a:ahLst/>
              <a:cxnLst/>
              <a:rect l="l" t="t" r="r" b="b"/>
              <a:pathLst>
                <a:path w="5092573" h="6243320">
                  <a:moveTo>
                    <a:pt x="0" y="147066"/>
                  </a:moveTo>
                  <a:cubicBezTo>
                    <a:pt x="0" y="65786"/>
                    <a:pt x="65786" y="0"/>
                    <a:pt x="147066" y="0"/>
                  </a:cubicBezTo>
                  <a:lnTo>
                    <a:pt x="4945507" y="0"/>
                  </a:lnTo>
                  <a:cubicBezTo>
                    <a:pt x="5026660" y="0"/>
                    <a:pt x="5092573" y="65786"/>
                    <a:pt x="5092573" y="147066"/>
                  </a:cubicBezTo>
                  <a:lnTo>
                    <a:pt x="5092573" y="6096254"/>
                  </a:lnTo>
                  <a:cubicBezTo>
                    <a:pt x="5092573" y="6177407"/>
                    <a:pt x="5026787" y="6243320"/>
                    <a:pt x="4945507" y="6243320"/>
                  </a:cubicBezTo>
                  <a:lnTo>
                    <a:pt x="147066" y="6243320"/>
                  </a:lnTo>
                  <a:cubicBezTo>
                    <a:pt x="65786" y="6243320"/>
                    <a:pt x="0" y="6177534"/>
                    <a:pt x="0" y="6096254"/>
                  </a:cubicBezTo>
                  <a:close/>
                </a:path>
              </a:pathLst>
            </a:custGeom>
            <a:solidFill>
              <a:srgbClr val="E7F0F3"/>
            </a:solidFill>
            <a:ln w="19050" cap="sq">
              <a:solidFill>
                <a:srgbClr val="E7F0F3"/>
              </a:solidFill>
              <a:prstDash val="solid"/>
              <a:miter/>
            </a:ln>
          </p:spPr>
          <p:txBody>
            <a:bodyPr/>
            <a:p/>
          </p:txBody>
        </p:sp>
      </p:grpSp>
      <p:grpSp>
        <p:nvGrpSpPr>
          <p:cNvPr id="9" name="Group 9"/>
          <p:cNvGrpSpPr/>
          <p:nvPr/>
        </p:nvGrpSpPr>
        <p:grpSpPr>
          <a:xfrm rot="0">
            <a:off x="1224915" y="2802255"/>
            <a:ext cx="1322070" cy="1322070"/>
            <a:chOff x="0" y="0"/>
            <a:chExt cx="1762760" cy="1762760"/>
          </a:xfrm>
        </p:grpSpPr>
        <p:sp>
          <p:nvSpPr>
            <p:cNvPr id="10" name="Freeform 10"/>
            <p:cNvSpPr/>
            <p:nvPr/>
          </p:nvSpPr>
          <p:spPr>
            <a:xfrm>
              <a:off x="0" y="0"/>
              <a:ext cx="1762760" cy="1762760"/>
            </a:xfrm>
            <a:custGeom>
              <a:avLst/>
              <a:gdLst/>
              <a:ahLst/>
              <a:cxnLst/>
              <a:rect l="l" t="t" r="r" b="b"/>
              <a:pathLst>
                <a:path w="1762760" h="1762760">
                  <a:moveTo>
                    <a:pt x="0" y="881380"/>
                  </a:moveTo>
                  <a:cubicBezTo>
                    <a:pt x="0" y="394589"/>
                    <a:pt x="394589" y="0"/>
                    <a:pt x="881380" y="0"/>
                  </a:cubicBezTo>
                  <a:cubicBezTo>
                    <a:pt x="1368171" y="0"/>
                    <a:pt x="1762760" y="394589"/>
                    <a:pt x="1762760" y="881380"/>
                  </a:cubicBezTo>
                  <a:cubicBezTo>
                    <a:pt x="1762760" y="1368171"/>
                    <a:pt x="1368171" y="1762760"/>
                    <a:pt x="881380" y="1762760"/>
                  </a:cubicBezTo>
                  <a:cubicBezTo>
                    <a:pt x="394589" y="1762760"/>
                    <a:pt x="0" y="1368171"/>
                    <a:pt x="0" y="881380"/>
                  </a:cubicBezTo>
                  <a:close/>
                </a:path>
              </a:pathLst>
            </a:custGeom>
            <a:solidFill>
              <a:srgbClr val="1C7293"/>
            </a:solidFill>
            <a:ln w="19050" cap="sq">
              <a:solidFill>
                <a:srgbClr val="FFFFFF"/>
              </a:solidFill>
              <a:prstDash val="solid"/>
              <a:miter/>
            </a:ln>
          </p:spPr>
          <p:txBody>
            <a:bodyPr/>
            <a:p/>
          </p:txBody>
        </p:sp>
      </p:grpSp>
      <p:grpSp>
        <p:nvGrpSpPr>
          <p:cNvPr id="11" name="Group 11"/>
          <p:cNvGrpSpPr/>
          <p:nvPr/>
        </p:nvGrpSpPr>
        <p:grpSpPr>
          <a:xfrm rot="0">
            <a:off x="1234440" y="2811780"/>
            <a:ext cx="1303020" cy="1303020"/>
            <a:chOff x="0" y="0"/>
            <a:chExt cx="1737360" cy="1737360"/>
          </a:xfrm>
        </p:grpSpPr>
        <p:sp>
          <p:nvSpPr>
            <p:cNvPr id="12" name="Freeform 12"/>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03" r="-78303"/>
              </a:stretch>
            </a:blipFill>
          </p:spPr>
          <p:txBody>
            <a:bodyPr/>
            <a:p/>
          </p:txBody>
        </p:sp>
        <p:sp>
          <p:nvSpPr>
            <p:cNvPr id="13" name="TextBox 13"/>
            <p:cNvSpPr txBox="1"/>
            <p:nvPr/>
          </p:nvSpPr>
          <p:spPr>
            <a:xfrm>
              <a:off x="0" y="-47625"/>
              <a:ext cx="1737360" cy="178498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W9</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4" name="TextBox 14"/>
          <p:cNvSpPr txBox="1"/>
          <p:nvPr/>
        </p:nvSpPr>
        <p:spPr>
          <a:xfrm>
            <a:off x="1234440" y="4400550"/>
            <a:ext cx="2977401" cy="23888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Đo hallucination có hệ thống (H4), kiểu POPE tiếng Việt: B1 so với B2, B3-full</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5" name="Group 15"/>
          <p:cNvGrpSpPr/>
          <p:nvPr/>
        </p:nvGrpSpPr>
        <p:grpSpPr>
          <a:xfrm rot="0">
            <a:off x="5093856" y="2390775"/>
            <a:ext cx="3819411" cy="4682490"/>
            <a:chOff x="0" y="0"/>
            <a:chExt cx="5092548" cy="6243320"/>
          </a:xfrm>
        </p:grpSpPr>
        <p:sp>
          <p:nvSpPr>
            <p:cNvPr id="16" name="Freeform 16"/>
            <p:cNvSpPr/>
            <p:nvPr/>
          </p:nvSpPr>
          <p:spPr>
            <a:xfrm>
              <a:off x="0" y="0"/>
              <a:ext cx="5092573" cy="6243320"/>
            </a:xfrm>
            <a:custGeom>
              <a:avLst/>
              <a:gdLst/>
              <a:ahLst/>
              <a:cxnLst/>
              <a:rect l="l" t="t" r="r" b="b"/>
              <a:pathLst>
                <a:path w="5092573" h="6243320">
                  <a:moveTo>
                    <a:pt x="0" y="147066"/>
                  </a:moveTo>
                  <a:cubicBezTo>
                    <a:pt x="0" y="65786"/>
                    <a:pt x="65786" y="0"/>
                    <a:pt x="147066" y="0"/>
                  </a:cubicBezTo>
                  <a:lnTo>
                    <a:pt x="4945507" y="0"/>
                  </a:lnTo>
                  <a:cubicBezTo>
                    <a:pt x="5026660" y="0"/>
                    <a:pt x="5092573" y="65786"/>
                    <a:pt x="5092573" y="147066"/>
                  </a:cubicBezTo>
                  <a:lnTo>
                    <a:pt x="5092573" y="6096254"/>
                  </a:lnTo>
                  <a:cubicBezTo>
                    <a:pt x="5092573" y="6177407"/>
                    <a:pt x="5026787" y="6243320"/>
                    <a:pt x="4945507" y="6243320"/>
                  </a:cubicBezTo>
                  <a:lnTo>
                    <a:pt x="147066" y="6243320"/>
                  </a:lnTo>
                  <a:cubicBezTo>
                    <a:pt x="65786" y="6243320"/>
                    <a:pt x="0" y="6177534"/>
                    <a:pt x="0" y="6096254"/>
                  </a:cubicBezTo>
                  <a:close/>
                </a:path>
              </a:pathLst>
            </a:custGeom>
            <a:solidFill>
              <a:srgbClr val="F3F5F8"/>
            </a:solidFill>
            <a:ln w="19050" cap="sq">
              <a:solidFill>
                <a:srgbClr val="F3F5F8"/>
              </a:solidFill>
              <a:prstDash val="solid"/>
              <a:miter/>
            </a:ln>
          </p:spPr>
          <p:txBody>
            <a:bodyPr/>
            <a:p/>
          </p:txBody>
        </p:sp>
      </p:grpSp>
      <p:grpSp>
        <p:nvGrpSpPr>
          <p:cNvPr id="17" name="Group 17"/>
          <p:cNvGrpSpPr/>
          <p:nvPr/>
        </p:nvGrpSpPr>
        <p:grpSpPr>
          <a:xfrm rot="0">
            <a:off x="5505336" y="2802255"/>
            <a:ext cx="1322070" cy="1322070"/>
            <a:chOff x="0" y="0"/>
            <a:chExt cx="1762760" cy="1762760"/>
          </a:xfrm>
        </p:grpSpPr>
        <p:sp>
          <p:nvSpPr>
            <p:cNvPr id="18" name="Freeform 18"/>
            <p:cNvSpPr/>
            <p:nvPr/>
          </p:nvSpPr>
          <p:spPr>
            <a:xfrm>
              <a:off x="0" y="0"/>
              <a:ext cx="1762760" cy="1762760"/>
            </a:xfrm>
            <a:custGeom>
              <a:avLst/>
              <a:gdLst/>
              <a:ahLst/>
              <a:cxnLst/>
              <a:rect l="l" t="t" r="r" b="b"/>
              <a:pathLst>
                <a:path w="1762760" h="1762760">
                  <a:moveTo>
                    <a:pt x="0" y="881380"/>
                  </a:moveTo>
                  <a:cubicBezTo>
                    <a:pt x="0" y="394589"/>
                    <a:pt x="394589" y="0"/>
                    <a:pt x="881380" y="0"/>
                  </a:cubicBezTo>
                  <a:cubicBezTo>
                    <a:pt x="1368171" y="0"/>
                    <a:pt x="1762760" y="394589"/>
                    <a:pt x="1762760" y="881380"/>
                  </a:cubicBezTo>
                  <a:cubicBezTo>
                    <a:pt x="1762760" y="1368171"/>
                    <a:pt x="1368171" y="1762760"/>
                    <a:pt x="881380" y="1762760"/>
                  </a:cubicBezTo>
                  <a:cubicBezTo>
                    <a:pt x="394589" y="1762760"/>
                    <a:pt x="0" y="1368171"/>
                    <a:pt x="0" y="881380"/>
                  </a:cubicBezTo>
                  <a:close/>
                </a:path>
              </a:pathLst>
            </a:custGeom>
            <a:solidFill>
              <a:srgbClr val="13294B"/>
            </a:solidFill>
            <a:ln w="19050" cap="sq">
              <a:solidFill>
                <a:srgbClr val="FFFFFF"/>
              </a:solidFill>
              <a:prstDash val="solid"/>
              <a:miter/>
            </a:ln>
          </p:spPr>
          <p:txBody>
            <a:bodyPr/>
            <a:p/>
          </p:txBody>
        </p:sp>
      </p:grpSp>
      <p:grpSp>
        <p:nvGrpSpPr>
          <p:cNvPr id="19" name="Group 19"/>
          <p:cNvGrpSpPr/>
          <p:nvPr/>
        </p:nvGrpSpPr>
        <p:grpSpPr>
          <a:xfrm rot="0">
            <a:off x="5514861" y="2811780"/>
            <a:ext cx="1303020" cy="1303020"/>
            <a:chOff x="0" y="0"/>
            <a:chExt cx="1737360" cy="1737360"/>
          </a:xfrm>
        </p:grpSpPr>
        <p:sp>
          <p:nvSpPr>
            <p:cNvPr id="20" name="Freeform 20"/>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03" r="-78303"/>
              </a:stretch>
            </a:blipFill>
          </p:spPr>
          <p:txBody>
            <a:bodyPr/>
            <a:p/>
          </p:txBody>
        </p:sp>
        <p:sp>
          <p:nvSpPr>
            <p:cNvPr id="21" name="TextBox 21"/>
            <p:cNvSpPr txBox="1"/>
            <p:nvPr/>
          </p:nvSpPr>
          <p:spPr>
            <a:xfrm>
              <a:off x="0" y="-47625"/>
              <a:ext cx="1737360" cy="178498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W10</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2" name="TextBox 22"/>
          <p:cNvSpPr txBox="1"/>
          <p:nvPr/>
        </p:nvSpPr>
        <p:spPr>
          <a:xfrm>
            <a:off x="5514861" y="4400550"/>
            <a:ext cx="2977401" cy="23888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Phân tích lỗi theo loại câu hỏi và V1–V4; chốt bảng kết quả cuối</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9374276" y="2390775"/>
            <a:ext cx="3819411" cy="4682490"/>
            <a:chOff x="0" y="0"/>
            <a:chExt cx="5092548" cy="6243320"/>
          </a:xfrm>
        </p:grpSpPr>
        <p:sp>
          <p:nvSpPr>
            <p:cNvPr id="24" name="Freeform 24"/>
            <p:cNvSpPr/>
            <p:nvPr/>
          </p:nvSpPr>
          <p:spPr>
            <a:xfrm>
              <a:off x="0" y="0"/>
              <a:ext cx="5092573" cy="6243320"/>
            </a:xfrm>
            <a:custGeom>
              <a:avLst/>
              <a:gdLst/>
              <a:ahLst/>
              <a:cxnLst/>
              <a:rect l="l" t="t" r="r" b="b"/>
              <a:pathLst>
                <a:path w="5092573" h="6243320">
                  <a:moveTo>
                    <a:pt x="0" y="147066"/>
                  </a:moveTo>
                  <a:cubicBezTo>
                    <a:pt x="0" y="65786"/>
                    <a:pt x="65786" y="0"/>
                    <a:pt x="147066" y="0"/>
                  </a:cubicBezTo>
                  <a:lnTo>
                    <a:pt x="4945507" y="0"/>
                  </a:lnTo>
                  <a:cubicBezTo>
                    <a:pt x="5026660" y="0"/>
                    <a:pt x="5092573" y="65786"/>
                    <a:pt x="5092573" y="147066"/>
                  </a:cubicBezTo>
                  <a:lnTo>
                    <a:pt x="5092573" y="6096254"/>
                  </a:lnTo>
                  <a:cubicBezTo>
                    <a:pt x="5092573" y="6177407"/>
                    <a:pt x="5026787" y="6243320"/>
                    <a:pt x="4945507" y="6243320"/>
                  </a:cubicBezTo>
                  <a:lnTo>
                    <a:pt x="147066" y="6243320"/>
                  </a:lnTo>
                  <a:cubicBezTo>
                    <a:pt x="65786" y="6243320"/>
                    <a:pt x="0" y="6177534"/>
                    <a:pt x="0" y="6096254"/>
                  </a:cubicBezTo>
                  <a:close/>
                </a:path>
              </a:pathLst>
            </a:custGeom>
            <a:solidFill>
              <a:srgbClr val="F3F5F8"/>
            </a:solidFill>
            <a:ln w="19050" cap="sq">
              <a:solidFill>
                <a:srgbClr val="F3F5F8"/>
              </a:solidFill>
              <a:prstDash val="solid"/>
              <a:miter/>
            </a:ln>
          </p:spPr>
          <p:txBody>
            <a:bodyPr/>
            <a:p/>
          </p:txBody>
        </p:sp>
      </p:grpSp>
      <p:grpSp>
        <p:nvGrpSpPr>
          <p:cNvPr id="25" name="Group 25"/>
          <p:cNvGrpSpPr/>
          <p:nvPr/>
        </p:nvGrpSpPr>
        <p:grpSpPr>
          <a:xfrm rot="0">
            <a:off x="9785756" y="2802255"/>
            <a:ext cx="1322070" cy="1322070"/>
            <a:chOff x="0" y="0"/>
            <a:chExt cx="1762760" cy="1762760"/>
          </a:xfrm>
        </p:grpSpPr>
        <p:sp>
          <p:nvSpPr>
            <p:cNvPr id="26" name="Freeform 26"/>
            <p:cNvSpPr/>
            <p:nvPr/>
          </p:nvSpPr>
          <p:spPr>
            <a:xfrm>
              <a:off x="0" y="0"/>
              <a:ext cx="1762760" cy="1762760"/>
            </a:xfrm>
            <a:custGeom>
              <a:avLst/>
              <a:gdLst/>
              <a:ahLst/>
              <a:cxnLst/>
              <a:rect l="l" t="t" r="r" b="b"/>
              <a:pathLst>
                <a:path w="1762760" h="1762760">
                  <a:moveTo>
                    <a:pt x="0" y="881380"/>
                  </a:moveTo>
                  <a:cubicBezTo>
                    <a:pt x="0" y="394589"/>
                    <a:pt x="394589" y="0"/>
                    <a:pt x="881380" y="0"/>
                  </a:cubicBezTo>
                  <a:cubicBezTo>
                    <a:pt x="1368171" y="0"/>
                    <a:pt x="1762760" y="394589"/>
                    <a:pt x="1762760" y="881380"/>
                  </a:cubicBezTo>
                  <a:cubicBezTo>
                    <a:pt x="1762760" y="1368171"/>
                    <a:pt x="1368171" y="1762760"/>
                    <a:pt x="881380" y="1762760"/>
                  </a:cubicBezTo>
                  <a:cubicBezTo>
                    <a:pt x="394589" y="1762760"/>
                    <a:pt x="0" y="1368171"/>
                    <a:pt x="0" y="881380"/>
                  </a:cubicBezTo>
                  <a:close/>
                </a:path>
              </a:pathLst>
            </a:custGeom>
            <a:solidFill>
              <a:srgbClr val="13294B"/>
            </a:solidFill>
            <a:ln w="19050" cap="sq">
              <a:solidFill>
                <a:srgbClr val="FFFFFF"/>
              </a:solidFill>
              <a:prstDash val="solid"/>
              <a:miter/>
            </a:ln>
          </p:spPr>
          <p:txBody>
            <a:bodyPr/>
            <a:p/>
          </p:txBody>
        </p:sp>
      </p:grpSp>
      <p:grpSp>
        <p:nvGrpSpPr>
          <p:cNvPr id="27" name="Group 27"/>
          <p:cNvGrpSpPr/>
          <p:nvPr/>
        </p:nvGrpSpPr>
        <p:grpSpPr>
          <a:xfrm rot="0">
            <a:off x="9795281" y="2811780"/>
            <a:ext cx="1303020" cy="1303020"/>
            <a:chOff x="0" y="0"/>
            <a:chExt cx="1737360" cy="1737360"/>
          </a:xfrm>
        </p:grpSpPr>
        <p:sp>
          <p:nvSpPr>
            <p:cNvPr id="28" name="Freeform 28"/>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03" r="-78303"/>
              </a:stretch>
            </a:blipFill>
          </p:spPr>
          <p:txBody>
            <a:bodyPr/>
            <a:p/>
          </p:txBody>
        </p:sp>
        <p:sp>
          <p:nvSpPr>
            <p:cNvPr id="29" name="TextBox 29"/>
            <p:cNvSpPr txBox="1"/>
            <p:nvPr/>
          </p:nvSpPr>
          <p:spPr>
            <a:xfrm>
              <a:off x="0" y="-47625"/>
              <a:ext cx="1737360" cy="178498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W12</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0" name="TextBox 30"/>
          <p:cNvSpPr txBox="1"/>
          <p:nvPr/>
        </p:nvSpPr>
        <p:spPr>
          <a:xfrm>
            <a:off x="9795281" y="4400550"/>
            <a:ext cx="2977401" cy="23888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Prototype web dùng 1 adapter chung (W11–12): ảnh → OCR → trả lời kèm bằng chứng</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1" name="Group 31"/>
          <p:cNvGrpSpPr/>
          <p:nvPr/>
        </p:nvGrpSpPr>
        <p:grpSpPr>
          <a:xfrm rot="0">
            <a:off x="13654697" y="2390775"/>
            <a:ext cx="3819411" cy="4682490"/>
            <a:chOff x="0" y="0"/>
            <a:chExt cx="5092548" cy="6243320"/>
          </a:xfrm>
        </p:grpSpPr>
        <p:sp>
          <p:nvSpPr>
            <p:cNvPr id="32" name="Freeform 32"/>
            <p:cNvSpPr/>
            <p:nvPr/>
          </p:nvSpPr>
          <p:spPr>
            <a:xfrm>
              <a:off x="0" y="0"/>
              <a:ext cx="5092573" cy="6243320"/>
            </a:xfrm>
            <a:custGeom>
              <a:avLst/>
              <a:gdLst/>
              <a:ahLst/>
              <a:cxnLst/>
              <a:rect l="l" t="t" r="r" b="b"/>
              <a:pathLst>
                <a:path w="5092573" h="6243320">
                  <a:moveTo>
                    <a:pt x="0" y="147066"/>
                  </a:moveTo>
                  <a:cubicBezTo>
                    <a:pt x="0" y="65786"/>
                    <a:pt x="65786" y="0"/>
                    <a:pt x="147066" y="0"/>
                  </a:cubicBezTo>
                  <a:lnTo>
                    <a:pt x="4945507" y="0"/>
                  </a:lnTo>
                  <a:cubicBezTo>
                    <a:pt x="5026660" y="0"/>
                    <a:pt x="5092573" y="65786"/>
                    <a:pt x="5092573" y="147066"/>
                  </a:cubicBezTo>
                  <a:lnTo>
                    <a:pt x="5092573" y="6096254"/>
                  </a:lnTo>
                  <a:cubicBezTo>
                    <a:pt x="5092573" y="6177407"/>
                    <a:pt x="5026787" y="6243320"/>
                    <a:pt x="4945507" y="6243320"/>
                  </a:cubicBezTo>
                  <a:lnTo>
                    <a:pt x="147066" y="6243320"/>
                  </a:lnTo>
                  <a:cubicBezTo>
                    <a:pt x="65786" y="6243320"/>
                    <a:pt x="0" y="6177534"/>
                    <a:pt x="0" y="6096254"/>
                  </a:cubicBezTo>
                  <a:close/>
                </a:path>
              </a:pathLst>
            </a:custGeom>
            <a:solidFill>
              <a:srgbClr val="F3F5F8"/>
            </a:solidFill>
            <a:ln w="19050" cap="sq">
              <a:solidFill>
                <a:srgbClr val="F3F5F8"/>
              </a:solidFill>
              <a:prstDash val="solid"/>
              <a:miter/>
            </a:ln>
          </p:spPr>
          <p:txBody>
            <a:bodyPr/>
            <a:p/>
          </p:txBody>
        </p:sp>
      </p:grpSp>
      <p:grpSp>
        <p:nvGrpSpPr>
          <p:cNvPr id="33" name="Group 33"/>
          <p:cNvGrpSpPr/>
          <p:nvPr/>
        </p:nvGrpSpPr>
        <p:grpSpPr>
          <a:xfrm rot="0">
            <a:off x="14066177" y="2802255"/>
            <a:ext cx="1322070" cy="1322070"/>
            <a:chOff x="0" y="0"/>
            <a:chExt cx="1762760" cy="1762760"/>
          </a:xfrm>
        </p:grpSpPr>
        <p:sp>
          <p:nvSpPr>
            <p:cNvPr id="34" name="Freeform 34"/>
            <p:cNvSpPr/>
            <p:nvPr/>
          </p:nvSpPr>
          <p:spPr>
            <a:xfrm>
              <a:off x="0" y="0"/>
              <a:ext cx="1762760" cy="1762760"/>
            </a:xfrm>
            <a:custGeom>
              <a:avLst/>
              <a:gdLst/>
              <a:ahLst/>
              <a:cxnLst/>
              <a:rect l="l" t="t" r="r" b="b"/>
              <a:pathLst>
                <a:path w="1762760" h="1762760">
                  <a:moveTo>
                    <a:pt x="0" y="881380"/>
                  </a:moveTo>
                  <a:cubicBezTo>
                    <a:pt x="0" y="394589"/>
                    <a:pt x="394589" y="0"/>
                    <a:pt x="881380" y="0"/>
                  </a:cubicBezTo>
                  <a:cubicBezTo>
                    <a:pt x="1368171" y="0"/>
                    <a:pt x="1762760" y="394589"/>
                    <a:pt x="1762760" y="881380"/>
                  </a:cubicBezTo>
                  <a:cubicBezTo>
                    <a:pt x="1762760" y="1368171"/>
                    <a:pt x="1368171" y="1762760"/>
                    <a:pt x="881380" y="1762760"/>
                  </a:cubicBezTo>
                  <a:cubicBezTo>
                    <a:pt x="394589" y="1762760"/>
                    <a:pt x="0" y="1368171"/>
                    <a:pt x="0" y="881380"/>
                  </a:cubicBezTo>
                  <a:close/>
                </a:path>
              </a:pathLst>
            </a:custGeom>
            <a:solidFill>
              <a:srgbClr val="13294B"/>
            </a:solidFill>
            <a:ln w="19050" cap="sq">
              <a:solidFill>
                <a:srgbClr val="FFFFFF"/>
              </a:solidFill>
              <a:prstDash val="solid"/>
              <a:miter/>
            </a:ln>
          </p:spPr>
          <p:txBody>
            <a:bodyPr/>
            <a:p/>
          </p:txBody>
        </p:sp>
      </p:grpSp>
      <p:grpSp>
        <p:nvGrpSpPr>
          <p:cNvPr id="35" name="Group 35"/>
          <p:cNvGrpSpPr/>
          <p:nvPr/>
        </p:nvGrpSpPr>
        <p:grpSpPr>
          <a:xfrm rot="0">
            <a:off x="14075702" y="2811780"/>
            <a:ext cx="1303020" cy="1303020"/>
            <a:chOff x="0" y="0"/>
            <a:chExt cx="1737360" cy="1737360"/>
          </a:xfrm>
        </p:grpSpPr>
        <p:sp>
          <p:nvSpPr>
            <p:cNvPr id="36" name="Freeform 36"/>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03" r="-78303"/>
              </a:stretch>
            </a:blipFill>
          </p:spPr>
          <p:txBody>
            <a:bodyPr/>
            <a:p/>
          </p:txBody>
        </p:sp>
        <p:sp>
          <p:nvSpPr>
            <p:cNvPr id="37" name="TextBox 37"/>
            <p:cNvSpPr txBox="1"/>
            <p:nvPr/>
          </p:nvSpPr>
          <p:spPr>
            <a:xfrm>
              <a:off x="0" y="-47625"/>
              <a:ext cx="1737360" cy="178498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W13</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8" name="TextBox 38"/>
          <p:cNvSpPr txBox="1"/>
          <p:nvPr/>
        </p:nvSpPr>
        <p:spPr>
          <a:xfrm>
            <a:off x="14075702" y="4400550"/>
            <a:ext cx="2977401" cy="23888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Review 3: bộ slide này + Phần C (kết quả cuối, lỗi, hallucination, demo)</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9" name="TextBox 39"/>
          <p:cNvSpPr txBox="1"/>
          <p:nvPr/>
        </p:nvSpPr>
        <p:spPr>
          <a:xfrm>
            <a:off x="822960" y="7496175"/>
            <a:ext cx="16641623" cy="664845"/>
          </a:xfrm>
          <a:prstGeom prst="rect">
            <a:avLst/>
          </a:prstGeom>
        </p:spPr>
        <p:txBody>
          <a:bodyPr lIns="0" tIns="0" rIns="0" bIns="0" rtlCol="0" anchor="t">
            <a:spAutoFit/>
          </a:bodyPr>
          <a:lstStyle/>
          <a:p>
            <a:pPr algn="l">
              <a:lnSpc>
                <a:spcPts val="2520"/>
              </a:lnSpc>
            </a:pPr>
            <a:r>
              <a:rPr lang="en-US" sz="2100">
                <a:solidFill>
                  <a:srgbClr val="6B7280"/>
                </a:solidFill>
                <a:latin typeface="Calibri (MS)" panose="020F0502020204030204"/>
                <a:ea typeface="Calibri (MS)" panose="020F0502020204030204"/>
                <a:cs typeface="Calibri (MS)" panose="020F0502020204030204"/>
                <a:sym typeface="Calibri (MS)" panose="020F0502020204030204"/>
              </a:rPr>
              <a:t>Mọi run giữ giao thức cố định, chỉ PEFT, và luật kết luận chốt trước.</a:t>
            </a:r>
            <a:endParaRPr lang="en-US" sz="2100">
              <a:solidFill>
                <a:srgbClr val="6B7280"/>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
        <p:cNvGrpSpPr/>
        <p:nvPr/>
      </p:nvGrpSpPr>
      <p:grpSpPr>
        <a:xfrm>
          <a:off x="0" y="0"/>
          <a:ext cx="0" cy="0"/>
          <a:chOff x="0" y="0"/>
          <a:chExt cx="0" cy="0"/>
        </a:xfrm>
      </p:grpSpPr>
      <p:grpSp>
        <p:nvGrpSpPr>
          <p:cNvPr id="2" name="Group 2"/>
          <p:cNvGrpSpPr/>
          <p:nvPr/>
        </p:nvGrpSpPr>
        <p:grpSpPr>
          <a:xfrm rot="0">
            <a:off x="822960" y="2331720"/>
            <a:ext cx="16641623" cy="1645920"/>
            <a:chOff x="0" y="0"/>
            <a:chExt cx="22188830" cy="2194560"/>
          </a:xfrm>
        </p:grpSpPr>
        <p:sp>
          <p:nvSpPr>
            <p:cNvPr id="3" name="Freeform 3"/>
            <p:cNvSpPr/>
            <p:nvPr/>
          </p:nvSpPr>
          <p:spPr>
            <a:xfrm>
              <a:off x="0" y="0"/>
              <a:ext cx="22188830" cy="2194560"/>
            </a:xfrm>
            <a:custGeom>
              <a:avLst/>
              <a:gdLst/>
              <a:ahLst/>
              <a:cxnLst/>
              <a:rect l="l" t="t" r="r" b="b"/>
              <a:pathLst>
                <a:path w="22188830" h="2194560">
                  <a:moveTo>
                    <a:pt x="0" y="0"/>
                  </a:moveTo>
                  <a:lnTo>
                    <a:pt x="22188830" y="0"/>
                  </a:lnTo>
                  <a:lnTo>
                    <a:pt x="22188830" y="2194560"/>
                  </a:lnTo>
                  <a:lnTo>
                    <a:pt x="0" y="2194560"/>
                  </a:lnTo>
                  <a:close/>
                </a:path>
              </a:pathLst>
            </a:custGeom>
            <a:blipFill>
              <a:blip r:embed="rId1">
                <a:alphaModFix amt="0"/>
              </a:blip>
              <a:stretch>
                <a:fillRect t="-147009" b="-147009"/>
              </a:stretch>
            </a:blipFill>
          </p:spPr>
          <p:txBody>
            <a:bodyPr/>
            <a:p/>
          </p:txBody>
        </p:sp>
        <p:sp>
          <p:nvSpPr>
            <p:cNvPr id="4" name="TextBox 4"/>
            <p:cNvSpPr txBox="1"/>
            <p:nvPr/>
          </p:nvSpPr>
          <p:spPr>
            <a:xfrm>
              <a:off x="0" y="-19050"/>
              <a:ext cx="22188830" cy="2213610"/>
            </a:xfrm>
            <a:prstGeom prst="rect">
              <a:avLst/>
            </a:prstGeom>
          </p:spPr>
          <p:txBody>
            <a:bodyPr lIns="0" tIns="0" rIns="0" bIns="0" rtlCol="0" anchor="b"/>
            <a:lstStyle/>
            <a:p>
              <a:pPr algn="l">
                <a:lnSpc>
                  <a:spcPts val="9720"/>
                </a:lnSpc>
              </a:pPr>
              <a:r>
                <a:rPr lang="en-US" sz="8100" b="1">
                  <a:solidFill>
                    <a:srgbClr val="FFFFFF"/>
                  </a:solidFill>
                  <a:latin typeface="Cambria Bold" panose="02040803050406030204"/>
                  <a:ea typeface="Cambria Bold" panose="02040803050406030204"/>
                  <a:cs typeface="Cambria Bold" panose="02040803050406030204"/>
                  <a:sym typeface="Cambria Bold" panose="02040803050406030204"/>
                </a:rPr>
                <a:t>Cảm ơn hội đồng</a:t>
              </a:r>
              <a:endParaRPr lang="en-US" sz="8100" b="1">
                <a:solidFill>
                  <a:srgbClr val="FFFFFF"/>
                </a:solidFill>
                <a:latin typeface="Cambria Bold" panose="02040803050406030204"/>
                <a:ea typeface="Cambria Bold" panose="02040803050406030204"/>
                <a:cs typeface="Cambria Bold" panose="02040803050406030204"/>
                <a:sym typeface="Cambria Bold" panose="02040803050406030204"/>
              </a:endParaRPr>
            </a:p>
          </p:txBody>
        </p:sp>
      </p:grpSp>
      <p:sp>
        <p:nvSpPr>
          <p:cNvPr id="5" name="TextBox 5"/>
          <p:cNvSpPr txBox="1"/>
          <p:nvPr/>
        </p:nvSpPr>
        <p:spPr>
          <a:xfrm>
            <a:off x="822960" y="4048125"/>
            <a:ext cx="16641623" cy="5004435"/>
          </a:xfrm>
          <a:prstGeom prst="rect">
            <a:avLst/>
          </a:prstGeom>
        </p:spPr>
        <p:txBody>
          <a:bodyPr lIns="0" tIns="0" rIns="0" bIns="0" rtlCol="0" anchor="t">
            <a:spAutoFit/>
          </a:bodyPr>
          <a:lstStyle/>
          <a:p>
            <a:pPr algn="l">
              <a:lnSpc>
                <a:spcPts val="3600"/>
              </a:lnSpc>
            </a:pPr>
            <a:r>
              <a:rPr lang="en-US" sz="3000">
                <a:solidFill>
                  <a:srgbClr val="FFFFFF"/>
                </a:solidFill>
                <a:latin typeface="Calibri (MS)" panose="020F0502020204030204"/>
                <a:ea typeface="Calibri (MS)" panose="020F0502020204030204"/>
                <a:cs typeface="Calibri (MS)" panose="020F0502020204030204"/>
                <a:sym typeface="Calibri (MS)" panose="020F0502020204030204"/>
              </a:rPr>
              <a:t>Nhóm rất mong nhận được góp ý.</a:t>
            </a:r>
            <a:endParaRPr lang="en-US" sz="3000">
              <a:solidFill>
                <a:srgbClr val="FFFFFF"/>
              </a:solidFill>
              <a:latin typeface="Calibri (MS)" panose="020F0502020204030204"/>
              <a:ea typeface="Calibri (MS)" panose="020F0502020204030204"/>
              <a:cs typeface="Calibri (MS)" panose="020F0502020204030204"/>
              <a:sym typeface="Calibri (MS)" panose="020F0502020204030204"/>
            </a:endParaRPr>
          </a:p>
          <a:p>
            <a:pPr algn="l">
              <a:lnSpc>
                <a:spcPts val="2160"/>
              </a:lnSpc>
            </a:pPr>
            <a:r>
              <a:rPr lang="en-US" sz="1800">
                <a:solidFill>
                  <a:srgbClr val="FFFFFF"/>
                </a:solidFill>
                <a:latin typeface="Calibri (MS)" panose="020F0502020204030204"/>
                <a:ea typeface="Calibri (MS)" panose="020F0502020204030204"/>
                <a:cs typeface="Calibri (MS)" panose="020F0502020204030204"/>
                <a:sym typeface="Calibri (MS)" panose="020F0502020204030204"/>
              </a:rPr>
              <a:t> </a:t>
            </a:r>
            <a:endParaRPr lang="en-US" sz="1800">
              <a:solidFill>
                <a:srgbClr val="FFFFFF"/>
              </a:solidFill>
              <a:latin typeface="Calibri (MS)" panose="020F0502020204030204"/>
              <a:ea typeface="Calibri (MS)" panose="020F0502020204030204"/>
              <a:cs typeface="Calibri (MS)" panose="020F0502020204030204"/>
              <a:sym typeface="Calibri (MS)" panose="020F0502020204030204"/>
            </a:endParaRPr>
          </a:p>
          <a:p>
            <a:pPr algn="l">
              <a:lnSpc>
                <a:spcPts val="2700"/>
              </a:lnSpc>
            </a:pPr>
            <a:r>
              <a:rPr lang="en-US" sz="2250">
                <a:solidFill>
                  <a:srgbClr val="A8C4E0"/>
                </a:solidFill>
                <a:latin typeface="Calibri (MS)" panose="020F0502020204030204"/>
                <a:ea typeface="Calibri (MS)" panose="020F0502020204030204"/>
                <a:cs typeface="Calibri (MS)" panose="020F0502020204030204"/>
                <a:sym typeface="Calibri (MS)" panose="020F0502020204030204"/>
              </a:rPr>
              <a:t>Mọi con số trong bài đều có log và tái lập được (seed, config và giao thức đánh giá cố định).</a:t>
            </a:r>
            <a:endParaRPr lang="en-US" sz="2250">
              <a:solidFill>
                <a:srgbClr val="A8C4E0"/>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28912</Words>
  <Application>WPS Presentation</Application>
  <PresentationFormat>On-screen Show (4:3)</PresentationFormat>
  <Paragraphs>1584</Paragraphs>
  <Slides>37</Slides>
  <Notes>0</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37</vt:i4>
      </vt:variant>
    </vt:vector>
  </HeadingPairs>
  <TitlesOfParts>
    <vt:vector size="56" baseType="lpstr">
      <vt:lpstr>Arial</vt:lpstr>
      <vt:lpstr>SimSun</vt:lpstr>
      <vt:lpstr>Wingdings</vt:lpstr>
      <vt:lpstr>Noto Sans Bold</vt:lpstr>
      <vt:lpstr>Noto Sans</vt:lpstr>
      <vt:lpstr>Inter Bold</vt:lpstr>
      <vt:lpstr>Lora Bold</vt:lpstr>
      <vt:lpstr>Inter</vt:lpstr>
      <vt:lpstr>Calibri (MS) Bold</vt:lpstr>
      <vt:lpstr>Cambria Bold</vt:lpstr>
      <vt:lpstr>Arial</vt:lpstr>
      <vt:lpstr>Calibri (MS)</vt:lpstr>
      <vt:lpstr>Calibri (MS) Italics</vt:lpstr>
      <vt:lpstr>Microsoft YaHei</vt:lpstr>
      <vt:lpstr>Arial Unicode MS</vt:lpstr>
      <vt:lpstr>Calibri</vt:lpstr>
      <vt:lpstr>Courier New Bold</vt:lpstr>
      <vt:lpstr>Courier New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KLTN</dc:title>
  <dc:creator/>
  <cp:lastModifiedBy>Phạm Lê Huy Hoàng</cp:lastModifiedBy>
  <cp:revision>2</cp:revision>
  <dcterms:created xsi:type="dcterms:W3CDTF">2006-08-16T00:00:00Z</dcterms:created>
  <dcterms:modified xsi:type="dcterms:W3CDTF">2026-10-22T05:02:06Z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9670A5FF30614102B9A24878184B9A0F_12</vt:lpwstr>
  </property>
  <property fmtid="{D5CDD505-2E9C-101B-9397-08002B2CF9AE}" pid="3" name="KSOProductBuildVer">
    <vt:lpwstr>2057-12.2.0.23206</vt:lpwstr>
  </property>
</Properties>
</file>