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0.svg" ContentType="image/svg+xml"/>
  <Override PartName="/ppt/media/image102.svg" ContentType="image/svg+xml"/>
  <Override PartName="/ppt/media/image104.svg" ContentType="image/svg+xml"/>
  <Override PartName="/ppt/media/image106.svg" ContentType="image/svg+xml"/>
  <Override PartName="/ppt/media/image11.svg" ContentType="image/svg+xml"/>
  <Override PartName="/ppt/media/image110.svg" ContentType="image/svg+xml"/>
  <Override PartName="/ppt/media/image113.svg" ContentType="image/svg+xml"/>
  <Override PartName="/ppt/media/image115.svg" ContentType="image/svg+xml"/>
  <Override PartName="/ppt/media/image117.svg" ContentType="image/svg+xml"/>
  <Override PartName="/ppt/media/image119.svg" ContentType="image/svg+xml"/>
  <Override PartName="/ppt/media/image121.svg" ContentType="image/svg+xml"/>
  <Override PartName="/ppt/media/image123.svg" ContentType="image/svg+xml"/>
  <Override PartName="/ppt/media/image126.svg" ContentType="image/svg+xml"/>
  <Override PartName="/ppt/media/image128.svg" ContentType="image/svg+xml"/>
  <Override PartName="/ppt/media/image13.svg" ContentType="image/svg+xml"/>
  <Override PartName="/ppt/media/image131.svg" ContentType="image/svg+xml"/>
  <Override PartName="/ppt/media/image133.svg" ContentType="image/svg+xml"/>
  <Override PartName="/ppt/media/image135.svg" ContentType="image/svg+xml"/>
  <Override PartName="/ppt/media/image137.svg" ContentType="image/svg+xml"/>
  <Override PartName="/ppt/media/image139.svg" ContentType="image/svg+xml"/>
  <Override PartName="/ppt/media/image141.svg" ContentType="image/svg+xml"/>
  <Override PartName="/ppt/media/image143.svg" ContentType="image/svg+xml"/>
  <Override PartName="/ppt/media/image145.svg" ContentType="image/svg+xml"/>
  <Override PartName="/ppt/media/image147.svg" ContentType="image/svg+xml"/>
  <Override PartName="/ppt/media/image149.svg" ContentType="image/svg+xml"/>
  <Override PartName="/ppt/media/image15.svg" ContentType="image/svg+xml"/>
  <Override PartName="/ppt/media/image151.svg" ContentType="image/svg+xml"/>
  <Override PartName="/ppt/media/image153.svg" ContentType="image/svg+xml"/>
  <Override PartName="/ppt/media/image155.svg" ContentType="image/svg+xml"/>
  <Override PartName="/ppt/media/image157.svg" ContentType="image/svg+xml"/>
  <Override PartName="/ppt/media/image160.svg" ContentType="image/svg+xml"/>
  <Override PartName="/ppt/media/image162.svg" ContentType="image/svg+xml"/>
  <Override PartName="/ppt/media/image165.svg" ContentType="image/svg+xml"/>
  <Override PartName="/ppt/media/image167.svg" ContentType="image/svg+xml"/>
  <Override PartName="/ppt/media/image170.svg" ContentType="image/svg+xml"/>
  <Override PartName="/ppt/media/image172.svg" ContentType="image/svg+xml"/>
  <Override PartName="/ppt/media/image174.svg" ContentType="image/svg+xml"/>
  <Override PartName="/ppt/media/image177.svg" ContentType="image/svg+xml"/>
  <Override PartName="/ppt/media/image179.svg" ContentType="image/svg+xml"/>
  <Override PartName="/ppt/media/image181.svg" ContentType="image/svg+xml"/>
  <Override PartName="/ppt/media/image183.svg" ContentType="image/svg+xml"/>
  <Override PartName="/ppt/media/image185.svg" ContentType="image/svg+xml"/>
  <Override PartName="/ppt/media/image187.svg" ContentType="image/svg+xml"/>
  <Override PartName="/ppt/media/image189.svg" ContentType="image/svg+xml"/>
  <Override PartName="/ppt/media/image191.svg" ContentType="image/svg+xml"/>
  <Override PartName="/ppt/media/image2.svg" ContentType="image/svg+xml"/>
  <Override PartName="/ppt/media/image23.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71.svg" ContentType="image/svg+xml"/>
  <Override PartName="/ppt/media/image73.svg" ContentType="image/svg+xml"/>
  <Override PartName="/ppt/media/image75.svg" ContentType="image/svg+xml"/>
  <Override PartName="/ppt/media/image77.svg" ContentType="image/svg+xml"/>
  <Override PartName="/ppt/media/image79.svg" ContentType="image/svg+xml"/>
  <Override PartName="/ppt/media/image81.svg" ContentType="image/svg+xml"/>
  <Override PartName="/ppt/media/image89.svg" ContentType="image/svg+xml"/>
  <Override PartName="/ppt/media/image9.svg" ContentType="image/svg+xml"/>
  <Override PartName="/ppt/media/image91.svg" ContentType="image/svg+xml"/>
  <Override PartName="/ppt/media/image94.svg" ContentType="image/svg+xml"/>
  <Override PartName="/ppt/media/image96.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18288000" cy="10287000"/>
  <p:notesSz cx="6858000" cy="9144000"/>
  <p:embeddedFontLst>
    <p:embeddedFont>
      <p:font typeface="Noto Sans Bold" panose="020B0802040504020204"/>
      <p:bold r:id="rId44"/>
    </p:embeddedFont>
    <p:embeddedFont>
      <p:font typeface="Noto Sans" panose="020B0502040504020204"/>
      <p:regular r:id="rId45"/>
    </p:embeddedFont>
    <p:embeddedFont>
      <p:font typeface="Calibri (MS)" panose="020F0502020204030204"/>
      <p:regular r:id="rId46"/>
    </p:embeddedFont>
    <p:embeddedFont>
      <p:font typeface="Calibri (MS) Bold" panose="020F0702030404030204"/>
      <p:bold r:id="rId47"/>
    </p:embeddedFont>
    <p:embeddedFont>
      <p:font typeface="Cambria Bold" panose="02040803050406030204"/>
      <p:bold r:id="rId48"/>
    </p:embeddedFont>
    <p:embeddedFont>
      <p:font typeface="Inter Bold" panose="02000503000000020004"/>
      <p:bold r:id="rId49"/>
    </p:embeddedFont>
    <p:embeddedFont>
      <p:font typeface="Lora Bold" panose="00000800000000000000"/>
      <p:bold r:id="rId50"/>
    </p:embeddedFont>
    <p:embeddedFont>
      <p:font typeface="Inter" panose="02000503000000020004"/>
      <p:regular r:id="rId51"/>
    </p:embeddedFont>
    <p:embeddedFont>
      <p:font typeface="Calibri (MS) Italics" panose="020F05020202040A0204"/>
      <p:italic r:id="rId52"/>
    </p:embeddedFont>
    <p:embeddedFont>
      <p:font typeface="Calibri" panose="020F0502020204030204" charset="0"/>
      <p:regular r:id="rId53"/>
      <p:bold r:id="rId54"/>
      <p:italic r:id="rId55"/>
      <p:boldItalic r:id="rId56"/>
    </p:embeddedFont>
    <p:embeddedFont>
      <p:font typeface="Consolas Bold" panose="020B0709020204030204"/>
      <p:bold r:id="rId57"/>
    </p:embeddedFont>
    <p:embeddedFont>
      <p:font typeface="Consolas" panose="020B0609020204030204"/>
      <p:regular r:id="rId58"/>
      <p:bold r:id="rId59"/>
      <p:italic r:id="rId60"/>
      <p:boldItalic r:id="rId61"/>
    </p:embeddedFont>
    <p:embeddedFont>
      <p:font typeface="Courier New Bold" panose="02070609020205020404"/>
      <p:bold r:id="rId6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ableStyles" Target="tableStyles.xml"/><Relationship Id="rId44" Type="http://schemas.openxmlformats.org/officeDocument/2006/relationships/font" Target="fonts/font1.fntdata"/><Relationship Id="rId45" Type="http://schemas.openxmlformats.org/officeDocument/2006/relationships/font" Target="fonts/font2.fntdata"/><Relationship Id="rId46" Type="http://schemas.openxmlformats.org/officeDocument/2006/relationships/font" Target="fonts/font3.fntdata"/><Relationship Id="rId47" Type="http://schemas.openxmlformats.org/officeDocument/2006/relationships/font" Target="fonts/font4.fntdata"/><Relationship Id="rId48" Type="http://schemas.openxmlformats.org/officeDocument/2006/relationships/font" Target="fonts/font5.fntdata"/><Relationship Id="rId49" Type="http://schemas.openxmlformats.org/officeDocument/2006/relationships/font" Target="fonts/font6.fntdata"/><Relationship Id="rId50" Type="http://schemas.openxmlformats.org/officeDocument/2006/relationships/font" Target="fonts/font7.fntdata"/><Relationship Id="rId51" Type="http://schemas.openxmlformats.org/officeDocument/2006/relationships/font" Target="fonts/font8.fntdata"/><Relationship Id="rId52" Type="http://schemas.openxmlformats.org/officeDocument/2006/relationships/font" Target="fonts/font9.fntdata"/><Relationship Id="rId53" Type="http://schemas.openxmlformats.org/officeDocument/2006/relationships/font" Target="fonts/font10.fntdata"/><Relationship Id="rId54" Type="http://schemas.openxmlformats.org/officeDocument/2006/relationships/font" Target="fonts/font11.fntdata"/><Relationship Id="rId55" Type="http://schemas.openxmlformats.org/officeDocument/2006/relationships/font" Target="fonts/font12.fntdata"/><Relationship Id="rId56" Type="http://schemas.openxmlformats.org/officeDocument/2006/relationships/font" Target="fonts/font13.fntdata"/><Relationship Id="rId57" Type="http://schemas.openxmlformats.org/officeDocument/2006/relationships/font" Target="fonts/font14.fntdata"/><Relationship Id="rId58" Type="http://schemas.openxmlformats.org/officeDocument/2006/relationships/font" Target="fonts/font15.fntdata"/><Relationship Id="rId59" Type="http://schemas.openxmlformats.org/officeDocument/2006/relationships/font" Target="fonts/font16.fntdata"/><Relationship Id="rId60" Type="http://schemas.openxmlformats.org/officeDocument/2006/relationships/font" Target="fonts/font17.fntdata"/><Relationship Id="rId61" Type="http://schemas.openxmlformats.org/officeDocument/2006/relationships/font" Target="fonts/font18.fntdata"/><Relationship Id="rId62" Type="http://schemas.openxmlformats.org/officeDocument/2006/relationships/font" Target="fonts/font19.fntdata"/><Relationship Id="rId6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 ~20 giây]</a:t>
            </a:r>
          </a:p>
          <a:p>
            <a:r>
              <a:t>Kính chào thầy cô. Nhóm em là GFA26AI35, đề tài ViVQA-VLM: hỏi đáp hình ảnh tiếng Việt hiệu quả bằng mô hình thị giác–ngôn ngữ, GVHD là thầy Đặng Ngọc Minh Đức và thầy Phạm Minh Trí.</a:t>
            </a:r>
          </a:p>
          <a:p>
            <a:r>
              <a:t>Bộ slide hôm nay là bộ cộng dồn: phần A là nội dung Review 1 đã sửa theo góp ý — xoay quanh phạm vi bài toán; phần B là nội dung mới của Review 2 — hệ thống hiện có (Existing System) và phương pháp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~5 giây]</a:t>
            </a:r>
          </a:p>
          <a:p>
            <a:r>
              <a:t>"Trước hết là phần A — phạm vi bài toán."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[Phát biểu bài toán · ~1 phút]</a:t>
            </a:r>
          </a:p>
          <a:p>
            <a:r>
              <a:t>Ý chính: ảnh + câu hỏi tiếng Việt → câu trả lời tiếng Việt ngắn.</a:t>
            </a:r>
          </a:p>
          <a:p>
            <a:r>
              <a:t>Cách nói (chỉ hàng trên rồi hàng dưới): Đầu vào là một ảnh và một câu hỏi tiếng Việt. Có hai kiểu ảnh. Hàng trên là ảnh đời thường của ViVQA — hỏi màu chiếc xe đạp. Hàng dưới là ảnh có chữ tiếng Việt của ViTextVQA — hỏi cửa hàng có biển vàng là nơi nào; muốn trả lời phải đọc được chữ trên biển.</a:t>
            </a:r>
          </a:p>
          <a:p>
            <a:r>
              <a:t>Ở giữa là mô hình: Qwen2.5-VL-3B, 3 tỉ tham số, được nén 4-bit và đóng băng; nhóm chỉ train thêm một adapter QLoRA nhỏ, khoảng 0,2% tham số.</a:t>
            </a:r>
          </a:p>
          <a:p>
            <a:r>
              <a:t>Đầu ra là câu trả lời ngắn, so với đáp án chuẩn. ViVQA đáp án rất ngắn nên chấm EM, VQA-Acc. ViTextVQA đáp án là chữ trong ảnh, dài hơn, nên chấm thêm ANLS — chịu được lỗi vài ký tự.</a:t>
            </a:r>
          </a:p>
          <a:p>
            <a:r>
              <a:t>Nếu bị hỏi "vì sao câu trả lời ngắn": 99,83% đáp án ViVQA ≤ 3 từ; bài toán là hỏi đáp, không phải sinh mô tả.</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[V1–V4 · ~1 phút]</a:t>
            </a:r>
          </a:p>
          <a:p>
            <a:r>
              <a:t>Ý chính: vì sao tiếng Việt khó hơn tiếng Anh — bốn vấn đề.</a:t>
            </a:r>
          </a:p>
          <a:p>
            <a:r>
              <a:t>V1: dấu thanh là nét rất nhỏ, sai dấu là đổi nghĩa (má khác mà) — lỗi nhìn ở mức pixel, chuẩn hoá văn bản không sửa được.</a:t>
            </a:r>
          </a:p>
          <a:p>
            <a:r>
              <a:t>V2: model pretrain chủ yếu bằng tiếng Anh/Trung nên hay trả lời tiếng Anh hoặc dài dòng → EM = 0 dù hiểu đúng.</a:t>
            </a:r>
          </a:p>
          <a:p>
            <a:r>
              <a:t>V3: khoảng trắng tiếng Việt tách âm tiết chứ không tách từ; đọc sai thứ tự chữ làm vỡ từ.</a:t>
            </a:r>
          </a:p>
          <a:p>
            <a:r>
              <a:t>V4: hallucination — trả lời trôi chảy nhưng không có trong ảnh.</a:t>
            </a:r>
          </a:p>
          <a:p>
            <a:r>
              <a:t>Mỗi thẻ có một ví dụ: V1 má/mà/mã/ma; V2 hỏi tiếng Việt, model trả lời tiếng Anh nên EM = 0; V3 biển “cửa hàng điện thoại” đọc theo cột thành “cửa điện hàng thoại”; V4 ảnh không có người nhưng model vẫn tả áo người đạp xe. Ví dụ V2, V4 là minh hoạ dạng lỗi; ảnh V4 lấy từ ViVQA.</a:t>
            </a:r>
          </a:p>
          <a:p>
            <a:r>
              <a:t>Nếu bị hỏi (góp ý số 2): chuẩn hoá NFC, chữ thường, resize chỉ là tiền xử lý bắt buộc, không phải đóng góp.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trống · ~1 phút]</a:t>
            </a:r>
          </a:p>
          <a:p>
            <a:r>
              <a:t>Bốn khoảng trống, G3 là trọng tâm.</a:t>
            </a:r>
          </a:p>
          <a:p>
            <a:r>
              <a:t>G1: alignment của VLM tối ưu cho tiếng Anh. G2: VQA tiếng Việt còn yếu, nhất là ảnh có chữ — SOTA công bố trên ViTextVQA chỉ 25,48 EM so với 88 của con người. G3 — trọng tâm: chưa có nghiên cứu hệ thống dùng LoRA/QLoRA cho VLM trên VQA tiếng Việt; ba paper VQA tiếng Việt nhóm khảo sát đều không dùng PEFT. G4: chưa có đánh giá hallucination kiểu POPE cho tiếng Việt.</a:t>
            </a:r>
          </a:p>
          <a:p>
            <a:r>
              <a:t>Dòng cuối là "bản đồ": G2 được trả lời ở slide 24–26 (QLoRA nhận biết OCR), G3 ở slide 22 (QLoRA), G4 ở slide 23 và 27 (lỗi B2,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và ngoài phạm vi · ~1 phút — slide mới, trả lời thẳng "phạm vi bài toán"]</a:t>
            </a:r>
          </a:p>
          <a:p>
            <a:r>
              <a:t>Hàng trên là những gì nằm trong phạm vi: dữ liệu là hai benchmark công khai với split cố định; mô hình là một baseline mở Qwen2.5-VL-3B, chỉ PEFT; đánh giá bằng EM, VQA-Acc, ANLS cộng ablation, phân tích lỗi, hallucination — tất cả trên một GPU Colab.</a:t>
            </a:r>
          </a:p>
          <a:p>
            <a:r>
              <a:t>Ô dưới — ngoài phạm vi: full fine-tuning; câu trả lời dài, giải thích, hội thoại nhiều lượt; video; ngôn ngữ khác; tự train lại OCR. RAG tri thức ngoài chỉ làm nếu phân tích lỗi đòi hỏi.</a:t>
            </a:r>
          </a:p>
          <a:p>
            <a:r>
              <a:t>Nếu bị hỏi "vì sao không full fine-tune": đó là ràng buộc của đề cương và của phần cứng; mục tiêu đề tài là hiệu quả.</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nghiên cứu · ~45 giây]</a:t>
            </a:r>
          </a:p>
          <a:p>
            <a:r>
              <a:t>Bốn câu hỏi, RQ2 là trung tâm.</a:t>
            </a:r>
          </a:p>
          <a:p>
            <a:r>
              <a:t>RQ1: zero-shot làm được bao nhiêu, lỗi tiếng Việt nào chiếm ưu thế, prompt có giúp không. RQ2: QLoRA cải thiện bao nhiêu so với zero-shot mà không full fine-tune. RQ3: chữ OCR tiếng Việt có giúp đọc chữ trong ảnh không, và có cộng hưởng với QLoRA không. RQ4: sau QLoRA, model bịa nhiều hơn hay ít hơn.</a:t>
            </a:r>
          </a:p>
          <a:p>
            <a:r>
              <a:t>Nhấn: mỗi câu hỏi ghi rõ đo bằng metric gì — câu nào cũng kiểm chứng được.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~1 phút]</a:t>
            </a:r>
          </a:p>
          <a:p>
            <a:r>
              <a:t>Mỗi giả thuyết gắn một vấn đề tiếng Việt.</a:t>
            </a:r>
          </a:p>
          <a:p>
            <a:r>
              <a:t>H1: QLoRA tăng ít nhất 5 điểm EM so với chính model đó zero-shot. H2: chữ OCR có dấu trong prompt tăng ít nhất 3 điểm ANLS và tốt nhất khi kết hợp QLoRA. H3: prompt định dạng tiếng Việt tăng ít nhất 3 điểm EM. H4: QLoRA không làm tăng hallucination.</a:t>
            </a:r>
          </a:p>
          <a:p>
            <a:r>
              <a:t>Kết quả từng giả thuyết ở slide 27. Nếu bị hỏi (góp ý số 3): 4-bit/16-bit không còn là giả thuyết mà là số đo hiệu quả; cấu hình LoRA chuyển thành ablation A1, A2.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 ~1 phút]</a:t>
            </a:r>
          </a:p>
          <a:p>
            <a:r>
              <a:t>ViVQA: 15.000 cặp hỏi–đáp trên 10.328 ảnh COCO; bản gốc chỉ có train/test nên nhóm tách val 1.200 câu từ train, seed 42. ViTextVQA: 50.342 cặp, 16.762 ảnh có chữ tiếng Việt, dùng split chính thức của tác giả.</a:t>
            </a:r>
          </a:p>
          <a:p>
            <a:r>
              <a:t>Đặc điểm đáp án quyết định metric: ViVQA rất ngắn → EM/VQA-Acc; ViTextVQA dài hơn, đọc từ ảnh → thêm ANLS.</a:t>
            </a:r>
          </a:p>
          <a:p>
            <a:r>
              <a:t>Dải dưới trả lời góp ý số 9: tiền xử lý trước, rồi mới cố định split; chọn cấu hình chỉ trên val/dev; test chỉ dùng để báo cáo, không dùng để chọn.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 ~1 phút] Baseline của nhóm là Qwen2.5-VL-3B-Instruct. Hình bên trái là kiến trúc trong cấu hình của nhóm: ảnh được cắt thành patch 14×14 qua 32 khối ViT, patch merger gộp 2×2 patch thành một token, tối đa 512 token ảnh; token ảnh ghép với câu hỏi đưa vào LLM decoder 36 lớp, nén 4-bit và đóng băng, sinh câu trả lời. Nhóm chọn model này vì là VLM mở, đa ngôn ngữ, đọc chữ trong ảnh tốt, và với 3 tỉ tham số thì nén 4-bit vừa một GPU Colab. Mọi run dùng chung cấu hình: 4-bit NF4, tối đa 512 token ảnh, sinh greedy tối đa 32 token; khi train QLoRA chỉ thêm LoRA hạng 16 ở q, k, v, o — 0,196% tham số. Bằng chứng tái lập chi tiết ở slide 19.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pháp đề xuất · ~1,5 phút]</a:t>
            </a:r>
          </a:p>
          <a:p>
            <a:r>
              <a:t>Một câu: QLoRA trên Qwen2.5-VL-3B cộng prompt tiếng Việt có chữ OCR.</a:t>
            </a:r>
          </a:p>
          <a:p>
            <a:r>
              <a:t>Đi theo ba khối. A — chuẩn bị dữ liệu, chạy một lần rồi cache: dữ liệu → tiền xử lý → OCR (chỉ ViTextVQA; VietOCR, sắp trái-trên → phải-dưới) → chia tập cố định.</a:t>
            </a:r>
          </a:p>
          <a:p>
            <a:r>
              <a:t>B — huấn luyện và suy luận, giống hệt cho mọi run: ghép prompt (ảnh + câu hỏi + một dòng OCR) → Qwen2.5-VL: encoder ảnh đóng băng, LLM 4-bit đóng băng + LoRA r = 16. Khi train, loss chỉ tính trên token đáp án; khi suy luận, greedy, trả lời ngắn.</a:t>
            </a:r>
          </a:p>
          <a:p>
            <a:r>
              <a:t>C — chấm điểm sau cùng một bước chuẩn hoá, phân tích lỗi, hallucination, và prototype web.</a:t>
            </a:r>
          </a:p>
          <a:p>
            <a:r>
              <a:t>Nhấn: bước 1–4 cố định nên mọi so sánh chỉ khác đúng một yếu tố (góp ý số 4: đã có một phương pháp và hình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phẩm &amp; giá trị · ~1 phút] Bên trái là bốn nhóm sản phẩm và giá trị: một cải tiến PEFT đã kiểm chứng so với baseline, kèm ablation, phân tích lỗi và hallucination; luận văn kèm gói tái lập; giá trị thực tiễn như đọc biển hiệu, hỗ trợ người khiếm thị; và ý nghĩa khoa học. Bên phải là hình minh hoạ prototype web nhóm sẽ làm: người dùng tải ảnh, hỏi bằng tiếng Việt, hệ thống trả lời và hiện luôn các dòng chữ OCR đọc được làm bằng chứng — ví dụ câu hỏi cửa hàng biển vàng, dòng OCR 'đại lý xổ số miền bắc' được tô sáng. Nếu ảnh không có chữ thì hiện cảnh báo. Đây là giao diện dự kiến, làm ở tuần 13–14.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 hoạch · ~45 giây — góp ý số 10]</a:t>
            </a:r>
          </a:p>
          <a:p>
            <a:r>
              <a:t>Cột mới "Đầu ra · trạng thái" trả lời góp ý: kế hoạch phải có đầu ra kiểm chứng được. Bốn mốc: Review 1 (W3), Review 2 (W8), Review 3 (W13), bảo vệ (W15).</a:t>
            </a:r>
          </a:p>
          <a:p>
            <a:r>
              <a:t>Đến Review 2: W1–W8 đã xong. Phần thí nghiệm của W9–W10 (B3 toàn bộ dữ liệu, ablation LoRA, đánh giá đầy đủ, adapter dùng chung) đã làm sớm — kết quả có ở phần B. Vì vậy hallucination và phân tích lỗi được dời lên W9–W10, prototype dời lên W11–12.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~10 giây]</a:t>
            </a:r>
          </a:p>
          <a:p>
            <a:r>
              <a:t>"Phần B — nội dung chính của Review 2: hệ thống hiện có và phương pháp."</a:t>
            </a:r>
          </a:p>
          <a:p>
            <a:r>
              <a:t>Logic của phần B: trước tiên xem các hệ thống hiện có — công trình trước và baseline nhóm tái lập — làm được đến đâu và yếu ở đâu; sau đó là phương pháp nhóm dùng để sửa đúng những điểm yếu đó.</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 ~1 phút — bốn con số, đọc theo thứ tự trái sang phải]</a:t>
            </a:r>
          </a:p>
          <a:p>
            <a:r>
              <a:t>Một, 79,6: trước khi làm tiếng Việt, nhóm kiểm tra pipeline có chạy đúng không bằng cách chạy lại Qwen2.5-VL-3B trên TextVQA val — bộ tiếng Anh mà báo cáo gốc công bố 79,3. Nhóm được 79,6, chênh 0,3 → baseline chạy đúng.</a:t>
            </a:r>
          </a:p>
          <a:p>
            <a:r>
              <a:t>Hai, +21,1: trên ViTextVQA, cùng model, chỉ thêm adapter QLoRA, EM tăng từ 29,1 lên 50,3; trên ViVQA tăng từ 22,1 lên 73,8, tức +51,7.</a:t>
            </a:r>
          </a:p>
          <a:p>
            <a:r>
              <a:t>Ba, +3,1: chỉ trên ViTextVQA, vì ViVQA là ảnh đời thường gần như không có chữ. Cùng QLoRA, cùng toàn bộ dữ liệu, thêm dòng OCR khi train và khi test: EM từ 50,3 lên 53,4. 705 câu được sửa đúng so với 395 câu bị làm sai, p cỡ 10 mũ trừ 21.</a:t>
            </a:r>
          </a:p>
          <a:p>
            <a:r>
              <a:t>Bốn, 53,4: đây là EM của mô hình cuối cùng, B3-full, trên toàn bộ 10.028 câu test ViTextVQA. SOTA đã công bố trên đúng tập này là ViTextBLIP-2 với 25,5 EM. Vì paper không công bố cách chuẩn hoá đáp án, nhóm so thêm F1: 73,7 so với 54,0 — vẫn hơn rõ.</a:t>
            </a:r>
          </a:p>
          <a:p>
            <a:r>
              <a:t>Biểu đồ bên trái là bậc thang: SOTA 25,5, zero-shot 29,1, thêm QLoRA 50,3, thêm OCR 53,4. Ô code bên phải: tính lại từng con số trực tiếp từ file dự đoán của mỗi run trong repo.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3 · xử lý dữ liệu · ~1 phút] Slide này cho thấy dữ liệu trước và sau xử lý trên một mẫu thật của ViTextVQA. Một: ảnh ViVQA gốc 640 nhân 360 được làm tròn về 644 nhân 364, cạnh là bội số của 28; mỗi ô 28 nhân 28 là một token ảnh, nên ảnh thành lưới 23 nhân 13 bằng 299 token. Ảnh ViTextVQA lớn hơn, như ảnh 16267 kích thước 1024 nhân 996, bị thu nhỏ giữ tỉ lệ còn 616 nhân 616, tức 484 token — luôn dưới giới hạn 512. Hai: với ViTextVQA, đây là vị trí 13 khung chữ thật trên ảnh 16267. PaddleOCR dò vùng chữ, VietOCR đọc tiếng Việt, các dòng được sắp từ trái-trên sang phải-dưới rồi ghép thành một dòng trong prompt. Ví dụ ở đây OCR đọc ra 'đại lý xổ só miến bắc' — còn sai dấu — nên model phải học cách dùng OCR có nhiễu; đó là lý do nhóm train cùng OCR. Ba: trước khi chấm, câu trả lời của model và đáp án chuẩn đi qua cùng một hàm chuẩn hoá: NFC, chữ thường, bỏ dấu câu, gộp khoảng trắng, nhưng giữ dấu thanh.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4 · kiến trúc baseline · ~1,5 phút — góp ý của thầy Trí]</a:t>
            </a:r>
          </a:p>
          <a:p>
            <a:r>
              <a:t>Đi theo luồng dữ liệu bên phải. (1) Ảnh vào ViT: tối đa 401.408 pixel, cắt patch 14×14, qua 32 khối. (2) Patch merger gộp 2×2 patch thành 1 token → 256–512 token ảnh. (3) Prompt: chat template + token ảnh + câu hỏi tiếng Việt. (4) Decoder Qwen2.5, 36 lớp, sinh tham lam tối đa 32 token, rồi chuẩn hoá và chấm.</a:t>
            </a:r>
          </a:p>
          <a:p>
            <a:r>
              <a:t>Ô vàng: phần được train là LoRA r = 16, α = 32 trên q, k, v, o — 7,37 triệu tham số, 29,5 MB; còn lại đóng băng, LLM 4-bit NF4.</a:t>
            </a:r>
          </a:p>
          <a:p>
            <a:r>
              <a:t>Baseline không dùng OCR; OCR là cải tiến B3 (slide 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5 · giao thức đánh giá · ~45 giây]</a:t>
            </a:r>
          </a:p>
          <a:p>
            <a:r>
              <a:t>Trước khi chạy baseline, nhóm chốt một giao thức cố định cho mọi run: bf16, 4-bit NF4, tối đa 512 token ảnh, greedy 32 token, seed 42, GPU L4.</a:t>
            </a:r>
          </a:p>
          <a:p>
            <a:r>
              <a:t>Metric chính EM, VQA-Acc, ANLS; F1 để so với paper. Chuẩn hoá tiếng Việt đối xứng cho dự đoán và đáp án, giữ dấu thanh.</a:t>
            </a:r>
          </a:p>
          <a:p>
            <a:r>
              <a:t>Thống kê: McNemar ghép cặp cho EM, CI95 bootstrap cho ANLS.</a:t>
            </a:r>
          </a:p>
          <a:p>
            <a:r>
              <a:t>Nếu bị hỏi: hai dataset chỉ có một đáp án mỗi câu nên VQA-Acc trùng EM — nhóm vẫn báo cáo cột này vì là metric bắt buộc.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6 · tái lập baseline R0 · ~1 phút] Chưa có paper nào công bố Qwen2.5-VL-3B trên ViVQA hay ViTextVQA, nên nhóm kiểm chứng pipeline bằng một con số đã công bố: Table 5 của báo cáo kỹ thuật Qwen2.5-VL ghi TextVQA val của bản 3B là 79,3. Ô code thứ nhất đọc file metrics.json thật của run R0: chạy toàn bộ 5.000 câu, bf16, trên GPU L4, commit fefa9ed, được 0,79596 tức 79,6 — chênh +0,3. Ô code thứ hai: tính lại độc lập từ 5.000 dự đoán thô trong predictions.json, ra đúng 0,79596. Cấu hình tiết kiệm của nhóm, 4-bit và 512 token, mất 4,4 điểm nhưng VRAM giảm từ 10,9 xuống 2,5 GB.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7 · baseline zero-shot B1 · ~1 phút]</a:t>
            </a:r>
          </a:p>
          <a:p>
            <a:r>
              <a:t>EM 22,1 ở ViVQA, khoảng 29 ở ViTextVQA. Lỗi chính không phải "không hiểu" mà là định dạng: trả lời dài gần gấp đôi đáp án chuẩn; 19% câu trả lời ViTextVQA chứa đáp án nhưng vẫn trượt EM (ví dụ "Lịch tết năm 2021" so với "2021"). Ngoài ra có chen tiếng Anh, hallucination và đáp án chuẩn nhiễu.</a:t>
            </a:r>
          </a:p>
          <a:p>
            <a:r>
              <a:t>Biểu đồ: ViVQA zero-shot gần 0 ở câu hỏi vị trí và vật thể. Đây chính là điểm yếu V2 mà phương pháp phải sửa.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 · lộ trình · ~45 giây]</a:t>
            </a:r>
          </a:p>
          <a:p>
            <a:r>
              <a:t>Phương pháp đi bốn bước, mỗi bước chỉ đổi một yếu tố so với bước trước; khởi điểm là B1 zero-shot.</a:t>
            </a:r>
          </a:p>
          <a:p>
            <a:r>
              <a:t>B2: thêm QLoRA — PEFT có hơn zero-shot không. B3: thêm một dòng OCR vào prompt khi train và test — dạy model dùng chữ OCR có giúp không (trên tập con 8.000 câu để tiết kiệm). B3F (B3-full): cùng công thức trên toàn bộ dữ liệu — đủ dữ liệu OCR còn giúp không. SH: một adapter cho cả hai dataset — để làm prototype.</a:t>
            </a:r>
          </a:p>
          <a:p>
            <a:r>
              <a:t>Mỗi thẻ có một hình nhỏ: B2 — model gốc đóng băng, chỉ train phần LoRA màu cam; B3 — dòng OCR nằm ngay trong prompt khi train; B3-full — từ 23% lên 100% dữ liệu; SH — một adapter dùng cho cả hai bộ.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2 · QLoRA B2 · ~45 giây]</a:t>
            </a:r>
          </a:p>
          <a:p>
            <a:r>
              <a:t>Biểu đồ: ViVQA 22,1 → 73,8 EM (+51,7) trên 3.001 câu test; ViTextVQA 29,1 → 50,3 (+21,1) trên toàn bộ 10.028 câu test. Kiểm định McNemar: tăng có ý nghĩa thống kê, p &lt; 0,05, trên cả hai dataset.</a:t>
            </a:r>
          </a:p>
          <a:p>
            <a:r>
              <a:t>Chi phí: 3 giờ (ViVQA) và 12 giờ (ViTextVQA) trên một L4, VRAM tối đa 6,9 GB. H1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3 · B2 còn sai ở đâu · ~1 phút]</a:t>
            </a:r>
          </a:p>
          <a:p>
            <a:r>
              <a:t>Nhóm chọn cải tiến dựa trên lỗi thật, không đoán. Duyệt tay 200 lỗi: 54% thực ra đúng ý nhưng EM quá khắt khe; 12,5% đáp án chuẩn nhiễu.</a:t>
            </a:r>
          </a:p>
          <a:p>
            <a:r>
              <a:t>Lỗi thật ở ViTextVQA: đọc sai chữ 28%, nhầm vùng chữ 23%, sai dấu 8% → đọc chữ là điểm yếu lớn nhất → động lực cho OCR (B3). Hallucination chỉ 7% số lỗi. Nhãn có kiểm độ đồng thuận κ = 0,62.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4 · phương pháp đề xuất B3 · ~1 phút]</a:t>
            </a:r>
          </a:p>
          <a:p>
            <a:r>
              <a:t>Ảnh → PaddleOCR dò dòng chữ → VietOCR đọc tiếng Việt, giữ dấu → một dòng "Văn bản đọc được trong ảnh: …" đặt trước câu hỏi → Qwen2.5-VL + LoRA train cùng dòng OCR.</a:t>
            </a:r>
          </a:p>
          <a:p>
            <a:r>
              <a:t>VietOCR được chọn trên dev300: đáp án nằm trong văn bản OCR 37,7% so với 27,0% của PaddleOCR (bản Latin làm rơi dấu).</a:t>
            </a:r>
          </a:p>
          <a:p>
            <a:r>
              <a:t>Mọi thứ khác y hệt B2. Phép thử có kiểm soát: tập con 8.000 câu, so với B2-sub cùng tập nhưng không OCR.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5 · ablation 2×2 · ~1 phút — slide quan trọng nhất về OCR]</a:t>
            </a:r>
          </a:p>
          <a:p>
            <a:r>
              <a:t>OCR lúc train × OCR lúc test, trên test2000. Chỉ thêm OCR lúc test: không giúp. Chỉ lúc train: không giúp. Cả hai: +4,35 EM. Tương tác +4,9 EM, CI95 từ +3,2 đến +6,6.</a:t>
            </a:r>
          </a:p>
          <a:p>
            <a:r>
              <a:t>Kết luận: đóng góp không phải "nhét OCR vào prompt", mà là dùng QLoRA dạy model khi nào tin chữ OCR, khi nào tin ảnh. Lặp lại với 3 seed 42, 43, 44: B3 hơn B2-sub trung bình 3,57 ± 0,76 EM, cả ba seed đều có p nhỏ hơn 1,4 nhân 10 mũ trừ 4 — chi tiết ở phụ lục.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6 · B3-full (W10) · ~1 phút]</a:t>
            </a:r>
          </a:p>
          <a:p>
            <a:r>
              <a:t>B3-full = công thức B3 y hệt, trên toàn bộ 35.159 câu train. Bảng 2×2 dữ liệu × OCR trên full test: không OCR 46,56 → 50,26 khi thêm dữ liệu; có OCR 49,10 → 53,35.</a:t>
            </a:r>
          </a:p>
          <a:p>
            <a:r>
              <a:t>So sánh chính B2 → B3-full: +3,09 EM; 705 câu chỉ B3-full đúng so với 395 câu chỉ B2 đúng; p = 7 × 10⁻²¹ → OCR-aware vượt B2 khi đủ dữ liệu. Tương tác +0,55 không có ý nghĩa: lợi ích của OCR không giảm khi thêm dữ liệu.</a:t>
            </a:r>
          </a:p>
          <a:p>
            <a:r>
              <a:t>B3-full là mô hình ViTextVQA chính thức: 53,35 EM — gấp đôi SOTA công bố.</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~45 giây] H1 ủng hộ: QLoRA tăng 51,7 EM ở ViVQA và 21,1 ở ViTextVQA. H2 một phần: OCR cộng hưởng với QLoRA — tương tác +4,9 EM, và +3,1 EM khi đủ dữ liệu — nhưng ANLS chỉ +1,87, chưa tới ngưỡng +3. H3 chưa ủng hộ: few-shot làm giảm EM. H4 một phần: trên POPE tiếng Việt, 500 ảnh chưa thấy khi train, B3-full không làm tăng hallucination; còn C3, model QLoRA trên ViVQA, chưa kết luận được vì 91% câu trả lời không theo dạng có/không — model quên định dạng sau khi train trên ViVQA không có câu yes/no. Ablation A1, A2 đã làm: giữ r = 16 trên q, k, v, 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 ~10 giây]</a:t>
            </a:r>
          </a:p>
          <a:p>
            <a:r>
              <a:t>"Nhóm em xin cảm ơn thầy cô và rất mong nhận được góp ý." Mọi con số trong bài đều có log và tái lập được.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các slide dự phòng, chỉ mở khi hội đồng hỏi.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tiếp theo · ~30 giây] Đo hallucination và phân tích lỗi đã xong, H4 ủng hộ một phần. Việc tiếp theo: sửa thiên vị trả lời 'có' của adapter dùng chung trước khi làm prototype; prototype web chạy OCR trước, trả lời kèm chữ OCR và độ tin cậy; Review 3 thêm Phần C gồm kết quả cuối, lỗi, hallucination và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P1 · đối chứng · ~1 phút]</a:t>
            </a:r>
          </a:p>
          <a:p>
            <a:r>
              <a:t>Mức tăng có thật không? Hai đối chứng.</a:t>
            </a:r>
          </a:p>
          <a:p>
            <a:r>
              <a:t>(1) Rò rỉ ViVQA: chỉ tính phần test sạch (ảnh và cặp hỏi–đáp chưa thấy, n = 1.219) vẫn 25,0 → 69,1; mốc đoán theo phân bố đáp án chỉ 14,4. ViTextVQA không trùng ảnh mà vẫn +21,1.</a:t>
            </a:r>
          </a:p>
          <a:p>
            <a:r>
              <a:t>(2) Few-shot FS5: cho 5 ví dụ trong prompt để model học định dạng — câu trả lời ngắn lại nhưng mất nội dung, EM còn giảm. B2 vượt FS5 rõ → QLoRA học nhiều hơn định dạng. Đây cũng là bằng chứng H3 chưa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P2 · so với SOTA · ~45 giây]</a:t>
            </a:r>
          </a:p>
          <a:p>
            <a:r>
              <a:t>Cận dưới CI95 của nhóm vẫn lớn hơn số công bố. B1 zero-shot đã cao hơn về EM; B2 cao hơn cả EM và F1.</a:t>
            </a:r>
          </a:p>
          <a:p>
            <a:r>
              <a:t>Giới hạn: paper không công bố cách chuẩn hoá đáp án nên phép so giả định cách chấm tương đương. Kết quả của phương pháp đề xuất B3-full (53,35 EM) ở slide 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P3 · SOTA khác nhóm ở đâu · ~45 giây]</a:t>
            </a:r>
          </a:p>
          <a:p>
            <a:r>
              <a:t>ViTextBLIP-2 dùng OCR ngoài (SwinTextSpotter), LM tiếng Việt ViT5 đóng băng, chỉ train Q-Former. Nhóm dùng VLM đa ngôn ngữ tự đọc chữ, chỉ train LoRA 0,196%. Hai bên cùng train trên toàn bộ train ViTextVQA.</a:t>
            </a:r>
          </a:p>
          <a:p>
            <a:r>
              <a:t>Điểm rút ra: SOTA có dùng OCR — một gợi ý cho bước B3 của nhóm.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P4 · độ vững · ~45 giây]</a:t>
            </a:r>
          </a:p>
          <a:p>
            <a:r>
              <a:t>Ba seed: +3,57 ± 0,76 EM, cả ba seed p ≤ 1,4 × 10⁻⁴. Full test 10.028 câu: B3 49,10 so với B2-sub 46,56, p = 10⁻¹⁴, cao hơn ViTextBLIP-2.</a:t>
            </a:r>
          </a:p>
          <a:p>
            <a:r>
              <a:t>Nói trung thực: với 23% dữ liệu, B3 vẫn thấp hơn B2 dữ liệu đầy đủ 1,16 EM — câu hỏi "đủ dữ liệu thì OCR còn giúp không?" được trả lời ở slide tiếp theo.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P5 · ablation LoRA (W10) · ~45 giây]</a:t>
            </a:r>
          </a:p>
          <a:p>
            <a:r>
              <a:t>Cấu hình LoRA đã hợp lý chưa? Hai ablation trên công thức B3.</a:t>
            </a:r>
          </a:p>
          <a:p>
            <a:r>
              <a:t>A1: gắn LoRA thêm vào các lớp MLP, giữ cùng ngân sách tham số (r = 4): −0,55 EM, p = 0,34 → không cải thiện, lại chậm hơn 17,5%. A2: tăng rank lên 64: +1,05 EM nhưng p = 0,07 → không khác có ý nghĩa, adapter lớn gấp 4.</a:t>
            </a:r>
          </a:p>
          <a:p>
            <a:r>
              <a:t>Quyết định: giữ r = 16 trên q, k, v, o. B3-full dùng cấu hình B3 bất kể kết quả ablation — không chọn cấu hình bằng test.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P6 · ViVQA: số epoch · ~45 giây]</a:t>
            </a:r>
          </a:p>
          <a:p>
            <a:r>
              <a:t>Với ViVQA, train 1 hay 2 epoch? Chọn trên val sạch, vì 512/1.200 câu val dùng chung ảnh với train — train lâu sẽ làm val thường bị thiên vị. Chọn theo EM trên val sạch: 2 epoch hơn có ý nghĩa → chọn C3 (2 epoch).</a:t>
            </a:r>
          </a:p>
          <a:p>
            <a:r>
              <a:t>Chạm test một lần: 73,8 → 76,6, p = 4,6 × 10⁻⁹; trên phần test sạch vẫn +3,2 → không phải nhớ ảnh. C3 là mô hình ViVQA chính thức.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P7 · adapter dùng chung SH (W11) · ~1 phút]</a:t>
            </a:r>
          </a:p>
          <a:p>
            <a:r>
              <a:t>Một adapter train trộn ViVQA + ViTextVQA (8k), mọi câu dùng prompt có OCR — đúng như cách demo chạy thật, vì demo không biết trước câu hỏi thuộc loại nào.</a:t>
            </a:r>
          </a:p>
          <a:p>
            <a:r>
              <a:t>So với adapter riêng: C1 trên ViVQA −0,27, CI95 [−1,13; +0,60]; B3 trên ViTextVQA +0,25, CI95 [−0,95; +1,45] → không kém trên cả hai.</a:t>
            </a:r>
          </a:p>
          <a:p>
            <a:r>
              <a:t>44% câu ViVQA có dòng OCR vô nghĩa (ảnh COCO, chữ tiếng Anh) nhưng không bị hại (+0,15); chép nhầm chữ OCR chỉ 0,3%.</a:t>
            </a:r>
          </a:p>
          <a:p>
            <a:r>
              <a:t>Đánh đổi: SH là bản rẻ nên thấp hơn C3 và B3-full khoảng 3–4 EM → bảng kết quả chính giữ C3/B3-full, prototype dùng 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P8 · theo loại câu hỏi (W11) · ~1 phút]</a:t>
            </a:r>
          </a:p>
          <a:p>
            <a:r>
              <a:t>ViTextVQA không có nhãn loại câu hỏi, nên nhóm viết bộ phân loại bằng từ khoá trên dev, rồi kiểm bằng 150 câu gán tay mù: khớp 80,7%.</a:t>
            </a:r>
          </a:p>
          <a:p>
            <a:r>
              <a:t>Kết quả: OCR giúp nhiều nhất ở câu phải chép đúng từng ký tự — số điện thoại, website +8,6 EM; tên người +6,4. Gần như không giúp ở watermark nguồn ảnh (+0,9). Loại khó nhất là sản phẩm/dịch vụ và địa điểm — phải suy ra từ chữ — là trọng tâm phân tích lỗi tiếp theo.</a:t>
            </a:r>
          </a:p>
          <a:p>
            <a:r>
              <a:t>Ba loại có dấu ⚠ có nhãn kém tin cậy, chỉ dùng để mô tả.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image" Target="../media/image3.pn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6.jpeg"/><Relationship Id="rId7" Type="http://schemas.openxmlformats.org/officeDocument/2006/relationships/image" Target="../media/image7.png"/><Relationship Id="rId8" Type="http://schemas.openxmlformats.org/officeDocument/2006/relationships/slideLayout" Target="../slideLayouts/slideLayout7.xml"/><Relationship Id="rId9" Type="http://schemas.openxmlformats.org/officeDocument/2006/relationships/image" Target="../media/image201.jpg"/><Relationship Id="rId10" Type="http://schemas.openxmlformats.org/officeDocument/2006/relationships/image" Target="../media/image202.png"/><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svg"/><Relationship Id="rId3" Type="http://schemas.openxmlformats.org/officeDocument/2006/relationships/image" Target="../media/image3.png"/><Relationship Id="rId4" Type="http://schemas.openxmlformats.org/officeDocument/2006/relationships/image" Target="../media/image6.jpeg"/><Relationship Id="rId5" Type="http://schemas.openxmlformats.org/officeDocument/2006/relationships/image" Target="../media/image7.png"/><Relationship Id="rId6" Type="http://schemas.openxmlformats.org/officeDocument/2006/relationships/slideLayout" Target="../slideLayouts/slideLayout7.xml"/><Relationship Id="rId7" Type="http://schemas.openxmlformats.org/officeDocument/2006/relationships/image" Target="../media/image203.jpg"/><Relationship Id="rId8" Type="http://schemas.openxmlformats.org/officeDocument/2006/relationships/image" Target="../media/image204.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svg"/><Relationship Id="rId3" Type="http://schemas.openxmlformats.org/officeDocument/2006/relationships/image" Target="../media/image12.png"/><Relationship Id="rId4" Type="http://schemas.openxmlformats.org/officeDocument/2006/relationships/image" Target="../media/image13.svg"/><Relationship Id="rId5" Type="http://schemas.openxmlformats.org/officeDocument/2006/relationships/image" Target="../media/image14.png"/><Relationship Id="rId6" Type="http://schemas.openxmlformats.org/officeDocument/2006/relationships/image" Target="../media/image15.sv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7.png"/><Relationship Id="rId12" Type="http://schemas.openxmlformats.org/officeDocument/2006/relationships/image" Target="../media/image4.jpeg"/><Relationship Id="rId13" Type="http://schemas.openxmlformats.org/officeDocument/2006/relationships/image" Target="../media/image5.jpeg"/><Relationship Id="rId14" Type="http://schemas.openxmlformats.org/officeDocument/2006/relationships/slideLayout" Target="../slideLayouts/slideLayout7.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20.jpeg"/><Relationship Id="rId2" Type="http://schemas.openxmlformats.org/officeDocument/2006/relationships/image" Target="../media/image6.jpeg"/><Relationship Id="rId3" Type="http://schemas.openxmlformats.org/officeDocument/2006/relationships/image" Target="../media/image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sv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4.jpeg"/><Relationship Id="rId11" Type="http://schemas.openxmlformats.org/officeDocument/2006/relationships/image" Target="../media/image5.jpeg"/><Relationship Id="rId12" Type="http://schemas.openxmlformats.org/officeDocument/2006/relationships/slideLayout" Target="../slideLayouts/slideLayout7.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hyperlink" Target="https://arxiv.org/pdf/2509.23661" TargetMode="External"/><Relationship Id="rId7" Type="http://schemas.openxmlformats.org/officeDocument/2006/relationships/hyperlink" Target="https://arxiv.org/pdf/2404.10652" TargetMode="External"/><Relationship Id="rId8" Type="http://schemas.openxmlformats.org/officeDocument/2006/relationships/image" Target="../media/image29.png"/><Relationship Id="rId9" Type="http://schemas.openxmlformats.org/officeDocument/2006/relationships/image" Target="../media/image30.svg"/><Relationship Id="rId10" Type="http://schemas.openxmlformats.org/officeDocument/2006/relationships/hyperlink" Target="https://arxiv.org/pdf/2305.10355" TargetMode="External"/><Relationship Id="rId11" Type="http://schemas.openxmlformats.org/officeDocument/2006/relationships/image" Target="../media/image7.png"/><Relationship Id="rId12" Type="http://schemas.openxmlformats.org/officeDocument/2006/relationships/slideLayout" Target="../slideLayouts/slideLayout7.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20.jpeg"/><Relationship Id="rId2" Type="http://schemas.openxmlformats.org/officeDocument/2006/relationships/image" Target="../media/image6.jpeg"/><Relationship Id="rId3" Type="http://schemas.openxmlformats.org/officeDocument/2006/relationships/image" Target="../media/image7.pn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slideLayout" Target="../slideLayouts/slideLayout7.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33.png"/><Relationship Id="rId7" Type="http://schemas.openxmlformats.org/officeDocument/2006/relationships/image" Target="../media/image34.svg"/><Relationship Id="rId8" Type="http://schemas.openxmlformats.org/officeDocument/2006/relationships/image" Target="../media/image7.png"/><Relationship Id="rId9" Type="http://schemas.openxmlformats.org/officeDocument/2006/relationships/slideLayout" Target="../slideLayouts/slideLayout7.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20.jpeg"/><Relationship Id="rId2" Type="http://schemas.openxmlformats.org/officeDocument/2006/relationships/image" Target="../media/image6.jpeg"/><Relationship Id="rId3" Type="http://schemas.openxmlformats.org/officeDocument/2006/relationships/image" Target="../media/image7.pn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slideLayout" Target="../slideLayouts/slideLayout7.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hyperlink" Target="https://aclanthology.org/2021.paclic-1.72/" TargetMode="External"/><Relationship Id="rId5" Type="http://schemas.openxmlformats.org/officeDocument/2006/relationships/image" Target="../media/image37.png"/><Relationship Id="rId6" Type="http://schemas.openxmlformats.org/officeDocument/2006/relationships/image" Target="../media/image38.svg"/><Relationship Id="rId7" Type="http://schemas.openxmlformats.org/officeDocument/2006/relationships/hyperlink" Target="https://arxiv.org/abs/2404.10652" TargetMode="External"/><Relationship Id="rId8" Type="http://schemas.openxmlformats.org/officeDocument/2006/relationships/image" Target="../media/image39.png"/><Relationship Id="rId9" Type="http://schemas.openxmlformats.org/officeDocument/2006/relationships/image" Target="../media/image40.svg"/><Relationship Id="rId10" Type="http://schemas.openxmlformats.org/officeDocument/2006/relationships/image" Target="../media/image6.jpeg"/><Relationship Id="rId11" Type="http://schemas.openxmlformats.org/officeDocument/2006/relationships/image" Target="../media/image4.jpeg"/><Relationship Id="rId12" Type="http://schemas.openxmlformats.org/officeDocument/2006/relationships/image" Target="../media/image5.jpeg"/><Relationship Id="rId13" Type="http://schemas.openxmlformats.org/officeDocument/2006/relationships/image" Target="../media/image41.png"/><Relationship Id="rId14" Type="http://schemas.openxmlformats.org/officeDocument/2006/relationships/image" Target="../media/image42.svg"/><Relationship Id="rId15" Type="http://schemas.openxmlformats.org/officeDocument/2006/relationships/image" Target="../media/image43.png"/><Relationship Id="rId16" Type="http://schemas.openxmlformats.org/officeDocument/2006/relationships/image" Target="../media/image44.svg"/><Relationship Id="rId17" Type="http://schemas.openxmlformats.org/officeDocument/2006/relationships/slideLayout" Target="../slideLayouts/slideLayout7.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20.jpeg"/><Relationship Id="rId2" Type="http://schemas.openxmlformats.org/officeDocument/2006/relationships/image" Target="../media/image6.jpeg"/><Relationship Id="rId3" Type="http://schemas.openxmlformats.org/officeDocument/2006/relationships/image" Target="../media/image7.png"/><Relationship Id="rId4" Type="http://schemas.openxmlformats.org/officeDocument/2006/relationships/image" Target="../media/image45.png"/><Relationship Id="rId5" Type="http://schemas.openxmlformats.org/officeDocument/2006/relationships/hyperlink" Target="https://arxiv.org/abs/2502.13923" TargetMode="External"/><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slideLayout" Target="../slideLayouts/slideLayout7.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48.png"/><Relationship Id="rId7" Type="http://schemas.openxmlformats.org/officeDocument/2006/relationships/image" Target="../media/image49.svg"/><Relationship Id="rId8" Type="http://schemas.openxmlformats.org/officeDocument/2006/relationships/image" Target="../media/image50.png"/><Relationship Id="rId9" Type="http://schemas.openxmlformats.org/officeDocument/2006/relationships/image" Target="../media/image51.svg"/><Relationship Id="rId10" Type="http://schemas.openxmlformats.org/officeDocument/2006/relationships/image" Target="../media/image52.png"/><Relationship Id="rId11" Type="http://schemas.openxmlformats.org/officeDocument/2006/relationships/image" Target="../media/image53.svg"/><Relationship Id="rId12" Type="http://schemas.openxmlformats.org/officeDocument/2006/relationships/image" Target="../media/image54.png"/><Relationship Id="rId13" Type="http://schemas.openxmlformats.org/officeDocument/2006/relationships/image" Target="../media/image55.svg"/><Relationship Id="rId14" Type="http://schemas.openxmlformats.org/officeDocument/2006/relationships/image" Target="../media/image56.png"/><Relationship Id="rId15" Type="http://schemas.openxmlformats.org/officeDocument/2006/relationships/image" Target="../media/image57.svg"/><Relationship Id="rId16" Type="http://schemas.openxmlformats.org/officeDocument/2006/relationships/image" Target="../media/image58.png"/><Relationship Id="rId17" Type="http://schemas.openxmlformats.org/officeDocument/2006/relationships/image" Target="../media/image59.svg"/><Relationship Id="rId18" Type="http://schemas.openxmlformats.org/officeDocument/2006/relationships/image" Target="../media/image60.png"/><Relationship Id="rId19" Type="http://schemas.openxmlformats.org/officeDocument/2006/relationships/image" Target="../media/image61.svg"/><Relationship Id="rId20" Type="http://schemas.openxmlformats.org/officeDocument/2006/relationships/image" Target="../media/image62.png"/><Relationship Id="rId21" Type="http://schemas.openxmlformats.org/officeDocument/2006/relationships/image" Target="../media/image63.svg"/><Relationship Id="rId22" Type="http://schemas.openxmlformats.org/officeDocument/2006/relationships/image" Target="../media/image64.png"/><Relationship Id="rId23" Type="http://schemas.openxmlformats.org/officeDocument/2006/relationships/image" Target="../media/image65.svg"/><Relationship Id="rId24" Type="http://schemas.openxmlformats.org/officeDocument/2006/relationships/image" Target="../media/image66.png"/><Relationship Id="rId25" Type="http://schemas.openxmlformats.org/officeDocument/2006/relationships/image" Target="../media/image67.svg"/><Relationship Id="rId26" Type="http://schemas.openxmlformats.org/officeDocument/2006/relationships/image" Target="../media/image68.png"/><Relationship Id="rId27" Type="http://schemas.openxmlformats.org/officeDocument/2006/relationships/image" Target="../media/image69.svg"/><Relationship Id="rId28" Type="http://schemas.openxmlformats.org/officeDocument/2006/relationships/image" Target="../media/image70.png"/><Relationship Id="rId29" Type="http://schemas.openxmlformats.org/officeDocument/2006/relationships/image" Target="../media/image71.svg"/><Relationship Id="rId30" Type="http://schemas.openxmlformats.org/officeDocument/2006/relationships/image" Target="../media/image7.png"/><Relationship Id="rId31" Type="http://schemas.openxmlformats.org/officeDocument/2006/relationships/slideLayout" Target="../slideLayouts/slideLayout7.xml"/><Relationship Id="rId3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2.png"/><Relationship Id="rId3" Type="http://schemas.openxmlformats.org/officeDocument/2006/relationships/image" Target="../media/image73.svg"/><Relationship Id="rId4" Type="http://schemas.openxmlformats.org/officeDocument/2006/relationships/image" Target="../media/image74.png"/><Relationship Id="rId5" Type="http://schemas.openxmlformats.org/officeDocument/2006/relationships/image" Target="../media/image75.svg"/><Relationship Id="rId6" Type="http://schemas.openxmlformats.org/officeDocument/2006/relationships/image" Target="../media/image76.png"/><Relationship Id="rId7" Type="http://schemas.openxmlformats.org/officeDocument/2006/relationships/image" Target="../media/image77.svg"/><Relationship Id="rId8" Type="http://schemas.openxmlformats.org/officeDocument/2006/relationships/image" Target="../media/image78.png"/><Relationship Id="rId9" Type="http://schemas.openxmlformats.org/officeDocument/2006/relationships/image" Target="../media/image79.svg"/><Relationship Id="rId10" Type="http://schemas.openxmlformats.org/officeDocument/2006/relationships/image" Target="../media/image7.png"/><Relationship Id="rId11" Type="http://schemas.openxmlformats.org/officeDocument/2006/relationships/image" Target="../media/image4.jpeg"/><Relationship Id="rId12" Type="http://schemas.openxmlformats.org/officeDocument/2006/relationships/image" Target="../media/image5.jpeg"/><Relationship Id="rId13" Type="http://schemas.openxmlformats.org/officeDocument/2006/relationships/slideLayout" Target="../slideLayouts/slideLayout7.xml"/><Relationship Id="rId14" Type="http://schemas.openxmlformats.org/officeDocument/2006/relationships/image" Target="../media/image200.png"/><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png"/><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slideLayout" Target="../slideLayouts/slideLayout7.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svg"/><Relationship Id="rId3" Type="http://schemas.openxmlformats.org/officeDocument/2006/relationships/image" Target="../media/image3.png"/><Relationship Id="rId4" Type="http://schemas.openxmlformats.org/officeDocument/2006/relationships/image" Target="../media/image6.jpeg"/><Relationship Id="rId5" Type="http://schemas.openxmlformats.org/officeDocument/2006/relationships/image" Target="../media/image7.png"/><Relationship Id="rId6" Type="http://schemas.openxmlformats.org/officeDocument/2006/relationships/slideLayout" Target="../slideLayouts/slideLayout7.xml"/><Relationship Id="rId7" Type="http://schemas.openxmlformats.org/officeDocument/2006/relationships/image" Target="../media/image205.jpg"/><Relationship Id="rId8" Type="http://schemas.openxmlformats.org/officeDocument/2006/relationships/image" Target="../media/image206.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image" Target="../media/image7.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hyperlink" Target="https://arxiv.org/abs/2502.13923" TargetMode="External"/><Relationship Id="rId8" Type="http://schemas.openxmlformats.org/officeDocument/2006/relationships/hyperlink" Target="https://arxiv.org/abs/2404.10652" TargetMode="External"/><Relationship Id="rId9" Type="http://schemas.openxmlformats.org/officeDocument/2006/relationships/slideLayout" Target="../slideLayouts/slideLayout7.xml"/><Relationship Id="rId10" Type="http://schemas.openxmlformats.org/officeDocument/2006/relationships/image" Target="../media/image192.png"/><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image" Target="../media/image7.png"/><Relationship Id="rId5" Type="http://schemas.openxmlformats.org/officeDocument/2006/relationships/image" Target="../media/image84.jpeg"/><Relationship Id="rId6" Type="http://schemas.openxmlformats.org/officeDocument/2006/relationships/image" Target="../media/image85.jpeg"/><Relationship Id="rId7" Type="http://schemas.openxmlformats.org/officeDocument/2006/relationships/image" Target="../media/image86.jpeg"/><Relationship Id="rId8" Type="http://schemas.openxmlformats.org/officeDocument/2006/relationships/slideLayout" Target="../slideLayouts/slideLayout7.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87.png"/><Relationship Id="rId2" Type="http://schemas.openxmlformats.org/officeDocument/2006/relationships/image" Target="../media/image88.png"/><Relationship Id="rId3" Type="http://schemas.openxmlformats.org/officeDocument/2006/relationships/image" Target="../media/image89.svg"/><Relationship Id="rId4" Type="http://schemas.openxmlformats.org/officeDocument/2006/relationships/image" Target="../media/image90.png"/><Relationship Id="rId5" Type="http://schemas.openxmlformats.org/officeDocument/2006/relationships/image" Target="../media/image91.svg"/><Relationship Id="rId6" Type="http://schemas.openxmlformats.org/officeDocument/2006/relationships/image" Target="../media/image7.png"/><Relationship Id="rId7" Type="http://schemas.openxmlformats.org/officeDocument/2006/relationships/image" Target="../media/image4.jpeg"/><Relationship Id="rId8" Type="http://schemas.openxmlformats.org/officeDocument/2006/relationships/image" Target="../media/image5.jpeg"/><Relationship Id="rId9" Type="http://schemas.openxmlformats.org/officeDocument/2006/relationships/slideLayout" Target="../slideLayouts/slideLayout7.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png"/><Relationship Id="rId8" Type="http://schemas.openxmlformats.org/officeDocument/2006/relationships/slideLayout" Target="../slideLayouts/slideLayout7.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image" Target="../media/image95.png"/><Relationship Id="rId5" Type="http://schemas.openxmlformats.org/officeDocument/2006/relationships/image" Target="../media/image96.svg"/><Relationship Id="rId6" Type="http://schemas.openxmlformats.org/officeDocument/2006/relationships/image" Target="../media/image97.png"/><Relationship Id="rId7" Type="http://schemas.openxmlformats.org/officeDocument/2006/relationships/image" Target="../media/image98.svg"/><Relationship Id="rId8" Type="http://schemas.openxmlformats.org/officeDocument/2006/relationships/image" Target="../media/image7.png"/><Relationship Id="rId9" Type="http://schemas.openxmlformats.org/officeDocument/2006/relationships/image" Target="../media/image99.png"/><Relationship Id="rId10" Type="http://schemas.openxmlformats.org/officeDocument/2006/relationships/image" Target="../media/image100.svg"/><Relationship Id="rId11" Type="http://schemas.openxmlformats.org/officeDocument/2006/relationships/image" Target="../media/image101.png"/><Relationship Id="rId12" Type="http://schemas.openxmlformats.org/officeDocument/2006/relationships/image" Target="../media/image102.svg"/><Relationship Id="rId13" Type="http://schemas.openxmlformats.org/officeDocument/2006/relationships/image" Target="../media/image103.png"/><Relationship Id="rId14" Type="http://schemas.openxmlformats.org/officeDocument/2006/relationships/image" Target="../media/image104.svg"/><Relationship Id="rId15" Type="http://schemas.openxmlformats.org/officeDocument/2006/relationships/image" Target="../media/image105.png"/><Relationship Id="rId16" Type="http://schemas.openxmlformats.org/officeDocument/2006/relationships/image" Target="../media/image106.svg"/><Relationship Id="rId17" Type="http://schemas.openxmlformats.org/officeDocument/2006/relationships/hyperlink" Target="https://arxiv.org/abs/2502.13923" TargetMode="External"/><Relationship Id="rId18" Type="http://schemas.openxmlformats.org/officeDocument/2006/relationships/image" Target="../media/image107.png"/><Relationship Id="rId19" Type="http://schemas.openxmlformats.org/officeDocument/2006/relationships/image" Target="../media/image108.png"/><Relationship Id="rId20" Type="http://schemas.openxmlformats.org/officeDocument/2006/relationships/slideLayout" Target="../slideLayouts/slideLayout7.xml"/><Relationship Id="rId21" Type="http://schemas.openxmlformats.org/officeDocument/2006/relationships/image" Target="../media/image193.png"/><Relationship Id="rId22" Type="http://schemas.openxmlformats.org/officeDocument/2006/relationships/image" Target="../media/image194.png"/><Relationship Id="rId2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image" Target="../media/image109.png"/><Relationship Id="rId5" Type="http://schemas.openxmlformats.org/officeDocument/2006/relationships/image" Target="../media/image110.svg"/><Relationship Id="rId6" Type="http://schemas.openxmlformats.org/officeDocument/2006/relationships/image" Target="../media/image111.png"/><Relationship Id="rId7" Type="http://schemas.openxmlformats.org/officeDocument/2006/relationships/image" Target="../media/image112.png"/><Relationship Id="rId8" Type="http://schemas.openxmlformats.org/officeDocument/2006/relationships/image" Target="../media/image113.svg"/><Relationship Id="rId9" Type="http://schemas.openxmlformats.org/officeDocument/2006/relationships/image" Target="../media/image7.png"/><Relationship Id="rId10" Type="http://schemas.openxmlformats.org/officeDocument/2006/relationships/image" Target="../media/image114.png"/><Relationship Id="rId11" Type="http://schemas.openxmlformats.org/officeDocument/2006/relationships/image" Target="../media/image115.svg"/><Relationship Id="rId12" Type="http://schemas.openxmlformats.org/officeDocument/2006/relationships/slideLayout" Target="../slideLayouts/slideLayout7.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16.png"/><Relationship Id="rId3" Type="http://schemas.openxmlformats.org/officeDocument/2006/relationships/image" Target="../media/image117.svg"/><Relationship Id="rId4" Type="http://schemas.openxmlformats.org/officeDocument/2006/relationships/image" Target="../media/image118.png"/><Relationship Id="rId5" Type="http://schemas.openxmlformats.org/officeDocument/2006/relationships/image" Target="../media/image119.sv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image" Target="../media/image120.png"/><Relationship Id="rId9" Type="http://schemas.openxmlformats.org/officeDocument/2006/relationships/image" Target="../media/image121.svg"/><Relationship Id="rId10" Type="http://schemas.openxmlformats.org/officeDocument/2006/relationships/image" Target="../media/image122.png"/><Relationship Id="rId11" Type="http://schemas.openxmlformats.org/officeDocument/2006/relationships/image" Target="../media/image123.svg"/><Relationship Id="rId12" Type="http://schemas.openxmlformats.org/officeDocument/2006/relationships/image" Target="../media/image7.png"/><Relationship Id="rId13" Type="http://schemas.openxmlformats.org/officeDocument/2006/relationships/slideLayout" Target="../slideLayouts/slideLayout7.xml"/><Relationship Id="rId14" Type="http://schemas.openxmlformats.org/officeDocument/2006/relationships/image" Target="../media/image196.png"/><Relationship Id="rId15" Type="http://schemas.openxmlformats.org/officeDocument/2006/relationships/image" Target="../media/image197.png"/><Relationship Id="rId16" Type="http://schemas.openxmlformats.org/officeDocument/2006/relationships/image" Target="../media/image198.png"/><Relationship Id="rId17" Type="http://schemas.openxmlformats.org/officeDocument/2006/relationships/image" Target="../media/image199.png"/><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7.png"/><Relationship Id="rId8" Type="http://schemas.openxmlformats.org/officeDocument/2006/relationships/image" Target="../media/image127.png"/><Relationship Id="rId9" Type="http://schemas.openxmlformats.org/officeDocument/2006/relationships/image" Target="../media/image128.svg"/><Relationship Id="rId10" Type="http://schemas.openxmlformats.org/officeDocument/2006/relationships/slideLayout" Target="../slideLayouts/slideLayout7.xml"/><Relationship Id="rId11" Type="http://schemas.openxmlformats.org/officeDocument/2006/relationships/image" Target="../media/image195.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29.png"/><Relationship Id="rId3" Type="http://schemas.openxmlformats.org/officeDocument/2006/relationships/image" Target="../media/image130.png"/><Relationship Id="rId4" Type="http://schemas.openxmlformats.org/officeDocument/2006/relationships/image" Target="../media/image131.sv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32.png"/><Relationship Id="rId3" Type="http://schemas.openxmlformats.org/officeDocument/2006/relationships/image" Target="../media/image133.svg"/><Relationship Id="rId4" Type="http://schemas.openxmlformats.org/officeDocument/2006/relationships/image" Target="../media/image134.png"/><Relationship Id="rId5" Type="http://schemas.openxmlformats.org/officeDocument/2006/relationships/image" Target="../media/image135.svg"/><Relationship Id="rId6" Type="http://schemas.openxmlformats.org/officeDocument/2006/relationships/image" Target="../media/image136.png"/><Relationship Id="rId7" Type="http://schemas.openxmlformats.org/officeDocument/2006/relationships/image" Target="../media/image137.svg"/><Relationship Id="rId8" Type="http://schemas.openxmlformats.org/officeDocument/2006/relationships/image" Target="../media/image138.png"/><Relationship Id="rId9" Type="http://schemas.openxmlformats.org/officeDocument/2006/relationships/image" Target="../media/image139.svg"/><Relationship Id="rId10" Type="http://schemas.openxmlformats.org/officeDocument/2006/relationships/image" Target="../media/image140.png"/><Relationship Id="rId11" Type="http://schemas.openxmlformats.org/officeDocument/2006/relationships/image" Target="../media/image141.svg"/><Relationship Id="rId12" Type="http://schemas.openxmlformats.org/officeDocument/2006/relationships/image" Target="../media/image4.jpeg"/><Relationship Id="rId13" Type="http://schemas.openxmlformats.org/officeDocument/2006/relationships/image" Target="../media/image5.jpeg"/><Relationship Id="rId14" Type="http://schemas.openxmlformats.org/officeDocument/2006/relationships/image" Target="../media/image142.png"/><Relationship Id="rId15" Type="http://schemas.openxmlformats.org/officeDocument/2006/relationships/image" Target="../media/image143.svg"/><Relationship Id="rId16" Type="http://schemas.openxmlformats.org/officeDocument/2006/relationships/image" Target="../media/image144.png"/><Relationship Id="rId17" Type="http://schemas.openxmlformats.org/officeDocument/2006/relationships/image" Target="../media/image145.svg"/><Relationship Id="rId18" Type="http://schemas.openxmlformats.org/officeDocument/2006/relationships/image" Target="../media/image7.png"/><Relationship Id="rId19" Type="http://schemas.openxmlformats.org/officeDocument/2006/relationships/slideLayout" Target="../slideLayouts/slideLayout7.xml"/><Relationship Id="rId2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image" Target="../media/image146.png"/><Relationship Id="rId5" Type="http://schemas.openxmlformats.org/officeDocument/2006/relationships/image" Target="../media/image147.svg"/><Relationship Id="rId6" Type="http://schemas.openxmlformats.org/officeDocument/2006/relationships/image" Target="../media/image148.png"/><Relationship Id="rId7" Type="http://schemas.openxmlformats.org/officeDocument/2006/relationships/image" Target="../media/image149.svg"/><Relationship Id="rId8" Type="http://schemas.openxmlformats.org/officeDocument/2006/relationships/image" Target="../media/image150.png"/><Relationship Id="rId9" Type="http://schemas.openxmlformats.org/officeDocument/2006/relationships/image" Target="../media/image151.svg"/><Relationship Id="rId10" Type="http://schemas.openxmlformats.org/officeDocument/2006/relationships/image" Target="../media/image152.png"/><Relationship Id="rId11" Type="http://schemas.openxmlformats.org/officeDocument/2006/relationships/image" Target="../media/image153.svg"/><Relationship Id="rId12" Type="http://schemas.openxmlformats.org/officeDocument/2006/relationships/image" Target="../media/image154.png"/><Relationship Id="rId13" Type="http://schemas.openxmlformats.org/officeDocument/2006/relationships/image" Target="../media/image155.svg"/><Relationship Id="rId14" Type="http://schemas.openxmlformats.org/officeDocument/2006/relationships/image" Target="../media/image7.png"/><Relationship Id="rId15" Type="http://schemas.openxmlformats.org/officeDocument/2006/relationships/slideLayout" Target="../slideLayouts/slideLayout7.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png"/><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146.png"/><Relationship Id="rId6" Type="http://schemas.openxmlformats.org/officeDocument/2006/relationships/image" Target="../media/image147.svg"/><Relationship Id="rId7" Type="http://schemas.openxmlformats.org/officeDocument/2006/relationships/image" Target="../media/image148.png"/><Relationship Id="rId8" Type="http://schemas.openxmlformats.org/officeDocument/2006/relationships/image" Target="../media/image149.svg"/><Relationship Id="rId9" Type="http://schemas.openxmlformats.org/officeDocument/2006/relationships/image" Target="../media/image150.png"/><Relationship Id="rId10" Type="http://schemas.openxmlformats.org/officeDocument/2006/relationships/image" Target="../media/image151.svg"/><Relationship Id="rId11" Type="http://schemas.openxmlformats.org/officeDocument/2006/relationships/image" Target="../media/image152.png"/><Relationship Id="rId12" Type="http://schemas.openxmlformats.org/officeDocument/2006/relationships/image" Target="../media/image153.svg"/><Relationship Id="rId13" Type="http://schemas.openxmlformats.org/officeDocument/2006/relationships/image" Target="../media/image154.png"/><Relationship Id="rId14" Type="http://schemas.openxmlformats.org/officeDocument/2006/relationships/image" Target="../media/image155.svg"/><Relationship Id="rId15" Type="http://schemas.openxmlformats.org/officeDocument/2006/relationships/slideLayout" Target="../slideLayouts/slideLayout7.xm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56.png"/><Relationship Id="rId3" Type="http://schemas.openxmlformats.org/officeDocument/2006/relationships/image" Target="../media/image157.sv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7.png"/><Relationship Id="rId7" Type="http://schemas.openxmlformats.org/officeDocument/2006/relationships/slideLayout" Target="../slideLayouts/slideLayout7.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58.png"/><Relationship Id="rId2" Type="http://schemas.openxmlformats.org/officeDocument/2006/relationships/image" Target="../media/image2.svg"/><Relationship Id="rId3" Type="http://schemas.openxmlformats.org/officeDocument/2006/relationships/image" Target="../media/image3.png"/><Relationship Id="rId4" Type="http://schemas.openxmlformats.org/officeDocument/2006/relationships/image" Target="../media/image6.jpeg"/><Relationship Id="rId5" Type="http://schemas.openxmlformats.org/officeDocument/2006/relationships/image" Target="../media/image7.png"/><Relationship Id="rId6" Type="http://schemas.openxmlformats.org/officeDocument/2006/relationships/slideLayout" Target="../slideLayouts/slideLayout7.xml"/><Relationship Id="rId7" Type="http://schemas.openxmlformats.org/officeDocument/2006/relationships/image" Target="../media/image207.jpg"/><Relationship Id="rId8" Type="http://schemas.openxmlformats.org/officeDocument/2006/relationships/hyperlink" Target="https://github.com/PLHGNAOH/ViVQA-VLM" TargetMode="External"/><Relationship Id="rId9" Type="http://schemas.openxmlformats.org/officeDocument/2006/relationships/image" Target="../media/image208.png"/><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svg"/><Relationship Id="rId3" Type="http://schemas.openxmlformats.org/officeDocument/2006/relationships/image" Target="../media/image3.png"/><Relationship Id="rId4" Type="http://schemas.openxmlformats.org/officeDocument/2006/relationships/image" Target="../media/image6.jpeg"/><Relationship Id="rId5" Type="http://schemas.openxmlformats.org/officeDocument/2006/relationships/image" Target="../media/image7.png"/><Relationship Id="rId6" Type="http://schemas.openxmlformats.org/officeDocument/2006/relationships/slideLayout" Target="../slideLayouts/slideLayout7.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16.png"/><Relationship Id="rId3" Type="http://schemas.openxmlformats.org/officeDocument/2006/relationships/image" Target="../media/image117.svg"/><Relationship Id="rId4" Type="http://schemas.openxmlformats.org/officeDocument/2006/relationships/image" Target="../media/image118.png"/><Relationship Id="rId5" Type="http://schemas.openxmlformats.org/officeDocument/2006/relationships/image" Target="../media/image119.sv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image" Target="../media/image120.png"/><Relationship Id="rId9" Type="http://schemas.openxmlformats.org/officeDocument/2006/relationships/image" Target="../media/image121.svg"/><Relationship Id="rId10" Type="http://schemas.openxmlformats.org/officeDocument/2006/relationships/image" Target="../media/image122.png"/><Relationship Id="rId11" Type="http://schemas.openxmlformats.org/officeDocument/2006/relationships/image" Target="../media/image123.svg"/><Relationship Id="rId12" Type="http://schemas.openxmlformats.org/officeDocument/2006/relationships/image" Target="../media/image7.png"/><Relationship Id="rId13" Type="http://schemas.openxmlformats.org/officeDocument/2006/relationships/slideLayout" Target="../slideLayouts/slideLayout7.xml"/><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png"/><Relationship Id="rId3" Type="http://schemas.openxmlformats.org/officeDocument/2006/relationships/image" Target="../media/image159.png"/><Relationship Id="rId4" Type="http://schemas.openxmlformats.org/officeDocument/2006/relationships/image" Target="../media/image160.svg"/><Relationship Id="rId5" Type="http://schemas.openxmlformats.org/officeDocument/2006/relationships/image" Target="../media/image161.png"/><Relationship Id="rId6" Type="http://schemas.openxmlformats.org/officeDocument/2006/relationships/image" Target="../media/image162.svg"/><Relationship Id="rId7" Type="http://schemas.openxmlformats.org/officeDocument/2006/relationships/image" Target="../media/image163.png"/><Relationship Id="rId8" Type="http://schemas.openxmlformats.org/officeDocument/2006/relationships/image" Target="../media/image4.jpeg"/><Relationship Id="rId9" Type="http://schemas.openxmlformats.org/officeDocument/2006/relationships/image" Target="../media/image5.jpeg"/><Relationship Id="rId10" Type="http://schemas.openxmlformats.org/officeDocument/2006/relationships/slideLayout" Target="../slideLayouts/slideLayout7.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64.png"/><Relationship Id="rId3" Type="http://schemas.openxmlformats.org/officeDocument/2006/relationships/image" Target="../media/image165.svg"/><Relationship Id="rId4" Type="http://schemas.openxmlformats.org/officeDocument/2006/relationships/image" Target="../media/image166.png"/><Relationship Id="rId5" Type="http://schemas.openxmlformats.org/officeDocument/2006/relationships/image" Target="../media/image167.sv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hyperlink" Target="https://arxiv.org/pdf/2404.10652" TargetMode="External"/><Relationship Id="rId9" Type="http://schemas.openxmlformats.org/officeDocument/2006/relationships/image" Target="../media/image7.png"/><Relationship Id="rId10" Type="http://schemas.openxmlformats.org/officeDocument/2006/relationships/slideLayout" Target="../slideLayouts/slideLayout7.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4.jpeg"/><Relationship Id="rId3" Type="http://schemas.openxmlformats.org/officeDocument/2006/relationships/image" Target="../media/image5.jpeg"/><Relationship Id="rId4" Type="http://schemas.openxmlformats.org/officeDocument/2006/relationships/hyperlink" Target="https://arxiv.org/pdf/2404.10652" TargetMode="External"/><Relationship Id="rId5" Type="http://schemas.openxmlformats.org/officeDocument/2006/relationships/hyperlink" Target="https://arxiv.org/pdf/2203.10209" TargetMode="External"/><Relationship Id="rId6" Type="http://schemas.openxmlformats.org/officeDocument/2006/relationships/hyperlink" Target="https://aclanthology.org/2022.naacl-srw.18.pdf" TargetMode="External"/><Relationship Id="rId7" Type="http://schemas.openxmlformats.org/officeDocument/2006/relationships/image" Target="../media/image7.png"/><Relationship Id="rId8" Type="http://schemas.openxmlformats.org/officeDocument/2006/relationships/slideLayout" Target="../slideLayouts/slideLayout7.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68.png"/><Relationship Id="rId3" Type="http://schemas.openxmlformats.org/officeDocument/2006/relationships/image" Target="../media/image169.png"/><Relationship Id="rId4" Type="http://schemas.openxmlformats.org/officeDocument/2006/relationships/image" Target="../media/image170.sv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71.png"/><Relationship Id="rId8" Type="http://schemas.openxmlformats.org/officeDocument/2006/relationships/image" Target="../media/image172.svg"/><Relationship Id="rId9" Type="http://schemas.openxmlformats.org/officeDocument/2006/relationships/image" Target="../media/image7.png"/><Relationship Id="rId10" Type="http://schemas.openxmlformats.org/officeDocument/2006/relationships/slideLayout" Target="../slideLayouts/slideLayout7.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64.png"/><Relationship Id="rId3" Type="http://schemas.openxmlformats.org/officeDocument/2006/relationships/image" Target="../media/image165.svg"/><Relationship Id="rId4" Type="http://schemas.openxmlformats.org/officeDocument/2006/relationships/image" Target="../media/image173.png"/><Relationship Id="rId5" Type="http://schemas.openxmlformats.org/officeDocument/2006/relationships/image" Target="../media/image174.sv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image" Target="../media/image7.png"/><Relationship Id="rId9" Type="http://schemas.openxmlformats.org/officeDocument/2006/relationships/slideLayout" Target="../slideLayouts/slideLayout7.xml"/><Relationship Id="rId1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png"/><Relationship Id="rId3" Type="http://schemas.openxmlformats.org/officeDocument/2006/relationships/image" Target="../media/image175.png"/><Relationship Id="rId4" Type="http://schemas.openxmlformats.org/officeDocument/2006/relationships/image" Target="../media/image176.png"/><Relationship Id="rId5" Type="http://schemas.openxmlformats.org/officeDocument/2006/relationships/image" Target="../media/image177.sv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image" Target="../media/image178.png"/><Relationship Id="rId9" Type="http://schemas.openxmlformats.org/officeDocument/2006/relationships/image" Target="../media/image179.svg"/><Relationship Id="rId10" Type="http://schemas.openxmlformats.org/officeDocument/2006/relationships/image" Target="../media/image180.png"/><Relationship Id="rId11" Type="http://schemas.openxmlformats.org/officeDocument/2006/relationships/image" Target="../media/image181.svg"/><Relationship Id="rId12" Type="http://schemas.openxmlformats.org/officeDocument/2006/relationships/slideLayout" Target="../slideLayouts/slideLayout7.xml"/><Relationship Id="rId1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182.png"/><Relationship Id="rId3" Type="http://schemas.openxmlformats.org/officeDocument/2006/relationships/image" Target="../media/image183.svg"/><Relationship Id="rId4" Type="http://schemas.openxmlformats.org/officeDocument/2006/relationships/image" Target="../media/image184.png"/><Relationship Id="rId5" Type="http://schemas.openxmlformats.org/officeDocument/2006/relationships/image" Target="../media/image185.svg"/><Relationship Id="rId6" Type="http://schemas.openxmlformats.org/officeDocument/2006/relationships/image" Target="../media/image186.png"/><Relationship Id="rId7" Type="http://schemas.openxmlformats.org/officeDocument/2006/relationships/image" Target="../media/image187.svg"/><Relationship Id="rId8" Type="http://schemas.openxmlformats.org/officeDocument/2006/relationships/image" Target="../media/image4.jpeg"/><Relationship Id="rId9" Type="http://schemas.openxmlformats.org/officeDocument/2006/relationships/image" Target="../media/image5.jpeg"/><Relationship Id="rId10" Type="http://schemas.openxmlformats.org/officeDocument/2006/relationships/image" Target="../media/image7.png"/><Relationship Id="rId11" Type="http://schemas.openxmlformats.org/officeDocument/2006/relationships/slideLayout" Target="../slideLayouts/slideLayout7.xml"/><Relationship Id="rId1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png"/><Relationship Id="rId3" Type="http://schemas.openxmlformats.org/officeDocument/2006/relationships/image" Target="../media/image188.png"/><Relationship Id="rId4" Type="http://schemas.openxmlformats.org/officeDocument/2006/relationships/image" Target="../media/image189.svg"/><Relationship Id="rId5" Type="http://schemas.openxmlformats.org/officeDocument/2006/relationships/image" Target="../media/image190.png"/><Relationship Id="rId6" Type="http://schemas.openxmlformats.org/officeDocument/2006/relationships/image" Target="../media/image191.svg"/><Relationship Id="rId7" Type="http://schemas.openxmlformats.org/officeDocument/2006/relationships/image" Target="../media/image4.jpeg"/><Relationship Id="rId8" Type="http://schemas.openxmlformats.org/officeDocument/2006/relationships/image" Target="../media/image5.jpeg"/><Relationship Id="rId9" Type="http://schemas.openxmlformats.org/officeDocument/2006/relationships/slideLayout" Target="../slideLayouts/slideLayout7.xml"/><Relationship Id="rId10"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descr="bg_cover.jpg"/>
          <p:cNvPicPr>
            <a:picLocks noChangeAspect="1"/>
          </p:cNvPicPr>
          <p:nvPr/>
        </p:nvPicPr>
        <p:blipFill>
          <a:blip r:embed="rId9"/>
          <a:stretch>
            <a:fillRect/>
          </a:stretch>
        </p:blipFill>
        <p:spPr>
          <a:xfrm>
            <a:off x="0" y="0"/>
            <a:ext cx="18288000" cy="10287000"/>
          </a:xfrm>
          <a:prstGeom prst="rect">
            <a:avLst/>
          </a:prstGeom>
        </p:spPr>
      </p:pic>
      <p:grpSp>
        <p:nvGrpSpPr>
          <p:cNvPr id="31" name="Group 31"/>
          <p:cNvGrpSpPr/>
          <p:nvPr/>
        </p:nvGrpSpPr>
        <p:grpSpPr>
          <a:xfrm rot="0">
            <a:off x="0" y="0"/>
            <a:ext cx="2829306" cy="1184338"/>
            <a:chOff x="0" y="0"/>
            <a:chExt cx="3772408" cy="1579118"/>
          </a:xfrm>
        </p:grpSpPr>
        <p:sp>
          <p:nvSpPr>
            <p:cNvPr id="32" name="Freeform 3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7"/>
              <a:stretch>
                <a:fillRect/>
              </a:stretch>
            </a:blipFill>
          </p:spPr>
          <p:txBody>
            <a:bodyPr/>
            <a:p/>
          </p:txBody>
        </p:sp>
      </p:grpSp>
      <p:sp>
        <p:nvSpPr>
          <p:cNvPr id="34" name="Rounded Rectangle 33"/>
          <p:cNvSpPr/>
          <p:nvPr/>
        </p:nvSpPr>
        <p:spPr>
          <a:xfrm>
            <a:off x="1097280" y="1920240"/>
            <a:ext cx="3026664" cy="457200"/>
          </a:xfrm>
          <a:prstGeom prst="roundRect">
            <a:avLst>
              <a:gd name="adj" fmla="val 50000"/>
            </a:avLst>
          </a:prstGeom>
          <a:solidFill>
            <a:srgbClr val="E8A33D"/>
          </a:solidFill>
          <a:ln>
            <a:noFill/>
          </a:ln>
        </p:spPr>
        <p:txBody>
          <a:bodyPr rtlCol="0" anchor="ctr" wrap="square" lIns="0" rIns="0" tIns="0" bIns="0"/>
          <a:lstStyle/>
          <a:p>
            <a:pPr algn="ctr">
              <a:lnSpc>
                <a:spcPct val="106000"/>
              </a:lnSpc>
              <a:spcAft>
                <a:spcPts val="0"/>
              </a:spcAft>
            </a:pPr>
            <a:r>
              <a:rPr sz="1400" b="1">
                <a:solidFill>
                  <a:srgbClr val="FFFFFF"/>
                </a:solidFill>
                <a:latin typeface="Calibri (MS) Bold"/>
              </a:rPr>
              <a:t>GFA26AI35 · ĐẠI HỌC FPT</a:t>
            </a:r>
          </a:p>
        </p:txBody>
      </p:sp>
      <p:sp>
        <p:nvSpPr>
          <p:cNvPr id="35" name="TextBox 34"/>
          <p:cNvSpPr txBox="1"/>
          <p:nvPr/>
        </p:nvSpPr>
        <p:spPr>
          <a:xfrm>
            <a:off x="1097280" y="2606040"/>
            <a:ext cx="8778240" cy="1463040"/>
          </a:xfrm>
          <a:prstGeom prst="rect">
            <a:avLst/>
          </a:prstGeom>
          <a:noFill/>
        </p:spPr>
        <p:txBody>
          <a:bodyPr wrap="square" anchor="t" lIns="0" rIns="0" tIns="0" bIns="0">
            <a:spAutoFit/>
          </a:bodyPr>
          <a:lstStyle/>
          <a:p>
            <a:pPr algn="l">
              <a:lnSpc>
                <a:spcPct val="106000"/>
              </a:lnSpc>
              <a:spcAft>
                <a:spcPts val="0"/>
              </a:spcAft>
            </a:pPr>
            <a:r>
              <a:rPr sz="7200" b="1">
                <a:solidFill>
                  <a:srgbClr val="FFFFFF"/>
                </a:solidFill>
                <a:latin typeface="Cambria Bold"/>
              </a:rPr>
              <a:t>ViVQA-VLM</a:t>
            </a:r>
          </a:p>
        </p:txBody>
      </p:sp>
      <p:sp>
        <p:nvSpPr>
          <p:cNvPr id="36" name="TextBox 35"/>
          <p:cNvSpPr txBox="1"/>
          <p:nvPr/>
        </p:nvSpPr>
        <p:spPr>
          <a:xfrm>
            <a:off x="1097280" y="3977639"/>
            <a:ext cx="8595360" cy="1188720"/>
          </a:xfrm>
          <a:prstGeom prst="rect">
            <a:avLst/>
          </a:prstGeom>
          <a:noFill/>
        </p:spPr>
        <p:txBody>
          <a:bodyPr wrap="square" anchor="t" lIns="0" rIns="0" tIns="0" bIns="0">
            <a:spAutoFit/>
          </a:bodyPr>
          <a:lstStyle/>
          <a:p>
            <a:pPr algn="l">
              <a:lnSpc>
                <a:spcPct val="106000"/>
              </a:lnSpc>
              <a:spcAft>
                <a:spcPts val="200"/>
              </a:spcAft>
            </a:pPr>
            <a:r>
              <a:rPr sz="2600" b="0">
                <a:solidFill>
                  <a:srgbClr val="FFFFFF"/>
                </a:solidFill>
                <a:latin typeface="Calibri (MS)"/>
              </a:rPr>
              <a:t>Efficient Vietnamese Visual Question Answering</a:t>
            </a:r>
          </a:p>
          <a:p>
            <a:pPr algn="l">
              <a:lnSpc>
                <a:spcPct val="106000"/>
              </a:lnSpc>
              <a:spcAft>
                <a:spcPts val="0"/>
              </a:spcAft>
            </a:pPr>
            <a:r>
              <a:rPr sz="2600" b="0">
                <a:solidFill>
                  <a:srgbClr val="FFFFFF"/>
                </a:solidFill>
                <a:latin typeface="Calibri (MS)"/>
              </a:rPr>
              <a:t>using Vision–Language Models</a:t>
            </a:r>
          </a:p>
        </p:txBody>
      </p:sp>
      <p:sp>
        <p:nvSpPr>
          <p:cNvPr id="37" name="Rectangle 36"/>
          <p:cNvSpPr/>
          <p:nvPr/>
        </p:nvSpPr>
        <p:spPr>
          <a:xfrm>
            <a:off x="1115568" y="5349240"/>
            <a:ext cx="1463040" cy="73152"/>
          </a:xfrm>
          <a:prstGeom prst="rect">
            <a:avLst/>
          </a:prstGeom>
          <a:solidFill>
            <a:srgbClr val="E8A33D"/>
          </a:solidFill>
          <a:ln>
            <a:noFill/>
          </a:ln>
        </p:spPr>
        <p:txBody>
          <a:bodyPr rtlCol="0" anchor="ctr"/>
          <a:lstStyle/>
          <a:p>
            <a:pPr algn="ctr"/>
          </a:p>
        </p:txBody>
      </p:sp>
      <p:sp>
        <p:nvSpPr>
          <p:cNvPr id="38" name="TextBox 37"/>
          <p:cNvSpPr txBox="1"/>
          <p:nvPr/>
        </p:nvSpPr>
        <p:spPr>
          <a:xfrm>
            <a:off x="1097280" y="5669280"/>
            <a:ext cx="8595360" cy="457200"/>
          </a:xfrm>
          <a:prstGeom prst="rect">
            <a:avLst/>
          </a:prstGeom>
          <a:noFill/>
        </p:spPr>
        <p:txBody>
          <a:bodyPr wrap="square" anchor="t" lIns="0" rIns="0" tIns="0" bIns="0">
            <a:spAutoFit/>
          </a:bodyPr>
          <a:lstStyle/>
          <a:p>
            <a:pPr algn="l">
              <a:lnSpc>
                <a:spcPct val="106000"/>
              </a:lnSpc>
              <a:spcAft>
                <a:spcPts val="0"/>
              </a:spcAft>
            </a:pPr>
            <a:r>
              <a:rPr sz="2000" b="1">
                <a:solidFill>
                  <a:srgbClr val="E8A33D"/>
                </a:solidFill>
                <a:latin typeface="Calibri (MS) Bold"/>
              </a:rPr>
              <a:t>Review 1 + Review 2 (cộng dồn)</a:t>
            </a:r>
          </a:p>
        </p:txBody>
      </p:sp>
      <p:sp>
        <p:nvSpPr>
          <p:cNvPr id="39" name="TextBox 38"/>
          <p:cNvSpPr txBox="1"/>
          <p:nvPr/>
        </p:nvSpPr>
        <p:spPr>
          <a:xfrm>
            <a:off x="1097280" y="6400800"/>
            <a:ext cx="8595360" cy="2194560"/>
          </a:xfrm>
          <a:prstGeom prst="rect">
            <a:avLst/>
          </a:prstGeom>
          <a:noFill/>
        </p:spPr>
        <p:txBody>
          <a:bodyPr wrap="square" anchor="t" lIns="0" rIns="0" tIns="0" bIns="0">
            <a:spAutoFit/>
          </a:bodyPr>
          <a:lstStyle/>
          <a:p>
            <a:pPr algn="l">
              <a:lnSpc>
                <a:spcPct val="106000"/>
              </a:lnSpc>
              <a:spcAft>
                <a:spcPts val="800"/>
              </a:spcAft>
            </a:pPr>
            <a:r>
              <a:rPr sz="1700" b="1">
                <a:solidFill>
                  <a:srgbClr val="C8D6E6"/>
                </a:solidFill>
                <a:latin typeface="Calibri (MS) Bold"/>
              </a:rPr>
              <a:t>Supervisors  </a:t>
            </a:r>
            <a:r>
              <a:rPr sz="1700" b="0">
                <a:solidFill>
                  <a:srgbClr val="FFFFFF"/>
                </a:solidFill>
                <a:latin typeface="Calibri (MS)"/>
              </a:rPr>
              <a:t>Đặng Ngọc Minh Đức · Phạm Minh Trí</a:t>
            </a:r>
          </a:p>
          <a:p>
            <a:pPr algn="l">
              <a:lnSpc>
                <a:spcPct val="106000"/>
              </a:lnSpc>
              <a:spcAft>
                <a:spcPts val="0"/>
              </a:spcAft>
            </a:pPr>
            <a:r>
              <a:rPr sz="1600" b="1">
                <a:solidFill>
                  <a:srgbClr val="C8D6E6"/>
                </a:solidFill>
                <a:latin typeface="Calibri (MS) Bold"/>
              </a:rPr>
              <a:t>Team  </a:t>
            </a:r>
            <a:r>
              <a:rPr sz="1600" b="0">
                <a:solidFill>
                  <a:srgbClr val="FFFFFF"/>
                </a:solidFill>
                <a:latin typeface="Calibri (MS)"/>
              </a:rPr>
              <a:t>Phạm Lê Huy Hoàng (Leader), Hồ Đắc Toàn, Trần Quốc Huân, Văn Quang Trường</a:t>
            </a:r>
          </a:p>
        </p:txBody>
      </p:sp>
      <p:pic>
        <p:nvPicPr>
          <p:cNvPr id="40" name="Picture 39" descr="cover_cards.png"/>
          <p:cNvPicPr>
            <a:picLocks noChangeAspect="1"/>
          </p:cNvPicPr>
          <p:nvPr/>
        </p:nvPicPr>
        <p:blipFill>
          <a:blip r:embed="rId10"/>
          <a:stretch>
            <a:fillRect/>
          </a:stretch>
        </p:blipFill>
        <p:spPr>
          <a:xfrm>
            <a:off x="9509760" y="1417320"/>
            <a:ext cx="8503920" cy="7040454"/>
          </a:xfrm>
          <a:prstGeom prst="rect">
            <a:avLst/>
          </a:prstGeom>
        </p:spPr>
      </p:pic>
      <p:sp>
        <p:nvSpPr>
          <p:cNvPr id="41" name="TextBox 40"/>
          <p:cNvSpPr txBox="1"/>
          <p:nvPr/>
        </p:nvSpPr>
        <p:spPr>
          <a:xfrm>
            <a:off x="10241280" y="9646920"/>
            <a:ext cx="7315200" cy="320040"/>
          </a:xfrm>
          <a:prstGeom prst="rect">
            <a:avLst/>
          </a:prstGeom>
          <a:noFill/>
        </p:spPr>
        <p:txBody>
          <a:bodyPr wrap="square" anchor="t" lIns="0" rIns="0" tIns="0" bIns="0">
            <a:spAutoFit/>
          </a:bodyPr>
          <a:lstStyle/>
          <a:p>
            <a:pPr algn="r">
              <a:lnSpc>
                <a:spcPct val="106000"/>
              </a:lnSpc>
              <a:spcAft>
                <a:spcPts val="0"/>
              </a:spcAft>
            </a:pPr>
            <a:r>
              <a:rPr sz="1200" b="0">
                <a:solidFill>
                  <a:srgbClr val="C8D6E6"/>
                </a:solidFill>
                <a:latin typeface="Calibri (MS)"/>
              </a:rPr>
              <a:t>Ảnh và cặp hỏi–đáp thật từ tập train ViVQA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bg_r1.jpg"/>
          <p:cNvPicPr>
            <a:picLocks noChangeAspect="1"/>
          </p:cNvPicPr>
          <p:nvPr/>
        </p:nvPicPr>
        <p:blipFill>
          <a:blip r:embed="rId7"/>
          <a:stretch>
            <a:fillRect/>
          </a:stretch>
        </p:blipFill>
        <p:spPr>
          <a:xfrm>
            <a:off x="0" y="0"/>
            <a:ext cx="18288000" cy="10287000"/>
          </a:xfrm>
          <a:prstGeom prst="rect">
            <a:avLst/>
          </a:prstGeom>
        </p:spPr>
      </p:pic>
      <p:grpSp>
        <p:nvGrpSpPr>
          <p:cNvPr id="11" name="Group 11"/>
          <p:cNvGrpSpPr/>
          <p:nvPr/>
        </p:nvGrpSpPr>
        <p:grpSpPr>
          <a:xfrm rot="0">
            <a:off x="0" y="0"/>
            <a:ext cx="2829306" cy="1184338"/>
            <a:chOff x="0" y="0"/>
            <a:chExt cx="3772408" cy="1579118"/>
          </a:xfrm>
        </p:grpSpPr>
        <p:sp>
          <p:nvSpPr>
            <p:cNvPr id="12" name="Freeform 1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5"/>
              <a:stretch>
                <a:fillRect/>
              </a:stretch>
            </a:blipFill>
          </p:spPr>
          <p:txBody>
            <a:bodyPr/>
            <a:p/>
          </p:txBody>
        </p:sp>
      </p:grpSp>
      <p:sp>
        <p:nvSpPr>
          <p:cNvPr id="14" name="Rounded Rectangle 13"/>
          <p:cNvSpPr/>
          <p:nvPr/>
        </p:nvSpPr>
        <p:spPr>
          <a:xfrm>
            <a:off x="1097280" y="2011680"/>
            <a:ext cx="1243584" cy="457200"/>
          </a:xfrm>
          <a:prstGeom prst="roundRect">
            <a:avLst>
              <a:gd name="adj" fmla="val 50000"/>
            </a:avLst>
          </a:prstGeom>
          <a:solidFill>
            <a:srgbClr val="1C7293"/>
          </a:solidFill>
          <a:ln>
            <a:noFill/>
          </a:ln>
        </p:spPr>
        <p:txBody>
          <a:bodyPr rtlCol="0" anchor="ctr" wrap="square" lIns="0" rIns="0" tIns="0" bIns="0"/>
          <a:lstStyle/>
          <a:p>
            <a:pPr algn="ctr">
              <a:lnSpc>
                <a:spcPct val="106000"/>
              </a:lnSpc>
              <a:spcAft>
                <a:spcPts val="0"/>
              </a:spcAft>
            </a:pPr>
            <a:r>
              <a:rPr sz="1400" b="1">
                <a:solidFill>
                  <a:srgbClr val="FFFFFF"/>
                </a:solidFill>
                <a:latin typeface="Calibri (MS) Bold"/>
              </a:rPr>
              <a:t>REVIEW 1</a:t>
            </a:r>
          </a:p>
        </p:txBody>
      </p:sp>
      <p:sp>
        <p:nvSpPr>
          <p:cNvPr id="15" name="TextBox 14"/>
          <p:cNvSpPr txBox="1"/>
          <p:nvPr/>
        </p:nvSpPr>
        <p:spPr>
          <a:xfrm>
            <a:off x="1097280" y="2697480"/>
            <a:ext cx="7863840" cy="1188720"/>
          </a:xfrm>
          <a:prstGeom prst="rect">
            <a:avLst/>
          </a:prstGeom>
          <a:noFill/>
        </p:spPr>
        <p:txBody>
          <a:bodyPr wrap="square" anchor="t" lIns="0" rIns="0" tIns="0" bIns="0">
            <a:spAutoFit/>
          </a:bodyPr>
          <a:lstStyle/>
          <a:p>
            <a:pPr algn="l">
              <a:lnSpc>
                <a:spcPct val="106000"/>
              </a:lnSpc>
              <a:spcAft>
                <a:spcPts val="0"/>
              </a:spcAft>
            </a:pPr>
            <a:r>
              <a:rPr sz="5600" b="1">
                <a:solidFill>
                  <a:srgbClr val="FFFFFF"/>
                </a:solidFill>
                <a:latin typeface="Cambria Bold"/>
              </a:rPr>
              <a:t>Phạm vi bài toán</a:t>
            </a:r>
          </a:p>
        </p:txBody>
      </p:sp>
      <p:sp>
        <p:nvSpPr>
          <p:cNvPr id="16" name="TextBox 15"/>
          <p:cNvSpPr txBox="1"/>
          <p:nvPr/>
        </p:nvSpPr>
        <p:spPr>
          <a:xfrm>
            <a:off x="1143000" y="4297680"/>
            <a:ext cx="7680960" cy="4114800"/>
          </a:xfrm>
          <a:prstGeom prst="rect">
            <a:avLst/>
          </a:prstGeom>
          <a:noFill/>
        </p:spPr>
        <p:txBody>
          <a:bodyPr wrap="square" anchor="t" lIns="0" rIns="0" tIns="0" bIns="0">
            <a:spAutoFit/>
          </a:bodyPr>
          <a:lstStyle/>
          <a:p>
            <a:pPr algn="l">
              <a:lnSpc>
                <a:spcPct val="106000"/>
              </a:lnSpc>
              <a:spcAft>
                <a:spcPts val="1600"/>
              </a:spcAft>
            </a:pPr>
            <a:r>
              <a:rPr sz="2400" b="1">
                <a:solidFill>
                  <a:srgbClr val="E8A33D"/>
                </a:solidFill>
                <a:latin typeface="Calibri (MS) Bold"/>
              </a:rPr>
              <a:t>01  </a:t>
            </a:r>
            <a:r>
              <a:rPr sz="2400" b="0">
                <a:solidFill>
                  <a:srgbClr val="FFFFFF"/>
                </a:solidFill>
                <a:latin typeface="Calibri (MS)"/>
              </a:rPr>
              <a:t>Bài toán gì</a:t>
            </a:r>
          </a:p>
          <a:p>
            <a:pPr algn="l">
              <a:lnSpc>
                <a:spcPct val="106000"/>
              </a:lnSpc>
              <a:spcAft>
                <a:spcPts val="1600"/>
              </a:spcAft>
            </a:pPr>
            <a:r>
              <a:rPr sz="2400" b="1">
                <a:solidFill>
                  <a:srgbClr val="E8A33D"/>
                </a:solidFill>
                <a:latin typeface="Calibri (MS) Bold"/>
              </a:rPr>
              <a:t>02  </a:t>
            </a:r>
            <a:r>
              <a:rPr sz="2400" b="0">
                <a:solidFill>
                  <a:srgbClr val="FFFFFF"/>
                </a:solidFill>
                <a:latin typeface="Calibri (MS)"/>
              </a:rPr>
              <a:t>Vì sao khó với tiếng Việt</a:t>
            </a:r>
          </a:p>
          <a:p>
            <a:pPr algn="l">
              <a:lnSpc>
                <a:spcPct val="106000"/>
              </a:lnSpc>
              <a:spcAft>
                <a:spcPts val="1600"/>
              </a:spcAft>
            </a:pPr>
            <a:r>
              <a:rPr sz="2400" b="1">
                <a:solidFill>
                  <a:srgbClr val="E8A33D"/>
                </a:solidFill>
                <a:latin typeface="Calibri (MS) Bold"/>
              </a:rPr>
              <a:t>03  </a:t>
            </a:r>
            <a:r>
              <a:rPr sz="2400" b="0">
                <a:solidFill>
                  <a:srgbClr val="FFFFFF"/>
                </a:solidFill>
                <a:latin typeface="Calibri (MS)"/>
              </a:rPr>
              <a:t>Làm trong giới hạn nào, đo bằng gì</a:t>
            </a:r>
          </a:p>
          <a:p>
            <a:pPr algn="l">
              <a:lnSpc>
                <a:spcPct val="106000"/>
              </a:lnSpc>
              <a:spcAft>
                <a:spcPts val="1600"/>
              </a:spcAft>
            </a:pPr>
            <a:r>
              <a:rPr sz="2400" b="1">
                <a:solidFill>
                  <a:srgbClr val="E8A33D"/>
                </a:solidFill>
                <a:latin typeface="Calibri (MS) Bold"/>
              </a:rPr>
              <a:t>04  </a:t>
            </a:r>
            <a:r>
              <a:rPr sz="2400" b="0">
                <a:solidFill>
                  <a:srgbClr val="FFFFFF"/>
                </a:solidFill>
                <a:latin typeface="Calibri (MS)"/>
              </a:rPr>
              <a:t>Kế hoạch thực hiện</a:t>
            </a:r>
          </a:p>
        </p:txBody>
      </p:sp>
      <p:pic>
        <p:nvPicPr>
          <p:cNvPr id="17" name="Picture 16" descr="r1_mosaic.png"/>
          <p:cNvPicPr>
            <a:picLocks noChangeAspect="1"/>
          </p:cNvPicPr>
          <p:nvPr/>
        </p:nvPicPr>
        <p:blipFill>
          <a:blip r:embed="rId8"/>
          <a:stretch>
            <a:fillRect/>
          </a:stretch>
        </p:blipFill>
        <p:spPr>
          <a:xfrm>
            <a:off x="9326880" y="1325880"/>
            <a:ext cx="8229600" cy="656518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00100" y="1885950"/>
            <a:ext cx="16687800" cy="1114425"/>
            <a:chOff x="0" y="0"/>
            <a:chExt cx="22250400" cy="1485900"/>
          </a:xfrm>
        </p:grpSpPr>
        <p:sp>
          <p:nvSpPr>
            <p:cNvPr id="3" name="Freeform 3"/>
            <p:cNvSpPr/>
            <p:nvPr/>
          </p:nvSpPr>
          <p:spPr>
            <a:xfrm>
              <a:off x="0" y="0"/>
              <a:ext cx="22250400" cy="1485900"/>
            </a:xfrm>
            <a:custGeom>
              <a:avLst/>
              <a:gdLst/>
              <a:ahLst/>
              <a:cxnLst/>
              <a:rect l="l" t="t" r="r" b="b"/>
              <a:pathLst>
                <a:path w="22250400" h="1485900">
                  <a:moveTo>
                    <a:pt x="0" y="190500"/>
                  </a:moveTo>
                  <a:cubicBezTo>
                    <a:pt x="0" y="85344"/>
                    <a:pt x="85344" y="0"/>
                    <a:pt x="190500" y="0"/>
                  </a:cubicBezTo>
                  <a:lnTo>
                    <a:pt x="22059900" y="0"/>
                  </a:lnTo>
                  <a:cubicBezTo>
                    <a:pt x="22165056" y="0"/>
                    <a:pt x="22250400" y="85344"/>
                    <a:pt x="22250400" y="190500"/>
                  </a:cubicBezTo>
                  <a:lnTo>
                    <a:pt x="22250400" y="1295400"/>
                  </a:lnTo>
                  <a:cubicBezTo>
                    <a:pt x="22250400" y="1400556"/>
                    <a:pt x="22165056" y="1485900"/>
                    <a:pt x="22059900" y="1485900"/>
                  </a:cubicBezTo>
                  <a:lnTo>
                    <a:pt x="190500" y="1485900"/>
                  </a:lnTo>
                  <a:cubicBezTo>
                    <a:pt x="85344" y="1485900"/>
                    <a:pt x="0" y="1400556"/>
                    <a:pt x="0" y="1295400"/>
                  </a:cubicBezTo>
                  <a:close/>
                </a:path>
              </a:pathLst>
            </a:custGeom>
            <a:solidFill>
              <a:srgbClr val="E9F1F5"/>
            </a:solidFill>
          </p:spPr>
          <p:txBody>
            <a:bodyPr/>
            <a:p/>
          </p:txBody>
        </p:sp>
      </p:grpSp>
      <p:sp>
        <p:nvSpPr>
          <p:cNvPr id="4" name="Freeform 4"/>
          <p:cNvSpPr/>
          <p:nvPr/>
        </p:nvSpPr>
        <p:spPr>
          <a:xfrm>
            <a:off x="9017194" y="3752250"/>
            <a:ext cx="3568303" cy="5997178"/>
          </a:xfrm>
          <a:custGeom>
            <a:avLst/>
            <a:gdLst/>
            <a:ahLst/>
            <a:cxnLst/>
            <a:rect l="l" t="t" r="r" b="b"/>
            <a:pathLst>
              <a:path w="3568303" h="5997178">
                <a:moveTo>
                  <a:pt x="0" y="0"/>
                </a:moveTo>
                <a:lnTo>
                  <a:pt x="3568303" y="0"/>
                </a:lnTo>
                <a:lnTo>
                  <a:pt x="3568303" y="5997178"/>
                </a:lnTo>
                <a:lnTo>
                  <a:pt x="0" y="5997178"/>
                </a:lnTo>
                <a:lnTo>
                  <a:pt x="0" y="0"/>
                </a:lnTo>
                <a:close/>
              </a:path>
            </a:pathLst>
          </a:custGeom>
          <a:blipFill>
            <a:blip r:embed="rId1">
              <a:extLst>
                <a:ext uri="{96DAC541-7B7A-43D3-8B79-37D633B846F1}">
                  <asvg:svgBlip xmlns:asvg="http://schemas.microsoft.com/office/drawing/2016/SVG/main" r:embed="rId2"/>
                </a:ext>
              </a:extLst>
            </a:blip>
            <a:stretch>
              <a:fillRect l="-20" r="-20"/>
            </a:stretch>
          </a:blipFill>
        </p:spPr>
        <p:txBody>
          <a:bodyPr/>
          <a:p/>
        </p:txBody>
      </p:sp>
      <p:sp>
        <p:nvSpPr>
          <p:cNvPr id="5" name="Freeform 5"/>
          <p:cNvSpPr/>
          <p:nvPr/>
        </p:nvSpPr>
        <p:spPr>
          <a:xfrm>
            <a:off x="787594" y="3752250"/>
            <a:ext cx="7454503" cy="2882503"/>
          </a:xfrm>
          <a:custGeom>
            <a:avLst/>
            <a:gdLst/>
            <a:ahLst/>
            <a:cxnLst/>
            <a:rect l="l" t="t" r="r" b="b"/>
            <a:pathLst>
              <a:path w="7454503" h="2882503">
                <a:moveTo>
                  <a:pt x="0" y="0"/>
                </a:moveTo>
                <a:lnTo>
                  <a:pt x="7454503" y="0"/>
                </a:lnTo>
                <a:lnTo>
                  <a:pt x="7454503" y="2882503"/>
                </a:lnTo>
                <a:lnTo>
                  <a:pt x="0" y="2882503"/>
                </a:lnTo>
                <a:lnTo>
                  <a:pt x="0" y="0"/>
                </a:lnTo>
                <a:close/>
              </a:path>
            </a:pathLst>
          </a:custGeom>
          <a:blipFill>
            <a:blip r:embed="rId3">
              <a:extLst>
                <a:ext uri="{96DAC541-7B7A-43D3-8B79-37D633B846F1}">
                  <asvg:svgBlip xmlns:asvg="http://schemas.microsoft.com/office/drawing/2016/SVG/main" r:embed="rId4"/>
                </a:ext>
              </a:extLst>
            </a:blip>
            <a:stretch>
              <a:fillRect t="-38" b="-38"/>
            </a:stretch>
          </a:blipFill>
        </p:spPr>
        <p:txBody>
          <a:bodyPr/>
          <a:p/>
        </p:txBody>
      </p:sp>
      <p:sp>
        <p:nvSpPr>
          <p:cNvPr id="6" name="Freeform 6"/>
          <p:cNvSpPr/>
          <p:nvPr/>
        </p:nvSpPr>
        <p:spPr>
          <a:xfrm>
            <a:off x="787594" y="6866934"/>
            <a:ext cx="7454503" cy="2882503"/>
          </a:xfrm>
          <a:custGeom>
            <a:avLst/>
            <a:gdLst/>
            <a:ahLst/>
            <a:cxnLst/>
            <a:rect l="l" t="t" r="r" b="b"/>
            <a:pathLst>
              <a:path w="7454503" h="2882503">
                <a:moveTo>
                  <a:pt x="0" y="0"/>
                </a:moveTo>
                <a:lnTo>
                  <a:pt x="7454503" y="0"/>
                </a:lnTo>
                <a:lnTo>
                  <a:pt x="7454503" y="2882504"/>
                </a:lnTo>
                <a:lnTo>
                  <a:pt x="0" y="2882504"/>
                </a:lnTo>
                <a:lnTo>
                  <a:pt x="0" y="0"/>
                </a:lnTo>
                <a:close/>
              </a:path>
            </a:pathLst>
          </a:custGeom>
          <a:blipFill>
            <a:blip r:embed="rId3">
              <a:extLst>
                <a:ext uri="{96DAC541-7B7A-43D3-8B79-37D633B846F1}">
                  <asvg:svgBlip xmlns:asvg="http://schemas.microsoft.com/office/drawing/2016/SVG/main" r:embed="rId4"/>
                </a:ext>
              </a:extLst>
            </a:blip>
            <a:stretch>
              <a:fillRect t="-38" b="-38"/>
            </a:stretch>
          </a:blipFill>
        </p:spPr>
        <p:txBody>
          <a:bodyPr/>
          <a:p/>
        </p:txBody>
      </p:sp>
      <p:sp>
        <p:nvSpPr>
          <p:cNvPr id="7" name="Freeform 7"/>
          <p:cNvSpPr/>
          <p:nvPr/>
        </p:nvSpPr>
        <p:spPr>
          <a:xfrm>
            <a:off x="13360594" y="3752250"/>
            <a:ext cx="4139803" cy="2882503"/>
          </a:xfrm>
          <a:custGeom>
            <a:avLst/>
            <a:gdLst/>
            <a:ahLst/>
            <a:cxnLst/>
            <a:rect l="l" t="t" r="r" b="b"/>
            <a:pathLst>
              <a:path w="4139803" h="2882503">
                <a:moveTo>
                  <a:pt x="0" y="0"/>
                </a:moveTo>
                <a:lnTo>
                  <a:pt x="4139803" y="0"/>
                </a:lnTo>
                <a:lnTo>
                  <a:pt x="4139803" y="2882503"/>
                </a:lnTo>
                <a:lnTo>
                  <a:pt x="0" y="2882503"/>
                </a:lnTo>
                <a:lnTo>
                  <a:pt x="0" y="0"/>
                </a:lnTo>
                <a:close/>
              </a:path>
            </a:pathLst>
          </a:custGeom>
          <a:blipFill>
            <a:blip r:embed="rId5">
              <a:extLst>
                <a:ext uri="{96DAC541-7B7A-43D3-8B79-37D633B846F1}">
                  <asvg:svgBlip xmlns:asvg="http://schemas.microsoft.com/office/drawing/2016/SVG/main" r:embed="rId6"/>
                </a:ext>
              </a:extLst>
            </a:blip>
            <a:stretch>
              <a:fillRect t="-18" b="-18"/>
            </a:stretch>
          </a:blipFill>
        </p:spPr>
        <p:txBody>
          <a:bodyPr/>
          <a:p/>
        </p:txBody>
      </p:sp>
      <p:sp>
        <p:nvSpPr>
          <p:cNvPr id="8" name="Freeform 8"/>
          <p:cNvSpPr/>
          <p:nvPr/>
        </p:nvSpPr>
        <p:spPr>
          <a:xfrm>
            <a:off x="13360594" y="6866934"/>
            <a:ext cx="4139803" cy="2882503"/>
          </a:xfrm>
          <a:custGeom>
            <a:avLst/>
            <a:gdLst/>
            <a:ahLst/>
            <a:cxnLst/>
            <a:rect l="l" t="t" r="r" b="b"/>
            <a:pathLst>
              <a:path w="4139803" h="2882503">
                <a:moveTo>
                  <a:pt x="0" y="0"/>
                </a:moveTo>
                <a:lnTo>
                  <a:pt x="4139803" y="0"/>
                </a:lnTo>
                <a:lnTo>
                  <a:pt x="4139803" y="2882504"/>
                </a:lnTo>
                <a:lnTo>
                  <a:pt x="0" y="2882504"/>
                </a:lnTo>
                <a:lnTo>
                  <a:pt x="0" y="0"/>
                </a:lnTo>
                <a:close/>
              </a:path>
            </a:pathLst>
          </a:custGeom>
          <a:blipFill>
            <a:blip r:embed="rId5">
              <a:extLst>
                <a:ext uri="{96DAC541-7B7A-43D3-8B79-37D633B846F1}">
                  <asvg:svgBlip xmlns:asvg="http://schemas.microsoft.com/office/drawing/2016/SVG/main" r:embed="rId6"/>
                </a:ext>
              </a:extLst>
            </a:blip>
            <a:stretch>
              <a:fillRect t="-18" b="-18"/>
            </a:stretch>
          </a:blipFill>
        </p:spPr>
        <p:txBody>
          <a:bodyPr/>
          <a:p/>
        </p:txBody>
      </p:sp>
      <p:grpSp>
        <p:nvGrpSpPr>
          <p:cNvPr id="9" name="Group 9"/>
          <p:cNvGrpSpPr/>
          <p:nvPr/>
        </p:nvGrpSpPr>
        <p:grpSpPr>
          <a:xfrm rot="0">
            <a:off x="8451056" y="5057775"/>
            <a:ext cx="357188" cy="400050"/>
            <a:chOff x="0" y="0"/>
            <a:chExt cx="476250" cy="533400"/>
          </a:xfrm>
        </p:grpSpPr>
        <p:sp>
          <p:nvSpPr>
            <p:cNvPr id="10" name="Freeform 10"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7"/>
              <a:stretch>
                <a:fillRect l="-2000" r="-2000"/>
              </a:stretch>
            </a:blipFill>
          </p:spPr>
          <p:txBody>
            <a:bodyPr/>
            <a:p/>
          </p:txBody>
        </p:sp>
      </p:grpSp>
      <p:grpSp>
        <p:nvGrpSpPr>
          <p:cNvPr id="11" name="Group 11"/>
          <p:cNvGrpSpPr/>
          <p:nvPr/>
        </p:nvGrpSpPr>
        <p:grpSpPr>
          <a:xfrm rot="0">
            <a:off x="8451056" y="8043862"/>
            <a:ext cx="357188" cy="400050"/>
            <a:chOff x="0" y="0"/>
            <a:chExt cx="476250" cy="533400"/>
          </a:xfrm>
        </p:grpSpPr>
        <p:sp>
          <p:nvSpPr>
            <p:cNvPr id="12" name="Freeform 12"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7"/>
              <a:stretch>
                <a:fillRect l="-2000" r="-2000"/>
              </a:stretch>
            </a:blipFill>
          </p:spPr>
          <p:txBody>
            <a:bodyPr/>
            <a:p/>
          </p:txBody>
        </p:sp>
      </p:grpSp>
      <p:grpSp>
        <p:nvGrpSpPr>
          <p:cNvPr id="13" name="Group 13"/>
          <p:cNvGrpSpPr/>
          <p:nvPr/>
        </p:nvGrpSpPr>
        <p:grpSpPr>
          <a:xfrm rot="0">
            <a:off x="12794456" y="5057775"/>
            <a:ext cx="357188" cy="400050"/>
            <a:chOff x="0" y="0"/>
            <a:chExt cx="476250" cy="533400"/>
          </a:xfrm>
        </p:grpSpPr>
        <p:sp>
          <p:nvSpPr>
            <p:cNvPr id="14" name="Freeform 14"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7"/>
              <a:stretch>
                <a:fillRect l="-2000" r="-2000"/>
              </a:stretch>
            </a:blipFill>
          </p:spPr>
          <p:txBody>
            <a:bodyPr/>
            <a:p/>
          </p:txBody>
        </p:sp>
      </p:grpSp>
      <p:grpSp>
        <p:nvGrpSpPr>
          <p:cNvPr id="15" name="Group 15"/>
          <p:cNvGrpSpPr/>
          <p:nvPr/>
        </p:nvGrpSpPr>
        <p:grpSpPr>
          <a:xfrm rot="0">
            <a:off x="12794456" y="8043862"/>
            <a:ext cx="357188" cy="400050"/>
            <a:chOff x="0" y="0"/>
            <a:chExt cx="476250" cy="533400"/>
          </a:xfrm>
        </p:grpSpPr>
        <p:sp>
          <p:nvSpPr>
            <p:cNvPr id="16" name="Freeform 16" descr="image.png"/>
            <p:cNvSpPr/>
            <p:nvPr/>
          </p:nvSpPr>
          <p:spPr>
            <a:xfrm>
              <a:off x="0" y="0"/>
              <a:ext cx="476250" cy="533400"/>
            </a:xfrm>
            <a:custGeom>
              <a:avLst/>
              <a:gdLst/>
              <a:ahLst/>
              <a:cxnLst/>
              <a:rect l="l" t="t" r="r" b="b"/>
              <a:pathLst>
                <a:path w="476250" h="533400">
                  <a:moveTo>
                    <a:pt x="0" y="0"/>
                  </a:moveTo>
                  <a:lnTo>
                    <a:pt x="476250" y="0"/>
                  </a:lnTo>
                  <a:lnTo>
                    <a:pt x="476250" y="533400"/>
                  </a:lnTo>
                  <a:lnTo>
                    <a:pt x="0" y="533400"/>
                  </a:lnTo>
                  <a:lnTo>
                    <a:pt x="0" y="0"/>
                  </a:lnTo>
                  <a:close/>
                </a:path>
              </a:pathLst>
            </a:custGeom>
            <a:blipFill>
              <a:blip r:embed="rId7"/>
              <a:stretch>
                <a:fillRect l="-2000" r="-2000"/>
              </a:stretch>
            </a:blipFill>
          </p:spPr>
          <p:txBody>
            <a:bodyPr/>
            <a:p/>
          </p:txBody>
        </p:sp>
      </p:grpSp>
      <p:grpSp>
        <p:nvGrpSpPr>
          <p:cNvPr id="17" name="Group 17"/>
          <p:cNvGrpSpPr/>
          <p:nvPr/>
        </p:nvGrpSpPr>
        <p:grpSpPr>
          <a:xfrm rot="0">
            <a:off x="1014412" y="3979069"/>
            <a:ext cx="3429000" cy="2428875"/>
            <a:chOff x="0" y="0"/>
            <a:chExt cx="4572000" cy="3238500"/>
          </a:xfrm>
        </p:grpSpPr>
        <p:sp>
          <p:nvSpPr>
            <p:cNvPr id="18" name="Freeform 18"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8"/>
              <a:stretch>
                <a:fillRect t="-294" b="-294"/>
              </a:stretch>
            </a:blipFill>
          </p:spPr>
          <p:txBody>
            <a:bodyPr/>
            <a:p/>
          </p:txBody>
        </p:sp>
      </p:grpSp>
      <p:grpSp>
        <p:nvGrpSpPr>
          <p:cNvPr id="19" name="Group 19"/>
          <p:cNvGrpSpPr/>
          <p:nvPr/>
        </p:nvGrpSpPr>
        <p:grpSpPr>
          <a:xfrm rot="0">
            <a:off x="1014412" y="7093744"/>
            <a:ext cx="3429000" cy="2428875"/>
            <a:chOff x="0" y="0"/>
            <a:chExt cx="4572000" cy="3238500"/>
          </a:xfrm>
        </p:grpSpPr>
        <p:sp>
          <p:nvSpPr>
            <p:cNvPr id="20" name="Freeform 20"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8"/>
              <a:stretch>
                <a:fillRect t="-294" b="-294"/>
              </a:stretch>
            </a:blipFill>
          </p:spPr>
          <p:txBody>
            <a:bodyPr/>
            <a:p/>
          </p:txBody>
        </p:sp>
      </p:grpSp>
      <p:grpSp>
        <p:nvGrpSpPr>
          <p:cNvPr id="21" name="Group 21"/>
          <p:cNvGrpSpPr/>
          <p:nvPr/>
        </p:nvGrpSpPr>
        <p:grpSpPr>
          <a:xfrm rot="0">
            <a:off x="1014412" y="3979069"/>
            <a:ext cx="3429000" cy="2428875"/>
            <a:chOff x="0" y="0"/>
            <a:chExt cx="4572000" cy="3238500"/>
          </a:xfrm>
        </p:grpSpPr>
        <p:sp>
          <p:nvSpPr>
            <p:cNvPr id="22" name="Freeform 22"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9"/>
              <a:stretch>
                <a:fillRect t="-294" b="-294"/>
              </a:stretch>
            </a:blipFill>
          </p:spPr>
          <p:txBody>
            <a:bodyPr/>
            <a:p/>
          </p:txBody>
        </p:sp>
      </p:grpSp>
      <p:grpSp>
        <p:nvGrpSpPr>
          <p:cNvPr id="23" name="Group 23"/>
          <p:cNvGrpSpPr/>
          <p:nvPr/>
        </p:nvGrpSpPr>
        <p:grpSpPr>
          <a:xfrm rot="0">
            <a:off x="1014412" y="7093744"/>
            <a:ext cx="3429000" cy="2428875"/>
            <a:chOff x="0" y="0"/>
            <a:chExt cx="4572000" cy="3238500"/>
          </a:xfrm>
        </p:grpSpPr>
        <p:sp>
          <p:nvSpPr>
            <p:cNvPr id="24" name="Freeform 24" descr="image.png"/>
            <p:cNvSpPr/>
            <p:nvPr/>
          </p:nvSpPr>
          <p:spPr>
            <a:xfrm>
              <a:off x="0" y="0"/>
              <a:ext cx="4572000" cy="3238500"/>
            </a:xfrm>
            <a:custGeom>
              <a:avLst/>
              <a:gdLst/>
              <a:ahLst/>
              <a:cxnLst/>
              <a:rect l="l" t="t" r="r" b="b"/>
              <a:pathLst>
                <a:path w="4572000" h="3238500">
                  <a:moveTo>
                    <a:pt x="0" y="0"/>
                  </a:moveTo>
                  <a:lnTo>
                    <a:pt x="4572000" y="0"/>
                  </a:lnTo>
                  <a:lnTo>
                    <a:pt x="4572000" y="3238500"/>
                  </a:lnTo>
                  <a:lnTo>
                    <a:pt x="0" y="3238500"/>
                  </a:lnTo>
                  <a:lnTo>
                    <a:pt x="0" y="0"/>
                  </a:lnTo>
                  <a:close/>
                </a:path>
              </a:pathLst>
            </a:custGeom>
            <a:blipFill>
              <a:blip r:embed="rId10"/>
              <a:stretch>
                <a:fillRect t="-294" b="-294"/>
              </a:stretch>
            </a:blipFill>
          </p:spPr>
          <p:txBody>
            <a:bodyPr/>
            <a:p/>
          </p:txBody>
        </p:sp>
      </p:grpSp>
      <p:sp>
        <p:nvSpPr>
          <p:cNvPr id="25" name="TextBox 25"/>
          <p:cNvSpPr txBox="1"/>
          <p:nvPr/>
        </p:nvSpPr>
        <p:spPr>
          <a:xfrm>
            <a:off x="800100" y="514350"/>
            <a:ext cx="17487900" cy="242888"/>
          </a:xfrm>
          <a:prstGeom prst="rect">
            <a:avLst/>
          </a:prstGeom>
        </p:spPr>
        <p:txBody>
          <a:bodyPr lIns="0" tIns="0" rIns="0" bIns="0" rtlCol="0" anchor="t">
            <a:spAutoFit/>
          </a:bodyPr>
          <a:lstStyle/>
          <a:p>
            <a:pPr algn="l">
              <a:lnSpc>
                <a:spcPts val="1890"/>
              </a:lnSpc>
            </a:pPr>
            <a:r>
              <a:rPr lang="en-US" sz="1575" b="1">
                <a:solidFill>
                  <a:srgbClr val="1D638C"/>
                </a:solidFill>
                <a:latin typeface="Inter Bold" panose="02000503000000020004"/>
                <a:ea typeface="Inter Bold" panose="02000503000000020004"/>
                <a:cs typeface="Inter Bold" panose="02000503000000020004"/>
                <a:sym typeface="Inter Bold" panose="02000503000000020004"/>
              </a:rPr>
              <a:t>REVIEW 1 · PHẠM VI · 01 · BÀI TOÁN</a:t>
            </a:r>
            <a:endParaRPr lang="en-US" sz="157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26" name="TextBox 26"/>
          <p:cNvSpPr txBox="1"/>
          <p:nvPr/>
        </p:nvSpPr>
        <p:spPr>
          <a:xfrm>
            <a:off x="800100" y="871538"/>
            <a:ext cx="17487900" cy="728662"/>
          </a:xfrm>
          <a:prstGeom prst="rect">
            <a:avLst/>
          </a:prstGeom>
        </p:spPr>
        <p:txBody>
          <a:bodyPr lIns="0" tIns="0" rIns="0" bIns="0" rtlCol="0" anchor="t">
            <a:spAutoFit/>
          </a:bodyPr>
          <a:lstStyle/>
          <a:p>
            <a:pPr algn="l">
              <a:lnSpc>
                <a:spcPts val="5400"/>
              </a:lnSpc>
            </a:pPr>
            <a:r>
              <a:rPr lang="en-US" sz="4500" b="1">
                <a:solidFill>
                  <a:srgbClr val="0F2B46"/>
                </a:solidFill>
                <a:latin typeface="Lora Bold" panose="00000800000000000000"/>
                <a:ea typeface="Lora Bold" panose="00000800000000000000"/>
                <a:cs typeface="Lora Bold" panose="00000800000000000000"/>
                <a:sym typeface="Lora Bold" panose="00000800000000000000"/>
              </a:rPr>
              <a:t>Phát biểu bài toán: input → mô hình → output</a:t>
            </a:r>
            <a:endParaRPr lang="en-US" sz="4500" b="1">
              <a:solidFill>
                <a:srgbClr val="0F2B46"/>
              </a:solidFill>
              <a:latin typeface="Lora Bold" panose="00000800000000000000"/>
              <a:ea typeface="Lora Bold" panose="00000800000000000000"/>
              <a:cs typeface="Lora Bold" panose="00000800000000000000"/>
              <a:sym typeface="Lora Bold" panose="00000800000000000000"/>
            </a:endParaRPr>
          </a:p>
        </p:txBody>
      </p:sp>
      <p:sp>
        <p:nvSpPr>
          <p:cNvPr id="27" name="TextBox 27"/>
          <p:cNvSpPr txBox="1"/>
          <p:nvPr/>
        </p:nvSpPr>
        <p:spPr>
          <a:xfrm>
            <a:off x="1143000" y="2114550"/>
            <a:ext cx="16144875" cy="628650"/>
          </a:xfrm>
          <a:prstGeom prst="rect">
            <a:avLst/>
          </a:prstGeom>
        </p:spPr>
        <p:txBody>
          <a:bodyPr lIns="0" tIns="0" rIns="0" bIns="0" rtlCol="0" anchor="t">
            <a:spAutoFit/>
          </a:bodyPr>
          <a:lstStyle/>
          <a:p>
            <a:pPr algn="l">
              <a:lnSpc>
                <a:spcPts val="2430"/>
              </a:lnSpc>
            </a:pPr>
            <a:r>
              <a:rPr lang="en-US" sz="2025" b="1">
                <a:solidFill>
                  <a:srgbClr val="1E293B"/>
                </a:solidFill>
                <a:latin typeface="Inter Bold" panose="02000503000000020004"/>
                <a:ea typeface="Inter Bold" panose="02000503000000020004"/>
                <a:cs typeface="Inter Bold" panose="02000503000000020004"/>
                <a:sym typeface="Inter Bold" panose="02000503000000020004"/>
              </a:rPr>
              <a:t>Bài toán</a:t>
            </a:r>
            <a:r>
              <a:rPr lang="en-US" sz="2025">
                <a:solidFill>
                  <a:srgbClr val="1E293B"/>
                </a:solidFill>
                <a:latin typeface="Inter" panose="02000503000000020004"/>
                <a:ea typeface="Inter" panose="02000503000000020004"/>
                <a:cs typeface="Inter" panose="02000503000000020004"/>
                <a:sym typeface="Inter" panose="02000503000000020004"/>
              </a:rPr>
              <a:t>  Cho một ảnh và một câu hỏi tiếng Việt về ảnh, sinh câu trả lời tiếng Việt ngắn, đúng nội dung ảnh và đúng chính tả có dấu — bằng cách thích nghi một VLM mở (Qwen2.5-VL-3B) chỉ với PEFT (QLoRA), trên một GPU Colab.</a:t>
            </a:r>
            <a:endParaRPr lang="en-US" sz="2025">
              <a:solidFill>
                <a:srgbClr val="1E293B"/>
              </a:solidFill>
              <a:latin typeface="Inter" panose="02000503000000020004"/>
              <a:ea typeface="Inter" panose="02000503000000020004"/>
              <a:cs typeface="Inter" panose="02000503000000020004"/>
              <a:sym typeface="Inter" panose="02000503000000020004"/>
            </a:endParaRPr>
          </a:p>
        </p:txBody>
      </p:sp>
      <p:sp>
        <p:nvSpPr>
          <p:cNvPr id="28" name="TextBox 28"/>
          <p:cNvSpPr txBox="1"/>
          <p:nvPr/>
        </p:nvSpPr>
        <p:spPr>
          <a:xfrm>
            <a:off x="800100" y="3314700"/>
            <a:ext cx="9286875"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INPUT · ảnh + câu hỏi tiếng Việt</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29" name="TextBox 29"/>
          <p:cNvSpPr txBox="1"/>
          <p:nvPr/>
        </p:nvSpPr>
        <p:spPr>
          <a:xfrm>
            <a:off x="8586788" y="3314700"/>
            <a:ext cx="4429125" cy="271462"/>
          </a:xfrm>
          <a:prstGeom prst="rect">
            <a:avLst/>
          </a:prstGeom>
        </p:spPr>
        <p:txBody>
          <a:bodyPr lIns="0" tIns="0" rIns="0" bIns="0" rtlCol="0" anchor="t">
            <a:spAutoFit/>
          </a:bodyPr>
          <a:lstStyle/>
          <a:p>
            <a:pPr algn="ctr">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MÔ HÌNH</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30" name="TextBox 30"/>
          <p:cNvSpPr txBox="1"/>
          <p:nvPr/>
        </p:nvSpPr>
        <p:spPr>
          <a:xfrm>
            <a:off x="13373100" y="3314700"/>
            <a:ext cx="4914900"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OUTPUT · câu trả lời ngắn</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31" name="TextBox 31"/>
          <p:cNvSpPr txBox="1"/>
          <p:nvPr/>
        </p:nvSpPr>
        <p:spPr>
          <a:xfrm>
            <a:off x="9179271" y="5736431"/>
            <a:ext cx="3244158" cy="400050"/>
          </a:xfrm>
          <a:prstGeom prst="rect">
            <a:avLst/>
          </a:prstGeom>
        </p:spPr>
        <p:txBody>
          <a:bodyPr lIns="0" tIns="0" rIns="0" bIns="0" rtlCol="0" anchor="t">
            <a:spAutoFit/>
          </a:bodyPr>
          <a:lstStyle/>
          <a:p>
            <a:pPr algn="ctr">
              <a:lnSpc>
                <a:spcPts val="2970"/>
              </a:lnSpc>
            </a:pPr>
            <a:r>
              <a:rPr lang="en-US" sz="2475" b="1">
                <a:solidFill>
                  <a:srgbClr val="0F2B46"/>
                </a:solidFill>
                <a:latin typeface="Inter Bold" panose="02000503000000020004"/>
                <a:ea typeface="Inter Bold" panose="02000503000000020004"/>
                <a:cs typeface="Inter Bold" panose="02000503000000020004"/>
                <a:sym typeface="Inter Bold" panose="02000503000000020004"/>
              </a:rPr>
              <a:t>Qwen2.5-VL-3B</a:t>
            </a:r>
            <a:endParaRPr lang="en-US" sz="2475"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32" name="TextBox 32"/>
          <p:cNvSpPr txBox="1"/>
          <p:nvPr/>
        </p:nvSpPr>
        <p:spPr>
          <a:xfrm>
            <a:off x="10001250" y="6250781"/>
            <a:ext cx="1600200" cy="271462"/>
          </a:xfrm>
          <a:prstGeom prst="rect">
            <a:avLst/>
          </a:prstGeom>
        </p:spPr>
        <p:txBody>
          <a:bodyPr lIns="0" tIns="0" rIns="0" bIns="0" rtlCol="0" anchor="t">
            <a:spAutoFit/>
          </a:bodyPr>
          <a:lstStyle/>
          <a:p>
            <a:pPr algn="ctr">
              <a:lnSpc>
                <a:spcPts val="2025"/>
              </a:lnSpc>
            </a:pPr>
            <a:r>
              <a:rPr lang="en-US" sz="1685">
                <a:solidFill>
                  <a:srgbClr val="334155"/>
                </a:solidFill>
                <a:latin typeface="Inter" panose="02000503000000020004"/>
                <a:ea typeface="Inter" panose="02000503000000020004"/>
                <a:cs typeface="Inter" panose="02000503000000020004"/>
                <a:sym typeface="Inter" panose="02000503000000020004"/>
              </a:rPr>
              <a:t>3 tỉ tham số</a:t>
            </a:r>
            <a:endParaRPr lang="en-US" sz="1685">
              <a:solidFill>
                <a:srgbClr val="334155"/>
              </a:solidFill>
              <a:latin typeface="Inter" panose="02000503000000020004"/>
              <a:ea typeface="Inter" panose="02000503000000020004"/>
              <a:cs typeface="Inter" panose="02000503000000020004"/>
              <a:sym typeface="Inter" panose="02000503000000020004"/>
            </a:endParaRPr>
          </a:p>
        </p:txBody>
      </p:sp>
      <p:sp>
        <p:nvSpPr>
          <p:cNvPr id="33" name="TextBox 33"/>
          <p:cNvSpPr txBox="1"/>
          <p:nvPr/>
        </p:nvSpPr>
        <p:spPr>
          <a:xfrm>
            <a:off x="8926116" y="6579394"/>
            <a:ext cx="3750469" cy="271462"/>
          </a:xfrm>
          <a:prstGeom prst="rect">
            <a:avLst/>
          </a:prstGeom>
        </p:spPr>
        <p:txBody>
          <a:bodyPr lIns="0" tIns="0" rIns="0" bIns="0" rtlCol="0" anchor="t">
            <a:spAutoFit/>
          </a:bodyPr>
          <a:lstStyle/>
          <a:p>
            <a:pPr algn="ctr">
              <a:lnSpc>
                <a:spcPts val="2025"/>
              </a:lnSpc>
            </a:pPr>
            <a:r>
              <a:rPr lang="en-US" sz="1685">
                <a:solidFill>
                  <a:srgbClr val="334155"/>
                </a:solidFill>
                <a:latin typeface="Inter" panose="02000503000000020004"/>
                <a:ea typeface="Inter" panose="02000503000000020004"/>
                <a:cs typeface="Inter" panose="02000503000000020004"/>
                <a:sym typeface="Inter" panose="02000503000000020004"/>
              </a:rPr>
              <a:t>lượng tử hoá 4-bit, đóng băng</a:t>
            </a:r>
            <a:endParaRPr lang="en-US" sz="1685">
              <a:solidFill>
                <a:srgbClr val="334155"/>
              </a:solidFill>
              <a:latin typeface="Inter" panose="02000503000000020004"/>
              <a:ea typeface="Inter" panose="02000503000000020004"/>
              <a:cs typeface="Inter" panose="02000503000000020004"/>
              <a:sym typeface="Inter" panose="02000503000000020004"/>
            </a:endParaRPr>
          </a:p>
        </p:txBody>
      </p:sp>
      <p:sp>
        <p:nvSpPr>
          <p:cNvPr id="34" name="TextBox 34"/>
          <p:cNvSpPr txBox="1"/>
          <p:nvPr/>
        </p:nvSpPr>
        <p:spPr>
          <a:xfrm>
            <a:off x="9488681" y="7079456"/>
            <a:ext cx="2625328" cy="328613"/>
          </a:xfrm>
          <a:prstGeom prst="rect">
            <a:avLst/>
          </a:prstGeom>
        </p:spPr>
        <p:txBody>
          <a:bodyPr lIns="0" tIns="0" rIns="0" bIns="0" rtlCol="0" anchor="t">
            <a:spAutoFit/>
          </a:bodyPr>
          <a:lstStyle/>
          <a:p>
            <a:pPr algn="ctr">
              <a:lnSpc>
                <a:spcPts val="2430"/>
              </a:lnSpc>
            </a:pPr>
            <a:r>
              <a:rPr lang="en-US" sz="2025" b="1">
                <a:solidFill>
                  <a:srgbClr val="B45309"/>
                </a:solidFill>
                <a:latin typeface="Inter Bold" panose="02000503000000020004"/>
                <a:ea typeface="Inter Bold" panose="02000503000000020004"/>
                <a:cs typeface="Inter Bold" panose="02000503000000020004"/>
                <a:sym typeface="Inter Bold" panose="02000503000000020004"/>
              </a:rPr>
              <a:t>+ adapter QLoRA</a:t>
            </a:r>
            <a:endParaRPr lang="en-US" sz="2025" b="1">
              <a:solidFill>
                <a:srgbClr val="B45309"/>
              </a:solidFill>
              <a:latin typeface="Inter Bold" panose="02000503000000020004"/>
              <a:ea typeface="Inter Bold" panose="02000503000000020004"/>
              <a:cs typeface="Inter Bold" panose="02000503000000020004"/>
              <a:sym typeface="Inter Bold" panose="02000503000000020004"/>
            </a:endParaRPr>
          </a:p>
        </p:txBody>
      </p:sp>
      <p:sp>
        <p:nvSpPr>
          <p:cNvPr id="35" name="TextBox 35"/>
          <p:cNvSpPr txBox="1"/>
          <p:nvPr/>
        </p:nvSpPr>
        <p:spPr>
          <a:xfrm>
            <a:off x="9256509" y="7465219"/>
            <a:ext cx="3089672" cy="271462"/>
          </a:xfrm>
          <a:prstGeom prst="rect">
            <a:avLst/>
          </a:prstGeom>
        </p:spPr>
        <p:txBody>
          <a:bodyPr lIns="0" tIns="0" rIns="0" bIns="0" rtlCol="0" anchor="t">
            <a:spAutoFit/>
          </a:bodyPr>
          <a:lstStyle/>
          <a:p>
            <a:pPr algn="ctr">
              <a:lnSpc>
                <a:spcPts val="2025"/>
              </a:lnSpc>
            </a:pPr>
            <a:r>
              <a:rPr lang="en-US" sz="1685">
                <a:solidFill>
                  <a:srgbClr val="334155"/>
                </a:solidFill>
                <a:latin typeface="Inter" panose="02000503000000020004"/>
                <a:ea typeface="Inter" panose="02000503000000020004"/>
                <a:cs typeface="Inter" panose="02000503000000020004"/>
                <a:sym typeface="Inter" panose="02000503000000020004"/>
              </a:rPr>
              <a:t>chỉ train 0,196% tham số</a:t>
            </a:r>
            <a:endParaRPr lang="en-US" sz="1685">
              <a:solidFill>
                <a:srgbClr val="334155"/>
              </a:solidFill>
              <a:latin typeface="Inter" panose="02000503000000020004"/>
              <a:ea typeface="Inter" panose="02000503000000020004"/>
              <a:cs typeface="Inter" panose="02000503000000020004"/>
              <a:sym typeface="Inter" panose="02000503000000020004"/>
            </a:endParaRPr>
          </a:p>
        </p:txBody>
      </p:sp>
      <p:sp>
        <p:nvSpPr>
          <p:cNvPr id="36" name="TextBox 36"/>
          <p:cNvSpPr txBox="1"/>
          <p:nvPr/>
        </p:nvSpPr>
        <p:spPr>
          <a:xfrm>
            <a:off x="13701712" y="4464844"/>
            <a:ext cx="4321969"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Đáp án chuẩn</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37" name="TextBox 37"/>
          <p:cNvSpPr txBox="1"/>
          <p:nvPr/>
        </p:nvSpPr>
        <p:spPr>
          <a:xfrm>
            <a:off x="13701712" y="4793456"/>
            <a:ext cx="4538062" cy="414338"/>
          </a:xfrm>
          <a:prstGeom prst="rect">
            <a:avLst/>
          </a:prstGeom>
        </p:spPr>
        <p:txBody>
          <a:bodyPr lIns="0" tIns="0" rIns="0" bIns="0" rtlCol="0" anchor="t">
            <a:spAutoFit/>
          </a:bodyPr>
          <a:lstStyle/>
          <a:p>
            <a:pPr algn="l">
              <a:lnSpc>
                <a:spcPts val="3240"/>
              </a:lnSpc>
            </a:pPr>
            <a:r>
              <a:rPr lang="en-US" sz="2700" b="1">
                <a:solidFill>
                  <a:srgbClr val="0F2B46"/>
                </a:solidFill>
                <a:latin typeface="Inter Bold" panose="02000503000000020004"/>
                <a:ea typeface="Inter Bold" panose="02000503000000020004"/>
                <a:cs typeface="Inter Bold" panose="02000503000000020004"/>
                <a:sym typeface="Inter Bold" panose="02000503000000020004"/>
              </a:rPr>
              <a:t>màu đỏ</a:t>
            </a:r>
            <a:endParaRPr lang="en-US" sz="27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38" name="TextBox 38"/>
          <p:cNvSpPr txBox="1"/>
          <p:nvPr/>
        </p:nvSpPr>
        <p:spPr>
          <a:xfrm>
            <a:off x="13701712" y="5322094"/>
            <a:ext cx="4321969" cy="242888"/>
          </a:xfrm>
          <a:prstGeom prst="rect">
            <a:avLst/>
          </a:prstGeom>
        </p:spPr>
        <p:txBody>
          <a:bodyPr lIns="0" tIns="0" rIns="0" bIns="0" rtlCol="0" anchor="t">
            <a:spAutoFit/>
          </a:bodyPr>
          <a:lstStyle/>
          <a:p>
            <a:pPr algn="l">
              <a:lnSpc>
                <a:spcPts val="1890"/>
              </a:lnSpc>
            </a:pPr>
            <a:r>
              <a:rPr lang="en-US" sz="1575">
                <a:solidFill>
                  <a:srgbClr val="475569"/>
                </a:solidFill>
                <a:latin typeface="Inter" panose="02000503000000020004"/>
                <a:ea typeface="Inter" panose="02000503000000020004"/>
                <a:cs typeface="Inter" panose="02000503000000020004"/>
                <a:sym typeface="Inter" panose="02000503000000020004"/>
              </a:rPr>
              <a:t>99,83% đáp án ≤ 3 từ</a:t>
            </a:r>
            <a:endParaRPr lang="en-US" sz="1575">
              <a:solidFill>
                <a:srgbClr val="475569"/>
              </a:solidFill>
              <a:latin typeface="Inter" panose="02000503000000020004"/>
              <a:ea typeface="Inter" panose="02000503000000020004"/>
              <a:cs typeface="Inter" panose="02000503000000020004"/>
              <a:sym typeface="Inter" panose="02000503000000020004"/>
            </a:endParaRPr>
          </a:p>
        </p:txBody>
      </p:sp>
      <p:sp>
        <p:nvSpPr>
          <p:cNvPr id="39" name="TextBox 39"/>
          <p:cNvSpPr txBox="1"/>
          <p:nvPr/>
        </p:nvSpPr>
        <p:spPr>
          <a:xfrm>
            <a:off x="13701712" y="5650706"/>
            <a:ext cx="4321969"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 chấm EM · VQA-Acc</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40" name="TextBox 40"/>
          <p:cNvSpPr txBox="1"/>
          <p:nvPr/>
        </p:nvSpPr>
        <p:spPr>
          <a:xfrm>
            <a:off x="13701712" y="7372350"/>
            <a:ext cx="4321969"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Đáp án chuẩn</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41" name="TextBox 41"/>
          <p:cNvSpPr txBox="1"/>
          <p:nvPr/>
        </p:nvSpPr>
        <p:spPr>
          <a:xfrm>
            <a:off x="13701712" y="7700962"/>
            <a:ext cx="3780472" cy="828675"/>
          </a:xfrm>
          <a:prstGeom prst="rect">
            <a:avLst/>
          </a:prstGeom>
        </p:spPr>
        <p:txBody>
          <a:bodyPr lIns="0" tIns="0" rIns="0" bIns="0" rtlCol="0" anchor="t">
            <a:spAutoFit/>
          </a:bodyPr>
          <a:lstStyle/>
          <a:p>
            <a:pPr algn="l">
              <a:lnSpc>
                <a:spcPts val="3240"/>
              </a:lnSpc>
            </a:pPr>
            <a:r>
              <a:rPr lang="en-US" sz="2700" b="1">
                <a:solidFill>
                  <a:srgbClr val="0F2B46"/>
                </a:solidFill>
                <a:latin typeface="Inter Bold" panose="02000503000000020004"/>
                <a:ea typeface="Inter Bold" panose="02000503000000020004"/>
                <a:cs typeface="Inter Bold" panose="02000503000000020004"/>
                <a:sym typeface="Inter Bold" panose="02000503000000020004"/>
              </a:rPr>
              <a:t>đại lý xổ số miền bắc</a:t>
            </a:r>
            <a:endParaRPr lang="en-US" sz="27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42" name="TextBox 42"/>
          <p:cNvSpPr txBox="1"/>
          <p:nvPr/>
        </p:nvSpPr>
        <p:spPr>
          <a:xfrm>
            <a:off x="13701712" y="8643938"/>
            <a:ext cx="4321969" cy="242888"/>
          </a:xfrm>
          <a:prstGeom prst="rect">
            <a:avLst/>
          </a:prstGeom>
        </p:spPr>
        <p:txBody>
          <a:bodyPr lIns="0" tIns="0" rIns="0" bIns="0" rtlCol="0" anchor="t">
            <a:spAutoFit/>
          </a:bodyPr>
          <a:lstStyle/>
          <a:p>
            <a:pPr algn="l">
              <a:lnSpc>
                <a:spcPts val="1890"/>
              </a:lnSpc>
            </a:pPr>
            <a:r>
              <a:rPr lang="en-US" sz="1575">
                <a:solidFill>
                  <a:srgbClr val="475569"/>
                </a:solidFill>
                <a:latin typeface="Inter" panose="02000503000000020004"/>
                <a:ea typeface="Inter" panose="02000503000000020004"/>
                <a:cs typeface="Inter" panose="02000503000000020004"/>
                <a:sym typeface="Inter" panose="02000503000000020004"/>
              </a:rPr>
              <a:t>đáp án là chữ trong ảnh (TB 4,18 từ)</a:t>
            </a:r>
            <a:endParaRPr lang="en-US" sz="1575">
              <a:solidFill>
                <a:srgbClr val="475569"/>
              </a:solidFill>
              <a:latin typeface="Inter" panose="02000503000000020004"/>
              <a:ea typeface="Inter" panose="02000503000000020004"/>
              <a:cs typeface="Inter" panose="02000503000000020004"/>
              <a:sym typeface="Inter" panose="02000503000000020004"/>
            </a:endParaRPr>
          </a:p>
        </p:txBody>
      </p:sp>
      <p:sp>
        <p:nvSpPr>
          <p:cNvPr id="43" name="TextBox 43"/>
          <p:cNvSpPr txBox="1"/>
          <p:nvPr/>
        </p:nvSpPr>
        <p:spPr>
          <a:xfrm>
            <a:off x="13701712" y="8972550"/>
            <a:ext cx="4321969" cy="271462"/>
          </a:xfrm>
          <a:prstGeom prst="rect">
            <a:avLst/>
          </a:prstGeom>
        </p:spPr>
        <p:txBody>
          <a:bodyPr lIns="0" tIns="0" rIns="0" bIns="0" rtlCol="0" anchor="t">
            <a:spAutoFit/>
          </a:bodyPr>
          <a:lstStyle/>
          <a:p>
            <a:pPr algn="l">
              <a:lnSpc>
                <a:spcPts val="2025"/>
              </a:lnSpc>
            </a:pPr>
            <a:r>
              <a:rPr lang="en-US" sz="1685" b="1">
                <a:solidFill>
                  <a:srgbClr val="1D638C"/>
                </a:solidFill>
                <a:latin typeface="Inter Bold" panose="02000503000000020004"/>
                <a:ea typeface="Inter Bold" panose="02000503000000020004"/>
                <a:cs typeface="Inter Bold" panose="02000503000000020004"/>
                <a:sym typeface="Inter Bold" panose="02000503000000020004"/>
              </a:rPr>
              <a:t>→ chấm ANLS · EM</a:t>
            </a:r>
            <a:endParaRPr lang="en-US" sz="1685" b="1">
              <a:solidFill>
                <a:srgbClr val="1D638C"/>
              </a:solidFill>
              <a:latin typeface="Inter Bold" panose="02000503000000020004"/>
              <a:ea typeface="Inter Bold" panose="02000503000000020004"/>
              <a:cs typeface="Inter Bold" panose="02000503000000020004"/>
              <a:sym typeface="Inter Bold" panose="02000503000000020004"/>
            </a:endParaRPr>
          </a:p>
        </p:txBody>
      </p:sp>
      <p:sp>
        <p:nvSpPr>
          <p:cNvPr id="44" name="TextBox 44"/>
          <p:cNvSpPr txBox="1"/>
          <p:nvPr/>
        </p:nvSpPr>
        <p:spPr>
          <a:xfrm>
            <a:off x="4672012" y="4464844"/>
            <a:ext cx="3394177" cy="328613"/>
          </a:xfrm>
          <a:prstGeom prst="rect">
            <a:avLst/>
          </a:prstGeom>
        </p:spPr>
        <p:txBody>
          <a:bodyPr lIns="0" tIns="0" rIns="0" bIns="0" rtlCol="0" anchor="t">
            <a:spAutoFit/>
          </a:bodyPr>
          <a:lstStyle/>
          <a:p>
            <a:pPr algn="l">
              <a:lnSpc>
                <a:spcPts val="2430"/>
              </a:lnSpc>
            </a:pPr>
            <a:r>
              <a:rPr lang="en-US" sz="2025" b="1">
                <a:solidFill>
                  <a:srgbClr val="0F2B46"/>
                </a:solidFill>
                <a:latin typeface="Inter Bold" panose="02000503000000020004"/>
                <a:ea typeface="Inter Bold" panose="02000503000000020004"/>
                <a:cs typeface="Inter Bold" panose="02000503000000020004"/>
                <a:sym typeface="Inter Bold" panose="02000503000000020004"/>
              </a:rPr>
              <a:t>ViVQA</a:t>
            </a:r>
            <a:endParaRPr lang="en-US" sz="2025"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45" name="TextBox 45"/>
          <p:cNvSpPr txBox="1"/>
          <p:nvPr/>
        </p:nvSpPr>
        <p:spPr>
          <a:xfrm>
            <a:off x="4672012" y="4850606"/>
            <a:ext cx="3232547"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ảnh đời thường (MS COCO)</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46" name="TextBox 46"/>
          <p:cNvSpPr txBox="1"/>
          <p:nvPr/>
        </p:nvSpPr>
        <p:spPr>
          <a:xfrm>
            <a:off x="4672012" y="5264944"/>
            <a:ext cx="3232547" cy="285750"/>
          </a:xfrm>
          <a:prstGeom prst="rect">
            <a:avLst/>
          </a:prstGeom>
        </p:spPr>
        <p:txBody>
          <a:bodyPr lIns="0" tIns="0" rIns="0" bIns="0" rtlCol="0" anchor="t">
            <a:spAutoFit/>
          </a:bodyPr>
          <a:lstStyle/>
          <a:p>
            <a:pPr algn="l">
              <a:lnSpc>
                <a:spcPts val="2160"/>
              </a:lnSpc>
            </a:pPr>
            <a:r>
              <a:rPr lang="en-US" sz="1800" b="1">
                <a:solidFill>
                  <a:srgbClr val="0F2B46"/>
                </a:solidFill>
                <a:latin typeface="Inter Bold" panose="02000503000000020004"/>
                <a:ea typeface="Inter Bold" panose="02000503000000020004"/>
                <a:cs typeface="Inter Bold" panose="02000503000000020004"/>
                <a:sym typeface="Inter Bold" panose="02000503000000020004"/>
              </a:rPr>
              <a:t>Câu hỏi:</a:t>
            </a:r>
            <a:endParaRPr lang="en-US" sz="18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47" name="TextBox 47"/>
          <p:cNvSpPr txBox="1"/>
          <p:nvPr/>
        </p:nvSpPr>
        <p:spPr>
          <a:xfrm>
            <a:off x="4672012" y="5607844"/>
            <a:ext cx="3232547" cy="285750"/>
          </a:xfrm>
          <a:prstGeom prst="rect">
            <a:avLst/>
          </a:prstGeom>
        </p:spPr>
        <p:txBody>
          <a:bodyPr lIns="0" tIns="0" rIns="0" bIns="0" rtlCol="0" anchor="t">
            <a:spAutoFit/>
          </a:bodyPr>
          <a:lstStyle/>
          <a:p>
            <a:pPr algn="l">
              <a:lnSpc>
                <a:spcPts val="2160"/>
              </a:lnSpc>
            </a:pPr>
            <a:r>
              <a:rPr lang="en-US" sz="1800">
                <a:solidFill>
                  <a:srgbClr val="1E293B"/>
                </a:solidFill>
                <a:latin typeface="Inter" panose="02000503000000020004"/>
                <a:ea typeface="Inter" panose="02000503000000020004"/>
                <a:cs typeface="Inter" panose="02000503000000020004"/>
                <a:sym typeface="Inter" panose="02000503000000020004"/>
              </a:rPr>
              <a:t>màu của xe đạp là gì?</a:t>
            </a:r>
            <a:endParaRPr lang="en-US" sz="1800">
              <a:solidFill>
                <a:srgbClr val="1E293B"/>
              </a:solidFill>
              <a:latin typeface="Inter" panose="02000503000000020004"/>
              <a:ea typeface="Inter" panose="02000503000000020004"/>
              <a:cs typeface="Inter" panose="02000503000000020004"/>
              <a:sym typeface="Inter" panose="02000503000000020004"/>
            </a:endParaRPr>
          </a:p>
        </p:txBody>
      </p:sp>
      <p:sp>
        <p:nvSpPr>
          <p:cNvPr id="48" name="TextBox 48"/>
          <p:cNvSpPr txBox="1"/>
          <p:nvPr/>
        </p:nvSpPr>
        <p:spPr>
          <a:xfrm>
            <a:off x="4672012" y="7436644"/>
            <a:ext cx="4388044" cy="328613"/>
          </a:xfrm>
          <a:prstGeom prst="rect">
            <a:avLst/>
          </a:prstGeom>
        </p:spPr>
        <p:txBody>
          <a:bodyPr lIns="0" tIns="0" rIns="0" bIns="0" rtlCol="0" anchor="t">
            <a:spAutoFit/>
          </a:bodyPr>
          <a:lstStyle/>
          <a:p>
            <a:pPr algn="l">
              <a:lnSpc>
                <a:spcPts val="2430"/>
              </a:lnSpc>
            </a:pPr>
            <a:r>
              <a:rPr lang="en-US" sz="2025" b="1">
                <a:solidFill>
                  <a:srgbClr val="0F2B46"/>
                </a:solidFill>
                <a:latin typeface="Inter Bold" panose="02000503000000020004"/>
                <a:ea typeface="Inter Bold" panose="02000503000000020004"/>
                <a:cs typeface="Inter Bold" panose="02000503000000020004"/>
                <a:sym typeface="Inter Bold" panose="02000503000000020004"/>
              </a:rPr>
              <a:t>ViTextVQA</a:t>
            </a:r>
            <a:endParaRPr lang="en-US" sz="2025"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49" name="TextBox 49"/>
          <p:cNvSpPr txBox="1"/>
          <p:nvPr/>
        </p:nvSpPr>
        <p:spPr>
          <a:xfrm>
            <a:off x="4672012" y="7822406"/>
            <a:ext cx="4179094" cy="242888"/>
          </a:xfrm>
          <a:prstGeom prst="rect">
            <a:avLst/>
          </a:prstGeom>
        </p:spPr>
        <p:txBody>
          <a:bodyPr lIns="0" tIns="0" rIns="0" bIns="0" rtlCol="0" anchor="t">
            <a:spAutoFit/>
          </a:bodyPr>
          <a:lstStyle/>
          <a:p>
            <a:pPr algn="l">
              <a:lnSpc>
                <a:spcPts val="1890"/>
              </a:lnSpc>
            </a:pPr>
            <a:r>
              <a:rPr lang="en-US" sz="1575">
                <a:solidFill>
                  <a:srgbClr val="64748B"/>
                </a:solidFill>
                <a:latin typeface="Inter" panose="02000503000000020004"/>
                <a:ea typeface="Inter" panose="02000503000000020004"/>
                <a:cs typeface="Inter" panose="02000503000000020004"/>
                <a:sym typeface="Inter" panose="02000503000000020004"/>
              </a:rPr>
              <a:t>ảnh có chữ tiếng Việt</a:t>
            </a:r>
            <a:endParaRPr lang="en-US" sz="1575">
              <a:solidFill>
                <a:srgbClr val="64748B"/>
              </a:solidFill>
              <a:latin typeface="Inter" panose="02000503000000020004"/>
              <a:ea typeface="Inter" panose="02000503000000020004"/>
              <a:cs typeface="Inter" panose="02000503000000020004"/>
              <a:sym typeface="Inter" panose="02000503000000020004"/>
            </a:endParaRPr>
          </a:p>
        </p:txBody>
      </p:sp>
      <p:sp>
        <p:nvSpPr>
          <p:cNvPr id="50" name="TextBox 50"/>
          <p:cNvSpPr txBox="1"/>
          <p:nvPr/>
        </p:nvSpPr>
        <p:spPr>
          <a:xfrm>
            <a:off x="4672012" y="8236744"/>
            <a:ext cx="4179094" cy="285750"/>
          </a:xfrm>
          <a:prstGeom prst="rect">
            <a:avLst/>
          </a:prstGeom>
        </p:spPr>
        <p:txBody>
          <a:bodyPr lIns="0" tIns="0" rIns="0" bIns="0" rtlCol="0" anchor="t">
            <a:spAutoFit/>
          </a:bodyPr>
          <a:lstStyle/>
          <a:p>
            <a:pPr algn="l">
              <a:lnSpc>
                <a:spcPts val="2160"/>
              </a:lnSpc>
            </a:pPr>
            <a:r>
              <a:rPr lang="en-US" sz="1800" b="1">
                <a:solidFill>
                  <a:srgbClr val="0F2B46"/>
                </a:solidFill>
                <a:latin typeface="Inter Bold" panose="02000503000000020004"/>
                <a:ea typeface="Inter Bold" panose="02000503000000020004"/>
                <a:cs typeface="Inter Bold" panose="02000503000000020004"/>
                <a:sym typeface="Inter Bold" panose="02000503000000020004"/>
              </a:rPr>
              <a:t>Câu hỏi:</a:t>
            </a:r>
            <a:endParaRPr lang="en-US" sz="1800" b="1">
              <a:solidFill>
                <a:srgbClr val="0F2B46"/>
              </a:solidFill>
              <a:latin typeface="Inter Bold" panose="02000503000000020004"/>
              <a:ea typeface="Inter Bold" panose="02000503000000020004"/>
              <a:cs typeface="Inter Bold" panose="02000503000000020004"/>
              <a:sym typeface="Inter Bold" panose="02000503000000020004"/>
            </a:endParaRPr>
          </a:p>
        </p:txBody>
      </p:sp>
      <p:sp>
        <p:nvSpPr>
          <p:cNvPr id="51" name="TextBox 51"/>
          <p:cNvSpPr txBox="1"/>
          <p:nvPr/>
        </p:nvSpPr>
        <p:spPr>
          <a:xfrm>
            <a:off x="4672012" y="8579644"/>
            <a:ext cx="3486150" cy="571500"/>
          </a:xfrm>
          <a:prstGeom prst="rect">
            <a:avLst/>
          </a:prstGeom>
        </p:spPr>
        <p:txBody>
          <a:bodyPr lIns="0" tIns="0" rIns="0" bIns="0" rtlCol="0" anchor="t">
            <a:spAutoFit/>
          </a:bodyPr>
          <a:lstStyle/>
          <a:p>
            <a:pPr algn="l">
              <a:lnSpc>
                <a:spcPts val="2160"/>
              </a:lnSpc>
            </a:pPr>
            <a:r>
              <a:rPr lang="en-US" sz="1800">
                <a:solidFill>
                  <a:srgbClr val="1E293B"/>
                </a:solidFill>
                <a:latin typeface="Inter" panose="02000503000000020004"/>
                <a:ea typeface="Inter" panose="02000503000000020004"/>
                <a:cs typeface="Inter" panose="02000503000000020004"/>
                <a:sym typeface="Inter" panose="02000503000000020004"/>
              </a:rPr>
              <a:t>cửa hàng có biển màu vàng là nơi nào?</a:t>
            </a:r>
            <a:endParaRPr lang="en-US" sz="1800">
              <a:solidFill>
                <a:srgbClr val="1E293B"/>
              </a:solidFill>
              <a:latin typeface="Inter" panose="02000503000000020004"/>
              <a:ea typeface="Inter" panose="02000503000000020004"/>
              <a:cs typeface="Inter" panose="02000503000000020004"/>
              <a:sym typeface="Inter" panose="02000503000000020004"/>
            </a:endParaRPr>
          </a:p>
        </p:txBody>
      </p:sp>
      <p:grpSp>
        <p:nvGrpSpPr>
          <p:cNvPr id="52" name="Group 52"/>
          <p:cNvGrpSpPr/>
          <p:nvPr/>
        </p:nvGrpSpPr>
        <p:grpSpPr>
          <a:xfrm rot="0">
            <a:off x="15458732" y="0"/>
            <a:ext cx="2829306" cy="1184338"/>
            <a:chOff x="0" y="0"/>
            <a:chExt cx="3772408" cy="1579118"/>
          </a:xfrm>
        </p:grpSpPr>
        <p:sp>
          <p:nvSpPr>
            <p:cNvPr id="53" name="Freeform 53"/>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1"/>
              <a:stretch>
                <a:fillRect/>
              </a:stretch>
            </a:blipFill>
          </p:spPr>
          <p:txBody>
            <a:bodyPr/>
            <a:p/>
          </p:txBody>
        </p:sp>
      </p:grpSp>
      <p:grpSp>
        <p:nvGrpSpPr>
          <p:cNvPr id="54" name="Group 54"/>
          <p:cNvGrpSpPr/>
          <p:nvPr/>
        </p:nvGrpSpPr>
        <p:grpSpPr>
          <a:xfrm rot="0">
            <a:off x="822960" y="9655969"/>
            <a:ext cx="13716000" cy="360321"/>
            <a:chOff x="0" y="0"/>
            <a:chExt cx="18288000" cy="480428"/>
          </a:xfrm>
        </p:grpSpPr>
        <p:sp>
          <p:nvSpPr>
            <p:cNvPr id="55" name="Freeform 55"/>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12">
                <a:alphaModFix amt="0"/>
              </a:blip>
              <a:stretch>
                <a:fillRect t="-691184" b="-691181"/>
              </a:stretch>
            </a:blipFill>
          </p:spPr>
          <p:txBody>
            <a:bodyPr/>
            <a:p/>
          </p:txBody>
        </p:sp>
      </p:grpSp>
      <p:grpSp>
        <p:nvGrpSpPr>
          <p:cNvPr id="56" name="Group 56"/>
          <p:cNvGrpSpPr/>
          <p:nvPr/>
        </p:nvGrpSpPr>
        <p:grpSpPr>
          <a:xfrm rot="0">
            <a:off x="822960" y="9627394"/>
            <a:ext cx="13716000" cy="388896"/>
            <a:chOff x="0" y="0"/>
            <a:chExt cx="18288000" cy="518528"/>
          </a:xfrm>
        </p:grpSpPr>
        <p:sp>
          <p:nvSpPr>
            <p:cNvPr id="57" name="Freeform 57"/>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13">
                <a:alphaModFix amt="0"/>
              </a:blip>
              <a:stretch>
                <a:fillRect t="-637220" b="-637221"/>
              </a:stretch>
            </a:blipFill>
          </p:spPr>
          <p:txBody>
            <a:bodyPr/>
            <a:p/>
          </p:txBody>
        </p:sp>
        <p:sp>
          <p:nvSpPr>
            <p:cNvPr id="58" name="TextBox 58"/>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sp>
        <p:nvSpPr>
          <p:cNvPr id="6" name="TextBox 6"/>
          <p:cNvSpPr txBox="1"/>
          <p:nvPr/>
        </p:nvSpPr>
        <p:spPr>
          <a:xfrm>
            <a:off x="822960" y="324612"/>
            <a:ext cx="16641623" cy="525780"/>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02 · TIẾNG VIỆT KHÁC Ở ĐÂU</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7" name="TextBox 7"/>
          <p:cNvSpPr txBox="1"/>
          <p:nvPr/>
        </p:nvSpPr>
        <p:spPr>
          <a:xfrm>
            <a:off x="822960" y="812292"/>
            <a:ext cx="16641623" cy="998220"/>
          </a:xfrm>
          <a:prstGeom prst="rect">
            <a:avLst/>
          </a:prstGeom>
        </p:spPr>
        <p:txBody>
          <a:bodyPr lIns="0" tIns="0" rIns="0" bIns="0" rtlCol="0" anchor="t">
            <a:spAutoFit/>
          </a:bodyPr>
          <a:lstStyle/>
          <a:p>
            <a:pPr algn="l">
              <a:lnSpc>
                <a:spcPts val="5755"/>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vấn đề riêng của tiếng Việt (V1–V4)</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8" name="Group 8"/>
          <p:cNvGrpSpPr/>
          <p:nvPr/>
        </p:nvGrpSpPr>
        <p:grpSpPr>
          <a:xfrm rot="0">
            <a:off x="804672" y="2039112"/>
            <a:ext cx="3886200" cy="7360920"/>
            <a:chOff x="0" y="0"/>
            <a:chExt cx="5181600" cy="9814560"/>
          </a:xfrm>
        </p:grpSpPr>
        <p:sp>
          <p:nvSpPr>
            <p:cNvPr id="9" name="Freeform 9"/>
            <p:cNvSpPr/>
            <p:nvPr/>
          </p:nvSpPr>
          <p:spPr>
            <a:xfrm>
              <a:off x="0" y="0"/>
              <a:ext cx="5181600" cy="9814560"/>
            </a:xfrm>
            <a:custGeom>
              <a:avLst/>
              <a:gdLst/>
              <a:ahLst/>
              <a:cxnLst/>
              <a:rect l="l" t="t" r="r" b="b"/>
              <a:pathLst>
                <a:path w="5181600" h="981456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BF0DA"/>
            </a:solidFill>
          </p:spPr>
          <p:txBody>
            <a:bodyPr/>
            <a:p/>
          </p:txBody>
        </p:sp>
      </p:grpSp>
      <p:sp>
        <p:nvSpPr>
          <p:cNvPr id="10" name="TextBox 10"/>
          <p:cNvSpPr txBox="1"/>
          <p:nvPr/>
        </p:nvSpPr>
        <p:spPr>
          <a:xfrm>
            <a:off x="1165860" y="2186940"/>
            <a:ext cx="1371600" cy="762000"/>
          </a:xfrm>
          <a:prstGeom prst="rect">
            <a:avLst/>
          </a:prstGeom>
        </p:spPr>
        <p:txBody>
          <a:bodyPr lIns="0" tIns="0" rIns="0" bIns="0" rtlCol="0" anchor="t">
            <a:spAutoFit/>
          </a:bodyPr>
          <a:lstStyle/>
          <a:p>
            <a:pPr algn="l">
              <a:lnSpc>
                <a:spcPts val="4320"/>
              </a:lnSpc>
            </a:pPr>
            <a:r>
              <a:rPr lang="en-US" sz="3600" b="1">
                <a:solidFill>
                  <a:srgbClr val="E8A33D"/>
                </a:solidFill>
                <a:latin typeface="Cambria Bold" panose="02040803050406030204"/>
                <a:ea typeface="Cambria Bold" panose="02040803050406030204"/>
                <a:cs typeface="Cambria Bold" panose="02040803050406030204"/>
                <a:sym typeface="Cambria Bold" panose="02040803050406030204"/>
              </a:rPr>
              <a:t>V1</a:t>
            </a:r>
            <a:endParaRPr lang="en-US" sz="36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11" name="TextBox 11"/>
          <p:cNvSpPr txBox="1"/>
          <p:nvPr/>
        </p:nvSpPr>
        <p:spPr>
          <a:xfrm>
            <a:off x="1165860" y="2758440"/>
            <a:ext cx="3165996" cy="1082040"/>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Đọc chữ có dấu trong ảnh</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2" name="Group 12"/>
          <p:cNvGrpSpPr/>
          <p:nvPr/>
        </p:nvGrpSpPr>
        <p:grpSpPr>
          <a:xfrm rot="0">
            <a:off x="5065776" y="2039112"/>
            <a:ext cx="3886200" cy="7360920"/>
            <a:chOff x="0" y="0"/>
            <a:chExt cx="5181600" cy="9814560"/>
          </a:xfrm>
        </p:grpSpPr>
        <p:sp>
          <p:nvSpPr>
            <p:cNvPr id="13" name="Freeform 13"/>
            <p:cNvSpPr/>
            <p:nvPr/>
          </p:nvSpPr>
          <p:spPr>
            <a:xfrm>
              <a:off x="0" y="0"/>
              <a:ext cx="5181600" cy="9814560"/>
            </a:xfrm>
            <a:custGeom>
              <a:avLst/>
              <a:gdLst/>
              <a:ahLst/>
              <a:cxnLst/>
              <a:rect l="l" t="t" r="r" b="b"/>
              <a:pathLst>
                <a:path w="5181600" h="981456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id="14" name="TextBox 14"/>
          <p:cNvSpPr txBox="1"/>
          <p:nvPr/>
        </p:nvSpPr>
        <p:spPr>
          <a:xfrm>
            <a:off x="5429136" y="2186940"/>
            <a:ext cx="1371600" cy="762000"/>
          </a:xfrm>
          <a:prstGeom prst="rect">
            <a:avLst/>
          </a:prstGeom>
        </p:spPr>
        <p:txBody>
          <a:bodyPr lIns="0" tIns="0" rIns="0" bIns="0" rtlCol="0" anchor="t">
            <a:spAutoFit/>
          </a:bodyPr>
          <a:lstStyle/>
          <a:p>
            <a:pPr algn="l">
              <a:lnSpc>
                <a:spcPts val="4320"/>
              </a:lnSpc>
            </a:pPr>
            <a:r>
              <a:rPr lang="en-US" sz="3600" b="1">
                <a:solidFill>
                  <a:srgbClr val="1C7293"/>
                </a:solidFill>
                <a:latin typeface="Cambria Bold" panose="02040803050406030204"/>
                <a:ea typeface="Cambria Bold" panose="02040803050406030204"/>
                <a:cs typeface="Cambria Bold" panose="02040803050406030204"/>
                <a:sym typeface="Cambria Bold" panose="02040803050406030204"/>
              </a:rPr>
              <a:t>V2</a:t>
            </a:r>
            <a:endParaRPr lang="en-US" sz="3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5" name="TextBox 15"/>
          <p:cNvSpPr txBox="1"/>
          <p:nvPr/>
        </p:nvSpPr>
        <p:spPr>
          <a:xfrm>
            <a:off x="5429136" y="2758440"/>
            <a:ext cx="3165996" cy="1082040"/>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Sai ngôn ngữ hoặc sai định dạng</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6" name="Group 16"/>
          <p:cNvGrpSpPr/>
          <p:nvPr/>
        </p:nvGrpSpPr>
        <p:grpSpPr>
          <a:xfrm rot="0">
            <a:off x="9336024" y="2039112"/>
            <a:ext cx="3886200" cy="7360920"/>
            <a:chOff x="0" y="0"/>
            <a:chExt cx="5181600" cy="9814560"/>
          </a:xfrm>
        </p:grpSpPr>
        <p:sp>
          <p:nvSpPr>
            <p:cNvPr id="17" name="Freeform 17"/>
            <p:cNvSpPr/>
            <p:nvPr/>
          </p:nvSpPr>
          <p:spPr>
            <a:xfrm>
              <a:off x="0" y="0"/>
              <a:ext cx="5181600" cy="9814560"/>
            </a:xfrm>
            <a:custGeom>
              <a:avLst/>
              <a:gdLst/>
              <a:ahLst/>
              <a:cxnLst/>
              <a:rect l="l" t="t" r="r" b="b"/>
              <a:pathLst>
                <a:path w="5181600" h="981456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id="18" name="TextBox 18"/>
          <p:cNvSpPr txBox="1"/>
          <p:nvPr/>
        </p:nvSpPr>
        <p:spPr>
          <a:xfrm>
            <a:off x="9692411" y="2186940"/>
            <a:ext cx="1371600" cy="762000"/>
          </a:xfrm>
          <a:prstGeom prst="rect">
            <a:avLst/>
          </a:prstGeom>
        </p:spPr>
        <p:txBody>
          <a:bodyPr lIns="0" tIns="0" rIns="0" bIns="0" rtlCol="0" anchor="t">
            <a:spAutoFit/>
          </a:bodyPr>
          <a:lstStyle/>
          <a:p>
            <a:pPr algn="l">
              <a:lnSpc>
                <a:spcPts val="4320"/>
              </a:lnSpc>
            </a:pPr>
            <a:r>
              <a:rPr lang="en-US" sz="3600" b="1">
                <a:solidFill>
                  <a:srgbClr val="1C7293"/>
                </a:solidFill>
                <a:latin typeface="Cambria Bold" panose="02040803050406030204"/>
                <a:ea typeface="Cambria Bold" panose="02040803050406030204"/>
                <a:cs typeface="Cambria Bold" panose="02040803050406030204"/>
                <a:sym typeface="Cambria Bold" panose="02040803050406030204"/>
              </a:rPr>
              <a:t>V3</a:t>
            </a:r>
            <a:endParaRPr lang="en-US" sz="3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9" name="TextBox 19"/>
          <p:cNvSpPr txBox="1"/>
          <p:nvPr/>
        </p:nvSpPr>
        <p:spPr>
          <a:xfrm>
            <a:off x="9692411" y="2758440"/>
            <a:ext cx="3165996" cy="1082040"/>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Thứ tự chữ và ranh giới từ</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20" name="Group 20"/>
          <p:cNvGrpSpPr/>
          <p:nvPr/>
        </p:nvGrpSpPr>
        <p:grpSpPr>
          <a:xfrm rot="0">
            <a:off x="13597128" y="2039112"/>
            <a:ext cx="3886200" cy="7360920"/>
            <a:chOff x="0" y="0"/>
            <a:chExt cx="5181600" cy="9814560"/>
          </a:xfrm>
        </p:grpSpPr>
        <p:sp>
          <p:nvSpPr>
            <p:cNvPr id="21" name="Freeform 21"/>
            <p:cNvSpPr/>
            <p:nvPr/>
          </p:nvSpPr>
          <p:spPr>
            <a:xfrm>
              <a:off x="0" y="0"/>
              <a:ext cx="5181600" cy="9814560"/>
            </a:xfrm>
            <a:custGeom>
              <a:avLst/>
              <a:gdLst/>
              <a:ahLst/>
              <a:cxnLst/>
              <a:rect l="l" t="t" r="r" b="b"/>
              <a:pathLst>
                <a:path w="5181600" h="981456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id="22" name="TextBox 22"/>
          <p:cNvSpPr txBox="1"/>
          <p:nvPr/>
        </p:nvSpPr>
        <p:spPr>
          <a:xfrm>
            <a:off x="13955687" y="2186940"/>
            <a:ext cx="1371600" cy="762000"/>
          </a:xfrm>
          <a:prstGeom prst="rect">
            <a:avLst/>
          </a:prstGeom>
        </p:spPr>
        <p:txBody>
          <a:bodyPr lIns="0" tIns="0" rIns="0" bIns="0" rtlCol="0" anchor="t">
            <a:spAutoFit/>
          </a:bodyPr>
          <a:lstStyle/>
          <a:p>
            <a:pPr algn="l">
              <a:lnSpc>
                <a:spcPts val="4320"/>
              </a:lnSpc>
            </a:pPr>
            <a:r>
              <a:rPr lang="en-US" sz="3600" b="1">
                <a:solidFill>
                  <a:srgbClr val="1C7293"/>
                </a:solidFill>
                <a:latin typeface="Cambria Bold" panose="02040803050406030204"/>
                <a:ea typeface="Cambria Bold" panose="02040803050406030204"/>
                <a:cs typeface="Cambria Bold" panose="02040803050406030204"/>
                <a:sym typeface="Cambria Bold" panose="02040803050406030204"/>
              </a:rPr>
              <a:t>V4</a:t>
            </a:r>
            <a:endParaRPr lang="en-US" sz="3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23" name="TextBox 23"/>
          <p:cNvSpPr txBox="1"/>
          <p:nvPr/>
        </p:nvSpPr>
        <p:spPr>
          <a:xfrm>
            <a:off x="13955687" y="2758440"/>
            <a:ext cx="3165996" cy="1082040"/>
          </a:xfrm>
          <a:prstGeom prst="rect">
            <a:avLst/>
          </a:prstGeom>
        </p:spPr>
        <p:txBody>
          <a:bodyPr lIns="0" tIns="0" rIns="0" bIns="0" rtlCol="0" anchor="t">
            <a:spAutoFit/>
          </a:bodyP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Hallucination</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24" name="Group 24"/>
          <p:cNvGrpSpPr/>
          <p:nvPr/>
        </p:nvGrpSpPr>
        <p:grpSpPr>
          <a:xfrm rot="0">
            <a:off x="15458732" y="0"/>
            <a:ext cx="2829306" cy="1184338"/>
            <a:chOff x="0" y="0"/>
            <a:chExt cx="3772408" cy="1579118"/>
          </a:xfrm>
        </p:grpSpPr>
        <p:sp>
          <p:nvSpPr>
            <p:cNvPr id="25" name="Freeform 25"/>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3"/>
              <a:stretch>
                <a:fillRect/>
              </a:stretch>
            </a:blipFill>
          </p:spPr>
          <p:txBody>
            <a:bodyPr/>
            <a:p/>
          </p:txBody>
        </p:sp>
      </p:grpSp>
      <p:grpSp>
        <p:nvGrpSpPr>
          <p:cNvPr id="26" name="Group 26"/>
          <p:cNvGrpSpPr/>
          <p:nvPr/>
        </p:nvGrpSpPr>
        <p:grpSpPr>
          <a:xfrm rot="0">
            <a:off x="1005840" y="3794760"/>
            <a:ext cx="3483864" cy="2276094"/>
            <a:chOff x="0" y="0"/>
            <a:chExt cx="4645152" cy="3034792"/>
          </a:xfrm>
        </p:grpSpPr>
        <p:sp>
          <p:nvSpPr>
            <p:cNvPr id="27" name="Freeform 27" descr="V1.png"/>
            <p:cNvSpPr/>
            <p:nvPr/>
          </p:nvSpPr>
          <p:spPr>
            <a:xfrm>
              <a:off x="0" y="0"/>
              <a:ext cx="4645152" cy="3034792"/>
            </a:xfrm>
            <a:custGeom>
              <a:avLst/>
              <a:gdLst/>
              <a:ahLst/>
              <a:cxnLst/>
              <a:rect l="l" t="t" r="r" b="b"/>
              <a:pathLst>
                <a:path w="4645152" h="3034792">
                  <a:moveTo>
                    <a:pt x="0" y="0"/>
                  </a:moveTo>
                  <a:lnTo>
                    <a:pt x="4645152" y="0"/>
                  </a:lnTo>
                  <a:lnTo>
                    <a:pt x="4645152" y="3034792"/>
                  </a:lnTo>
                  <a:lnTo>
                    <a:pt x="0" y="3034792"/>
                  </a:lnTo>
                  <a:lnTo>
                    <a:pt x="0" y="0"/>
                  </a:lnTo>
                  <a:close/>
                </a:path>
              </a:pathLst>
            </a:custGeom>
            <a:blipFill>
              <a:blip r:embed="rId4"/>
              <a:stretch>
                <a:fillRect/>
              </a:stretch>
            </a:blipFill>
          </p:spPr>
          <p:txBody>
            <a:bodyPr/>
            <a:p/>
          </p:txBody>
        </p:sp>
      </p:grpSp>
      <p:sp>
        <p:nvSpPr>
          <p:cNvPr id="28" name="TextBox 28"/>
          <p:cNvSpPr txBox="1"/>
          <p:nvPr/>
        </p:nvSpPr>
        <p:spPr>
          <a:xfrm>
            <a:off x="1133856" y="6139463"/>
            <a:ext cx="3282696" cy="1303020"/>
          </a:xfrm>
          <a:prstGeom prst="rect">
            <a:avLst/>
          </a:prstGeom>
        </p:spPr>
        <p:txBody>
          <a:bodyPr lIns="0" tIns="0" rIns="0" bIns="0" rtlCol="0" anchor="t">
            <a:spAutoFit/>
          </a:bodyPr>
          <a:lstStyle/>
          <a:p>
            <a:pPr algn="l">
              <a:lnSpc>
                <a:spcPts val="233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Dấu thanh là nét rất nhỏ; đọc sai một dấu là đổi nghĩa.</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9" name="Freeform 29"/>
          <p:cNvSpPr/>
          <p:nvPr/>
        </p:nvSpPr>
        <p:spPr>
          <a:xfrm>
            <a:off x="991953" y="7529913"/>
            <a:ext cx="3511582" cy="1692021"/>
          </a:xfrm>
          <a:custGeom>
            <a:avLst/>
            <a:gdLst/>
            <a:ahLst/>
            <a:cxnLst/>
            <a:rect l="l" t="t" r="r" b="b"/>
            <a:pathLst>
              <a:path w="3511582" h="1692021">
                <a:moveTo>
                  <a:pt x="0" y="0"/>
                </a:moveTo>
                <a:lnTo>
                  <a:pt x="3511581" y="0"/>
                </a:lnTo>
                <a:lnTo>
                  <a:pt x="3511581" y="1692021"/>
                </a:lnTo>
                <a:lnTo>
                  <a:pt x="0" y="169202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p/>
        </p:txBody>
      </p:sp>
      <p:sp>
        <p:nvSpPr>
          <p:cNvPr id="30" name="TextBox 30"/>
          <p:cNvSpPr txBox="1"/>
          <p:nvPr/>
        </p:nvSpPr>
        <p:spPr>
          <a:xfrm>
            <a:off x="1188720" y="7567422"/>
            <a:ext cx="3118104" cy="1558290"/>
          </a:xfrm>
          <a:prstGeom prst="rect">
            <a:avLst/>
          </a:prstGeom>
        </p:spPr>
        <p:txBody>
          <a:bodyPr lIns="0" tIns="0" rIns="0" bIns="0" rtlCol="0" anchor="t">
            <a:spAutoFit/>
          </a:bodyPr>
          <a:lstStyle/>
          <a:p>
            <a:pPr algn="l">
              <a:lnSpc>
                <a:spcPts val="1880"/>
              </a:lnSpc>
            </a:pPr>
            <a:r>
              <a:rPr lang="en-US" sz="1450" b="1">
                <a:solidFill>
                  <a:srgbClr val="B86E0E"/>
                </a:solidFill>
                <a:latin typeface="Calibri (MS) Bold" panose="020F0702030404030204"/>
                <a:ea typeface="Calibri (MS) Bold" panose="020F0702030404030204"/>
                <a:cs typeface="Calibri (MS) Bold" panose="020F0702030404030204"/>
                <a:sym typeface="Calibri (MS) Bold" panose="020F0702030404030204"/>
              </a:rPr>
              <a:t>Ví dụ</a:t>
            </a:r>
            <a:endParaRPr lang="en-US" sz="1450" b="1">
              <a:solidFill>
                <a:srgbClr val="B86E0E"/>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200"/>
              </a:lnSpc>
            </a:pPr>
            <a:r>
              <a:rPr lang="en-US" sz="1700">
                <a:solidFill>
                  <a:srgbClr val="243044"/>
                </a:solidFill>
                <a:latin typeface="Calibri (MS)" panose="020F0502020204030204"/>
                <a:ea typeface="Calibri (MS)" panose="020F0502020204030204"/>
                <a:cs typeface="Calibri (MS)" panose="020F0502020204030204"/>
                <a:sym typeface="Calibri (MS)" panose="020F0502020204030204"/>
              </a:rPr>
              <a:t>Biển “BÁNH MÌ” đọc thành “banh mi” → sai đáp án.</a:t>
            </a:r>
            <a:endParaRPr lang="en-US" sz="17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1" name="Group 31"/>
          <p:cNvGrpSpPr/>
          <p:nvPr/>
        </p:nvGrpSpPr>
        <p:grpSpPr>
          <a:xfrm rot="0">
            <a:off x="5266944" y="3794760"/>
            <a:ext cx="3483864" cy="2276094"/>
            <a:chOff x="0" y="0"/>
            <a:chExt cx="4645152" cy="3034792"/>
          </a:xfrm>
        </p:grpSpPr>
        <p:sp>
          <p:nvSpPr>
            <p:cNvPr id="32" name="Freeform 32" descr="V2.png"/>
            <p:cNvSpPr/>
            <p:nvPr/>
          </p:nvSpPr>
          <p:spPr>
            <a:xfrm>
              <a:off x="0" y="0"/>
              <a:ext cx="4645152" cy="3034792"/>
            </a:xfrm>
            <a:custGeom>
              <a:avLst/>
              <a:gdLst/>
              <a:ahLst/>
              <a:cxnLst/>
              <a:rect l="l" t="t" r="r" b="b"/>
              <a:pathLst>
                <a:path w="4645152" h="3034792">
                  <a:moveTo>
                    <a:pt x="0" y="0"/>
                  </a:moveTo>
                  <a:lnTo>
                    <a:pt x="4645152" y="0"/>
                  </a:lnTo>
                  <a:lnTo>
                    <a:pt x="4645152" y="3034792"/>
                  </a:lnTo>
                  <a:lnTo>
                    <a:pt x="0" y="3034792"/>
                  </a:lnTo>
                  <a:lnTo>
                    <a:pt x="0" y="0"/>
                  </a:lnTo>
                  <a:close/>
                </a:path>
              </a:pathLst>
            </a:custGeom>
            <a:blipFill>
              <a:blip r:embed="rId7"/>
              <a:stretch>
                <a:fillRect/>
              </a:stretch>
            </a:blipFill>
          </p:spPr>
          <p:txBody>
            <a:bodyPr/>
            <a:p/>
          </p:txBody>
        </p:sp>
      </p:grpSp>
      <p:sp>
        <p:nvSpPr>
          <p:cNvPr id="33" name="TextBox 33"/>
          <p:cNvSpPr txBox="1"/>
          <p:nvPr/>
        </p:nvSpPr>
        <p:spPr>
          <a:xfrm>
            <a:off x="5394960" y="6139463"/>
            <a:ext cx="3282696" cy="1303020"/>
          </a:xfrm>
          <a:prstGeom prst="rect">
            <a:avLst/>
          </a:prstGeom>
        </p:spPr>
        <p:txBody>
          <a:bodyPr lIns="0" tIns="0" rIns="0" bIns="0" rtlCol="0" anchor="t">
            <a:spAutoFit/>
          </a:bodyPr>
          <a:lstStyle/>
          <a:p>
            <a:pPr algn="l">
              <a:lnSpc>
                <a:spcPts val="233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VLM học chủ yếu tiếng Anh/Trung nên hay trả lời tiếng Anh hoặc dài dòng.</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4" name="Freeform 34"/>
          <p:cNvSpPr/>
          <p:nvPr/>
        </p:nvSpPr>
        <p:spPr>
          <a:xfrm>
            <a:off x="5253057" y="7529913"/>
            <a:ext cx="3511582" cy="1692021"/>
          </a:xfrm>
          <a:custGeom>
            <a:avLst/>
            <a:gdLst/>
            <a:ahLst/>
            <a:cxnLst/>
            <a:rect l="l" t="t" r="r" b="b"/>
            <a:pathLst>
              <a:path w="3511582" h="1692021">
                <a:moveTo>
                  <a:pt x="0" y="0"/>
                </a:moveTo>
                <a:lnTo>
                  <a:pt x="3511581" y="0"/>
                </a:lnTo>
                <a:lnTo>
                  <a:pt x="3511581" y="1692021"/>
                </a:lnTo>
                <a:lnTo>
                  <a:pt x="0" y="169202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p/>
        </p:txBody>
      </p:sp>
      <p:sp>
        <p:nvSpPr>
          <p:cNvPr id="35" name="TextBox 35"/>
          <p:cNvSpPr txBox="1"/>
          <p:nvPr/>
        </p:nvSpPr>
        <p:spPr>
          <a:xfrm>
            <a:off x="5449824" y="7567422"/>
            <a:ext cx="3118104" cy="1558290"/>
          </a:xfrm>
          <a:prstGeom prst="rect">
            <a:avLst/>
          </a:prstGeom>
        </p:spPr>
        <p:txBody>
          <a:bodyPr lIns="0" tIns="0" rIns="0" bIns="0" rtlCol="0" anchor="t">
            <a:spAutoFit/>
          </a:bodyPr>
          <a:lstStyle/>
          <a:p>
            <a:pPr algn="l">
              <a:lnSpc>
                <a:spcPts val="1880"/>
              </a:lnSpc>
            </a:pPr>
            <a:r>
              <a:rPr lang="en-US" sz="1450" b="1">
                <a:solidFill>
                  <a:srgbClr val="1C7293"/>
                </a:solidFill>
                <a:latin typeface="Calibri (MS) Bold" panose="020F0702030404030204"/>
                <a:ea typeface="Calibri (MS) Bold" panose="020F0702030404030204"/>
                <a:cs typeface="Calibri (MS) Bold" panose="020F0702030404030204"/>
                <a:sym typeface="Calibri (MS) Bold" panose="020F0702030404030204"/>
              </a:rPr>
              <a:t>Ví dụ minh hoạ</a:t>
            </a:r>
            <a:endParaRPr lang="en-US" sz="145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200"/>
              </a:lnSpc>
            </a:pPr>
            <a:r>
              <a:rPr lang="en-US" sz="1700">
                <a:solidFill>
                  <a:srgbClr val="243044"/>
                </a:solidFill>
                <a:latin typeface="Calibri (MS)" panose="020F0502020204030204"/>
                <a:ea typeface="Calibri (MS)" panose="020F0502020204030204"/>
                <a:cs typeface="Calibri (MS)" panose="020F0502020204030204"/>
                <a:sym typeface="Calibri (MS)" panose="020F0502020204030204"/>
              </a:rPr>
              <a:t>Hiểu đúng ý nhưng sai ngôn ngữ → EM = 0.</a:t>
            </a:r>
            <a:endParaRPr lang="en-US" sz="17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6" name="Group 36"/>
          <p:cNvGrpSpPr/>
          <p:nvPr/>
        </p:nvGrpSpPr>
        <p:grpSpPr>
          <a:xfrm rot="0">
            <a:off x="9537192" y="3794760"/>
            <a:ext cx="3483864" cy="2276094"/>
            <a:chOff x="0" y="0"/>
            <a:chExt cx="4645152" cy="3034792"/>
          </a:xfrm>
        </p:grpSpPr>
        <p:sp>
          <p:nvSpPr>
            <p:cNvPr id="37" name="Freeform 37" descr="V3.png"/>
            <p:cNvSpPr/>
            <p:nvPr/>
          </p:nvSpPr>
          <p:spPr>
            <a:xfrm>
              <a:off x="0" y="0"/>
              <a:ext cx="4645152" cy="3034792"/>
            </a:xfrm>
            <a:custGeom>
              <a:avLst/>
              <a:gdLst/>
              <a:ahLst/>
              <a:cxnLst/>
              <a:rect l="l" t="t" r="r" b="b"/>
              <a:pathLst>
                <a:path w="4645152" h="3034792">
                  <a:moveTo>
                    <a:pt x="0" y="0"/>
                  </a:moveTo>
                  <a:lnTo>
                    <a:pt x="4645152" y="0"/>
                  </a:lnTo>
                  <a:lnTo>
                    <a:pt x="4645152" y="3034792"/>
                  </a:lnTo>
                  <a:lnTo>
                    <a:pt x="0" y="3034792"/>
                  </a:lnTo>
                  <a:lnTo>
                    <a:pt x="0" y="0"/>
                  </a:lnTo>
                  <a:close/>
                </a:path>
              </a:pathLst>
            </a:custGeom>
            <a:blipFill>
              <a:blip r:embed="rId8"/>
              <a:stretch>
                <a:fillRect/>
              </a:stretch>
            </a:blipFill>
          </p:spPr>
          <p:txBody>
            <a:bodyPr/>
            <a:p/>
          </p:txBody>
        </p:sp>
      </p:grpSp>
      <p:sp>
        <p:nvSpPr>
          <p:cNvPr id="38" name="TextBox 38"/>
          <p:cNvSpPr txBox="1"/>
          <p:nvPr/>
        </p:nvSpPr>
        <p:spPr>
          <a:xfrm>
            <a:off x="9665208" y="6139463"/>
            <a:ext cx="3282696" cy="1303020"/>
          </a:xfrm>
          <a:prstGeom prst="rect">
            <a:avLst/>
          </a:prstGeom>
        </p:spPr>
        <p:txBody>
          <a:bodyPr lIns="0" tIns="0" rIns="0" bIns="0" rtlCol="0" anchor="t">
            <a:spAutoFit/>
          </a:bodyPr>
          <a:lstStyle/>
          <a:p>
            <a:pPr algn="l">
              <a:lnSpc>
                <a:spcPts val="233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Khoảng trắng tách âm tiết, không tách từ; đọc sai thứ tự là vỡ từ.</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9" name="Freeform 39"/>
          <p:cNvSpPr/>
          <p:nvPr/>
        </p:nvSpPr>
        <p:spPr>
          <a:xfrm>
            <a:off x="9523305" y="7529913"/>
            <a:ext cx="3511582" cy="1692021"/>
          </a:xfrm>
          <a:custGeom>
            <a:avLst/>
            <a:gdLst/>
            <a:ahLst/>
            <a:cxnLst/>
            <a:rect l="l" t="t" r="r" b="b"/>
            <a:pathLst>
              <a:path w="3511582" h="1692021">
                <a:moveTo>
                  <a:pt x="0" y="0"/>
                </a:moveTo>
                <a:lnTo>
                  <a:pt x="3511581" y="0"/>
                </a:lnTo>
                <a:lnTo>
                  <a:pt x="3511581" y="1692021"/>
                </a:lnTo>
                <a:lnTo>
                  <a:pt x="0" y="169202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p/>
        </p:txBody>
      </p:sp>
      <p:sp>
        <p:nvSpPr>
          <p:cNvPr id="40" name="TextBox 40"/>
          <p:cNvSpPr txBox="1"/>
          <p:nvPr/>
        </p:nvSpPr>
        <p:spPr>
          <a:xfrm>
            <a:off x="9720072" y="7567422"/>
            <a:ext cx="3118104" cy="1558290"/>
          </a:xfrm>
          <a:prstGeom prst="rect">
            <a:avLst/>
          </a:prstGeom>
        </p:spPr>
        <p:txBody>
          <a:bodyPr lIns="0" tIns="0" rIns="0" bIns="0" rtlCol="0" anchor="t">
            <a:spAutoFit/>
          </a:bodyPr>
          <a:lstStyle/>
          <a:p>
            <a:pPr algn="l">
              <a:lnSpc>
                <a:spcPts val="1880"/>
              </a:lnSpc>
            </a:pPr>
            <a:r>
              <a:rPr lang="en-US" sz="1450" b="1">
                <a:solidFill>
                  <a:srgbClr val="1C7293"/>
                </a:solidFill>
                <a:latin typeface="Calibri (MS) Bold" panose="020F0702030404030204"/>
                <a:ea typeface="Calibri (MS) Bold" panose="020F0702030404030204"/>
                <a:cs typeface="Calibri (MS) Bold" panose="020F0702030404030204"/>
                <a:sym typeface="Calibri (MS) Bold" panose="020F0702030404030204"/>
              </a:rPr>
              <a:t>Ví dụ</a:t>
            </a:r>
            <a:endParaRPr lang="en-US" sz="145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200"/>
              </a:lnSpc>
            </a:pPr>
            <a:r>
              <a:rPr lang="en-US" sz="1700">
                <a:solidFill>
                  <a:srgbClr val="243044"/>
                </a:solidFill>
                <a:latin typeface="Calibri (MS)" panose="020F0502020204030204"/>
                <a:ea typeface="Calibri (MS)" panose="020F0502020204030204"/>
                <a:cs typeface="Calibri (MS)" panose="020F0502020204030204"/>
                <a:sym typeface="Calibri (MS)" panose="020F0502020204030204"/>
              </a:rPr>
              <a:t>Đúng: cửa hàng điện thoại</a:t>
            </a:r>
            <a:endParaRPr lang="en-US" sz="170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200"/>
              </a:lnSpc>
            </a:pPr>
            <a:r>
              <a:rPr lang="en-US" sz="1700">
                <a:solidFill>
                  <a:srgbClr val="243044"/>
                </a:solidFill>
                <a:latin typeface="Calibri (MS)" panose="020F0502020204030204"/>
                <a:ea typeface="Calibri (MS)" panose="020F0502020204030204"/>
                <a:cs typeface="Calibri (MS)" panose="020F0502020204030204"/>
                <a:sym typeface="Calibri (MS)" panose="020F0502020204030204"/>
              </a:rPr>
              <a:t>Sai: cửa điện hàng thoại</a:t>
            </a:r>
            <a:endParaRPr lang="en-US" sz="17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41" name="Group 41"/>
          <p:cNvGrpSpPr/>
          <p:nvPr/>
        </p:nvGrpSpPr>
        <p:grpSpPr>
          <a:xfrm rot="0">
            <a:off x="13798296" y="3794760"/>
            <a:ext cx="3483864" cy="2276094"/>
            <a:chOff x="0" y="0"/>
            <a:chExt cx="4645152" cy="3034792"/>
          </a:xfrm>
        </p:grpSpPr>
        <p:sp>
          <p:nvSpPr>
            <p:cNvPr id="42" name="Freeform 42" descr="V4.png"/>
            <p:cNvSpPr/>
            <p:nvPr/>
          </p:nvSpPr>
          <p:spPr>
            <a:xfrm>
              <a:off x="0" y="0"/>
              <a:ext cx="4645152" cy="3034792"/>
            </a:xfrm>
            <a:custGeom>
              <a:avLst/>
              <a:gdLst/>
              <a:ahLst/>
              <a:cxnLst/>
              <a:rect l="l" t="t" r="r" b="b"/>
              <a:pathLst>
                <a:path w="4645152" h="3034792">
                  <a:moveTo>
                    <a:pt x="0" y="0"/>
                  </a:moveTo>
                  <a:lnTo>
                    <a:pt x="4645152" y="0"/>
                  </a:lnTo>
                  <a:lnTo>
                    <a:pt x="4645152" y="3034792"/>
                  </a:lnTo>
                  <a:lnTo>
                    <a:pt x="0" y="3034792"/>
                  </a:lnTo>
                  <a:lnTo>
                    <a:pt x="0" y="0"/>
                  </a:lnTo>
                  <a:close/>
                </a:path>
              </a:pathLst>
            </a:custGeom>
            <a:blipFill>
              <a:blip r:embed="rId9"/>
              <a:stretch>
                <a:fillRect/>
              </a:stretch>
            </a:blipFill>
          </p:spPr>
          <p:txBody>
            <a:bodyPr/>
            <a:p/>
          </p:txBody>
        </p:sp>
      </p:grpSp>
      <p:sp>
        <p:nvSpPr>
          <p:cNvPr id="43" name="TextBox 43"/>
          <p:cNvSpPr txBox="1"/>
          <p:nvPr/>
        </p:nvSpPr>
        <p:spPr>
          <a:xfrm>
            <a:off x="13926312" y="6139463"/>
            <a:ext cx="3282696" cy="1303020"/>
          </a:xfrm>
          <a:prstGeom prst="rect">
            <a:avLst/>
          </a:prstGeom>
        </p:spPr>
        <p:txBody>
          <a:bodyPr lIns="0" tIns="0" rIns="0" bIns="0" rtlCol="0" anchor="t">
            <a:spAutoFit/>
          </a:bodyPr>
          <a:lstStyle/>
          <a:p>
            <a:pPr algn="l">
              <a:lnSpc>
                <a:spcPts val="233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Trả lời trôi chảy nhưng nội dung không có trong ảnh.</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44" name="Freeform 44"/>
          <p:cNvSpPr/>
          <p:nvPr/>
        </p:nvSpPr>
        <p:spPr>
          <a:xfrm>
            <a:off x="13784409" y="7529913"/>
            <a:ext cx="3511582" cy="1692021"/>
          </a:xfrm>
          <a:custGeom>
            <a:avLst/>
            <a:gdLst/>
            <a:ahLst/>
            <a:cxnLst/>
            <a:rect l="l" t="t" r="r" b="b"/>
            <a:pathLst>
              <a:path w="3511582" h="1692021">
                <a:moveTo>
                  <a:pt x="0" y="0"/>
                </a:moveTo>
                <a:lnTo>
                  <a:pt x="3511581" y="0"/>
                </a:lnTo>
                <a:lnTo>
                  <a:pt x="3511581" y="1692021"/>
                </a:lnTo>
                <a:lnTo>
                  <a:pt x="0" y="1692021"/>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p/>
        </p:txBody>
      </p:sp>
      <p:sp>
        <p:nvSpPr>
          <p:cNvPr id="45" name="TextBox 45"/>
          <p:cNvSpPr txBox="1"/>
          <p:nvPr/>
        </p:nvSpPr>
        <p:spPr>
          <a:xfrm>
            <a:off x="13981176" y="7567422"/>
            <a:ext cx="3118104" cy="1558290"/>
          </a:xfrm>
          <a:prstGeom prst="rect">
            <a:avLst/>
          </a:prstGeom>
        </p:spPr>
        <p:txBody>
          <a:bodyPr lIns="0" tIns="0" rIns="0" bIns="0" rtlCol="0" anchor="t">
            <a:spAutoFit/>
          </a:bodyPr>
          <a:lstStyle/>
          <a:p>
            <a:pPr algn="l">
              <a:lnSpc>
                <a:spcPts val="1880"/>
              </a:lnSpc>
            </a:pPr>
            <a:r>
              <a:rPr lang="en-US" sz="1450" b="1">
                <a:solidFill>
                  <a:srgbClr val="1C7293"/>
                </a:solidFill>
                <a:latin typeface="Calibri (MS) Bold" panose="020F0702030404030204"/>
                <a:ea typeface="Calibri (MS) Bold" panose="020F0702030404030204"/>
                <a:cs typeface="Calibri (MS) Bold" panose="020F0702030404030204"/>
                <a:sym typeface="Calibri (MS) Bold" panose="020F0702030404030204"/>
              </a:rPr>
              <a:t>Ví dụ minh hoạ</a:t>
            </a:r>
            <a:endParaRPr lang="en-US" sz="145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200"/>
              </a:lnSpc>
            </a:pPr>
            <a:r>
              <a:rPr lang="en-US" sz="1700">
                <a:solidFill>
                  <a:srgbClr val="243044"/>
                </a:solidFill>
                <a:latin typeface="Calibri (MS)" panose="020F0502020204030204"/>
                <a:ea typeface="Calibri (MS)" panose="020F0502020204030204"/>
                <a:cs typeface="Calibri (MS)" panose="020F0502020204030204"/>
                <a:sym typeface="Calibri (MS)" panose="020F0502020204030204"/>
              </a:rPr>
              <a:t>Hỏi “Người đạp xe mặc áo màu gì?” → “áo xanh” ✗</a:t>
            </a:r>
            <a:endParaRPr lang="en-US" sz="17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46" name="Group 46"/>
          <p:cNvGrpSpPr/>
          <p:nvPr/>
        </p:nvGrpSpPr>
        <p:grpSpPr>
          <a:xfrm rot="0">
            <a:off x="822960" y="9655969"/>
            <a:ext cx="13716000" cy="360321"/>
            <a:chOff x="0" y="0"/>
            <a:chExt cx="18288000" cy="480428"/>
          </a:xfrm>
        </p:grpSpPr>
        <p:sp>
          <p:nvSpPr>
            <p:cNvPr id="47" name="Freeform 47"/>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10">
                <a:alphaModFix amt="0"/>
              </a:blip>
              <a:stretch>
                <a:fillRect t="-691184" b="-691181"/>
              </a:stretch>
            </a:blipFill>
          </p:spPr>
          <p:txBody>
            <a:bodyPr/>
            <a:p/>
          </p:txBody>
        </p:sp>
      </p:grpSp>
      <p:grpSp>
        <p:nvGrpSpPr>
          <p:cNvPr id="48" name="Group 48"/>
          <p:cNvGrpSpPr/>
          <p:nvPr/>
        </p:nvGrpSpPr>
        <p:grpSpPr>
          <a:xfrm rot="0">
            <a:off x="822960" y="9627394"/>
            <a:ext cx="13716000" cy="388896"/>
            <a:chOff x="0" y="0"/>
            <a:chExt cx="18288000" cy="518528"/>
          </a:xfrm>
        </p:grpSpPr>
        <p:sp>
          <p:nvSpPr>
            <p:cNvPr id="49" name="Freeform 49"/>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11">
                <a:alphaModFix amt="0"/>
              </a:blip>
              <a:stretch>
                <a:fillRect t="-637220" b="-637221"/>
              </a:stretch>
            </a:blipFill>
          </p:spPr>
          <p:txBody>
            <a:bodyPr/>
            <a:p/>
          </p:txBody>
        </p:sp>
        <p:sp>
          <p:nvSpPr>
            <p:cNvPr id="50" name="TextBox 50"/>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03 · KHOẢNG TRỐNG NGHIÊN CỨU</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khoảng trống — G3 là trọng tâm</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Freeform 6"/>
          <p:cNvSpPr/>
          <p:nvPr/>
        </p:nvSpPr>
        <p:spPr>
          <a:xfrm>
            <a:off x="806291" y="2040731"/>
            <a:ext cx="3885152" cy="6342697"/>
          </a:xfrm>
          <a:custGeom>
            <a:avLst/>
            <a:gdLst/>
            <a:ahLst/>
            <a:cxnLst/>
            <a:rect l="l" t="t" r="r" b="b"/>
            <a:pathLst>
              <a:path w="3885152" h="6342697">
                <a:moveTo>
                  <a:pt x="0" y="0"/>
                </a:moveTo>
                <a:lnTo>
                  <a:pt x="3885153" y="0"/>
                </a:lnTo>
                <a:lnTo>
                  <a:pt x="3885153" y="6342698"/>
                </a:lnTo>
                <a:lnTo>
                  <a:pt x="0" y="6342698"/>
                </a:lnTo>
                <a:lnTo>
                  <a:pt x="0" y="0"/>
                </a:lnTo>
                <a:close/>
              </a:path>
            </a:pathLst>
          </a:custGeom>
          <a:blipFill>
            <a:blip r:embed="rId2">
              <a:extLst>
                <a:ext uri="{96DAC541-7B7A-43D3-8B79-37D633B846F1}">
                  <asvg:svgBlip xmlns:asvg="http://schemas.microsoft.com/office/drawing/2016/SVG/main" r:embed="rId3"/>
                </a:ext>
              </a:extLst>
            </a:blip>
            <a:stretch>
              <a:fillRect l="-5" r="-6"/>
            </a:stretch>
          </a:blipFill>
        </p:spPr>
        <p:txBody>
          <a:bodyPr/>
          <a:p/>
        </p:txBody>
      </p:sp>
      <p:sp>
        <p:nvSpPr>
          <p:cNvPr id="7" name="TextBox 7"/>
          <p:cNvSpPr txBox="1"/>
          <p:nvPr/>
        </p:nvSpPr>
        <p:spPr>
          <a:xfrm>
            <a:off x="1165860" y="2303145"/>
            <a:ext cx="3165996" cy="714375"/>
          </a:xfrm>
          <a:prstGeom prst="rect">
            <a:avLst/>
          </a:prstGeom>
        </p:spPr>
        <p:txBody>
          <a:bodyPr lIns="0" tIns="0" rIns="0" bIns="0" rtlCol="0" anchor="t">
            <a:spAutoFit/>
          </a:bodyPr>
          <a:lstStyle/>
          <a:p>
            <a:pPr algn="l">
              <a:lnSpc>
                <a:spcPts val="3960"/>
              </a:lnSpc>
            </a:pPr>
            <a:r>
              <a:rPr lang="en-US" sz="3300" b="1">
                <a:solidFill>
                  <a:srgbClr val="1C7293"/>
                </a:solidFill>
                <a:latin typeface="Cambria Bold" panose="02040803050406030204"/>
                <a:ea typeface="Cambria Bold" panose="02040803050406030204"/>
                <a:cs typeface="Cambria Bold" panose="02040803050406030204"/>
                <a:sym typeface="Cambria Bold" panose="02040803050406030204"/>
              </a:rPr>
              <a:t>G1</a:t>
            </a:r>
            <a:endParaRPr lang="en-US" sz="33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8" name="TextBox 8"/>
          <p:cNvSpPr txBox="1"/>
          <p:nvPr/>
        </p:nvSpPr>
        <p:spPr>
          <a:xfrm>
            <a:off x="1165860" y="2983230"/>
            <a:ext cx="3165996" cy="13373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Tiền huấn luyện thiên lệch tiếng Anh</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9" name="TextBox 9"/>
          <p:cNvSpPr txBox="1"/>
          <p:nvPr/>
        </p:nvSpPr>
        <p:spPr>
          <a:xfrm>
            <a:off x="1165860" y="4246245"/>
            <a:ext cx="3165996" cy="302323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Alignment của VLM tối ưu cho tiếng Anh; chuyển giao sang tiếng Việt chưa được nghiên cứu kỹ.</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0" name="Group 10"/>
          <p:cNvGrpSpPr/>
          <p:nvPr/>
        </p:nvGrpSpPr>
        <p:grpSpPr>
          <a:xfrm rot="0">
            <a:off x="1165860" y="7475220"/>
            <a:ext cx="3166015" cy="685800"/>
            <a:chOff x="0" y="0"/>
            <a:chExt cx="4221353" cy="914400"/>
          </a:xfrm>
        </p:grpSpPr>
        <p:sp>
          <p:nvSpPr>
            <p:cNvPr id="11" name="Freeform 11"/>
            <p:cNvSpPr/>
            <p:nvPr/>
          </p:nvSpPr>
          <p:spPr>
            <a:xfrm>
              <a:off x="0" y="0"/>
              <a:ext cx="4221353" cy="914400"/>
            </a:xfrm>
            <a:custGeom>
              <a:avLst/>
              <a:gdLst/>
              <a:ahLst/>
              <a:cxnLst/>
              <a:rect l="l" t="t" r="r" b="b"/>
              <a:pathLst>
                <a:path w="4221353" h="914400">
                  <a:moveTo>
                    <a:pt x="0" y="0"/>
                  </a:moveTo>
                  <a:lnTo>
                    <a:pt x="4221353" y="0"/>
                  </a:lnTo>
                  <a:lnTo>
                    <a:pt x="4221353" y="914400"/>
                  </a:lnTo>
                  <a:lnTo>
                    <a:pt x="0" y="914400"/>
                  </a:lnTo>
                  <a:close/>
                </a:path>
              </a:pathLst>
            </a:custGeom>
            <a:blipFill>
              <a:blip r:embed="rId1">
                <a:alphaModFix amt="0"/>
              </a:blip>
              <a:stretch>
                <a:fillRect t="-39890" b="-39891"/>
              </a:stretch>
            </a:blipFill>
          </p:spPr>
          <p:txBody>
            <a:bodyPr/>
            <a:p/>
          </p:txBody>
        </p:sp>
      </p:grpSp>
      <p:grpSp>
        <p:nvGrpSpPr>
          <p:cNvPr id="12" name="Group 12"/>
          <p:cNvGrpSpPr/>
          <p:nvPr/>
        </p:nvGrpSpPr>
        <p:grpSpPr>
          <a:xfrm rot="0">
            <a:off x="1165860" y="7460932"/>
            <a:ext cx="3165996" cy="700088"/>
            <a:chOff x="0" y="0"/>
            <a:chExt cx="4221328" cy="933450"/>
          </a:xfrm>
        </p:grpSpPr>
        <p:sp>
          <p:nvSpPr>
            <p:cNvPr id="13" name="Freeform 13"/>
            <p:cNvSpPr/>
            <p:nvPr/>
          </p:nvSpPr>
          <p:spPr>
            <a:xfrm>
              <a:off x="0" y="0"/>
              <a:ext cx="4221353" cy="933450"/>
            </a:xfrm>
            <a:custGeom>
              <a:avLst/>
              <a:gdLst/>
              <a:ahLst/>
              <a:cxnLst/>
              <a:rect l="l" t="t" r="r" b="b"/>
              <a:pathLst>
                <a:path w="4221353" h="933450">
                  <a:moveTo>
                    <a:pt x="0" y="0"/>
                  </a:moveTo>
                  <a:lnTo>
                    <a:pt x="4221353" y="0"/>
                  </a:lnTo>
                  <a:lnTo>
                    <a:pt x="4221353" y="933450"/>
                  </a:lnTo>
                  <a:lnTo>
                    <a:pt x="0" y="933450"/>
                  </a:lnTo>
                  <a:close/>
                </a:path>
              </a:pathLst>
            </a:custGeom>
            <a:blipFill>
              <a:blip r:embed="rId4">
                <a:alphaModFix amt="0"/>
              </a:blip>
              <a:stretch>
                <a:fillRect t="-38055" b="-38055"/>
              </a:stretch>
            </a:blipFill>
          </p:spPr>
          <p:txBody>
            <a:bodyPr/>
            <a:p/>
          </p:txBody>
        </p:sp>
      </p:grpSp>
      <p:grpSp>
        <p:nvGrpSpPr>
          <p:cNvPr id="14" name="Group 14"/>
          <p:cNvGrpSpPr/>
          <p:nvPr/>
        </p:nvGrpSpPr>
        <p:grpSpPr>
          <a:xfrm rot="0">
            <a:off x="1165860" y="7446645"/>
            <a:ext cx="3165996" cy="714375"/>
            <a:chOff x="0" y="0"/>
            <a:chExt cx="4221328" cy="952500"/>
          </a:xfrm>
        </p:grpSpPr>
        <p:sp>
          <p:nvSpPr>
            <p:cNvPr id="15" name="Freeform 15"/>
            <p:cNvSpPr/>
            <p:nvPr/>
          </p:nvSpPr>
          <p:spPr>
            <a:xfrm>
              <a:off x="0" y="0"/>
              <a:ext cx="4221328" cy="952501"/>
            </a:xfrm>
            <a:custGeom>
              <a:avLst/>
              <a:gdLst/>
              <a:ahLst/>
              <a:cxnLst/>
              <a:rect l="l" t="t" r="r" b="b"/>
              <a:pathLst>
                <a:path w="4221328" h="952501">
                  <a:moveTo>
                    <a:pt x="0" y="0"/>
                  </a:moveTo>
                  <a:lnTo>
                    <a:pt x="4221328" y="0"/>
                  </a:lnTo>
                  <a:lnTo>
                    <a:pt x="4221328" y="952501"/>
                  </a:lnTo>
                  <a:lnTo>
                    <a:pt x="0" y="952501"/>
                  </a:lnTo>
                  <a:close/>
                </a:path>
              </a:pathLst>
            </a:custGeom>
            <a:blipFill>
              <a:blip r:embed="rId5">
                <a:alphaModFix amt="0"/>
              </a:blip>
              <a:stretch>
                <a:fillRect t="-36354" b="-36354"/>
              </a:stretch>
            </a:blipFill>
          </p:spPr>
          <p:txBody>
            <a:bodyPr/>
            <a:p/>
          </p:txBody>
        </p:sp>
        <p:sp>
          <p:nvSpPr>
            <p:cNvPr id="16" name="TextBox 16"/>
            <p:cNvSpPr txBox="1"/>
            <p:nvPr/>
          </p:nvSpPr>
          <p:spPr>
            <a:xfrm>
              <a:off x="0" y="-19050"/>
              <a:ext cx="4221328" cy="971550"/>
            </a:xfrm>
            <a:prstGeom prst="rect">
              <a:avLst/>
            </a:prstGeom>
          </p:spPr>
          <p:txBody>
            <a:bodyPr lIns="0" tIns="0" rIns="0" bIns="0" rtlCol="0" anchor="b"/>
            <a:lstStyle/>
            <a:p>
              <a:pPr algn="l">
                <a:lnSpc>
                  <a:spcPts val="1890"/>
                </a:lnSpc>
              </a:pPr>
              <a:r>
                <a:rPr lang="en-US" sz="1575" i="1" u="sng">
                  <a:solidFill>
                    <a:srgbClr val="0000FF"/>
                  </a:solidFill>
                  <a:latin typeface="Calibri (MS) Italics" panose="020F05020202040A0204"/>
                  <a:ea typeface="Calibri (MS) Italics" panose="020F05020202040A0204"/>
                  <a:cs typeface="Calibri (MS) Italics" panose="020F05020202040A0204"/>
                  <a:sym typeface="Calibri (MS) Italics" panose="020F05020202040A0204"/>
                  <a:hlinkClick r:id="rId6" tooltip="https://arxiv.org/pdf/2509.23661"/>
                </a:rPr>
                <a:t>LLaVA-1.5 (Liu et al., CVPR 2024)</a:t>
              </a:r>
              <a:endParaRPr lang="en-US" sz="1575" i="1" u="sng">
                <a:solidFill>
                  <a:srgbClr val="0000FF"/>
                </a:solidFill>
                <a:latin typeface="Calibri (MS) Italics" panose="020F05020202040A0204"/>
                <a:ea typeface="Calibri (MS) Italics" panose="020F05020202040A0204"/>
                <a:cs typeface="Calibri (MS) Italics" panose="020F05020202040A0204"/>
                <a:sym typeface="Calibri (MS) Italics" panose="020F05020202040A0204"/>
                <a:hlinkClick r:id="rId6" tooltip="https://arxiv.org/pdf/2509.23661"/>
              </a:endParaRPr>
            </a:p>
          </p:txBody>
        </p:sp>
      </p:grpSp>
      <p:sp>
        <p:nvSpPr>
          <p:cNvPr id="17" name="Freeform 17"/>
          <p:cNvSpPr/>
          <p:nvPr/>
        </p:nvSpPr>
        <p:spPr>
          <a:xfrm>
            <a:off x="5069567" y="2040731"/>
            <a:ext cx="3885152" cy="6342697"/>
          </a:xfrm>
          <a:custGeom>
            <a:avLst/>
            <a:gdLst/>
            <a:ahLst/>
            <a:cxnLst/>
            <a:rect l="l" t="t" r="r" b="b"/>
            <a:pathLst>
              <a:path w="3885152" h="6342697">
                <a:moveTo>
                  <a:pt x="0" y="0"/>
                </a:moveTo>
                <a:lnTo>
                  <a:pt x="3885152" y="0"/>
                </a:lnTo>
                <a:lnTo>
                  <a:pt x="3885152" y="6342698"/>
                </a:lnTo>
                <a:lnTo>
                  <a:pt x="0" y="6342698"/>
                </a:lnTo>
                <a:lnTo>
                  <a:pt x="0" y="0"/>
                </a:lnTo>
                <a:close/>
              </a:path>
            </a:pathLst>
          </a:custGeom>
          <a:blipFill>
            <a:blip r:embed="rId2">
              <a:extLst>
                <a:ext uri="{96DAC541-7B7A-43D3-8B79-37D633B846F1}">
                  <asvg:svgBlip xmlns:asvg="http://schemas.microsoft.com/office/drawing/2016/SVG/main" r:embed="rId3"/>
                </a:ext>
              </a:extLst>
            </a:blip>
            <a:stretch>
              <a:fillRect l="-5" r="-6"/>
            </a:stretch>
          </a:blipFill>
        </p:spPr>
        <p:txBody>
          <a:bodyPr/>
          <a:p/>
        </p:txBody>
      </p:sp>
      <p:sp>
        <p:nvSpPr>
          <p:cNvPr id="18" name="TextBox 18"/>
          <p:cNvSpPr txBox="1"/>
          <p:nvPr/>
        </p:nvSpPr>
        <p:spPr>
          <a:xfrm>
            <a:off x="5429136" y="2303145"/>
            <a:ext cx="3165996" cy="714375"/>
          </a:xfrm>
          <a:prstGeom prst="rect">
            <a:avLst/>
          </a:prstGeom>
        </p:spPr>
        <p:txBody>
          <a:bodyPr lIns="0" tIns="0" rIns="0" bIns="0" rtlCol="0" anchor="t">
            <a:spAutoFit/>
          </a:bodyPr>
          <a:lstStyle/>
          <a:p>
            <a:pPr algn="l">
              <a:lnSpc>
                <a:spcPts val="3960"/>
              </a:lnSpc>
            </a:pPr>
            <a:r>
              <a:rPr lang="en-US" sz="3300" b="1">
                <a:solidFill>
                  <a:srgbClr val="1C7293"/>
                </a:solidFill>
                <a:latin typeface="Cambria Bold" panose="02040803050406030204"/>
                <a:ea typeface="Cambria Bold" panose="02040803050406030204"/>
                <a:cs typeface="Cambria Bold" panose="02040803050406030204"/>
                <a:sym typeface="Cambria Bold" panose="02040803050406030204"/>
              </a:rPr>
              <a:t>G2</a:t>
            </a:r>
            <a:endParaRPr lang="en-US" sz="33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9" name="TextBox 19"/>
          <p:cNvSpPr txBox="1"/>
          <p:nvPr/>
        </p:nvSpPr>
        <p:spPr>
          <a:xfrm>
            <a:off x="5429136" y="2983230"/>
            <a:ext cx="3165996" cy="13373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VQA tiếng Việt yếu, nhất là scene-text</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0" name="TextBox 20"/>
          <p:cNvSpPr txBox="1"/>
          <p:nvPr/>
        </p:nvSpPr>
        <p:spPr>
          <a:xfrm>
            <a:off x="5429136" y="4246245"/>
            <a:ext cx="3165996" cy="302323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EM công bố cao nhất trên ViTextVQA là 25,48 so với 88,00 của con người; OCR, dấu thanh, code-switching còn mở.</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1" name="Group 21"/>
          <p:cNvGrpSpPr/>
          <p:nvPr/>
        </p:nvGrpSpPr>
        <p:grpSpPr>
          <a:xfrm rot="0">
            <a:off x="5429136" y="7475220"/>
            <a:ext cx="3166015" cy="685800"/>
            <a:chOff x="0" y="0"/>
            <a:chExt cx="4221353" cy="914400"/>
          </a:xfrm>
        </p:grpSpPr>
        <p:sp>
          <p:nvSpPr>
            <p:cNvPr id="22" name="Freeform 22"/>
            <p:cNvSpPr/>
            <p:nvPr/>
          </p:nvSpPr>
          <p:spPr>
            <a:xfrm>
              <a:off x="0" y="0"/>
              <a:ext cx="4221353" cy="914400"/>
            </a:xfrm>
            <a:custGeom>
              <a:avLst/>
              <a:gdLst/>
              <a:ahLst/>
              <a:cxnLst/>
              <a:rect l="l" t="t" r="r" b="b"/>
              <a:pathLst>
                <a:path w="4221353" h="914400">
                  <a:moveTo>
                    <a:pt x="0" y="0"/>
                  </a:moveTo>
                  <a:lnTo>
                    <a:pt x="4221353" y="0"/>
                  </a:lnTo>
                  <a:lnTo>
                    <a:pt x="4221353" y="914400"/>
                  </a:lnTo>
                  <a:lnTo>
                    <a:pt x="0" y="914400"/>
                  </a:lnTo>
                  <a:close/>
                </a:path>
              </a:pathLst>
            </a:custGeom>
            <a:blipFill>
              <a:blip r:embed="rId1">
                <a:alphaModFix amt="0"/>
              </a:blip>
              <a:stretch>
                <a:fillRect t="-39890" b="-39891"/>
              </a:stretch>
            </a:blipFill>
          </p:spPr>
          <p:txBody>
            <a:bodyPr/>
            <a:p/>
          </p:txBody>
        </p:sp>
      </p:grpSp>
      <p:grpSp>
        <p:nvGrpSpPr>
          <p:cNvPr id="23" name="Group 23"/>
          <p:cNvGrpSpPr/>
          <p:nvPr/>
        </p:nvGrpSpPr>
        <p:grpSpPr>
          <a:xfrm rot="0">
            <a:off x="5429136" y="7460932"/>
            <a:ext cx="3165996" cy="700088"/>
            <a:chOff x="0" y="0"/>
            <a:chExt cx="4221328" cy="933450"/>
          </a:xfrm>
        </p:grpSpPr>
        <p:sp>
          <p:nvSpPr>
            <p:cNvPr id="24" name="Freeform 24"/>
            <p:cNvSpPr/>
            <p:nvPr/>
          </p:nvSpPr>
          <p:spPr>
            <a:xfrm>
              <a:off x="0" y="0"/>
              <a:ext cx="4221353" cy="933450"/>
            </a:xfrm>
            <a:custGeom>
              <a:avLst/>
              <a:gdLst/>
              <a:ahLst/>
              <a:cxnLst/>
              <a:rect l="l" t="t" r="r" b="b"/>
              <a:pathLst>
                <a:path w="4221353" h="933450">
                  <a:moveTo>
                    <a:pt x="0" y="0"/>
                  </a:moveTo>
                  <a:lnTo>
                    <a:pt x="4221353" y="0"/>
                  </a:lnTo>
                  <a:lnTo>
                    <a:pt x="4221353" y="933450"/>
                  </a:lnTo>
                  <a:lnTo>
                    <a:pt x="0" y="933450"/>
                  </a:lnTo>
                  <a:close/>
                </a:path>
              </a:pathLst>
            </a:custGeom>
            <a:blipFill>
              <a:blip r:embed="rId4">
                <a:alphaModFix amt="0"/>
              </a:blip>
              <a:stretch>
                <a:fillRect t="-38055" b="-38055"/>
              </a:stretch>
            </a:blipFill>
          </p:spPr>
          <p:txBody>
            <a:bodyPr/>
            <a:p/>
          </p:txBody>
        </p:sp>
      </p:grpSp>
      <p:grpSp>
        <p:nvGrpSpPr>
          <p:cNvPr id="25" name="Group 25"/>
          <p:cNvGrpSpPr/>
          <p:nvPr/>
        </p:nvGrpSpPr>
        <p:grpSpPr>
          <a:xfrm rot="0">
            <a:off x="5429136" y="7446645"/>
            <a:ext cx="3165996" cy="714375"/>
            <a:chOff x="0" y="0"/>
            <a:chExt cx="4221328" cy="952500"/>
          </a:xfrm>
        </p:grpSpPr>
        <p:sp>
          <p:nvSpPr>
            <p:cNvPr id="26" name="Freeform 26"/>
            <p:cNvSpPr/>
            <p:nvPr/>
          </p:nvSpPr>
          <p:spPr>
            <a:xfrm>
              <a:off x="0" y="0"/>
              <a:ext cx="4221328" cy="952501"/>
            </a:xfrm>
            <a:custGeom>
              <a:avLst/>
              <a:gdLst/>
              <a:ahLst/>
              <a:cxnLst/>
              <a:rect l="l" t="t" r="r" b="b"/>
              <a:pathLst>
                <a:path w="4221328" h="952501">
                  <a:moveTo>
                    <a:pt x="0" y="0"/>
                  </a:moveTo>
                  <a:lnTo>
                    <a:pt x="4221328" y="0"/>
                  </a:lnTo>
                  <a:lnTo>
                    <a:pt x="4221328" y="952501"/>
                  </a:lnTo>
                  <a:lnTo>
                    <a:pt x="0" y="952501"/>
                  </a:lnTo>
                  <a:close/>
                </a:path>
              </a:pathLst>
            </a:custGeom>
            <a:blipFill>
              <a:blip r:embed="rId5">
                <a:alphaModFix amt="0"/>
              </a:blip>
              <a:stretch>
                <a:fillRect t="-36354" b="-36354"/>
              </a:stretch>
            </a:blipFill>
          </p:spPr>
          <p:txBody>
            <a:bodyPr/>
            <a:p/>
          </p:txBody>
        </p:sp>
        <p:sp>
          <p:nvSpPr>
            <p:cNvPr id="27" name="TextBox 27"/>
            <p:cNvSpPr txBox="1"/>
            <p:nvPr/>
          </p:nvSpPr>
          <p:spPr>
            <a:xfrm>
              <a:off x="0" y="-19050"/>
              <a:ext cx="4221328" cy="971550"/>
            </a:xfrm>
            <a:prstGeom prst="rect">
              <a:avLst/>
            </a:prstGeom>
          </p:spPr>
          <p:txBody>
            <a:bodyPr lIns="0" tIns="0" rIns="0" bIns="0" rtlCol="0" anchor="b"/>
            <a:lstStyle/>
            <a:p>
              <a:pPr algn="l">
                <a:lnSpc>
                  <a:spcPts val="1890"/>
                </a:lnSpc>
              </a:pPr>
              <a:r>
                <a:rPr lang="en-US" sz="1575" i="1" u="sng">
                  <a:solidFill>
                    <a:srgbClr val="0000FF"/>
                  </a:solidFill>
                  <a:latin typeface="Calibri (MS) Italics" panose="020F05020202040A0204"/>
                  <a:ea typeface="Calibri (MS) Italics" panose="020F05020202040A0204"/>
                  <a:cs typeface="Calibri (MS) Italics" panose="020F05020202040A0204"/>
                  <a:sym typeface="Calibri (MS) Italics" panose="020F05020202040A0204"/>
                  <a:hlinkClick r:id="rId7" tooltip="https://arxiv.org/pdf/2404.10652"/>
                </a:rPr>
                <a:t>ViTextVQA (Nguyen et al., 2024)</a:t>
              </a:r>
              <a:endParaRPr lang="en-US" sz="1575" i="1" u="sng">
                <a:solidFill>
                  <a:srgbClr val="0000FF"/>
                </a:solidFill>
                <a:latin typeface="Calibri (MS) Italics" panose="020F05020202040A0204"/>
                <a:ea typeface="Calibri (MS) Italics" panose="020F05020202040A0204"/>
                <a:cs typeface="Calibri (MS) Italics" panose="020F05020202040A0204"/>
                <a:sym typeface="Calibri (MS) Italics" panose="020F05020202040A0204"/>
                <a:hlinkClick r:id="rId7" tooltip="https://arxiv.org/pdf/2404.10652"/>
              </a:endParaRPr>
            </a:p>
          </p:txBody>
        </p:sp>
      </p:grpSp>
      <p:sp>
        <p:nvSpPr>
          <p:cNvPr id="28" name="Freeform 28"/>
          <p:cNvSpPr/>
          <p:nvPr/>
        </p:nvSpPr>
        <p:spPr>
          <a:xfrm>
            <a:off x="9332843" y="2040731"/>
            <a:ext cx="3885152" cy="6342697"/>
          </a:xfrm>
          <a:custGeom>
            <a:avLst/>
            <a:gdLst/>
            <a:ahLst/>
            <a:cxnLst/>
            <a:rect l="l" t="t" r="r" b="b"/>
            <a:pathLst>
              <a:path w="3885152" h="6342697">
                <a:moveTo>
                  <a:pt x="0" y="0"/>
                </a:moveTo>
                <a:lnTo>
                  <a:pt x="3885152" y="0"/>
                </a:lnTo>
                <a:lnTo>
                  <a:pt x="3885152" y="6342698"/>
                </a:lnTo>
                <a:lnTo>
                  <a:pt x="0" y="6342698"/>
                </a:lnTo>
                <a:lnTo>
                  <a:pt x="0" y="0"/>
                </a:lnTo>
                <a:close/>
              </a:path>
            </a:pathLst>
          </a:custGeom>
          <a:blipFill>
            <a:blip r:embed="rId8">
              <a:extLst>
                <a:ext uri="{96DAC541-7B7A-43D3-8B79-37D633B846F1}">
                  <asvg:svgBlip xmlns:asvg="http://schemas.microsoft.com/office/drawing/2016/SVG/main" r:embed="rId9"/>
                </a:ext>
              </a:extLst>
            </a:blip>
            <a:stretch>
              <a:fillRect l="-5" r="-6"/>
            </a:stretch>
          </a:blipFill>
        </p:spPr>
        <p:txBody>
          <a:bodyPr/>
          <a:p/>
        </p:txBody>
      </p:sp>
      <p:sp>
        <p:nvSpPr>
          <p:cNvPr id="29" name="TextBox 29"/>
          <p:cNvSpPr txBox="1"/>
          <p:nvPr/>
        </p:nvSpPr>
        <p:spPr>
          <a:xfrm>
            <a:off x="9692411" y="2303145"/>
            <a:ext cx="3165996" cy="714375"/>
          </a:xfrm>
          <a:prstGeom prst="rect">
            <a:avLst/>
          </a:prstGeom>
        </p:spPr>
        <p:txBody>
          <a:bodyPr lIns="0" tIns="0" rIns="0" bIns="0" rtlCol="0" anchor="t">
            <a:spAutoFit/>
          </a:bodyPr>
          <a:lstStyle/>
          <a:p>
            <a:pPr algn="l">
              <a:lnSpc>
                <a:spcPts val="3960"/>
              </a:lnSpc>
            </a:pPr>
            <a:r>
              <a:rPr lang="en-US" sz="3300" b="1">
                <a:solidFill>
                  <a:srgbClr val="E8A33D"/>
                </a:solidFill>
                <a:latin typeface="Cambria Bold" panose="02040803050406030204"/>
                <a:ea typeface="Cambria Bold" panose="02040803050406030204"/>
                <a:cs typeface="Cambria Bold" panose="02040803050406030204"/>
                <a:sym typeface="Cambria Bold" panose="02040803050406030204"/>
              </a:rPr>
              <a:t>G3</a:t>
            </a:r>
            <a:endParaRPr lang="en-US" sz="33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30" name="TextBox 30"/>
          <p:cNvSpPr txBox="1"/>
          <p:nvPr/>
        </p:nvSpPr>
        <p:spPr>
          <a:xfrm>
            <a:off x="9692411" y="2983230"/>
            <a:ext cx="3165996" cy="13373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PEFT cho VLM tiếng Việt chưa được khai thác</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1" name="TextBox 31"/>
          <p:cNvSpPr txBox="1"/>
          <p:nvPr/>
        </p:nvSpPr>
        <p:spPr>
          <a:xfrm>
            <a:off x="9692411" y="4246245"/>
            <a:ext cx="3165996" cy="302323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Chưa có nghiên cứu hệ thống áp dụng LoRA/QLoRA cho VLM trên VQA tiếng Việt — ba paper VQA tiếng Việt nhóm khảo sát đều không dùng PEFT.</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2" name="Group 32"/>
          <p:cNvGrpSpPr/>
          <p:nvPr/>
        </p:nvGrpSpPr>
        <p:grpSpPr>
          <a:xfrm rot="0">
            <a:off x="9692411" y="7475220"/>
            <a:ext cx="3166015" cy="685800"/>
            <a:chOff x="0" y="0"/>
            <a:chExt cx="4221353" cy="914400"/>
          </a:xfrm>
        </p:grpSpPr>
        <p:sp>
          <p:nvSpPr>
            <p:cNvPr id="33" name="Freeform 33"/>
            <p:cNvSpPr/>
            <p:nvPr/>
          </p:nvSpPr>
          <p:spPr>
            <a:xfrm>
              <a:off x="0" y="0"/>
              <a:ext cx="4221353" cy="914400"/>
            </a:xfrm>
            <a:custGeom>
              <a:avLst/>
              <a:gdLst/>
              <a:ahLst/>
              <a:cxnLst/>
              <a:rect l="l" t="t" r="r" b="b"/>
              <a:pathLst>
                <a:path w="4221353" h="914400">
                  <a:moveTo>
                    <a:pt x="0" y="0"/>
                  </a:moveTo>
                  <a:lnTo>
                    <a:pt x="4221353" y="0"/>
                  </a:lnTo>
                  <a:lnTo>
                    <a:pt x="4221353" y="914400"/>
                  </a:lnTo>
                  <a:lnTo>
                    <a:pt x="0" y="914400"/>
                  </a:lnTo>
                  <a:close/>
                </a:path>
              </a:pathLst>
            </a:custGeom>
            <a:blipFill>
              <a:blip r:embed="rId1">
                <a:alphaModFix amt="0"/>
              </a:blip>
              <a:stretch>
                <a:fillRect t="-39890" b="-39891"/>
              </a:stretch>
            </a:blipFill>
          </p:spPr>
          <p:txBody>
            <a:bodyPr/>
            <a:p/>
          </p:txBody>
        </p:sp>
      </p:grpSp>
      <p:grpSp>
        <p:nvGrpSpPr>
          <p:cNvPr id="34" name="Group 34"/>
          <p:cNvGrpSpPr/>
          <p:nvPr/>
        </p:nvGrpSpPr>
        <p:grpSpPr>
          <a:xfrm rot="0">
            <a:off x="9692411" y="7460932"/>
            <a:ext cx="3165996" cy="700088"/>
            <a:chOff x="0" y="0"/>
            <a:chExt cx="4221328" cy="933450"/>
          </a:xfrm>
        </p:grpSpPr>
        <p:sp>
          <p:nvSpPr>
            <p:cNvPr id="35" name="Freeform 35"/>
            <p:cNvSpPr/>
            <p:nvPr/>
          </p:nvSpPr>
          <p:spPr>
            <a:xfrm>
              <a:off x="0" y="0"/>
              <a:ext cx="4221353" cy="933450"/>
            </a:xfrm>
            <a:custGeom>
              <a:avLst/>
              <a:gdLst/>
              <a:ahLst/>
              <a:cxnLst/>
              <a:rect l="l" t="t" r="r" b="b"/>
              <a:pathLst>
                <a:path w="4221353" h="933450">
                  <a:moveTo>
                    <a:pt x="0" y="0"/>
                  </a:moveTo>
                  <a:lnTo>
                    <a:pt x="4221353" y="0"/>
                  </a:lnTo>
                  <a:lnTo>
                    <a:pt x="4221353" y="933450"/>
                  </a:lnTo>
                  <a:lnTo>
                    <a:pt x="0" y="933450"/>
                  </a:lnTo>
                  <a:close/>
                </a:path>
              </a:pathLst>
            </a:custGeom>
            <a:blipFill>
              <a:blip r:embed="rId4">
                <a:alphaModFix amt="0"/>
              </a:blip>
              <a:stretch>
                <a:fillRect t="-38055" b="-38055"/>
              </a:stretch>
            </a:blipFill>
          </p:spPr>
          <p:txBody>
            <a:bodyPr/>
            <a:p/>
          </p:txBody>
        </p:sp>
      </p:grpSp>
      <p:grpSp>
        <p:nvGrpSpPr>
          <p:cNvPr id="36" name="Group 36"/>
          <p:cNvGrpSpPr/>
          <p:nvPr/>
        </p:nvGrpSpPr>
        <p:grpSpPr>
          <a:xfrm rot="0">
            <a:off x="9692411" y="7446645"/>
            <a:ext cx="3165996" cy="714375"/>
            <a:chOff x="0" y="0"/>
            <a:chExt cx="4221328" cy="952500"/>
          </a:xfrm>
        </p:grpSpPr>
        <p:sp>
          <p:nvSpPr>
            <p:cNvPr id="37" name="Freeform 37"/>
            <p:cNvSpPr/>
            <p:nvPr/>
          </p:nvSpPr>
          <p:spPr>
            <a:xfrm>
              <a:off x="0" y="0"/>
              <a:ext cx="4221328" cy="952501"/>
            </a:xfrm>
            <a:custGeom>
              <a:avLst/>
              <a:gdLst/>
              <a:ahLst/>
              <a:cxnLst/>
              <a:rect l="l" t="t" r="r" b="b"/>
              <a:pathLst>
                <a:path w="4221328" h="952501">
                  <a:moveTo>
                    <a:pt x="0" y="0"/>
                  </a:moveTo>
                  <a:lnTo>
                    <a:pt x="4221328" y="0"/>
                  </a:lnTo>
                  <a:lnTo>
                    <a:pt x="4221328" y="952501"/>
                  </a:lnTo>
                  <a:lnTo>
                    <a:pt x="0" y="952501"/>
                  </a:lnTo>
                  <a:close/>
                </a:path>
              </a:pathLst>
            </a:custGeom>
            <a:blipFill>
              <a:blip r:embed="rId5">
                <a:alphaModFix amt="0"/>
              </a:blip>
              <a:stretch>
                <a:fillRect t="-36354" b="-36354"/>
              </a:stretch>
            </a:blipFill>
          </p:spPr>
          <p:txBody>
            <a:bodyPr/>
            <a:p/>
          </p:txBody>
        </p:sp>
        <p:sp>
          <p:nvSpPr>
            <p:cNvPr id="38" name="TextBox 38"/>
            <p:cNvSpPr txBox="1"/>
            <p:nvPr/>
          </p:nvSpPr>
          <p:spPr>
            <a:xfrm>
              <a:off x="0" y="-19050"/>
              <a:ext cx="4221328" cy="971550"/>
            </a:xfrm>
            <a:prstGeom prst="rect">
              <a:avLst/>
            </a:prstGeom>
          </p:spPr>
          <p:txBody>
            <a:bodyPr lIns="0" tIns="0" rIns="0" bIns="0" rtlCol="0" anchor="b"/>
            <a:lstStyle/>
            <a:p>
              <a:pPr algn="l">
                <a:lnSpc>
                  <a:spcPts val="1890"/>
                </a:lnSpc>
              </a:pPr>
              <a:r>
                <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Literature Matrix (W2)</a:t>
              </a:r>
              <a:endParaRPr lang="en-US" sz="1575"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sp>
        <p:nvSpPr>
          <p:cNvPr id="39" name="Freeform 39"/>
          <p:cNvSpPr/>
          <p:nvPr/>
        </p:nvSpPr>
        <p:spPr>
          <a:xfrm>
            <a:off x="13596118" y="2040731"/>
            <a:ext cx="3885152" cy="6342697"/>
          </a:xfrm>
          <a:custGeom>
            <a:avLst/>
            <a:gdLst/>
            <a:ahLst/>
            <a:cxnLst/>
            <a:rect l="l" t="t" r="r" b="b"/>
            <a:pathLst>
              <a:path w="3885152" h="6342697">
                <a:moveTo>
                  <a:pt x="0" y="0"/>
                </a:moveTo>
                <a:lnTo>
                  <a:pt x="3885153" y="0"/>
                </a:lnTo>
                <a:lnTo>
                  <a:pt x="3885153" y="6342698"/>
                </a:lnTo>
                <a:lnTo>
                  <a:pt x="0" y="6342698"/>
                </a:lnTo>
                <a:lnTo>
                  <a:pt x="0" y="0"/>
                </a:lnTo>
                <a:close/>
              </a:path>
            </a:pathLst>
          </a:custGeom>
          <a:blipFill>
            <a:blip r:embed="rId2">
              <a:extLst>
                <a:ext uri="{96DAC541-7B7A-43D3-8B79-37D633B846F1}">
                  <asvg:svgBlip xmlns:asvg="http://schemas.microsoft.com/office/drawing/2016/SVG/main" r:embed="rId3"/>
                </a:ext>
              </a:extLst>
            </a:blip>
            <a:stretch>
              <a:fillRect l="-5" r="-6"/>
            </a:stretch>
          </a:blipFill>
        </p:spPr>
        <p:txBody>
          <a:bodyPr/>
          <a:p/>
        </p:txBody>
      </p:sp>
      <p:sp>
        <p:nvSpPr>
          <p:cNvPr id="40" name="TextBox 40"/>
          <p:cNvSpPr txBox="1"/>
          <p:nvPr/>
        </p:nvSpPr>
        <p:spPr>
          <a:xfrm>
            <a:off x="13955687" y="2303145"/>
            <a:ext cx="3165996" cy="714375"/>
          </a:xfrm>
          <a:prstGeom prst="rect">
            <a:avLst/>
          </a:prstGeom>
        </p:spPr>
        <p:txBody>
          <a:bodyPr lIns="0" tIns="0" rIns="0" bIns="0" rtlCol="0" anchor="t">
            <a:spAutoFit/>
          </a:bodyPr>
          <a:lstStyle/>
          <a:p>
            <a:pPr algn="l">
              <a:lnSpc>
                <a:spcPts val="3960"/>
              </a:lnSpc>
            </a:pPr>
            <a:r>
              <a:rPr lang="en-US" sz="3300" b="1">
                <a:solidFill>
                  <a:srgbClr val="1C7293"/>
                </a:solidFill>
                <a:latin typeface="Cambria Bold" panose="02040803050406030204"/>
                <a:ea typeface="Cambria Bold" panose="02040803050406030204"/>
                <a:cs typeface="Cambria Bold" panose="02040803050406030204"/>
                <a:sym typeface="Cambria Bold" panose="02040803050406030204"/>
              </a:rPr>
              <a:t>G4</a:t>
            </a:r>
            <a:endParaRPr lang="en-US" sz="33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41" name="TextBox 41"/>
          <p:cNvSpPr txBox="1"/>
          <p:nvPr/>
        </p:nvSpPr>
        <p:spPr>
          <a:xfrm>
            <a:off x="13955687" y="2983230"/>
            <a:ext cx="3165996" cy="1337310"/>
          </a:xfrm>
          <a:prstGeom prst="rect">
            <a:avLst/>
          </a:prstGeom>
        </p:spPr>
        <p:txBody>
          <a:bodyPr lIns="0" tIns="0" rIns="0" bIns="0" rtlCol="0" anchor="t">
            <a:spAutoFit/>
          </a:bodyP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Chưa đo hallucination cho tiếng Việt</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42" name="TextBox 42"/>
          <p:cNvSpPr txBox="1"/>
          <p:nvPr/>
        </p:nvSpPr>
        <p:spPr>
          <a:xfrm>
            <a:off x="13955687" y="4246245"/>
            <a:ext cx="3165996" cy="3023235"/>
          </a:xfrm>
          <a:prstGeom prst="rect">
            <a:avLst/>
          </a:prstGeom>
        </p:spPr>
        <p:txBody>
          <a:bodyPr lIns="0" tIns="0" rIns="0" bIns="0" rtlCol="0" anchor="t">
            <a:spAutoFit/>
          </a:bodyPr>
          <a:lstStyle/>
          <a:p>
            <a:pPr algn="l">
              <a:lnSpc>
                <a:spcPts val="2610"/>
              </a:lnSpc>
            </a:pPr>
            <a:r>
              <a:rPr lang="en-US" sz="2175">
                <a:solidFill>
                  <a:srgbClr val="243044"/>
                </a:solidFill>
                <a:latin typeface="Calibri (MS)" panose="020F0502020204030204"/>
                <a:ea typeface="Calibri (MS)" panose="020F0502020204030204"/>
                <a:cs typeface="Calibri (MS)" panose="020F0502020204030204"/>
                <a:sym typeface="Calibri (MS)" panose="020F0502020204030204"/>
              </a:rPr>
              <a:t>Chưa có benchmark hallucination kiểu POPE nào được đánh giá trên dữ liệu VQA tiếng Việt.</a:t>
            </a:r>
            <a:endParaRPr lang="en-US" sz="2175">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43" name="Group 43"/>
          <p:cNvGrpSpPr/>
          <p:nvPr/>
        </p:nvGrpSpPr>
        <p:grpSpPr>
          <a:xfrm rot="0">
            <a:off x="13955687" y="7475220"/>
            <a:ext cx="3166015" cy="685800"/>
            <a:chOff x="0" y="0"/>
            <a:chExt cx="4221353" cy="914400"/>
          </a:xfrm>
        </p:grpSpPr>
        <p:sp>
          <p:nvSpPr>
            <p:cNvPr id="44" name="Freeform 44"/>
            <p:cNvSpPr/>
            <p:nvPr/>
          </p:nvSpPr>
          <p:spPr>
            <a:xfrm>
              <a:off x="0" y="0"/>
              <a:ext cx="4221353" cy="914400"/>
            </a:xfrm>
            <a:custGeom>
              <a:avLst/>
              <a:gdLst/>
              <a:ahLst/>
              <a:cxnLst/>
              <a:rect l="l" t="t" r="r" b="b"/>
              <a:pathLst>
                <a:path w="4221353" h="914400">
                  <a:moveTo>
                    <a:pt x="0" y="0"/>
                  </a:moveTo>
                  <a:lnTo>
                    <a:pt x="4221353" y="0"/>
                  </a:lnTo>
                  <a:lnTo>
                    <a:pt x="4221353" y="914400"/>
                  </a:lnTo>
                  <a:lnTo>
                    <a:pt x="0" y="914400"/>
                  </a:lnTo>
                  <a:close/>
                </a:path>
              </a:pathLst>
            </a:custGeom>
            <a:blipFill>
              <a:blip r:embed="rId1">
                <a:alphaModFix amt="0"/>
              </a:blip>
              <a:stretch>
                <a:fillRect t="-39890" b="-39891"/>
              </a:stretch>
            </a:blipFill>
          </p:spPr>
          <p:txBody>
            <a:bodyPr/>
            <a:p/>
          </p:txBody>
        </p:sp>
      </p:grpSp>
      <p:grpSp>
        <p:nvGrpSpPr>
          <p:cNvPr id="45" name="Group 45"/>
          <p:cNvGrpSpPr/>
          <p:nvPr/>
        </p:nvGrpSpPr>
        <p:grpSpPr>
          <a:xfrm rot="0">
            <a:off x="13955687" y="7460932"/>
            <a:ext cx="3165996" cy="700088"/>
            <a:chOff x="0" y="0"/>
            <a:chExt cx="4221328" cy="933450"/>
          </a:xfrm>
        </p:grpSpPr>
        <p:sp>
          <p:nvSpPr>
            <p:cNvPr id="46" name="Freeform 46"/>
            <p:cNvSpPr/>
            <p:nvPr/>
          </p:nvSpPr>
          <p:spPr>
            <a:xfrm>
              <a:off x="0" y="0"/>
              <a:ext cx="4221353" cy="933450"/>
            </a:xfrm>
            <a:custGeom>
              <a:avLst/>
              <a:gdLst/>
              <a:ahLst/>
              <a:cxnLst/>
              <a:rect l="l" t="t" r="r" b="b"/>
              <a:pathLst>
                <a:path w="4221353" h="933450">
                  <a:moveTo>
                    <a:pt x="0" y="0"/>
                  </a:moveTo>
                  <a:lnTo>
                    <a:pt x="4221353" y="0"/>
                  </a:lnTo>
                  <a:lnTo>
                    <a:pt x="4221353" y="933450"/>
                  </a:lnTo>
                  <a:lnTo>
                    <a:pt x="0" y="933450"/>
                  </a:lnTo>
                  <a:close/>
                </a:path>
              </a:pathLst>
            </a:custGeom>
            <a:blipFill>
              <a:blip r:embed="rId4">
                <a:alphaModFix amt="0"/>
              </a:blip>
              <a:stretch>
                <a:fillRect t="-38055" b="-38055"/>
              </a:stretch>
            </a:blipFill>
          </p:spPr>
          <p:txBody>
            <a:bodyPr/>
            <a:p/>
          </p:txBody>
        </p:sp>
      </p:grpSp>
      <p:grpSp>
        <p:nvGrpSpPr>
          <p:cNvPr id="47" name="Group 47"/>
          <p:cNvGrpSpPr/>
          <p:nvPr/>
        </p:nvGrpSpPr>
        <p:grpSpPr>
          <a:xfrm rot="0">
            <a:off x="13955687" y="7446645"/>
            <a:ext cx="3165996" cy="714375"/>
            <a:chOff x="0" y="0"/>
            <a:chExt cx="4221328" cy="952500"/>
          </a:xfrm>
        </p:grpSpPr>
        <p:sp>
          <p:nvSpPr>
            <p:cNvPr id="48" name="Freeform 48"/>
            <p:cNvSpPr/>
            <p:nvPr/>
          </p:nvSpPr>
          <p:spPr>
            <a:xfrm>
              <a:off x="0" y="0"/>
              <a:ext cx="4221328" cy="952501"/>
            </a:xfrm>
            <a:custGeom>
              <a:avLst/>
              <a:gdLst/>
              <a:ahLst/>
              <a:cxnLst/>
              <a:rect l="l" t="t" r="r" b="b"/>
              <a:pathLst>
                <a:path w="4221328" h="952501">
                  <a:moveTo>
                    <a:pt x="0" y="0"/>
                  </a:moveTo>
                  <a:lnTo>
                    <a:pt x="4221328" y="0"/>
                  </a:lnTo>
                  <a:lnTo>
                    <a:pt x="4221328" y="952501"/>
                  </a:lnTo>
                  <a:lnTo>
                    <a:pt x="0" y="952501"/>
                  </a:lnTo>
                  <a:close/>
                </a:path>
              </a:pathLst>
            </a:custGeom>
            <a:blipFill>
              <a:blip r:embed="rId5">
                <a:alphaModFix amt="0"/>
              </a:blip>
              <a:stretch>
                <a:fillRect t="-36354" b="-36354"/>
              </a:stretch>
            </a:blipFill>
          </p:spPr>
          <p:txBody>
            <a:bodyPr/>
            <a:p/>
          </p:txBody>
        </p:sp>
        <p:sp>
          <p:nvSpPr>
            <p:cNvPr id="49" name="TextBox 49"/>
            <p:cNvSpPr txBox="1"/>
            <p:nvPr/>
          </p:nvSpPr>
          <p:spPr>
            <a:xfrm>
              <a:off x="0" y="-19050"/>
              <a:ext cx="4221328" cy="971550"/>
            </a:xfrm>
            <a:prstGeom prst="rect">
              <a:avLst/>
            </a:prstGeom>
          </p:spPr>
          <p:txBody>
            <a:bodyPr lIns="0" tIns="0" rIns="0" bIns="0" rtlCol="0" anchor="b"/>
            <a:lstStyle/>
            <a:p>
              <a:pPr algn="l">
                <a:lnSpc>
                  <a:spcPts val="1890"/>
                </a:lnSpc>
              </a:pPr>
              <a:r>
                <a:rPr lang="en-US" sz="1575" i="1" u="sng">
                  <a:solidFill>
                    <a:srgbClr val="0000FF"/>
                  </a:solidFill>
                  <a:latin typeface="Calibri (MS) Italics" panose="020F05020202040A0204"/>
                  <a:ea typeface="Calibri (MS) Italics" panose="020F05020202040A0204"/>
                  <a:cs typeface="Calibri (MS) Italics" panose="020F05020202040A0204"/>
                  <a:sym typeface="Calibri (MS) Italics" panose="020F05020202040A0204"/>
                  <a:hlinkClick r:id="rId10" tooltip="https://arxiv.org/pdf/2305.10355"/>
                </a:rPr>
                <a:t>POPE (Li et al., EMNLP 2023)</a:t>
              </a:r>
              <a:endParaRPr lang="en-US" sz="1575" i="1" u="sng">
                <a:solidFill>
                  <a:srgbClr val="0000FF"/>
                </a:solidFill>
                <a:latin typeface="Calibri (MS) Italics" panose="020F05020202040A0204"/>
                <a:ea typeface="Calibri (MS) Italics" panose="020F05020202040A0204"/>
                <a:cs typeface="Calibri (MS) Italics" panose="020F05020202040A0204"/>
                <a:sym typeface="Calibri (MS) Italics" panose="020F05020202040A0204"/>
                <a:hlinkClick r:id="rId10" tooltip="https://arxiv.org/pdf/2305.10355"/>
              </a:endParaRPr>
            </a:p>
          </p:txBody>
        </p:sp>
      </p:grpSp>
      <p:grpSp>
        <p:nvGrpSpPr>
          <p:cNvPr id="50" name="Group 50"/>
          <p:cNvGrpSpPr/>
          <p:nvPr/>
        </p:nvGrpSpPr>
        <p:grpSpPr>
          <a:xfrm rot="0">
            <a:off x="15458732" y="0"/>
            <a:ext cx="2829306" cy="1184338"/>
            <a:chOff x="0" y="0"/>
            <a:chExt cx="3772408" cy="1579118"/>
          </a:xfrm>
        </p:grpSpPr>
        <p:sp>
          <p:nvSpPr>
            <p:cNvPr id="51" name="Freeform 51"/>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1"/>
              <a:stretch>
                <a:fillRect/>
              </a:stretch>
            </a:blipFill>
          </p:spPr>
          <p:txBody>
            <a:bodyPr/>
            <a:p/>
          </p:txBody>
        </p:sp>
      </p:grpSp>
      <p:grpSp>
        <p:nvGrpSpPr>
          <p:cNvPr id="52" name="Group 52"/>
          <p:cNvGrpSpPr/>
          <p:nvPr/>
        </p:nvGrpSpPr>
        <p:grpSpPr>
          <a:xfrm rot="0">
            <a:off x="822960" y="9655969"/>
            <a:ext cx="13716000" cy="360321"/>
            <a:chOff x="0" y="0"/>
            <a:chExt cx="18288000" cy="480428"/>
          </a:xfrm>
        </p:grpSpPr>
        <p:sp>
          <p:nvSpPr>
            <p:cNvPr id="53" name="Freeform 53"/>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4">
                <a:alphaModFix amt="0"/>
              </a:blip>
              <a:stretch>
                <a:fillRect t="-691184" b="-691181"/>
              </a:stretch>
            </a:blipFill>
          </p:spPr>
          <p:txBody>
            <a:bodyPr/>
            <a:p/>
          </p:txBody>
        </p:sp>
      </p:grpSp>
      <p:grpSp>
        <p:nvGrpSpPr>
          <p:cNvPr id="54" name="Group 54"/>
          <p:cNvGrpSpPr/>
          <p:nvPr/>
        </p:nvGrpSpPr>
        <p:grpSpPr>
          <a:xfrm rot="0">
            <a:off x="822960" y="9627394"/>
            <a:ext cx="13716000" cy="388896"/>
            <a:chOff x="0" y="0"/>
            <a:chExt cx="18288000" cy="518528"/>
          </a:xfrm>
        </p:grpSpPr>
        <p:sp>
          <p:nvSpPr>
            <p:cNvPr id="55" name="Freeform 55"/>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5">
                <a:alphaModFix amt="0"/>
              </a:blip>
              <a:stretch>
                <a:fillRect t="-637220" b="-637221"/>
              </a:stretch>
            </a:blipFill>
          </p:spPr>
          <p:txBody>
            <a:bodyPr/>
            <a:p/>
          </p:txBody>
        </p:sp>
        <p:sp>
          <p:nvSpPr>
            <p:cNvPr id="56" name="TextBox 56"/>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sp>
        <p:nvSpPr>
          <p:cNvPr id="6" name="TextBox 6"/>
          <p:cNvSpPr txBox="1"/>
          <p:nvPr/>
        </p:nvSpPr>
        <p:spPr>
          <a:xfrm>
            <a:off x="822960" y="324612"/>
            <a:ext cx="16641623" cy="525780"/>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04 · TRONG VÀ NGOÀI PHẠM VI</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7" name="TextBox 7"/>
          <p:cNvSpPr txBox="1"/>
          <p:nvPr/>
        </p:nvSpPr>
        <p:spPr>
          <a:xfrm>
            <a:off x="822960" y="812292"/>
            <a:ext cx="16641623" cy="998220"/>
          </a:xfrm>
          <a:prstGeom prst="rect">
            <a:avLst/>
          </a:prstGeom>
        </p:spPr>
        <p:txBody>
          <a:bodyPr lIns="0" tIns="0" rIns="0" bIns="0" rtlCol="0" anchor="t">
            <a:spAutoFit/>
          </a:bodyPr>
          <a:lstStyle/>
          <a:p>
            <a:pPr algn="l">
              <a:lnSpc>
                <a:spcPts val="5755"/>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Trong và ngoài phạm vi đề tài</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8" name="Group 8"/>
          <p:cNvGrpSpPr/>
          <p:nvPr/>
        </p:nvGrpSpPr>
        <p:grpSpPr>
          <a:xfrm rot="0">
            <a:off x="806291" y="2039112"/>
            <a:ext cx="5260467" cy="3566160"/>
            <a:chOff x="0" y="0"/>
            <a:chExt cx="7013956" cy="4754880"/>
          </a:xfrm>
        </p:grpSpPr>
        <p:sp>
          <p:nvSpPr>
            <p:cNvPr id="9" name="Freeform 9"/>
            <p:cNvSpPr/>
            <p:nvPr/>
          </p:nvSpPr>
          <p:spPr>
            <a:xfrm>
              <a:off x="0" y="0"/>
              <a:ext cx="7013956" cy="4754880"/>
            </a:xfrm>
            <a:custGeom>
              <a:avLst/>
              <a:gdLst/>
              <a:ahLst/>
              <a:cxnLst/>
              <a:rect l="l" t="t" r="r" b="b"/>
              <a:pathLst>
                <a:path w="7013956" h="4754880">
                  <a:moveTo>
                    <a:pt x="0" y="237744"/>
                  </a:moveTo>
                  <a:cubicBezTo>
                    <a:pt x="0" y="106426"/>
                    <a:pt x="106426" y="0"/>
                    <a:pt x="237744" y="0"/>
                  </a:cubicBezTo>
                  <a:lnTo>
                    <a:pt x="6776212" y="0"/>
                  </a:lnTo>
                  <a:cubicBezTo>
                    <a:pt x="6907530" y="0"/>
                    <a:pt x="7013956" y="106426"/>
                    <a:pt x="7013956" y="237744"/>
                  </a:cubicBezTo>
                  <a:lnTo>
                    <a:pt x="7013956" y="4517136"/>
                  </a:lnTo>
                  <a:cubicBezTo>
                    <a:pt x="7013956" y="4648454"/>
                    <a:pt x="6907530" y="4754880"/>
                    <a:pt x="6776212" y="4754880"/>
                  </a:cubicBezTo>
                  <a:lnTo>
                    <a:pt x="237744" y="4754880"/>
                  </a:lnTo>
                  <a:cubicBezTo>
                    <a:pt x="106426" y="4754880"/>
                    <a:pt x="0" y="4648454"/>
                    <a:pt x="0" y="4517136"/>
                  </a:cubicBezTo>
                  <a:close/>
                </a:path>
              </a:pathLst>
            </a:custGeom>
            <a:solidFill>
              <a:srgbClr val="FBF0DA"/>
            </a:solidFill>
          </p:spPr>
          <p:txBody>
            <a:bodyPr/>
            <a:p/>
          </p:txBody>
        </p:sp>
      </p:grpSp>
      <p:sp>
        <p:nvSpPr>
          <p:cNvPr id="10" name="TextBox 10"/>
          <p:cNvSpPr txBox="1"/>
          <p:nvPr/>
        </p:nvSpPr>
        <p:spPr>
          <a:xfrm>
            <a:off x="1165860" y="2164080"/>
            <a:ext cx="4541368" cy="788670"/>
          </a:xfrm>
          <a:prstGeom prst="rect">
            <a:avLst/>
          </a:prstGeom>
        </p:spPr>
        <p:txBody>
          <a:bodyPr lIns="0" tIns="0" rIns="0" bIns="0" rtlCol="0" anchor="t">
            <a:spAutoFit/>
          </a:bodyPr>
          <a:lstStyle/>
          <a:p>
            <a:pPr algn="l">
              <a:lnSpc>
                <a:spcPts val="3060"/>
              </a:lnSpc>
            </a:pPr>
            <a:r>
              <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rPr>
              <a:t>Dữ liệu</a:t>
            </a:r>
            <a:endPar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65860" y="2887980"/>
            <a:ext cx="4541368" cy="2141220"/>
          </a:xfrm>
          <a:prstGeom prst="rect">
            <a:avLst/>
          </a:prstGeom>
        </p:spPr>
        <p:txBody>
          <a:bodyPr lIns="0" tIns="0" rIns="0" bIns="0" rtlCol="0" anchor="t">
            <a:spAutoFit/>
          </a:bodyPr>
          <a:lstStyle/>
          <a:p>
            <a:pPr algn="l">
              <a:lnSpc>
                <a:spcPts val="2700"/>
              </a:lnSpc>
            </a:pPr>
            <a:r>
              <a:rPr lang="en-US" sz="2500">
                <a:solidFill>
                  <a:srgbClr val="243044"/>
                </a:solidFill>
                <a:latin typeface="Calibri (MS)" panose="020F0502020204030204"/>
                <a:ea typeface="Calibri (MS)" panose="020F0502020204030204"/>
                <a:cs typeface="Calibri (MS)" panose="020F0502020204030204"/>
                <a:sym typeface="Calibri (MS)" panose="020F0502020204030204"/>
              </a:rPr>
              <a:t>ViVQA (ảnh đời thường) và ViTextVQA (ảnh có chữ tiếng Việt); split cố định; câu trả lời ngắn</a:t>
            </a:r>
            <a:endParaRPr lang="en-US" sz="25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6513519" y="2039112"/>
            <a:ext cx="5260467" cy="3566160"/>
            <a:chOff x="0" y="0"/>
            <a:chExt cx="7013956" cy="4754880"/>
          </a:xfrm>
        </p:grpSpPr>
        <p:sp>
          <p:nvSpPr>
            <p:cNvPr id="13" name="Freeform 13"/>
            <p:cNvSpPr/>
            <p:nvPr/>
          </p:nvSpPr>
          <p:spPr>
            <a:xfrm>
              <a:off x="0" y="0"/>
              <a:ext cx="7013956" cy="4754880"/>
            </a:xfrm>
            <a:custGeom>
              <a:avLst/>
              <a:gdLst/>
              <a:ahLst/>
              <a:cxnLst/>
              <a:rect l="l" t="t" r="r" b="b"/>
              <a:pathLst>
                <a:path w="7013956" h="4754880">
                  <a:moveTo>
                    <a:pt x="0" y="237744"/>
                  </a:moveTo>
                  <a:cubicBezTo>
                    <a:pt x="0" y="106426"/>
                    <a:pt x="106426" y="0"/>
                    <a:pt x="237744" y="0"/>
                  </a:cubicBezTo>
                  <a:lnTo>
                    <a:pt x="6776212" y="0"/>
                  </a:lnTo>
                  <a:cubicBezTo>
                    <a:pt x="6907530" y="0"/>
                    <a:pt x="7013956" y="106426"/>
                    <a:pt x="7013956" y="237744"/>
                  </a:cubicBezTo>
                  <a:lnTo>
                    <a:pt x="7013956" y="4517136"/>
                  </a:lnTo>
                  <a:cubicBezTo>
                    <a:pt x="7013956" y="4648454"/>
                    <a:pt x="6907530" y="4754880"/>
                    <a:pt x="6776212" y="4754880"/>
                  </a:cubicBezTo>
                  <a:lnTo>
                    <a:pt x="237744" y="4754880"/>
                  </a:lnTo>
                  <a:cubicBezTo>
                    <a:pt x="106426" y="4754880"/>
                    <a:pt x="0" y="4648454"/>
                    <a:pt x="0" y="4517136"/>
                  </a:cubicBezTo>
                  <a:close/>
                </a:path>
              </a:pathLst>
            </a:custGeom>
            <a:solidFill>
              <a:srgbClr val="F3F5F8"/>
            </a:solidFill>
          </p:spPr>
          <p:txBody>
            <a:bodyPr/>
            <a:p/>
          </p:txBody>
        </p:sp>
      </p:grpSp>
      <p:sp>
        <p:nvSpPr>
          <p:cNvPr id="14" name="TextBox 14"/>
          <p:cNvSpPr txBox="1"/>
          <p:nvPr/>
        </p:nvSpPr>
        <p:spPr>
          <a:xfrm>
            <a:off x="6873088" y="2164080"/>
            <a:ext cx="4541368" cy="788670"/>
          </a:xfrm>
          <a:prstGeom prst="rect">
            <a:avLst/>
          </a:prstGeom>
        </p:spPr>
        <p:txBody>
          <a:bodyPr lIns="0" tIns="0" rIns="0" bIns="0" rtlCol="0" anchor="t">
            <a:spAutoFit/>
          </a:bodyPr>
          <a:lstStyle/>
          <a:p>
            <a:pPr algn="l">
              <a:lnSpc>
                <a:spcPts val="3060"/>
              </a:lnSpc>
            </a:pPr>
            <a:r>
              <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rPr>
              <a:t>Mô hình &amp; cách thích nghi</a:t>
            </a:r>
            <a:endPar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6873088" y="2887980"/>
            <a:ext cx="4541368" cy="2141220"/>
          </a:xfrm>
          <a:prstGeom prst="rect">
            <a:avLst/>
          </a:prstGeom>
        </p:spPr>
        <p:txBody>
          <a:bodyPr lIns="0" tIns="0" rIns="0" bIns="0" rtlCol="0" anchor="t">
            <a:spAutoFit/>
          </a:bodyPr>
          <a:lstStyle/>
          <a:p>
            <a:pPr algn="l">
              <a:lnSpc>
                <a:spcPts val="2700"/>
              </a:lnSpc>
            </a:pPr>
            <a:r>
              <a:rPr lang="en-US" sz="2500">
                <a:solidFill>
                  <a:srgbClr val="243044"/>
                </a:solidFill>
                <a:latin typeface="Calibri (MS)" panose="020F0502020204030204"/>
                <a:ea typeface="Calibri (MS)" panose="020F0502020204030204"/>
                <a:cs typeface="Calibri (MS)" panose="020F0502020204030204"/>
                <a:sym typeface="Calibri (MS)" panose="020F0502020204030204"/>
              </a:rPr>
              <a:t>Một baseline mở: Qwen2.5-VL-3B-Instruct; chỉ PEFT (QLoRA 4-bit); chữ OCR làm đầu vào phụ</a:t>
            </a:r>
            <a:endParaRPr lang="en-US" sz="25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12220746" y="2039112"/>
            <a:ext cx="5260467" cy="3566160"/>
            <a:chOff x="0" y="0"/>
            <a:chExt cx="7013956" cy="4754880"/>
          </a:xfrm>
        </p:grpSpPr>
        <p:sp>
          <p:nvSpPr>
            <p:cNvPr id="17" name="Freeform 17"/>
            <p:cNvSpPr/>
            <p:nvPr/>
          </p:nvSpPr>
          <p:spPr>
            <a:xfrm>
              <a:off x="0" y="0"/>
              <a:ext cx="7013956" cy="4754880"/>
            </a:xfrm>
            <a:custGeom>
              <a:avLst/>
              <a:gdLst/>
              <a:ahLst/>
              <a:cxnLst/>
              <a:rect l="l" t="t" r="r" b="b"/>
              <a:pathLst>
                <a:path w="7013956" h="4754880">
                  <a:moveTo>
                    <a:pt x="0" y="237744"/>
                  </a:moveTo>
                  <a:cubicBezTo>
                    <a:pt x="0" y="106426"/>
                    <a:pt x="106426" y="0"/>
                    <a:pt x="237744" y="0"/>
                  </a:cubicBezTo>
                  <a:lnTo>
                    <a:pt x="6776212" y="0"/>
                  </a:lnTo>
                  <a:cubicBezTo>
                    <a:pt x="6907530" y="0"/>
                    <a:pt x="7013956" y="106426"/>
                    <a:pt x="7013956" y="237744"/>
                  </a:cubicBezTo>
                  <a:lnTo>
                    <a:pt x="7013956" y="4517136"/>
                  </a:lnTo>
                  <a:cubicBezTo>
                    <a:pt x="7013956" y="4648454"/>
                    <a:pt x="6907530" y="4754880"/>
                    <a:pt x="6776212" y="4754880"/>
                  </a:cubicBezTo>
                  <a:lnTo>
                    <a:pt x="237744" y="4754880"/>
                  </a:lnTo>
                  <a:cubicBezTo>
                    <a:pt x="106426" y="4754880"/>
                    <a:pt x="0" y="4648454"/>
                    <a:pt x="0" y="4517136"/>
                  </a:cubicBezTo>
                  <a:close/>
                </a:path>
              </a:pathLst>
            </a:custGeom>
            <a:solidFill>
              <a:srgbClr val="F3F5F8"/>
            </a:solidFill>
          </p:spPr>
          <p:txBody>
            <a:bodyPr/>
            <a:p/>
          </p:txBody>
        </p:sp>
      </p:grpSp>
      <p:sp>
        <p:nvSpPr>
          <p:cNvPr id="18" name="TextBox 18"/>
          <p:cNvSpPr txBox="1"/>
          <p:nvPr/>
        </p:nvSpPr>
        <p:spPr>
          <a:xfrm>
            <a:off x="12580315" y="2164080"/>
            <a:ext cx="4541368" cy="788670"/>
          </a:xfrm>
          <a:prstGeom prst="rect">
            <a:avLst/>
          </a:prstGeom>
        </p:spPr>
        <p:txBody>
          <a:bodyPr lIns="0" tIns="0" rIns="0" bIns="0" rtlCol="0" anchor="t">
            <a:spAutoFit/>
          </a:bodyPr>
          <a:lstStyle/>
          <a:p>
            <a:pPr algn="l">
              <a:lnSpc>
                <a:spcPts val="3060"/>
              </a:lnSpc>
            </a:pPr>
            <a:r>
              <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Đánh giá &amp; tài nguyên</a:t>
            </a:r>
            <a:endPar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9" name="TextBox 19"/>
          <p:cNvSpPr txBox="1"/>
          <p:nvPr/>
        </p:nvSpPr>
        <p:spPr>
          <a:xfrm>
            <a:off x="12580315" y="2887980"/>
            <a:ext cx="4541368" cy="2141220"/>
          </a:xfrm>
          <a:prstGeom prst="rect">
            <a:avLst/>
          </a:prstGeom>
        </p:spPr>
        <p:txBody>
          <a:bodyPr lIns="0" tIns="0" rIns="0" bIns="0" rtlCol="0" anchor="t">
            <a:spAutoFit/>
          </a:bodyPr>
          <a:lstStyle/>
          <a:p>
            <a:pPr algn="l">
              <a:lnSpc>
                <a:spcPts val="2700"/>
              </a:lnSpc>
            </a:pPr>
            <a:r>
              <a:rPr lang="en-US" sz="2500">
                <a:solidFill>
                  <a:srgbClr val="243044"/>
                </a:solidFill>
                <a:latin typeface="Calibri (MS)" panose="020F0502020204030204"/>
                <a:ea typeface="Calibri (MS)" panose="020F0502020204030204"/>
                <a:cs typeface="Calibri (MS)" panose="020F0502020204030204"/>
                <a:sym typeface="Calibri (MS)" panose="020F0502020204030204"/>
              </a:rPr>
              <a:t>EM, VQA-Acc, ANLS (+F1); ablation, phân tích lỗi, hallucination; một GPU Colab</a:t>
            </a:r>
            <a:endParaRPr lang="en-US" sz="25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0" name="Group 20"/>
          <p:cNvGrpSpPr/>
          <p:nvPr/>
        </p:nvGrpSpPr>
        <p:grpSpPr>
          <a:xfrm rot="0">
            <a:off x="804672" y="5943600"/>
            <a:ext cx="16678656" cy="3429000"/>
            <a:chOff x="0" y="0"/>
            <a:chExt cx="22238208" cy="4572000"/>
          </a:xfrm>
        </p:grpSpPr>
        <p:sp>
          <p:nvSpPr>
            <p:cNvPr id="21" name="Freeform 21"/>
            <p:cNvSpPr/>
            <p:nvPr/>
          </p:nvSpPr>
          <p:spPr>
            <a:xfrm>
              <a:off x="0" y="0"/>
              <a:ext cx="22238208" cy="4572000"/>
            </a:xfrm>
            <a:custGeom>
              <a:avLst/>
              <a:gdLst/>
              <a:ahLst/>
              <a:cxnLst/>
              <a:rect l="l" t="t" r="r" b="b"/>
              <a:pathLst>
                <a:path w="22238208" h="4572000">
                  <a:moveTo>
                    <a:pt x="0" y="182880"/>
                  </a:moveTo>
                  <a:cubicBezTo>
                    <a:pt x="0" y="81915"/>
                    <a:pt x="81915" y="0"/>
                    <a:pt x="182880" y="0"/>
                  </a:cubicBezTo>
                  <a:lnTo>
                    <a:pt x="22055328" y="0"/>
                  </a:lnTo>
                  <a:cubicBezTo>
                    <a:pt x="22156293" y="0"/>
                    <a:pt x="22238208" y="81915"/>
                    <a:pt x="22238208" y="182880"/>
                  </a:cubicBezTo>
                  <a:lnTo>
                    <a:pt x="22238208" y="4389120"/>
                  </a:lnTo>
                  <a:cubicBezTo>
                    <a:pt x="22238208" y="4490085"/>
                    <a:pt x="22156293" y="4572000"/>
                    <a:pt x="22055328" y="4572000"/>
                  </a:cubicBezTo>
                  <a:lnTo>
                    <a:pt x="182880" y="4572000"/>
                  </a:lnTo>
                  <a:cubicBezTo>
                    <a:pt x="81915" y="4572000"/>
                    <a:pt x="0" y="4490085"/>
                    <a:pt x="0" y="4389120"/>
                  </a:cubicBezTo>
                  <a:close/>
                </a:path>
              </a:pathLst>
            </a:custGeom>
            <a:solidFill>
              <a:srgbClr val="F3F5F8"/>
            </a:solidFill>
          </p:spPr>
          <p:txBody>
            <a:bodyPr/>
            <a:p/>
          </p:txBody>
        </p:sp>
      </p:grpSp>
      <p:sp>
        <p:nvSpPr>
          <p:cNvPr id="22" name="TextBox 22"/>
          <p:cNvSpPr txBox="1"/>
          <p:nvPr/>
        </p:nvSpPr>
        <p:spPr>
          <a:xfrm>
            <a:off x="1165860" y="6068568"/>
            <a:ext cx="15910560" cy="720090"/>
          </a:xfrm>
          <a:prstGeom prst="rect">
            <a:avLst/>
          </a:prstGeom>
        </p:spPr>
        <p:txBody>
          <a:bodyPr lIns="0" tIns="0" rIns="0" bIns="0" rtlCol="0" anchor="t">
            <a:spAutoFit/>
          </a:bodyPr>
          <a:lstStyle/>
          <a:p>
            <a:pPr algn="l">
              <a:lnSpc>
                <a:spcPts val="3060"/>
              </a:lnSpc>
            </a:pPr>
            <a:r>
              <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rPr>
              <a:t>Ngoài phạm vi</a:t>
            </a:r>
            <a:endParaRPr lang="en-US" sz="2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3" name="TextBox 23"/>
          <p:cNvSpPr txBox="1"/>
          <p:nvPr/>
        </p:nvSpPr>
        <p:spPr>
          <a:xfrm>
            <a:off x="1165860" y="6911340"/>
            <a:ext cx="7680960" cy="2758440"/>
          </a:xfrm>
          <a:prstGeom prst="rect">
            <a:avLst/>
          </a:prstGeom>
        </p:spPr>
        <p:txBody>
          <a:bodyPr lIns="0" tIns="0" rIns="0" bIns="0" rtlCol="0" anchor="t">
            <a:spAutoFit/>
          </a:bodyPr>
          <a:lstStyle/>
          <a:p>
            <a:pPr marL="765175" lvl="4" indent="-153035" algn="l">
              <a:lnSpc>
                <a:spcPts val="2700"/>
              </a:lnSpc>
              <a:buFont typeface="Arial" panose="020B0604020202020204"/>
              <a:buChar char="•"/>
            </a:pPr>
            <a:r>
              <a:rPr lang="en-US" sz="2500">
                <a:solidFill>
                  <a:srgbClr val="243044"/>
                </a:solidFill>
                <a:latin typeface="Calibri (MS)" panose="020F0502020204030204"/>
                <a:ea typeface="Calibri (MS)" panose="020F0502020204030204"/>
                <a:cs typeface="Calibri (MS)" panose="020F0502020204030204"/>
                <a:sym typeface="Calibri (MS)" panose="020F0502020204030204"/>
              </a:rPr>
              <a:t>Full fine-tuning; train VLM từ đầu</a:t>
            </a:r>
            <a:endParaRPr lang="en-US" sz="2500">
              <a:solidFill>
                <a:srgbClr val="243044"/>
              </a:solidFill>
              <a:latin typeface="Calibri (MS)" panose="020F0502020204030204"/>
              <a:ea typeface="Calibri (MS)" panose="020F0502020204030204"/>
              <a:cs typeface="Calibri (MS)" panose="020F0502020204030204"/>
              <a:sym typeface="Calibri (MS)" panose="020F0502020204030204"/>
            </a:endParaRPr>
          </a:p>
          <a:p>
            <a:pPr marL="765175" lvl="4" indent="-153035" algn="l">
              <a:lnSpc>
                <a:spcPts val="2700"/>
              </a:lnSpc>
              <a:buFont typeface="Arial" panose="020B0604020202020204"/>
              <a:buChar char="•"/>
            </a:pPr>
            <a:r>
              <a:rPr lang="en-US" sz="2500">
                <a:solidFill>
                  <a:srgbClr val="243044"/>
                </a:solidFill>
                <a:latin typeface="Calibri (MS)" panose="020F0502020204030204"/>
                <a:ea typeface="Calibri (MS)" panose="020F0502020204030204"/>
                <a:cs typeface="Calibri (MS)" panose="020F0502020204030204"/>
                <a:sym typeface="Calibri (MS)" panose="020F0502020204030204"/>
              </a:rPr>
              <a:t>Câu trả lời dài, giải thích, hội thoại nhiều lượt</a:t>
            </a:r>
            <a:endParaRPr lang="en-US" sz="25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4" name="TextBox 24"/>
          <p:cNvSpPr txBox="1"/>
          <p:nvPr/>
        </p:nvSpPr>
        <p:spPr>
          <a:xfrm>
            <a:off x="9326880" y="6911340"/>
            <a:ext cx="8001000" cy="2758440"/>
          </a:xfrm>
          <a:prstGeom prst="rect">
            <a:avLst/>
          </a:prstGeom>
        </p:spPr>
        <p:txBody>
          <a:bodyPr lIns="0" tIns="0" rIns="0" bIns="0" rtlCol="0" anchor="t">
            <a:spAutoFit/>
          </a:bodyPr>
          <a:lstStyle/>
          <a:p>
            <a:pPr marL="765175" lvl="4" indent="-153035" algn="l">
              <a:lnSpc>
                <a:spcPts val="2700"/>
              </a:lnSpc>
              <a:buFont typeface="Arial" panose="020B0604020202020204"/>
              <a:buChar char="•"/>
            </a:pPr>
            <a:r>
              <a:rPr lang="en-US" sz="2500">
                <a:solidFill>
                  <a:srgbClr val="243044"/>
                </a:solidFill>
                <a:latin typeface="Calibri (MS)" panose="020F0502020204030204"/>
                <a:ea typeface="Calibri (MS)" panose="020F0502020204030204"/>
                <a:cs typeface="Calibri (MS)" panose="020F0502020204030204"/>
                <a:sym typeface="Calibri (MS)" panose="020F0502020204030204"/>
              </a:rPr>
              <a:t>Video; ngôn ngữ khác; train lại OCR</a:t>
            </a:r>
            <a:endParaRPr lang="en-US" sz="2500">
              <a:solidFill>
                <a:srgbClr val="243044"/>
              </a:solidFill>
              <a:latin typeface="Calibri (MS)" panose="020F0502020204030204"/>
              <a:ea typeface="Calibri (MS)" panose="020F0502020204030204"/>
              <a:cs typeface="Calibri (MS)" panose="020F0502020204030204"/>
              <a:sym typeface="Calibri (MS)" panose="020F0502020204030204"/>
            </a:endParaRPr>
          </a:p>
          <a:p>
            <a:pPr marL="765175" lvl="4" indent="-153035" algn="l">
              <a:lnSpc>
                <a:spcPts val="2700"/>
              </a:lnSpc>
              <a:buFont typeface="Arial" panose="020B0604020202020204"/>
              <a:buChar char="•"/>
            </a:pPr>
            <a:r>
              <a:rPr lang="en-US" sz="2500">
                <a:solidFill>
                  <a:srgbClr val="243044"/>
                </a:solidFill>
                <a:latin typeface="Calibri (MS)" panose="020F0502020204030204"/>
                <a:ea typeface="Calibri (MS)" panose="020F0502020204030204"/>
                <a:cs typeface="Calibri (MS)" panose="020F0502020204030204"/>
                <a:sym typeface="Calibri (MS)" panose="020F0502020204030204"/>
              </a:rPr>
              <a:t>RAG tri thức ngoài — chỉ khi phân tích lỗi đòi hỏi</a:t>
            </a:r>
            <a:endParaRPr lang="en-US" sz="25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5" name="Group 25"/>
          <p:cNvGrpSpPr/>
          <p:nvPr/>
        </p:nvGrpSpPr>
        <p:grpSpPr>
          <a:xfrm rot="0">
            <a:off x="15458732" y="0"/>
            <a:ext cx="2829306" cy="1184338"/>
            <a:chOff x="0" y="0"/>
            <a:chExt cx="3772408" cy="1579118"/>
          </a:xfrm>
        </p:grpSpPr>
        <p:sp>
          <p:nvSpPr>
            <p:cNvPr id="26" name="Freeform 26"/>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3"/>
              <a:stretch>
                <a:fillRect/>
              </a:stretch>
            </a:blipFill>
          </p:spPr>
          <p:txBody>
            <a:bodyPr/>
            <a:p/>
          </p:txBody>
        </p:sp>
      </p:grpSp>
      <p:grpSp>
        <p:nvGrpSpPr>
          <p:cNvPr id="27" name="Group 27"/>
          <p:cNvGrpSpPr/>
          <p:nvPr/>
        </p:nvGrpSpPr>
        <p:grpSpPr>
          <a:xfrm rot="0">
            <a:off x="822960" y="9655969"/>
            <a:ext cx="13716000" cy="360321"/>
            <a:chOff x="0" y="0"/>
            <a:chExt cx="18288000" cy="480428"/>
          </a:xfrm>
        </p:grpSpPr>
        <p:sp>
          <p:nvSpPr>
            <p:cNvPr id="28" name="Freeform 28"/>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4">
                <a:alphaModFix amt="0"/>
              </a:blip>
              <a:stretch>
                <a:fillRect t="-691184" b="-691181"/>
              </a:stretch>
            </a:blipFill>
          </p:spPr>
          <p:txBody>
            <a:bodyPr/>
            <a:p/>
          </p:txBody>
        </p:sp>
      </p:grpSp>
      <p:grpSp>
        <p:nvGrpSpPr>
          <p:cNvPr id="29" name="Group 29"/>
          <p:cNvGrpSpPr/>
          <p:nvPr/>
        </p:nvGrpSpPr>
        <p:grpSpPr>
          <a:xfrm rot="0">
            <a:off x="822960" y="9627394"/>
            <a:ext cx="13716000" cy="388896"/>
            <a:chOff x="0" y="0"/>
            <a:chExt cx="18288000" cy="518528"/>
          </a:xfrm>
        </p:grpSpPr>
        <p:sp>
          <p:nvSpPr>
            <p:cNvPr id="30" name="Freeform 30"/>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5">
                <a:alphaModFix amt="0"/>
              </a:blip>
              <a:stretch>
                <a:fillRect t="-637220" b="-637221"/>
              </a:stretch>
            </a:blipFill>
          </p:spPr>
          <p:txBody>
            <a:bodyPr/>
            <a:p/>
          </p:txBody>
        </p:sp>
        <p:sp>
          <p:nvSpPr>
            <p:cNvPr id="31" name="TextBox 31"/>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05 · CÂU HỎI NGHIÊN CỨU</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câu hỏi nghiên cứu — RQ2 là trung tâm</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Freeform 6"/>
          <p:cNvSpPr/>
          <p:nvPr/>
        </p:nvSpPr>
        <p:spPr>
          <a:xfrm>
            <a:off x="806291" y="2040731"/>
            <a:ext cx="8079867" cy="3325178"/>
          </a:xfrm>
          <a:custGeom>
            <a:avLst/>
            <a:gdLst/>
            <a:ahLst/>
            <a:cxnLst/>
            <a:rect l="l" t="t" r="r" b="b"/>
            <a:pathLst>
              <a:path w="8079867" h="3325178">
                <a:moveTo>
                  <a:pt x="0" y="0"/>
                </a:moveTo>
                <a:lnTo>
                  <a:pt x="8079867" y="0"/>
                </a:lnTo>
                <a:lnTo>
                  <a:pt x="8079867" y="3325178"/>
                </a:lnTo>
                <a:lnTo>
                  <a:pt x="0" y="3325178"/>
                </a:lnTo>
                <a:lnTo>
                  <a:pt x="0" y="0"/>
                </a:lnTo>
                <a:close/>
              </a:path>
            </a:pathLst>
          </a:custGeom>
          <a:blipFill>
            <a:blip r:embed="rId2">
              <a:extLst>
                <a:ext uri="{96DAC541-7B7A-43D3-8B79-37D633B846F1}">
                  <asvg:svgBlip xmlns:asvg="http://schemas.microsoft.com/office/drawing/2016/SVG/main" r:embed="rId3"/>
                </a:ext>
              </a:extLst>
            </a:blip>
            <a:stretch>
              <a:fillRect t="-86" b="-86"/>
            </a:stretch>
          </a:blipFill>
        </p:spPr>
        <p:txBody>
          <a:bodyPr/>
          <a:p/>
        </p:txBody>
      </p:sp>
      <p:sp>
        <p:nvSpPr>
          <p:cNvPr id="7" name="TextBox 7"/>
          <p:cNvSpPr txBox="1"/>
          <p:nvPr/>
        </p:nvSpPr>
        <p:spPr>
          <a:xfrm>
            <a:off x="1234440" y="2331720"/>
            <a:ext cx="1783080" cy="754380"/>
          </a:xfrm>
          <a:prstGeom prst="rect">
            <a:avLst/>
          </a:prstGeom>
        </p:spPr>
        <p:txBody>
          <a:bodyPr lIns="0" tIns="0" rIns="0" bIns="0" rtlCol="0" anchor="t">
            <a:spAutoFit/>
          </a:bodyPr>
          <a:lstStyle/>
          <a:p>
            <a:pPr algn="l">
              <a:lnSpc>
                <a:spcPts val="4680"/>
              </a:lnSpc>
            </a:pPr>
            <a:r>
              <a:rPr lang="en-US" sz="3900" b="1">
                <a:solidFill>
                  <a:srgbClr val="1C7293"/>
                </a:solidFill>
                <a:latin typeface="Cambria Bold" panose="02040803050406030204"/>
                <a:ea typeface="Cambria Bold" panose="02040803050406030204"/>
                <a:cs typeface="Cambria Bold" panose="02040803050406030204"/>
                <a:sym typeface="Cambria Bold" panose="02040803050406030204"/>
              </a:rPr>
              <a:t>RQ1</a:t>
            </a:r>
            <a:endParaRPr lang="en-US" sz="39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grpSp>
        <p:nvGrpSpPr>
          <p:cNvPr id="8" name="Group 8"/>
          <p:cNvGrpSpPr/>
          <p:nvPr/>
        </p:nvGrpSpPr>
        <p:grpSpPr>
          <a:xfrm rot="0">
            <a:off x="3017520" y="2400300"/>
            <a:ext cx="5440490" cy="685800"/>
            <a:chOff x="0" y="0"/>
            <a:chExt cx="7253986" cy="914400"/>
          </a:xfrm>
        </p:grpSpPr>
        <p:sp>
          <p:nvSpPr>
            <p:cNvPr id="9" name="Freeform 9"/>
            <p:cNvSpPr/>
            <p:nvPr/>
          </p:nvSpPr>
          <p:spPr>
            <a:xfrm>
              <a:off x="0" y="0"/>
              <a:ext cx="7253986" cy="914400"/>
            </a:xfrm>
            <a:custGeom>
              <a:avLst/>
              <a:gdLst/>
              <a:ahLst/>
              <a:cxnLst/>
              <a:rect l="l" t="t" r="r" b="b"/>
              <a:pathLst>
                <a:path w="7253986" h="914400">
                  <a:moveTo>
                    <a:pt x="0" y="0"/>
                  </a:moveTo>
                  <a:lnTo>
                    <a:pt x="7253986" y="0"/>
                  </a:lnTo>
                  <a:lnTo>
                    <a:pt x="7253986" y="914400"/>
                  </a:lnTo>
                  <a:lnTo>
                    <a:pt x="0" y="914400"/>
                  </a:lnTo>
                  <a:close/>
                </a:path>
              </a:pathLst>
            </a:custGeom>
            <a:blipFill>
              <a:blip r:embed="rId1">
                <a:alphaModFix amt="0"/>
              </a:blip>
              <a:stretch>
                <a:fillRect t="-104468" b="-104468"/>
              </a:stretch>
            </a:blipFill>
          </p:spPr>
          <p:txBody>
            <a:bodyPr/>
            <a:p/>
          </p:txBody>
        </p:sp>
      </p:grpSp>
      <p:grpSp>
        <p:nvGrpSpPr>
          <p:cNvPr id="10" name="Group 10"/>
          <p:cNvGrpSpPr/>
          <p:nvPr/>
        </p:nvGrpSpPr>
        <p:grpSpPr>
          <a:xfrm rot="0">
            <a:off x="3017520" y="2371725"/>
            <a:ext cx="5440451" cy="714375"/>
            <a:chOff x="0" y="0"/>
            <a:chExt cx="7253935" cy="952500"/>
          </a:xfrm>
        </p:grpSpPr>
        <p:sp>
          <p:nvSpPr>
            <p:cNvPr id="11" name="Freeform 11"/>
            <p:cNvSpPr/>
            <p:nvPr/>
          </p:nvSpPr>
          <p:spPr>
            <a:xfrm>
              <a:off x="0" y="0"/>
              <a:ext cx="7253986" cy="952500"/>
            </a:xfrm>
            <a:custGeom>
              <a:avLst/>
              <a:gdLst/>
              <a:ahLst/>
              <a:cxnLst/>
              <a:rect l="l" t="t" r="r" b="b"/>
              <a:pathLst>
                <a:path w="7253986" h="952500">
                  <a:moveTo>
                    <a:pt x="0" y="0"/>
                  </a:moveTo>
                  <a:lnTo>
                    <a:pt x="7253986" y="0"/>
                  </a:lnTo>
                  <a:lnTo>
                    <a:pt x="7253986" y="952500"/>
                  </a:lnTo>
                  <a:lnTo>
                    <a:pt x="0" y="952500"/>
                  </a:lnTo>
                  <a:close/>
                </a:path>
              </a:pathLst>
            </a:custGeom>
            <a:blipFill>
              <a:blip r:embed="rId4">
                <a:alphaModFix amt="0"/>
              </a:blip>
              <a:stretch>
                <a:fillRect t="-98287" b="-98289"/>
              </a:stretch>
            </a:blipFill>
          </p:spPr>
          <p:txBody>
            <a:bodyPr/>
            <a:p/>
          </p:txBody>
        </p:sp>
      </p:grpSp>
      <p:grpSp>
        <p:nvGrpSpPr>
          <p:cNvPr id="12" name="Group 12"/>
          <p:cNvGrpSpPr/>
          <p:nvPr/>
        </p:nvGrpSpPr>
        <p:grpSpPr>
          <a:xfrm rot="0">
            <a:off x="3017520" y="2343150"/>
            <a:ext cx="5440451" cy="742950"/>
            <a:chOff x="0" y="0"/>
            <a:chExt cx="7253935" cy="990600"/>
          </a:xfrm>
        </p:grpSpPr>
        <p:sp>
          <p:nvSpPr>
            <p:cNvPr id="13" name="Freeform 13"/>
            <p:cNvSpPr/>
            <p:nvPr/>
          </p:nvSpPr>
          <p:spPr>
            <a:xfrm>
              <a:off x="0" y="0"/>
              <a:ext cx="7253935" cy="990600"/>
            </a:xfrm>
            <a:custGeom>
              <a:avLst/>
              <a:gdLst/>
              <a:ahLst/>
              <a:cxnLst/>
              <a:rect l="l" t="t" r="r" b="b"/>
              <a:pathLst>
                <a:path w="7253935" h="990600">
                  <a:moveTo>
                    <a:pt x="0" y="0"/>
                  </a:moveTo>
                  <a:lnTo>
                    <a:pt x="7253935" y="0"/>
                  </a:lnTo>
                  <a:lnTo>
                    <a:pt x="7253935" y="990600"/>
                  </a:lnTo>
                  <a:lnTo>
                    <a:pt x="0" y="990600"/>
                  </a:lnTo>
                  <a:close/>
                </a:path>
              </a:pathLst>
            </a:custGeom>
            <a:blipFill>
              <a:blip r:embed="rId5">
                <a:alphaModFix amt="0"/>
              </a:blip>
              <a:stretch>
                <a:fillRect t="-92684" b="-92684"/>
              </a:stretch>
            </a:blipFill>
          </p:spPr>
          <p:txBody>
            <a:bodyPr/>
            <a:p/>
          </p:txBody>
        </p:sp>
        <p:sp>
          <p:nvSpPr>
            <p:cNvPr id="14" name="TextBox 14"/>
            <p:cNvSpPr txBox="1"/>
            <p:nvPr/>
          </p:nvSpPr>
          <p:spPr>
            <a:xfrm>
              <a:off x="0" y="-38100"/>
              <a:ext cx="7253935" cy="10287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Zero-shot &amp; prompting</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5" name="TextBox 15"/>
          <p:cNvSpPr txBox="1"/>
          <p:nvPr/>
        </p:nvSpPr>
        <p:spPr>
          <a:xfrm>
            <a:off x="1234440" y="3148965"/>
            <a:ext cx="7223531" cy="151447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VLM đạt bao nhiêu khi zero-shot trên ViVQA / ViTextVQA, lỗi tiếng Việt nào (V1–V3) chiếm ưu thế, prompt tiếng Việt giúp được đến đâu?</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6" name="TextBox 16"/>
          <p:cNvSpPr txBox="1"/>
          <p:nvPr/>
        </p:nvSpPr>
        <p:spPr>
          <a:xfrm>
            <a:off x="1234440" y="4549140"/>
            <a:ext cx="7223531" cy="5943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EM · VQA-Acc · ANLS</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sp>
        <p:nvSpPr>
          <p:cNvPr id="17" name="Freeform 17"/>
          <p:cNvSpPr/>
          <p:nvPr/>
        </p:nvSpPr>
        <p:spPr>
          <a:xfrm>
            <a:off x="9401423" y="2040731"/>
            <a:ext cx="8079867" cy="3325178"/>
          </a:xfrm>
          <a:custGeom>
            <a:avLst/>
            <a:gdLst/>
            <a:ahLst/>
            <a:cxnLst/>
            <a:rect l="l" t="t" r="r" b="b"/>
            <a:pathLst>
              <a:path w="8079867" h="3325178">
                <a:moveTo>
                  <a:pt x="0" y="0"/>
                </a:moveTo>
                <a:lnTo>
                  <a:pt x="8079867" y="0"/>
                </a:lnTo>
                <a:lnTo>
                  <a:pt x="8079867" y="3325178"/>
                </a:lnTo>
                <a:lnTo>
                  <a:pt x="0" y="3325178"/>
                </a:lnTo>
                <a:lnTo>
                  <a:pt x="0" y="0"/>
                </a:lnTo>
                <a:close/>
              </a:path>
            </a:pathLst>
          </a:custGeom>
          <a:blipFill>
            <a:blip r:embed="rId6">
              <a:extLst>
                <a:ext uri="{96DAC541-7B7A-43D3-8B79-37D633B846F1}">
                  <asvg:svgBlip xmlns:asvg="http://schemas.microsoft.com/office/drawing/2016/SVG/main" r:embed="rId7"/>
                </a:ext>
              </a:extLst>
            </a:blip>
            <a:stretch>
              <a:fillRect t="-86" b="-86"/>
            </a:stretch>
          </a:blipFill>
        </p:spPr>
        <p:txBody>
          <a:bodyPr/>
          <a:p/>
        </p:txBody>
      </p:sp>
      <p:sp>
        <p:nvSpPr>
          <p:cNvPr id="18" name="TextBox 18"/>
          <p:cNvSpPr txBox="1"/>
          <p:nvPr/>
        </p:nvSpPr>
        <p:spPr>
          <a:xfrm>
            <a:off x="9829571" y="2331720"/>
            <a:ext cx="1783080" cy="754380"/>
          </a:xfrm>
          <a:prstGeom prst="rect">
            <a:avLst/>
          </a:prstGeom>
        </p:spPr>
        <p:txBody>
          <a:bodyPr lIns="0" tIns="0" rIns="0" bIns="0" rtlCol="0" anchor="t">
            <a:spAutoFit/>
          </a:bodyPr>
          <a:lstStyle/>
          <a:p>
            <a:pPr algn="l">
              <a:lnSpc>
                <a:spcPts val="4680"/>
              </a:lnSpc>
            </a:pPr>
            <a:r>
              <a:rPr lang="en-US" sz="3900" b="1">
                <a:solidFill>
                  <a:srgbClr val="E8A33D"/>
                </a:solidFill>
                <a:latin typeface="Cambria Bold" panose="02040803050406030204"/>
                <a:ea typeface="Cambria Bold" panose="02040803050406030204"/>
                <a:cs typeface="Cambria Bold" panose="02040803050406030204"/>
                <a:sym typeface="Cambria Bold" panose="02040803050406030204"/>
              </a:rPr>
              <a:t>RQ2</a:t>
            </a:r>
            <a:endParaRPr lang="en-US" sz="39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grpSp>
        <p:nvGrpSpPr>
          <p:cNvPr id="19" name="Group 19"/>
          <p:cNvGrpSpPr/>
          <p:nvPr/>
        </p:nvGrpSpPr>
        <p:grpSpPr>
          <a:xfrm rot="0">
            <a:off x="11612651" y="2400300"/>
            <a:ext cx="5440490" cy="685800"/>
            <a:chOff x="0" y="0"/>
            <a:chExt cx="7253986" cy="914400"/>
          </a:xfrm>
        </p:grpSpPr>
        <p:sp>
          <p:nvSpPr>
            <p:cNvPr id="20" name="Freeform 20"/>
            <p:cNvSpPr/>
            <p:nvPr/>
          </p:nvSpPr>
          <p:spPr>
            <a:xfrm>
              <a:off x="0" y="0"/>
              <a:ext cx="7253986" cy="914400"/>
            </a:xfrm>
            <a:custGeom>
              <a:avLst/>
              <a:gdLst/>
              <a:ahLst/>
              <a:cxnLst/>
              <a:rect l="l" t="t" r="r" b="b"/>
              <a:pathLst>
                <a:path w="7253986" h="914400">
                  <a:moveTo>
                    <a:pt x="0" y="0"/>
                  </a:moveTo>
                  <a:lnTo>
                    <a:pt x="7253986" y="0"/>
                  </a:lnTo>
                  <a:lnTo>
                    <a:pt x="7253986" y="914400"/>
                  </a:lnTo>
                  <a:lnTo>
                    <a:pt x="0" y="914400"/>
                  </a:lnTo>
                  <a:close/>
                </a:path>
              </a:pathLst>
            </a:custGeom>
            <a:blipFill>
              <a:blip r:embed="rId1">
                <a:alphaModFix amt="0"/>
              </a:blip>
              <a:stretch>
                <a:fillRect t="-104468" b="-104468"/>
              </a:stretch>
            </a:blipFill>
          </p:spPr>
          <p:txBody>
            <a:bodyPr/>
            <a:p/>
          </p:txBody>
        </p:sp>
      </p:grpSp>
      <p:grpSp>
        <p:nvGrpSpPr>
          <p:cNvPr id="21" name="Group 21"/>
          <p:cNvGrpSpPr/>
          <p:nvPr/>
        </p:nvGrpSpPr>
        <p:grpSpPr>
          <a:xfrm rot="0">
            <a:off x="11612651" y="2371725"/>
            <a:ext cx="5440451" cy="714375"/>
            <a:chOff x="0" y="0"/>
            <a:chExt cx="7253935" cy="952500"/>
          </a:xfrm>
        </p:grpSpPr>
        <p:sp>
          <p:nvSpPr>
            <p:cNvPr id="22" name="Freeform 22"/>
            <p:cNvSpPr/>
            <p:nvPr/>
          </p:nvSpPr>
          <p:spPr>
            <a:xfrm>
              <a:off x="0" y="0"/>
              <a:ext cx="7253986" cy="952500"/>
            </a:xfrm>
            <a:custGeom>
              <a:avLst/>
              <a:gdLst/>
              <a:ahLst/>
              <a:cxnLst/>
              <a:rect l="l" t="t" r="r" b="b"/>
              <a:pathLst>
                <a:path w="7253986" h="952500">
                  <a:moveTo>
                    <a:pt x="0" y="0"/>
                  </a:moveTo>
                  <a:lnTo>
                    <a:pt x="7253986" y="0"/>
                  </a:lnTo>
                  <a:lnTo>
                    <a:pt x="7253986" y="952500"/>
                  </a:lnTo>
                  <a:lnTo>
                    <a:pt x="0" y="952500"/>
                  </a:lnTo>
                  <a:close/>
                </a:path>
              </a:pathLst>
            </a:custGeom>
            <a:blipFill>
              <a:blip r:embed="rId4">
                <a:alphaModFix amt="0"/>
              </a:blip>
              <a:stretch>
                <a:fillRect t="-98287" b="-98289"/>
              </a:stretch>
            </a:blipFill>
          </p:spPr>
          <p:txBody>
            <a:bodyPr/>
            <a:p/>
          </p:txBody>
        </p:sp>
      </p:grpSp>
      <p:grpSp>
        <p:nvGrpSpPr>
          <p:cNvPr id="23" name="Group 23"/>
          <p:cNvGrpSpPr/>
          <p:nvPr/>
        </p:nvGrpSpPr>
        <p:grpSpPr>
          <a:xfrm rot="0">
            <a:off x="11612651" y="2343150"/>
            <a:ext cx="5440451" cy="742950"/>
            <a:chOff x="0" y="0"/>
            <a:chExt cx="7253935" cy="990600"/>
          </a:xfrm>
        </p:grpSpPr>
        <p:sp>
          <p:nvSpPr>
            <p:cNvPr id="24" name="Freeform 24"/>
            <p:cNvSpPr/>
            <p:nvPr/>
          </p:nvSpPr>
          <p:spPr>
            <a:xfrm>
              <a:off x="0" y="0"/>
              <a:ext cx="7253935" cy="990600"/>
            </a:xfrm>
            <a:custGeom>
              <a:avLst/>
              <a:gdLst/>
              <a:ahLst/>
              <a:cxnLst/>
              <a:rect l="l" t="t" r="r" b="b"/>
              <a:pathLst>
                <a:path w="7253935" h="990600">
                  <a:moveTo>
                    <a:pt x="0" y="0"/>
                  </a:moveTo>
                  <a:lnTo>
                    <a:pt x="7253935" y="0"/>
                  </a:lnTo>
                  <a:lnTo>
                    <a:pt x="7253935" y="990600"/>
                  </a:lnTo>
                  <a:lnTo>
                    <a:pt x="0" y="990600"/>
                  </a:lnTo>
                  <a:close/>
                </a:path>
              </a:pathLst>
            </a:custGeom>
            <a:blipFill>
              <a:blip r:embed="rId5">
                <a:alphaModFix amt="0"/>
              </a:blip>
              <a:stretch>
                <a:fillRect t="-92684" b="-92684"/>
              </a:stretch>
            </a:blipFill>
          </p:spPr>
          <p:txBody>
            <a:bodyPr/>
            <a:p/>
          </p:txBody>
        </p:sp>
        <p:sp>
          <p:nvSpPr>
            <p:cNvPr id="25" name="TextBox 25"/>
            <p:cNvSpPr txBox="1"/>
            <p:nvPr/>
          </p:nvSpPr>
          <p:spPr>
            <a:xfrm>
              <a:off x="0" y="-38100"/>
              <a:ext cx="7253935" cy="10287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PEFT (QLoRA) so với zero-shot — trung tâm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6" name="TextBox 26"/>
          <p:cNvSpPr txBox="1"/>
          <p:nvPr/>
        </p:nvSpPr>
        <p:spPr>
          <a:xfrm>
            <a:off x="9829571" y="3148965"/>
            <a:ext cx="7223531" cy="151447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QLoRA cải thiện bao nhiêu so với zero-shot / prompting, không full fine-tuning?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7" name="TextBox 27"/>
          <p:cNvSpPr txBox="1"/>
          <p:nvPr/>
        </p:nvSpPr>
        <p:spPr>
          <a:xfrm>
            <a:off x="9829571" y="4549140"/>
            <a:ext cx="7223531" cy="5943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EM · VQA-Acc · ANLS</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sp>
        <p:nvSpPr>
          <p:cNvPr id="28" name="Freeform 28"/>
          <p:cNvSpPr/>
          <p:nvPr/>
        </p:nvSpPr>
        <p:spPr>
          <a:xfrm>
            <a:off x="806291" y="5744051"/>
            <a:ext cx="8079867" cy="3325178"/>
          </a:xfrm>
          <a:custGeom>
            <a:avLst/>
            <a:gdLst/>
            <a:ahLst/>
            <a:cxnLst/>
            <a:rect l="l" t="t" r="r" b="b"/>
            <a:pathLst>
              <a:path w="8079867" h="3325178">
                <a:moveTo>
                  <a:pt x="0" y="0"/>
                </a:moveTo>
                <a:lnTo>
                  <a:pt x="8079867" y="0"/>
                </a:lnTo>
                <a:lnTo>
                  <a:pt x="8079867" y="3325178"/>
                </a:lnTo>
                <a:lnTo>
                  <a:pt x="0" y="3325178"/>
                </a:lnTo>
                <a:lnTo>
                  <a:pt x="0" y="0"/>
                </a:lnTo>
                <a:close/>
              </a:path>
            </a:pathLst>
          </a:custGeom>
          <a:blipFill>
            <a:blip r:embed="rId2">
              <a:extLst>
                <a:ext uri="{96DAC541-7B7A-43D3-8B79-37D633B846F1}">
                  <asvg:svgBlip xmlns:asvg="http://schemas.microsoft.com/office/drawing/2016/SVG/main" r:embed="rId3"/>
                </a:ext>
              </a:extLst>
            </a:blip>
            <a:stretch>
              <a:fillRect t="-86" b="-86"/>
            </a:stretch>
          </a:blipFill>
        </p:spPr>
        <p:txBody>
          <a:bodyPr/>
          <a:p/>
        </p:txBody>
      </p:sp>
      <p:sp>
        <p:nvSpPr>
          <p:cNvPr id="29" name="TextBox 29"/>
          <p:cNvSpPr txBox="1"/>
          <p:nvPr/>
        </p:nvSpPr>
        <p:spPr>
          <a:xfrm>
            <a:off x="1234440" y="6035040"/>
            <a:ext cx="1783080" cy="754380"/>
          </a:xfrm>
          <a:prstGeom prst="rect">
            <a:avLst/>
          </a:prstGeom>
        </p:spPr>
        <p:txBody>
          <a:bodyPr lIns="0" tIns="0" rIns="0" bIns="0" rtlCol="0" anchor="t">
            <a:spAutoFit/>
          </a:bodyPr>
          <a:lstStyle/>
          <a:p>
            <a:pPr algn="l">
              <a:lnSpc>
                <a:spcPts val="4680"/>
              </a:lnSpc>
            </a:pPr>
            <a:r>
              <a:rPr lang="en-US" sz="3900" b="1">
                <a:solidFill>
                  <a:srgbClr val="1C7293"/>
                </a:solidFill>
                <a:latin typeface="Cambria Bold" panose="02040803050406030204"/>
                <a:ea typeface="Cambria Bold" panose="02040803050406030204"/>
                <a:cs typeface="Cambria Bold" panose="02040803050406030204"/>
                <a:sym typeface="Cambria Bold" panose="02040803050406030204"/>
              </a:rPr>
              <a:t>RQ3</a:t>
            </a:r>
            <a:endParaRPr lang="en-US" sz="39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grpSp>
        <p:nvGrpSpPr>
          <p:cNvPr id="30" name="Group 30"/>
          <p:cNvGrpSpPr/>
          <p:nvPr/>
        </p:nvGrpSpPr>
        <p:grpSpPr>
          <a:xfrm rot="0">
            <a:off x="3017520" y="6103620"/>
            <a:ext cx="5440490" cy="685800"/>
            <a:chOff x="0" y="0"/>
            <a:chExt cx="7253986" cy="914400"/>
          </a:xfrm>
        </p:grpSpPr>
        <p:sp>
          <p:nvSpPr>
            <p:cNvPr id="31" name="Freeform 31"/>
            <p:cNvSpPr/>
            <p:nvPr/>
          </p:nvSpPr>
          <p:spPr>
            <a:xfrm>
              <a:off x="0" y="0"/>
              <a:ext cx="7253986" cy="914400"/>
            </a:xfrm>
            <a:custGeom>
              <a:avLst/>
              <a:gdLst/>
              <a:ahLst/>
              <a:cxnLst/>
              <a:rect l="l" t="t" r="r" b="b"/>
              <a:pathLst>
                <a:path w="7253986" h="914400">
                  <a:moveTo>
                    <a:pt x="0" y="0"/>
                  </a:moveTo>
                  <a:lnTo>
                    <a:pt x="7253986" y="0"/>
                  </a:lnTo>
                  <a:lnTo>
                    <a:pt x="7253986" y="914400"/>
                  </a:lnTo>
                  <a:lnTo>
                    <a:pt x="0" y="914400"/>
                  </a:lnTo>
                  <a:close/>
                </a:path>
              </a:pathLst>
            </a:custGeom>
            <a:blipFill>
              <a:blip r:embed="rId1">
                <a:alphaModFix amt="0"/>
              </a:blip>
              <a:stretch>
                <a:fillRect t="-104468" b="-104468"/>
              </a:stretch>
            </a:blipFill>
          </p:spPr>
          <p:txBody>
            <a:bodyPr/>
            <a:p/>
          </p:txBody>
        </p:sp>
      </p:grpSp>
      <p:grpSp>
        <p:nvGrpSpPr>
          <p:cNvPr id="32" name="Group 32"/>
          <p:cNvGrpSpPr/>
          <p:nvPr/>
        </p:nvGrpSpPr>
        <p:grpSpPr>
          <a:xfrm rot="0">
            <a:off x="3017520" y="6075045"/>
            <a:ext cx="5440451" cy="714375"/>
            <a:chOff x="0" y="0"/>
            <a:chExt cx="7253935" cy="952500"/>
          </a:xfrm>
        </p:grpSpPr>
        <p:sp>
          <p:nvSpPr>
            <p:cNvPr id="33" name="Freeform 33"/>
            <p:cNvSpPr/>
            <p:nvPr/>
          </p:nvSpPr>
          <p:spPr>
            <a:xfrm>
              <a:off x="0" y="0"/>
              <a:ext cx="7253986" cy="952500"/>
            </a:xfrm>
            <a:custGeom>
              <a:avLst/>
              <a:gdLst/>
              <a:ahLst/>
              <a:cxnLst/>
              <a:rect l="l" t="t" r="r" b="b"/>
              <a:pathLst>
                <a:path w="7253986" h="952500">
                  <a:moveTo>
                    <a:pt x="0" y="0"/>
                  </a:moveTo>
                  <a:lnTo>
                    <a:pt x="7253986" y="0"/>
                  </a:lnTo>
                  <a:lnTo>
                    <a:pt x="7253986" y="952500"/>
                  </a:lnTo>
                  <a:lnTo>
                    <a:pt x="0" y="952500"/>
                  </a:lnTo>
                  <a:close/>
                </a:path>
              </a:pathLst>
            </a:custGeom>
            <a:blipFill>
              <a:blip r:embed="rId4">
                <a:alphaModFix amt="0"/>
              </a:blip>
              <a:stretch>
                <a:fillRect t="-98287" b="-98289"/>
              </a:stretch>
            </a:blipFill>
          </p:spPr>
          <p:txBody>
            <a:bodyPr/>
            <a:p/>
          </p:txBody>
        </p:sp>
      </p:grpSp>
      <p:grpSp>
        <p:nvGrpSpPr>
          <p:cNvPr id="34" name="Group 34"/>
          <p:cNvGrpSpPr/>
          <p:nvPr/>
        </p:nvGrpSpPr>
        <p:grpSpPr>
          <a:xfrm rot="0">
            <a:off x="3017520" y="6046470"/>
            <a:ext cx="5440451" cy="742950"/>
            <a:chOff x="0" y="0"/>
            <a:chExt cx="7253935" cy="990600"/>
          </a:xfrm>
        </p:grpSpPr>
        <p:sp>
          <p:nvSpPr>
            <p:cNvPr id="35" name="Freeform 35"/>
            <p:cNvSpPr/>
            <p:nvPr/>
          </p:nvSpPr>
          <p:spPr>
            <a:xfrm>
              <a:off x="0" y="0"/>
              <a:ext cx="7253935" cy="990600"/>
            </a:xfrm>
            <a:custGeom>
              <a:avLst/>
              <a:gdLst/>
              <a:ahLst/>
              <a:cxnLst/>
              <a:rect l="l" t="t" r="r" b="b"/>
              <a:pathLst>
                <a:path w="7253935" h="990600">
                  <a:moveTo>
                    <a:pt x="0" y="0"/>
                  </a:moveTo>
                  <a:lnTo>
                    <a:pt x="7253935" y="0"/>
                  </a:lnTo>
                  <a:lnTo>
                    <a:pt x="7253935" y="990600"/>
                  </a:lnTo>
                  <a:lnTo>
                    <a:pt x="0" y="990600"/>
                  </a:lnTo>
                  <a:close/>
                </a:path>
              </a:pathLst>
            </a:custGeom>
            <a:blipFill>
              <a:blip r:embed="rId5">
                <a:alphaModFix amt="0"/>
              </a:blip>
              <a:stretch>
                <a:fillRect t="-92684" b="-92684"/>
              </a:stretch>
            </a:blipFill>
          </p:spPr>
          <p:txBody>
            <a:bodyPr/>
            <a:p/>
          </p:txBody>
        </p:sp>
        <p:sp>
          <p:nvSpPr>
            <p:cNvPr id="36" name="TextBox 36"/>
            <p:cNvSpPr txBox="1"/>
            <p:nvPr/>
          </p:nvSpPr>
          <p:spPr>
            <a:xfrm>
              <a:off x="0" y="-38100"/>
              <a:ext cx="7253935" cy="10287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OCR tiếng Việt × QLoRA trên ViTextVQA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7" name="TextBox 37"/>
          <p:cNvSpPr txBox="1"/>
          <p:nvPr/>
        </p:nvSpPr>
        <p:spPr>
          <a:xfrm>
            <a:off x="1234440" y="6852285"/>
            <a:ext cx="7223531" cy="151447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Chữ OCR có dấu, sắp trái-trên → phải-dưới, có giúp đọc chữ trong ảnh không, và có cộng hưởng với QLoRA không?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8" name="TextBox 38"/>
          <p:cNvSpPr txBox="1"/>
          <p:nvPr/>
        </p:nvSpPr>
        <p:spPr>
          <a:xfrm>
            <a:off x="1234440" y="8252460"/>
            <a:ext cx="7223531" cy="5943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ANLS · EM</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sp>
        <p:nvSpPr>
          <p:cNvPr id="39" name="Freeform 39"/>
          <p:cNvSpPr/>
          <p:nvPr/>
        </p:nvSpPr>
        <p:spPr>
          <a:xfrm>
            <a:off x="9401423" y="5744051"/>
            <a:ext cx="8079867" cy="3325178"/>
          </a:xfrm>
          <a:custGeom>
            <a:avLst/>
            <a:gdLst/>
            <a:ahLst/>
            <a:cxnLst/>
            <a:rect l="l" t="t" r="r" b="b"/>
            <a:pathLst>
              <a:path w="8079867" h="3325178">
                <a:moveTo>
                  <a:pt x="0" y="0"/>
                </a:moveTo>
                <a:lnTo>
                  <a:pt x="8079867" y="0"/>
                </a:lnTo>
                <a:lnTo>
                  <a:pt x="8079867" y="3325178"/>
                </a:lnTo>
                <a:lnTo>
                  <a:pt x="0" y="3325178"/>
                </a:lnTo>
                <a:lnTo>
                  <a:pt x="0" y="0"/>
                </a:lnTo>
                <a:close/>
              </a:path>
            </a:pathLst>
          </a:custGeom>
          <a:blipFill>
            <a:blip r:embed="rId2">
              <a:extLst>
                <a:ext uri="{96DAC541-7B7A-43D3-8B79-37D633B846F1}">
                  <asvg:svgBlip xmlns:asvg="http://schemas.microsoft.com/office/drawing/2016/SVG/main" r:embed="rId3"/>
                </a:ext>
              </a:extLst>
            </a:blip>
            <a:stretch>
              <a:fillRect t="-86" b="-86"/>
            </a:stretch>
          </a:blipFill>
        </p:spPr>
        <p:txBody>
          <a:bodyPr/>
          <a:p/>
        </p:txBody>
      </p:sp>
      <p:sp>
        <p:nvSpPr>
          <p:cNvPr id="40" name="TextBox 40"/>
          <p:cNvSpPr txBox="1"/>
          <p:nvPr/>
        </p:nvSpPr>
        <p:spPr>
          <a:xfrm>
            <a:off x="9829571" y="6035040"/>
            <a:ext cx="1783080" cy="754380"/>
          </a:xfrm>
          <a:prstGeom prst="rect">
            <a:avLst/>
          </a:prstGeom>
        </p:spPr>
        <p:txBody>
          <a:bodyPr lIns="0" tIns="0" rIns="0" bIns="0" rtlCol="0" anchor="t">
            <a:spAutoFit/>
          </a:bodyPr>
          <a:lstStyle/>
          <a:p>
            <a:pPr algn="l">
              <a:lnSpc>
                <a:spcPts val="4680"/>
              </a:lnSpc>
            </a:pPr>
            <a:r>
              <a:rPr lang="en-US" sz="3900" b="1">
                <a:solidFill>
                  <a:srgbClr val="1C7293"/>
                </a:solidFill>
                <a:latin typeface="Cambria Bold" panose="02040803050406030204"/>
                <a:ea typeface="Cambria Bold" panose="02040803050406030204"/>
                <a:cs typeface="Cambria Bold" panose="02040803050406030204"/>
                <a:sym typeface="Cambria Bold" panose="02040803050406030204"/>
              </a:rPr>
              <a:t>RQ4</a:t>
            </a:r>
            <a:endParaRPr lang="en-US" sz="39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grpSp>
        <p:nvGrpSpPr>
          <p:cNvPr id="41" name="Group 41"/>
          <p:cNvGrpSpPr/>
          <p:nvPr/>
        </p:nvGrpSpPr>
        <p:grpSpPr>
          <a:xfrm rot="0">
            <a:off x="11612651" y="6103620"/>
            <a:ext cx="5440490" cy="685800"/>
            <a:chOff x="0" y="0"/>
            <a:chExt cx="7253986" cy="914400"/>
          </a:xfrm>
        </p:grpSpPr>
        <p:sp>
          <p:nvSpPr>
            <p:cNvPr id="42" name="Freeform 42"/>
            <p:cNvSpPr/>
            <p:nvPr/>
          </p:nvSpPr>
          <p:spPr>
            <a:xfrm>
              <a:off x="0" y="0"/>
              <a:ext cx="7253986" cy="914400"/>
            </a:xfrm>
            <a:custGeom>
              <a:avLst/>
              <a:gdLst/>
              <a:ahLst/>
              <a:cxnLst/>
              <a:rect l="l" t="t" r="r" b="b"/>
              <a:pathLst>
                <a:path w="7253986" h="914400">
                  <a:moveTo>
                    <a:pt x="0" y="0"/>
                  </a:moveTo>
                  <a:lnTo>
                    <a:pt x="7253986" y="0"/>
                  </a:lnTo>
                  <a:lnTo>
                    <a:pt x="7253986" y="914400"/>
                  </a:lnTo>
                  <a:lnTo>
                    <a:pt x="0" y="914400"/>
                  </a:lnTo>
                  <a:close/>
                </a:path>
              </a:pathLst>
            </a:custGeom>
            <a:blipFill>
              <a:blip r:embed="rId1">
                <a:alphaModFix amt="0"/>
              </a:blip>
              <a:stretch>
                <a:fillRect t="-104468" b="-104468"/>
              </a:stretch>
            </a:blipFill>
          </p:spPr>
          <p:txBody>
            <a:bodyPr/>
            <a:p/>
          </p:txBody>
        </p:sp>
      </p:grpSp>
      <p:grpSp>
        <p:nvGrpSpPr>
          <p:cNvPr id="43" name="Group 43"/>
          <p:cNvGrpSpPr/>
          <p:nvPr/>
        </p:nvGrpSpPr>
        <p:grpSpPr>
          <a:xfrm rot="0">
            <a:off x="11612651" y="6075045"/>
            <a:ext cx="5440451" cy="714375"/>
            <a:chOff x="0" y="0"/>
            <a:chExt cx="7253935" cy="952500"/>
          </a:xfrm>
        </p:grpSpPr>
        <p:sp>
          <p:nvSpPr>
            <p:cNvPr id="44" name="Freeform 44"/>
            <p:cNvSpPr/>
            <p:nvPr/>
          </p:nvSpPr>
          <p:spPr>
            <a:xfrm>
              <a:off x="0" y="0"/>
              <a:ext cx="7253986" cy="952500"/>
            </a:xfrm>
            <a:custGeom>
              <a:avLst/>
              <a:gdLst/>
              <a:ahLst/>
              <a:cxnLst/>
              <a:rect l="l" t="t" r="r" b="b"/>
              <a:pathLst>
                <a:path w="7253986" h="952500">
                  <a:moveTo>
                    <a:pt x="0" y="0"/>
                  </a:moveTo>
                  <a:lnTo>
                    <a:pt x="7253986" y="0"/>
                  </a:lnTo>
                  <a:lnTo>
                    <a:pt x="7253986" y="952500"/>
                  </a:lnTo>
                  <a:lnTo>
                    <a:pt x="0" y="952500"/>
                  </a:lnTo>
                  <a:close/>
                </a:path>
              </a:pathLst>
            </a:custGeom>
            <a:blipFill>
              <a:blip r:embed="rId4">
                <a:alphaModFix amt="0"/>
              </a:blip>
              <a:stretch>
                <a:fillRect t="-98287" b="-98289"/>
              </a:stretch>
            </a:blipFill>
          </p:spPr>
          <p:txBody>
            <a:bodyPr/>
            <a:p/>
          </p:txBody>
        </p:sp>
      </p:grpSp>
      <p:grpSp>
        <p:nvGrpSpPr>
          <p:cNvPr id="45" name="Group 45"/>
          <p:cNvGrpSpPr/>
          <p:nvPr/>
        </p:nvGrpSpPr>
        <p:grpSpPr>
          <a:xfrm rot="0">
            <a:off x="11612651" y="6046470"/>
            <a:ext cx="5440451" cy="742950"/>
            <a:chOff x="0" y="0"/>
            <a:chExt cx="7253935" cy="990600"/>
          </a:xfrm>
        </p:grpSpPr>
        <p:sp>
          <p:nvSpPr>
            <p:cNvPr id="46" name="Freeform 46"/>
            <p:cNvSpPr/>
            <p:nvPr/>
          </p:nvSpPr>
          <p:spPr>
            <a:xfrm>
              <a:off x="0" y="0"/>
              <a:ext cx="7253935" cy="990600"/>
            </a:xfrm>
            <a:custGeom>
              <a:avLst/>
              <a:gdLst/>
              <a:ahLst/>
              <a:cxnLst/>
              <a:rect l="l" t="t" r="r" b="b"/>
              <a:pathLst>
                <a:path w="7253935" h="990600">
                  <a:moveTo>
                    <a:pt x="0" y="0"/>
                  </a:moveTo>
                  <a:lnTo>
                    <a:pt x="7253935" y="0"/>
                  </a:lnTo>
                  <a:lnTo>
                    <a:pt x="7253935" y="990600"/>
                  </a:lnTo>
                  <a:lnTo>
                    <a:pt x="0" y="990600"/>
                  </a:lnTo>
                  <a:close/>
                </a:path>
              </a:pathLst>
            </a:custGeom>
            <a:blipFill>
              <a:blip r:embed="rId5">
                <a:alphaModFix amt="0"/>
              </a:blip>
              <a:stretch>
                <a:fillRect t="-92684" b="-92684"/>
              </a:stretch>
            </a:blipFill>
          </p:spPr>
          <p:txBody>
            <a:bodyPr/>
            <a:p/>
          </p:txBody>
        </p:sp>
        <p:sp>
          <p:nvSpPr>
            <p:cNvPr id="47" name="TextBox 47"/>
            <p:cNvSpPr txBox="1"/>
            <p:nvPr/>
          </p:nvSpPr>
          <p:spPr>
            <a:xfrm>
              <a:off x="0" y="-38100"/>
              <a:ext cx="7253935" cy="1028700"/>
            </a:xfrm>
            <a:prstGeom prst="rect">
              <a:avLst/>
            </a:prstGeom>
          </p:spPr>
          <p:txBody>
            <a:bodyPr lIns="0" tIns="0" rIns="0" bIns="0" rtlCol="0" anchor="ct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QLoRA và hallucination</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48" name="TextBox 48"/>
          <p:cNvSpPr txBox="1"/>
          <p:nvPr/>
        </p:nvSpPr>
        <p:spPr>
          <a:xfrm>
            <a:off x="9829571" y="6852285"/>
            <a:ext cx="7223531" cy="151447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Sau khi thích nghi bằng QLoRA, model bịa nội dung nhiều hơn hay ít hơn?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49" name="TextBox 49"/>
          <p:cNvSpPr txBox="1"/>
          <p:nvPr/>
        </p:nvSpPr>
        <p:spPr>
          <a:xfrm>
            <a:off x="9829571" y="8252460"/>
            <a:ext cx="7223531" cy="594360"/>
          </a:xfrm>
          <a:prstGeom prst="rect">
            <a:avLst/>
          </a:prstGeom>
        </p:spPr>
        <p:txBody>
          <a:bodyPr lIns="0" tIns="0" rIns="0" bIns="0" rtlCol="0" anchor="t">
            <a:spAutoFit/>
          </a:bodyPr>
          <a:lstStyle/>
          <a:p>
            <a:pPr algn="l">
              <a:lnSpc>
                <a:spcPts val="2160"/>
              </a:lnSpc>
            </a:pPr>
            <a:r>
              <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rPr>
              <a:t>Đo bằng: Kiểu POPE (vi) + duyệt tay</a:t>
            </a:r>
            <a:endParaRPr lang="en-US" sz="1800" i="1">
              <a:solidFill>
                <a:srgbClr val="6B7280"/>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nvGrpSpPr>
          <p:cNvPr id="50" name="Group 50"/>
          <p:cNvGrpSpPr/>
          <p:nvPr/>
        </p:nvGrpSpPr>
        <p:grpSpPr>
          <a:xfrm rot="0">
            <a:off x="15458732" y="0"/>
            <a:ext cx="2829306" cy="1184338"/>
            <a:chOff x="0" y="0"/>
            <a:chExt cx="3772408" cy="1579118"/>
          </a:xfrm>
        </p:grpSpPr>
        <p:sp>
          <p:nvSpPr>
            <p:cNvPr id="51" name="Freeform 51"/>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8"/>
              <a:stretch>
                <a:fillRect/>
              </a:stretch>
            </a:blipFill>
          </p:spPr>
          <p:txBody>
            <a:bodyPr/>
            <a:p/>
          </p:txBody>
        </p:sp>
      </p:grpSp>
      <p:grpSp>
        <p:nvGrpSpPr>
          <p:cNvPr id="52" name="Group 52"/>
          <p:cNvGrpSpPr/>
          <p:nvPr/>
        </p:nvGrpSpPr>
        <p:grpSpPr>
          <a:xfrm rot="0">
            <a:off x="822960" y="9655969"/>
            <a:ext cx="13716000" cy="360321"/>
            <a:chOff x="0" y="0"/>
            <a:chExt cx="18288000" cy="480428"/>
          </a:xfrm>
        </p:grpSpPr>
        <p:sp>
          <p:nvSpPr>
            <p:cNvPr id="53" name="Freeform 53"/>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4">
                <a:alphaModFix amt="0"/>
              </a:blip>
              <a:stretch>
                <a:fillRect t="-691184" b="-691181"/>
              </a:stretch>
            </a:blipFill>
          </p:spPr>
          <p:txBody>
            <a:bodyPr/>
            <a:p/>
          </p:txBody>
        </p:sp>
      </p:grpSp>
      <p:grpSp>
        <p:nvGrpSpPr>
          <p:cNvPr id="54" name="Group 54"/>
          <p:cNvGrpSpPr/>
          <p:nvPr/>
        </p:nvGrpSpPr>
        <p:grpSpPr>
          <a:xfrm rot="0">
            <a:off x="822960" y="9627394"/>
            <a:ext cx="13716000" cy="388896"/>
            <a:chOff x="0" y="0"/>
            <a:chExt cx="18288000" cy="518528"/>
          </a:xfrm>
        </p:grpSpPr>
        <p:sp>
          <p:nvSpPr>
            <p:cNvPr id="55" name="Freeform 55"/>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5">
                <a:alphaModFix amt="0"/>
              </a:blip>
              <a:stretch>
                <a:fillRect t="-637220" b="-637221"/>
              </a:stretch>
            </a:blipFill>
          </p:spPr>
          <p:txBody>
            <a:bodyPr/>
            <a:p/>
          </p:txBody>
        </p:sp>
        <p:sp>
          <p:nvSpPr>
            <p:cNvPr id="56" name="TextBox 56"/>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sp>
        <p:nvSpPr>
          <p:cNvPr id="6" name="TextBox 6"/>
          <p:cNvSpPr txBox="1"/>
          <p:nvPr/>
        </p:nvSpPr>
        <p:spPr>
          <a:xfrm>
            <a:off x="822960" y="324612"/>
            <a:ext cx="16641623" cy="525780"/>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06 · GIẢ THUYẾT</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7" name="Group 7"/>
          <p:cNvGrpSpPr/>
          <p:nvPr/>
        </p:nvGrpSpPr>
        <p:grpSpPr>
          <a:xfrm rot="0">
            <a:off x="16075562" y="0"/>
            <a:ext cx="2212467" cy="926116"/>
            <a:chOff x="0" y="0"/>
            <a:chExt cx="2949956" cy="1234821"/>
          </a:xfrm>
        </p:grpSpPr>
        <p:sp>
          <p:nvSpPr>
            <p:cNvPr id="8" name="Freeform 8"/>
            <p:cNvSpPr/>
            <p:nvPr/>
          </p:nvSpPr>
          <p:spPr>
            <a:xfrm>
              <a:off x="0" y="0"/>
              <a:ext cx="2949956" cy="1234821"/>
            </a:xfrm>
            <a:custGeom>
              <a:avLst/>
              <a:gdLst/>
              <a:ahLst/>
              <a:cxnLst/>
              <a:rect l="l" t="t" r="r" b="b"/>
              <a:pathLst>
                <a:path w="2949956" h="1234821">
                  <a:moveTo>
                    <a:pt x="0" y="0"/>
                  </a:moveTo>
                  <a:lnTo>
                    <a:pt x="2949956" y="0"/>
                  </a:lnTo>
                  <a:lnTo>
                    <a:pt x="2949956" y="1234821"/>
                  </a:lnTo>
                  <a:lnTo>
                    <a:pt x="0" y="1234821"/>
                  </a:lnTo>
                  <a:lnTo>
                    <a:pt x="0" y="0"/>
                  </a:lnTo>
                  <a:close/>
                </a:path>
              </a:pathLst>
            </a:custGeom>
            <a:blipFill>
              <a:blip r:embed="rId3"/>
              <a:stretch>
                <a:fillRect t="-2" b="-1"/>
              </a:stretch>
            </a:blipFill>
          </p:spPr>
          <p:txBody>
            <a:bodyPr/>
            <a:p/>
          </p:txBody>
        </p:sp>
      </p:grpSp>
      <p:sp>
        <p:nvSpPr>
          <p:cNvPr id="9" name="TextBox 9"/>
          <p:cNvSpPr txBox="1"/>
          <p:nvPr/>
        </p:nvSpPr>
        <p:spPr>
          <a:xfrm>
            <a:off x="822960" y="812292"/>
            <a:ext cx="16641623" cy="752475"/>
          </a:xfrm>
          <a:prstGeom prst="rect">
            <a:avLst/>
          </a:prstGeom>
        </p:spPr>
        <p:txBody>
          <a:bodyPr lIns="0" tIns="0" rIns="0" bIns="0" rtlCol="0" anchor="t">
            <a:spAutoFit/>
          </a:bodyPr>
          <a:lstStyle/>
          <a:p>
            <a:pPr algn="l">
              <a:lnSpc>
                <a:spcPts val="5755"/>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giả thuyết, mỗi giả thuyết gắn một vấn đề tiếng Việt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10" name="Table 10"/>
          <p:cNvGraphicFramePr>
            <a:graphicFrameLocks noGrp="1"/>
          </p:cNvGraphicFramePr>
          <p:nvPr/>
        </p:nvGraphicFramePr>
        <p:xfrm>
          <a:off x="822960" y="2057400"/>
          <a:ext cx="16560800" cy="7112000"/>
        </p:xfrm>
        <a:graphic>
          <a:graphicData uri="http://schemas.openxmlformats.org/drawingml/2006/table">
            <a:tbl>
              <a:tblPr/>
              <a:tblGrid>
                <a:gridCol w="1160111"/>
                <a:gridCol w="12627365"/>
                <a:gridCol w="2773324"/>
              </a:tblGrid>
              <a:tr h="916054">
                <a:tc>
                  <a:txBody>
                    <a:bodyPr rtlCol="0"/>
                    <a:lstStyle/>
                    <a:p>
                      <a:pPr algn="l">
                        <a:lnSpc>
                          <a:spcPts val="2340"/>
                        </a:lnSpc>
                        <a:defRPr/>
                      </a:pPr>
                      <a:r>
                        <a:rPr lang="en-US" sz="2200" b="1">
                          <a:solidFill>
                            <a:srgbClr val="FFFFFF"/>
                          </a:solidFill>
                          <a:latin typeface="Calibri (MS) Bold" panose="020F0702030404030204"/>
                          <a:ea typeface="Calibri (MS) Bold" panose="020F0702030404030204"/>
                          <a:cs typeface="Calibri (MS) Bold" panose="020F0702030404030204"/>
                          <a:sym typeface="Calibri (MS) Bold" panose="020F0702030404030204"/>
                        </a:rPr>
                        <a:t>ID</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2200" b="1">
                          <a:solidFill>
                            <a:srgbClr val="FFFFFF"/>
                          </a:solidFill>
                          <a:latin typeface="Calibri (MS) Bold" panose="020F0702030404030204"/>
                          <a:ea typeface="Calibri (MS) Bold" panose="020F0702030404030204"/>
                          <a:cs typeface="Calibri (MS) Bold" panose="020F0702030404030204"/>
                          <a:sym typeface="Calibri (MS) Bold" panose="020F0702030404030204"/>
                        </a:rPr>
                        <a:t>Giả thuyết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2200" b="1">
                          <a:solidFill>
                            <a:srgbClr val="FFFFFF"/>
                          </a:solidFill>
                          <a:latin typeface="Calibri (MS) Bold" panose="020F0702030404030204"/>
                          <a:ea typeface="Calibri (MS) Bold" panose="020F0702030404030204"/>
                          <a:cs typeface="Calibri (MS) Bold" panose="020F0702030404030204"/>
                          <a:sym typeface="Calibri (MS) Bold" panose="020F0702030404030204"/>
                        </a:rPr>
                        <a:t>Trả lời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1548986">
                <a:tc>
                  <a:txBody>
                    <a:bodyPr rtlCol="0"/>
                    <a:lstStyle/>
                    <a:p>
                      <a:pPr algn="l">
                        <a:lnSpc>
                          <a:spcPts val="2430"/>
                        </a:lnSpc>
                        <a:defRPr/>
                      </a:pPr>
                      <a:r>
                        <a:rPr lang="en-US" sz="2300" b="1">
                          <a:solidFill>
                            <a:srgbClr val="1C7293"/>
                          </a:solidFill>
                          <a:latin typeface="Calibri (MS) Bold" panose="020F0702030404030204"/>
                          <a:ea typeface="Calibri (MS) Bold" panose="020F0702030404030204"/>
                          <a:cs typeface="Calibri (MS) Bold" panose="020F0702030404030204"/>
                          <a:sym typeface="Calibri (MS) Bold" panose="020F0702030404030204"/>
                        </a:rPr>
                        <a:t>H1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QLoRA trên Qwen2.5-VL-3B tăng EM ≥ +5 so với chính model đó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RQ2 · V1–V3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1548986">
                <a:tc>
                  <a:txBody>
                    <a:bodyPr rtlCol="0"/>
                    <a:lstStyle/>
                    <a:p>
                      <a:pPr algn="l">
                        <a:lnSpc>
                          <a:spcPts val="2430"/>
                        </a:lnSpc>
                        <a:defRPr/>
                      </a:pPr>
                      <a:r>
                        <a:rPr lang="en-US" sz="2300" b="1">
                          <a:solidFill>
                            <a:srgbClr val="1C7293"/>
                          </a:solidFill>
                          <a:latin typeface="Calibri (MS) Bold" panose="020F0702030404030204"/>
                          <a:ea typeface="Calibri (MS) Bold" panose="020F0702030404030204"/>
                          <a:cs typeface="Calibri (MS) Bold" panose="020F0702030404030204"/>
                          <a:sym typeface="Calibri (MS) Bold" panose="020F0702030404030204"/>
                        </a:rPr>
                        <a:t>H2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Chữ OCR có dấu (trái-trên → phải-dưới) trong prompt tăng ≥ +3 ANLS trên ViTextVQA; kết hợp QLoRA cho kết quả cao nhất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RQ3 · V1, V3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1548986">
                <a:tc>
                  <a:txBody>
                    <a:bodyPr rtlCol="0"/>
                    <a:lstStyle/>
                    <a:p>
                      <a:pPr algn="l">
                        <a:lnSpc>
                          <a:spcPts val="2430"/>
                        </a:lnSpc>
                        <a:defRPr/>
                      </a:pPr>
                      <a:r>
                        <a:rPr lang="en-US" sz="2300" b="1">
                          <a:solidFill>
                            <a:srgbClr val="1C7293"/>
                          </a:solidFill>
                          <a:latin typeface="Calibri (MS) Bold" panose="020F0702030404030204"/>
                          <a:ea typeface="Calibri (MS) Bold" panose="020F0702030404030204"/>
                          <a:cs typeface="Calibri (MS) Bold" panose="020F0702030404030204"/>
                          <a:sym typeface="Calibri (MS) Bold" panose="020F0702030404030204"/>
                        </a:rPr>
                        <a:t>H3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Prompt định dạng tiếng Việt (trả lời ngắn, có dấu) tăng ≥ +3 EM và giảm câu trả lời sai ngôn ngữ / mất dấu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RQ1 · V2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1548986">
                <a:tc>
                  <a:txBody>
                    <a:bodyPr rtlCol="0"/>
                    <a:lstStyle/>
                    <a:p>
                      <a:pPr algn="l">
                        <a:lnSpc>
                          <a:spcPts val="2430"/>
                        </a:lnSpc>
                        <a:defRPr/>
                      </a:pPr>
                      <a:r>
                        <a:rPr lang="en-US" sz="2300" b="1">
                          <a:solidFill>
                            <a:srgbClr val="1C7293"/>
                          </a:solidFill>
                          <a:latin typeface="Calibri (MS) Bold" panose="020F0702030404030204"/>
                          <a:ea typeface="Calibri (MS) Bold" panose="020F0702030404030204"/>
                          <a:cs typeface="Calibri (MS) Bold" panose="020F0702030404030204"/>
                          <a:sym typeface="Calibri (MS) Bold" panose="020F0702030404030204"/>
                        </a:rPr>
                        <a:t>H4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QLoRA không làm tăng tỉ lệ hallucination so với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430"/>
                        </a:lnSpc>
                        <a:defRPr/>
                      </a:pPr>
                      <a:r>
                        <a:rPr lang="en-US" sz="2300">
                          <a:solidFill>
                            <a:srgbClr val="243044"/>
                          </a:solidFill>
                          <a:latin typeface="Calibri (MS)" panose="020F0502020204030204"/>
                          <a:ea typeface="Calibri (MS)" panose="020F0502020204030204"/>
                          <a:cs typeface="Calibri (MS)" panose="020F0502020204030204"/>
                          <a:sym typeface="Calibri (MS)" panose="020F0502020204030204"/>
                        </a:rPr>
                        <a:t>RQ4 · V4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grpSp>
        <p:nvGrpSpPr>
          <p:cNvPr id="11" name="Group 11"/>
          <p:cNvGrpSpPr/>
          <p:nvPr/>
        </p:nvGrpSpPr>
        <p:grpSpPr>
          <a:xfrm rot="0">
            <a:off x="822960" y="9655969"/>
            <a:ext cx="13716000" cy="360321"/>
            <a:chOff x="0" y="0"/>
            <a:chExt cx="18288000" cy="480428"/>
          </a:xfrm>
        </p:grpSpPr>
        <p:sp>
          <p:nvSpPr>
            <p:cNvPr id="12" name="Freeform 12"/>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4">
                <a:alphaModFix amt="0"/>
              </a:blip>
              <a:stretch>
                <a:fillRect t="-691184" b="-691181"/>
              </a:stretch>
            </a:blipFill>
          </p:spPr>
          <p:txBody>
            <a:bodyPr/>
            <a:p/>
          </p:txBody>
        </p:sp>
      </p:grpSp>
      <p:grpSp>
        <p:nvGrpSpPr>
          <p:cNvPr id="13" name="Group 13"/>
          <p:cNvGrpSpPr/>
          <p:nvPr/>
        </p:nvGrpSpPr>
        <p:grpSpPr>
          <a:xfrm rot="0">
            <a:off x="822960" y="9627394"/>
            <a:ext cx="13716000" cy="388896"/>
            <a:chOff x="0" y="0"/>
            <a:chExt cx="18288000" cy="518528"/>
          </a:xfrm>
        </p:grpSpPr>
        <p:sp>
          <p:nvSpPr>
            <p:cNvPr id="14" name="Freeform 14"/>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5">
                <a:alphaModFix amt="0"/>
              </a:blip>
              <a:stretch>
                <a:fillRect t="-637220" b="-637221"/>
              </a:stretch>
            </a:blipFill>
          </p:spPr>
          <p:txBody>
            <a:bodyPr/>
            <a:p/>
          </p:txBody>
        </p:sp>
        <p:sp>
          <p:nvSpPr>
            <p:cNvPr id="15" name="TextBox 15"/>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07 · DỮ LIỆU</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3" name="Group 3"/>
          <p:cNvGrpSpPr/>
          <p:nvPr/>
        </p:nvGrpSpPr>
        <p:grpSpPr>
          <a:xfrm rot="0">
            <a:off x="15458732" y="0"/>
            <a:ext cx="2829306" cy="1184338"/>
            <a:chOff x="0" y="0"/>
            <a:chExt cx="3772408" cy="1579118"/>
          </a:xfrm>
        </p:grpSpPr>
        <p:sp>
          <p:nvSpPr>
            <p:cNvPr id="4" name="Freeform 4"/>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
              <a:stretch>
                <a:fillRect/>
              </a:stretch>
            </a:blipFill>
          </p:spPr>
          <p:txBody>
            <a:bodyPr/>
            <a:p/>
          </p:txBody>
        </p:sp>
      </p:gr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Hai bộ benchmark, split cố định, tiền xử lý trước khi chia</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Freeform 6"/>
          <p:cNvSpPr/>
          <p:nvPr/>
        </p:nvSpPr>
        <p:spPr>
          <a:xfrm>
            <a:off x="806291" y="2040731"/>
            <a:ext cx="8079867" cy="5176838"/>
          </a:xfrm>
          <a:custGeom>
            <a:avLst/>
            <a:gdLst/>
            <a:ahLst/>
            <a:cxnLst/>
            <a:rect l="l" t="t" r="r" b="b"/>
            <a:pathLst>
              <a:path w="8079867" h="5176838">
                <a:moveTo>
                  <a:pt x="0" y="0"/>
                </a:moveTo>
                <a:lnTo>
                  <a:pt x="8079867" y="0"/>
                </a:lnTo>
                <a:lnTo>
                  <a:pt x="8079867" y="5176838"/>
                </a:lnTo>
                <a:lnTo>
                  <a:pt x="0" y="5176838"/>
                </a:lnTo>
                <a:lnTo>
                  <a:pt x="0" y="0"/>
                </a:lnTo>
                <a:close/>
              </a:path>
            </a:pathLst>
          </a:custGeom>
          <a:blipFill>
            <a:blip r:embed="rId2">
              <a:extLst>
                <a:ext uri="{96DAC541-7B7A-43D3-8B79-37D633B846F1}">
                  <asvg:svgBlip xmlns:asvg="http://schemas.microsoft.com/office/drawing/2016/SVG/main" r:embed="rId3"/>
                </a:ext>
              </a:extLst>
            </a:blip>
            <a:stretch>
              <a:fillRect t="-3" b="-3"/>
            </a:stretch>
          </a:blipFill>
        </p:spPr>
        <p:txBody>
          <a:bodyPr/>
          <a:p/>
        </p:txBody>
      </p:sp>
      <p:sp>
        <p:nvSpPr>
          <p:cNvPr id="7" name="TextBox 7"/>
          <p:cNvSpPr txBox="1"/>
          <p:nvPr/>
        </p:nvSpPr>
        <p:spPr>
          <a:xfrm>
            <a:off x="1234440" y="2234565"/>
            <a:ext cx="7223531" cy="714375"/>
          </a:xfrm>
          <a:prstGeom prst="rect">
            <a:avLst/>
          </a:prstGeom>
        </p:spPr>
        <p:txBody>
          <a:bodyPr lIns="0" tIns="0" rIns="0" bIns="0" rtlCol="0" anchor="t">
            <a:spAutoFit/>
          </a:bodyPr>
          <a:lstStyle/>
          <a:p>
            <a:pPr algn="l">
              <a:lnSpc>
                <a:spcPts val="3960"/>
              </a:lnSpc>
            </a:pPr>
            <a:r>
              <a:rPr lang="en-US" sz="3300" b="1">
                <a:solidFill>
                  <a:srgbClr val="13294B"/>
                </a:solidFill>
                <a:latin typeface="Cambria Bold" panose="02040803050406030204"/>
                <a:ea typeface="Cambria Bold" panose="02040803050406030204"/>
                <a:cs typeface="Cambria Bold" panose="02040803050406030204"/>
                <a:sym typeface="Cambria Bold" panose="02040803050406030204"/>
              </a:rPr>
              <a:t>ViVQA</a:t>
            </a:r>
            <a:endParaRPr lang="en-US" sz="33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8" name="TextBox 8"/>
          <p:cNvSpPr txBox="1"/>
          <p:nvPr/>
        </p:nvSpPr>
        <p:spPr>
          <a:xfrm>
            <a:off x="1234440" y="2807208"/>
            <a:ext cx="7223531" cy="525780"/>
          </a:xfrm>
          <a:prstGeom prst="rect">
            <a:avLst/>
          </a:prstGeom>
        </p:spPr>
        <p:txBody>
          <a:bodyPr lIns="0" tIns="0" rIns="0" bIns="0" rtlCol="0" anchor="t">
            <a:spAutoFit/>
          </a:bodyPr>
          <a:lstStyle/>
          <a:p>
            <a:pPr algn="l">
              <a:lnSpc>
                <a:spcPts val="2160"/>
              </a:lnSpc>
            </a:pPr>
            <a:r>
              <a:rPr lang="en-US" sz="1800" u="sng">
                <a:solidFill>
                  <a:srgbClr val="0000FF"/>
                </a:solidFill>
                <a:latin typeface="Calibri (MS)" panose="020F0502020204030204"/>
                <a:ea typeface="Calibri (MS)" panose="020F0502020204030204"/>
                <a:cs typeface="Calibri (MS)" panose="020F0502020204030204"/>
                <a:sym typeface="Calibri (MS)" panose="020F0502020204030204"/>
                <a:hlinkClick r:id="rId4" tooltip="https://aclanthology.org/2021.paclic-1.72/"/>
              </a:rPr>
              <a:t>Paper: ViVQA (Tran et al., PACLIC 2021) ↗</a:t>
            </a:r>
            <a:endParaRPr lang="en-US" sz="1800" u="sng">
              <a:solidFill>
                <a:srgbClr val="0000FF"/>
              </a:solidFill>
              <a:latin typeface="Calibri (MS)" panose="020F0502020204030204"/>
              <a:ea typeface="Calibri (MS)" panose="020F0502020204030204"/>
              <a:cs typeface="Calibri (MS)" panose="020F0502020204030204"/>
              <a:sym typeface="Calibri (MS)" panose="020F0502020204030204"/>
              <a:hlinkClick r:id="rId4" tooltip="https://aclanthology.org/2021.paclic-1.72/"/>
            </a:endParaRPr>
          </a:p>
        </p:txBody>
      </p:sp>
      <p:sp>
        <p:nvSpPr>
          <p:cNvPr id="9" name="TextBox 9"/>
          <p:cNvSpPr txBox="1"/>
          <p:nvPr/>
        </p:nvSpPr>
        <p:spPr>
          <a:xfrm>
            <a:off x="1234440" y="3440430"/>
            <a:ext cx="3474606" cy="11544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15.000</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0" name="TextBox 10"/>
          <p:cNvSpPr txBox="1"/>
          <p:nvPr/>
        </p:nvSpPr>
        <p:spPr>
          <a:xfrm>
            <a:off x="1234440" y="4383405"/>
            <a:ext cx="3474606" cy="62293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cặp hỏi–đáp</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1" name="TextBox 11"/>
          <p:cNvSpPr txBox="1"/>
          <p:nvPr/>
        </p:nvSpPr>
        <p:spPr>
          <a:xfrm>
            <a:off x="4846206" y="3440430"/>
            <a:ext cx="3474606" cy="11544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10.328</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2" name="TextBox 12"/>
          <p:cNvSpPr txBox="1"/>
          <p:nvPr/>
        </p:nvSpPr>
        <p:spPr>
          <a:xfrm>
            <a:off x="4846206" y="4383405"/>
            <a:ext cx="3474606" cy="62293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ảnh (MS COCO)</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3" name="TextBox 13"/>
          <p:cNvSpPr txBox="1"/>
          <p:nvPr/>
        </p:nvSpPr>
        <p:spPr>
          <a:xfrm>
            <a:off x="1234440" y="5000625"/>
            <a:ext cx="7223531" cy="760095"/>
          </a:xfrm>
          <a:prstGeom prst="rect">
            <a:avLst/>
          </a:prstGeom>
        </p:spPr>
        <p:txBody>
          <a:bodyPr lIns="0" tIns="0" rIns="0" bIns="0" rtlCol="0" anchor="t">
            <a:spAutoFit/>
          </a:bodyP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Split: train 10.799</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val 1.200</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3.001</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980"/>
              </a:lnSpc>
            </a:pPr>
            <a:r>
              <a:rPr lang="en-US" sz="1650">
                <a:solidFill>
                  <a:srgbClr val="5B677A"/>
                </a:solidFill>
                <a:latin typeface="Calibri (MS)" panose="020F0502020204030204"/>
                <a:ea typeface="Calibri (MS)" panose="020F0502020204030204"/>
                <a:cs typeface="Calibri (MS)" panose="020F0502020204030204"/>
                <a:sym typeface="Calibri (MS)" panose="020F0502020204030204"/>
              </a:rPr>
              <a:t>val tách từ train (seed 42); bản gốc chỉ có train/test</a:t>
            </a:r>
            <a:endParaRPr lang="en-US" sz="1650">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14" name="TextBox 14"/>
          <p:cNvSpPr txBox="1"/>
          <p:nvPr/>
        </p:nvSpPr>
        <p:spPr>
          <a:xfrm>
            <a:off x="1234440" y="6331077"/>
            <a:ext cx="7223531" cy="76009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99,83% đáp án ≤ 3 từ → EM / VQA-Acc</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5" name="Freeform 15"/>
          <p:cNvSpPr/>
          <p:nvPr/>
        </p:nvSpPr>
        <p:spPr>
          <a:xfrm>
            <a:off x="9401423" y="2040731"/>
            <a:ext cx="8079867" cy="5176838"/>
          </a:xfrm>
          <a:custGeom>
            <a:avLst/>
            <a:gdLst/>
            <a:ahLst/>
            <a:cxnLst/>
            <a:rect l="l" t="t" r="r" b="b"/>
            <a:pathLst>
              <a:path w="8079867" h="5176838">
                <a:moveTo>
                  <a:pt x="0" y="0"/>
                </a:moveTo>
                <a:lnTo>
                  <a:pt x="8079867" y="0"/>
                </a:lnTo>
                <a:lnTo>
                  <a:pt x="8079867" y="5176838"/>
                </a:lnTo>
                <a:lnTo>
                  <a:pt x="0" y="5176838"/>
                </a:lnTo>
                <a:lnTo>
                  <a:pt x="0" y="0"/>
                </a:lnTo>
                <a:close/>
              </a:path>
            </a:pathLst>
          </a:custGeom>
          <a:blipFill>
            <a:blip r:embed="rId5">
              <a:extLst>
                <a:ext uri="{96DAC541-7B7A-43D3-8B79-37D633B846F1}">
                  <asvg:svgBlip xmlns:asvg="http://schemas.microsoft.com/office/drawing/2016/SVG/main" r:embed="rId6"/>
                </a:ext>
              </a:extLst>
            </a:blip>
            <a:stretch>
              <a:fillRect t="-3" b="-3"/>
            </a:stretch>
          </a:blipFill>
        </p:spPr>
        <p:txBody>
          <a:bodyPr/>
          <a:p/>
        </p:txBody>
      </p:sp>
      <p:sp>
        <p:nvSpPr>
          <p:cNvPr id="16" name="TextBox 16"/>
          <p:cNvSpPr txBox="1"/>
          <p:nvPr/>
        </p:nvSpPr>
        <p:spPr>
          <a:xfrm>
            <a:off x="9829571" y="2234565"/>
            <a:ext cx="7223531" cy="714375"/>
          </a:xfrm>
          <a:prstGeom prst="rect">
            <a:avLst/>
          </a:prstGeom>
        </p:spPr>
        <p:txBody>
          <a:bodyPr lIns="0" tIns="0" rIns="0" bIns="0" rtlCol="0" anchor="t">
            <a:spAutoFit/>
          </a:bodyPr>
          <a:lstStyle/>
          <a:p>
            <a:pPr algn="l">
              <a:lnSpc>
                <a:spcPts val="3960"/>
              </a:lnSpc>
            </a:pPr>
            <a:r>
              <a:rPr lang="en-US" sz="3300" b="1">
                <a:solidFill>
                  <a:srgbClr val="13294B"/>
                </a:solidFill>
                <a:latin typeface="Cambria Bold" panose="02040803050406030204"/>
                <a:ea typeface="Cambria Bold" panose="02040803050406030204"/>
                <a:cs typeface="Cambria Bold" panose="02040803050406030204"/>
                <a:sym typeface="Cambria Bold" panose="02040803050406030204"/>
              </a:rPr>
              <a:t>ViTextVQA</a:t>
            </a:r>
            <a:endParaRPr lang="en-US" sz="33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7" name="TextBox 17"/>
          <p:cNvSpPr txBox="1"/>
          <p:nvPr/>
        </p:nvSpPr>
        <p:spPr>
          <a:xfrm>
            <a:off x="9829571" y="2807208"/>
            <a:ext cx="7223531" cy="525780"/>
          </a:xfrm>
          <a:prstGeom prst="rect">
            <a:avLst/>
          </a:prstGeom>
        </p:spPr>
        <p:txBody>
          <a:bodyPr lIns="0" tIns="0" rIns="0" bIns="0" rtlCol="0" anchor="t">
            <a:spAutoFit/>
          </a:bodyPr>
          <a:lstStyle/>
          <a:p>
            <a:pPr algn="l">
              <a:lnSpc>
                <a:spcPts val="2160"/>
              </a:lnSpc>
            </a:pPr>
            <a:r>
              <a:rPr lang="en-US" sz="1800" u="sng">
                <a:solidFill>
                  <a:srgbClr val="0000FF"/>
                </a:solidFill>
                <a:latin typeface="Calibri (MS)" panose="020F0502020204030204"/>
                <a:ea typeface="Calibri (MS)" panose="020F0502020204030204"/>
                <a:cs typeface="Calibri (MS)" panose="020F0502020204030204"/>
                <a:sym typeface="Calibri (MS)" panose="020F0502020204030204"/>
                <a:hlinkClick r:id="rId7" tooltip="https://arxiv.org/abs/2404.10652"/>
              </a:rPr>
              <a:t>Paper: ViTextVQA (Nguyen et al., 2024 · arXiv 2404.10652) ↗</a:t>
            </a:r>
            <a:endParaRPr lang="en-US" sz="1800" u="sng">
              <a:solidFill>
                <a:srgbClr val="0000FF"/>
              </a:solidFill>
              <a:latin typeface="Calibri (MS)" panose="020F0502020204030204"/>
              <a:ea typeface="Calibri (MS)" panose="020F0502020204030204"/>
              <a:cs typeface="Calibri (MS)" panose="020F0502020204030204"/>
              <a:sym typeface="Calibri (MS)" panose="020F0502020204030204"/>
              <a:hlinkClick r:id="rId7" tooltip="https://arxiv.org/abs/2404.10652"/>
            </a:endParaRPr>
          </a:p>
        </p:txBody>
      </p:sp>
      <p:sp>
        <p:nvSpPr>
          <p:cNvPr id="18" name="TextBox 18"/>
          <p:cNvSpPr txBox="1"/>
          <p:nvPr/>
        </p:nvSpPr>
        <p:spPr>
          <a:xfrm>
            <a:off x="9829571" y="3440430"/>
            <a:ext cx="3474606" cy="11544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50.342</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9" name="TextBox 19"/>
          <p:cNvSpPr txBox="1"/>
          <p:nvPr/>
        </p:nvSpPr>
        <p:spPr>
          <a:xfrm>
            <a:off x="9829571" y="4383405"/>
            <a:ext cx="3474606" cy="62293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cặp hỏi–đáp</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0" name="TextBox 20"/>
          <p:cNvSpPr txBox="1"/>
          <p:nvPr/>
        </p:nvSpPr>
        <p:spPr>
          <a:xfrm>
            <a:off x="13441337" y="3440430"/>
            <a:ext cx="3474606" cy="1154430"/>
          </a:xfrm>
          <a:prstGeom prst="rect">
            <a:avLst/>
          </a:prstGeom>
        </p:spPr>
        <p:txBody>
          <a:bodyPr lIns="0" tIns="0" rIns="0" bIns="0" rtlCol="0" anchor="t">
            <a:spAutoFit/>
          </a:bodyPr>
          <a:lstStyle/>
          <a:p>
            <a:pPr algn="l">
              <a:lnSpc>
                <a:spcPts val="5400"/>
              </a:lnSpc>
            </a:pPr>
            <a:r>
              <a:rPr lang="en-US" sz="4500" b="1">
                <a:solidFill>
                  <a:srgbClr val="13294B"/>
                </a:solidFill>
                <a:latin typeface="Cambria Bold" panose="02040803050406030204"/>
                <a:ea typeface="Cambria Bold" panose="02040803050406030204"/>
                <a:cs typeface="Cambria Bold" panose="02040803050406030204"/>
                <a:sym typeface="Cambria Bold" panose="02040803050406030204"/>
              </a:rPr>
              <a:t>16.762</a:t>
            </a:r>
            <a:endParaRPr lang="en-US" sz="45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1" name="TextBox 21"/>
          <p:cNvSpPr txBox="1"/>
          <p:nvPr/>
        </p:nvSpPr>
        <p:spPr>
          <a:xfrm>
            <a:off x="13441337" y="4383405"/>
            <a:ext cx="3474606" cy="62293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ảnh có chữ tiếng Việt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2" name="TextBox 22"/>
          <p:cNvSpPr txBox="1"/>
          <p:nvPr/>
        </p:nvSpPr>
        <p:spPr>
          <a:xfrm>
            <a:off x="9829571" y="5000625"/>
            <a:ext cx="7223531" cy="760095"/>
          </a:xfrm>
          <a:prstGeom prst="rect">
            <a:avLst/>
          </a:prstGeom>
        </p:spPr>
        <p:txBody>
          <a:bodyPr lIns="0" tIns="0" rIns="0" bIns="0" rtlCol="0" anchor="t">
            <a:spAutoFit/>
          </a:bodyP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Split: train 35.159</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dev 5.155</a:t>
            </a:r>
            <a:r>
              <a:rPr lang="en-US" sz="1950">
                <a:solidFill>
                  <a:srgbClr val="5B677A"/>
                </a:solidFill>
                <a:latin typeface="Calibri (MS)" panose="020F0502020204030204"/>
                <a:ea typeface="Calibri (MS)" panose="020F0502020204030204"/>
                <a:cs typeface="Calibri (MS)" panose="020F0502020204030204"/>
                <a:sym typeface="Calibri (MS)" panose="020F0502020204030204"/>
              </a:rPr>
              <a:t>  ·  </a:t>
            </a: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10.028</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980"/>
              </a:lnSpc>
            </a:pPr>
            <a:r>
              <a:rPr lang="en-US" sz="1650">
                <a:solidFill>
                  <a:srgbClr val="5B677A"/>
                </a:solidFill>
                <a:latin typeface="Calibri (MS)" panose="020F0502020204030204"/>
                <a:ea typeface="Calibri (MS)" panose="020F0502020204030204"/>
                <a:cs typeface="Calibri (MS)" panose="020F0502020204030204"/>
                <a:sym typeface="Calibri (MS)" panose="020F0502020204030204"/>
              </a:rPr>
              <a:t>split chính thức của tác giả; dev = tập validation</a:t>
            </a:r>
            <a:endParaRPr lang="en-US" sz="1650">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23" name="TextBox 23"/>
          <p:cNvSpPr txBox="1"/>
          <p:nvPr/>
        </p:nvSpPr>
        <p:spPr>
          <a:xfrm>
            <a:off x="9829571" y="6331077"/>
            <a:ext cx="7223531" cy="760095"/>
          </a:xfrm>
          <a:prstGeom prst="rect">
            <a:avLst/>
          </a:prstGeom>
        </p:spPr>
        <p:txBody>
          <a:bodyPr lIns="0" tIns="0" rIns="0" bIns="0" rtlCol="0" anchor="t">
            <a:spAutoFit/>
          </a:bodyPr>
          <a:lstStyle/>
          <a:p>
            <a:pPr algn="l">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Đáp án trung bình 4,18 từ, đọc từ ảnh → ANLS (chịu lỗi ký tự)</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4" name="Freeform 24"/>
          <p:cNvSpPr/>
          <p:nvPr/>
        </p:nvSpPr>
        <p:spPr>
          <a:xfrm>
            <a:off x="806291" y="7527131"/>
            <a:ext cx="3627977" cy="1199197"/>
          </a:xfrm>
          <a:custGeom>
            <a:avLst/>
            <a:gdLst/>
            <a:ahLst/>
            <a:cxnLst/>
            <a:rect l="l" t="t" r="r" b="b"/>
            <a:pathLst>
              <a:path w="3627977" h="1199197">
                <a:moveTo>
                  <a:pt x="0" y="0"/>
                </a:moveTo>
                <a:lnTo>
                  <a:pt x="3627977" y="0"/>
                </a:lnTo>
                <a:lnTo>
                  <a:pt x="3627977" y="1199198"/>
                </a:lnTo>
                <a:lnTo>
                  <a:pt x="0" y="1199198"/>
                </a:lnTo>
                <a:lnTo>
                  <a:pt x="0" y="0"/>
                </a:lnTo>
                <a:close/>
              </a:path>
            </a:pathLst>
          </a:custGeom>
          <a:blipFill>
            <a:blip r:embed="rId8">
              <a:extLst>
                <a:ext uri="{96DAC541-7B7A-43D3-8B79-37D633B846F1}">
                  <asvg:svgBlip xmlns:asvg="http://schemas.microsoft.com/office/drawing/2016/SVG/main" r:embed="rId9"/>
                </a:ext>
              </a:extLst>
            </a:blip>
            <a:stretch>
              <a:fillRect t="-25" b="-25"/>
            </a:stretch>
          </a:blipFill>
        </p:spPr>
        <p:txBody>
          <a:bodyPr/>
          <a:p/>
        </p:txBody>
      </p:sp>
      <p:grpSp>
        <p:nvGrpSpPr>
          <p:cNvPr id="25" name="Group 25"/>
          <p:cNvGrpSpPr/>
          <p:nvPr/>
        </p:nvGrpSpPr>
        <p:grpSpPr>
          <a:xfrm rot="0">
            <a:off x="918972" y="7543800"/>
            <a:ext cx="3402616" cy="1165860"/>
            <a:chOff x="0" y="0"/>
            <a:chExt cx="4536821" cy="1554480"/>
          </a:xfrm>
        </p:grpSpPr>
        <p:sp>
          <p:nvSpPr>
            <p:cNvPr id="26" name="Freeform 26"/>
            <p:cNvSpPr/>
            <p:nvPr/>
          </p:nvSpPr>
          <p:spPr>
            <a:xfrm>
              <a:off x="0" y="0"/>
              <a:ext cx="4536821" cy="1554480"/>
            </a:xfrm>
            <a:custGeom>
              <a:avLst/>
              <a:gdLst/>
              <a:ahLst/>
              <a:cxnLst/>
              <a:rect l="l" t="t" r="r" b="b"/>
              <a:pathLst>
                <a:path w="4536821" h="1554480">
                  <a:moveTo>
                    <a:pt x="0" y="0"/>
                  </a:moveTo>
                  <a:lnTo>
                    <a:pt x="4536821" y="0"/>
                  </a:lnTo>
                  <a:lnTo>
                    <a:pt x="4536821" y="1554480"/>
                  </a:lnTo>
                  <a:lnTo>
                    <a:pt x="0" y="1554480"/>
                  </a:lnTo>
                  <a:close/>
                </a:path>
              </a:pathLst>
            </a:custGeom>
            <a:blipFill>
              <a:blip r:embed="rId10">
                <a:alphaModFix amt="0"/>
              </a:blip>
              <a:stretch>
                <a:fillRect t="-6828" b="-6828"/>
              </a:stretch>
            </a:blipFill>
          </p:spPr>
          <p:txBody>
            <a:bodyPr/>
            <a:p/>
          </p:txBody>
        </p:sp>
      </p:grpSp>
      <p:grpSp>
        <p:nvGrpSpPr>
          <p:cNvPr id="27" name="Group 27"/>
          <p:cNvGrpSpPr/>
          <p:nvPr/>
        </p:nvGrpSpPr>
        <p:grpSpPr>
          <a:xfrm rot="0">
            <a:off x="918972" y="7508081"/>
            <a:ext cx="3402597" cy="1201579"/>
            <a:chOff x="0" y="0"/>
            <a:chExt cx="4536796" cy="1602105"/>
          </a:xfrm>
        </p:grpSpPr>
        <p:sp>
          <p:nvSpPr>
            <p:cNvPr id="28" name="Freeform 28"/>
            <p:cNvSpPr/>
            <p:nvPr/>
          </p:nvSpPr>
          <p:spPr>
            <a:xfrm>
              <a:off x="0" y="0"/>
              <a:ext cx="4536821" cy="1602105"/>
            </a:xfrm>
            <a:custGeom>
              <a:avLst/>
              <a:gdLst/>
              <a:ahLst/>
              <a:cxnLst/>
              <a:rect l="l" t="t" r="r" b="b"/>
              <a:pathLst>
                <a:path w="4536821" h="1602105">
                  <a:moveTo>
                    <a:pt x="0" y="0"/>
                  </a:moveTo>
                  <a:lnTo>
                    <a:pt x="4536821" y="0"/>
                  </a:lnTo>
                  <a:lnTo>
                    <a:pt x="4536821" y="1602105"/>
                  </a:lnTo>
                  <a:lnTo>
                    <a:pt x="0" y="1602105"/>
                  </a:lnTo>
                  <a:close/>
                </a:path>
              </a:pathLst>
            </a:custGeom>
            <a:blipFill>
              <a:blip r:embed="rId11">
                <a:alphaModFix amt="0"/>
              </a:blip>
              <a:stretch>
                <a:fillRect t="-5139" b="-5138"/>
              </a:stretch>
            </a:blipFill>
          </p:spPr>
          <p:txBody>
            <a:bodyPr/>
            <a:p/>
          </p:txBody>
        </p:sp>
      </p:grpSp>
      <p:grpSp>
        <p:nvGrpSpPr>
          <p:cNvPr id="29" name="Group 29"/>
          <p:cNvGrpSpPr/>
          <p:nvPr/>
        </p:nvGrpSpPr>
        <p:grpSpPr>
          <a:xfrm rot="0">
            <a:off x="918972" y="7472362"/>
            <a:ext cx="3402597" cy="1237298"/>
            <a:chOff x="0" y="0"/>
            <a:chExt cx="4536796" cy="1649730"/>
          </a:xfrm>
        </p:grpSpPr>
        <p:sp>
          <p:nvSpPr>
            <p:cNvPr id="30" name="Freeform 30"/>
            <p:cNvSpPr/>
            <p:nvPr/>
          </p:nvSpPr>
          <p:spPr>
            <a:xfrm>
              <a:off x="0" y="0"/>
              <a:ext cx="4536796" cy="1649730"/>
            </a:xfrm>
            <a:custGeom>
              <a:avLst/>
              <a:gdLst/>
              <a:ahLst/>
              <a:cxnLst/>
              <a:rect l="l" t="t" r="r" b="b"/>
              <a:pathLst>
                <a:path w="4536796" h="1649730">
                  <a:moveTo>
                    <a:pt x="0" y="0"/>
                  </a:moveTo>
                  <a:lnTo>
                    <a:pt x="4536796" y="0"/>
                  </a:lnTo>
                  <a:lnTo>
                    <a:pt x="4536796" y="1649730"/>
                  </a:lnTo>
                  <a:lnTo>
                    <a:pt x="0" y="1649730"/>
                  </a:lnTo>
                  <a:close/>
                </a:path>
              </a:pathLst>
            </a:custGeom>
            <a:blipFill>
              <a:blip r:embed="rId12">
                <a:alphaModFix amt="0"/>
              </a:blip>
              <a:stretch>
                <a:fillRect t="-3584" b="-3584"/>
              </a:stretch>
            </a:blipFill>
          </p:spPr>
          <p:txBody>
            <a:bodyPr/>
            <a:p/>
          </p:txBody>
        </p:sp>
        <p:sp>
          <p:nvSpPr>
            <p:cNvPr id="31" name="TextBox 31"/>
            <p:cNvSpPr txBox="1"/>
            <p:nvPr/>
          </p:nvSpPr>
          <p:spPr>
            <a:xfrm>
              <a:off x="0" y="-47625"/>
              <a:ext cx="4536796" cy="169735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1 · Tiền xử lý</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chữ: NFC, chữ thường · ảnh: RGB, resize</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sp>
        <p:nvSpPr>
          <p:cNvPr id="32" name="Freeform 32"/>
          <p:cNvSpPr/>
          <p:nvPr/>
        </p:nvSpPr>
        <p:spPr>
          <a:xfrm>
            <a:off x="4538072" y="7911179"/>
            <a:ext cx="513398" cy="444817"/>
          </a:xfrm>
          <a:custGeom>
            <a:avLst/>
            <a:gdLst/>
            <a:ahLst/>
            <a:cxnLst/>
            <a:rect l="l" t="t" r="r" b="b"/>
            <a:pathLst>
              <a:path w="513398" h="444817">
                <a:moveTo>
                  <a:pt x="0" y="0"/>
                </a:moveTo>
                <a:lnTo>
                  <a:pt x="513397" y="0"/>
                </a:lnTo>
                <a:lnTo>
                  <a:pt x="513397" y="444818"/>
                </a:lnTo>
                <a:lnTo>
                  <a:pt x="0" y="444818"/>
                </a:lnTo>
                <a:lnTo>
                  <a:pt x="0" y="0"/>
                </a:lnTo>
                <a:close/>
              </a:path>
            </a:pathLst>
          </a:custGeom>
          <a:blipFill>
            <a:blip r:embed="rId13">
              <a:extLst>
                <a:ext uri="{96DAC541-7B7A-43D3-8B79-37D633B846F1}">
                  <asvg:svgBlip xmlns:asvg="http://schemas.microsoft.com/office/drawing/2016/SVG/main" r:embed="rId14"/>
                </a:ext>
              </a:extLst>
            </a:blip>
            <a:stretch>
              <a:fillRect t="-229" b="-226"/>
            </a:stretch>
          </a:blipFill>
        </p:spPr>
        <p:txBody>
          <a:bodyPr/>
          <a:p/>
        </p:txBody>
      </p:sp>
      <p:sp>
        <p:nvSpPr>
          <p:cNvPr id="33" name="Freeform 33"/>
          <p:cNvSpPr/>
          <p:nvPr/>
        </p:nvSpPr>
        <p:spPr>
          <a:xfrm>
            <a:off x="5155292" y="7527131"/>
            <a:ext cx="3627977" cy="1199197"/>
          </a:xfrm>
          <a:custGeom>
            <a:avLst/>
            <a:gdLst/>
            <a:ahLst/>
            <a:cxnLst/>
            <a:rect l="l" t="t" r="r" b="b"/>
            <a:pathLst>
              <a:path w="3627977" h="1199197">
                <a:moveTo>
                  <a:pt x="0" y="0"/>
                </a:moveTo>
                <a:lnTo>
                  <a:pt x="3627977" y="0"/>
                </a:lnTo>
                <a:lnTo>
                  <a:pt x="3627977" y="1199198"/>
                </a:lnTo>
                <a:lnTo>
                  <a:pt x="0" y="1199198"/>
                </a:lnTo>
                <a:lnTo>
                  <a:pt x="0" y="0"/>
                </a:lnTo>
                <a:close/>
              </a:path>
            </a:pathLst>
          </a:custGeom>
          <a:blipFill>
            <a:blip r:embed="rId8">
              <a:extLst>
                <a:ext uri="{96DAC541-7B7A-43D3-8B79-37D633B846F1}">
                  <asvg:svgBlip xmlns:asvg="http://schemas.microsoft.com/office/drawing/2016/SVG/main" r:embed="rId9"/>
                </a:ext>
              </a:extLst>
            </a:blip>
            <a:stretch>
              <a:fillRect t="-25" b="-25"/>
            </a:stretch>
          </a:blipFill>
        </p:spPr>
        <p:txBody>
          <a:bodyPr/>
          <a:p/>
        </p:txBody>
      </p:sp>
      <p:grpSp>
        <p:nvGrpSpPr>
          <p:cNvPr id="34" name="Group 34"/>
          <p:cNvGrpSpPr/>
          <p:nvPr/>
        </p:nvGrpSpPr>
        <p:grpSpPr>
          <a:xfrm rot="0">
            <a:off x="5267973" y="7543800"/>
            <a:ext cx="3402616" cy="1165860"/>
            <a:chOff x="0" y="0"/>
            <a:chExt cx="4536821" cy="1554480"/>
          </a:xfrm>
        </p:grpSpPr>
        <p:sp>
          <p:nvSpPr>
            <p:cNvPr id="35" name="Freeform 35"/>
            <p:cNvSpPr/>
            <p:nvPr/>
          </p:nvSpPr>
          <p:spPr>
            <a:xfrm>
              <a:off x="0" y="0"/>
              <a:ext cx="4536821" cy="1554480"/>
            </a:xfrm>
            <a:custGeom>
              <a:avLst/>
              <a:gdLst/>
              <a:ahLst/>
              <a:cxnLst/>
              <a:rect l="l" t="t" r="r" b="b"/>
              <a:pathLst>
                <a:path w="4536821" h="1554480">
                  <a:moveTo>
                    <a:pt x="0" y="0"/>
                  </a:moveTo>
                  <a:lnTo>
                    <a:pt x="4536821" y="0"/>
                  </a:lnTo>
                  <a:lnTo>
                    <a:pt x="4536821" y="1554480"/>
                  </a:lnTo>
                  <a:lnTo>
                    <a:pt x="0" y="1554480"/>
                  </a:lnTo>
                  <a:close/>
                </a:path>
              </a:pathLst>
            </a:custGeom>
            <a:blipFill>
              <a:blip r:embed="rId10">
                <a:alphaModFix amt="0"/>
              </a:blip>
              <a:stretch>
                <a:fillRect t="-6828" b="-6828"/>
              </a:stretch>
            </a:blipFill>
          </p:spPr>
          <p:txBody>
            <a:bodyPr/>
            <a:p/>
          </p:txBody>
        </p:sp>
      </p:grpSp>
      <p:grpSp>
        <p:nvGrpSpPr>
          <p:cNvPr id="36" name="Group 36"/>
          <p:cNvGrpSpPr/>
          <p:nvPr/>
        </p:nvGrpSpPr>
        <p:grpSpPr>
          <a:xfrm rot="0">
            <a:off x="5267973" y="7508081"/>
            <a:ext cx="3402597" cy="1201579"/>
            <a:chOff x="0" y="0"/>
            <a:chExt cx="4536796" cy="1602105"/>
          </a:xfrm>
        </p:grpSpPr>
        <p:sp>
          <p:nvSpPr>
            <p:cNvPr id="37" name="Freeform 37"/>
            <p:cNvSpPr/>
            <p:nvPr/>
          </p:nvSpPr>
          <p:spPr>
            <a:xfrm>
              <a:off x="0" y="0"/>
              <a:ext cx="4536821" cy="1602105"/>
            </a:xfrm>
            <a:custGeom>
              <a:avLst/>
              <a:gdLst/>
              <a:ahLst/>
              <a:cxnLst/>
              <a:rect l="l" t="t" r="r" b="b"/>
              <a:pathLst>
                <a:path w="4536821" h="1602105">
                  <a:moveTo>
                    <a:pt x="0" y="0"/>
                  </a:moveTo>
                  <a:lnTo>
                    <a:pt x="4536821" y="0"/>
                  </a:lnTo>
                  <a:lnTo>
                    <a:pt x="4536821" y="1602105"/>
                  </a:lnTo>
                  <a:lnTo>
                    <a:pt x="0" y="1602105"/>
                  </a:lnTo>
                  <a:close/>
                </a:path>
              </a:pathLst>
            </a:custGeom>
            <a:blipFill>
              <a:blip r:embed="rId11">
                <a:alphaModFix amt="0"/>
              </a:blip>
              <a:stretch>
                <a:fillRect t="-5139" b="-5138"/>
              </a:stretch>
            </a:blipFill>
          </p:spPr>
          <p:txBody>
            <a:bodyPr/>
            <a:p/>
          </p:txBody>
        </p:sp>
      </p:grpSp>
      <p:grpSp>
        <p:nvGrpSpPr>
          <p:cNvPr id="38" name="Group 38"/>
          <p:cNvGrpSpPr/>
          <p:nvPr/>
        </p:nvGrpSpPr>
        <p:grpSpPr>
          <a:xfrm rot="0">
            <a:off x="5267973" y="7472362"/>
            <a:ext cx="3402597" cy="1237298"/>
            <a:chOff x="0" y="0"/>
            <a:chExt cx="4536796" cy="1649730"/>
          </a:xfrm>
        </p:grpSpPr>
        <p:sp>
          <p:nvSpPr>
            <p:cNvPr id="39" name="Freeform 39"/>
            <p:cNvSpPr/>
            <p:nvPr/>
          </p:nvSpPr>
          <p:spPr>
            <a:xfrm>
              <a:off x="0" y="0"/>
              <a:ext cx="4536796" cy="1649730"/>
            </a:xfrm>
            <a:custGeom>
              <a:avLst/>
              <a:gdLst/>
              <a:ahLst/>
              <a:cxnLst/>
              <a:rect l="l" t="t" r="r" b="b"/>
              <a:pathLst>
                <a:path w="4536796" h="1649730">
                  <a:moveTo>
                    <a:pt x="0" y="0"/>
                  </a:moveTo>
                  <a:lnTo>
                    <a:pt x="4536796" y="0"/>
                  </a:lnTo>
                  <a:lnTo>
                    <a:pt x="4536796" y="1649730"/>
                  </a:lnTo>
                  <a:lnTo>
                    <a:pt x="0" y="1649730"/>
                  </a:lnTo>
                  <a:close/>
                </a:path>
              </a:pathLst>
            </a:custGeom>
            <a:blipFill>
              <a:blip r:embed="rId12">
                <a:alphaModFix amt="0"/>
              </a:blip>
              <a:stretch>
                <a:fillRect t="-3584" b="-3584"/>
              </a:stretch>
            </a:blipFill>
          </p:spPr>
          <p:txBody>
            <a:bodyPr/>
            <a:p/>
          </p:txBody>
        </p:sp>
        <p:sp>
          <p:nvSpPr>
            <p:cNvPr id="40" name="TextBox 40"/>
            <p:cNvSpPr txBox="1"/>
            <p:nvPr/>
          </p:nvSpPr>
          <p:spPr>
            <a:xfrm>
              <a:off x="0" y="-47625"/>
              <a:ext cx="4536796" cy="169735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2 · Cố định split</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seed 42 / split chính thức</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sp>
        <p:nvSpPr>
          <p:cNvPr id="41" name="Freeform 41"/>
          <p:cNvSpPr/>
          <p:nvPr/>
        </p:nvSpPr>
        <p:spPr>
          <a:xfrm>
            <a:off x="8887073" y="7911179"/>
            <a:ext cx="513397" cy="444817"/>
          </a:xfrm>
          <a:custGeom>
            <a:avLst/>
            <a:gdLst/>
            <a:ahLst/>
            <a:cxnLst/>
            <a:rect l="l" t="t" r="r" b="b"/>
            <a:pathLst>
              <a:path w="513397" h="444817">
                <a:moveTo>
                  <a:pt x="0" y="0"/>
                </a:moveTo>
                <a:lnTo>
                  <a:pt x="513397" y="0"/>
                </a:lnTo>
                <a:lnTo>
                  <a:pt x="513397" y="444818"/>
                </a:lnTo>
                <a:lnTo>
                  <a:pt x="0" y="444818"/>
                </a:lnTo>
                <a:lnTo>
                  <a:pt x="0" y="0"/>
                </a:lnTo>
                <a:close/>
              </a:path>
            </a:pathLst>
          </a:custGeom>
          <a:blipFill>
            <a:blip r:embed="rId13">
              <a:extLst>
                <a:ext uri="{96DAC541-7B7A-43D3-8B79-37D633B846F1}">
                  <asvg:svgBlip xmlns:asvg="http://schemas.microsoft.com/office/drawing/2016/SVG/main" r:embed="rId14"/>
                </a:ext>
              </a:extLst>
            </a:blip>
            <a:stretch>
              <a:fillRect t="-226" b="-229"/>
            </a:stretch>
          </a:blipFill>
        </p:spPr>
        <p:txBody>
          <a:bodyPr/>
          <a:p/>
        </p:txBody>
      </p:sp>
      <p:sp>
        <p:nvSpPr>
          <p:cNvPr id="42" name="Freeform 42"/>
          <p:cNvSpPr/>
          <p:nvPr/>
        </p:nvSpPr>
        <p:spPr>
          <a:xfrm>
            <a:off x="9504293" y="7527131"/>
            <a:ext cx="3627977" cy="1199197"/>
          </a:xfrm>
          <a:custGeom>
            <a:avLst/>
            <a:gdLst/>
            <a:ahLst/>
            <a:cxnLst/>
            <a:rect l="l" t="t" r="r" b="b"/>
            <a:pathLst>
              <a:path w="3627977" h="1199197">
                <a:moveTo>
                  <a:pt x="0" y="0"/>
                </a:moveTo>
                <a:lnTo>
                  <a:pt x="3627977" y="0"/>
                </a:lnTo>
                <a:lnTo>
                  <a:pt x="3627977" y="1199198"/>
                </a:lnTo>
                <a:lnTo>
                  <a:pt x="0" y="1199198"/>
                </a:lnTo>
                <a:lnTo>
                  <a:pt x="0" y="0"/>
                </a:lnTo>
                <a:close/>
              </a:path>
            </a:pathLst>
          </a:custGeom>
          <a:blipFill>
            <a:blip r:embed="rId8">
              <a:extLst>
                <a:ext uri="{96DAC541-7B7A-43D3-8B79-37D633B846F1}">
                  <asvg:svgBlip xmlns:asvg="http://schemas.microsoft.com/office/drawing/2016/SVG/main" r:embed="rId9"/>
                </a:ext>
              </a:extLst>
            </a:blip>
            <a:stretch>
              <a:fillRect t="-25" b="-25"/>
            </a:stretch>
          </a:blipFill>
        </p:spPr>
        <p:txBody>
          <a:bodyPr/>
          <a:p/>
        </p:txBody>
      </p:sp>
      <p:grpSp>
        <p:nvGrpSpPr>
          <p:cNvPr id="43" name="Group 43"/>
          <p:cNvGrpSpPr/>
          <p:nvPr/>
        </p:nvGrpSpPr>
        <p:grpSpPr>
          <a:xfrm rot="0">
            <a:off x="9616973" y="7543800"/>
            <a:ext cx="3402616" cy="1165860"/>
            <a:chOff x="0" y="0"/>
            <a:chExt cx="4536821" cy="1554480"/>
          </a:xfrm>
        </p:grpSpPr>
        <p:sp>
          <p:nvSpPr>
            <p:cNvPr id="44" name="Freeform 44"/>
            <p:cNvSpPr/>
            <p:nvPr/>
          </p:nvSpPr>
          <p:spPr>
            <a:xfrm>
              <a:off x="0" y="0"/>
              <a:ext cx="4536821" cy="1554480"/>
            </a:xfrm>
            <a:custGeom>
              <a:avLst/>
              <a:gdLst/>
              <a:ahLst/>
              <a:cxnLst/>
              <a:rect l="l" t="t" r="r" b="b"/>
              <a:pathLst>
                <a:path w="4536821" h="1554480">
                  <a:moveTo>
                    <a:pt x="0" y="0"/>
                  </a:moveTo>
                  <a:lnTo>
                    <a:pt x="4536821" y="0"/>
                  </a:lnTo>
                  <a:lnTo>
                    <a:pt x="4536821" y="1554480"/>
                  </a:lnTo>
                  <a:lnTo>
                    <a:pt x="0" y="1554480"/>
                  </a:lnTo>
                  <a:close/>
                </a:path>
              </a:pathLst>
            </a:custGeom>
            <a:blipFill>
              <a:blip r:embed="rId10">
                <a:alphaModFix amt="0"/>
              </a:blip>
              <a:stretch>
                <a:fillRect t="-6828" b="-6828"/>
              </a:stretch>
            </a:blipFill>
          </p:spPr>
          <p:txBody>
            <a:bodyPr/>
            <a:p/>
          </p:txBody>
        </p:sp>
      </p:grpSp>
      <p:grpSp>
        <p:nvGrpSpPr>
          <p:cNvPr id="45" name="Group 45"/>
          <p:cNvGrpSpPr/>
          <p:nvPr/>
        </p:nvGrpSpPr>
        <p:grpSpPr>
          <a:xfrm rot="0">
            <a:off x="9616973" y="7508081"/>
            <a:ext cx="3402597" cy="1201579"/>
            <a:chOff x="0" y="0"/>
            <a:chExt cx="4536796" cy="1602105"/>
          </a:xfrm>
        </p:grpSpPr>
        <p:sp>
          <p:nvSpPr>
            <p:cNvPr id="46" name="Freeform 46"/>
            <p:cNvSpPr/>
            <p:nvPr/>
          </p:nvSpPr>
          <p:spPr>
            <a:xfrm>
              <a:off x="0" y="0"/>
              <a:ext cx="4536821" cy="1602105"/>
            </a:xfrm>
            <a:custGeom>
              <a:avLst/>
              <a:gdLst/>
              <a:ahLst/>
              <a:cxnLst/>
              <a:rect l="l" t="t" r="r" b="b"/>
              <a:pathLst>
                <a:path w="4536821" h="1602105">
                  <a:moveTo>
                    <a:pt x="0" y="0"/>
                  </a:moveTo>
                  <a:lnTo>
                    <a:pt x="4536821" y="0"/>
                  </a:lnTo>
                  <a:lnTo>
                    <a:pt x="4536821" y="1602105"/>
                  </a:lnTo>
                  <a:lnTo>
                    <a:pt x="0" y="1602105"/>
                  </a:lnTo>
                  <a:close/>
                </a:path>
              </a:pathLst>
            </a:custGeom>
            <a:blipFill>
              <a:blip r:embed="rId11">
                <a:alphaModFix amt="0"/>
              </a:blip>
              <a:stretch>
                <a:fillRect t="-5139" b="-5138"/>
              </a:stretch>
            </a:blipFill>
          </p:spPr>
          <p:txBody>
            <a:bodyPr/>
            <a:p/>
          </p:txBody>
        </p:sp>
      </p:grpSp>
      <p:grpSp>
        <p:nvGrpSpPr>
          <p:cNvPr id="47" name="Group 47"/>
          <p:cNvGrpSpPr/>
          <p:nvPr/>
        </p:nvGrpSpPr>
        <p:grpSpPr>
          <a:xfrm rot="0">
            <a:off x="9616973" y="7472362"/>
            <a:ext cx="3402597" cy="1237298"/>
            <a:chOff x="0" y="0"/>
            <a:chExt cx="4536796" cy="1649730"/>
          </a:xfrm>
        </p:grpSpPr>
        <p:sp>
          <p:nvSpPr>
            <p:cNvPr id="48" name="Freeform 48"/>
            <p:cNvSpPr/>
            <p:nvPr/>
          </p:nvSpPr>
          <p:spPr>
            <a:xfrm>
              <a:off x="0" y="0"/>
              <a:ext cx="4536796" cy="1649730"/>
            </a:xfrm>
            <a:custGeom>
              <a:avLst/>
              <a:gdLst/>
              <a:ahLst/>
              <a:cxnLst/>
              <a:rect l="l" t="t" r="r" b="b"/>
              <a:pathLst>
                <a:path w="4536796" h="1649730">
                  <a:moveTo>
                    <a:pt x="0" y="0"/>
                  </a:moveTo>
                  <a:lnTo>
                    <a:pt x="4536796" y="0"/>
                  </a:lnTo>
                  <a:lnTo>
                    <a:pt x="4536796" y="1649730"/>
                  </a:lnTo>
                  <a:lnTo>
                    <a:pt x="0" y="1649730"/>
                  </a:lnTo>
                  <a:close/>
                </a:path>
              </a:pathLst>
            </a:custGeom>
            <a:blipFill>
              <a:blip r:embed="rId12">
                <a:alphaModFix amt="0"/>
              </a:blip>
              <a:stretch>
                <a:fillRect t="-3584" b="-3584"/>
              </a:stretch>
            </a:blipFill>
          </p:spPr>
          <p:txBody>
            <a:bodyPr/>
            <a:p/>
          </p:txBody>
        </p:sp>
        <p:sp>
          <p:nvSpPr>
            <p:cNvPr id="49" name="TextBox 49"/>
            <p:cNvSpPr txBox="1"/>
            <p:nvPr/>
          </p:nvSpPr>
          <p:spPr>
            <a:xfrm>
              <a:off x="0" y="-47625"/>
              <a:ext cx="4536796" cy="169735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3 · Chọn cấu hình</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trên val / dev (vd: epoch, cấu hình OCR)</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sp>
        <p:nvSpPr>
          <p:cNvPr id="50" name="Freeform 50"/>
          <p:cNvSpPr/>
          <p:nvPr/>
        </p:nvSpPr>
        <p:spPr>
          <a:xfrm>
            <a:off x="13236073" y="7911179"/>
            <a:ext cx="513397" cy="444817"/>
          </a:xfrm>
          <a:custGeom>
            <a:avLst/>
            <a:gdLst/>
            <a:ahLst/>
            <a:cxnLst/>
            <a:rect l="l" t="t" r="r" b="b"/>
            <a:pathLst>
              <a:path w="513397" h="444817">
                <a:moveTo>
                  <a:pt x="0" y="0"/>
                </a:moveTo>
                <a:lnTo>
                  <a:pt x="513398" y="0"/>
                </a:lnTo>
                <a:lnTo>
                  <a:pt x="513398" y="444818"/>
                </a:lnTo>
                <a:lnTo>
                  <a:pt x="0" y="444818"/>
                </a:lnTo>
                <a:lnTo>
                  <a:pt x="0" y="0"/>
                </a:lnTo>
                <a:close/>
              </a:path>
            </a:pathLst>
          </a:custGeom>
          <a:blipFill>
            <a:blip r:embed="rId13">
              <a:extLst>
                <a:ext uri="{96DAC541-7B7A-43D3-8B79-37D633B846F1}">
                  <asvg:svgBlip xmlns:asvg="http://schemas.microsoft.com/office/drawing/2016/SVG/main" r:embed="rId14"/>
                </a:ext>
              </a:extLst>
            </a:blip>
            <a:stretch>
              <a:fillRect t="-226" b="-229"/>
            </a:stretch>
          </a:blipFill>
        </p:spPr>
        <p:txBody>
          <a:bodyPr/>
          <a:p/>
        </p:txBody>
      </p:sp>
      <p:sp>
        <p:nvSpPr>
          <p:cNvPr id="51" name="Freeform 51"/>
          <p:cNvSpPr/>
          <p:nvPr/>
        </p:nvSpPr>
        <p:spPr>
          <a:xfrm>
            <a:off x="13853293" y="7527131"/>
            <a:ext cx="3627977" cy="1199197"/>
          </a:xfrm>
          <a:custGeom>
            <a:avLst/>
            <a:gdLst/>
            <a:ahLst/>
            <a:cxnLst/>
            <a:rect l="l" t="t" r="r" b="b"/>
            <a:pathLst>
              <a:path w="3627977" h="1199197">
                <a:moveTo>
                  <a:pt x="0" y="0"/>
                </a:moveTo>
                <a:lnTo>
                  <a:pt x="3627978" y="0"/>
                </a:lnTo>
                <a:lnTo>
                  <a:pt x="3627978" y="1199198"/>
                </a:lnTo>
                <a:lnTo>
                  <a:pt x="0" y="1199198"/>
                </a:lnTo>
                <a:lnTo>
                  <a:pt x="0" y="0"/>
                </a:lnTo>
                <a:close/>
              </a:path>
            </a:pathLst>
          </a:custGeom>
          <a:blipFill>
            <a:blip r:embed="rId15">
              <a:extLst>
                <a:ext uri="{96DAC541-7B7A-43D3-8B79-37D633B846F1}">
                  <asvg:svgBlip xmlns:asvg="http://schemas.microsoft.com/office/drawing/2016/SVG/main" r:embed="rId16"/>
                </a:ext>
              </a:extLst>
            </a:blip>
            <a:stretch>
              <a:fillRect t="-25" b="-25"/>
            </a:stretch>
          </a:blipFill>
        </p:spPr>
        <p:txBody>
          <a:bodyPr/>
          <a:p/>
        </p:txBody>
      </p:sp>
      <p:grpSp>
        <p:nvGrpSpPr>
          <p:cNvPr id="52" name="Group 52"/>
          <p:cNvGrpSpPr/>
          <p:nvPr/>
        </p:nvGrpSpPr>
        <p:grpSpPr>
          <a:xfrm rot="0">
            <a:off x="13965974" y="7543800"/>
            <a:ext cx="3402616" cy="1165860"/>
            <a:chOff x="0" y="0"/>
            <a:chExt cx="4536821" cy="1554480"/>
          </a:xfrm>
        </p:grpSpPr>
        <p:sp>
          <p:nvSpPr>
            <p:cNvPr id="53" name="Freeform 53"/>
            <p:cNvSpPr/>
            <p:nvPr/>
          </p:nvSpPr>
          <p:spPr>
            <a:xfrm>
              <a:off x="0" y="0"/>
              <a:ext cx="4536821" cy="1554480"/>
            </a:xfrm>
            <a:custGeom>
              <a:avLst/>
              <a:gdLst/>
              <a:ahLst/>
              <a:cxnLst/>
              <a:rect l="l" t="t" r="r" b="b"/>
              <a:pathLst>
                <a:path w="4536821" h="1554480">
                  <a:moveTo>
                    <a:pt x="0" y="0"/>
                  </a:moveTo>
                  <a:lnTo>
                    <a:pt x="4536821" y="0"/>
                  </a:lnTo>
                  <a:lnTo>
                    <a:pt x="4536821" y="1554480"/>
                  </a:lnTo>
                  <a:lnTo>
                    <a:pt x="0" y="1554480"/>
                  </a:lnTo>
                  <a:close/>
                </a:path>
              </a:pathLst>
            </a:custGeom>
            <a:blipFill>
              <a:blip r:embed="rId10">
                <a:alphaModFix amt="0"/>
              </a:blip>
              <a:stretch>
                <a:fillRect t="-6828" b="-6828"/>
              </a:stretch>
            </a:blipFill>
          </p:spPr>
          <p:txBody>
            <a:bodyPr/>
            <a:p/>
          </p:txBody>
        </p:sp>
      </p:grpSp>
      <p:grpSp>
        <p:nvGrpSpPr>
          <p:cNvPr id="54" name="Group 54"/>
          <p:cNvGrpSpPr/>
          <p:nvPr/>
        </p:nvGrpSpPr>
        <p:grpSpPr>
          <a:xfrm rot="0">
            <a:off x="13965974" y="7508081"/>
            <a:ext cx="3402597" cy="1201579"/>
            <a:chOff x="0" y="0"/>
            <a:chExt cx="4536796" cy="1602105"/>
          </a:xfrm>
        </p:grpSpPr>
        <p:sp>
          <p:nvSpPr>
            <p:cNvPr id="55" name="Freeform 55"/>
            <p:cNvSpPr/>
            <p:nvPr/>
          </p:nvSpPr>
          <p:spPr>
            <a:xfrm>
              <a:off x="0" y="0"/>
              <a:ext cx="4536821" cy="1602105"/>
            </a:xfrm>
            <a:custGeom>
              <a:avLst/>
              <a:gdLst/>
              <a:ahLst/>
              <a:cxnLst/>
              <a:rect l="l" t="t" r="r" b="b"/>
              <a:pathLst>
                <a:path w="4536821" h="1602105">
                  <a:moveTo>
                    <a:pt x="0" y="0"/>
                  </a:moveTo>
                  <a:lnTo>
                    <a:pt x="4536821" y="0"/>
                  </a:lnTo>
                  <a:lnTo>
                    <a:pt x="4536821" y="1602105"/>
                  </a:lnTo>
                  <a:lnTo>
                    <a:pt x="0" y="1602105"/>
                  </a:lnTo>
                  <a:close/>
                </a:path>
              </a:pathLst>
            </a:custGeom>
            <a:blipFill>
              <a:blip r:embed="rId11">
                <a:alphaModFix amt="0"/>
              </a:blip>
              <a:stretch>
                <a:fillRect t="-5139" b="-5138"/>
              </a:stretch>
            </a:blipFill>
          </p:spPr>
          <p:txBody>
            <a:bodyPr/>
            <a:p/>
          </p:txBody>
        </p:sp>
      </p:grpSp>
      <p:grpSp>
        <p:nvGrpSpPr>
          <p:cNvPr id="56" name="Group 56"/>
          <p:cNvGrpSpPr/>
          <p:nvPr/>
        </p:nvGrpSpPr>
        <p:grpSpPr>
          <a:xfrm rot="0">
            <a:off x="13965974" y="7472362"/>
            <a:ext cx="3402597" cy="1237298"/>
            <a:chOff x="0" y="0"/>
            <a:chExt cx="4536796" cy="1649730"/>
          </a:xfrm>
        </p:grpSpPr>
        <p:sp>
          <p:nvSpPr>
            <p:cNvPr id="57" name="Freeform 57"/>
            <p:cNvSpPr/>
            <p:nvPr/>
          </p:nvSpPr>
          <p:spPr>
            <a:xfrm>
              <a:off x="0" y="0"/>
              <a:ext cx="4536796" cy="1649730"/>
            </a:xfrm>
            <a:custGeom>
              <a:avLst/>
              <a:gdLst/>
              <a:ahLst/>
              <a:cxnLst/>
              <a:rect l="l" t="t" r="r" b="b"/>
              <a:pathLst>
                <a:path w="4536796" h="1649730">
                  <a:moveTo>
                    <a:pt x="0" y="0"/>
                  </a:moveTo>
                  <a:lnTo>
                    <a:pt x="4536796" y="0"/>
                  </a:lnTo>
                  <a:lnTo>
                    <a:pt x="4536796" y="1649730"/>
                  </a:lnTo>
                  <a:lnTo>
                    <a:pt x="0" y="1649730"/>
                  </a:lnTo>
                  <a:close/>
                </a:path>
              </a:pathLst>
            </a:custGeom>
            <a:blipFill>
              <a:blip r:embed="rId12">
                <a:alphaModFix amt="0"/>
              </a:blip>
              <a:stretch>
                <a:fillRect t="-3584" b="-3584"/>
              </a:stretch>
            </a:blipFill>
          </p:spPr>
          <p:txBody>
            <a:bodyPr/>
            <a:p/>
          </p:txBody>
        </p:sp>
        <p:sp>
          <p:nvSpPr>
            <p:cNvPr id="58" name="TextBox 58"/>
            <p:cNvSpPr txBox="1"/>
            <p:nvPr/>
          </p:nvSpPr>
          <p:spPr>
            <a:xfrm>
              <a:off x="0" y="-47625"/>
              <a:ext cx="4536796" cy="1697355"/>
            </a:xfrm>
            <a:prstGeom prst="rect">
              <a:avLst/>
            </a:prstGeom>
          </p:spPr>
          <p:txBody>
            <a:bodyPr lIns="0" tIns="0" rIns="0" bIns="0" rtlCol="0" anchor="ctr"/>
            <a:lstStyle/>
            <a:p>
              <a:pPr algn="ctr">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4 · Báo cáo</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ctr">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trên test — không dùng để chọn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grpSp>
        <p:nvGrpSpPr>
          <p:cNvPr id="59" name="Group 59"/>
          <p:cNvGrpSpPr/>
          <p:nvPr/>
        </p:nvGrpSpPr>
        <p:grpSpPr>
          <a:xfrm rot="0">
            <a:off x="1198721" y="5821013"/>
            <a:ext cx="5275326" cy="510350"/>
            <a:chOff x="0" y="0"/>
            <a:chExt cx="7033768" cy="680466"/>
          </a:xfrm>
        </p:grpSpPr>
        <p:sp>
          <p:nvSpPr>
            <p:cNvPr id="60" name="Freeform 60"/>
            <p:cNvSpPr/>
            <p:nvPr/>
          </p:nvSpPr>
          <p:spPr>
            <a:xfrm>
              <a:off x="0" y="0"/>
              <a:ext cx="7033768" cy="680466"/>
            </a:xfrm>
            <a:custGeom>
              <a:avLst/>
              <a:gdLst/>
              <a:ahLst/>
              <a:cxnLst/>
              <a:rect l="l" t="t" r="r" b="b"/>
              <a:pathLst>
                <a:path w="7033768" h="680466">
                  <a:moveTo>
                    <a:pt x="0" y="0"/>
                  </a:moveTo>
                  <a:lnTo>
                    <a:pt x="7033768" y="0"/>
                  </a:lnTo>
                  <a:lnTo>
                    <a:pt x="7033768" y="680466"/>
                  </a:lnTo>
                  <a:lnTo>
                    <a:pt x="0" y="680466"/>
                  </a:lnTo>
                  <a:close/>
                </a:path>
              </a:pathLst>
            </a:custGeom>
            <a:solidFill>
              <a:srgbClr val="13294B"/>
            </a:solidFill>
            <a:ln w="28575" cap="sq">
              <a:solidFill>
                <a:srgbClr val="FFFFFF"/>
              </a:solidFill>
              <a:prstDash val="solid"/>
              <a:miter/>
            </a:ln>
          </p:spPr>
          <p:txBody>
            <a:bodyPr/>
            <a:p/>
          </p:txBody>
        </p:sp>
      </p:grpSp>
      <p:grpSp>
        <p:nvGrpSpPr>
          <p:cNvPr id="61" name="Group 61"/>
          <p:cNvGrpSpPr/>
          <p:nvPr/>
        </p:nvGrpSpPr>
        <p:grpSpPr>
          <a:xfrm rot="0">
            <a:off x="1220152" y="5821013"/>
            <a:ext cx="5232492" cy="488918"/>
            <a:chOff x="0" y="0"/>
            <a:chExt cx="6976656" cy="651891"/>
          </a:xfrm>
        </p:grpSpPr>
        <p:sp>
          <p:nvSpPr>
            <p:cNvPr id="62" name="Freeform 62"/>
            <p:cNvSpPr/>
            <p:nvPr/>
          </p:nvSpPr>
          <p:spPr>
            <a:xfrm>
              <a:off x="0" y="0"/>
              <a:ext cx="6976618" cy="651891"/>
            </a:xfrm>
            <a:custGeom>
              <a:avLst/>
              <a:gdLst/>
              <a:ahLst/>
              <a:cxnLst/>
              <a:rect l="l" t="t" r="r" b="b"/>
              <a:pathLst>
                <a:path w="6976618" h="651891">
                  <a:moveTo>
                    <a:pt x="0" y="0"/>
                  </a:moveTo>
                  <a:lnTo>
                    <a:pt x="6976618" y="0"/>
                  </a:lnTo>
                  <a:lnTo>
                    <a:pt x="6976618" y="651891"/>
                  </a:lnTo>
                  <a:lnTo>
                    <a:pt x="0" y="651891"/>
                  </a:lnTo>
                  <a:close/>
                </a:path>
              </a:pathLst>
            </a:custGeom>
            <a:blipFill>
              <a:blip r:embed="rId11">
                <a:alphaModFix amt="0"/>
              </a:blip>
              <a:stretch>
                <a:fillRect t="-158386" b="-158388"/>
              </a:stretch>
            </a:blipFill>
          </p:spPr>
          <p:txBody>
            <a:bodyPr/>
            <a:p/>
          </p:txBody>
        </p:sp>
      </p:grpSp>
      <p:grpSp>
        <p:nvGrpSpPr>
          <p:cNvPr id="63" name="Group 63"/>
          <p:cNvGrpSpPr/>
          <p:nvPr/>
        </p:nvGrpSpPr>
        <p:grpSpPr>
          <a:xfrm rot="0">
            <a:off x="1220152" y="5799582"/>
            <a:ext cx="5232492" cy="510350"/>
            <a:chOff x="0" y="0"/>
            <a:chExt cx="6976656" cy="680466"/>
          </a:xfrm>
        </p:grpSpPr>
        <p:sp>
          <p:nvSpPr>
            <p:cNvPr id="64" name="Freeform 64"/>
            <p:cNvSpPr/>
            <p:nvPr/>
          </p:nvSpPr>
          <p:spPr>
            <a:xfrm>
              <a:off x="0" y="0"/>
              <a:ext cx="6976656" cy="680466"/>
            </a:xfrm>
            <a:custGeom>
              <a:avLst/>
              <a:gdLst/>
              <a:ahLst/>
              <a:cxnLst/>
              <a:rect l="l" t="t" r="r" b="b"/>
              <a:pathLst>
                <a:path w="6976656" h="680466">
                  <a:moveTo>
                    <a:pt x="0" y="0"/>
                  </a:moveTo>
                  <a:lnTo>
                    <a:pt x="6976656" y="0"/>
                  </a:lnTo>
                  <a:lnTo>
                    <a:pt x="6976656" y="680466"/>
                  </a:lnTo>
                  <a:lnTo>
                    <a:pt x="0" y="680466"/>
                  </a:lnTo>
                  <a:close/>
                </a:path>
              </a:pathLst>
            </a:custGeom>
            <a:blipFill>
              <a:blip r:embed="rId12">
                <a:alphaModFix amt="0"/>
              </a:blip>
              <a:stretch>
                <a:fillRect t="-149775" b="-149775"/>
              </a:stretch>
            </a:blipFill>
          </p:spPr>
          <p:txBody>
            <a:bodyPr/>
            <a:p/>
          </p:txBody>
        </p:sp>
        <p:sp>
          <p:nvSpPr>
            <p:cNvPr id="65" name="TextBox 65"/>
            <p:cNvSpPr txBox="1"/>
            <p:nvPr/>
          </p:nvSpPr>
          <p:spPr>
            <a:xfrm>
              <a:off x="0" y="-28575"/>
              <a:ext cx="6976656" cy="709041"/>
            </a:xfrm>
            <a:prstGeom prst="rect">
              <a:avLst/>
            </a:prstGeom>
          </p:spPr>
          <p:txBody>
            <a:bodyPr lIns="0" tIns="0" rIns="0" bIns="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train 72%</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66" name="Group 66"/>
          <p:cNvGrpSpPr/>
          <p:nvPr/>
        </p:nvGrpSpPr>
        <p:grpSpPr>
          <a:xfrm rot="0">
            <a:off x="6402638" y="5821013"/>
            <a:ext cx="649700" cy="510350"/>
            <a:chOff x="0" y="0"/>
            <a:chExt cx="866267" cy="680466"/>
          </a:xfrm>
        </p:grpSpPr>
        <p:sp>
          <p:nvSpPr>
            <p:cNvPr id="67" name="Freeform 67"/>
            <p:cNvSpPr/>
            <p:nvPr/>
          </p:nvSpPr>
          <p:spPr>
            <a:xfrm>
              <a:off x="0" y="0"/>
              <a:ext cx="866267" cy="680466"/>
            </a:xfrm>
            <a:custGeom>
              <a:avLst/>
              <a:gdLst/>
              <a:ahLst/>
              <a:cxnLst/>
              <a:rect l="l" t="t" r="r" b="b"/>
              <a:pathLst>
                <a:path w="866267" h="680466">
                  <a:moveTo>
                    <a:pt x="0" y="0"/>
                  </a:moveTo>
                  <a:lnTo>
                    <a:pt x="866267" y="0"/>
                  </a:lnTo>
                  <a:lnTo>
                    <a:pt x="866267" y="680466"/>
                  </a:lnTo>
                  <a:lnTo>
                    <a:pt x="0" y="680466"/>
                  </a:lnTo>
                  <a:close/>
                </a:path>
              </a:pathLst>
            </a:custGeom>
            <a:solidFill>
              <a:srgbClr val="E8A33D"/>
            </a:solidFill>
            <a:ln w="28575" cap="sq">
              <a:solidFill>
                <a:srgbClr val="FFFFFF"/>
              </a:solidFill>
              <a:prstDash val="solid"/>
              <a:miter/>
            </a:ln>
          </p:spPr>
          <p:txBody>
            <a:bodyPr/>
            <a:p/>
          </p:txBody>
        </p:sp>
      </p:grpSp>
      <p:grpSp>
        <p:nvGrpSpPr>
          <p:cNvPr id="68" name="Group 68"/>
          <p:cNvGrpSpPr/>
          <p:nvPr/>
        </p:nvGrpSpPr>
        <p:grpSpPr>
          <a:xfrm rot="0">
            <a:off x="6424070" y="5821013"/>
            <a:ext cx="606838" cy="488918"/>
            <a:chOff x="0" y="0"/>
            <a:chExt cx="809117" cy="651891"/>
          </a:xfrm>
        </p:grpSpPr>
        <p:sp>
          <p:nvSpPr>
            <p:cNvPr id="69" name="Freeform 69"/>
            <p:cNvSpPr/>
            <p:nvPr/>
          </p:nvSpPr>
          <p:spPr>
            <a:xfrm>
              <a:off x="0" y="0"/>
              <a:ext cx="809117" cy="651891"/>
            </a:xfrm>
            <a:custGeom>
              <a:avLst/>
              <a:gdLst/>
              <a:ahLst/>
              <a:cxnLst/>
              <a:rect l="l" t="t" r="r" b="b"/>
              <a:pathLst>
                <a:path w="809117" h="651891">
                  <a:moveTo>
                    <a:pt x="0" y="0"/>
                  </a:moveTo>
                  <a:lnTo>
                    <a:pt x="809117" y="0"/>
                  </a:lnTo>
                  <a:lnTo>
                    <a:pt x="809117" y="651891"/>
                  </a:lnTo>
                  <a:lnTo>
                    <a:pt x="0" y="651891"/>
                  </a:lnTo>
                  <a:close/>
                </a:path>
              </a:pathLst>
            </a:custGeom>
            <a:blipFill>
              <a:blip r:embed="rId11">
                <a:alphaModFix amt="0"/>
              </a:blip>
              <a:stretch>
                <a:fillRect l="-53443" r="-53443"/>
              </a:stretch>
            </a:blipFill>
          </p:spPr>
          <p:txBody>
            <a:bodyPr/>
            <a:p/>
          </p:txBody>
        </p:sp>
      </p:grpSp>
      <p:grpSp>
        <p:nvGrpSpPr>
          <p:cNvPr id="70" name="Group 70"/>
          <p:cNvGrpSpPr/>
          <p:nvPr/>
        </p:nvGrpSpPr>
        <p:grpSpPr>
          <a:xfrm rot="0">
            <a:off x="6424070" y="5799582"/>
            <a:ext cx="606838" cy="510350"/>
            <a:chOff x="0" y="0"/>
            <a:chExt cx="809117" cy="680466"/>
          </a:xfrm>
        </p:grpSpPr>
        <p:sp>
          <p:nvSpPr>
            <p:cNvPr id="71" name="Freeform 71"/>
            <p:cNvSpPr/>
            <p:nvPr/>
          </p:nvSpPr>
          <p:spPr>
            <a:xfrm>
              <a:off x="0" y="0"/>
              <a:ext cx="809117" cy="680466"/>
            </a:xfrm>
            <a:custGeom>
              <a:avLst/>
              <a:gdLst/>
              <a:ahLst/>
              <a:cxnLst/>
              <a:rect l="l" t="t" r="r" b="b"/>
              <a:pathLst>
                <a:path w="809117" h="680466">
                  <a:moveTo>
                    <a:pt x="0" y="0"/>
                  </a:moveTo>
                  <a:lnTo>
                    <a:pt x="809117" y="0"/>
                  </a:lnTo>
                  <a:lnTo>
                    <a:pt x="809117" y="680466"/>
                  </a:lnTo>
                  <a:lnTo>
                    <a:pt x="0" y="680466"/>
                  </a:lnTo>
                  <a:close/>
                </a:path>
              </a:pathLst>
            </a:custGeom>
            <a:blipFill>
              <a:blip r:embed="rId12">
                <a:alphaModFix amt="0"/>
              </a:blip>
              <a:stretch>
                <a:fillRect l="-57903" r="-57903"/>
              </a:stretch>
            </a:blipFill>
          </p:spPr>
          <p:txBody>
            <a:bodyPr/>
            <a:p/>
          </p:txBody>
        </p:sp>
        <p:sp>
          <p:nvSpPr>
            <p:cNvPr id="72" name="TextBox 72"/>
            <p:cNvSpPr txBox="1"/>
            <p:nvPr/>
          </p:nvSpPr>
          <p:spPr>
            <a:xfrm>
              <a:off x="0" y="-28575"/>
              <a:ext cx="809117" cy="709041"/>
            </a:xfrm>
            <a:prstGeom prst="rect">
              <a:avLst/>
            </a:prstGeom>
          </p:spPr>
          <p:txBody>
            <a:bodyPr lIns="0" tIns="0" rIns="0" bIns="0" rtlCol="0" anchor="ctr"/>
            <a:lstStyle/>
            <a:p>
              <a:pPr algn="ctr">
                <a:lnSpc>
                  <a:spcPts val="1620"/>
                </a:lnSpc>
              </a:pPr>
              <a:r>
                <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rPr>
                <a:t>val 8%</a:t>
              </a:r>
              <a:endPar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73" name="Group 73"/>
          <p:cNvGrpSpPr/>
          <p:nvPr/>
        </p:nvGrpSpPr>
        <p:grpSpPr>
          <a:xfrm rot="0">
            <a:off x="6980901" y="5821013"/>
            <a:ext cx="1517618" cy="510350"/>
            <a:chOff x="0" y="0"/>
            <a:chExt cx="2023491" cy="680466"/>
          </a:xfrm>
        </p:grpSpPr>
        <p:sp>
          <p:nvSpPr>
            <p:cNvPr id="74" name="Freeform 74"/>
            <p:cNvSpPr/>
            <p:nvPr/>
          </p:nvSpPr>
          <p:spPr>
            <a:xfrm>
              <a:off x="0" y="0"/>
              <a:ext cx="2023491" cy="680466"/>
            </a:xfrm>
            <a:custGeom>
              <a:avLst/>
              <a:gdLst/>
              <a:ahLst/>
              <a:cxnLst/>
              <a:rect l="l" t="t" r="r" b="b"/>
              <a:pathLst>
                <a:path w="2023491" h="680466">
                  <a:moveTo>
                    <a:pt x="0" y="0"/>
                  </a:moveTo>
                  <a:lnTo>
                    <a:pt x="2023491" y="0"/>
                  </a:lnTo>
                  <a:lnTo>
                    <a:pt x="2023491" y="680466"/>
                  </a:lnTo>
                  <a:lnTo>
                    <a:pt x="0" y="680466"/>
                  </a:lnTo>
                  <a:close/>
                </a:path>
              </a:pathLst>
            </a:custGeom>
            <a:solidFill>
              <a:srgbClr val="1C7293"/>
            </a:solidFill>
            <a:ln w="28575" cap="sq">
              <a:solidFill>
                <a:srgbClr val="FFFFFF"/>
              </a:solidFill>
              <a:prstDash val="solid"/>
              <a:miter/>
            </a:ln>
          </p:spPr>
          <p:txBody>
            <a:bodyPr/>
            <a:p/>
          </p:txBody>
        </p:sp>
      </p:grpSp>
      <p:grpSp>
        <p:nvGrpSpPr>
          <p:cNvPr id="75" name="Group 75"/>
          <p:cNvGrpSpPr/>
          <p:nvPr/>
        </p:nvGrpSpPr>
        <p:grpSpPr>
          <a:xfrm rot="0">
            <a:off x="7002332" y="5821013"/>
            <a:ext cx="1474718" cy="488918"/>
            <a:chOff x="0" y="0"/>
            <a:chExt cx="1966290" cy="651891"/>
          </a:xfrm>
        </p:grpSpPr>
        <p:sp>
          <p:nvSpPr>
            <p:cNvPr id="76" name="Freeform 76"/>
            <p:cNvSpPr/>
            <p:nvPr/>
          </p:nvSpPr>
          <p:spPr>
            <a:xfrm>
              <a:off x="0" y="0"/>
              <a:ext cx="1966341" cy="651891"/>
            </a:xfrm>
            <a:custGeom>
              <a:avLst/>
              <a:gdLst/>
              <a:ahLst/>
              <a:cxnLst/>
              <a:rect l="l" t="t" r="r" b="b"/>
              <a:pathLst>
                <a:path w="1966341" h="651891">
                  <a:moveTo>
                    <a:pt x="0" y="0"/>
                  </a:moveTo>
                  <a:lnTo>
                    <a:pt x="1966341" y="0"/>
                  </a:lnTo>
                  <a:lnTo>
                    <a:pt x="1966341" y="651891"/>
                  </a:lnTo>
                  <a:lnTo>
                    <a:pt x="0" y="651891"/>
                  </a:lnTo>
                  <a:close/>
                </a:path>
              </a:pathLst>
            </a:custGeom>
            <a:blipFill>
              <a:blip r:embed="rId11">
                <a:alphaModFix amt="0"/>
              </a:blip>
              <a:stretch>
                <a:fillRect t="-8731" r="2" b="-8731"/>
              </a:stretch>
            </a:blipFill>
          </p:spPr>
          <p:txBody>
            <a:bodyPr/>
            <a:p/>
          </p:txBody>
        </p:sp>
      </p:grpSp>
      <p:grpSp>
        <p:nvGrpSpPr>
          <p:cNvPr id="77" name="Group 77"/>
          <p:cNvGrpSpPr/>
          <p:nvPr/>
        </p:nvGrpSpPr>
        <p:grpSpPr>
          <a:xfrm rot="0">
            <a:off x="7002332" y="5799582"/>
            <a:ext cx="1474718" cy="510350"/>
            <a:chOff x="0" y="0"/>
            <a:chExt cx="1966290" cy="680466"/>
          </a:xfrm>
        </p:grpSpPr>
        <p:sp>
          <p:nvSpPr>
            <p:cNvPr id="78" name="Freeform 78"/>
            <p:cNvSpPr/>
            <p:nvPr/>
          </p:nvSpPr>
          <p:spPr>
            <a:xfrm>
              <a:off x="0" y="0"/>
              <a:ext cx="1966291" cy="680466"/>
            </a:xfrm>
            <a:custGeom>
              <a:avLst/>
              <a:gdLst/>
              <a:ahLst/>
              <a:cxnLst/>
              <a:rect l="l" t="t" r="r" b="b"/>
              <a:pathLst>
                <a:path w="1966291" h="680466">
                  <a:moveTo>
                    <a:pt x="0" y="0"/>
                  </a:moveTo>
                  <a:lnTo>
                    <a:pt x="1966291" y="0"/>
                  </a:lnTo>
                  <a:lnTo>
                    <a:pt x="1966291" y="680466"/>
                  </a:lnTo>
                  <a:lnTo>
                    <a:pt x="0" y="680466"/>
                  </a:lnTo>
                  <a:close/>
                </a:path>
              </a:pathLst>
            </a:custGeom>
            <a:blipFill>
              <a:blip r:embed="rId12">
                <a:alphaModFix amt="0"/>
              </a:blip>
              <a:stretch>
                <a:fillRect t="-6304" b="-6304"/>
              </a:stretch>
            </a:blipFill>
          </p:spPr>
          <p:txBody>
            <a:bodyPr/>
            <a:p/>
          </p:txBody>
        </p:sp>
        <p:sp>
          <p:nvSpPr>
            <p:cNvPr id="79" name="TextBox 79"/>
            <p:cNvSpPr txBox="1"/>
            <p:nvPr/>
          </p:nvSpPr>
          <p:spPr>
            <a:xfrm>
              <a:off x="0" y="-28575"/>
              <a:ext cx="1966290" cy="709041"/>
            </a:xfrm>
            <a:prstGeom prst="rect">
              <a:avLst/>
            </a:prstGeom>
          </p:spPr>
          <p:txBody>
            <a:bodyPr lIns="0" tIns="0" rIns="0" bIns="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test 20%</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80" name="Group 80"/>
          <p:cNvGrpSpPr/>
          <p:nvPr/>
        </p:nvGrpSpPr>
        <p:grpSpPr>
          <a:xfrm rot="0">
            <a:off x="9798653" y="5821013"/>
            <a:ext cx="5119688" cy="510350"/>
            <a:chOff x="0" y="0"/>
            <a:chExt cx="6826250" cy="680466"/>
          </a:xfrm>
        </p:grpSpPr>
        <p:sp>
          <p:nvSpPr>
            <p:cNvPr id="81" name="Freeform 81"/>
            <p:cNvSpPr/>
            <p:nvPr/>
          </p:nvSpPr>
          <p:spPr>
            <a:xfrm>
              <a:off x="0" y="0"/>
              <a:ext cx="6826250" cy="680466"/>
            </a:xfrm>
            <a:custGeom>
              <a:avLst/>
              <a:gdLst/>
              <a:ahLst/>
              <a:cxnLst/>
              <a:rect l="l" t="t" r="r" b="b"/>
              <a:pathLst>
                <a:path w="6826250" h="680466">
                  <a:moveTo>
                    <a:pt x="0" y="0"/>
                  </a:moveTo>
                  <a:lnTo>
                    <a:pt x="6826250" y="0"/>
                  </a:lnTo>
                  <a:lnTo>
                    <a:pt x="6826250" y="680466"/>
                  </a:lnTo>
                  <a:lnTo>
                    <a:pt x="0" y="680466"/>
                  </a:lnTo>
                  <a:close/>
                </a:path>
              </a:pathLst>
            </a:custGeom>
            <a:solidFill>
              <a:srgbClr val="13294B"/>
            </a:solidFill>
            <a:ln w="28575" cap="sq">
              <a:solidFill>
                <a:srgbClr val="FFFFFF"/>
              </a:solidFill>
              <a:prstDash val="solid"/>
              <a:miter/>
            </a:ln>
          </p:spPr>
          <p:txBody>
            <a:bodyPr/>
            <a:p/>
          </p:txBody>
        </p:sp>
      </p:grpSp>
      <p:grpSp>
        <p:nvGrpSpPr>
          <p:cNvPr id="82" name="Group 82"/>
          <p:cNvGrpSpPr/>
          <p:nvPr/>
        </p:nvGrpSpPr>
        <p:grpSpPr>
          <a:xfrm rot="0">
            <a:off x="9820084" y="5821013"/>
            <a:ext cx="5076863" cy="488918"/>
            <a:chOff x="0" y="0"/>
            <a:chExt cx="6769151" cy="651891"/>
          </a:xfrm>
        </p:grpSpPr>
        <p:sp>
          <p:nvSpPr>
            <p:cNvPr id="83" name="Freeform 83"/>
            <p:cNvSpPr/>
            <p:nvPr/>
          </p:nvSpPr>
          <p:spPr>
            <a:xfrm>
              <a:off x="0" y="0"/>
              <a:ext cx="6769100" cy="651891"/>
            </a:xfrm>
            <a:custGeom>
              <a:avLst/>
              <a:gdLst/>
              <a:ahLst/>
              <a:cxnLst/>
              <a:rect l="l" t="t" r="r" b="b"/>
              <a:pathLst>
                <a:path w="6769100" h="651891">
                  <a:moveTo>
                    <a:pt x="0" y="0"/>
                  </a:moveTo>
                  <a:lnTo>
                    <a:pt x="6769100" y="0"/>
                  </a:lnTo>
                  <a:lnTo>
                    <a:pt x="6769100" y="651891"/>
                  </a:lnTo>
                  <a:lnTo>
                    <a:pt x="0" y="651891"/>
                  </a:lnTo>
                  <a:close/>
                </a:path>
              </a:pathLst>
            </a:custGeom>
            <a:blipFill>
              <a:blip r:embed="rId11">
                <a:alphaModFix amt="0"/>
              </a:blip>
              <a:stretch>
                <a:fillRect t="-152189" b="-152189"/>
              </a:stretch>
            </a:blipFill>
          </p:spPr>
          <p:txBody>
            <a:bodyPr/>
            <a:p/>
          </p:txBody>
        </p:sp>
      </p:grpSp>
      <p:grpSp>
        <p:nvGrpSpPr>
          <p:cNvPr id="84" name="Group 84"/>
          <p:cNvGrpSpPr/>
          <p:nvPr/>
        </p:nvGrpSpPr>
        <p:grpSpPr>
          <a:xfrm rot="0">
            <a:off x="9820084" y="5799582"/>
            <a:ext cx="5076863" cy="510350"/>
            <a:chOff x="0" y="0"/>
            <a:chExt cx="6769151" cy="680466"/>
          </a:xfrm>
        </p:grpSpPr>
        <p:sp>
          <p:nvSpPr>
            <p:cNvPr id="85" name="Freeform 85"/>
            <p:cNvSpPr/>
            <p:nvPr/>
          </p:nvSpPr>
          <p:spPr>
            <a:xfrm>
              <a:off x="0" y="0"/>
              <a:ext cx="6769150" cy="680466"/>
            </a:xfrm>
            <a:custGeom>
              <a:avLst/>
              <a:gdLst/>
              <a:ahLst/>
              <a:cxnLst/>
              <a:rect l="l" t="t" r="r" b="b"/>
              <a:pathLst>
                <a:path w="6769150" h="680466">
                  <a:moveTo>
                    <a:pt x="0" y="0"/>
                  </a:moveTo>
                  <a:lnTo>
                    <a:pt x="6769150" y="0"/>
                  </a:lnTo>
                  <a:lnTo>
                    <a:pt x="6769150" y="680466"/>
                  </a:lnTo>
                  <a:lnTo>
                    <a:pt x="0" y="680466"/>
                  </a:lnTo>
                  <a:close/>
                </a:path>
              </a:pathLst>
            </a:custGeom>
            <a:blipFill>
              <a:blip r:embed="rId12">
                <a:alphaModFix amt="0"/>
              </a:blip>
              <a:stretch>
                <a:fillRect t="-143833" b="-143833"/>
              </a:stretch>
            </a:blipFill>
          </p:spPr>
          <p:txBody>
            <a:bodyPr/>
            <a:p/>
          </p:txBody>
        </p:sp>
        <p:sp>
          <p:nvSpPr>
            <p:cNvPr id="86" name="TextBox 86"/>
            <p:cNvSpPr txBox="1"/>
            <p:nvPr/>
          </p:nvSpPr>
          <p:spPr>
            <a:xfrm>
              <a:off x="0" y="-28575"/>
              <a:ext cx="6769151" cy="709041"/>
            </a:xfrm>
            <a:prstGeom prst="rect">
              <a:avLst/>
            </a:prstGeom>
          </p:spPr>
          <p:txBody>
            <a:bodyPr lIns="0" tIns="0" rIns="0" bIns="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train 70%</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87" name="Group 87"/>
          <p:cNvGrpSpPr/>
          <p:nvPr/>
        </p:nvGrpSpPr>
        <p:grpSpPr>
          <a:xfrm rot="0">
            <a:off x="14846941" y="5821013"/>
            <a:ext cx="811625" cy="510350"/>
            <a:chOff x="0" y="0"/>
            <a:chExt cx="1082167" cy="680466"/>
          </a:xfrm>
        </p:grpSpPr>
        <p:sp>
          <p:nvSpPr>
            <p:cNvPr id="88" name="Freeform 88"/>
            <p:cNvSpPr/>
            <p:nvPr/>
          </p:nvSpPr>
          <p:spPr>
            <a:xfrm>
              <a:off x="0" y="0"/>
              <a:ext cx="1082167" cy="680466"/>
            </a:xfrm>
            <a:custGeom>
              <a:avLst/>
              <a:gdLst/>
              <a:ahLst/>
              <a:cxnLst/>
              <a:rect l="l" t="t" r="r" b="b"/>
              <a:pathLst>
                <a:path w="1082167" h="680466">
                  <a:moveTo>
                    <a:pt x="0" y="0"/>
                  </a:moveTo>
                  <a:lnTo>
                    <a:pt x="1082167" y="0"/>
                  </a:lnTo>
                  <a:lnTo>
                    <a:pt x="1082167" y="680466"/>
                  </a:lnTo>
                  <a:lnTo>
                    <a:pt x="0" y="680466"/>
                  </a:lnTo>
                  <a:close/>
                </a:path>
              </a:pathLst>
            </a:custGeom>
            <a:solidFill>
              <a:srgbClr val="E8A33D"/>
            </a:solidFill>
            <a:ln w="28575" cap="sq">
              <a:solidFill>
                <a:srgbClr val="FFFFFF"/>
              </a:solidFill>
              <a:prstDash val="solid"/>
              <a:miter/>
            </a:ln>
          </p:spPr>
          <p:txBody>
            <a:bodyPr/>
            <a:p/>
          </p:txBody>
        </p:sp>
      </p:grpSp>
      <p:grpSp>
        <p:nvGrpSpPr>
          <p:cNvPr id="89" name="Group 89"/>
          <p:cNvGrpSpPr/>
          <p:nvPr/>
        </p:nvGrpSpPr>
        <p:grpSpPr>
          <a:xfrm rot="0">
            <a:off x="14868373" y="5821013"/>
            <a:ext cx="768753" cy="488918"/>
            <a:chOff x="0" y="0"/>
            <a:chExt cx="1025004" cy="651891"/>
          </a:xfrm>
        </p:grpSpPr>
        <p:sp>
          <p:nvSpPr>
            <p:cNvPr id="90" name="Freeform 90"/>
            <p:cNvSpPr/>
            <p:nvPr/>
          </p:nvSpPr>
          <p:spPr>
            <a:xfrm>
              <a:off x="0" y="0"/>
              <a:ext cx="1025017" cy="651891"/>
            </a:xfrm>
            <a:custGeom>
              <a:avLst/>
              <a:gdLst/>
              <a:ahLst/>
              <a:cxnLst/>
              <a:rect l="l" t="t" r="r" b="b"/>
              <a:pathLst>
                <a:path w="1025017" h="651891">
                  <a:moveTo>
                    <a:pt x="0" y="0"/>
                  </a:moveTo>
                  <a:lnTo>
                    <a:pt x="1025017" y="0"/>
                  </a:lnTo>
                  <a:lnTo>
                    <a:pt x="1025017" y="651891"/>
                  </a:lnTo>
                  <a:lnTo>
                    <a:pt x="0" y="651891"/>
                  </a:lnTo>
                  <a:close/>
                </a:path>
              </a:pathLst>
            </a:custGeom>
            <a:blipFill>
              <a:blip r:embed="rId11">
                <a:alphaModFix amt="0"/>
              </a:blip>
              <a:stretch>
                <a:fillRect l="-31656" r="-31654"/>
              </a:stretch>
            </a:blipFill>
          </p:spPr>
          <p:txBody>
            <a:bodyPr/>
            <a:p/>
          </p:txBody>
        </p:sp>
      </p:grpSp>
      <p:grpSp>
        <p:nvGrpSpPr>
          <p:cNvPr id="91" name="Group 91"/>
          <p:cNvGrpSpPr/>
          <p:nvPr/>
        </p:nvGrpSpPr>
        <p:grpSpPr>
          <a:xfrm rot="0">
            <a:off x="14868373" y="5799582"/>
            <a:ext cx="768753" cy="510350"/>
            <a:chOff x="0" y="0"/>
            <a:chExt cx="1025004" cy="680466"/>
          </a:xfrm>
        </p:grpSpPr>
        <p:sp>
          <p:nvSpPr>
            <p:cNvPr id="92" name="Freeform 92"/>
            <p:cNvSpPr/>
            <p:nvPr/>
          </p:nvSpPr>
          <p:spPr>
            <a:xfrm>
              <a:off x="0" y="0"/>
              <a:ext cx="1025004" cy="680466"/>
            </a:xfrm>
            <a:custGeom>
              <a:avLst/>
              <a:gdLst/>
              <a:ahLst/>
              <a:cxnLst/>
              <a:rect l="l" t="t" r="r" b="b"/>
              <a:pathLst>
                <a:path w="1025004" h="680466">
                  <a:moveTo>
                    <a:pt x="0" y="0"/>
                  </a:moveTo>
                  <a:lnTo>
                    <a:pt x="1025004" y="0"/>
                  </a:lnTo>
                  <a:lnTo>
                    <a:pt x="1025004" y="680466"/>
                  </a:lnTo>
                  <a:lnTo>
                    <a:pt x="0" y="680466"/>
                  </a:lnTo>
                  <a:close/>
                </a:path>
              </a:pathLst>
            </a:custGeom>
            <a:blipFill>
              <a:blip r:embed="rId12">
                <a:alphaModFix amt="0"/>
              </a:blip>
              <a:stretch>
                <a:fillRect l="-35176" r="-35176"/>
              </a:stretch>
            </a:blipFill>
          </p:spPr>
          <p:txBody>
            <a:bodyPr/>
            <a:p/>
          </p:txBody>
        </p:sp>
        <p:sp>
          <p:nvSpPr>
            <p:cNvPr id="93" name="TextBox 93"/>
            <p:cNvSpPr txBox="1"/>
            <p:nvPr/>
          </p:nvSpPr>
          <p:spPr>
            <a:xfrm>
              <a:off x="0" y="-28575"/>
              <a:ext cx="1025004" cy="709041"/>
            </a:xfrm>
            <a:prstGeom prst="rect">
              <a:avLst/>
            </a:prstGeom>
          </p:spPr>
          <p:txBody>
            <a:bodyPr lIns="0" tIns="0" rIns="0" bIns="0" rtlCol="0" anchor="ctr"/>
            <a:lstStyle/>
            <a:p>
              <a:pPr algn="ctr">
                <a:lnSpc>
                  <a:spcPts val="1620"/>
                </a:lnSpc>
              </a:pPr>
              <a:r>
                <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rPr>
                <a:t>dev 10%</a:t>
              </a:r>
              <a:endPar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94" name="Group 94"/>
          <p:cNvGrpSpPr/>
          <p:nvPr/>
        </p:nvGrpSpPr>
        <p:grpSpPr>
          <a:xfrm rot="0">
            <a:off x="15587120" y="5821013"/>
            <a:ext cx="1511332" cy="510350"/>
            <a:chOff x="0" y="0"/>
            <a:chExt cx="2015109" cy="680466"/>
          </a:xfrm>
        </p:grpSpPr>
        <p:sp>
          <p:nvSpPr>
            <p:cNvPr id="95" name="Freeform 95"/>
            <p:cNvSpPr/>
            <p:nvPr/>
          </p:nvSpPr>
          <p:spPr>
            <a:xfrm>
              <a:off x="0" y="0"/>
              <a:ext cx="2015109" cy="680466"/>
            </a:xfrm>
            <a:custGeom>
              <a:avLst/>
              <a:gdLst/>
              <a:ahLst/>
              <a:cxnLst/>
              <a:rect l="l" t="t" r="r" b="b"/>
              <a:pathLst>
                <a:path w="2015109" h="680466">
                  <a:moveTo>
                    <a:pt x="0" y="0"/>
                  </a:moveTo>
                  <a:lnTo>
                    <a:pt x="2015109" y="0"/>
                  </a:lnTo>
                  <a:lnTo>
                    <a:pt x="2015109" y="680466"/>
                  </a:lnTo>
                  <a:lnTo>
                    <a:pt x="0" y="680466"/>
                  </a:lnTo>
                  <a:close/>
                </a:path>
              </a:pathLst>
            </a:custGeom>
            <a:solidFill>
              <a:srgbClr val="1C7293"/>
            </a:solidFill>
            <a:ln w="28575" cap="sq">
              <a:solidFill>
                <a:srgbClr val="FFFFFF"/>
              </a:solidFill>
              <a:prstDash val="solid"/>
              <a:miter/>
            </a:ln>
          </p:spPr>
          <p:txBody>
            <a:bodyPr/>
            <a:p/>
          </p:txBody>
        </p:sp>
      </p:grpSp>
      <p:grpSp>
        <p:nvGrpSpPr>
          <p:cNvPr id="96" name="Group 96"/>
          <p:cNvGrpSpPr/>
          <p:nvPr/>
        </p:nvGrpSpPr>
        <p:grpSpPr>
          <a:xfrm rot="0">
            <a:off x="15608551" y="5821013"/>
            <a:ext cx="1468441" cy="488918"/>
            <a:chOff x="0" y="0"/>
            <a:chExt cx="1957921" cy="651891"/>
          </a:xfrm>
        </p:grpSpPr>
        <p:sp>
          <p:nvSpPr>
            <p:cNvPr id="97" name="Freeform 97"/>
            <p:cNvSpPr/>
            <p:nvPr/>
          </p:nvSpPr>
          <p:spPr>
            <a:xfrm>
              <a:off x="0" y="0"/>
              <a:ext cx="1957959" cy="651891"/>
            </a:xfrm>
            <a:custGeom>
              <a:avLst/>
              <a:gdLst/>
              <a:ahLst/>
              <a:cxnLst/>
              <a:rect l="l" t="t" r="r" b="b"/>
              <a:pathLst>
                <a:path w="1957959" h="651891">
                  <a:moveTo>
                    <a:pt x="0" y="0"/>
                  </a:moveTo>
                  <a:lnTo>
                    <a:pt x="1957959" y="0"/>
                  </a:lnTo>
                  <a:lnTo>
                    <a:pt x="1957959" y="651891"/>
                  </a:lnTo>
                  <a:lnTo>
                    <a:pt x="0" y="651891"/>
                  </a:lnTo>
                  <a:close/>
                </a:path>
              </a:pathLst>
            </a:custGeom>
            <a:blipFill>
              <a:blip r:embed="rId11">
                <a:alphaModFix amt="0"/>
              </a:blip>
              <a:stretch>
                <a:fillRect t="-8482" r="1" b="-8480"/>
              </a:stretch>
            </a:blipFill>
          </p:spPr>
          <p:txBody>
            <a:bodyPr/>
            <a:p/>
          </p:txBody>
        </p:sp>
      </p:grpSp>
      <p:grpSp>
        <p:nvGrpSpPr>
          <p:cNvPr id="98" name="Group 98"/>
          <p:cNvGrpSpPr/>
          <p:nvPr/>
        </p:nvGrpSpPr>
        <p:grpSpPr>
          <a:xfrm rot="0">
            <a:off x="15608551" y="5799582"/>
            <a:ext cx="1468441" cy="510350"/>
            <a:chOff x="0" y="0"/>
            <a:chExt cx="1957921" cy="680466"/>
          </a:xfrm>
        </p:grpSpPr>
        <p:sp>
          <p:nvSpPr>
            <p:cNvPr id="99" name="Freeform 99"/>
            <p:cNvSpPr/>
            <p:nvPr/>
          </p:nvSpPr>
          <p:spPr>
            <a:xfrm>
              <a:off x="0" y="0"/>
              <a:ext cx="1957921" cy="680466"/>
            </a:xfrm>
            <a:custGeom>
              <a:avLst/>
              <a:gdLst/>
              <a:ahLst/>
              <a:cxnLst/>
              <a:rect l="l" t="t" r="r" b="b"/>
              <a:pathLst>
                <a:path w="1957921" h="680466">
                  <a:moveTo>
                    <a:pt x="0" y="0"/>
                  </a:moveTo>
                  <a:lnTo>
                    <a:pt x="1957921" y="0"/>
                  </a:lnTo>
                  <a:lnTo>
                    <a:pt x="1957921" y="680466"/>
                  </a:lnTo>
                  <a:lnTo>
                    <a:pt x="0" y="680466"/>
                  </a:lnTo>
                  <a:close/>
                </a:path>
              </a:pathLst>
            </a:custGeom>
            <a:blipFill>
              <a:blip r:embed="rId12">
                <a:alphaModFix amt="0"/>
              </a:blip>
              <a:stretch>
                <a:fillRect t="-6064" b="-6064"/>
              </a:stretch>
            </a:blipFill>
          </p:spPr>
          <p:txBody>
            <a:bodyPr/>
            <a:p/>
          </p:txBody>
        </p:sp>
        <p:sp>
          <p:nvSpPr>
            <p:cNvPr id="100" name="TextBox 100"/>
            <p:cNvSpPr txBox="1"/>
            <p:nvPr/>
          </p:nvSpPr>
          <p:spPr>
            <a:xfrm>
              <a:off x="0" y="-28575"/>
              <a:ext cx="1957921" cy="709041"/>
            </a:xfrm>
            <a:prstGeom prst="rect">
              <a:avLst/>
            </a:prstGeom>
          </p:spPr>
          <p:txBody>
            <a:bodyPr lIns="0" tIns="0" rIns="0" bIns="0" rtlCol="0" anchor="ctr"/>
            <a:lstStyle/>
            <a:p>
              <a:pPr algn="ctr">
                <a:lnSpc>
                  <a:spcPts val="1980"/>
                </a:lnSpc>
              </a:pPr>
              <a:r>
                <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rPr>
                <a:t>test 20%</a:t>
              </a:r>
              <a:endParaRPr lang="en-US" sz="16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01" name="Group 101"/>
          <p:cNvGrpSpPr/>
          <p:nvPr/>
        </p:nvGrpSpPr>
        <p:grpSpPr>
          <a:xfrm rot="0">
            <a:off x="822960" y="9655969"/>
            <a:ext cx="13716000" cy="360321"/>
            <a:chOff x="0" y="0"/>
            <a:chExt cx="18288000" cy="480428"/>
          </a:xfrm>
        </p:grpSpPr>
        <p:sp>
          <p:nvSpPr>
            <p:cNvPr id="102" name="Freeform 102"/>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11">
                <a:alphaModFix amt="0"/>
              </a:blip>
              <a:stretch>
                <a:fillRect t="-691184" b="-691181"/>
              </a:stretch>
            </a:blipFill>
          </p:spPr>
          <p:txBody>
            <a:bodyPr/>
            <a:p/>
          </p:txBody>
        </p:sp>
      </p:grpSp>
      <p:grpSp>
        <p:nvGrpSpPr>
          <p:cNvPr id="103" name="Group 103"/>
          <p:cNvGrpSpPr/>
          <p:nvPr/>
        </p:nvGrpSpPr>
        <p:grpSpPr>
          <a:xfrm rot="0">
            <a:off x="822960" y="9627394"/>
            <a:ext cx="13716000" cy="388896"/>
            <a:chOff x="0" y="0"/>
            <a:chExt cx="18288000" cy="518528"/>
          </a:xfrm>
        </p:grpSpPr>
        <p:sp>
          <p:nvSpPr>
            <p:cNvPr id="104" name="Freeform 104"/>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12">
                <a:alphaModFix amt="0"/>
              </a:blip>
              <a:stretch>
                <a:fillRect t="-637220" b="-637221"/>
              </a:stretch>
            </a:blipFill>
          </p:spPr>
          <p:txBody>
            <a:bodyPr/>
            <a:p/>
          </p:txBody>
        </p:sp>
        <p:sp>
          <p:nvSpPr>
            <p:cNvPr id="105" name="TextBox 105"/>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sp>
        <p:nvSpPr>
          <p:cNvPr id="6" name="TextBox 6"/>
          <p:cNvSpPr txBox="1"/>
          <p:nvPr/>
        </p:nvSpPr>
        <p:spPr>
          <a:xfrm>
            <a:off x="822960" y="324612"/>
            <a:ext cx="16641623" cy="525780"/>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08 · BASELINE</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7" name="TextBox 7"/>
          <p:cNvSpPr txBox="1"/>
          <p:nvPr/>
        </p:nvSpPr>
        <p:spPr>
          <a:xfrm>
            <a:off x="822960" y="812292"/>
            <a:ext cx="16641623" cy="998220"/>
          </a:xfrm>
          <a:prstGeom prst="rect">
            <a:avLst/>
          </a:prstGeom>
        </p:spPr>
        <p:txBody>
          <a:bodyPr lIns="0" tIns="0" rIns="0" bIns="0" rtlCol="0" anchor="t">
            <a:spAutoFit/>
          </a:bodyPr>
          <a:lstStyle/>
          <a:p>
            <a:pPr algn="l">
              <a:lnSpc>
                <a:spcPts val="5755"/>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Baseline: Qwen2.5-VL-3B-Instruct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8" name="Group 8"/>
          <p:cNvGrpSpPr/>
          <p:nvPr/>
        </p:nvGrpSpPr>
        <p:grpSpPr>
          <a:xfrm rot="0">
            <a:off x="15458732" y="0"/>
            <a:ext cx="2829306" cy="1184338"/>
            <a:chOff x="0" y="0"/>
            <a:chExt cx="3772408" cy="1579118"/>
          </a:xfrm>
        </p:grpSpPr>
        <p:sp>
          <p:nvSpPr>
            <p:cNvPr id="9" name="Freeform 9"/>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3"/>
              <a:stretch>
                <a:fillRect/>
              </a:stretch>
            </a:blipFill>
          </p:spPr>
          <p:txBody>
            <a:bodyPr/>
            <a:p/>
          </p:txBody>
        </p:sp>
      </p:grpSp>
      <p:grpSp>
        <p:nvGrpSpPr>
          <p:cNvPr id="10" name="Group 10"/>
          <p:cNvGrpSpPr/>
          <p:nvPr/>
        </p:nvGrpSpPr>
        <p:grpSpPr>
          <a:xfrm rot="0">
            <a:off x="816607" y="2051047"/>
            <a:ext cx="10391108" cy="5192078"/>
            <a:chOff x="0" y="0"/>
            <a:chExt cx="13854811" cy="6922770"/>
          </a:xfrm>
        </p:grpSpPr>
        <p:sp>
          <p:nvSpPr>
            <p:cNvPr id="11" name="Freeform 11" descr="fig7a_crop.png"/>
            <p:cNvSpPr/>
            <p:nvPr/>
          </p:nvSpPr>
          <p:spPr>
            <a:xfrm>
              <a:off x="0" y="0"/>
              <a:ext cx="13854812" cy="6922770"/>
            </a:xfrm>
            <a:custGeom>
              <a:avLst/>
              <a:gdLst/>
              <a:ahLst/>
              <a:cxnLst/>
              <a:rect l="l" t="t" r="r" b="b"/>
              <a:pathLst>
                <a:path w="13854812" h="6922770">
                  <a:moveTo>
                    <a:pt x="0" y="0"/>
                  </a:moveTo>
                  <a:lnTo>
                    <a:pt x="13854812" y="0"/>
                  </a:lnTo>
                  <a:lnTo>
                    <a:pt x="13854812" y="6922770"/>
                  </a:lnTo>
                  <a:lnTo>
                    <a:pt x="0" y="6922770"/>
                  </a:lnTo>
                  <a:lnTo>
                    <a:pt x="0" y="0"/>
                  </a:lnTo>
                  <a:close/>
                </a:path>
              </a:pathLst>
            </a:custGeom>
            <a:blipFill>
              <a:blip r:embed="rId4"/>
              <a:stretch>
                <a:fillRect l="-68" r="-68"/>
              </a:stretch>
            </a:blipFill>
          </p:spPr>
          <p:txBody>
            <a:bodyPr/>
            <a:p/>
          </p:txBody>
        </p:sp>
      </p:grpSp>
      <p:sp>
        <p:nvSpPr>
          <p:cNvPr id="12" name="TextBox 12"/>
          <p:cNvSpPr txBox="1"/>
          <p:nvPr/>
        </p:nvSpPr>
        <p:spPr>
          <a:xfrm>
            <a:off x="822960" y="7278662"/>
            <a:ext cx="10378440" cy="918210"/>
          </a:xfrm>
          <a:prstGeom prst="rect">
            <a:avLst/>
          </a:prstGeom>
        </p:spPr>
        <p:txBody>
          <a:bodyPr lIns="0" tIns="0" rIns="0" bIns="0" rtlCol="0" anchor="t">
            <a:spAutoFit/>
          </a:bodyPr>
          <a:lstStyle/>
          <a:p>
            <a:pPr algn="l">
              <a:lnSpc>
                <a:spcPts val="1945"/>
              </a:lnSpc>
            </a:pPr>
            <a:r>
              <a:rPr lang="en-US" sz="1500">
                <a:solidFill>
                  <a:srgbClr val="5B677A"/>
                </a:solidFill>
                <a:latin typeface="Calibri (MS)" panose="020F0502020204030204"/>
                <a:ea typeface="Calibri (MS)" panose="020F0502020204030204"/>
                <a:cs typeface="Calibri (MS)" panose="020F0502020204030204"/>
                <a:sym typeface="Calibri (MS)" panose="020F0502020204030204"/>
              </a:rPr>
              <a:t>Kiến trúc Qwen2.5-VL-3B trong cấu hình của nhóm: ảnh → vision encoder → token ảnh, ghép với câu hỏi → LLM decoder → câu trả lời. Ô cam = adapter LoRA (≈ 29,5 MB, chỉ có khi QLoRA). Mỗi token ảnh phủ 28×28 px → 256–512 token.</a:t>
            </a:r>
            <a:endParaRPr lang="en-US" sz="1500">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945"/>
              </a:lnSpc>
            </a:pPr>
            <a:r>
              <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5" tooltip="https://arxiv.org/abs/2502.13923"/>
              </a:rPr>
              <a:t>Nguồn: Bai et al., Qwen2.5-VL Technical Report, 2025 (arXiv 2502.13923) ↗</a:t>
            </a:r>
            <a:endPar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5" tooltip="https://arxiv.org/abs/2502.13923"/>
            </a:endParaRPr>
          </a:p>
        </p:txBody>
      </p:sp>
      <p:grpSp>
        <p:nvGrpSpPr>
          <p:cNvPr id="13" name="Group 13"/>
          <p:cNvGrpSpPr/>
          <p:nvPr/>
        </p:nvGrpSpPr>
        <p:grpSpPr>
          <a:xfrm rot="0">
            <a:off x="11521440" y="2057400"/>
            <a:ext cx="5943600" cy="2514600"/>
            <a:chOff x="0" y="0"/>
            <a:chExt cx="7924800" cy="3352800"/>
          </a:xfrm>
        </p:grpSpPr>
        <p:sp>
          <p:nvSpPr>
            <p:cNvPr id="14" name="Freeform 14"/>
            <p:cNvSpPr/>
            <p:nvPr/>
          </p:nvSpPr>
          <p:spPr>
            <a:xfrm>
              <a:off x="0" y="0"/>
              <a:ext cx="7924800" cy="3352800"/>
            </a:xfrm>
            <a:custGeom>
              <a:avLst/>
              <a:gdLst/>
              <a:ahLst/>
              <a:cxnLst/>
              <a:rect l="l" t="t" r="r" b="b"/>
              <a:pathLst>
                <a:path w="7924800" h="3352800">
                  <a:moveTo>
                    <a:pt x="0" y="201168"/>
                  </a:moveTo>
                  <a:cubicBezTo>
                    <a:pt x="0" y="90043"/>
                    <a:pt x="90043" y="0"/>
                    <a:pt x="201168" y="0"/>
                  </a:cubicBezTo>
                  <a:lnTo>
                    <a:pt x="7723632" y="0"/>
                  </a:lnTo>
                  <a:cubicBezTo>
                    <a:pt x="7834757" y="0"/>
                    <a:pt x="7924800" y="90043"/>
                    <a:pt x="7924800" y="201168"/>
                  </a:cubicBezTo>
                  <a:lnTo>
                    <a:pt x="7924800" y="3151632"/>
                  </a:lnTo>
                  <a:cubicBezTo>
                    <a:pt x="7924800" y="3262757"/>
                    <a:pt x="7834757" y="3352800"/>
                    <a:pt x="7723632" y="3352800"/>
                  </a:cubicBezTo>
                  <a:lnTo>
                    <a:pt x="201168" y="3352800"/>
                  </a:lnTo>
                  <a:cubicBezTo>
                    <a:pt x="90043" y="3352800"/>
                    <a:pt x="0" y="3262757"/>
                    <a:pt x="0" y="3151632"/>
                  </a:cubicBezTo>
                  <a:close/>
                </a:path>
              </a:pathLst>
            </a:custGeom>
            <a:solidFill>
              <a:srgbClr val="F3F5F8"/>
            </a:solidFill>
          </p:spPr>
          <p:txBody>
            <a:bodyPr/>
            <a:p/>
          </p:txBody>
        </p:sp>
      </p:grpSp>
      <p:sp>
        <p:nvSpPr>
          <p:cNvPr id="15" name="TextBox 15"/>
          <p:cNvSpPr txBox="1"/>
          <p:nvPr/>
        </p:nvSpPr>
        <p:spPr>
          <a:xfrm>
            <a:off x="11841480" y="2125218"/>
            <a:ext cx="5394960" cy="2327910"/>
          </a:xfrm>
          <a:prstGeom prst="rect">
            <a:avLst/>
          </a:prstGeom>
        </p:spPr>
        <p:txBody>
          <a:bodyPr lIns="0" tIns="0" rIns="0" bIns="0" rtlCol="0" anchor="t">
            <a:spAutoFit/>
          </a:bodyPr>
          <a:lstStyle/>
          <a:p>
            <a:pPr algn="l">
              <a:lnSpc>
                <a:spcPts val="27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Vì sao chọn làm baseline</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265"/>
              </a:lnSpc>
            </a:pPr>
            <a:r>
              <a:rPr lang="en-US" sz="1750">
                <a:solidFill>
                  <a:srgbClr val="243044"/>
                </a:solidFill>
                <a:latin typeface="Calibri (MS)" panose="020F0502020204030204"/>
                <a:ea typeface="Calibri (MS)" panose="020F0502020204030204"/>
                <a:cs typeface="Calibri (MS)" panose="020F0502020204030204"/>
                <a:sym typeface="Calibri (MS)" panose="020F0502020204030204"/>
              </a:rPr>
              <a:t>•  VLM mở, đa ngôn ngữ, mạnh về đọc chữ trong ảnh</a:t>
            </a:r>
            <a:endParaRPr lang="en-US" sz="17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265"/>
              </a:lnSpc>
            </a:pPr>
            <a:r>
              <a:rPr lang="en-US" sz="1750">
                <a:solidFill>
                  <a:srgbClr val="243044"/>
                </a:solidFill>
                <a:latin typeface="Calibri (MS)" panose="020F0502020204030204"/>
                <a:ea typeface="Calibri (MS)" panose="020F0502020204030204"/>
                <a:cs typeface="Calibri (MS)" panose="020F0502020204030204"/>
                <a:sym typeface="Calibri (MS)" panose="020F0502020204030204"/>
              </a:rPr>
              <a:t>•  3B tham số: vừa một GPU Colab khi nén 4-bit</a:t>
            </a:r>
            <a:endParaRPr lang="en-US" sz="17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265"/>
              </a:lnSpc>
            </a:pPr>
            <a:r>
              <a:rPr lang="en-US" sz="1750">
                <a:solidFill>
                  <a:srgbClr val="243044"/>
                </a:solidFill>
                <a:latin typeface="Calibri (MS)" panose="020F0502020204030204"/>
                <a:ea typeface="Calibri (MS)" panose="020F0502020204030204"/>
                <a:cs typeface="Calibri (MS)" panose="020F0502020204030204"/>
                <a:sym typeface="Calibri (MS)" panose="020F0502020204030204"/>
              </a:rPr>
              <a:t>•  Một trong ba baseline đề cương cho phép</a:t>
            </a:r>
            <a:endParaRPr lang="en-US" sz="17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11521440" y="4754880"/>
            <a:ext cx="5943600" cy="2743200"/>
            <a:chOff x="0" y="0"/>
            <a:chExt cx="7924800" cy="3657600"/>
          </a:xfrm>
        </p:grpSpPr>
        <p:sp>
          <p:nvSpPr>
            <p:cNvPr id="17" name="Freeform 17"/>
            <p:cNvSpPr/>
            <p:nvPr/>
          </p:nvSpPr>
          <p:spPr>
            <a:xfrm>
              <a:off x="0" y="0"/>
              <a:ext cx="7924800" cy="3657600"/>
            </a:xfrm>
            <a:custGeom>
              <a:avLst/>
              <a:gdLst/>
              <a:ahLst/>
              <a:cxnLst/>
              <a:rect l="l" t="t" r="r" b="b"/>
              <a:pathLst>
                <a:path w="7924800" h="3657600">
                  <a:moveTo>
                    <a:pt x="0" y="219456"/>
                  </a:moveTo>
                  <a:cubicBezTo>
                    <a:pt x="0" y="98298"/>
                    <a:pt x="98298" y="0"/>
                    <a:pt x="219456" y="0"/>
                  </a:cubicBezTo>
                  <a:lnTo>
                    <a:pt x="7705344" y="0"/>
                  </a:lnTo>
                  <a:cubicBezTo>
                    <a:pt x="7826502" y="0"/>
                    <a:pt x="7924800" y="98298"/>
                    <a:pt x="7924800" y="219456"/>
                  </a:cubicBezTo>
                  <a:lnTo>
                    <a:pt x="7924800" y="3438144"/>
                  </a:lnTo>
                  <a:cubicBezTo>
                    <a:pt x="7924800" y="3559302"/>
                    <a:pt x="7826502" y="3657600"/>
                    <a:pt x="7705344" y="3657600"/>
                  </a:cubicBezTo>
                  <a:lnTo>
                    <a:pt x="219456" y="3657600"/>
                  </a:lnTo>
                  <a:cubicBezTo>
                    <a:pt x="98298" y="3657600"/>
                    <a:pt x="0" y="3559302"/>
                    <a:pt x="0" y="3438144"/>
                  </a:cubicBezTo>
                  <a:close/>
                </a:path>
              </a:pathLst>
            </a:custGeom>
            <a:solidFill>
              <a:srgbClr val="FBF0DA"/>
            </a:solidFill>
          </p:spPr>
          <p:txBody>
            <a:bodyPr/>
            <a:p/>
          </p:txBody>
        </p:sp>
      </p:grpSp>
      <p:sp>
        <p:nvSpPr>
          <p:cNvPr id="18" name="TextBox 18"/>
          <p:cNvSpPr txBox="1"/>
          <p:nvPr/>
        </p:nvSpPr>
        <p:spPr>
          <a:xfrm>
            <a:off x="11841480" y="4822698"/>
            <a:ext cx="5394960" cy="2556510"/>
          </a:xfrm>
          <a:prstGeom prst="rect">
            <a:avLst/>
          </a:prstGeom>
        </p:spPr>
        <p:txBody>
          <a:bodyPr lIns="0" tIns="0" rIns="0" bIns="0" rtlCol="0" anchor="t">
            <a:spAutoFit/>
          </a:bodyPr>
          <a:lstStyle/>
          <a:p>
            <a:pPr algn="l">
              <a:lnSpc>
                <a:spcPts val="2720"/>
              </a:lnSpc>
            </a:pPr>
            <a:r>
              <a:rPr lang="en-US" sz="2100" b="1">
                <a:solidFill>
                  <a:srgbClr val="B86E0E"/>
                </a:solidFill>
                <a:latin typeface="Calibri (MS) Bold" panose="020F0702030404030204"/>
                <a:ea typeface="Calibri (MS) Bold" panose="020F0702030404030204"/>
                <a:cs typeface="Calibri (MS) Bold" panose="020F0702030404030204"/>
                <a:sym typeface="Calibri (MS) Bold" panose="020F0702030404030204"/>
              </a:rPr>
              <a:t>Cấu hình cố định cho mọi run</a:t>
            </a:r>
            <a:endParaRPr lang="en-US" sz="2100" b="1">
              <a:solidFill>
                <a:srgbClr val="B86E0E"/>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265"/>
              </a:lnSpc>
            </a:pPr>
            <a:r>
              <a:rPr lang="en-US" sz="1750">
                <a:solidFill>
                  <a:srgbClr val="243044"/>
                </a:solidFill>
                <a:latin typeface="Calibri (MS)" panose="020F0502020204030204"/>
                <a:ea typeface="Calibri (MS)" panose="020F0502020204030204"/>
                <a:cs typeface="Calibri (MS)" panose="020F0502020204030204"/>
                <a:sym typeface="Calibri (MS)" panose="020F0502020204030204"/>
              </a:rPr>
              <a:t>•  Trọng số gốc 4-bit NF4, đóng băng</a:t>
            </a:r>
            <a:endParaRPr lang="en-US" sz="17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265"/>
              </a:lnSpc>
            </a:pPr>
            <a:r>
              <a:rPr lang="en-US" sz="1750">
                <a:solidFill>
                  <a:srgbClr val="243044"/>
                </a:solidFill>
                <a:latin typeface="Calibri (MS)" panose="020F0502020204030204"/>
                <a:ea typeface="Calibri (MS)" panose="020F0502020204030204"/>
                <a:cs typeface="Calibri (MS)" panose="020F0502020204030204"/>
                <a:sym typeface="Calibri (MS)" panose="020F0502020204030204"/>
              </a:rPr>
              <a:t>•  Tối đa 512 token ảnh mỗi mẫu</a:t>
            </a:r>
            <a:endParaRPr lang="en-US" sz="17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265"/>
              </a:lnSpc>
            </a:pPr>
            <a:r>
              <a:rPr lang="en-US" sz="1750">
                <a:solidFill>
                  <a:srgbClr val="243044"/>
                </a:solidFill>
                <a:latin typeface="Calibri (MS)" panose="020F0502020204030204"/>
                <a:ea typeface="Calibri (MS)" panose="020F0502020204030204"/>
                <a:cs typeface="Calibri (MS)" panose="020F0502020204030204"/>
                <a:sym typeface="Calibri (MS)" panose="020F0502020204030204"/>
              </a:rPr>
              <a:t>•  Sinh greedy, tối đa 32 token</a:t>
            </a:r>
            <a:endParaRPr lang="en-US" sz="17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265"/>
              </a:lnSpc>
            </a:pPr>
            <a:r>
              <a:rPr lang="en-US" sz="1750">
                <a:solidFill>
                  <a:srgbClr val="243044"/>
                </a:solidFill>
                <a:latin typeface="Calibri (MS)" panose="020F0502020204030204"/>
                <a:ea typeface="Calibri (MS)" panose="020F0502020204030204"/>
                <a:cs typeface="Calibri (MS)" panose="020F0502020204030204"/>
                <a:sym typeface="Calibri (MS)" panose="020F0502020204030204"/>
              </a:rPr>
              <a:t>•  QLoRA: LoRA r = 16 trên q, k, v, o (0,196% tham số)</a:t>
            </a:r>
            <a:endParaRPr lang="en-US" sz="17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11521440" y="7680960"/>
            <a:ext cx="5943600" cy="1691640"/>
            <a:chOff x="0" y="0"/>
            <a:chExt cx="7924800" cy="2255520"/>
          </a:xfrm>
        </p:grpSpPr>
        <p:sp>
          <p:nvSpPr>
            <p:cNvPr id="20" name="Freeform 20"/>
            <p:cNvSpPr/>
            <p:nvPr/>
          </p:nvSpPr>
          <p:spPr>
            <a:xfrm>
              <a:off x="0" y="0"/>
              <a:ext cx="7924800" cy="2255520"/>
            </a:xfrm>
            <a:custGeom>
              <a:avLst/>
              <a:gdLst/>
              <a:ahLst/>
              <a:cxnLst/>
              <a:rect l="l" t="t" r="r" b="b"/>
              <a:pathLst>
                <a:path w="7924800" h="2255520">
                  <a:moveTo>
                    <a:pt x="0" y="180467"/>
                  </a:moveTo>
                  <a:cubicBezTo>
                    <a:pt x="0" y="80772"/>
                    <a:pt x="80772" y="0"/>
                    <a:pt x="180467" y="0"/>
                  </a:cubicBezTo>
                  <a:lnTo>
                    <a:pt x="7744333" y="0"/>
                  </a:lnTo>
                  <a:cubicBezTo>
                    <a:pt x="7844028" y="0"/>
                    <a:pt x="7924800" y="80772"/>
                    <a:pt x="7924800" y="180467"/>
                  </a:cubicBezTo>
                  <a:lnTo>
                    <a:pt x="7924800" y="2075053"/>
                  </a:lnTo>
                  <a:cubicBezTo>
                    <a:pt x="7924800" y="2174748"/>
                    <a:pt x="7844028" y="2255520"/>
                    <a:pt x="7744333" y="2255520"/>
                  </a:cubicBezTo>
                  <a:lnTo>
                    <a:pt x="180467" y="2255520"/>
                  </a:lnTo>
                  <a:cubicBezTo>
                    <a:pt x="80772" y="2255520"/>
                    <a:pt x="0" y="2174748"/>
                    <a:pt x="0" y="2075053"/>
                  </a:cubicBezTo>
                  <a:close/>
                </a:path>
              </a:pathLst>
            </a:custGeom>
            <a:solidFill>
              <a:srgbClr val="E7F0F3"/>
            </a:solidFill>
          </p:spPr>
          <p:txBody>
            <a:bodyPr/>
            <a:p/>
          </p:txBody>
        </p:sp>
      </p:grpSp>
      <p:grpSp>
        <p:nvGrpSpPr>
          <p:cNvPr id="21" name="Group 21"/>
          <p:cNvGrpSpPr/>
          <p:nvPr/>
        </p:nvGrpSpPr>
        <p:grpSpPr>
          <a:xfrm rot="0">
            <a:off x="11841480" y="7772400"/>
            <a:ext cx="1828800" cy="1508760"/>
            <a:chOff x="0" y="0"/>
            <a:chExt cx="2438400" cy="2011680"/>
          </a:xfrm>
        </p:grpSpPr>
        <p:sp>
          <p:nvSpPr>
            <p:cNvPr id="22" name="Freeform 22"/>
            <p:cNvSpPr/>
            <p:nvPr/>
          </p:nvSpPr>
          <p:spPr>
            <a:xfrm>
              <a:off x="0" y="0"/>
              <a:ext cx="2438400" cy="2011680"/>
            </a:xfrm>
            <a:custGeom>
              <a:avLst/>
              <a:gdLst/>
              <a:ahLst/>
              <a:cxnLst/>
              <a:rect l="l" t="t" r="r" b="b"/>
              <a:pathLst>
                <a:path w="2438400" h="2011680">
                  <a:moveTo>
                    <a:pt x="0" y="0"/>
                  </a:moveTo>
                  <a:lnTo>
                    <a:pt x="2438400" y="0"/>
                  </a:lnTo>
                  <a:lnTo>
                    <a:pt x="2438400" y="2011680"/>
                  </a:lnTo>
                  <a:lnTo>
                    <a:pt x="0" y="2011680"/>
                  </a:lnTo>
                  <a:close/>
                </a:path>
              </a:pathLst>
            </a:custGeom>
            <a:blipFill>
              <a:blip r:embed="rId6">
                <a:alphaModFix amt="0"/>
              </a:blip>
              <a:stretch>
                <a:fillRect l="-55923" r="-55924"/>
              </a:stretch>
            </a:blipFill>
          </p:spPr>
          <p:txBody>
            <a:bodyPr/>
            <a:p/>
          </p:txBody>
        </p:sp>
      </p:grpSp>
      <p:grpSp>
        <p:nvGrpSpPr>
          <p:cNvPr id="23" name="Group 23"/>
          <p:cNvGrpSpPr/>
          <p:nvPr/>
        </p:nvGrpSpPr>
        <p:grpSpPr>
          <a:xfrm rot="0">
            <a:off x="11841480" y="7679531"/>
            <a:ext cx="1828800" cy="1601629"/>
            <a:chOff x="0" y="0"/>
            <a:chExt cx="2438400" cy="2135505"/>
          </a:xfrm>
        </p:grpSpPr>
        <p:sp>
          <p:nvSpPr>
            <p:cNvPr id="24" name="Freeform 24"/>
            <p:cNvSpPr/>
            <p:nvPr/>
          </p:nvSpPr>
          <p:spPr>
            <a:xfrm>
              <a:off x="0" y="0"/>
              <a:ext cx="2438400" cy="2135505"/>
            </a:xfrm>
            <a:custGeom>
              <a:avLst/>
              <a:gdLst/>
              <a:ahLst/>
              <a:cxnLst/>
              <a:rect l="l" t="t" r="r" b="b"/>
              <a:pathLst>
                <a:path w="2438400" h="2135505">
                  <a:moveTo>
                    <a:pt x="0" y="0"/>
                  </a:moveTo>
                  <a:lnTo>
                    <a:pt x="2438400" y="0"/>
                  </a:lnTo>
                  <a:lnTo>
                    <a:pt x="2438400" y="2135505"/>
                  </a:lnTo>
                  <a:lnTo>
                    <a:pt x="0" y="2135505"/>
                  </a:lnTo>
                  <a:close/>
                </a:path>
              </a:pathLst>
            </a:custGeom>
            <a:blipFill>
              <a:blip r:embed="rId7">
                <a:alphaModFix amt="0"/>
              </a:blip>
              <a:stretch>
                <a:fillRect l="-62365" r="-62365"/>
              </a:stretch>
            </a:blipFill>
          </p:spPr>
          <p:txBody>
            <a:bodyPr/>
            <a:p/>
          </p:txBody>
        </p:sp>
        <p:sp>
          <p:nvSpPr>
            <p:cNvPr id="25" name="TextBox 25"/>
            <p:cNvSpPr txBox="1"/>
            <p:nvPr/>
          </p:nvSpPr>
          <p:spPr>
            <a:xfrm>
              <a:off x="0" y="-123825"/>
              <a:ext cx="2438400" cy="2259330"/>
            </a:xfrm>
            <a:prstGeom prst="rect">
              <a:avLst/>
            </a:prstGeom>
          </p:spPr>
          <p:txBody>
            <a:bodyPr lIns="0" tIns="0" rIns="0" bIns="0" rtlCol="0" anchor="ctr"/>
            <a:lstStyle/>
            <a:p>
              <a:pPr algn="l">
                <a:lnSpc>
                  <a:spcPts val="5700"/>
                </a:lnSpc>
              </a:pPr>
              <a:r>
                <a:rPr lang="en-US" sz="4400" b="1">
                  <a:solidFill>
                    <a:srgbClr val="1C7293"/>
                  </a:solidFill>
                  <a:latin typeface="Calibri (MS) Bold" panose="020F0702030404030204"/>
                  <a:ea typeface="Calibri (MS) Bold" panose="020F0702030404030204"/>
                  <a:cs typeface="Calibri (MS) Bold" panose="020F0702030404030204"/>
                  <a:sym typeface="Calibri (MS) Bold" panose="020F0702030404030204"/>
                </a:rPr>
                <a:t>79,6</a:t>
              </a:r>
              <a:endParaRPr lang="en-US" sz="44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815"/>
                </a:lnSpc>
              </a:pPr>
              <a:r>
                <a:rPr lang="en-US" sz="1400">
                  <a:solidFill>
                    <a:srgbClr val="5B677A"/>
                  </a:solidFill>
                  <a:latin typeface="Calibri (MS)" panose="020F0502020204030204"/>
                  <a:ea typeface="Calibri (MS)" panose="020F0502020204030204"/>
                  <a:cs typeface="Calibri (MS)" panose="020F0502020204030204"/>
                  <a:sym typeface="Calibri (MS)" panose="020F0502020204030204"/>
                </a:rPr>
                <a:t>vs 79,3 công bố</a:t>
              </a:r>
              <a:endParaRPr lang="en-US" sz="1400">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grpSp>
        <p:nvGrpSpPr>
          <p:cNvPr id="26" name="Group 26"/>
          <p:cNvGrpSpPr/>
          <p:nvPr/>
        </p:nvGrpSpPr>
        <p:grpSpPr>
          <a:xfrm rot="0">
            <a:off x="13761720" y="7818120"/>
            <a:ext cx="3429000" cy="1463040"/>
            <a:chOff x="0" y="0"/>
            <a:chExt cx="4572000" cy="1950720"/>
          </a:xfrm>
        </p:grpSpPr>
        <p:sp>
          <p:nvSpPr>
            <p:cNvPr id="27" name="Freeform 27"/>
            <p:cNvSpPr/>
            <p:nvPr/>
          </p:nvSpPr>
          <p:spPr>
            <a:xfrm>
              <a:off x="0" y="0"/>
              <a:ext cx="4572000" cy="1950720"/>
            </a:xfrm>
            <a:custGeom>
              <a:avLst/>
              <a:gdLst/>
              <a:ahLst/>
              <a:cxnLst/>
              <a:rect l="l" t="t" r="r" b="b"/>
              <a:pathLst>
                <a:path w="4572000" h="1950720">
                  <a:moveTo>
                    <a:pt x="0" y="0"/>
                  </a:moveTo>
                  <a:lnTo>
                    <a:pt x="4572000" y="0"/>
                  </a:lnTo>
                  <a:lnTo>
                    <a:pt x="4572000" y="1950720"/>
                  </a:lnTo>
                  <a:lnTo>
                    <a:pt x="0" y="1950720"/>
                  </a:lnTo>
                  <a:close/>
                </a:path>
              </a:pathLst>
            </a:custGeom>
            <a:blipFill>
              <a:blip r:embed="rId6">
                <a:alphaModFix amt="0"/>
              </a:blip>
              <a:stretch>
                <a:fillRect l="-4780" r="-4781"/>
              </a:stretch>
            </a:blipFill>
          </p:spPr>
          <p:txBody>
            <a:bodyPr/>
            <a:p/>
          </p:txBody>
        </p:sp>
      </p:grpSp>
      <p:grpSp>
        <p:nvGrpSpPr>
          <p:cNvPr id="28" name="Group 28"/>
          <p:cNvGrpSpPr/>
          <p:nvPr/>
        </p:nvGrpSpPr>
        <p:grpSpPr>
          <a:xfrm rot="0">
            <a:off x="13761720" y="7775257"/>
            <a:ext cx="3429000" cy="1505902"/>
            <a:chOff x="0" y="0"/>
            <a:chExt cx="4572000" cy="2007870"/>
          </a:xfrm>
        </p:grpSpPr>
        <p:sp>
          <p:nvSpPr>
            <p:cNvPr id="29" name="Freeform 29"/>
            <p:cNvSpPr/>
            <p:nvPr/>
          </p:nvSpPr>
          <p:spPr>
            <a:xfrm>
              <a:off x="0" y="0"/>
              <a:ext cx="4572000" cy="2007870"/>
            </a:xfrm>
            <a:custGeom>
              <a:avLst/>
              <a:gdLst/>
              <a:ahLst/>
              <a:cxnLst/>
              <a:rect l="l" t="t" r="r" b="b"/>
              <a:pathLst>
                <a:path w="4572000" h="2007870">
                  <a:moveTo>
                    <a:pt x="0" y="0"/>
                  </a:moveTo>
                  <a:lnTo>
                    <a:pt x="4572000" y="0"/>
                  </a:lnTo>
                  <a:lnTo>
                    <a:pt x="4572000" y="2007870"/>
                  </a:lnTo>
                  <a:lnTo>
                    <a:pt x="0" y="2007870"/>
                  </a:lnTo>
                  <a:close/>
                </a:path>
              </a:pathLst>
            </a:custGeom>
            <a:blipFill>
              <a:blip r:embed="rId7">
                <a:alphaModFix amt="0"/>
              </a:blip>
              <a:stretch>
                <a:fillRect l="-6346" r="-6346"/>
              </a:stretch>
            </a:blipFill>
          </p:spPr>
          <p:txBody>
            <a:bodyPr/>
            <a:p/>
          </p:txBody>
        </p:sp>
        <p:sp>
          <p:nvSpPr>
            <p:cNvPr id="30" name="TextBox 30"/>
            <p:cNvSpPr txBox="1"/>
            <p:nvPr/>
          </p:nvSpPr>
          <p:spPr>
            <a:xfrm>
              <a:off x="0" y="-57150"/>
              <a:ext cx="4572000" cy="2065020"/>
            </a:xfrm>
            <a:prstGeom prst="rect">
              <a:avLst/>
            </a:prstGeom>
          </p:spPr>
          <p:txBody>
            <a:bodyPr lIns="0" tIns="0" rIns="0" bIns="0" rtlCol="0" anchor="ctr"/>
            <a:lstStyle/>
            <a:p>
              <a:pPr algn="l">
                <a:lnSpc>
                  <a:spcPts val="2460"/>
                </a:lnSpc>
              </a:pPr>
              <a:r>
                <a:rPr lang="en-US" sz="19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Đã tái lập được</a:t>
              </a:r>
              <a:endParaRPr lang="en-US" sz="19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005"/>
                </a:lnSpc>
              </a:pPr>
              <a:r>
                <a:rPr lang="en-US" sz="1550">
                  <a:solidFill>
                    <a:srgbClr val="243044"/>
                  </a:solidFill>
                  <a:latin typeface="Calibri (MS)" panose="020F0502020204030204"/>
                  <a:ea typeface="Calibri (MS)" panose="020F0502020204030204"/>
                  <a:cs typeface="Calibri (MS)" panose="020F0502020204030204"/>
                  <a:sym typeface="Calibri (MS)" panose="020F0502020204030204"/>
                </a:rPr>
                <a:t>TextVQA val, chạy bằng pipeline của nhóm; chênh +0,3 điểm so với số công bố.</a:t>
              </a:r>
              <a:endParaRPr lang="en-US" sz="15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grpSp>
        <p:nvGrpSpPr>
          <p:cNvPr id="31" name="Group 31"/>
          <p:cNvGrpSpPr/>
          <p:nvPr/>
        </p:nvGrpSpPr>
        <p:grpSpPr>
          <a:xfrm rot="0">
            <a:off x="822960" y="9655969"/>
            <a:ext cx="13716000" cy="360321"/>
            <a:chOff x="0" y="0"/>
            <a:chExt cx="18288000" cy="480428"/>
          </a:xfrm>
        </p:grpSpPr>
        <p:sp>
          <p:nvSpPr>
            <p:cNvPr id="32" name="Freeform 32"/>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6">
                <a:alphaModFix amt="0"/>
              </a:blip>
              <a:stretch>
                <a:fillRect t="-691184" b="-691181"/>
              </a:stretch>
            </a:blipFill>
          </p:spPr>
          <p:txBody>
            <a:bodyPr/>
            <a:p/>
          </p:txBody>
        </p:sp>
      </p:grpSp>
      <p:grpSp>
        <p:nvGrpSpPr>
          <p:cNvPr id="33" name="Group 33"/>
          <p:cNvGrpSpPr/>
          <p:nvPr/>
        </p:nvGrpSpPr>
        <p:grpSpPr>
          <a:xfrm rot="0">
            <a:off x="822960" y="9627394"/>
            <a:ext cx="13716000" cy="388896"/>
            <a:chOff x="0" y="0"/>
            <a:chExt cx="18288000" cy="518528"/>
          </a:xfrm>
        </p:grpSpPr>
        <p:sp>
          <p:nvSpPr>
            <p:cNvPr id="34" name="Freeform 34"/>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7">
                <a:alphaModFix amt="0"/>
              </a:blip>
              <a:stretch>
                <a:fillRect t="-637220" b="-637221"/>
              </a:stretch>
            </a:blipFill>
          </p:spPr>
          <p:txBody>
            <a:bodyPr/>
            <a:p/>
          </p:txBody>
        </p:sp>
        <p:sp>
          <p:nvSpPr>
            <p:cNvPr id="35" name="TextBox 35"/>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09 · PHƯƠNG PHÁP ĐỀ XUẤT</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Một phương pháp đề xuất, pipeline 8 bước</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Freeform 6"/>
          <p:cNvSpPr/>
          <p:nvPr/>
        </p:nvSpPr>
        <p:spPr>
          <a:xfrm>
            <a:off x="806291" y="1876139"/>
            <a:ext cx="16670846" cy="938594"/>
          </a:xfrm>
          <a:custGeom>
            <a:avLst/>
            <a:gdLst/>
            <a:ahLst/>
            <a:cxnLst/>
            <a:rect l="l" t="t" r="r" b="b"/>
            <a:pathLst>
              <a:path w="16670846" h="938594">
                <a:moveTo>
                  <a:pt x="0" y="0"/>
                </a:moveTo>
                <a:lnTo>
                  <a:pt x="16670846" y="0"/>
                </a:lnTo>
                <a:lnTo>
                  <a:pt x="16670846" y="938594"/>
                </a:lnTo>
                <a:lnTo>
                  <a:pt x="0" y="938594"/>
                </a:lnTo>
                <a:lnTo>
                  <a:pt x="0" y="0"/>
                </a:lnTo>
                <a:close/>
              </a:path>
            </a:pathLst>
          </a:custGeom>
          <a:blipFill>
            <a:blip r:embed="rId2">
              <a:extLst>
                <a:ext uri="{96DAC541-7B7A-43D3-8B79-37D633B846F1}">
                  <asvg:svgBlip xmlns:asvg="http://schemas.microsoft.com/office/drawing/2016/SVG/main" r:embed="rId3"/>
                </a:ext>
              </a:extLst>
            </a:blip>
            <a:stretch>
              <a:fillRect t="-211" b="-211"/>
            </a:stretch>
          </a:blipFill>
        </p:spPr>
        <p:txBody>
          <a:bodyPr/>
          <a:p/>
        </p:txBody>
      </p:sp>
      <p:grpSp>
        <p:nvGrpSpPr>
          <p:cNvPr id="7" name="Group 7"/>
          <p:cNvGrpSpPr/>
          <p:nvPr/>
        </p:nvGrpSpPr>
        <p:grpSpPr>
          <a:xfrm rot="0">
            <a:off x="1165860" y="1892808"/>
            <a:ext cx="16047720" cy="905256"/>
            <a:chOff x="0" y="0"/>
            <a:chExt cx="21396960" cy="1207008"/>
          </a:xfrm>
        </p:grpSpPr>
        <p:sp>
          <p:nvSpPr>
            <p:cNvPr id="8" name="Freeform 8"/>
            <p:cNvSpPr/>
            <p:nvPr/>
          </p:nvSpPr>
          <p:spPr>
            <a:xfrm>
              <a:off x="0" y="0"/>
              <a:ext cx="21396961" cy="1207008"/>
            </a:xfrm>
            <a:custGeom>
              <a:avLst/>
              <a:gdLst/>
              <a:ahLst/>
              <a:cxnLst/>
              <a:rect l="l" t="t" r="r" b="b"/>
              <a:pathLst>
                <a:path w="21396961" h="1207008">
                  <a:moveTo>
                    <a:pt x="0" y="0"/>
                  </a:moveTo>
                  <a:lnTo>
                    <a:pt x="21396961" y="0"/>
                  </a:lnTo>
                  <a:lnTo>
                    <a:pt x="21396961" y="1207008"/>
                  </a:lnTo>
                  <a:lnTo>
                    <a:pt x="0" y="1207008"/>
                  </a:lnTo>
                  <a:close/>
                </a:path>
              </a:pathLst>
            </a:custGeom>
            <a:blipFill>
              <a:blip r:embed="rId1">
                <a:alphaModFix amt="0"/>
              </a:blip>
              <a:stretch>
                <a:fillRect t="-295176" b="-295175"/>
              </a:stretch>
            </a:blipFill>
          </p:spPr>
          <p:txBody>
            <a:bodyPr/>
            <a:p/>
          </p:txBody>
        </p:sp>
      </p:grpSp>
      <p:grpSp>
        <p:nvGrpSpPr>
          <p:cNvPr id="9" name="Group 9"/>
          <p:cNvGrpSpPr/>
          <p:nvPr/>
        </p:nvGrpSpPr>
        <p:grpSpPr>
          <a:xfrm rot="0">
            <a:off x="1165860" y="1857089"/>
            <a:ext cx="16047720" cy="940975"/>
            <a:chOff x="0" y="0"/>
            <a:chExt cx="21396960" cy="1254633"/>
          </a:xfrm>
        </p:grpSpPr>
        <p:sp>
          <p:nvSpPr>
            <p:cNvPr id="10" name="Freeform 10"/>
            <p:cNvSpPr/>
            <p:nvPr/>
          </p:nvSpPr>
          <p:spPr>
            <a:xfrm>
              <a:off x="0" y="0"/>
              <a:ext cx="21396961" cy="1254633"/>
            </a:xfrm>
            <a:custGeom>
              <a:avLst/>
              <a:gdLst/>
              <a:ahLst/>
              <a:cxnLst/>
              <a:rect l="l" t="t" r="r" b="b"/>
              <a:pathLst>
                <a:path w="21396961" h="1254633">
                  <a:moveTo>
                    <a:pt x="0" y="0"/>
                  </a:moveTo>
                  <a:lnTo>
                    <a:pt x="21396961" y="0"/>
                  </a:lnTo>
                  <a:lnTo>
                    <a:pt x="21396961" y="1254633"/>
                  </a:lnTo>
                  <a:lnTo>
                    <a:pt x="0" y="1254633"/>
                  </a:lnTo>
                  <a:close/>
                </a:path>
              </a:pathLst>
            </a:custGeom>
            <a:blipFill>
              <a:blip r:embed="rId4">
                <a:alphaModFix amt="0"/>
              </a:blip>
              <a:stretch>
                <a:fillRect t="-282074" b="-282073"/>
              </a:stretch>
            </a:blipFill>
          </p:spPr>
          <p:txBody>
            <a:bodyPr/>
            <a:p/>
          </p:txBody>
        </p:sp>
      </p:grpSp>
      <p:grpSp>
        <p:nvGrpSpPr>
          <p:cNvPr id="11" name="Group 11"/>
          <p:cNvGrpSpPr/>
          <p:nvPr/>
        </p:nvGrpSpPr>
        <p:grpSpPr>
          <a:xfrm rot="0">
            <a:off x="1165860" y="1821370"/>
            <a:ext cx="16047720" cy="976694"/>
            <a:chOff x="0" y="0"/>
            <a:chExt cx="21396960" cy="1302258"/>
          </a:xfrm>
        </p:grpSpPr>
        <p:sp>
          <p:nvSpPr>
            <p:cNvPr id="12" name="Freeform 12"/>
            <p:cNvSpPr/>
            <p:nvPr/>
          </p:nvSpPr>
          <p:spPr>
            <a:xfrm>
              <a:off x="0" y="0"/>
              <a:ext cx="21396961" cy="1302258"/>
            </a:xfrm>
            <a:custGeom>
              <a:avLst/>
              <a:gdLst/>
              <a:ahLst/>
              <a:cxnLst/>
              <a:rect l="l" t="t" r="r" b="b"/>
              <a:pathLst>
                <a:path w="21396961" h="1302258">
                  <a:moveTo>
                    <a:pt x="0" y="0"/>
                  </a:moveTo>
                  <a:lnTo>
                    <a:pt x="21396961" y="0"/>
                  </a:lnTo>
                  <a:lnTo>
                    <a:pt x="21396961" y="1302258"/>
                  </a:lnTo>
                  <a:lnTo>
                    <a:pt x="0" y="1302258"/>
                  </a:lnTo>
                  <a:close/>
                </a:path>
              </a:pathLst>
            </a:custGeom>
            <a:blipFill>
              <a:blip r:embed="rId5">
                <a:alphaModFix amt="0"/>
              </a:blip>
              <a:stretch>
                <a:fillRect t="-270151" b="-270151"/>
              </a:stretch>
            </a:blipFill>
          </p:spPr>
          <p:txBody>
            <a:bodyPr/>
            <a:p/>
          </p:txBody>
        </p:sp>
        <p:sp>
          <p:nvSpPr>
            <p:cNvPr id="13" name="TextBox 13"/>
            <p:cNvSpPr txBox="1"/>
            <p:nvPr/>
          </p:nvSpPr>
          <p:spPr>
            <a:xfrm>
              <a:off x="0" y="-47625"/>
              <a:ext cx="21396960" cy="1349883"/>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Phương pháp đề xuất  QLoRA trên Qwen2.5-VL-3B-Instruct + prompt tiếng Việt có chữ OCR (ViTextVQA). Model gốc đóng băng 4-bit NF4; chỉ train adapter LoRA. Hiện thực thành QLoRA nhận biết OCR (B3) ở slide 24.</a:t>
              </a:r>
              <a:r>
                <a:rPr lang="en-US" sz="1950">
                  <a:solidFill>
                    <a:srgbClr val="1F2A37"/>
                  </a:solidFill>
                  <a:latin typeface="Calibri (MS)" panose="020F0502020204030204"/>
                  <a:ea typeface="Calibri (MS)" panose="020F0502020204030204"/>
                  <a:cs typeface="Calibri (MS)" panose="020F0502020204030204"/>
                  <a:sym typeface="Calibri (MS)" panose="020F0502020204030204"/>
                </a:rPr>
                <a:t/>
              </a:r>
              <a:endParaRPr lang="en-US" sz="1950">
                <a:solidFill>
                  <a:srgbClr val="1F2A37"/>
                </a:solidFill>
                <a:latin typeface="Calibri (MS)" panose="020F0502020204030204"/>
                <a:ea typeface="Calibri (MS)" panose="020F0502020204030204"/>
                <a:cs typeface="Calibri (MS)" panose="020F0502020204030204"/>
                <a:sym typeface="Calibri (MS)" panose="020F0502020204030204"/>
              </a:endParaRPr>
            </a:p>
          </p:txBody>
        </p:sp>
      </p:grpSp>
      <p:grpSp>
        <p:nvGrpSpPr>
          <p:cNvPr id="14" name="Group 14"/>
          <p:cNvGrpSpPr/>
          <p:nvPr/>
        </p:nvGrpSpPr>
        <p:grpSpPr>
          <a:xfrm rot="0">
            <a:off x="822960" y="3017520"/>
            <a:ext cx="5966460" cy="5952744"/>
            <a:chOff x="0" y="0"/>
            <a:chExt cx="7955280" cy="7936992"/>
          </a:xfrm>
        </p:grpSpPr>
        <p:sp>
          <p:nvSpPr>
            <p:cNvPr id="15" name="Freeform 15"/>
            <p:cNvSpPr/>
            <p:nvPr/>
          </p:nvSpPr>
          <p:spPr>
            <a:xfrm>
              <a:off x="0" y="0"/>
              <a:ext cx="7955280" cy="7936992"/>
            </a:xfrm>
            <a:custGeom>
              <a:avLst/>
              <a:gdLst/>
              <a:ahLst/>
              <a:cxnLst/>
              <a:rect l="l" t="t" r="r" b="b"/>
              <a:pathLst>
                <a:path w="7955280" h="7936992">
                  <a:moveTo>
                    <a:pt x="0" y="317500"/>
                  </a:moveTo>
                  <a:cubicBezTo>
                    <a:pt x="0" y="142113"/>
                    <a:pt x="142113" y="0"/>
                    <a:pt x="317500" y="0"/>
                  </a:cubicBezTo>
                  <a:lnTo>
                    <a:pt x="7637780" y="0"/>
                  </a:lnTo>
                  <a:cubicBezTo>
                    <a:pt x="7813167" y="0"/>
                    <a:pt x="7955280" y="142113"/>
                    <a:pt x="7955280" y="317500"/>
                  </a:cubicBezTo>
                  <a:lnTo>
                    <a:pt x="7955280" y="7619492"/>
                  </a:lnTo>
                  <a:cubicBezTo>
                    <a:pt x="7955280" y="7794879"/>
                    <a:pt x="7813167" y="7936992"/>
                    <a:pt x="7637780" y="7936992"/>
                  </a:cubicBezTo>
                  <a:lnTo>
                    <a:pt x="317500" y="7936992"/>
                  </a:lnTo>
                  <a:cubicBezTo>
                    <a:pt x="142113" y="7936992"/>
                    <a:pt x="0" y="7794879"/>
                    <a:pt x="0" y="7619492"/>
                  </a:cubicBezTo>
                  <a:close/>
                </a:path>
              </a:pathLst>
            </a:custGeom>
            <a:solidFill>
              <a:srgbClr val="F3F5F8"/>
            </a:solidFill>
          </p:spPr>
          <p:txBody>
            <a:bodyPr/>
            <a:p/>
          </p:txBody>
        </p:sp>
      </p:grpSp>
      <p:grpSp>
        <p:nvGrpSpPr>
          <p:cNvPr id="16" name="Group 16"/>
          <p:cNvGrpSpPr/>
          <p:nvPr/>
        </p:nvGrpSpPr>
        <p:grpSpPr>
          <a:xfrm rot="0">
            <a:off x="1069848" y="3113532"/>
            <a:ext cx="5554980" cy="411480"/>
            <a:chOff x="0" y="0"/>
            <a:chExt cx="7406640" cy="548640"/>
          </a:xfrm>
        </p:grpSpPr>
        <p:sp>
          <p:nvSpPr>
            <p:cNvPr id="17" name="Freeform 17"/>
            <p:cNvSpPr/>
            <p:nvPr/>
          </p:nvSpPr>
          <p:spPr>
            <a:xfrm>
              <a:off x="0" y="0"/>
              <a:ext cx="7406640" cy="548640"/>
            </a:xfrm>
            <a:custGeom>
              <a:avLst/>
              <a:gdLst/>
              <a:ahLst/>
              <a:cxnLst/>
              <a:rect l="l" t="t" r="r" b="b"/>
              <a:pathLst>
                <a:path w="7406640" h="548640">
                  <a:moveTo>
                    <a:pt x="0" y="0"/>
                  </a:moveTo>
                  <a:lnTo>
                    <a:pt x="7406640" y="0"/>
                  </a:lnTo>
                  <a:lnTo>
                    <a:pt x="7406640" y="548640"/>
                  </a:lnTo>
                  <a:lnTo>
                    <a:pt x="0" y="548640"/>
                  </a:lnTo>
                  <a:close/>
                </a:path>
              </a:pathLst>
            </a:custGeom>
            <a:blipFill>
              <a:blip r:embed="rId1">
                <a:alphaModFix amt="0"/>
              </a:blip>
              <a:stretch>
                <a:fillRect t="-212865" b="-212863"/>
              </a:stretch>
            </a:blipFill>
          </p:spPr>
          <p:txBody>
            <a:bodyPr/>
            <a:p/>
          </p:txBody>
        </p:sp>
      </p:grpSp>
      <p:grpSp>
        <p:nvGrpSpPr>
          <p:cNvPr id="18" name="Group 18"/>
          <p:cNvGrpSpPr/>
          <p:nvPr/>
        </p:nvGrpSpPr>
        <p:grpSpPr>
          <a:xfrm rot="0">
            <a:off x="1069848" y="3084957"/>
            <a:ext cx="5554980" cy="440055"/>
            <a:chOff x="0" y="0"/>
            <a:chExt cx="7406640" cy="586740"/>
          </a:xfrm>
        </p:grpSpPr>
        <p:sp>
          <p:nvSpPr>
            <p:cNvPr id="19" name="Freeform 19"/>
            <p:cNvSpPr/>
            <p:nvPr/>
          </p:nvSpPr>
          <p:spPr>
            <a:xfrm>
              <a:off x="0" y="0"/>
              <a:ext cx="7406640" cy="586740"/>
            </a:xfrm>
            <a:custGeom>
              <a:avLst/>
              <a:gdLst/>
              <a:ahLst/>
              <a:cxnLst/>
              <a:rect l="l" t="t" r="r" b="b"/>
              <a:pathLst>
                <a:path w="7406640" h="586740">
                  <a:moveTo>
                    <a:pt x="0" y="0"/>
                  </a:moveTo>
                  <a:lnTo>
                    <a:pt x="7406640" y="0"/>
                  </a:lnTo>
                  <a:lnTo>
                    <a:pt x="7406640" y="586740"/>
                  </a:lnTo>
                  <a:lnTo>
                    <a:pt x="0" y="586740"/>
                  </a:lnTo>
                  <a:close/>
                </a:path>
              </a:pathLst>
            </a:custGeom>
            <a:blipFill>
              <a:blip r:embed="rId4">
                <a:alphaModFix amt="0"/>
              </a:blip>
              <a:stretch>
                <a:fillRect t="-195796" b="-195794"/>
              </a:stretch>
            </a:blipFill>
          </p:spPr>
          <p:txBody>
            <a:bodyPr/>
            <a:p/>
          </p:txBody>
        </p:sp>
      </p:grpSp>
      <p:grpSp>
        <p:nvGrpSpPr>
          <p:cNvPr id="20" name="Group 20"/>
          <p:cNvGrpSpPr/>
          <p:nvPr/>
        </p:nvGrpSpPr>
        <p:grpSpPr>
          <a:xfrm rot="0">
            <a:off x="1069848" y="3056382"/>
            <a:ext cx="5554980" cy="468630"/>
            <a:chOff x="0" y="0"/>
            <a:chExt cx="7406640" cy="624840"/>
          </a:xfrm>
        </p:grpSpPr>
        <p:sp>
          <p:nvSpPr>
            <p:cNvPr id="21" name="Freeform 21"/>
            <p:cNvSpPr/>
            <p:nvPr/>
          </p:nvSpPr>
          <p:spPr>
            <a:xfrm>
              <a:off x="0" y="0"/>
              <a:ext cx="7406640" cy="624840"/>
            </a:xfrm>
            <a:custGeom>
              <a:avLst/>
              <a:gdLst/>
              <a:ahLst/>
              <a:cxnLst/>
              <a:rect l="l" t="t" r="r" b="b"/>
              <a:pathLst>
                <a:path w="7406640" h="624840">
                  <a:moveTo>
                    <a:pt x="0" y="0"/>
                  </a:moveTo>
                  <a:lnTo>
                    <a:pt x="7406640" y="0"/>
                  </a:lnTo>
                  <a:lnTo>
                    <a:pt x="7406640" y="624840"/>
                  </a:lnTo>
                  <a:lnTo>
                    <a:pt x="0" y="624840"/>
                  </a:lnTo>
                  <a:close/>
                </a:path>
              </a:pathLst>
            </a:custGeom>
            <a:blipFill>
              <a:blip r:embed="rId5">
                <a:alphaModFix amt="0"/>
              </a:blip>
              <a:stretch>
                <a:fillRect t="-180968" b="-180968"/>
              </a:stretch>
            </a:blipFill>
          </p:spPr>
          <p:txBody>
            <a:bodyPr/>
            <a:p/>
          </p:txBody>
        </p:sp>
        <p:sp>
          <p:nvSpPr>
            <p:cNvPr id="22" name="TextBox 22"/>
            <p:cNvSpPr txBox="1"/>
            <p:nvPr/>
          </p:nvSpPr>
          <p:spPr>
            <a:xfrm>
              <a:off x="0" y="-38100"/>
              <a:ext cx="7406640" cy="662940"/>
            </a:xfrm>
            <a:prstGeom prst="rect">
              <a:avLst/>
            </a:prstGeom>
          </p:spPr>
          <p:txBody>
            <a:bodyPr lIns="0" tIns="0" rIns="0" bIns="0" rtlCol="0" anchor="ctr"/>
            <a:lstStyle/>
            <a:p>
              <a:pPr algn="l">
                <a:lnSpc>
                  <a:spcPts val="1800"/>
                </a:lnSpc>
              </a:pPr>
              <a:r>
                <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rPr>
                <a:t>A · CHUẨN BỊ DỮ LIỆU  —  chạy 1 lần, cache</a:t>
              </a:r>
              <a:endPar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3" name="Freeform 23"/>
          <p:cNvSpPr/>
          <p:nvPr/>
        </p:nvSpPr>
        <p:spPr>
          <a:xfrm>
            <a:off x="1049017" y="3709921"/>
            <a:ext cx="3360944" cy="1385840"/>
          </a:xfrm>
          <a:custGeom>
            <a:avLst/>
            <a:gdLst/>
            <a:ahLst/>
            <a:cxnLst/>
            <a:rect l="l" t="t" r="r" b="b"/>
            <a:pathLst>
              <a:path w="3360944" h="1385840">
                <a:moveTo>
                  <a:pt x="0" y="0"/>
                </a:moveTo>
                <a:lnTo>
                  <a:pt x="3360944" y="0"/>
                </a:lnTo>
                <a:lnTo>
                  <a:pt x="3360944" y="1385840"/>
                </a:lnTo>
                <a:lnTo>
                  <a:pt x="0" y="1385840"/>
                </a:lnTo>
                <a:lnTo>
                  <a:pt x="0" y="0"/>
                </a:lnTo>
                <a:close/>
              </a:path>
            </a:pathLst>
          </a:custGeom>
          <a:blipFill>
            <a:blip r:embed="rId6">
              <a:extLst>
                <a:ext uri="{96DAC541-7B7A-43D3-8B79-37D633B846F1}">
                  <asvg:svgBlip xmlns:asvg="http://schemas.microsoft.com/office/drawing/2016/SVG/main" r:embed="rId7"/>
                </a:ext>
              </a:extLst>
            </a:blip>
            <a:stretch>
              <a:fillRect t="-153" b="-152"/>
            </a:stretch>
          </a:blipFill>
        </p:spPr>
        <p:txBody>
          <a:bodyPr/>
          <a:p/>
        </p:txBody>
      </p:sp>
      <p:sp>
        <p:nvSpPr>
          <p:cNvPr id="24" name="Freeform 24"/>
          <p:cNvSpPr/>
          <p:nvPr/>
        </p:nvSpPr>
        <p:spPr>
          <a:xfrm>
            <a:off x="1217771" y="3878675"/>
            <a:ext cx="499682" cy="499681"/>
          </a:xfrm>
          <a:custGeom>
            <a:avLst/>
            <a:gdLst/>
            <a:ahLst/>
            <a:cxnLst/>
            <a:rect l="l" t="t" r="r" b="b"/>
            <a:pathLst>
              <a:path w="499682" h="499681">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p/>
        </p:txBody>
      </p:sp>
      <p:grpSp>
        <p:nvGrpSpPr>
          <p:cNvPr id="25" name="Group 25"/>
          <p:cNvGrpSpPr/>
          <p:nvPr/>
        </p:nvGrpSpPr>
        <p:grpSpPr>
          <a:xfrm rot="0">
            <a:off x="1224915" y="3857244"/>
            <a:ext cx="485394" cy="513969"/>
            <a:chOff x="0" y="0"/>
            <a:chExt cx="647192" cy="685292"/>
          </a:xfrm>
        </p:grpSpPr>
        <p:sp>
          <p:nvSpPr>
            <p:cNvPr id="26" name="Freeform 26"/>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27" name="Group 27"/>
          <p:cNvGrpSpPr/>
          <p:nvPr/>
        </p:nvGrpSpPr>
        <p:grpSpPr>
          <a:xfrm rot="0">
            <a:off x="1224915" y="3828669"/>
            <a:ext cx="485394" cy="542544"/>
            <a:chOff x="0" y="0"/>
            <a:chExt cx="647192" cy="723392"/>
          </a:xfrm>
        </p:grpSpPr>
        <p:sp>
          <p:nvSpPr>
            <p:cNvPr id="28" name="Freeform 28"/>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29" name="TextBox 29"/>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1</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30" name="Group 30"/>
          <p:cNvGrpSpPr/>
          <p:nvPr/>
        </p:nvGrpSpPr>
        <p:grpSpPr>
          <a:xfrm rot="0">
            <a:off x="1810512" y="3867912"/>
            <a:ext cx="2468880" cy="521208"/>
            <a:chOff x="0" y="0"/>
            <a:chExt cx="3291840" cy="694944"/>
          </a:xfrm>
        </p:grpSpPr>
        <p:sp>
          <p:nvSpPr>
            <p:cNvPr id="31" name="Freeform 31"/>
            <p:cNvSpPr/>
            <p:nvPr/>
          </p:nvSpPr>
          <p:spPr>
            <a:xfrm>
              <a:off x="0" y="0"/>
              <a:ext cx="3291840" cy="694944"/>
            </a:xfrm>
            <a:custGeom>
              <a:avLst/>
              <a:gdLst/>
              <a:ahLst/>
              <a:cxnLst/>
              <a:rect l="l" t="t" r="r" b="b"/>
              <a:pathLst>
                <a:path w="3291840" h="694944">
                  <a:moveTo>
                    <a:pt x="0" y="0"/>
                  </a:moveTo>
                  <a:lnTo>
                    <a:pt x="3291840" y="0"/>
                  </a:lnTo>
                  <a:lnTo>
                    <a:pt x="3291840" y="694944"/>
                  </a:lnTo>
                  <a:lnTo>
                    <a:pt x="0" y="694944"/>
                  </a:lnTo>
                  <a:close/>
                </a:path>
              </a:pathLst>
            </a:custGeom>
            <a:blipFill>
              <a:blip r:embed="rId1">
                <a:alphaModFix amt="0"/>
              </a:blip>
              <a:stretch>
                <a:fillRect t="-42233" b="-42233"/>
              </a:stretch>
            </a:blipFill>
          </p:spPr>
          <p:txBody>
            <a:bodyPr/>
            <a:p/>
          </p:txBody>
        </p:sp>
      </p:grpSp>
      <p:grpSp>
        <p:nvGrpSpPr>
          <p:cNvPr id="32" name="Group 32"/>
          <p:cNvGrpSpPr/>
          <p:nvPr/>
        </p:nvGrpSpPr>
        <p:grpSpPr>
          <a:xfrm rot="0">
            <a:off x="1810512" y="3832193"/>
            <a:ext cx="2468880" cy="556927"/>
            <a:chOff x="0" y="0"/>
            <a:chExt cx="3291840" cy="742569"/>
          </a:xfrm>
        </p:grpSpPr>
        <p:sp>
          <p:nvSpPr>
            <p:cNvPr id="33" name="Freeform 33"/>
            <p:cNvSpPr/>
            <p:nvPr/>
          </p:nvSpPr>
          <p:spPr>
            <a:xfrm>
              <a:off x="0" y="0"/>
              <a:ext cx="3291840" cy="742569"/>
            </a:xfrm>
            <a:custGeom>
              <a:avLst/>
              <a:gdLst/>
              <a:ahLst/>
              <a:cxnLst/>
              <a:rect l="l" t="t" r="r" b="b"/>
              <a:pathLst>
                <a:path w="3291840" h="742569">
                  <a:moveTo>
                    <a:pt x="0" y="0"/>
                  </a:moveTo>
                  <a:lnTo>
                    <a:pt x="3291840" y="0"/>
                  </a:lnTo>
                  <a:lnTo>
                    <a:pt x="3291840" y="742569"/>
                  </a:lnTo>
                  <a:lnTo>
                    <a:pt x="0" y="742569"/>
                  </a:lnTo>
                  <a:close/>
                </a:path>
              </a:pathLst>
            </a:custGeom>
            <a:blipFill>
              <a:blip r:embed="rId4">
                <a:alphaModFix amt="0"/>
              </a:blip>
              <a:stretch>
                <a:fillRect t="-36317" b="-36317"/>
              </a:stretch>
            </a:blipFill>
          </p:spPr>
          <p:txBody>
            <a:bodyPr/>
            <a:p/>
          </p:txBody>
        </p:sp>
      </p:grpSp>
      <p:grpSp>
        <p:nvGrpSpPr>
          <p:cNvPr id="34" name="Group 34"/>
          <p:cNvGrpSpPr/>
          <p:nvPr/>
        </p:nvGrpSpPr>
        <p:grpSpPr>
          <a:xfrm rot="0">
            <a:off x="1810512" y="3796474"/>
            <a:ext cx="2468880" cy="592646"/>
            <a:chOff x="0" y="0"/>
            <a:chExt cx="3291840" cy="790194"/>
          </a:xfrm>
        </p:grpSpPr>
        <p:sp>
          <p:nvSpPr>
            <p:cNvPr id="35" name="Freeform 35"/>
            <p:cNvSpPr/>
            <p:nvPr/>
          </p:nvSpPr>
          <p:spPr>
            <a:xfrm>
              <a:off x="0" y="0"/>
              <a:ext cx="3291840" cy="790194"/>
            </a:xfrm>
            <a:custGeom>
              <a:avLst/>
              <a:gdLst/>
              <a:ahLst/>
              <a:cxnLst/>
              <a:rect l="l" t="t" r="r" b="b"/>
              <a:pathLst>
                <a:path w="3291840" h="790194">
                  <a:moveTo>
                    <a:pt x="0" y="0"/>
                  </a:moveTo>
                  <a:lnTo>
                    <a:pt x="3291840" y="0"/>
                  </a:lnTo>
                  <a:lnTo>
                    <a:pt x="3291840" y="790194"/>
                  </a:lnTo>
                  <a:lnTo>
                    <a:pt x="0" y="790194"/>
                  </a:lnTo>
                  <a:close/>
                </a:path>
              </a:pathLst>
            </a:custGeom>
            <a:blipFill>
              <a:blip r:embed="rId5">
                <a:alphaModFix amt="0"/>
              </a:blip>
              <a:stretch>
                <a:fillRect t="-31171" b="-31171"/>
              </a:stretch>
            </a:blipFill>
          </p:spPr>
          <p:txBody>
            <a:bodyPr/>
            <a:p/>
          </p:txBody>
        </p:sp>
        <p:sp>
          <p:nvSpPr>
            <p:cNvPr id="36" name="TextBox 36"/>
            <p:cNvSpPr txBox="1"/>
            <p:nvPr/>
          </p:nvSpPr>
          <p:spPr>
            <a:xfrm>
              <a:off x="0" y="-47625"/>
              <a:ext cx="3291840"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Dữ liệu</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7" name="TextBox 37"/>
          <p:cNvSpPr txBox="1"/>
          <p:nvPr/>
        </p:nvSpPr>
        <p:spPr>
          <a:xfrm>
            <a:off x="1261872" y="4386834"/>
            <a:ext cx="2962656" cy="6057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ViVQA + ViTextVQA (bản chính thức)</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38" name="Freeform 38"/>
          <p:cNvSpPr/>
          <p:nvPr/>
        </p:nvSpPr>
        <p:spPr>
          <a:xfrm>
            <a:off x="1049017" y="5465569"/>
            <a:ext cx="3360944" cy="1385840"/>
          </a:xfrm>
          <a:custGeom>
            <a:avLst/>
            <a:gdLst/>
            <a:ahLst/>
            <a:cxnLst/>
            <a:rect l="l" t="t" r="r" b="b"/>
            <a:pathLst>
              <a:path w="3360944" h="1385840">
                <a:moveTo>
                  <a:pt x="0" y="0"/>
                </a:moveTo>
                <a:lnTo>
                  <a:pt x="3360944" y="0"/>
                </a:lnTo>
                <a:lnTo>
                  <a:pt x="3360944" y="1385840"/>
                </a:lnTo>
                <a:lnTo>
                  <a:pt x="0" y="1385840"/>
                </a:lnTo>
                <a:lnTo>
                  <a:pt x="0" y="0"/>
                </a:lnTo>
                <a:close/>
              </a:path>
            </a:pathLst>
          </a:custGeom>
          <a:blipFill>
            <a:blip r:embed="rId6">
              <a:extLst>
                <a:ext uri="{96DAC541-7B7A-43D3-8B79-37D633B846F1}">
                  <asvg:svgBlip xmlns:asvg="http://schemas.microsoft.com/office/drawing/2016/SVG/main" r:embed="rId7"/>
                </a:ext>
              </a:extLst>
            </a:blip>
            <a:stretch>
              <a:fillRect t="-153" b="-152"/>
            </a:stretch>
          </a:blipFill>
        </p:spPr>
        <p:txBody>
          <a:bodyPr/>
          <a:p/>
        </p:txBody>
      </p:sp>
      <p:sp>
        <p:nvSpPr>
          <p:cNvPr id="39" name="Freeform 39"/>
          <p:cNvSpPr/>
          <p:nvPr/>
        </p:nvSpPr>
        <p:spPr>
          <a:xfrm>
            <a:off x="1217771" y="5634323"/>
            <a:ext cx="499682" cy="499681"/>
          </a:xfrm>
          <a:custGeom>
            <a:avLst/>
            <a:gdLst/>
            <a:ahLst/>
            <a:cxnLst/>
            <a:rect l="l" t="t" r="r" b="b"/>
            <a:pathLst>
              <a:path w="499682" h="499681">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p/>
        </p:txBody>
      </p:sp>
      <p:grpSp>
        <p:nvGrpSpPr>
          <p:cNvPr id="40" name="Group 40"/>
          <p:cNvGrpSpPr/>
          <p:nvPr/>
        </p:nvGrpSpPr>
        <p:grpSpPr>
          <a:xfrm rot="0">
            <a:off x="1224915" y="5612892"/>
            <a:ext cx="485394" cy="513969"/>
            <a:chOff x="0" y="0"/>
            <a:chExt cx="647192" cy="685292"/>
          </a:xfrm>
        </p:grpSpPr>
        <p:sp>
          <p:nvSpPr>
            <p:cNvPr id="41" name="Freeform 41"/>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42" name="Group 42"/>
          <p:cNvGrpSpPr/>
          <p:nvPr/>
        </p:nvGrpSpPr>
        <p:grpSpPr>
          <a:xfrm rot="0">
            <a:off x="1224915" y="5584317"/>
            <a:ext cx="485394" cy="542544"/>
            <a:chOff x="0" y="0"/>
            <a:chExt cx="647192" cy="723392"/>
          </a:xfrm>
        </p:grpSpPr>
        <p:sp>
          <p:nvSpPr>
            <p:cNvPr id="43" name="Freeform 43"/>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44" name="TextBox 44"/>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2</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45" name="Group 45"/>
          <p:cNvGrpSpPr/>
          <p:nvPr/>
        </p:nvGrpSpPr>
        <p:grpSpPr>
          <a:xfrm rot="0">
            <a:off x="1810512" y="5623560"/>
            <a:ext cx="2468880" cy="521208"/>
            <a:chOff x="0" y="0"/>
            <a:chExt cx="3291840" cy="694944"/>
          </a:xfrm>
        </p:grpSpPr>
        <p:sp>
          <p:nvSpPr>
            <p:cNvPr id="46" name="Freeform 46"/>
            <p:cNvSpPr/>
            <p:nvPr/>
          </p:nvSpPr>
          <p:spPr>
            <a:xfrm>
              <a:off x="0" y="0"/>
              <a:ext cx="3291840" cy="694944"/>
            </a:xfrm>
            <a:custGeom>
              <a:avLst/>
              <a:gdLst/>
              <a:ahLst/>
              <a:cxnLst/>
              <a:rect l="l" t="t" r="r" b="b"/>
              <a:pathLst>
                <a:path w="3291840" h="694944">
                  <a:moveTo>
                    <a:pt x="0" y="0"/>
                  </a:moveTo>
                  <a:lnTo>
                    <a:pt x="3291840" y="0"/>
                  </a:lnTo>
                  <a:lnTo>
                    <a:pt x="3291840" y="694944"/>
                  </a:lnTo>
                  <a:lnTo>
                    <a:pt x="0" y="694944"/>
                  </a:lnTo>
                  <a:close/>
                </a:path>
              </a:pathLst>
            </a:custGeom>
            <a:blipFill>
              <a:blip r:embed="rId1">
                <a:alphaModFix amt="0"/>
              </a:blip>
              <a:stretch>
                <a:fillRect t="-42233" b="-42233"/>
              </a:stretch>
            </a:blipFill>
          </p:spPr>
          <p:txBody>
            <a:bodyPr/>
            <a:p/>
          </p:txBody>
        </p:sp>
      </p:grpSp>
      <p:grpSp>
        <p:nvGrpSpPr>
          <p:cNvPr id="47" name="Group 47"/>
          <p:cNvGrpSpPr/>
          <p:nvPr/>
        </p:nvGrpSpPr>
        <p:grpSpPr>
          <a:xfrm rot="0">
            <a:off x="1810512" y="5587841"/>
            <a:ext cx="2468880" cy="556927"/>
            <a:chOff x="0" y="0"/>
            <a:chExt cx="3291840" cy="742569"/>
          </a:xfrm>
        </p:grpSpPr>
        <p:sp>
          <p:nvSpPr>
            <p:cNvPr id="48" name="Freeform 48"/>
            <p:cNvSpPr/>
            <p:nvPr/>
          </p:nvSpPr>
          <p:spPr>
            <a:xfrm>
              <a:off x="0" y="0"/>
              <a:ext cx="3291840" cy="742569"/>
            </a:xfrm>
            <a:custGeom>
              <a:avLst/>
              <a:gdLst/>
              <a:ahLst/>
              <a:cxnLst/>
              <a:rect l="l" t="t" r="r" b="b"/>
              <a:pathLst>
                <a:path w="3291840" h="742569">
                  <a:moveTo>
                    <a:pt x="0" y="0"/>
                  </a:moveTo>
                  <a:lnTo>
                    <a:pt x="3291840" y="0"/>
                  </a:lnTo>
                  <a:lnTo>
                    <a:pt x="3291840" y="742569"/>
                  </a:lnTo>
                  <a:lnTo>
                    <a:pt x="0" y="742569"/>
                  </a:lnTo>
                  <a:close/>
                </a:path>
              </a:pathLst>
            </a:custGeom>
            <a:blipFill>
              <a:blip r:embed="rId4">
                <a:alphaModFix amt="0"/>
              </a:blip>
              <a:stretch>
                <a:fillRect t="-36317" b="-36317"/>
              </a:stretch>
            </a:blipFill>
          </p:spPr>
          <p:txBody>
            <a:bodyPr/>
            <a:p/>
          </p:txBody>
        </p:sp>
      </p:grpSp>
      <p:grpSp>
        <p:nvGrpSpPr>
          <p:cNvPr id="49" name="Group 49"/>
          <p:cNvGrpSpPr/>
          <p:nvPr/>
        </p:nvGrpSpPr>
        <p:grpSpPr>
          <a:xfrm rot="0">
            <a:off x="1810512" y="5552122"/>
            <a:ext cx="2468880" cy="592646"/>
            <a:chOff x="0" y="0"/>
            <a:chExt cx="3291840" cy="790194"/>
          </a:xfrm>
        </p:grpSpPr>
        <p:sp>
          <p:nvSpPr>
            <p:cNvPr id="50" name="Freeform 50"/>
            <p:cNvSpPr/>
            <p:nvPr/>
          </p:nvSpPr>
          <p:spPr>
            <a:xfrm>
              <a:off x="0" y="0"/>
              <a:ext cx="3291840" cy="790194"/>
            </a:xfrm>
            <a:custGeom>
              <a:avLst/>
              <a:gdLst/>
              <a:ahLst/>
              <a:cxnLst/>
              <a:rect l="l" t="t" r="r" b="b"/>
              <a:pathLst>
                <a:path w="3291840" h="790194">
                  <a:moveTo>
                    <a:pt x="0" y="0"/>
                  </a:moveTo>
                  <a:lnTo>
                    <a:pt x="3291840" y="0"/>
                  </a:lnTo>
                  <a:lnTo>
                    <a:pt x="3291840" y="790194"/>
                  </a:lnTo>
                  <a:lnTo>
                    <a:pt x="0" y="790194"/>
                  </a:lnTo>
                  <a:close/>
                </a:path>
              </a:pathLst>
            </a:custGeom>
            <a:blipFill>
              <a:blip r:embed="rId5">
                <a:alphaModFix amt="0"/>
              </a:blip>
              <a:stretch>
                <a:fillRect t="-31171" b="-31171"/>
              </a:stretch>
            </a:blipFill>
          </p:spPr>
          <p:txBody>
            <a:bodyPr/>
            <a:p/>
          </p:txBody>
        </p:sp>
        <p:sp>
          <p:nvSpPr>
            <p:cNvPr id="51" name="TextBox 51"/>
            <p:cNvSpPr txBox="1"/>
            <p:nvPr/>
          </p:nvSpPr>
          <p:spPr>
            <a:xfrm>
              <a:off x="0" y="-47625"/>
              <a:ext cx="3291840"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Tiền xử lý</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52" name="TextBox 52"/>
          <p:cNvSpPr txBox="1"/>
          <p:nvPr/>
        </p:nvSpPr>
        <p:spPr>
          <a:xfrm>
            <a:off x="1261872" y="6142482"/>
            <a:ext cx="2962656" cy="6057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chữ: NFC, chữ thường · ảnh: RGB, resize ≤ 512 token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53" name="Freeform 53"/>
          <p:cNvSpPr/>
          <p:nvPr/>
        </p:nvSpPr>
        <p:spPr>
          <a:xfrm>
            <a:off x="4670041" y="5465569"/>
            <a:ext cx="1934480" cy="1385840"/>
          </a:xfrm>
          <a:custGeom>
            <a:avLst/>
            <a:gdLst/>
            <a:ahLst/>
            <a:cxnLst/>
            <a:rect l="l" t="t" r="r" b="b"/>
            <a:pathLst>
              <a:path w="1934480" h="1385840">
                <a:moveTo>
                  <a:pt x="0" y="0"/>
                </a:moveTo>
                <a:lnTo>
                  <a:pt x="1934480" y="0"/>
                </a:lnTo>
                <a:lnTo>
                  <a:pt x="1934480" y="1385840"/>
                </a:lnTo>
                <a:lnTo>
                  <a:pt x="0" y="1385840"/>
                </a:lnTo>
                <a:lnTo>
                  <a:pt x="0" y="0"/>
                </a:lnTo>
                <a:close/>
              </a:path>
            </a:pathLst>
          </a:custGeom>
          <a:blipFill>
            <a:blip r:embed="rId10">
              <a:extLst>
                <a:ext uri="{96DAC541-7B7A-43D3-8B79-37D633B846F1}">
                  <asvg:svgBlip xmlns:asvg="http://schemas.microsoft.com/office/drawing/2016/SVG/main" r:embed="rId11"/>
                </a:ext>
              </a:extLst>
            </a:blip>
            <a:stretch>
              <a:fillRect l="-49" r="-48"/>
            </a:stretch>
          </a:blipFill>
        </p:spPr>
        <p:txBody>
          <a:bodyPr/>
          <a:p/>
        </p:txBody>
      </p:sp>
      <p:sp>
        <p:nvSpPr>
          <p:cNvPr id="54" name="Freeform 54"/>
          <p:cNvSpPr/>
          <p:nvPr/>
        </p:nvSpPr>
        <p:spPr>
          <a:xfrm>
            <a:off x="4838795" y="5634323"/>
            <a:ext cx="499681" cy="499681"/>
          </a:xfrm>
          <a:custGeom>
            <a:avLst/>
            <a:gdLst/>
            <a:ahLst/>
            <a:cxnLst/>
            <a:rect l="l" t="t" r="r" b="b"/>
            <a:pathLst>
              <a:path w="499681" h="499681">
                <a:moveTo>
                  <a:pt x="0" y="0"/>
                </a:moveTo>
                <a:lnTo>
                  <a:pt x="499682" y="0"/>
                </a:lnTo>
                <a:lnTo>
                  <a:pt x="499682" y="499682"/>
                </a:lnTo>
                <a:lnTo>
                  <a:pt x="0" y="499682"/>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p/>
        </p:txBody>
      </p:sp>
      <p:grpSp>
        <p:nvGrpSpPr>
          <p:cNvPr id="55" name="Group 55"/>
          <p:cNvGrpSpPr/>
          <p:nvPr/>
        </p:nvGrpSpPr>
        <p:grpSpPr>
          <a:xfrm rot="0">
            <a:off x="4845939" y="5612892"/>
            <a:ext cx="485394" cy="513969"/>
            <a:chOff x="0" y="0"/>
            <a:chExt cx="647192" cy="685292"/>
          </a:xfrm>
        </p:grpSpPr>
        <p:sp>
          <p:nvSpPr>
            <p:cNvPr id="56" name="Freeform 56"/>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57" name="Group 57"/>
          <p:cNvGrpSpPr/>
          <p:nvPr/>
        </p:nvGrpSpPr>
        <p:grpSpPr>
          <a:xfrm rot="0">
            <a:off x="4845939" y="5584317"/>
            <a:ext cx="485394" cy="542544"/>
            <a:chOff x="0" y="0"/>
            <a:chExt cx="647192" cy="723392"/>
          </a:xfrm>
        </p:grpSpPr>
        <p:sp>
          <p:nvSpPr>
            <p:cNvPr id="58" name="Freeform 58"/>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59" name="TextBox 59"/>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3</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60" name="Group 60"/>
          <p:cNvGrpSpPr/>
          <p:nvPr/>
        </p:nvGrpSpPr>
        <p:grpSpPr>
          <a:xfrm rot="0">
            <a:off x="5431536" y="5623560"/>
            <a:ext cx="1042416" cy="521208"/>
            <a:chOff x="0" y="0"/>
            <a:chExt cx="1389888" cy="694944"/>
          </a:xfrm>
        </p:grpSpPr>
        <p:sp>
          <p:nvSpPr>
            <p:cNvPr id="61" name="Freeform 61"/>
            <p:cNvSpPr/>
            <p:nvPr/>
          </p:nvSpPr>
          <p:spPr>
            <a:xfrm>
              <a:off x="0" y="0"/>
              <a:ext cx="1389888" cy="694944"/>
            </a:xfrm>
            <a:custGeom>
              <a:avLst/>
              <a:gdLst/>
              <a:ahLst/>
              <a:cxnLst/>
              <a:rect l="l" t="t" r="r" b="b"/>
              <a:pathLst>
                <a:path w="1389888" h="694944">
                  <a:moveTo>
                    <a:pt x="0" y="0"/>
                  </a:moveTo>
                  <a:lnTo>
                    <a:pt x="1389888" y="0"/>
                  </a:lnTo>
                  <a:lnTo>
                    <a:pt x="1389888" y="694944"/>
                  </a:lnTo>
                  <a:lnTo>
                    <a:pt x="0" y="694944"/>
                  </a:lnTo>
                  <a:close/>
                </a:path>
              </a:pathLst>
            </a:custGeom>
            <a:blipFill>
              <a:blip r:embed="rId1">
                <a:alphaModFix amt="0"/>
              </a:blip>
              <a:stretch>
                <a:fillRect l="-14196" r="-14195"/>
              </a:stretch>
            </a:blipFill>
          </p:spPr>
          <p:txBody>
            <a:bodyPr/>
            <a:p/>
          </p:txBody>
        </p:sp>
      </p:grpSp>
      <p:grpSp>
        <p:nvGrpSpPr>
          <p:cNvPr id="62" name="Group 62"/>
          <p:cNvGrpSpPr/>
          <p:nvPr/>
        </p:nvGrpSpPr>
        <p:grpSpPr>
          <a:xfrm rot="0">
            <a:off x="5431536" y="5587841"/>
            <a:ext cx="1042416" cy="556927"/>
            <a:chOff x="0" y="0"/>
            <a:chExt cx="1389888" cy="742569"/>
          </a:xfrm>
        </p:grpSpPr>
        <p:sp>
          <p:nvSpPr>
            <p:cNvPr id="63" name="Freeform 63"/>
            <p:cNvSpPr/>
            <p:nvPr/>
          </p:nvSpPr>
          <p:spPr>
            <a:xfrm>
              <a:off x="0" y="0"/>
              <a:ext cx="1389888" cy="742569"/>
            </a:xfrm>
            <a:custGeom>
              <a:avLst/>
              <a:gdLst/>
              <a:ahLst/>
              <a:cxnLst/>
              <a:rect l="l" t="t" r="r" b="b"/>
              <a:pathLst>
                <a:path w="1389888" h="742569">
                  <a:moveTo>
                    <a:pt x="0" y="0"/>
                  </a:moveTo>
                  <a:lnTo>
                    <a:pt x="1389888" y="0"/>
                  </a:lnTo>
                  <a:lnTo>
                    <a:pt x="1389888" y="742569"/>
                  </a:lnTo>
                  <a:lnTo>
                    <a:pt x="0" y="742569"/>
                  </a:lnTo>
                  <a:close/>
                </a:path>
              </a:pathLst>
            </a:custGeom>
            <a:blipFill>
              <a:blip r:embed="rId4">
                <a:alphaModFix amt="0"/>
              </a:blip>
              <a:stretch>
                <a:fillRect l="-18595" r="-18596"/>
              </a:stretch>
            </a:blipFill>
          </p:spPr>
          <p:txBody>
            <a:bodyPr/>
            <a:p/>
          </p:txBody>
        </p:sp>
      </p:grpSp>
      <p:grpSp>
        <p:nvGrpSpPr>
          <p:cNvPr id="64" name="Group 64"/>
          <p:cNvGrpSpPr/>
          <p:nvPr/>
        </p:nvGrpSpPr>
        <p:grpSpPr>
          <a:xfrm rot="0">
            <a:off x="5431536" y="5552122"/>
            <a:ext cx="1042416" cy="592646"/>
            <a:chOff x="0" y="0"/>
            <a:chExt cx="1389888" cy="790194"/>
          </a:xfrm>
        </p:grpSpPr>
        <p:sp>
          <p:nvSpPr>
            <p:cNvPr id="65" name="Freeform 65"/>
            <p:cNvSpPr/>
            <p:nvPr/>
          </p:nvSpPr>
          <p:spPr>
            <a:xfrm>
              <a:off x="0" y="0"/>
              <a:ext cx="1389888" cy="790194"/>
            </a:xfrm>
            <a:custGeom>
              <a:avLst/>
              <a:gdLst/>
              <a:ahLst/>
              <a:cxnLst/>
              <a:rect l="l" t="t" r="r" b="b"/>
              <a:pathLst>
                <a:path w="1389888" h="790194">
                  <a:moveTo>
                    <a:pt x="0" y="0"/>
                  </a:moveTo>
                  <a:lnTo>
                    <a:pt x="1389888" y="0"/>
                  </a:lnTo>
                  <a:lnTo>
                    <a:pt x="1389888" y="790194"/>
                  </a:lnTo>
                  <a:lnTo>
                    <a:pt x="0" y="790194"/>
                  </a:lnTo>
                  <a:close/>
                </a:path>
              </a:pathLst>
            </a:custGeom>
            <a:blipFill>
              <a:blip r:embed="rId5">
                <a:alphaModFix amt="0"/>
              </a:blip>
              <a:stretch>
                <a:fillRect l="-22944" r="-22944"/>
              </a:stretch>
            </a:blipFill>
          </p:spPr>
          <p:txBody>
            <a:bodyPr/>
            <a:p/>
          </p:txBody>
        </p:sp>
        <p:sp>
          <p:nvSpPr>
            <p:cNvPr id="66" name="TextBox 66"/>
            <p:cNvSpPr txBox="1"/>
            <p:nvPr/>
          </p:nvSpPr>
          <p:spPr>
            <a:xfrm>
              <a:off x="0" y="-47625"/>
              <a:ext cx="1389888"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OCR</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67" name="Freeform 67"/>
          <p:cNvSpPr/>
          <p:nvPr/>
        </p:nvSpPr>
        <p:spPr>
          <a:xfrm>
            <a:off x="5030819" y="5291423"/>
            <a:ext cx="1432369" cy="376238"/>
          </a:xfrm>
          <a:custGeom>
            <a:avLst/>
            <a:gdLst/>
            <a:ahLst/>
            <a:cxnLst/>
            <a:rect l="l" t="t" r="r" b="b"/>
            <a:pathLst>
              <a:path w="1432369" h="376238">
                <a:moveTo>
                  <a:pt x="0" y="0"/>
                </a:moveTo>
                <a:lnTo>
                  <a:pt x="1432370" y="0"/>
                </a:lnTo>
                <a:lnTo>
                  <a:pt x="1432370" y="376238"/>
                </a:lnTo>
                <a:lnTo>
                  <a:pt x="0" y="376238"/>
                </a:lnTo>
                <a:lnTo>
                  <a:pt x="0" y="0"/>
                </a:lnTo>
                <a:close/>
              </a:path>
            </a:pathLst>
          </a:custGeom>
          <a:blipFill>
            <a:blip r:embed="rId14">
              <a:extLst>
                <a:ext uri="{96DAC541-7B7A-43D3-8B79-37D633B846F1}">
                  <asvg:svgBlip xmlns:asvg="http://schemas.microsoft.com/office/drawing/2016/SVG/main" r:embed="rId15"/>
                </a:ext>
              </a:extLst>
            </a:blip>
            <a:stretch>
              <a:fillRect t="-425" b="-425"/>
            </a:stretch>
          </a:blipFill>
        </p:spPr>
        <p:txBody>
          <a:bodyPr/>
          <a:p/>
        </p:txBody>
      </p:sp>
      <p:grpSp>
        <p:nvGrpSpPr>
          <p:cNvPr id="68" name="Group 68"/>
          <p:cNvGrpSpPr/>
          <p:nvPr/>
        </p:nvGrpSpPr>
        <p:grpSpPr>
          <a:xfrm rot="0">
            <a:off x="5037963" y="5277136"/>
            <a:ext cx="1418082" cy="383381"/>
            <a:chOff x="0" y="0"/>
            <a:chExt cx="1890776" cy="511175"/>
          </a:xfrm>
        </p:grpSpPr>
        <p:sp>
          <p:nvSpPr>
            <p:cNvPr id="69" name="Freeform 69"/>
            <p:cNvSpPr/>
            <p:nvPr/>
          </p:nvSpPr>
          <p:spPr>
            <a:xfrm>
              <a:off x="0" y="0"/>
              <a:ext cx="1890776" cy="511175"/>
            </a:xfrm>
            <a:custGeom>
              <a:avLst/>
              <a:gdLst/>
              <a:ahLst/>
              <a:cxnLst/>
              <a:rect l="l" t="t" r="r" b="b"/>
              <a:pathLst>
                <a:path w="1890776" h="511175">
                  <a:moveTo>
                    <a:pt x="0" y="0"/>
                  </a:moveTo>
                  <a:lnTo>
                    <a:pt x="1890776" y="0"/>
                  </a:lnTo>
                  <a:lnTo>
                    <a:pt x="1890776" y="511175"/>
                  </a:lnTo>
                  <a:lnTo>
                    <a:pt x="0" y="511175"/>
                  </a:lnTo>
                  <a:close/>
                </a:path>
              </a:pathLst>
            </a:custGeom>
            <a:blipFill>
              <a:blip r:embed="rId4">
                <a:alphaModFix amt="0"/>
              </a:blip>
              <a:stretch>
                <a:fillRect t="-22022" b="-22022"/>
              </a:stretch>
            </a:blipFill>
          </p:spPr>
          <p:txBody>
            <a:bodyPr/>
            <a:p/>
          </p:txBody>
        </p:sp>
      </p:grpSp>
      <p:grpSp>
        <p:nvGrpSpPr>
          <p:cNvPr id="70" name="Group 70"/>
          <p:cNvGrpSpPr/>
          <p:nvPr/>
        </p:nvGrpSpPr>
        <p:grpSpPr>
          <a:xfrm rot="0">
            <a:off x="5037963" y="5255704"/>
            <a:ext cx="1418082" cy="404812"/>
            <a:chOff x="0" y="0"/>
            <a:chExt cx="1890776" cy="539750"/>
          </a:xfrm>
        </p:grpSpPr>
        <p:sp>
          <p:nvSpPr>
            <p:cNvPr id="71" name="Freeform 71"/>
            <p:cNvSpPr/>
            <p:nvPr/>
          </p:nvSpPr>
          <p:spPr>
            <a:xfrm>
              <a:off x="0" y="0"/>
              <a:ext cx="1890776" cy="539750"/>
            </a:xfrm>
            <a:custGeom>
              <a:avLst/>
              <a:gdLst/>
              <a:ahLst/>
              <a:cxnLst/>
              <a:rect l="l" t="t" r="r" b="b"/>
              <a:pathLst>
                <a:path w="1890776" h="539750">
                  <a:moveTo>
                    <a:pt x="0" y="0"/>
                  </a:moveTo>
                  <a:lnTo>
                    <a:pt x="1890776" y="0"/>
                  </a:lnTo>
                  <a:lnTo>
                    <a:pt x="1890776" y="539750"/>
                  </a:lnTo>
                  <a:lnTo>
                    <a:pt x="0" y="539750"/>
                  </a:lnTo>
                  <a:close/>
                </a:path>
              </a:pathLst>
            </a:custGeom>
            <a:blipFill>
              <a:blip r:embed="rId5">
                <a:alphaModFix amt="0"/>
              </a:blip>
              <a:stretch>
                <a:fillRect t="-18257" b="-18257"/>
              </a:stretch>
            </a:blipFill>
          </p:spPr>
          <p:txBody>
            <a:bodyPr/>
            <a:p/>
          </p:txBody>
        </p:sp>
        <p:sp>
          <p:nvSpPr>
            <p:cNvPr id="72" name="TextBox 72"/>
            <p:cNvSpPr txBox="1"/>
            <p:nvPr/>
          </p:nvSpPr>
          <p:spPr>
            <a:xfrm>
              <a:off x="0" y="-28575"/>
              <a:ext cx="1890776" cy="568325"/>
            </a:xfrm>
            <a:prstGeom prst="rect">
              <a:avLst/>
            </a:prstGeom>
          </p:spPr>
          <p:txBody>
            <a:bodyPr lIns="0" tIns="0" rIns="0" bIns="0" rtlCol="0" anchor="ctr"/>
            <a:lstStyle/>
            <a:p>
              <a:pPr algn="ctr">
                <a:lnSpc>
                  <a:spcPts val="1620"/>
                </a:lnSpc>
              </a:pPr>
              <a:r>
                <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rPr>
                <a:t>chỉ ViTextVQA</a:t>
              </a:r>
              <a:endParaRPr lang="en-US" sz="135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73" name="TextBox 73"/>
          <p:cNvSpPr txBox="1"/>
          <p:nvPr/>
        </p:nvSpPr>
        <p:spPr>
          <a:xfrm>
            <a:off x="4882896" y="6142482"/>
            <a:ext cx="1536192" cy="6057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VietOCR; sắp trái-trên → phải-dưới</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74" name="Freeform 74"/>
          <p:cNvSpPr/>
          <p:nvPr/>
        </p:nvSpPr>
        <p:spPr>
          <a:xfrm>
            <a:off x="1049017" y="7221217"/>
            <a:ext cx="3360944" cy="1385840"/>
          </a:xfrm>
          <a:custGeom>
            <a:avLst/>
            <a:gdLst/>
            <a:ahLst/>
            <a:cxnLst/>
            <a:rect l="l" t="t" r="r" b="b"/>
            <a:pathLst>
              <a:path w="3360944" h="1385840">
                <a:moveTo>
                  <a:pt x="0" y="0"/>
                </a:moveTo>
                <a:lnTo>
                  <a:pt x="3360944" y="0"/>
                </a:lnTo>
                <a:lnTo>
                  <a:pt x="3360944" y="1385840"/>
                </a:lnTo>
                <a:lnTo>
                  <a:pt x="0" y="1385840"/>
                </a:lnTo>
                <a:lnTo>
                  <a:pt x="0" y="0"/>
                </a:lnTo>
                <a:close/>
              </a:path>
            </a:pathLst>
          </a:custGeom>
          <a:blipFill>
            <a:blip r:embed="rId6">
              <a:extLst>
                <a:ext uri="{96DAC541-7B7A-43D3-8B79-37D633B846F1}">
                  <asvg:svgBlip xmlns:asvg="http://schemas.microsoft.com/office/drawing/2016/SVG/main" r:embed="rId7"/>
                </a:ext>
              </a:extLst>
            </a:blip>
            <a:stretch>
              <a:fillRect t="-153" b="-152"/>
            </a:stretch>
          </a:blipFill>
        </p:spPr>
        <p:txBody>
          <a:bodyPr/>
          <a:p/>
        </p:txBody>
      </p:sp>
      <p:sp>
        <p:nvSpPr>
          <p:cNvPr id="75" name="Freeform 75"/>
          <p:cNvSpPr/>
          <p:nvPr/>
        </p:nvSpPr>
        <p:spPr>
          <a:xfrm>
            <a:off x="1217771" y="7389971"/>
            <a:ext cx="499682" cy="499682"/>
          </a:xfrm>
          <a:custGeom>
            <a:avLst/>
            <a:gdLst/>
            <a:ahLst/>
            <a:cxnLst/>
            <a:rect l="l" t="t" r="r" b="b"/>
            <a:pathLst>
              <a:path w="499682" h="499682">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p/>
        </p:txBody>
      </p:sp>
      <p:grpSp>
        <p:nvGrpSpPr>
          <p:cNvPr id="76" name="Group 76"/>
          <p:cNvGrpSpPr/>
          <p:nvPr/>
        </p:nvGrpSpPr>
        <p:grpSpPr>
          <a:xfrm rot="0">
            <a:off x="1224915" y="7368540"/>
            <a:ext cx="485394" cy="513969"/>
            <a:chOff x="0" y="0"/>
            <a:chExt cx="647192" cy="685292"/>
          </a:xfrm>
        </p:grpSpPr>
        <p:sp>
          <p:nvSpPr>
            <p:cNvPr id="77" name="Freeform 77"/>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78" name="Group 78"/>
          <p:cNvGrpSpPr/>
          <p:nvPr/>
        </p:nvGrpSpPr>
        <p:grpSpPr>
          <a:xfrm rot="0">
            <a:off x="1224915" y="7339965"/>
            <a:ext cx="485394" cy="542544"/>
            <a:chOff x="0" y="0"/>
            <a:chExt cx="647192" cy="723392"/>
          </a:xfrm>
        </p:grpSpPr>
        <p:sp>
          <p:nvSpPr>
            <p:cNvPr id="79" name="Freeform 79"/>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80" name="TextBox 80"/>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4</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81" name="Group 81"/>
          <p:cNvGrpSpPr/>
          <p:nvPr/>
        </p:nvGrpSpPr>
        <p:grpSpPr>
          <a:xfrm rot="0">
            <a:off x="1810512" y="7379208"/>
            <a:ext cx="2468880" cy="521208"/>
            <a:chOff x="0" y="0"/>
            <a:chExt cx="3291840" cy="694944"/>
          </a:xfrm>
        </p:grpSpPr>
        <p:sp>
          <p:nvSpPr>
            <p:cNvPr id="82" name="Freeform 82"/>
            <p:cNvSpPr/>
            <p:nvPr/>
          </p:nvSpPr>
          <p:spPr>
            <a:xfrm>
              <a:off x="0" y="0"/>
              <a:ext cx="3291840" cy="694944"/>
            </a:xfrm>
            <a:custGeom>
              <a:avLst/>
              <a:gdLst/>
              <a:ahLst/>
              <a:cxnLst/>
              <a:rect l="l" t="t" r="r" b="b"/>
              <a:pathLst>
                <a:path w="3291840" h="694944">
                  <a:moveTo>
                    <a:pt x="0" y="0"/>
                  </a:moveTo>
                  <a:lnTo>
                    <a:pt x="3291840" y="0"/>
                  </a:lnTo>
                  <a:lnTo>
                    <a:pt x="3291840" y="694944"/>
                  </a:lnTo>
                  <a:lnTo>
                    <a:pt x="0" y="694944"/>
                  </a:lnTo>
                  <a:close/>
                </a:path>
              </a:pathLst>
            </a:custGeom>
            <a:blipFill>
              <a:blip r:embed="rId1">
                <a:alphaModFix amt="0"/>
              </a:blip>
              <a:stretch>
                <a:fillRect t="-42233" b="-42233"/>
              </a:stretch>
            </a:blipFill>
          </p:spPr>
          <p:txBody>
            <a:bodyPr/>
            <a:p/>
          </p:txBody>
        </p:sp>
      </p:grpSp>
      <p:grpSp>
        <p:nvGrpSpPr>
          <p:cNvPr id="83" name="Group 83"/>
          <p:cNvGrpSpPr/>
          <p:nvPr/>
        </p:nvGrpSpPr>
        <p:grpSpPr>
          <a:xfrm rot="0">
            <a:off x="1810512" y="7343489"/>
            <a:ext cx="2468880" cy="556927"/>
            <a:chOff x="0" y="0"/>
            <a:chExt cx="3291840" cy="742569"/>
          </a:xfrm>
        </p:grpSpPr>
        <p:sp>
          <p:nvSpPr>
            <p:cNvPr id="84" name="Freeform 84"/>
            <p:cNvSpPr/>
            <p:nvPr/>
          </p:nvSpPr>
          <p:spPr>
            <a:xfrm>
              <a:off x="0" y="0"/>
              <a:ext cx="3291840" cy="742569"/>
            </a:xfrm>
            <a:custGeom>
              <a:avLst/>
              <a:gdLst/>
              <a:ahLst/>
              <a:cxnLst/>
              <a:rect l="l" t="t" r="r" b="b"/>
              <a:pathLst>
                <a:path w="3291840" h="742569">
                  <a:moveTo>
                    <a:pt x="0" y="0"/>
                  </a:moveTo>
                  <a:lnTo>
                    <a:pt x="3291840" y="0"/>
                  </a:lnTo>
                  <a:lnTo>
                    <a:pt x="3291840" y="742569"/>
                  </a:lnTo>
                  <a:lnTo>
                    <a:pt x="0" y="742569"/>
                  </a:lnTo>
                  <a:close/>
                </a:path>
              </a:pathLst>
            </a:custGeom>
            <a:blipFill>
              <a:blip r:embed="rId4">
                <a:alphaModFix amt="0"/>
              </a:blip>
              <a:stretch>
                <a:fillRect t="-36317" b="-36317"/>
              </a:stretch>
            </a:blipFill>
          </p:spPr>
          <p:txBody>
            <a:bodyPr/>
            <a:p/>
          </p:txBody>
        </p:sp>
      </p:grpSp>
      <p:grpSp>
        <p:nvGrpSpPr>
          <p:cNvPr id="85" name="Group 85"/>
          <p:cNvGrpSpPr/>
          <p:nvPr/>
        </p:nvGrpSpPr>
        <p:grpSpPr>
          <a:xfrm rot="0">
            <a:off x="1810512" y="7307770"/>
            <a:ext cx="2468880" cy="592646"/>
            <a:chOff x="0" y="0"/>
            <a:chExt cx="3291840" cy="790194"/>
          </a:xfrm>
        </p:grpSpPr>
        <p:sp>
          <p:nvSpPr>
            <p:cNvPr id="86" name="Freeform 86"/>
            <p:cNvSpPr/>
            <p:nvPr/>
          </p:nvSpPr>
          <p:spPr>
            <a:xfrm>
              <a:off x="0" y="0"/>
              <a:ext cx="3291840" cy="790194"/>
            </a:xfrm>
            <a:custGeom>
              <a:avLst/>
              <a:gdLst/>
              <a:ahLst/>
              <a:cxnLst/>
              <a:rect l="l" t="t" r="r" b="b"/>
              <a:pathLst>
                <a:path w="3291840" h="790194">
                  <a:moveTo>
                    <a:pt x="0" y="0"/>
                  </a:moveTo>
                  <a:lnTo>
                    <a:pt x="3291840" y="0"/>
                  </a:lnTo>
                  <a:lnTo>
                    <a:pt x="3291840" y="790194"/>
                  </a:lnTo>
                  <a:lnTo>
                    <a:pt x="0" y="790194"/>
                  </a:lnTo>
                  <a:close/>
                </a:path>
              </a:pathLst>
            </a:custGeom>
            <a:blipFill>
              <a:blip r:embed="rId5">
                <a:alphaModFix amt="0"/>
              </a:blip>
              <a:stretch>
                <a:fillRect t="-31171" b="-31171"/>
              </a:stretch>
            </a:blipFill>
          </p:spPr>
          <p:txBody>
            <a:bodyPr/>
            <a:p/>
          </p:txBody>
        </p:sp>
        <p:sp>
          <p:nvSpPr>
            <p:cNvPr id="87" name="TextBox 87"/>
            <p:cNvSpPr txBox="1"/>
            <p:nvPr/>
          </p:nvSpPr>
          <p:spPr>
            <a:xfrm>
              <a:off x="0" y="-47625"/>
              <a:ext cx="3291840"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Chia tập cố định</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88" name="TextBox 88"/>
          <p:cNvSpPr txBox="1"/>
          <p:nvPr/>
        </p:nvSpPr>
        <p:spPr>
          <a:xfrm>
            <a:off x="1261872" y="7898130"/>
            <a:ext cx="2962656" cy="6057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split chính thức; val ViVQA 1.200; seed 42</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89" name="TextBox 89"/>
          <p:cNvSpPr txBox="1"/>
          <p:nvPr/>
        </p:nvSpPr>
        <p:spPr>
          <a:xfrm>
            <a:off x="4416552" y="5702427"/>
            <a:ext cx="274320" cy="387477"/>
          </a:xfrm>
          <a:prstGeom prst="rect">
            <a:avLst/>
          </a:prstGeom>
        </p:spPr>
        <p:txBody>
          <a:bodyPr lIns="0" tIns="0" rIns="0" bIns="0" rtlCol="0" anchor="t">
            <a:spAutoFit/>
          </a:bodyPr>
          <a:lstStyle/>
          <a:p>
            <a:pPr algn="l">
              <a:lnSpc>
                <a:spcPts val="1530"/>
              </a:lnSpc>
            </a:pPr>
            <a:r>
              <a:rPr lang="en-US" sz="1275">
                <a:solidFill>
                  <a:srgbClr val="5B677A"/>
                </a:solidFill>
                <a:latin typeface="Calibri (MS)" panose="020F0502020204030204"/>
                <a:ea typeface="Calibri (MS)" panose="020F0502020204030204"/>
                <a:cs typeface="Calibri (MS)" panose="020F0502020204030204"/>
                <a:sym typeface="Calibri (MS)" panose="020F0502020204030204"/>
              </a:rPr>
              <a:t>ảnh</a:t>
            </a:r>
            <a:endParaRPr lang="en-US" sz="12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90" name="Group 90"/>
          <p:cNvGrpSpPr/>
          <p:nvPr/>
        </p:nvGrpSpPr>
        <p:grpSpPr>
          <a:xfrm rot="0">
            <a:off x="7063740" y="3017520"/>
            <a:ext cx="5417820" cy="5952744"/>
            <a:chOff x="0" y="0"/>
            <a:chExt cx="7223760" cy="7936992"/>
          </a:xfrm>
        </p:grpSpPr>
        <p:sp>
          <p:nvSpPr>
            <p:cNvPr id="91" name="Freeform 91"/>
            <p:cNvSpPr/>
            <p:nvPr/>
          </p:nvSpPr>
          <p:spPr>
            <a:xfrm>
              <a:off x="0" y="0"/>
              <a:ext cx="7223760" cy="7936992"/>
            </a:xfrm>
            <a:custGeom>
              <a:avLst/>
              <a:gdLst/>
              <a:ahLst/>
              <a:cxnLst/>
              <a:rect l="l" t="t" r="r" b="b"/>
              <a:pathLst>
                <a:path w="7223760" h="7936992">
                  <a:moveTo>
                    <a:pt x="0" y="288925"/>
                  </a:moveTo>
                  <a:cubicBezTo>
                    <a:pt x="0" y="129413"/>
                    <a:pt x="129413" y="0"/>
                    <a:pt x="288925" y="0"/>
                  </a:cubicBezTo>
                  <a:lnTo>
                    <a:pt x="6934835" y="0"/>
                  </a:lnTo>
                  <a:cubicBezTo>
                    <a:pt x="7094474" y="0"/>
                    <a:pt x="7223760" y="129413"/>
                    <a:pt x="7223760" y="288925"/>
                  </a:cubicBezTo>
                  <a:lnTo>
                    <a:pt x="7223760" y="7648067"/>
                  </a:lnTo>
                  <a:cubicBezTo>
                    <a:pt x="7223760" y="7807706"/>
                    <a:pt x="7094347" y="7936992"/>
                    <a:pt x="6934835" y="7936992"/>
                  </a:cubicBezTo>
                  <a:lnTo>
                    <a:pt x="288925" y="7936992"/>
                  </a:lnTo>
                  <a:cubicBezTo>
                    <a:pt x="129413" y="7936992"/>
                    <a:pt x="0" y="7807579"/>
                    <a:pt x="0" y="7648067"/>
                  </a:cubicBezTo>
                  <a:close/>
                </a:path>
              </a:pathLst>
            </a:custGeom>
            <a:solidFill>
              <a:srgbClr val="FDF8EE"/>
            </a:solidFill>
          </p:spPr>
          <p:txBody>
            <a:bodyPr/>
            <a:p/>
          </p:txBody>
        </p:sp>
      </p:grpSp>
      <p:grpSp>
        <p:nvGrpSpPr>
          <p:cNvPr id="92" name="Group 92"/>
          <p:cNvGrpSpPr/>
          <p:nvPr/>
        </p:nvGrpSpPr>
        <p:grpSpPr>
          <a:xfrm rot="0">
            <a:off x="7310628" y="3113532"/>
            <a:ext cx="5006340" cy="411480"/>
            <a:chOff x="0" y="0"/>
            <a:chExt cx="6675120" cy="548640"/>
          </a:xfrm>
        </p:grpSpPr>
        <p:sp>
          <p:nvSpPr>
            <p:cNvPr id="93" name="Freeform 93"/>
            <p:cNvSpPr/>
            <p:nvPr/>
          </p:nvSpPr>
          <p:spPr>
            <a:xfrm>
              <a:off x="0" y="0"/>
              <a:ext cx="6675120" cy="548640"/>
            </a:xfrm>
            <a:custGeom>
              <a:avLst/>
              <a:gdLst/>
              <a:ahLst/>
              <a:cxnLst/>
              <a:rect l="l" t="t" r="r" b="b"/>
              <a:pathLst>
                <a:path w="6675120" h="548640">
                  <a:moveTo>
                    <a:pt x="0" y="0"/>
                  </a:moveTo>
                  <a:lnTo>
                    <a:pt x="6675120" y="0"/>
                  </a:lnTo>
                  <a:lnTo>
                    <a:pt x="6675120" y="548640"/>
                  </a:lnTo>
                  <a:lnTo>
                    <a:pt x="0" y="548640"/>
                  </a:lnTo>
                  <a:close/>
                </a:path>
              </a:pathLst>
            </a:custGeom>
            <a:blipFill>
              <a:blip r:embed="rId1">
                <a:alphaModFix amt="0"/>
              </a:blip>
              <a:stretch>
                <a:fillRect t="-186902" b="-186902"/>
              </a:stretch>
            </a:blipFill>
          </p:spPr>
          <p:txBody>
            <a:bodyPr/>
            <a:p/>
          </p:txBody>
        </p:sp>
      </p:grpSp>
      <p:grpSp>
        <p:nvGrpSpPr>
          <p:cNvPr id="94" name="Group 94"/>
          <p:cNvGrpSpPr/>
          <p:nvPr/>
        </p:nvGrpSpPr>
        <p:grpSpPr>
          <a:xfrm rot="0">
            <a:off x="7310628" y="3084957"/>
            <a:ext cx="5006340" cy="440055"/>
            <a:chOff x="0" y="0"/>
            <a:chExt cx="6675120" cy="586740"/>
          </a:xfrm>
        </p:grpSpPr>
        <p:sp>
          <p:nvSpPr>
            <p:cNvPr id="95" name="Freeform 95"/>
            <p:cNvSpPr/>
            <p:nvPr/>
          </p:nvSpPr>
          <p:spPr>
            <a:xfrm>
              <a:off x="0" y="0"/>
              <a:ext cx="6675120" cy="586740"/>
            </a:xfrm>
            <a:custGeom>
              <a:avLst/>
              <a:gdLst/>
              <a:ahLst/>
              <a:cxnLst/>
              <a:rect l="l" t="t" r="r" b="b"/>
              <a:pathLst>
                <a:path w="6675120" h="586740">
                  <a:moveTo>
                    <a:pt x="0" y="0"/>
                  </a:moveTo>
                  <a:lnTo>
                    <a:pt x="6675120" y="0"/>
                  </a:lnTo>
                  <a:lnTo>
                    <a:pt x="6675120" y="586740"/>
                  </a:lnTo>
                  <a:lnTo>
                    <a:pt x="0" y="586740"/>
                  </a:lnTo>
                  <a:close/>
                </a:path>
              </a:pathLst>
            </a:custGeom>
            <a:blipFill>
              <a:blip r:embed="rId4">
                <a:alphaModFix amt="0"/>
              </a:blip>
              <a:stretch>
                <a:fillRect t="-171519" b="-171519"/>
              </a:stretch>
            </a:blipFill>
          </p:spPr>
          <p:txBody>
            <a:bodyPr/>
            <a:p/>
          </p:txBody>
        </p:sp>
      </p:grpSp>
      <p:grpSp>
        <p:nvGrpSpPr>
          <p:cNvPr id="96" name="Group 96"/>
          <p:cNvGrpSpPr/>
          <p:nvPr/>
        </p:nvGrpSpPr>
        <p:grpSpPr>
          <a:xfrm rot="0">
            <a:off x="7310628" y="3056382"/>
            <a:ext cx="5006340" cy="468630"/>
            <a:chOff x="0" y="0"/>
            <a:chExt cx="6675120" cy="624840"/>
          </a:xfrm>
        </p:grpSpPr>
        <p:sp>
          <p:nvSpPr>
            <p:cNvPr id="97" name="Freeform 97"/>
            <p:cNvSpPr/>
            <p:nvPr/>
          </p:nvSpPr>
          <p:spPr>
            <a:xfrm>
              <a:off x="0" y="0"/>
              <a:ext cx="6675120" cy="624840"/>
            </a:xfrm>
            <a:custGeom>
              <a:avLst/>
              <a:gdLst/>
              <a:ahLst/>
              <a:cxnLst/>
              <a:rect l="l" t="t" r="r" b="b"/>
              <a:pathLst>
                <a:path w="6675120" h="624840">
                  <a:moveTo>
                    <a:pt x="0" y="0"/>
                  </a:moveTo>
                  <a:lnTo>
                    <a:pt x="6675120" y="0"/>
                  </a:lnTo>
                  <a:lnTo>
                    <a:pt x="6675120" y="624840"/>
                  </a:lnTo>
                  <a:lnTo>
                    <a:pt x="0" y="624840"/>
                  </a:lnTo>
                  <a:close/>
                </a:path>
              </a:pathLst>
            </a:custGeom>
            <a:blipFill>
              <a:blip r:embed="rId5">
                <a:alphaModFix amt="0"/>
              </a:blip>
              <a:stretch>
                <a:fillRect t="-158157" b="-158157"/>
              </a:stretch>
            </a:blipFill>
          </p:spPr>
          <p:txBody>
            <a:bodyPr/>
            <a:p/>
          </p:txBody>
        </p:sp>
        <p:sp>
          <p:nvSpPr>
            <p:cNvPr id="98" name="TextBox 98"/>
            <p:cNvSpPr txBox="1"/>
            <p:nvPr/>
          </p:nvSpPr>
          <p:spPr>
            <a:xfrm>
              <a:off x="0" y="-38100"/>
              <a:ext cx="6675120" cy="662940"/>
            </a:xfrm>
            <a:prstGeom prst="rect">
              <a:avLst/>
            </a:prstGeom>
          </p:spPr>
          <p:txBody>
            <a:bodyPr lIns="0" tIns="0" rIns="0" bIns="0" rtlCol="0" anchor="ctr"/>
            <a:lstStyle/>
            <a:p>
              <a:pPr algn="l">
                <a:lnSpc>
                  <a:spcPts val="1800"/>
                </a:lnSpc>
              </a:pPr>
              <a:r>
                <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rPr>
                <a:t>B · HUẤN LUYỆN &amp; SUY LUẬN  —  giống hệt mọi run</a:t>
              </a:r>
              <a:endPar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99" name="Freeform 99"/>
          <p:cNvSpPr/>
          <p:nvPr/>
        </p:nvSpPr>
        <p:spPr>
          <a:xfrm>
            <a:off x="7248649" y="3709921"/>
            <a:ext cx="5048012" cy="1385840"/>
          </a:xfrm>
          <a:custGeom>
            <a:avLst/>
            <a:gdLst/>
            <a:ahLst/>
            <a:cxnLst/>
            <a:rect l="l" t="t" r="r" b="b"/>
            <a:pathLst>
              <a:path w="5048012" h="1385840">
                <a:moveTo>
                  <a:pt x="0" y="0"/>
                </a:moveTo>
                <a:lnTo>
                  <a:pt x="5048012" y="0"/>
                </a:lnTo>
                <a:lnTo>
                  <a:pt x="5048012" y="1385840"/>
                </a:lnTo>
                <a:lnTo>
                  <a:pt x="0" y="1385840"/>
                </a:lnTo>
                <a:lnTo>
                  <a:pt x="0" y="0"/>
                </a:lnTo>
                <a:close/>
              </a:path>
            </a:pathLst>
          </a:custGeom>
          <a:blipFill>
            <a:blip r:embed="rId16">
              <a:extLst>
                <a:ext uri="{96DAC541-7B7A-43D3-8B79-37D633B846F1}">
                  <asvg:svgBlip xmlns:asvg="http://schemas.microsoft.com/office/drawing/2016/SVG/main" r:embed="rId17"/>
                </a:ext>
              </a:extLst>
            </a:blip>
            <a:stretch>
              <a:fillRect t="-171" b="-171"/>
            </a:stretch>
          </a:blipFill>
        </p:spPr>
        <p:txBody>
          <a:bodyPr/>
          <a:p/>
        </p:txBody>
      </p:sp>
      <p:sp>
        <p:nvSpPr>
          <p:cNvPr id="100" name="Freeform 100"/>
          <p:cNvSpPr/>
          <p:nvPr/>
        </p:nvSpPr>
        <p:spPr>
          <a:xfrm>
            <a:off x="7417403" y="3878675"/>
            <a:ext cx="499682" cy="499681"/>
          </a:xfrm>
          <a:custGeom>
            <a:avLst/>
            <a:gdLst/>
            <a:ahLst/>
            <a:cxnLst/>
            <a:rect l="l" t="t" r="r" b="b"/>
            <a:pathLst>
              <a:path w="499682" h="499681">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p/>
        </p:txBody>
      </p:sp>
      <p:grpSp>
        <p:nvGrpSpPr>
          <p:cNvPr id="101" name="Group 101"/>
          <p:cNvGrpSpPr/>
          <p:nvPr/>
        </p:nvGrpSpPr>
        <p:grpSpPr>
          <a:xfrm rot="0">
            <a:off x="7424547" y="3857244"/>
            <a:ext cx="485394" cy="513969"/>
            <a:chOff x="0" y="0"/>
            <a:chExt cx="647192" cy="685292"/>
          </a:xfrm>
        </p:grpSpPr>
        <p:sp>
          <p:nvSpPr>
            <p:cNvPr id="102" name="Freeform 102"/>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103" name="Group 103"/>
          <p:cNvGrpSpPr/>
          <p:nvPr/>
        </p:nvGrpSpPr>
        <p:grpSpPr>
          <a:xfrm rot="0">
            <a:off x="7424547" y="3828669"/>
            <a:ext cx="485394" cy="542544"/>
            <a:chOff x="0" y="0"/>
            <a:chExt cx="647192" cy="723392"/>
          </a:xfrm>
        </p:grpSpPr>
        <p:sp>
          <p:nvSpPr>
            <p:cNvPr id="104" name="Freeform 104"/>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105" name="TextBox 105"/>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5</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06" name="Group 106"/>
          <p:cNvGrpSpPr/>
          <p:nvPr/>
        </p:nvGrpSpPr>
        <p:grpSpPr>
          <a:xfrm rot="0">
            <a:off x="8010144" y="3867912"/>
            <a:ext cx="4155948" cy="521208"/>
            <a:chOff x="0" y="0"/>
            <a:chExt cx="5541264" cy="694944"/>
          </a:xfrm>
        </p:grpSpPr>
        <p:sp>
          <p:nvSpPr>
            <p:cNvPr id="107" name="Freeform 107"/>
            <p:cNvSpPr/>
            <p:nvPr/>
          </p:nvSpPr>
          <p:spPr>
            <a:xfrm>
              <a:off x="0" y="0"/>
              <a:ext cx="5541264" cy="694944"/>
            </a:xfrm>
            <a:custGeom>
              <a:avLst/>
              <a:gdLst/>
              <a:ahLst/>
              <a:cxnLst/>
              <a:rect l="l" t="t" r="r" b="b"/>
              <a:pathLst>
                <a:path w="5541264" h="694944">
                  <a:moveTo>
                    <a:pt x="0" y="0"/>
                  </a:moveTo>
                  <a:lnTo>
                    <a:pt x="5541264" y="0"/>
                  </a:lnTo>
                  <a:lnTo>
                    <a:pt x="5541264" y="694944"/>
                  </a:lnTo>
                  <a:lnTo>
                    <a:pt x="0" y="694944"/>
                  </a:lnTo>
                  <a:close/>
                </a:path>
              </a:pathLst>
            </a:custGeom>
            <a:blipFill>
              <a:blip r:embed="rId1">
                <a:alphaModFix amt="0"/>
              </a:blip>
              <a:stretch>
                <a:fillRect t="-105259" b="-105259"/>
              </a:stretch>
            </a:blipFill>
          </p:spPr>
          <p:txBody>
            <a:bodyPr/>
            <a:p/>
          </p:txBody>
        </p:sp>
      </p:grpSp>
      <p:grpSp>
        <p:nvGrpSpPr>
          <p:cNvPr id="108" name="Group 108"/>
          <p:cNvGrpSpPr/>
          <p:nvPr/>
        </p:nvGrpSpPr>
        <p:grpSpPr>
          <a:xfrm rot="0">
            <a:off x="8010144" y="3832193"/>
            <a:ext cx="4155948" cy="556927"/>
            <a:chOff x="0" y="0"/>
            <a:chExt cx="5541264" cy="742569"/>
          </a:xfrm>
        </p:grpSpPr>
        <p:sp>
          <p:nvSpPr>
            <p:cNvPr id="109" name="Freeform 109"/>
            <p:cNvSpPr/>
            <p:nvPr/>
          </p:nvSpPr>
          <p:spPr>
            <a:xfrm>
              <a:off x="0" y="0"/>
              <a:ext cx="5541264" cy="742569"/>
            </a:xfrm>
            <a:custGeom>
              <a:avLst/>
              <a:gdLst/>
              <a:ahLst/>
              <a:cxnLst/>
              <a:rect l="l" t="t" r="r" b="b"/>
              <a:pathLst>
                <a:path w="5541264" h="742569">
                  <a:moveTo>
                    <a:pt x="0" y="0"/>
                  </a:moveTo>
                  <a:lnTo>
                    <a:pt x="5541264" y="0"/>
                  </a:lnTo>
                  <a:lnTo>
                    <a:pt x="5541264" y="742569"/>
                  </a:lnTo>
                  <a:lnTo>
                    <a:pt x="0" y="742569"/>
                  </a:lnTo>
                  <a:close/>
                </a:path>
              </a:pathLst>
            </a:custGeom>
            <a:blipFill>
              <a:blip r:embed="rId4">
                <a:alphaModFix amt="0"/>
              </a:blip>
              <a:stretch>
                <a:fillRect t="-95301" b="-95301"/>
              </a:stretch>
            </a:blipFill>
          </p:spPr>
          <p:txBody>
            <a:bodyPr/>
            <a:p/>
          </p:txBody>
        </p:sp>
      </p:grpSp>
      <p:grpSp>
        <p:nvGrpSpPr>
          <p:cNvPr id="110" name="Group 110"/>
          <p:cNvGrpSpPr/>
          <p:nvPr/>
        </p:nvGrpSpPr>
        <p:grpSpPr>
          <a:xfrm rot="0">
            <a:off x="8010144" y="3796474"/>
            <a:ext cx="4155948" cy="592646"/>
            <a:chOff x="0" y="0"/>
            <a:chExt cx="5541264" cy="790194"/>
          </a:xfrm>
        </p:grpSpPr>
        <p:sp>
          <p:nvSpPr>
            <p:cNvPr id="111" name="Freeform 111"/>
            <p:cNvSpPr/>
            <p:nvPr/>
          </p:nvSpPr>
          <p:spPr>
            <a:xfrm>
              <a:off x="0" y="0"/>
              <a:ext cx="5541264" cy="790194"/>
            </a:xfrm>
            <a:custGeom>
              <a:avLst/>
              <a:gdLst/>
              <a:ahLst/>
              <a:cxnLst/>
              <a:rect l="l" t="t" r="r" b="b"/>
              <a:pathLst>
                <a:path w="5541264" h="790194">
                  <a:moveTo>
                    <a:pt x="0" y="0"/>
                  </a:moveTo>
                  <a:lnTo>
                    <a:pt x="5541264" y="0"/>
                  </a:lnTo>
                  <a:lnTo>
                    <a:pt x="5541264" y="790194"/>
                  </a:lnTo>
                  <a:lnTo>
                    <a:pt x="0" y="790194"/>
                  </a:lnTo>
                  <a:close/>
                </a:path>
              </a:pathLst>
            </a:custGeom>
            <a:blipFill>
              <a:blip r:embed="rId5">
                <a:alphaModFix amt="0"/>
              </a:blip>
              <a:stretch>
                <a:fillRect t="-86639" b="-86639"/>
              </a:stretch>
            </a:blipFill>
          </p:spPr>
          <p:txBody>
            <a:bodyPr/>
            <a:p/>
          </p:txBody>
        </p:sp>
        <p:sp>
          <p:nvSpPr>
            <p:cNvPr id="112" name="TextBox 112"/>
            <p:cNvSpPr txBox="1"/>
            <p:nvPr/>
          </p:nvSpPr>
          <p:spPr>
            <a:xfrm>
              <a:off x="0" y="-47625"/>
              <a:ext cx="5541264"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Ghép prompt</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13" name="TextBox 113"/>
          <p:cNvSpPr txBox="1"/>
          <p:nvPr/>
        </p:nvSpPr>
        <p:spPr>
          <a:xfrm>
            <a:off x="7461504" y="4386834"/>
            <a:ext cx="4649724" cy="605790"/>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ảnh + câu hỏi tiếng Việt (+ một dòng chữ OCR)</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114" name="Freeform 114"/>
          <p:cNvSpPr/>
          <p:nvPr/>
        </p:nvSpPr>
        <p:spPr>
          <a:xfrm>
            <a:off x="7248649" y="5465569"/>
            <a:ext cx="5048012" cy="3141488"/>
          </a:xfrm>
          <a:custGeom>
            <a:avLst/>
            <a:gdLst/>
            <a:ahLst/>
            <a:cxnLst/>
            <a:rect l="l" t="t" r="r" b="b"/>
            <a:pathLst>
              <a:path w="5048012" h="3141488">
                <a:moveTo>
                  <a:pt x="0" y="0"/>
                </a:moveTo>
                <a:lnTo>
                  <a:pt x="5048012" y="0"/>
                </a:lnTo>
                <a:lnTo>
                  <a:pt x="5048012" y="3141488"/>
                </a:lnTo>
                <a:lnTo>
                  <a:pt x="0" y="3141488"/>
                </a:lnTo>
                <a:lnTo>
                  <a:pt x="0" y="0"/>
                </a:lnTo>
                <a:close/>
              </a:path>
            </a:pathLst>
          </a:custGeom>
          <a:blipFill>
            <a:blip r:embed="rId18">
              <a:extLst>
                <a:ext uri="{96DAC541-7B7A-43D3-8B79-37D633B846F1}">
                  <asvg:svgBlip xmlns:asvg="http://schemas.microsoft.com/office/drawing/2016/SVG/main" r:embed="rId19"/>
                </a:ext>
              </a:extLst>
            </a:blip>
            <a:stretch>
              <a:fillRect t="-25" b="-25"/>
            </a:stretch>
          </a:blipFill>
        </p:spPr>
        <p:txBody>
          <a:bodyPr/>
          <a:p/>
        </p:txBody>
      </p:sp>
      <p:sp>
        <p:nvSpPr>
          <p:cNvPr id="115" name="Freeform 115"/>
          <p:cNvSpPr/>
          <p:nvPr/>
        </p:nvSpPr>
        <p:spPr>
          <a:xfrm>
            <a:off x="7417403" y="5634323"/>
            <a:ext cx="499682" cy="499681"/>
          </a:xfrm>
          <a:custGeom>
            <a:avLst/>
            <a:gdLst/>
            <a:ahLst/>
            <a:cxnLst/>
            <a:rect l="l" t="t" r="r" b="b"/>
            <a:pathLst>
              <a:path w="499682" h="499681">
                <a:moveTo>
                  <a:pt x="0" y="0"/>
                </a:moveTo>
                <a:lnTo>
                  <a:pt x="499682" y="0"/>
                </a:lnTo>
                <a:lnTo>
                  <a:pt x="499682" y="499682"/>
                </a:lnTo>
                <a:lnTo>
                  <a:pt x="0" y="499682"/>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p/>
        </p:txBody>
      </p:sp>
      <p:grpSp>
        <p:nvGrpSpPr>
          <p:cNvPr id="116" name="Group 116"/>
          <p:cNvGrpSpPr/>
          <p:nvPr/>
        </p:nvGrpSpPr>
        <p:grpSpPr>
          <a:xfrm rot="0">
            <a:off x="7424547" y="5612892"/>
            <a:ext cx="485394" cy="513969"/>
            <a:chOff x="0" y="0"/>
            <a:chExt cx="647192" cy="685292"/>
          </a:xfrm>
        </p:grpSpPr>
        <p:sp>
          <p:nvSpPr>
            <p:cNvPr id="117" name="Freeform 117"/>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118" name="Group 118"/>
          <p:cNvGrpSpPr/>
          <p:nvPr/>
        </p:nvGrpSpPr>
        <p:grpSpPr>
          <a:xfrm rot="0">
            <a:off x="7424547" y="5584317"/>
            <a:ext cx="485394" cy="542544"/>
            <a:chOff x="0" y="0"/>
            <a:chExt cx="647192" cy="723392"/>
          </a:xfrm>
        </p:grpSpPr>
        <p:sp>
          <p:nvSpPr>
            <p:cNvPr id="119" name="Freeform 119"/>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120" name="TextBox 120"/>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6</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21" name="Group 121"/>
          <p:cNvGrpSpPr/>
          <p:nvPr/>
        </p:nvGrpSpPr>
        <p:grpSpPr>
          <a:xfrm rot="0">
            <a:off x="8010144" y="5623560"/>
            <a:ext cx="4155948" cy="521208"/>
            <a:chOff x="0" y="0"/>
            <a:chExt cx="5541264" cy="694944"/>
          </a:xfrm>
        </p:grpSpPr>
        <p:sp>
          <p:nvSpPr>
            <p:cNvPr id="122" name="Freeform 122"/>
            <p:cNvSpPr/>
            <p:nvPr/>
          </p:nvSpPr>
          <p:spPr>
            <a:xfrm>
              <a:off x="0" y="0"/>
              <a:ext cx="5541264" cy="694944"/>
            </a:xfrm>
            <a:custGeom>
              <a:avLst/>
              <a:gdLst/>
              <a:ahLst/>
              <a:cxnLst/>
              <a:rect l="l" t="t" r="r" b="b"/>
              <a:pathLst>
                <a:path w="5541264" h="694944">
                  <a:moveTo>
                    <a:pt x="0" y="0"/>
                  </a:moveTo>
                  <a:lnTo>
                    <a:pt x="5541264" y="0"/>
                  </a:lnTo>
                  <a:lnTo>
                    <a:pt x="5541264" y="694944"/>
                  </a:lnTo>
                  <a:lnTo>
                    <a:pt x="0" y="694944"/>
                  </a:lnTo>
                  <a:close/>
                </a:path>
              </a:pathLst>
            </a:custGeom>
            <a:blipFill>
              <a:blip r:embed="rId1">
                <a:alphaModFix amt="0"/>
              </a:blip>
              <a:stretch>
                <a:fillRect t="-105259" b="-105259"/>
              </a:stretch>
            </a:blipFill>
          </p:spPr>
          <p:txBody>
            <a:bodyPr/>
            <a:p/>
          </p:txBody>
        </p:sp>
      </p:grpSp>
      <p:grpSp>
        <p:nvGrpSpPr>
          <p:cNvPr id="123" name="Group 123"/>
          <p:cNvGrpSpPr/>
          <p:nvPr/>
        </p:nvGrpSpPr>
        <p:grpSpPr>
          <a:xfrm rot="0">
            <a:off x="8010144" y="5587841"/>
            <a:ext cx="4155948" cy="556927"/>
            <a:chOff x="0" y="0"/>
            <a:chExt cx="5541264" cy="742569"/>
          </a:xfrm>
        </p:grpSpPr>
        <p:sp>
          <p:nvSpPr>
            <p:cNvPr id="124" name="Freeform 124"/>
            <p:cNvSpPr/>
            <p:nvPr/>
          </p:nvSpPr>
          <p:spPr>
            <a:xfrm>
              <a:off x="0" y="0"/>
              <a:ext cx="5541264" cy="742569"/>
            </a:xfrm>
            <a:custGeom>
              <a:avLst/>
              <a:gdLst/>
              <a:ahLst/>
              <a:cxnLst/>
              <a:rect l="l" t="t" r="r" b="b"/>
              <a:pathLst>
                <a:path w="5541264" h="742569">
                  <a:moveTo>
                    <a:pt x="0" y="0"/>
                  </a:moveTo>
                  <a:lnTo>
                    <a:pt x="5541264" y="0"/>
                  </a:lnTo>
                  <a:lnTo>
                    <a:pt x="5541264" y="742569"/>
                  </a:lnTo>
                  <a:lnTo>
                    <a:pt x="0" y="742569"/>
                  </a:lnTo>
                  <a:close/>
                </a:path>
              </a:pathLst>
            </a:custGeom>
            <a:blipFill>
              <a:blip r:embed="rId4">
                <a:alphaModFix amt="0"/>
              </a:blip>
              <a:stretch>
                <a:fillRect t="-95301" b="-95301"/>
              </a:stretch>
            </a:blipFill>
          </p:spPr>
          <p:txBody>
            <a:bodyPr/>
            <a:p/>
          </p:txBody>
        </p:sp>
      </p:grpSp>
      <p:grpSp>
        <p:nvGrpSpPr>
          <p:cNvPr id="125" name="Group 125"/>
          <p:cNvGrpSpPr/>
          <p:nvPr/>
        </p:nvGrpSpPr>
        <p:grpSpPr>
          <a:xfrm rot="0">
            <a:off x="8010144" y="5552122"/>
            <a:ext cx="4155948" cy="592646"/>
            <a:chOff x="0" y="0"/>
            <a:chExt cx="5541264" cy="790194"/>
          </a:xfrm>
        </p:grpSpPr>
        <p:sp>
          <p:nvSpPr>
            <p:cNvPr id="126" name="Freeform 126"/>
            <p:cNvSpPr/>
            <p:nvPr/>
          </p:nvSpPr>
          <p:spPr>
            <a:xfrm>
              <a:off x="0" y="0"/>
              <a:ext cx="5541264" cy="790194"/>
            </a:xfrm>
            <a:custGeom>
              <a:avLst/>
              <a:gdLst/>
              <a:ahLst/>
              <a:cxnLst/>
              <a:rect l="l" t="t" r="r" b="b"/>
              <a:pathLst>
                <a:path w="5541264" h="790194">
                  <a:moveTo>
                    <a:pt x="0" y="0"/>
                  </a:moveTo>
                  <a:lnTo>
                    <a:pt x="5541264" y="0"/>
                  </a:lnTo>
                  <a:lnTo>
                    <a:pt x="5541264" y="790194"/>
                  </a:lnTo>
                  <a:lnTo>
                    <a:pt x="0" y="790194"/>
                  </a:lnTo>
                  <a:close/>
                </a:path>
              </a:pathLst>
            </a:custGeom>
            <a:blipFill>
              <a:blip r:embed="rId5">
                <a:alphaModFix amt="0"/>
              </a:blip>
              <a:stretch>
                <a:fillRect t="-86639" b="-86639"/>
              </a:stretch>
            </a:blipFill>
          </p:spPr>
          <p:txBody>
            <a:bodyPr/>
            <a:p/>
          </p:txBody>
        </p:sp>
        <p:sp>
          <p:nvSpPr>
            <p:cNvPr id="127" name="TextBox 127"/>
            <p:cNvSpPr txBox="1"/>
            <p:nvPr/>
          </p:nvSpPr>
          <p:spPr>
            <a:xfrm>
              <a:off x="0" y="-47625"/>
              <a:ext cx="5541264"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Qwen2.5-VL-3B-Instruct</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28" name="Freeform 128"/>
          <p:cNvSpPr/>
          <p:nvPr/>
        </p:nvSpPr>
        <p:spPr>
          <a:xfrm>
            <a:off x="7472267" y="6237827"/>
            <a:ext cx="4600766" cy="609410"/>
          </a:xfrm>
          <a:custGeom>
            <a:avLst/>
            <a:gdLst/>
            <a:ahLst/>
            <a:cxnLst/>
            <a:rect l="l" t="t" r="r" b="b"/>
            <a:pathLst>
              <a:path w="4600766" h="609410">
                <a:moveTo>
                  <a:pt x="0" y="0"/>
                </a:moveTo>
                <a:lnTo>
                  <a:pt x="4600766" y="0"/>
                </a:lnTo>
                <a:lnTo>
                  <a:pt x="4600766" y="609410"/>
                </a:lnTo>
                <a:lnTo>
                  <a:pt x="0" y="609410"/>
                </a:lnTo>
                <a:lnTo>
                  <a:pt x="0" y="0"/>
                </a:lnTo>
                <a:close/>
              </a:path>
            </a:pathLst>
          </a:custGeom>
          <a:blipFill>
            <a:blip r:embed="rId20">
              <a:extLst>
                <a:ext uri="{96DAC541-7B7A-43D3-8B79-37D633B846F1}">
                  <asvg:svgBlip xmlns:asvg="http://schemas.microsoft.com/office/drawing/2016/SVG/main" r:embed="rId21"/>
                </a:ext>
              </a:extLst>
            </a:blip>
            <a:stretch>
              <a:fillRect l="-85" r="-85"/>
            </a:stretch>
          </a:blipFill>
        </p:spPr>
        <p:txBody>
          <a:bodyPr/>
          <a:p/>
        </p:txBody>
      </p:sp>
      <p:grpSp>
        <p:nvGrpSpPr>
          <p:cNvPr id="129" name="Group 129"/>
          <p:cNvGrpSpPr/>
          <p:nvPr/>
        </p:nvGrpSpPr>
        <p:grpSpPr>
          <a:xfrm rot="0">
            <a:off x="7479411" y="6230684"/>
            <a:ext cx="4586478" cy="609410"/>
            <a:chOff x="0" y="0"/>
            <a:chExt cx="6115304" cy="812546"/>
          </a:xfrm>
        </p:grpSpPr>
        <p:sp>
          <p:nvSpPr>
            <p:cNvPr id="130" name="Freeform 130"/>
            <p:cNvSpPr/>
            <p:nvPr/>
          </p:nvSpPr>
          <p:spPr>
            <a:xfrm>
              <a:off x="0" y="0"/>
              <a:ext cx="6115304" cy="812546"/>
            </a:xfrm>
            <a:custGeom>
              <a:avLst/>
              <a:gdLst/>
              <a:ahLst/>
              <a:cxnLst/>
              <a:rect l="l" t="t" r="r" b="b"/>
              <a:pathLst>
                <a:path w="6115304" h="812546">
                  <a:moveTo>
                    <a:pt x="0" y="0"/>
                  </a:moveTo>
                  <a:lnTo>
                    <a:pt x="6115304" y="0"/>
                  </a:lnTo>
                  <a:lnTo>
                    <a:pt x="6115304" y="812546"/>
                  </a:lnTo>
                  <a:lnTo>
                    <a:pt x="0" y="812546"/>
                  </a:lnTo>
                  <a:close/>
                </a:path>
              </a:pathLst>
            </a:custGeom>
            <a:blipFill>
              <a:blip r:embed="rId4">
                <a:alphaModFix amt="0"/>
              </a:blip>
              <a:stretch>
                <a:fillRect t="-96544" b="-96544"/>
              </a:stretch>
            </a:blipFill>
          </p:spPr>
          <p:txBody>
            <a:bodyPr/>
            <a:p/>
          </p:txBody>
        </p:sp>
      </p:grpSp>
      <p:grpSp>
        <p:nvGrpSpPr>
          <p:cNvPr id="131" name="Group 131"/>
          <p:cNvGrpSpPr/>
          <p:nvPr/>
        </p:nvGrpSpPr>
        <p:grpSpPr>
          <a:xfrm rot="0">
            <a:off x="7479411" y="6216396"/>
            <a:ext cx="4586478" cy="623697"/>
            <a:chOff x="0" y="0"/>
            <a:chExt cx="6115304" cy="831596"/>
          </a:xfrm>
        </p:grpSpPr>
        <p:sp>
          <p:nvSpPr>
            <p:cNvPr id="132" name="Freeform 132"/>
            <p:cNvSpPr/>
            <p:nvPr/>
          </p:nvSpPr>
          <p:spPr>
            <a:xfrm>
              <a:off x="0" y="0"/>
              <a:ext cx="6115304" cy="831597"/>
            </a:xfrm>
            <a:custGeom>
              <a:avLst/>
              <a:gdLst/>
              <a:ahLst/>
              <a:cxnLst/>
              <a:rect l="l" t="t" r="r" b="b"/>
              <a:pathLst>
                <a:path w="6115304" h="831597">
                  <a:moveTo>
                    <a:pt x="0" y="0"/>
                  </a:moveTo>
                  <a:lnTo>
                    <a:pt x="6115304" y="0"/>
                  </a:lnTo>
                  <a:lnTo>
                    <a:pt x="6115304" y="831597"/>
                  </a:lnTo>
                  <a:lnTo>
                    <a:pt x="0" y="831597"/>
                  </a:lnTo>
                  <a:close/>
                </a:path>
              </a:pathLst>
            </a:custGeom>
            <a:blipFill>
              <a:blip r:embed="rId5">
                <a:alphaModFix amt="0"/>
              </a:blip>
              <a:stretch>
                <a:fillRect t="-93286" b="-93286"/>
              </a:stretch>
            </a:blipFill>
          </p:spPr>
          <p:txBody>
            <a:bodyPr/>
            <a:p/>
          </p:txBody>
        </p:sp>
        <p:sp>
          <p:nvSpPr>
            <p:cNvPr id="133" name="TextBox 133"/>
            <p:cNvSpPr txBox="1"/>
            <p:nvPr/>
          </p:nvSpPr>
          <p:spPr>
            <a:xfrm>
              <a:off x="0" y="-19050"/>
              <a:ext cx="6115304" cy="850646"/>
            </a:xfrm>
            <a:prstGeom prst="rect">
              <a:avLst/>
            </a:prstGeom>
          </p:spPr>
          <p:txBody>
            <a:bodyPr lIns="0" tIns="0" rIns="0" bIns="0" rtlCol="0" anchor="ctr"/>
            <a:lstStyle/>
            <a:p>
              <a:pPr algn="ctr">
                <a:lnSpc>
                  <a:spcPts val="1890"/>
                </a:lnSpc>
              </a:pPr>
              <a:r>
                <a:rPr lang="en-US" sz="1575">
                  <a:solidFill>
                    <a:srgbClr val="1F2A37"/>
                  </a:solidFill>
                  <a:latin typeface="Calibri (MS)" panose="020F0502020204030204"/>
                  <a:ea typeface="Calibri (MS)" panose="020F0502020204030204"/>
                  <a:cs typeface="Calibri (MS)" panose="020F0502020204030204"/>
                  <a:sym typeface="Calibri (MS)" panose="020F0502020204030204"/>
                </a:rPr>
                <a:t>Vision encoder (đóng băng)  ·  ảnh → token ảnh</a:t>
              </a:r>
              <a:endParaRPr lang="en-US" sz="1575">
                <a:solidFill>
                  <a:srgbClr val="1F2A37"/>
                </a:solidFill>
                <a:latin typeface="Calibri (MS)" panose="020F0502020204030204"/>
                <a:ea typeface="Calibri (MS)" panose="020F0502020204030204"/>
                <a:cs typeface="Calibri (MS)" panose="020F0502020204030204"/>
                <a:sym typeface="Calibri (MS)" panose="020F0502020204030204"/>
              </a:endParaRPr>
            </a:p>
          </p:txBody>
        </p:sp>
      </p:grpSp>
      <p:sp>
        <p:nvSpPr>
          <p:cNvPr id="134" name="Freeform 134"/>
          <p:cNvSpPr/>
          <p:nvPr/>
        </p:nvSpPr>
        <p:spPr>
          <a:xfrm>
            <a:off x="7468105" y="7029193"/>
            <a:ext cx="4609100" cy="672608"/>
          </a:xfrm>
          <a:custGeom>
            <a:avLst/>
            <a:gdLst/>
            <a:ahLst/>
            <a:cxnLst/>
            <a:rect l="l" t="t" r="r" b="b"/>
            <a:pathLst>
              <a:path w="4609100" h="672608">
                <a:moveTo>
                  <a:pt x="0" y="0"/>
                </a:moveTo>
                <a:lnTo>
                  <a:pt x="4609100" y="0"/>
                </a:lnTo>
                <a:lnTo>
                  <a:pt x="4609100" y="672608"/>
                </a:lnTo>
                <a:lnTo>
                  <a:pt x="0" y="672608"/>
                </a:lnTo>
                <a:lnTo>
                  <a:pt x="0" y="0"/>
                </a:lnTo>
                <a:close/>
              </a:path>
            </a:pathLst>
          </a:custGeom>
          <a:blipFill>
            <a:blip r:embed="rId22">
              <a:extLst>
                <a:ext uri="{96DAC541-7B7A-43D3-8B79-37D633B846F1}">
                  <asvg:svgBlip xmlns:asvg="http://schemas.microsoft.com/office/drawing/2016/SVG/main" r:embed="rId23"/>
                </a:ext>
              </a:extLst>
            </a:blip>
            <a:stretch>
              <a:fillRect t="-261" b="-261"/>
            </a:stretch>
          </a:blipFill>
        </p:spPr>
        <p:txBody>
          <a:bodyPr/>
          <a:p/>
        </p:txBody>
      </p:sp>
      <p:grpSp>
        <p:nvGrpSpPr>
          <p:cNvPr id="135" name="Group 135"/>
          <p:cNvGrpSpPr/>
          <p:nvPr/>
        </p:nvGrpSpPr>
        <p:grpSpPr>
          <a:xfrm rot="0">
            <a:off x="7477030" y="7023830"/>
            <a:ext cx="4591240" cy="669036"/>
            <a:chOff x="0" y="0"/>
            <a:chExt cx="6121654" cy="892048"/>
          </a:xfrm>
        </p:grpSpPr>
        <p:sp>
          <p:nvSpPr>
            <p:cNvPr id="136" name="Freeform 136"/>
            <p:cNvSpPr/>
            <p:nvPr/>
          </p:nvSpPr>
          <p:spPr>
            <a:xfrm>
              <a:off x="0" y="0"/>
              <a:ext cx="6121654" cy="892048"/>
            </a:xfrm>
            <a:custGeom>
              <a:avLst/>
              <a:gdLst/>
              <a:ahLst/>
              <a:cxnLst/>
              <a:rect l="l" t="t" r="r" b="b"/>
              <a:pathLst>
                <a:path w="6121654" h="892048">
                  <a:moveTo>
                    <a:pt x="0" y="0"/>
                  </a:moveTo>
                  <a:lnTo>
                    <a:pt x="6121654" y="0"/>
                  </a:lnTo>
                  <a:lnTo>
                    <a:pt x="6121654" y="892048"/>
                  </a:lnTo>
                  <a:lnTo>
                    <a:pt x="0" y="892048"/>
                  </a:lnTo>
                  <a:close/>
                </a:path>
              </a:pathLst>
            </a:custGeom>
            <a:blipFill>
              <a:blip r:embed="rId4">
                <a:alphaModFix amt="0"/>
              </a:blip>
              <a:stretch>
                <a:fillRect t="-83621" b="-83623"/>
              </a:stretch>
            </a:blipFill>
          </p:spPr>
          <p:txBody>
            <a:bodyPr/>
            <a:p/>
          </p:txBody>
        </p:sp>
      </p:grpSp>
      <p:grpSp>
        <p:nvGrpSpPr>
          <p:cNvPr id="137" name="Group 137"/>
          <p:cNvGrpSpPr/>
          <p:nvPr/>
        </p:nvGrpSpPr>
        <p:grpSpPr>
          <a:xfrm rot="0">
            <a:off x="7477030" y="7009543"/>
            <a:ext cx="4591240" cy="683323"/>
            <a:chOff x="0" y="0"/>
            <a:chExt cx="6121654" cy="911098"/>
          </a:xfrm>
        </p:grpSpPr>
        <p:sp>
          <p:nvSpPr>
            <p:cNvPr id="138" name="Freeform 138"/>
            <p:cNvSpPr/>
            <p:nvPr/>
          </p:nvSpPr>
          <p:spPr>
            <a:xfrm>
              <a:off x="0" y="0"/>
              <a:ext cx="6121653" cy="911098"/>
            </a:xfrm>
            <a:custGeom>
              <a:avLst/>
              <a:gdLst/>
              <a:ahLst/>
              <a:cxnLst/>
              <a:rect l="l" t="t" r="r" b="b"/>
              <a:pathLst>
                <a:path w="6121653" h="911098">
                  <a:moveTo>
                    <a:pt x="0" y="0"/>
                  </a:moveTo>
                  <a:lnTo>
                    <a:pt x="6121653" y="0"/>
                  </a:lnTo>
                  <a:lnTo>
                    <a:pt x="6121653" y="911098"/>
                  </a:lnTo>
                  <a:lnTo>
                    <a:pt x="0" y="911098"/>
                  </a:lnTo>
                  <a:close/>
                </a:path>
              </a:pathLst>
            </a:custGeom>
            <a:blipFill>
              <a:blip r:embed="rId5">
                <a:alphaModFix amt="0"/>
              </a:blip>
              <a:stretch>
                <a:fillRect t="-80919" b="-80919"/>
              </a:stretch>
            </a:blipFill>
          </p:spPr>
          <p:txBody>
            <a:bodyPr/>
            <a:p/>
          </p:txBody>
        </p:sp>
        <p:sp>
          <p:nvSpPr>
            <p:cNvPr id="139" name="TextBox 139"/>
            <p:cNvSpPr txBox="1"/>
            <p:nvPr/>
          </p:nvSpPr>
          <p:spPr>
            <a:xfrm>
              <a:off x="0" y="-19050"/>
              <a:ext cx="6121654" cy="930148"/>
            </a:xfrm>
            <a:prstGeom prst="rect">
              <a:avLst/>
            </a:prstGeom>
          </p:spPr>
          <p:txBody>
            <a:bodyPr lIns="0" tIns="0" rIns="0" bIns="0" rtlCol="0" anchor="ctr"/>
            <a:lstStyle/>
            <a:p>
              <a:pPr algn="ctr">
                <a:lnSpc>
                  <a:spcPts val="1890"/>
                </a:lnSpc>
              </a:pPr>
              <a:r>
                <a:rPr lang="en-US" sz="1575">
                  <a:solidFill>
                    <a:srgbClr val="1F2A37"/>
                  </a:solidFill>
                  <a:latin typeface="Calibri (MS)" panose="020F0502020204030204"/>
                  <a:ea typeface="Calibri (MS)" panose="020F0502020204030204"/>
                  <a:cs typeface="Calibri (MS)" panose="020F0502020204030204"/>
                  <a:sym typeface="Calibri (MS)" panose="020F0502020204030204"/>
                </a:rPr>
                <a:t>LLM 4-bit NF4 (đóng băng)  </a:t>
              </a:r>
              <a:r>
                <a:rPr lang="en-US" sz="1575" b="1">
                  <a:solidFill>
                    <a:srgbClr val="B86E0E"/>
                  </a:solidFill>
                  <a:latin typeface="Calibri (MS) Bold" panose="020F0702030404030204"/>
                  <a:ea typeface="Calibri (MS) Bold" panose="020F0702030404030204"/>
                  <a:cs typeface="Calibri (MS) Bold" panose="020F0702030404030204"/>
                  <a:sym typeface="Calibri (MS) Bold" panose="020F0702030404030204"/>
                </a:rPr>
                <a:t>+ LoRA r = 16 (train)</a:t>
              </a:r>
              <a:endParaRPr lang="en-US" sz="1575" b="1">
                <a:solidFill>
                  <a:srgbClr val="B86E0E"/>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40" name="TextBox 140"/>
          <p:cNvSpPr txBox="1"/>
          <p:nvPr/>
        </p:nvSpPr>
        <p:spPr>
          <a:xfrm>
            <a:off x="7516368" y="7733538"/>
            <a:ext cx="4512564" cy="811530"/>
          </a:xfrm>
          <a:prstGeom prst="rect">
            <a:avLst/>
          </a:prstGeom>
        </p:spPr>
        <p:txBody>
          <a:bodyPr lIns="0" tIns="0" rIns="0" bIns="0" rtlCol="0" anchor="t">
            <a:spAutoFit/>
          </a:bodyPr>
          <a:lstStyle/>
          <a:p>
            <a:pPr algn="l">
              <a:lnSpc>
                <a:spcPts val="1890"/>
              </a:lnSpc>
            </a:pPr>
            <a:r>
              <a:rPr lang="en-US" sz="1575"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a:t>
            </a:r>
            <a:r>
              <a:rPr lang="en-US" sz="1575">
                <a:solidFill>
                  <a:srgbClr val="5B677A"/>
                </a:solidFill>
                <a:latin typeface="Calibri (MS)" panose="020F0502020204030204"/>
                <a:ea typeface="Calibri (MS)" panose="020F0502020204030204"/>
                <a:cs typeface="Calibri (MS)" panose="020F0502020204030204"/>
                <a:sym typeface="Calibri (MS)" panose="020F0502020204030204"/>
              </a:rPr>
              <a:t>loss chỉ trên token đáp án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b="1">
                <a:solidFill>
                  <a:srgbClr val="13294B"/>
                </a:solidFill>
                <a:latin typeface="Calibri (MS) Bold" panose="020F0702030404030204"/>
                <a:ea typeface="Calibri (MS) Bold" panose="020F0702030404030204"/>
                <a:cs typeface="Calibri (MS) Bold" panose="020F0702030404030204"/>
                <a:sym typeface="Calibri (MS) Bold" panose="020F0702030404030204"/>
              </a:rPr>
              <a:t>Suy luận: </a:t>
            </a:r>
            <a:r>
              <a:rPr lang="en-US" sz="1575">
                <a:solidFill>
                  <a:srgbClr val="5B677A"/>
                </a:solidFill>
                <a:latin typeface="Calibri (MS)" panose="020F0502020204030204"/>
                <a:ea typeface="Calibri (MS)" panose="020F0502020204030204"/>
                <a:cs typeface="Calibri (MS)" panose="020F0502020204030204"/>
                <a:sym typeface="Calibri (MS)" panose="020F0502020204030204"/>
              </a:rPr>
              <a:t>greedy, câu trả lời ngắn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141" name="Group 141"/>
          <p:cNvGrpSpPr/>
          <p:nvPr/>
        </p:nvGrpSpPr>
        <p:grpSpPr>
          <a:xfrm rot="0">
            <a:off x="4347439" y="4361155"/>
            <a:ext cx="2963751" cy="3594687"/>
            <a:chOff x="0" y="0"/>
            <a:chExt cx="3951668" cy="4792916"/>
          </a:xfrm>
        </p:grpSpPr>
        <p:sp>
          <p:nvSpPr>
            <p:cNvPr id="142" name="Freeform 142"/>
            <p:cNvSpPr/>
            <p:nvPr/>
          </p:nvSpPr>
          <p:spPr>
            <a:xfrm>
              <a:off x="0" y="0"/>
              <a:ext cx="3951732" cy="4792980"/>
            </a:xfrm>
            <a:custGeom>
              <a:avLst/>
              <a:gdLst/>
              <a:ahLst/>
              <a:cxnLst/>
              <a:rect l="l" t="t" r="r" b="b"/>
              <a:pathLst>
                <a:path w="3951732" h="4792980">
                  <a:moveTo>
                    <a:pt x="0" y="4792980"/>
                  </a:moveTo>
                  <a:lnTo>
                    <a:pt x="3443605" y="4792980"/>
                  </a:lnTo>
                  <a:lnTo>
                    <a:pt x="3443605" y="0"/>
                  </a:lnTo>
                  <a:lnTo>
                    <a:pt x="3951732" y="0"/>
                  </a:lnTo>
                </a:path>
              </a:pathLst>
            </a:custGeom>
            <a:blipFill>
              <a:blip r:embed="rId1">
                <a:alphaModFix amt="0"/>
              </a:blip>
              <a:stretch>
                <a:fillRect l="-105724" r="-105722" b="1"/>
              </a:stretch>
            </a:blipFill>
            <a:ln w="33338" cap="sq">
              <a:solidFill>
                <a:srgbClr val="1C7293"/>
              </a:solidFill>
              <a:prstDash val="solid"/>
              <a:miter/>
            </a:ln>
          </p:spPr>
          <p:txBody>
            <a:bodyPr/>
            <a:p/>
          </p:txBody>
        </p:sp>
      </p:grpSp>
      <p:sp>
        <p:nvSpPr>
          <p:cNvPr id="143" name="TextBox 143"/>
          <p:cNvSpPr txBox="1"/>
          <p:nvPr/>
        </p:nvSpPr>
        <p:spPr>
          <a:xfrm>
            <a:off x="4828032" y="6799707"/>
            <a:ext cx="2057400" cy="387477"/>
          </a:xfrm>
          <a:prstGeom prst="rect">
            <a:avLst/>
          </a:prstGeom>
        </p:spPr>
        <p:txBody>
          <a:bodyPr lIns="0" tIns="0" rIns="0" bIns="0" rtlCol="0" anchor="t">
            <a:spAutoFit/>
          </a:bodyPr>
          <a:lstStyle/>
          <a:p>
            <a:pPr algn="l">
              <a:lnSpc>
                <a:spcPts val="1530"/>
              </a:lnSpc>
            </a:pPr>
            <a:r>
              <a:rPr lang="en-US" sz="1275">
                <a:solidFill>
                  <a:srgbClr val="B86E0E"/>
                </a:solidFill>
                <a:latin typeface="Calibri (MS)" panose="020F0502020204030204"/>
                <a:ea typeface="Calibri (MS)" panose="020F0502020204030204"/>
                <a:cs typeface="Calibri (MS)" panose="020F0502020204030204"/>
                <a:sym typeface="Calibri (MS)" panose="020F0502020204030204"/>
              </a:rPr>
              <a:t>chữ OCR → prompt</a:t>
            </a:r>
            <a:endParaRPr lang="en-US" sz="1275">
              <a:solidFill>
                <a:srgbClr val="B86E0E"/>
              </a:solidFill>
              <a:latin typeface="Calibri (MS)" panose="020F0502020204030204"/>
              <a:ea typeface="Calibri (MS)" panose="020F0502020204030204"/>
              <a:cs typeface="Calibri (MS)" panose="020F0502020204030204"/>
              <a:sym typeface="Calibri (MS)" panose="020F0502020204030204"/>
            </a:endParaRPr>
          </a:p>
        </p:txBody>
      </p:sp>
      <p:grpSp>
        <p:nvGrpSpPr>
          <p:cNvPr id="144" name="Group 144"/>
          <p:cNvGrpSpPr/>
          <p:nvPr/>
        </p:nvGrpSpPr>
        <p:grpSpPr>
          <a:xfrm rot="0">
            <a:off x="12755880" y="3017520"/>
            <a:ext cx="4704588" cy="5952744"/>
            <a:chOff x="0" y="0"/>
            <a:chExt cx="6272784" cy="7936992"/>
          </a:xfrm>
        </p:grpSpPr>
        <p:sp>
          <p:nvSpPr>
            <p:cNvPr id="145" name="Freeform 145"/>
            <p:cNvSpPr/>
            <p:nvPr/>
          </p:nvSpPr>
          <p:spPr>
            <a:xfrm>
              <a:off x="0" y="0"/>
              <a:ext cx="6272784" cy="7936992"/>
            </a:xfrm>
            <a:custGeom>
              <a:avLst/>
              <a:gdLst/>
              <a:ahLst/>
              <a:cxnLst/>
              <a:rect l="l" t="t" r="r" b="b"/>
              <a:pathLst>
                <a:path w="6272784" h="7936992">
                  <a:moveTo>
                    <a:pt x="0" y="250952"/>
                  </a:moveTo>
                  <a:cubicBezTo>
                    <a:pt x="0" y="112395"/>
                    <a:pt x="112395" y="0"/>
                    <a:pt x="250952" y="0"/>
                  </a:cubicBezTo>
                  <a:lnTo>
                    <a:pt x="6021832" y="0"/>
                  </a:lnTo>
                  <a:cubicBezTo>
                    <a:pt x="6160389" y="0"/>
                    <a:pt x="6272784" y="112395"/>
                    <a:pt x="6272784" y="250952"/>
                  </a:cubicBezTo>
                  <a:lnTo>
                    <a:pt x="6272784" y="7686040"/>
                  </a:lnTo>
                  <a:cubicBezTo>
                    <a:pt x="6272784" y="7824597"/>
                    <a:pt x="6160389" y="7936992"/>
                    <a:pt x="6021832" y="7936992"/>
                  </a:cubicBezTo>
                  <a:lnTo>
                    <a:pt x="250952" y="7936992"/>
                  </a:lnTo>
                  <a:cubicBezTo>
                    <a:pt x="112395" y="7936992"/>
                    <a:pt x="0" y="7824597"/>
                    <a:pt x="0" y="7686040"/>
                  </a:cubicBezTo>
                  <a:close/>
                </a:path>
              </a:pathLst>
            </a:custGeom>
            <a:solidFill>
              <a:srgbClr val="E7F0F3"/>
            </a:solidFill>
          </p:spPr>
          <p:txBody>
            <a:bodyPr/>
            <a:p/>
          </p:txBody>
        </p:sp>
      </p:grpSp>
      <p:grpSp>
        <p:nvGrpSpPr>
          <p:cNvPr id="146" name="Group 146"/>
          <p:cNvGrpSpPr/>
          <p:nvPr/>
        </p:nvGrpSpPr>
        <p:grpSpPr>
          <a:xfrm rot="0">
            <a:off x="13002768" y="3113532"/>
            <a:ext cx="4293108" cy="411480"/>
            <a:chOff x="0" y="0"/>
            <a:chExt cx="5724144" cy="548640"/>
          </a:xfrm>
        </p:grpSpPr>
        <p:sp>
          <p:nvSpPr>
            <p:cNvPr id="147" name="Freeform 147"/>
            <p:cNvSpPr/>
            <p:nvPr/>
          </p:nvSpPr>
          <p:spPr>
            <a:xfrm>
              <a:off x="0" y="0"/>
              <a:ext cx="5724144" cy="548640"/>
            </a:xfrm>
            <a:custGeom>
              <a:avLst/>
              <a:gdLst/>
              <a:ahLst/>
              <a:cxnLst/>
              <a:rect l="l" t="t" r="r" b="b"/>
              <a:pathLst>
                <a:path w="5724144" h="548640">
                  <a:moveTo>
                    <a:pt x="0" y="0"/>
                  </a:moveTo>
                  <a:lnTo>
                    <a:pt x="5724144" y="0"/>
                  </a:lnTo>
                  <a:lnTo>
                    <a:pt x="5724144" y="548640"/>
                  </a:lnTo>
                  <a:lnTo>
                    <a:pt x="0" y="548640"/>
                  </a:lnTo>
                  <a:close/>
                </a:path>
              </a:pathLst>
            </a:custGeom>
            <a:blipFill>
              <a:blip r:embed="rId1">
                <a:alphaModFix amt="0"/>
              </a:blip>
              <a:stretch>
                <a:fillRect t="-153152" b="-153152"/>
              </a:stretch>
            </a:blipFill>
          </p:spPr>
          <p:txBody>
            <a:bodyPr/>
            <a:p/>
          </p:txBody>
        </p:sp>
      </p:grpSp>
      <p:grpSp>
        <p:nvGrpSpPr>
          <p:cNvPr id="148" name="Group 148"/>
          <p:cNvGrpSpPr/>
          <p:nvPr/>
        </p:nvGrpSpPr>
        <p:grpSpPr>
          <a:xfrm rot="0">
            <a:off x="13002768" y="3084957"/>
            <a:ext cx="4293108" cy="440055"/>
            <a:chOff x="0" y="0"/>
            <a:chExt cx="5724144" cy="586740"/>
          </a:xfrm>
        </p:grpSpPr>
        <p:sp>
          <p:nvSpPr>
            <p:cNvPr id="149" name="Freeform 149"/>
            <p:cNvSpPr/>
            <p:nvPr/>
          </p:nvSpPr>
          <p:spPr>
            <a:xfrm>
              <a:off x="0" y="0"/>
              <a:ext cx="5724144" cy="586740"/>
            </a:xfrm>
            <a:custGeom>
              <a:avLst/>
              <a:gdLst/>
              <a:ahLst/>
              <a:cxnLst/>
              <a:rect l="l" t="t" r="r" b="b"/>
              <a:pathLst>
                <a:path w="5724144" h="586740">
                  <a:moveTo>
                    <a:pt x="0" y="0"/>
                  </a:moveTo>
                  <a:lnTo>
                    <a:pt x="5724144" y="0"/>
                  </a:lnTo>
                  <a:lnTo>
                    <a:pt x="5724144" y="586740"/>
                  </a:lnTo>
                  <a:lnTo>
                    <a:pt x="0" y="586740"/>
                  </a:lnTo>
                  <a:close/>
                </a:path>
              </a:pathLst>
            </a:custGeom>
            <a:blipFill>
              <a:blip r:embed="rId4">
                <a:alphaModFix amt="0"/>
              </a:blip>
              <a:stretch>
                <a:fillRect t="-139961" b="-139961"/>
              </a:stretch>
            </a:blipFill>
          </p:spPr>
          <p:txBody>
            <a:bodyPr/>
            <a:p/>
          </p:txBody>
        </p:sp>
      </p:grpSp>
      <p:grpSp>
        <p:nvGrpSpPr>
          <p:cNvPr id="150" name="Group 150"/>
          <p:cNvGrpSpPr/>
          <p:nvPr/>
        </p:nvGrpSpPr>
        <p:grpSpPr>
          <a:xfrm rot="0">
            <a:off x="13002768" y="3056382"/>
            <a:ext cx="4293108" cy="468630"/>
            <a:chOff x="0" y="0"/>
            <a:chExt cx="5724144" cy="624840"/>
          </a:xfrm>
        </p:grpSpPr>
        <p:sp>
          <p:nvSpPr>
            <p:cNvPr id="151" name="Freeform 151"/>
            <p:cNvSpPr/>
            <p:nvPr/>
          </p:nvSpPr>
          <p:spPr>
            <a:xfrm>
              <a:off x="0" y="0"/>
              <a:ext cx="5724144" cy="624840"/>
            </a:xfrm>
            <a:custGeom>
              <a:avLst/>
              <a:gdLst/>
              <a:ahLst/>
              <a:cxnLst/>
              <a:rect l="l" t="t" r="r" b="b"/>
              <a:pathLst>
                <a:path w="5724144" h="624840">
                  <a:moveTo>
                    <a:pt x="0" y="0"/>
                  </a:moveTo>
                  <a:lnTo>
                    <a:pt x="5724144" y="0"/>
                  </a:lnTo>
                  <a:lnTo>
                    <a:pt x="5724144" y="624840"/>
                  </a:lnTo>
                  <a:lnTo>
                    <a:pt x="0" y="624840"/>
                  </a:lnTo>
                  <a:close/>
                </a:path>
              </a:pathLst>
            </a:custGeom>
            <a:blipFill>
              <a:blip r:embed="rId5">
                <a:alphaModFix amt="0"/>
              </a:blip>
              <a:stretch>
                <a:fillRect t="-128501" b="-128501"/>
              </a:stretch>
            </a:blipFill>
          </p:spPr>
          <p:txBody>
            <a:bodyPr/>
            <a:p/>
          </p:txBody>
        </p:sp>
        <p:sp>
          <p:nvSpPr>
            <p:cNvPr id="152" name="TextBox 152"/>
            <p:cNvSpPr txBox="1"/>
            <p:nvPr/>
          </p:nvSpPr>
          <p:spPr>
            <a:xfrm>
              <a:off x="0" y="-38100"/>
              <a:ext cx="5724144" cy="662940"/>
            </a:xfrm>
            <a:prstGeom prst="rect">
              <a:avLst/>
            </a:prstGeom>
          </p:spPr>
          <p:txBody>
            <a:bodyPr lIns="0" tIns="0" rIns="0" bIns="0" rtlCol="0" anchor="ctr"/>
            <a:lstStyle/>
            <a:p>
              <a:pPr algn="l">
                <a:lnSpc>
                  <a:spcPts val="1800"/>
                </a:lnSpc>
              </a:pPr>
              <a:r>
                <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rPr>
                <a:t>C · ĐÁNH GIÁ &amp; SẢN PHẨM</a:t>
              </a:r>
              <a:endParaRPr lang="en-US" sz="15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53" name="Freeform 153"/>
          <p:cNvSpPr/>
          <p:nvPr/>
        </p:nvSpPr>
        <p:spPr>
          <a:xfrm>
            <a:off x="12940789" y="3709921"/>
            <a:ext cx="4334780" cy="2647712"/>
          </a:xfrm>
          <a:custGeom>
            <a:avLst/>
            <a:gdLst/>
            <a:ahLst/>
            <a:cxnLst/>
            <a:rect l="l" t="t" r="r" b="b"/>
            <a:pathLst>
              <a:path w="4334780" h="2647712">
                <a:moveTo>
                  <a:pt x="0" y="0"/>
                </a:moveTo>
                <a:lnTo>
                  <a:pt x="4334780" y="0"/>
                </a:lnTo>
                <a:lnTo>
                  <a:pt x="4334780" y="2647712"/>
                </a:lnTo>
                <a:lnTo>
                  <a:pt x="0" y="2647712"/>
                </a:lnTo>
                <a:lnTo>
                  <a:pt x="0" y="0"/>
                </a:lnTo>
                <a:close/>
              </a:path>
            </a:pathLst>
          </a:custGeom>
          <a:blipFill>
            <a:blip r:embed="rId24">
              <a:extLst>
                <a:ext uri="{96DAC541-7B7A-43D3-8B79-37D633B846F1}">
                  <asvg:svgBlip xmlns:asvg="http://schemas.microsoft.com/office/drawing/2016/SVG/main" r:embed="rId25"/>
                </a:ext>
              </a:extLst>
            </a:blip>
            <a:stretch>
              <a:fillRect l="-94" r="-94"/>
            </a:stretch>
          </a:blipFill>
        </p:spPr>
        <p:txBody>
          <a:bodyPr/>
          <a:p/>
        </p:txBody>
      </p:sp>
      <p:sp>
        <p:nvSpPr>
          <p:cNvPr id="154" name="Freeform 154"/>
          <p:cNvSpPr/>
          <p:nvPr/>
        </p:nvSpPr>
        <p:spPr>
          <a:xfrm>
            <a:off x="13109543" y="3878675"/>
            <a:ext cx="499682" cy="499681"/>
          </a:xfrm>
          <a:custGeom>
            <a:avLst/>
            <a:gdLst/>
            <a:ahLst/>
            <a:cxnLst/>
            <a:rect l="l" t="t" r="r" b="b"/>
            <a:pathLst>
              <a:path w="499682" h="499681">
                <a:moveTo>
                  <a:pt x="0" y="0"/>
                </a:moveTo>
                <a:lnTo>
                  <a:pt x="499682" y="0"/>
                </a:lnTo>
                <a:lnTo>
                  <a:pt x="499682" y="499682"/>
                </a:lnTo>
                <a:lnTo>
                  <a:pt x="0" y="499682"/>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txBody>
          <a:bodyPr/>
          <a:p/>
        </p:txBody>
      </p:sp>
      <p:grpSp>
        <p:nvGrpSpPr>
          <p:cNvPr id="155" name="Group 155"/>
          <p:cNvGrpSpPr/>
          <p:nvPr/>
        </p:nvGrpSpPr>
        <p:grpSpPr>
          <a:xfrm rot="0">
            <a:off x="13116687" y="3857244"/>
            <a:ext cx="485394" cy="513969"/>
            <a:chOff x="0" y="0"/>
            <a:chExt cx="647192" cy="685292"/>
          </a:xfrm>
        </p:grpSpPr>
        <p:sp>
          <p:nvSpPr>
            <p:cNvPr id="156" name="Freeform 156"/>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157" name="Group 157"/>
          <p:cNvGrpSpPr/>
          <p:nvPr/>
        </p:nvGrpSpPr>
        <p:grpSpPr>
          <a:xfrm rot="0">
            <a:off x="13116687" y="3828669"/>
            <a:ext cx="485394" cy="542544"/>
            <a:chOff x="0" y="0"/>
            <a:chExt cx="647192" cy="723392"/>
          </a:xfrm>
        </p:grpSpPr>
        <p:sp>
          <p:nvSpPr>
            <p:cNvPr id="158" name="Freeform 158"/>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159" name="TextBox 159"/>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7</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60" name="Group 160"/>
          <p:cNvGrpSpPr/>
          <p:nvPr/>
        </p:nvGrpSpPr>
        <p:grpSpPr>
          <a:xfrm rot="0">
            <a:off x="13702284" y="3867912"/>
            <a:ext cx="3442716" cy="521208"/>
            <a:chOff x="0" y="0"/>
            <a:chExt cx="4590288" cy="694944"/>
          </a:xfrm>
        </p:grpSpPr>
        <p:sp>
          <p:nvSpPr>
            <p:cNvPr id="161" name="Freeform 161"/>
            <p:cNvSpPr/>
            <p:nvPr/>
          </p:nvSpPr>
          <p:spPr>
            <a:xfrm>
              <a:off x="0" y="0"/>
              <a:ext cx="4590288" cy="694944"/>
            </a:xfrm>
            <a:custGeom>
              <a:avLst/>
              <a:gdLst/>
              <a:ahLst/>
              <a:cxnLst/>
              <a:rect l="l" t="t" r="r" b="b"/>
              <a:pathLst>
                <a:path w="4590288" h="694944">
                  <a:moveTo>
                    <a:pt x="0" y="0"/>
                  </a:moveTo>
                  <a:lnTo>
                    <a:pt x="4590288" y="0"/>
                  </a:lnTo>
                  <a:lnTo>
                    <a:pt x="4590288" y="694944"/>
                  </a:lnTo>
                  <a:lnTo>
                    <a:pt x="0" y="694944"/>
                  </a:lnTo>
                  <a:close/>
                </a:path>
              </a:pathLst>
            </a:custGeom>
            <a:blipFill>
              <a:blip r:embed="rId1">
                <a:alphaModFix amt="0"/>
              </a:blip>
              <a:stretch>
                <a:fillRect t="-78614" b="-78612"/>
              </a:stretch>
            </a:blipFill>
          </p:spPr>
          <p:txBody>
            <a:bodyPr/>
            <a:p/>
          </p:txBody>
        </p:sp>
      </p:grpSp>
      <p:grpSp>
        <p:nvGrpSpPr>
          <p:cNvPr id="162" name="Group 162"/>
          <p:cNvGrpSpPr/>
          <p:nvPr/>
        </p:nvGrpSpPr>
        <p:grpSpPr>
          <a:xfrm rot="0">
            <a:off x="13702284" y="3832193"/>
            <a:ext cx="3442716" cy="556927"/>
            <a:chOff x="0" y="0"/>
            <a:chExt cx="4590288" cy="742569"/>
          </a:xfrm>
        </p:grpSpPr>
        <p:sp>
          <p:nvSpPr>
            <p:cNvPr id="163" name="Freeform 163"/>
            <p:cNvSpPr/>
            <p:nvPr/>
          </p:nvSpPr>
          <p:spPr>
            <a:xfrm>
              <a:off x="0" y="0"/>
              <a:ext cx="4590288" cy="742569"/>
            </a:xfrm>
            <a:custGeom>
              <a:avLst/>
              <a:gdLst/>
              <a:ahLst/>
              <a:cxnLst/>
              <a:rect l="l" t="t" r="r" b="b"/>
              <a:pathLst>
                <a:path w="4590288" h="742569">
                  <a:moveTo>
                    <a:pt x="0" y="0"/>
                  </a:moveTo>
                  <a:lnTo>
                    <a:pt x="4590288" y="0"/>
                  </a:lnTo>
                  <a:lnTo>
                    <a:pt x="4590288" y="742569"/>
                  </a:lnTo>
                  <a:lnTo>
                    <a:pt x="0" y="742569"/>
                  </a:lnTo>
                  <a:close/>
                </a:path>
              </a:pathLst>
            </a:custGeom>
            <a:blipFill>
              <a:blip r:embed="rId4">
                <a:alphaModFix amt="0"/>
              </a:blip>
              <a:stretch>
                <a:fillRect t="-70365" b="-70364"/>
              </a:stretch>
            </a:blipFill>
          </p:spPr>
          <p:txBody>
            <a:bodyPr/>
            <a:p/>
          </p:txBody>
        </p:sp>
      </p:grpSp>
      <p:grpSp>
        <p:nvGrpSpPr>
          <p:cNvPr id="164" name="Group 164"/>
          <p:cNvGrpSpPr/>
          <p:nvPr/>
        </p:nvGrpSpPr>
        <p:grpSpPr>
          <a:xfrm rot="0">
            <a:off x="13702284" y="3796474"/>
            <a:ext cx="3442716" cy="592646"/>
            <a:chOff x="0" y="0"/>
            <a:chExt cx="4590288" cy="790194"/>
          </a:xfrm>
        </p:grpSpPr>
        <p:sp>
          <p:nvSpPr>
            <p:cNvPr id="165" name="Freeform 165"/>
            <p:cNvSpPr/>
            <p:nvPr/>
          </p:nvSpPr>
          <p:spPr>
            <a:xfrm>
              <a:off x="0" y="0"/>
              <a:ext cx="4590288" cy="790194"/>
            </a:xfrm>
            <a:custGeom>
              <a:avLst/>
              <a:gdLst/>
              <a:ahLst/>
              <a:cxnLst/>
              <a:rect l="l" t="t" r="r" b="b"/>
              <a:pathLst>
                <a:path w="4590288" h="790194">
                  <a:moveTo>
                    <a:pt x="0" y="0"/>
                  </a:moveTo>
                  <a:lnTo>
                    <a:pt x="4590288" y="0"/>
                  </a:lnTo>
                  <a:lnTo>
                    <a:pt x="4590288" y="790194"/>
                  </a:lnTo>
                  <a:lnTo>
                    <a:pt x="0" y="790194"/>
                  </a:lnTo>
                  <a:close/>
                </a:path>
              </a:pathLst>
            </a:custGeom>
            <a:blipFill>
              <a:blip r:embed="rId5">
                <a:alphaModFix amt="0"/>
              </a:blip>
              <a:stretch>
                <a:fillRect t="-63189" b="-63189"/>
              </a:stretch>
            </a:blipFill>
          </p:spPr>
          <p:txBody>
            <a:bodyPr/>
            <a:p/>
          </p:txBody>
        </p:sp>
        <p:sp>
          <p:nvSpPr>
            <p:cNvPr id="166" name="TextBox 166"/>
            <p:cNvSpPr txBox="1"/>
            <p:nvPr/>
          </p:nvSpPr>
          <p:spPr>
            <a:xfrm>
              <a:off x="0" y="-47625"/>
              <a:ext cx="4590288"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Chấm &amp; phân tích</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67" name="TextBox 167"/>
          <p:cNvSpPr txBox="1"/>
          <p:nvPr/>
        </p:nvSpPr>
        <p:spPr>
          <a:xfrm>
            <a:off x="13153644" y="4386834"/>
            <a:ext cx="3936492" cy="1867662"/>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so với đáp án chuẩn sau cùng một bước chuẩn hoá</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EM · VQA-Acc · ANLS (+F1)</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hallucination; lỗi V1–V4</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log seed, VRAM, thời gian</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sp>
        <p:nvSpPr>
          <p:cNvPr id="168" name="Freeform 168"/>
          <p:cNvSpPr/>
          <p:nvPr/>
        </p:nvSpPr>
        <p:spPr>
          <a:xfrm>
            <a:off x="12940789" y="6837169"/>
            <a:ext cx="4334780" cy="1769888"/>
          </a:xfrm>
          <a:custGeom>
            <a:avLst/>
            <a:gdLst/>
            <a:ahLst/>
            <a:cxnLst/>
            <a:rect l="l" t="t" r="r" b="b"/>
            <a:pathLst>
              <a:path w="4334780" h="1769888">
                <a:moveTo>
                  <a:pt x="0" y="0"/>
                </a:moveTo>
                <a:lnTo>
                  <a:pt x="4334780" y="0"/>
                </a:lnTo>
                <a:lnTo>
                  <a:pt x="4334780" y="1769888"/>
                </a:lnTo>
                <a:lnTo>
                  <a:pt x="0" y="1769888"/>
                </a:lnTo>
                <a:lnTo>
                  <a:pt x="0" y="0"/>
                </a:lnTo>
                <a:close/>
              </a:path>
            </a:pathLst>
          </a:custGeom>
          <a:blipFill>
            <a:blip r:embed="rId28">
              <a:extLst>
                <a:ext uri="{96DAC541-7B7A-43D3-8B79-37D633B846F1}">
                  <asvg:svgBlip xmlns:asvg="http://schemas.microsoft.com/office/drawing/2016/SVG/main" r:embed="rId29"/>
                </a:ext>
              </a:extLst>
            </a:blip>
            <a:stretch>
              <a:fillRect l="-49" r="-49"/>
            </a:stretch>
          </a:blipFill>
        </p:spPr>
        <p:txBody>
          <a:bodyPr/>
          <a:p/>
        </p:txBody>
      </p:sp>
      <p:sp>
        <p:nvSpPr>
          <p:cNvPr id="169" name="Freeform 169"/>
          <p:cNvSpPr/>
          <p:nvPr/>
        </p:nvSpPr>
        <p:spPr>
          <a:xfrm>
            <a:off x="13109543" y="7005923"/>
            <a:ext cx="499682" cy="499682"/>
          </a:xfrm>
          <a:custGeom>
            <a:avLst/>
            <a:gdLst/>
            <a:ahLst/>
            <a:cxnLst/>
            <a:rect l="l" t="t" r="r" b="b"/>
            <a:pathLst>
              <a:path w="499682" h="499682">
                <a:moveTo>
                  <a:pt x="0" y="0"/>
                </a:moveTo>
                <a:lnTo>
                  <a:pt x="499682" y="0"/>
                </a:lnTo>
                <a:lnTo>
                  <a:pt x="499682" y="499682"/>
                </a:lnTo>
                <a:lnTo>
                  <a:pt x="0" y="499682"/>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txBody>
          <a:bodyPr/>
          <a:p/>
        </p:txBody>
      </p:sp>
      <p:grpSp>
        <p:nvGrpSpPr>
          <p:cNvPr id="170" name="Group 170"/>
          <p:cNvGrpSpPr/>
          <p:nvPr/>
        </p:nvGrpSpPr>
        <p:grpSpPr>
          <a:xfrm rot="0">
            <a:off x="13116687" y="6984492"/>
            <a:ext cx="485394" cy="513969"/>
            <a:chOff x="0" y="0"/>
            <a:chExt cx="647192" cy="685292"/>
          </a:xfrm>
        </p:grpSpPr>
        <p:sp>
          <p:nvSpPr>
            <p:cNvPr id="171" name="Freeform 171"/>
            <p:cNvSpPr/>
            <p:nvPr/>
          </p:nvSpPr>
          <p:spPr>
            <a:xfrm>
              <a:off x="0" y="0"/>
              <a:ext cx="647192" cy="685292"/>
            </a:xfrm>
            <a:custGeom>
              <a:avLst/>
              <a:gdLst/>
              <a:ahLst/>
              <a:cxnLst/>
              <a:rect l="l" t="t" r="r" b="b"/>
              <a:pathLst>
                <a:path w="647192" h="685292">
                  <a:moveTo>
                    <a:pt x="0" y="0"/>
                  </a:moveTo>
                  <a:lnTo>
                    <a:pt x="647192" y="0"/>
                  </a:lnTo>
                  <a:lnTo>
                    <a:pt x="647192" y="685292"/>
                  </a:lnTo>
                  <a:lnTo>
                    <a:pt x="0" y="685292"/>
                  </a:lnTo>
                  <a:close/>
                </a:path>
              </a:pathLst>
            </a:custGeom>
            <a:blipFill>
              <a:blip r:embed="rId4">
                <a:alphaModFix amt="0"/>
              </a:blip>
              <a:stretch>
                <a:fillRect l="-85951" r="-85951"/>
              </a:stretch>
            </a:blipFill>
          </p:spPr>
          <p:txBody>
            <a:bodyPr/>
            <a:p/>
          </p:txBody>
        </p:sp>
      </p:grpSp>
      <p:grpSp>
        <p:nvGrpSpPr>
          <p:cNvPr id="172" name="Group 172"/>
          <p:cNvGrpSpPr/>
          <p:nvPr/>
        </p:nvGrpSpPr>
        <p:grpSpPr>
          <a:xfrm rot="0">
            <a:off x="13116687" y="6955917"/>
            <a:ext cx="485394" cy="542544"/>
            <a:chOff x="0" y="0"/>
            <a:chExt cx="647192" cy="723392"/>
          </a:xfrm>
        </p:grpSpPr>
        <p:sp>
          <p:nvSpPr>
            <p:cNvPr id="173" name="Freeform 173"/>
            <p:cNvSpPr/>
            <p:nvPr/>
          </p:nvSpPr>
          <p:spPr>
            <a:xfrm>
              <a:off x="0" y="0"/>
              <a:ext cx="647192" cy="723392"/>
            </a:xfrm>
            <a:custGeom>
              <a:avLst/>
              <a:gdLst/>
              <a:ahLst/>
              <a:cxnLst/>
              <a:rect l="l" t="t" r="r" b="b"/>
              <a:pathLst>
                <a:path w="647192" h="723392">
                  <a:moveTo>
                    <a:pt x="0" y="0"/>
                  </a:moveTo>
                  <a:lnTo>
                    <a:pt x="647192" y="0"/>
                  </a:lnTo>
                  <a:lnTo>
                    <a:pt x="647192" y="723392"/>
                  </a:lnTo>
                  <a:lnTo>
                    <a:pt x="0" y="723392"/>
                  </a:lnTo>
                  <a:close/>
                </a:path>
              </a:pathLst>
            </a:custGeom>
            <a:blipFill>
              <a:blip r:embed="rId5">
                <a:alphaModFix amt="0"/>
              </a:blip>
              <a:stretch>
                <a:fillRect l="-93409" r="-93409"/>
              </a:stretch>
            </a:blipFill>
          </p:spPr>
          <p:txBody>
            <a:bodyPr/>
            <a:p/>
          </p:txBody>
        </p:sp>
        <p:sp>
          <p:nvSpPr>
            <p:cNvPr id="174" name="TextBox 174"/>
            <p:cNvSpPr txBox="1"/>
            <p:nvPr/>
          </p:nvSpPr>
          <p:spPr>
            <a:xfrm>
              <a:off x="0" y="-38100"/>
              <a:ext cx="647192" cy="761492"/>
            </a:xfrm>
            <a:prstGeom prst="rect">
              <a:avLst/>
            </a:prstGeom>
          </p:spPr>
          <p:txBody>
            <a:bodyPr lIns="0" tIns="0" rIns="0" bIns="0" rtlCol="0" anchor="ctr"/>
            <a:lstStyle/>
            <a:p>
              <a:pPr algn="ctr">
                <a:lnSpc>
                  <a:spcPts val="2160"/>
                </a:lnSpc>
              </a:pPr>
              <a:r>
                <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rPr>
                <a:t>8</a:t>
              </a:r>
              <a:endParaRPr lang="en-US" sz="18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75" name="Group 175"/>
          <p:cNvGrpSpPr/>
          <p:nvPr/>
        </p:nvGrpSpPr>
        <p:grpSpPr>
          <a:xfrm rot="0">
            <a:off x="13702284" y="6995160"/>
            <a:ext cx="3442716" cy="521208"/>
            <a:chOff x="0" y="0"/>
            <a:chExt cx="4590288" cy="694944"/>
          </a:xfrm>
        </p:grpSpPr>
        <p:sp>
          <p:nvSpPr>
            <p:cNvPr id="176" name="Freeform 176"/>
            <p:cNvSpPr/>
            <p:nvPr/>
          </p:nvSpPr>
          <p:spPr>
            <a:xfrm>
              <a:off x="0" y="0"/>
              <a:ext cx="4590288" cy="694944"/>
            </a:xfrm>
            <a:custGeom>
              <a:avLst/>
              <a:gdLst/>
              <a:ahLst/>
              <a:cxnLst/>
              <a:rect l="l" t="t" r="r" b="b"/>
              <a:pathLst>
                <a:path w="4590288" h="694944">
                  <a:moveTo>
                    <a:pt x="0" y="0"/>
                  </a:moveTo>
                  <a:lnTo>
                    <a:pt x="4590288" y="0"/>
                  </a:lnTo>
                  <a:lnTo>
                    <a:pt x="4590288" y="694944"/>
                  </a:lnTo>
                  <a:lnTo>
                    <a:pt x="0" y="694944"/>
                  </a:lnTo>
                  <a:close/>
                </a:path>
              </a:pathLst>
            </a:custGeom>
            <a:blipFill>
              <a:blip r:embed="rId1">
                <a:alphaModFix amt="0"/>
              </a:blip>
              <a:stretch>
                <a:fillRect t="-78614" b="-78612"/>
              </a:stretch>
            </a:blipFill>
          </p:spPr>
          <p:txBody>
            <a:bodyPr/>
            <a:p/>
          </p:txBody>
        </p:sp>
      </p:grpSp>
      <p:grpSp>
        <p:nvGrpSpPr>
          <p:cNvPr id="177" name="Group 177"/>
          <p:cNvGrpSpPr/>
          <p:nvPr/>
        </p:nvGrpSpPr>
        <p:grpSpPr>
          <a:xfrm rot="0">
            <a:off x="13702284" y="6959441"/>
            <a:ext cx="3442716" cy="556927"/>
            <a:chOff x="0" y="0"/>
            <a:chExt cx="4590288" cy="742569"/>
          </a:xfrm>
        </p:grpSpPr>
        <p:sp>
          <p:nvSpPr>
            <p:cNvPr id="178" name="Freeform 178"/>
            <p:cNvSpPr/>
            <p:nvPr/>
          </p:nvSpPr>
          <p:spPr>
            <a:xfrm>
              <a:off x="0" y="0"/>
              <a:ext cx="4590288" cy="742569"/>
            </a:xfrm>
            <a:custGeom>
              <a:avLst/>
              <a:gdLst/>
              <a:ahLst/>
              <a:cxnLst/>
              <a:rect l="l" t="t" r="r" b="b"/>
              <a:pathLst>
                <a:path w="4590288" h="742569">
                  <a:moveTo>
                    <a:pt x="0" y="0"/>
                  </a:moveTo>
                  <a:lnTo>
                    <a:pt x="4590288" y="0"/>
                  </a:lnTo>
                  <a:lnTo>
                    <a:pt x="4590288" y="742569"/>
                  </a:lnTo>
                  <a:lnTo>
                    <a:pt x="0" y="742569"/>
                  </a:lnTo>
                  <a:close/>
                </a:path>
              </a:pathLst>
            </a:custGeom>
            <a:blipFill>
              <a:blip r:embed="rId4">
                <a:alphaModFix amt="0"/>
              </a:blip>
              <a:stretch>
                <a:fillRect t="-70365" b="-70364"/>
              </a:stretch>
            </a:blipFill>
          </p:spPr>
          <p:txBody>
            <a:bodyPr/>
            <a:p/>
          </p:txBody>
        </p:sp>
      </p:grpSp>
      <p:grpSp>
        <p:nvGrpSpPr>
          <p:cNvPr id="179" name="Group 179"/>
          <p:cNvGrpSpPr/>
          <p:nvPr/>
        </p:nvGrpSpPr>
        <p:grpSpPr>
          <a:xfrm rot="0">
            <a:off x="13702284" y="6923722"/>
            <a:ext cx="3442716" cy="592646"/>
            <a:chOff x="0" y="0"/>
            <a:chExt cx="4590288" cy="790194"/>
          </a:xfrm>
        </p:grpSpPr>
        <p:sp>
          <p:nvSpPr>
            <p:cNvPr id="180" name="Freeform 180"/>
            <p:cNvSpPr/>
            <p:nvPr/>
          </p:nvSpPr>
          <p:spPr>
            <a:xfrm>
              <a:off x="0" y="0"/>
              <a:ext cx="4590288" cy="790194"/>
            </a:xfrm>
            <a:custGeom>
              <a:avLst/>
              <a:gdLst/>
              <a:ahLst/>
              <a:cxnLst/>
              <a:rect l="l" t="t" r="r" b="b"/>
              <a:pathLst>
                <a:path w="4590288" h="790194">
                  <a:moveTo>
                    <a:pt x="0" y="0"/>
                  </a:moveTo>
                  <a:lnTo>
                    <a:pt x="4590288" y="0"/>
                  </a:lnTo>
                  <a:lnTo>
                    <a:pt x="4590288" y="790194"/>
                  </a:lnTo>
                  <a:lnTo>
                    <a:pt x="0" y="790194"/>
                  </a:lnTo>
                  <a:close/>
                </a:path>
              </a:pathLst>
            </a:custGeom>
            <a:blipFill>
              <a:blip r:embed="rId5">
                <a:alphaModFix amt="0"/>
              </a:blip>
              <a:stretch>
                <a:fillRect t="-63189" b="-63189"/>
              </a:stretch>
            </a:blipFill>
          </p:spPr>
          <p:txBody>
            <a:bodyPr/>
            <a:p/>
          </p:txBody>
        </p:sp>
        <p:sp>
          <p:nvSpPr>
            <p:cNvPr id="181" name="TextBox 181"/>
            <p:cNvSpPr txBox="1"/>
            <p:nvPr/>
          </p:nvSpPr>
          <p:spPr>
            <a:xfrm>
              <a:off x="0" y="-47625"/>
              <a:ext cx="4590288" cy="837819"/>
            </a:xfrm>
            <a:prstGeom prst="rect">
              <a:avLst/>
            </a:prstGeom>
          </p:spPr>
          <p:txBody>
            <a:bodyPr lIns="0" tIns="0" rIns="0" bIns="0" rtlCol="0" anchor="ctr"/>
            <a:lstStyle/>
            <a:p>
              <a:pPr algn="l">
                <a:lnSpc>
                  <a:spcPts val="2340"/>
                </a:lnSpc>
              </a:pPr>
              <a:r>
                <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rPr>
                <a:t>Prototype web</a:t>
              </a:r>
              <a:endParaRPr lang="en-US" sz="19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82" name="TextBox 182"/>
          <p:cNvSpPr txBox="1"/>
          <p:nvPr/>
        </p:nvSpPr>
        <p:spPr>
          <a:xfrm>
            <a:off x="13153644" y="7514082"/>
            <a:ext cx="3936492" cy="989838"/>
          </a:xfrm>
          <a:prstGeom prst="rect">
            <a:avLst/>
          </a:prstGeom>
        </p:spPr>
        <p:txBody>
          <a:bodyPr lIns="0" tIns="0" rIns="0" bIns="0" rtlCol="0" anchor="t">
            <a:spAutoFit/>
          </a:bodyPr>
          <a:lstStyle/>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tải ảnh, hỏi tiếng Việt</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a:p>
            <a:pPr algn="l">
              <a:lnSpc>
                <a:spcPts val="1890"/>
              </a:lnSpc>
            </a:pPr>
            <a:r>
              <a:rPr lang="en-US" sz="1575">
                <a:solidFill>
                  <a:srgbClr val="5B677A"/>
                </a:solidFill>
                <a:latin typeface="Calibri (MS)" panose="020F0502020204030204"/>
                <a:ea typeface="Calibri (MS)" panose="020F0502020204030204"/>
                <a:cs typeface="Calibri (MS)" panose="020F0502020204030204"/>
                <a:sym typeface="Calibri (MS)" panose="020F0502020204030204"/>
              </a:rPr>
              <a:t>• hiện câu trả lời + chữ OCR làm bằng chứng</a:t>
            </a:r>
            <a:endParaRPr lang="en-US" sz="157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183" name="Group 183"/>
          <p:cNvGrpSpPr/>
          <p:nvPr/>
        </p:nvGrpSpPr>
        <p:grpSpPr>
          <a:xfrm rot="0">
            <a:off x="12234139" y="4443451"/>
            <a:ext cx="740521" cy="2467023"/>
            <a:chOff x="0" y="0"/>
            <a:chExt cx="987362" cy="3289364"/>
          </a:xfrm>
        </p:grpSpPr>
        <p:sp>
          <p:nvSpPr>
            <p:cNvPr id="184" name="Freeform 184"/>
            <p:cNvSpPr/>
            <p:nvPr/>
          </p:nvSpPr>
          <p:spPr>
            <a:xfrm>
              <a:off x="0" y="0"/>
              <a:ext cx="987425" cy="3289427"/>
            </a:xfrm>
            <a:custGeom>
              <a:avLst/>
              <a:gdLst/>
              <a:ahLst/>
              <a:cxnLst/>
              <a:rect l="l" t="t" r="r" b="b"/>
              <a:pathLst>
                <a:path w="987425" h="3289427">
                  <a:moveTo>
                    <a:pt x="0" y="3289427"/>
                  </a:moveTo>
                  <a:lnTo>
                    <a:pt x="493649" y="3289427"/>
                  </a:lnTo>
                  <a:lnTo>
                    <a:pt x="493649" y="0"/>
                  </a:lnTo>
                  <a:lnTo>
                    <a:pt x="987425" y="0"/>
                  </a:lnTo>
                </a:path>
              </a:pathLst>
            </a:custGeom>
            <a:blipFill>
              <a:blip r:embed="rId1">
                <a:alphaModFix amt="0"/>
              </a:blip>
              <a:stretch>
                <a:fillRect l="-377713" r="-377705" b="1"/>
              </a:stretch>
            </a:blipFill>
            <a:ln w="33338" cap="sq">
              <a:solidFill>
                <a:srgbClr val="1C7293"/>
              </a:solidFill>
              <a:prstDash val="solid"/>
              <a:miter/>
            </a:ln>
          </p:spPr>
          <p:txBody>
            <a:bodyPr/>
            <a:p/>
          </p:txBody>
        </p:sp>
      </p:grpSp>
      <p:sp>
        <p:nvSpPr>
          <p:cNvPr id="185" name="TextBox 185"/>
          <p:cNvSpPr txBox="1"/>
          <p:nvPr/>
        </p:nvSpPr>
        <p:spPr>
          <a:xfrm>
            <a:off x="822960" y="8965692"/>
            <a:ext cx="16637508" cy="525780"/>
          </a:xfrm>
          <a:prstGeom prst="rect">
            <a:avLst/>
          </a:prstGeom>
        </p:spPr>
        <p:txBody>
          <a:bodyPr lIns="0" tIns="0" rIns="0" bIns="0" rtlCol="0" anchor="t">
            <a:spAutoFit/>
          </a:bodyPr>
          <a:lstStyle/>
          <a:p>
            <a:pPr algn="l">
              <a:lnSpc>
                <a:spcPts val="1710"/>
              </a:lnSpc>
            </a:pPr>
            <a:r>
              <a:rPr lang="en-US" sz="1425">
                <a:solidFill>
                  <a:srgbClr val="5B677A"/>
                </a:solidFill>
                <a:latin typeface="Calibri (MS)" panose="020F0502020204030204"/>
                <a:ea typeface="Calibri (MS)" panose="020F0502020204030204"/>
                <a:cs typeface="Calibri (MS)" panose="020F0502020204030204"/>
                <a:sym typeface="Calibri (MS)" panose="020F0502020204030204"/>
              </a:rPr>
              <a:t>Bước 1–4 chạy một lần và được cache; bước 5–7 giống hệt cho mọi run (giao thức cố định, slide 18). Dạng prompt cuối: slide 24 (một dòng OCR, cùng prompt cho train và test).</a:t>
            </a:r>
            <a:endParaRPr lang="en-US" sz="1425">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186" name="Group 186"/>
          <p:cNvGrpSpPr/>
          <p:nvPr/>
        </p:nvGrpSpPr>
        <p:grpSpPr>
          <a:xfrm rot="0">
            <a:off x="15458732" y="0"/>
            <a:ext cx="2829306" cy="1184338"/>
            <a:chOff x="0" y="0"/>
            <a:chExt cx="3772408" cy="1579118"/>
          </a:xfrm>
        </p:grpSpPr>
        <p:sp>
          <p:nvSpPr>
            <p:cNvPr id="187" name="Freeform 187"/>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30"/>
              <a:stretch>
                <a:fillRect/>
              </a:stretch>
            </a:blipFill>
          </p:spPr>
          <p:txBody>
            <a:bodyPr/>
            <a:p/>
          </p:txBody>
        </p:sp>
      </p:grpSp>
      <p:grpSp>
        <p:nvGrpSpPr>
          <p:cNvPr id="188" name="Group 188"/>
          <p:cNvGrpSpPr/>
          <p:nvPr/>
        </p:nvGrpSpPr>
        <p:grpSpPr>
          <a:xfrm rot="0">
            <a:off x="822960" y="9655969"/>
            <a:ext cx="13716000" cy="360321"/>
            <a:chOff x="0" y="0"/>
            <a:chExt cx="18288000" cy="480428"/>
          </a:xfrm>
        </p:grpSpPr>
        <p:sp>
          <p:nvSpPr>
            <p:cNvPr id="189" name="Freeform 189"/>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4">
                <a:alphaModFix amt="0"/>
              </a:blip>
              <a:stretch>
                <a:fillRect t="-691184" b="-691181"/>
              </a:stretch>
            </a:blipFill>
          </p:spPr>
          <p:txBody>
            <a:bodyPr/>
            <a:p/>
          </p:txBody>
        </p:sp>
      </p:grpSp>
      <p:grpSp>
        <p:nvGrpSpPr>
          <p:cNvPr id="190" name="Group 190"/>
          <p:cNvGrpSpPr/>
          <p:nvPr/>
        </p:nvGrpSpPr>
        <p:grpSpPr>
          <a:xfrm rot="0">
            <a:off x="822960" y="9627394"/>
            <a:ext cx="13716000" cy="388896"/>
            <a:chOff x="0" y="0"/>
            <a:chExt cx="18288000" cy="518528"/>
          </a:xfrm>
        </p:grpSpPr>
        <p:sp>
          <p:nvSpPr>
            <p:cNvPr id="191" name="Freeform 191"/>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5">
                <a:alphaModFix amt="0"/>
              </a:blip>
              <a:stretch>
                <a:fillRect t="-637220" b="-637221"/>
              </a:stretch>
            </a:blipFill>
          </p:spPr>
          <p:txBody>
            <a:bodyPr/>
            <a:p/>
          </p:txBody>
        </p:sp>
        <p:sp>
          <p:nvSpPr>
            <p:cNvPr id="192" name="TextBox 192"/>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11 · SẢN PHẨM &amp; GIÁ TRỊ</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Sản phẩm dự kiến và giá trị</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21" name="Group 21"/>
          <p:cNvGrpSpPr/>
          <p:nvPr/>
        </p:nvGrpSpPr>
        <p:grpSpPr>
          <a:xfrm rot="0">
            <a:off x="15458732" y="0"/>
            <a:ext cx="2829306" cy="1184338"/>
            <a:chOff x="0" y="0"/>
            <a:chExt cx="3772408" cy="1579118"/>
          </a:xfrm>
        </p:grpSpPr>
        <p:sp>
          <p:nvSpPr>
            <p:cNvPr id="22" name="Freeform 2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0"/>
              <a:stretch>
                <a:fillRect/>
              </a:stretch>
            </a:blipFill>
          </p:spPr>
          <p:txBody>
            <a:bodyPr/>
            <a:p/>
          </p:txBody>
        </p:sp>
      </p:grpSp>
      <p:grpSp>
        <p:nvGrpSpPr>
          <p:cNvPr id="23" name="Group 23"/>
          <p:cNvGrpSpPr/>
          <p:nvPr/>
        </p:nvGrpSpPr>
        <p:grpSpPr>
          <a:xfrm rot="0">
            <a:off x="822960" y="9655969"/>
            <a:ext cx="13716000" cy="360321"/>
            <a:chOff x="0" y="0"/>
            <a:chExt cx="18288000" cy="480428"/>
          </a:xfrm>
        </p:grpSpPr>
        <p:sp>
          <p:nvSpPr>
            <p:cNvPr id="24" name="Freeform 24"/>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11">
                <a:alphaModFix amt="0"/>
              </a:blip>
              <a:stretch>
                <a:fillRect t="-691184" b="-691181"/>
              </a:stretch>
            </a:blipFill>
          </p:spPr>
          <p:txBody>
            <a:bodyPr/>
            <a:p/>
          </p:txBody>
        </p:sp>
      </p:grpSp>
      <p:grpSp>
        <p:nvGrpSpPr>
          <p:cNvPr id="25" name="Group 25"/>
          <p:cNvGrpSpPr/>
          <p:nvPr/>
        </p:nvGrpSpPr>
        <p:grpSpPr>
          <a:xfrm rot="0">
            <a:off x="822960" y="9627394"/>
            <a:ext cx="13716000" cy="388896"/>
            <a:chOff x="0" y="0"/>
            <a:chExt cx="18288000" cy="518528"/>
          </a:xfrm>
        </p:grpSpPr>
        <p:sp>
          <p:nvSpPr>
            <p:cNvPr id="26" name="Freeform 26"/>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12">
                <a:alphaModFix amt="0"/>
              </a:blip>
              <a:stretch>
                <a:fillRect t="-637220" b="-637221"/>
              </a:stretch>
            </a:blipFill>
          </p:spPr>
          <p:txBody>
            <a:bodyPr/>
            <a:p/>
          </p:txBody>
        </p:sp>
        <p:sp>
          <p:nvSpPr>
            <p:cNvPr id="27" name="TextBox 27"/>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28" name="Rounded Rectangle 27"/>
          <p:cNvSpPr/>
          <p:nvPr/>
        </p:nvSpPr>
        <p:spPr>
          <a:xfrm>
            <a:off x="804672" y="1965960"/>
            <a:ext cx="7315200" cy="1481328"/>
          </a:xfrm>
          <a:prstGeom prst="roundRect">
            <a:avLst>
              <a:gd name="adj" fmla="val 7000"/>
            </a:avLst>
          </a:prstGeom>
          <a:solidFill>
            <a:srgbClr val="FBF0DA"/>
          </a:solidFill>
          <a:ln>
            <a:noFill/>
          </a:ln>
        </p:spPr>
        <p:txBody>
          <a:bodyPr rtlCol="0" anchor="ctr"/>
          <a:lstStyle/>
          <a:p>
            <a:pPr algn="ctr"/>
          </a:p>
        </p:txBody>
      </p:sp>
      <p:sp>
        <p:nvSpPr>
          <p:cNvPr id="29" name="TextBox 28"/>
          <p:cNvSpPr txBox="1"/>
          <p:nvPr/>
        </p:nvSpPr>
        <p:spPr>
          <a:xfrm>
            <a:off x="1078992" y="2084831"/>
            <a:ext cx="6858000" cy="1298448"/>
          </a:xfrm>
          <a:prstGeom prst="rect">
            <a:avLst/>
          </a:prstGeom>
          <a:noFill/>
        </p:spPr>
        <p:txBody>
          <a:bodyPr wrap="square" anchor="t" lIns="0" rIns="0" tIns="0" bIns="0">
            <a:spAutoFit/>
          </a:bodyPr>
          <a:lstStyle/>
          <a:p>
            <a:pPr algn="l">
              <a:lnSpc>
                <a:spcPct val="106000"/>
              </a:lnSpc>
              <a:spcAft>
                <a:spcPts val="500"/>
              </a:spcAft>
            </a:pPr>
            <a:r>
              <a:rPr sz="2000" b="1">
                <a:solidFill>
                  <a:srgbClr val="B86E0E"/>
                </a:solidFill>
                <a:latin typeface="Calibri (MS) Bold"/>
              </a:rPr>
              <a:t>Đóng góp nghiên cứu</a:t>
            </a:r>
          </a:p>
          <a:p>
            <a:pPr algn="l">
              <a:lnSpc>
                <a:spcPct val="106000"/>
              </a:lnSpc>
              <a:spcAft>
                <a:spcPts val="0"/>
              </a:spcAft>
            </a:pPr>
            <a:r>
              <a:rPr sz="1650" b="0">
                <a:solidFill>
                  <a:srgbClr val="243044"/>
                </a:solidFill>
                <a:latin typeface="Calibri (MS)"/>
              </a:rPr>
              <a:t>≥ 1 cải tiến PEFT đã kiểm chứng so với baseline tái lập, kèm ablation, phân tích lỗi và hallucination</a:t>
            </a:r>
          </a:p>
        </p:txBody>
      </p:sp>
      <p:sp>
        <p:nvSpPr>
          <p:cNvPr id="30" name="Rounded Rectangle 29"/>
          <p:cNvSpPr/>
          <p:nvPr/>
        </p:nvSpPr>
        <p:spPr>
          <a:xfrm>
            <a:off x="804672" y="3584448"/>
            <a:ext cx="7315200" cy="1325880"/>
          </a:xfrm>
          <a:prstGeom prst="roundRect">
            <a:avLst>
              <a:gd name="adj" fmla="val 7000"/>
            </a:avLst>
          </a:prstGeom>
          <a:solidFill>
            <a:srgbClr val="F3F5F8"/>
          </a:solidFill>
          <a:ln>
            <a:noFill/>
          </a:ln>
        </p:spPr>
        <p:txBody>
          <a:bodyPr rtlCol="0" anchor="ctr"/>
          <a:lstStyle/>
          <a:p>
            <a:pPr algn="ctr"/>
          </a:p>
        </p:txBody>
      </p:sp>
      <p:sp>
        <p:nvSpPr>
          <p:cNvPr id="31" name="TextBox 30"/>
          <p:cNvSpPr txBox="1"/>
          <p:nvPr/>
        </p:nvSpPr>
        <p:spPr>
          <a:xfrm>
            <a:off x="1078992" y="3703320"/>
            <a:ext cx="6858000" cy="1143000"/>
          </a:xfrm>
          <a:prstGeom prst="rect">
            <a:avLst/>
          </a:prstGeom>
          <a:noFill/>
        </p:spPr>
        <p:txBody>
          <a:bodyPr wrap="square" anchor="t" lIns="0" rIns="0" tIns="0" bIns="0">
            <a:spAutoFit/>
          </a:bodyPr>
          <a:lstStyle/>
          <a:p>
            <a:pPr algn="l">
              <a:lnSpc>
                <a:spcPct val="106000"/>
              </a:lnSpc>
              <a:spcAft>
                <a:spcPts val="500"/>
              </a:spcAft>
            </a:pPr>
            <a:r>
              <a:rPr sz="2000" b="1">
                <a:solidFill>
                  <a:srgbClr val="13294B"/>
                </a:solidFill>
                <a:latin typeface="Calibri (MS) Bold"/>
              </a:rPr>
              <a:t>Luận văn + gói tái lập</a:t>
            </a:r>
          </a:p>
          <a:p>
            <a:pPr algn="l">
              <a:lnSpc>
                <a:spcPct val="106000"/>
              </a:lnSpc>
              <a:spcAft>
                <a:spcPts val="0"/>
              </a:spcAft>
            </a:pPr>
            <a:r>
              <a:rPr sz="1650" b="0">
                <a:solidFill>
                  <a:srgbClr val="243044"/>
                </a:solidFill>
                <a:latin typeface="Calibri (MS)"/>
              </a:rPr>
              <a:t>Code, adapter LoRA, config, script suy luận, log thí nghiệm</a:t>
            </a:r>
          </a:p>
        </p:txBody>
      </p:sp>
      <p:sp>
        <p:nvSpPr>
          <p:cNvPr id="32" name="Rounded Rectangle 31"/>
          <p:cNvSpPr/>
          <p:nvPr/>
        </p:nvSpPr>
        <p:spPr>
          <a:xfrm>
            <a:off x="804672" y="5047488"/>
            <a:ext cx="7315200" cy="2057400"/>
          </a:xfrm>
          <a:prstGeom prst="roundRect">
            <a:avLst>
              <a:gd name="adj" fmla="val 7000"/>
            </a:avLst>
          </a:prstGeom>
          <a:solidFill>
            <a:srgbClr val="F3F5F8"/>
          </a:solidFill>
          <a:ln>
            <a:noFill/>
          </a:ln>
        </p:spPr>
        <p:txBody>
          <a:bodyPr rtlCol="0" anchor="ctr"/>
          <a:lstStyle/>
          <a:p>
            <a:pPr algn="ctr"/>
          </a:p>
        </p:txBody>
      </p:sp>
      <p:sp>
        <p:nvSpPr>
          <p:cNvPr id="33" name="TextBox 32"/>
          <p:cNvSpPr txBox="1"/>
          <p:nvPr/>
        </p:nvSpPr>
        <p:spPr>
          <a:xfrm>
            <a:off x="1078992" y="5166359"/>
            <a:ext cx="6858000" cy="1874519"/>
          </a:xfrm>
          <a:prstGeom prst="rect">
            <a:avLst/>
          </a:prstGeom>
          <a:noFill/>
        </p:spPr>
        <p:txBody>
          <a:bodyPr wrap="square" anchor="t" lIns="0" rIns="0" tIns="0" bIns="0">
            <a:spAutoFit/>
          </a:bodyPr>
          <a:lstStyle/>
          <a:p>
            <a:pPr algn="l">
              <a:lnSpc>
                <a:spcPct val="106000"/>
              </a:lnSpc>
              <a:spcAft>
                <a:spcPts val="500"/>
              </a:spcAft>
            </a:pPr>
            <a:r>
              <a:rPr sz="2000" b="1">
                <a:solidFill>
                  <a:srgbClr val="13294B"/>
                </a:solidFill>
                <a:latin typeface="Calibri (MS) Bold"/>
              </a:rPr>
              <a:t>Giá trị thực tiễn</a:t>
            </a:r>
          </a:p>
          <a:p>
            <a:pPr algn="l" marL="274320" indent="-274320">
              <a:lnSpc>
                <a:spcPct val="106000"/>
              </a:lnSpc>
              <a:spcAft>
                <a:spcPts val="300"/>
              </a:spcAft>
            </a:pPr>
            <a:r>
              <a:rPr sz="1650" b="0">
                <a:solidFill>
                  <a:srgbClr val="243044"/>
                </a:solidFill>
                <a:latin typeface="Calibri (MS)"/>
              </a:rPr>
              <a:t>•  Đọc biển hiệu, nhãn hàng, giá cả trong ảnh tiếng Việt</a:t>
            </a:r>
          </a:p>
          <a:p>
            <a:pPr algn="l" marL="274320" indent="-274320">
              <a:lnSpc>
                <a:spcPct val="106000"/>
              </a:lnSpc>
              <a:spcAft>
                <a:spcPts val="300"/>
              </a:spcAft>
            </a:pPr>
            <a:r>
              <a:rPr sz="1650" b="0">
                <a:solidFill>
                  <a:srgbClr val="243044"/>
                </a:solidFill>
                <a:latin typeface="Calibri (MS)"/>
              </a:rPr>
              <a:t>•  Công nghệ hỗ trợ người khiếm thị</a:t>
            </a:r>
          </a:p>
          <a:p>
            <a:pPr algn="l" marL="274320" indent="-274320">
              <a:lnSpc>
                <a:spcPct val="106000"/>
              </a:lnSpc>
              <a:spcAft>
                <a:spcPts val="300"/>
              </a:spcAft>
            </a:pPr>
            <a:r>
              <a:rPr sz="1650" b="0">
                <a:solidFill>
                  <a:srgbClr val="243044"/>
                </a:solidFill>
                <a:latin typeface="Calibri (MS)"/>
              </a:rPr>
              <a:t>•  Thực đơn, biểu mẫu, tài liệu tiếng Việt</a:t>
            </a:r>
          </a:p>
        </p:txBody>
      </p:sp>
      <p:sp>
        <p:nvSpPr>
          <p:cNvPr id="34" name="Rounded Rectangle 33"/>
          <p:cNvSpPr/>
          <p:nvPr/>
        </p:nvSpPr>
        <p:spPr>
          <a:xfrm>
            <a:off x="804672" y="7242048"/>
            <a:ext cx="7315200" cy="2057400"/>
          </a:xfrm>
          <a:prstGeom prst="roundRect">
            <a:avLst>
              <a:gd name="adj" fmla="val 7000"/>
            </a:avLst>
          </a:prstGeom>
          <a:solidFill>
            <a:srgbClr val="E7F0F3"/>
          </a:solidFill>
          <a:ln>
            <a:noFill/>
          </a:ln>
        </p:spPr>
        <p:txBody>
          <a:bodyPr rtlCol="0" anchor="ctr"/>
          <a:lstStyle/>
          <a:p>
            <a:pPr algn="ctr"/>
          </a:p>
        </p:txBody>
      </p:sp>
      <p:sp>
        <p:nvSpPr>
          <p:cNvPr id="35" name="TextBox 34"/>
          <p:cNvSpPr txBox="1"/>
          <p:nvPr/>
        </p:nvSpPr>
        <p:spPr>
          <a:xfrm>
            <a:off x="1078992" y="7360920"/>
            <a:ext cx="6858000" cy="1874519"/>
          </a:xfrm>
          <a:prstGeom prst="rect">
            <a:avLst/>
          </a:prstGeom>
          <a:noFill/>
        </p:spPr>
        <p:txBody>
          <a:bodyPr wrap="square" anchor="t" lIns="0" rIns="0" tIns="0" bIns="0">
            <a:spAutoFit/>
          </a:bodyPr>
          <a:lstStyle/>
          <a:p>
            <a:pPr algn="l">
              <a:lnSpc>
                <a:spcPct val="106000"/>
              </a:lnSpc>
              <a:spcAft>
                <a:spcPts val="500"/>
              </a:spcAft>
            </a:pPr>
            <a:r>
              <a:rPr sz="2000" b="1">
                <a:solidFill>
                  <a:srgbClr val="13294B"/>
                </a:solidFill>
                <a:latin typeface="Calibri (MS) Bold"/>
              </a:rPr>
              <a:t>Ý nghĩa khoa học</a:t>
            </a:r>
          </a:p>
          <a:p>
            <a:pPr algn="l" marL="274320" indent="-274320">
              <a:lnSpc>
                <a:spcPct val="106000"/>
              </a:lnSpc>
              <a:spcAft>
                <a:spcPts val="300"/>
              </a:spcAft>
            </a:pPr>
            <a:r>
              <a:rPr sz="1650" b="0">
                <a:solidFill>
                  <a:srgbClr val="243044"/>
                </a:solidFill>
                <a:latin typeface="Calibri (MS)"/>
              </a:rPr>
              <a:t>•  Nghiên cứu PEFT có hệ thống cho VLM tiếng Việt</a:t>
            </a:r>
          </a:p>
          <a:p>
            <a:pPr algn="l" marL="274320" indent="-274320">
              <a:lnSpc>
                <a:spcPct val="106000"/>
              </a:lnSpc>
              <a:spcAft>
                <a:spcPts val="300"/>
              </a:spcAft>
            </a:pPr>
            <a:r>
              <a:rPr sz="1650" b="0">
                <a:solidFill>
                  <a:srgbClr val="243044"/>
                </a:solidFill>
                <a:latin typeface="Calibri (MS)"/>
              </a:rPr>
              <a:t>•  Xử lý đặc thù tiếng Việt: dấu, ngôn ngữ đầu ra, thứ tự OCR</a:t>
            </a:r>
          </a:p>
          <a:p>
            <a:pPr algn="l" marL="274320" indent="-274320">
              <a:lnSpc>
                <a:spcPct val="106000"/>
              </a:lnSpc>
              <a:spcAft>
                <a:spcPts val="300"/>
              </a:spcAft>
            </a:pPr>
            <a:r>
              <a:rPr sz="1650" b="0">
                <a:solidFill>
                  <a:srgbClr val="243044"/>
                </a:solidFill>
                <a:latin typeface="Calibri (MS)"/>
              </a:rPr>
              <a:t>•  Đo hallucination cho VQA tiếng Việt; quy trình tái lập được</a:t>
            </a:r>
          </a:p>
        </p:txBody>
      </p:sp>
      <p:sp>
        <p:nvSpPr>
          <p:cNvPr id="36" name="Rounded Rectangle 35"/>
          <p:cNvSpPr/>
          <p:nvPr/>
        </p:nvSpPr>
        <p:spPr>
          <a:xfrm>
            <a:off x="8366760" y="1965960"/>
            <a:ext cx="9116568" cy="7269480"/>
          </a:xfrm>
          <a:prstGeom prst="roundRect">
            <a:avLst>
              <a:gd name="adj" fmla="val 3000"/>
            </a:avLst>
          </a:prstGeom>
          <a:solidFill>
            <a:srgbClr val="F3F5F8"/>
          </a:solidFill>
          <a:ln>
            <a:noFill/>
          </a:ln>
        </p:spPr>
        <p:txBody>
          <a:bodyPr rtlCol="0" anchor="ctr"/>
          <a:lstStyle/>
          <a:p>
            <a:pPr algn="ctr"/>
          </a:p>
        </p:txBody>
      </p:sp>
      <p:sp>
        <p:nvSpPr>
          <p:cNvPr id="37" name="TextBox 36"/>
          <p:cNvSpPr txBox="1"/>
          <p:nvPr/>
        </p:nvSpPr>
        <p:spPr>
          <a:xfrm>
            <a:off x="8686800" y="2103120"/>
            <a:ext cx="8567928" cy="457200"/>
          </a:xfrm>
          <a:prstGeom prst="rect">
            <a:avLst/>
          </a:prstGeom>
          <a:noFill/>
        </p:spPr>
        <p:txBody>
          <a:bodyPr wrap="square" anchor="t" lIns="0" rIns="0" tIns="0" bIns="0">
            <a:spAutoFit/>
          </a:bodyPr>
          <a:lstStyle/>
          <a:p>
            <a:pPr algn="l">
              <a:lnSpc>
                <a:spcPct val="106000"/>
              </a:lnSpc>
              <a:spcAft>
                <a:spcPts val="0"/>
              </a:spcAft>
            </a:pPr>
            <a:r>
              <a:rPr sz="2100" b="1">
                <a:solidFill>
                  <a:srgbClr val="13294B"/>
                </a:solidFill>
                <a:latin typeface="Calibri (MS) Bold"/>
              </a:rPr>
              <a:t>Prototype web</a:t>
            </a:r>
            <a:r>
              <a:rPr sz="1550" b="0">
                <a:solidFill>
                  <a:srgbClr val="243044"/>
                </a:solidFill>
                <a:latin typeface="Calibri (MS)"/>
              </a:rPr>
              <a:t>   tải ảnh, hỏi tiếng Việt, nhận câu trả lời kèm chữ OCR làm bằng chứng</a:t>
            </a:r>
          </a:p>
        </p:txBody>
      </p:sp>
      <p:pic>
        <p:nvPicPr>
          <p:cNvPr id="38" name="Picture 37" descr="mockup.png"/>
          <p:cNvPicPr>
            <a:picLocks noChangeAspect="1"/>
          </p:cNvPicPr>
          <p:nvPr/>
        </p:nvPicPr>
        <p:blipFill>
          <a:blip r:embed="rId14"/>
          <a:stretch>
            <a:fillRect/>
          </a:stretch>
        </p:blipFill>
        <p:spPr>
          <a:xfrm>
            <a:off x="8686800" y="2697480"/>
            <a:ext cx="8476488" cy="5297805"/>
          </a:xfrm>
          <a:prstGeom prst="rect">
            <a:avLst/>
          </a:prstGeom>
          <a:ln w="12700">
            <a:solidFill>
              <a:srgbClr val="E2E7EE"/>
            </a:solidFill>
          </a:ln>
        </p:spPr>
      </p:pic>
      <p:sp>
        <p:nvSpPr>
          <p:cNvPr id="39" name="TextBox 38"/>
          <p:cNvSpPr txBox="1"/>
          <p:nvPr/>
        </p:nvSpPr>
        <p:spPr>
          <a:xfrm>
            <a:off x="8686800" y="8086725"/>
            <a:ext cx="8476488" cy="365760"/>
          </a:xfrm>
          <a:prstGeom prst="rect">
            <a:avLst/>
          </a:prstGeom>
          <a:noFill/>
        </p:spPr>
        <p:txBody>
          <a:bodyPr wrap="square" anchor="t" lIns="0" rIns="0" tIns="0" bIns="0">
            <a:spAutoFit/>
          </a:bodyPr>
          <a:lstStyle/>
          <a:p>
            <a:pPr algn="l">
              <a:lnSpc>
                <a:spcPct val="106000"/>
              </a:lnSpc>
              <a:spcAft>
                <a:spcPts val="0"/>
              </a:spcAft>
            </a:pPr>
            <a:r>
              <a:rPr sz="1250" b="0">
                <a:solidFill>
                  <a:srgbClr val="5B677A"/>
                </a:solidFill>
                <a:latin typeface="Calibri (MS)"/>
              </a:rPr>
              <a:t>Minh hoạ giao diện dự kiến (làm ở W13–14). Câu hỏi, đáp án và các dòng OCR lấy từ mẫu thật ViTextVQA train_48788.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1 · PHẠM VI · 12 · KẾ HOẠCH</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Kế hoạch 15 tuần — đầu ra và trạng thái</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6" name="Table 6"/>
          <p:cNvGraphicFramePr>
            <a:graphicFrameLocks noGrp="1"/>
          </p:cNvGraphicFramePr>
          <p:nvPr/>
        </p:nvGraphicFramePr>
        <p:xfrm>
          <a:off x="822960" y="1920240"/>
          <a:ext cx="16586201" cy="7315200"/>
        </p:xfrm>
        <a:graphic>
          <a:graphicData uri="http://schemas.openxmlformats.org/drawingml/2006/table">
            <a:tbl>
              <a:tblPr/>
              <a:tblGrid>
                <a:gridCol w="1397733"/>
                <a:gridCol w="6655920"/>
                <a:gridCol w="8532548"/>
              </a:tblGrid>
              <a:tr h="457200">
                <a:tc>
                  <a:txBody>
                    <a:bodyPr rtlCol="0"/>
                    <a:lstStyle/>
                    <a:p>
                      <a:pPr algn="l">
                        <a:lnSpc>
                          <a:spcPts val="2430"/>
                        </a:lnSpc>
                        <a:defRPr/>
                      </a:pPr>
                      <a:r>
                        <a:rPr lang="en-US" sz="2025" b="1">
                          <a:solidFill>
                            <a:srgbClr val="FFFFFF"/>
                          </a:solidFill>
                          <a:latin typeface="Calibri (MS) Bold" panose="020F0702030404030204"/>
                          <a:ea typeface="Calibri (MS) Bold" panose="020F0702030404030204"/>
                          <a:cs typeface="Calibri (MS) Bold" panose="020F0702030404030204"/>
                          <a:sym typeface="Calibri (MS) Bold" panose="020F0702030404030204"/>
                        </a:rPr>
                        <a:t>Tuần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430"/>
                        </a:lnSpc>
                        <a:defRPr/>
                      </a:pPr>
                      <a:r>
                        <a:rPr lang="en-US" sz="2025" b="1">
                          <a:solidFill>
                            <a:srgbClr val="FFFFFF"/>
                          </a:solidFill>
                          <a:latin typeface="Calibri (MS) Bold" panose="020F0702030404030204"/>
                          <a:ea typeface="Calibri (MS) Bold" panose="020F0702030404030204"/>
                          <a:cs typeface="Calibri (MS) Bold" panose="020F0702030404030204"/>
                          <a:sym typeface="Calibri (MS) Bold" panose="020F0702030404030204"/>
                        </a:rPr>
                        <a:t>Công việc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430"/>
                        </a:lnSpc>
                        <a:defRPr/>
                      </a:pPr>
                      <a:r>
                        <a:rPr lang="en-US" sz="2025" b="1">
                          <a:solidFill>
                            <a:srgbClr val="FFFFFF"/>
                          </a:solidFill>
                          <a:latin typeface="Calibri (MS) Bold" panose="020F0702030404030204"/>
                          <a:ea typeface="Calibri (MS) Bold" panose="020F0702030404030204"/>
                          <a:cs typeface="Calibri (MS) Bold" panose="020F0702030404030204"/>
                          <a:sym typeface="Calibri (MS) Bold" panose="020F0702030404030204"/>
                        </a:rPr>
                        <a:t>Đầu ra · trạng thái (tại Review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Research orientation + Planning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Đề cương, phân vai, kế hoạch 15 tuần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Literature + Dataset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Literature matrix 10 paper; thống kê 2 dataset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Review 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Deck + checklist Review 1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Baseline (khởi động)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Zero-shot đầu tiên; chốt Qwen2.5-VL-3B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Baseline reproduce hoàn chỉnh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B1 trên 2 dataset; ViTextVQA bản chính thức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Baseline → Method (Report 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Chốt cấu hình; smoke test QLoRA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QLoRA (B2) + chuẩn bị Review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 R0 tái lập 79,6; duyệt 200 lỗi ✓</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Review 2 · OCR-enhanced prompting + củng cố B3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B3 + ablation OCR 2×2, 3 seed ✓ · Review 2 (29/10)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 full data + LoRA ablation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B3-full +3,1 EM; ablation A1, A2 ✓ (làm sớm)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Full evaluation + shared adapter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Bảng 23 run; adapter dùng chung đạt ✓ (làm sớm)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Error analysis + hallucination analysis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H4 (POPE tiếng Việt), lỗi theo loại → dời lên W9–W10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Tổng hợp kết quả + Report 6–7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Report 6–7; bảng kết quả cuối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Review 3 · Hội đồng cấp Khoa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Deck cộng dồn + demo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Prototype web + viết thesis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340"/>
                        </a:lnSpc>
                        <a:defRPr/>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Web demo → dời lên W11–12; bản thảo thesis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W15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Final defense + gói tái lập</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l">
                        <a:lnSpc>
                          <a:spcPts val="2340"/>
                        </a:lnSpc>
                        <a:defRPr/>
                      </a:pPr>
                      <a:r>
                        <a:rPr lang="en-US" sz="1950" b="1">
                          <a:solidFill>
                            <a:srgbClr val="243044"/>
                          </a:solidFill>
                          <a:latin typeface="Calibri (MS) Bold" panose="020F0702030404030204"/>
                          <a:ea typeface="Calibri (MS) Bold" panose="020F0702030404030204"/>
                          <a:cs typeface="Calibri (MS) Bold" panose="020F0702030404030204"/>
                          <a:sym typeface="Calibri (MS) Bold" panose="020F0702030404030204"/>
                        </a:rPr>
                        <a:t>Thesis, code, adapter, log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bl>
          </a:graphicData>
        </a:graphic>
      </p:graphicFrame>
      <p:grpSp>
        <p:nvGrpSpPr>
          <p:cNvPr id="7" name="Group 7"/>
          <p:cNvGrpSpPr/>
          <p:nvPr/>
        </p:nvGrpSpPr>
        <p:grpSpPr>
          <a:xfrm rot="0">
            <a:off x="15458732" y="0"/>
            <a:ext cx="2829306" cy="1184338"/>
            <a:chOff x="0" y="0"/>
            <a:chExt cx="3772408" cy="1579118"/>
          </a:xfrm>
        </p:grpSpPr>
        <p:sp>
          <p:nvSpPr>
            <p:cNvPr id="8" name="Freeform 8"/>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2"/>
              <a:stretch>
                <a:fillRect/>
              </a:stretch>
            </a:blipFill>
          </p:spPr>
          <p:txBody>
            <a:bodyPr/>
            <a:p/>
          </p:txBody>
        </p:sp>
      </p:grpSp>
      <p:grpSp>
        <p:nvGrpSpPr>
          <p:cNvPr id="9" name="Group 9"/>
          <p:cNvGrpSpPr/>
          <p:nvPr/>
        </p:nvGrpSpPr>
        <p:grpSpPr>
          <a:xfrm rot="0">
            <a:off x="822960" y="9655969"/>
            <a:ext cx="13716000" cy="360321"/>
            <a:chOff x="0" y="0"/>
            <a:chExt cx="18288000" cy="480428"/>
          </a:xfrm>
        </p:grpSpPr>
        <p:sp>
          <p:nvSpPr>
            <p:cNvPr id="10" name="Freeform 10"/>
            <p:cNvSpPr/>
            <p:nvPr/>
          </p:nvSpPr>
          <p:spPr>
            <a:xfrm>
              <a:off x="0" y="0"/>
              <a:ext cx="18288000" cy="480441"/>
            </a:xfrm>
            <a:custGeom>
              <a:avLst/>
              <a:gdLst/>
              <a:ahLst/>
              <a:cxnLst/>
              <a:rect l="l" t="t" r="r" b="b"/>
              <a:pathLst>
                <a:path w="18288000" h="480441">
                  <a:moveTo>
                    <a:pt x="0" y="0"/>
                  </a:moveTo>
                  <a:lnTo>
                    <a:pt x="18288000" y="0"/>
                  </a:lnTo>
                  <a:lnTo>
                    <a:pt x="18288000" y="480441"/>
                  </a:lnTo>
                  <a:lnTo>
                    <a:pt x="0" y="480441"/>
                  </a:lnTo>
                  <a:close/>
                </a:path>
              </a:pathLst>
            </a:custGeom>
            <a:blipFill>
              <a:blip r:embed="rId3">
                <a:alphaModFix amt="0"/>
              </a:blip>
              <a:stretch>
                <a:fillRect t="-691184" b="-691181"/>
              </a:stretch>
            </a:blipFill>
          </p:spPr>
          <p:txBody>
            <a:bodyPr/>
            <a:p/>
          </p:txBody>
        </p:sp>
      </p:grpSp>
      <p:grpSp>
        <p:nvGrpSpPr>
          <p:cNvPr id="11" name="Group 11"/>
          <p:cNvGrpSpPr/>
          <p:nvPr/>
        </p:nvGrpSpPr>
        <p:grpSpPr>
          <a:xfrm rot="0">
            <a:off x="822960" y="9627394"/>
            <a:ext cx="13716000" cy="388896"/>
            <a:chOff x="0" y="0"/>
            <a:chExt cx="18288000" cy="518528"/>
          </a:xfrm>
        </p:grpSpPr>
        <p:sp>
          <p:nvSpPr>
            <p:cNvPr id="12" name="Freeform 12"/>
            <p:cNvSpPr/>
            <p:nvPr/>
          </p:nvSpPr>
          <p:spPr>
            <a:xfrm>
              <a:off x="0" y="0"/>
              <a:ext cx="18288000" cy="518527"/>
            </a:xfrm>
            <a:custGeom>
              <a:avLst/>
              <a:gdLst/>
              <a:ahLst/>
              <a:cxnLst/>
              <a:rect l="l" t="t" r="r" b="b"/>
              <a:pathLst>
                <a:path w="18288000" h="518527">
                  <a:moveTo>
                    <a:pt x="0" y="0"/>
                  </a:moveTo>
                  <a:lnTo>
                    <a:pt x="18288000" y="0"/>
                  </a:lnTo>
                  <a:lnTo>
                    <a:pt x="18288000" y="518527"/>
                  </a:lnTo>
                  <a:lnTo>
                    <a:pt x="0" y="518527"/>
                  </a:lnTo>
                  <a:close/>
                </a:path>
              </a:pathLst>
            </a:custGeom>
            <a:blipFill>
              <a:blip r:embed="rId4">
                <a:alphaModFix amt="0"/>
              </a:blip>
              <a:stretch>
                <a:fillRect t="-637220" b="-637221"/>
              </a:stretch>
            </a:blipFill>
          </p:spPr>
          <p:txBody>
            <a:bodyPr/>
            <a:p/>
          </p:txBody>
        </p:sp>
        <p:sp>
          <p:nvSpPr>
            <p:cNvPr id="13" name="TextBox 13"/>
            <p:cNvSpPr txBox="1"/>
            <p:nvPr/>
          </p:nvSpPr>
          <p:spPr>
            <a:xfrm>
              <a:off x="0" y="-38100"/>
              <a:ext cx="18288000" cy="556628"/>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bg_r2.jpg"/>
          <p:cNvPicPr>
            <a:picLocks noChangeAspect="1"/>
          </p:cNvPicPr>
          <p:nvPr/>
        </p:nvPicPr>
        <p:blipFill>
          <a:blip r:embed="rId7"/>
          <a:stretch>
            <a:fillRect/>
          </a:stretch>
        </p:blipFill>
        <p:spPr>
          <a:xfrm>
            <a:off x="0" y="0"/>
            <a:ext cx="18288000" cy="10287000"/>
          </a:xfrm>
          <a:prstGeom prst="rect">
            <a:avLst/>
          </a:prstGeom>
        </p:spPr>
      </p:pic>
      <p:grpSp>
        <p:nvGrpSpPr>
          <p:cNvPr id="11" name="Group 11"/>
          <p:cNvGrpSpPr/>
          <p:nvPr/>
        </p:nvGrpSpPr>
        <p:grpSpPr>
          <a:xfrm rot="0">
            <a:off x="0" y="0"/>
            <a:ext cx="2829306" cy="1184338"/>
            <a:chOff x="0" y="0"/>
            <a:chExt cx="3772408" cy="1579118"/>
          </a:xfrm>
        </p:grpSpPr>
        <p:sp>
          <p:nvSpPr>
            <p:cNvPr id="12" name="Freeform 1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5"/>
              <a:stretch>
                <a:fillRect/>
              </a:stretch>
            </a:blipFill>
          </p:spPr>
          <p:txBody>
            <a:bodyPr/>
            <a:p/>
          </p:txBody>
        </p:sp>
      </p:grpSp>
      <p:sp>
        <p:nvSpPr>
          <p:cNvPr id="14" name="Rounded Rectangle 13"/>
          <p:cNvSpPr/>
          <p:nvPr/>
        </p:nvSpPr>
        <p:spPr>
          <a:xfrm>
            <a:off x="1097280" y="2011680"/>
            <a:ext cx="1243584" cy="457200"/>
          </a:xfrm>
          <a:prstGeom prst="roundRect">
            <a:avLst>
              <a:gd name="adj" fmla="val 50000"/>
            </a:avLst>
          </a:prstGeom>
          <a:solidFill>
            <a:srgbClr val="E8A33D"/>
          </a:solidFill>
          <a:ln>
            <a:noFill/>
          </a:ln>
        </p:spPr>
        <p:txBody>
          <a:bodyPr rtlCol="0" anchor="ctr" wrap="square" lIns="0" rIns="0" tIns="0" bIns="0"/>
          <a:lstStyle/>
          <a:p>
            <a:pPr algn="ctr">
              <a:lnSpc>
                <a:spcPct val="106000"/>
              </a:lnSpc>
              <a:spcAft>
                <a:spcPts val="0"/>
              </a:spcAft>
            </a:pPr>
            <a:r>
              <a:rPr sz="1400" b="1">
                <a:solidFill>
                  <a:srgbClr val="FFFFFF"/>
                </a:solidFill>
                <a:latin typeface="Calibri (MS) Bold"/>
              </a:rPr>
              <a:t>REVIEW 2</a:t>
            </a:r>
          </a:p>
        </p:txBody>
      </p:sp>
      <p:sp>
        <p:nvSpPr>
          <p:cNvPr id="15" name="TextBox 14"/>
          <p:cNvSpPr txBox="1"/>
          <p:nvPr/>
        </p:nvSpPr>
        <p:spPr>
          <a:xfrm>
            <a:off x="1097280" y="2697480"/>
            <a:ext cx="8046720" cy="2011680"/>
          </a:xfrm>
          <a:prstGeom prst="rect">
            <a:avLst/>
          </a:prstGeom>
          <a:noFill/>
        </p:spPr>
        <p:txBody>
          <a:bodyPr wrap="square" anchor="t" lIns="0" rIns="0" tIns="0" bIns="0">
            <a:spAutoFit/>
          </a:bodyPr>
          <a:lstStyle/>
          <a:p>
            <a:pPr algn="l">
              <a:lnSpc>
                <a:spcPct val="106000"/>
              </a:lnSpc>
              <a:spcAft>
                <a:spcPts val="0"/>
              </a:spcAft>
            </a:pPr>
            <a:r>
              <a:rPr sz="5200" b="1">
                <a:solidFill>
                  <a:srgbClr val="FFFFFF"/>
                </a:solidFill>
                <a:latin typeface="Cambria Bold"/>
              </a:rPr>
              <a:t>Existing System</a:t>
            </a:r>
          </a:p>
          <a:p>
            <a:pPr algn="l">
              <a:lnSpc>
                <a:spcPct val="106000"/>
              </a:lnSpc>
              <a:spcAft>
                <a:spcPts val="0"/>
              </a:spcAft>
            </a:pPr>
            <a:r>
              <a:rPr sz="5200" b="1">
                <a:solidFill>
                  <a:srgbClr val="FFFFFF"/>
                </a:solidFill>
                <a:latin typeface="Cambria Bold"/>
              </a:rPr>
              <a:t>+ Methodology</a:t>
            </a:r>
          </a:p>
        </p:txBody>
      </p:sp>
      <p:sp>
        <p:nvSpPr>
          <p:cNvPr id="16" name="TextBox 15"/>
          <p:cNvSpPr txBox="1"/>
          <p:nvPr/>
        </p:nvSpPr>
        <p:spPr>
          <a:xfrm>
            <a:off x="1143000" y="5120640"/>
            <a:ext cx="7863840" cy="3657600"/>
          </a:xfrm>
          <a:prstGeom prst="rect">
            <a:avLst/>
          </a:prstGeom>
          <a:noFill/>
        </p:spPr>
        <p:txBody>
          <a:bodyPr wrap="square" anchor="t" lIns="0" rIns="0" tIns="0" bIns="0">
            <a:spAutoFit/>
          </a:bodyPr>
          <a:lstStyle/>
          <a:p>
            <a:pPr algn="l">
              <a:lnSpc>
                <a:spcPct val="106000"/>
              </a:lnSpc>
              <a:spcAft>
                <a:spcPts val="1600"/>
              </a:spcAft>
            </a:pPr>
            <a:r>
              <a:rPr sz="2300" b="1">
                <a:solidFill>
                  <a:srgbClr val="E8A33D"/>
                </a:solidFill>
                <a:latin typeface="Calibri (MS) Bold"/>
              </a:rPr>
              <a:t>01  </a:t>
            </a:r>
            <a:r>
              <a:rPr sz="2300" b="0">
                <a:solidFill>
                  <a:srgbClr val="FFFFFF"/>
                </a:solidFill>
                <a:latin typeface="Calibri (MS)"/>
              </a:rPr>
              <a:t>Hệ thống hiện có làm được đến đâu</a:t>
            </a:r>
          </a:p>
          <a:p>
            <a:pPr algn="l">
              <a:lnSpc>
                <a:spcPct val="106000"/>
              </a:lnSpc>
              <a:spcAft>
                <a:spcPts val="1600"/>
              </a:spcAft>
            </a:pPr>
            <a:r>
              <a:rPr sz="2300" b="1">
                <a:solidFill>
                  <a:srgbClr val="E8A33D"/>
                </a:solidFill>
                <a:latin typeface="Calibri (MS) Bold"/>
              </a:rPr>
              <a:t>02  </a:t>
            </a:r>
            <a:r>
              <a:rPr sz="2300" b="0">
                <a:solidFill>
                  <a:srgbClr val="FFFFFF"/>
                </a:solidFill>
                <a:latin typeface="Calibri (MS)"/>
              </a:rPr>
              <a:t>Baseline của nhóm: điểm mạnh và yếu</a:t>
            </a:r>
          </a:p>
          <a:p>
            <a:pPr algn="l">
              <a:lnSpc>
                <a:spcPct val="106000"/>
              </a:lnSpc>
              <a:spcAft>
                <a:spcPts val="1600"/>
              </a:spcAft>
            </a:pPr>
            <a:r>
              <a:rPr sz="2300" b="1">
                <a:solidFill>
                  <a:srgbClr val="E8A33D"/>
                </a:solidFill>
                <a:latin typeface="Calibri (MS) Bold"/>
              </a:rPr>
              <a:t>03  </a:t>
            </a:r>
            <a:r>
              <a:rPr sz="2300" b="0">
                <a:solidFill>
                  <a:srgbClr val="FFFFFF"/>
                </a:solidFill>
                <a:latin typeface="Calibri (MS)"/>
              </a:rPr>
              <a:t>Cải tiến bằng phương pháp nào, với bằng chứng gì</a:t>
            </a:r>
          </a:p>
        </p:txBody>
      </p:sp>
      <p:pic>
        <p:nvPicPr>
          <p:cNvPr id="17" name="Picture 16" descr="r2_stack.png"/>
          <p:cNvPicPr>
            <a:picLocks noChangeAspect="1"/>
          </p:cNvPicPr>
          <p:nvPr/>
        </p:nvPicPr>
        <p:blipFill>
          <a:blip r:embed="rId8"/>
          <a:stretch>
            <a:fillRect/>
          </a:stretch>
        </p:blipFill>
        <p:spPr>
          <a:xfrm>
            <a:off x="9052560" y="1371600"/>
            <a:ext cx="8595360" cy="69451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6" name="Group 6"/>
          <p:cNvGrpSpPr/>
          <p:nvPr/>
        </p:nvGrpSpPr>
        <p:grpSpPr>
          <a:xfrm rot="0">
            <a:off x="822960" y="9612630"/>
            <a:ext cx="13716000" cy="468630"/>
            <a:chOff x="0" y="0"/>
            <a:chExt cx="18288000" cy="624840"/>
          </a:xfrm>
        </p:grpSpPr>
        <p:sp>
          <p:nvSpPr>
            <p:cNvPr id="7" name="Freeform 7"/>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8" name="TextBox 8"/>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9" name="TextBox 9"/>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TÓM TẮT</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Bốn kết quả chính — và bằng chứng</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11" name="Group 11"/>
          <p:cNvGrpSpPr/>
          <p:nvPr/>
        </p:nvGrpSpPr>
        <p:grpSpPr>
          <a:xfrm rot="0">
            <a:off x="15458732" y="0"/>
            <a:ext cx="2829306" cy="1184338"/>
            <a:chOff x="0" y="0"/>
            <a:chExt cx="3772408" cy="1579118"/>
          </a:xfrm>
        </p:grpSpPr>
        <p:sp>
          <p:nvSpPr>
            <p:cNvPr id="12" name="Freeform 1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4"/>
              <a:stretch>
                <a:fillRect/>
              </a:stretch>
            </a:blipFill>
          </p:spPr>
          <p:txBody>
            <a:bodyPr/>
            <a:p/>
          </p:txBody>
        </p:sp>
      </p:grpSp>
      <p:grpSp>
        <p:nvGrpSpPr>
          <p:cNvPr id="13" name="Group 13"/>
          <p:cNvGrpSpPr/>
          <p:nvPr/>
        </p:nvGrpSpPr>
        <p:grpSpPr>
          <a:xfrm rot="0">
            <a:off x="822960" y="1920240"/>
            <a:ext cx="4014216" cy="2697480"/>
            <a:chOff x="0" y="0"/>
            <a:chExt cx="5352288" cy="3596640"/>
          </a:xfrm>
        </p:grpSpPr>
        <p:sp>
          <p:nvSpPr>
            <p:cNvPr id="14" name="Freeform 14"/>
            <p:cNvSpPr/>
            <p:nvPr/>
          </p:nvSpPr>
          <p:spPr>
            <a:xfrm>
              <a:off x="0" y="0"/>
              <a:ext cx="5352288" cy="3596640"/>
            </a:xfrm>
            <a:custGeom>
              <a:avLst/>
              <a:gdLst/>
              <a:ahLst/>
              <a:cxnLst/>
              <a:rect l="l" t="t" r="r" b="b"/>
              <a:pathLst>
                <a:path w="5352288" h="3596640">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E7F0F3"/>
            </a:solidFill>
          </p:spPr>
          <p:txBody>
            <a:bodyPr/>
            <a:p/>
          </p:txBody>
        </p:sp>
      </p:grpSp>
      <p:sp>
        <p:nvSpPr>
          <p:cNvPr id="15" name="TextBox 15"/>
          <p:cNvSpPr txBox="1"/>
          <p:nvPr/>
        </p:nvSpPr>
        <p:spPr>
          <a:xfrm>
            <a:off x="1097280" y="2083308"/>
            <a:ext cx="3557016" cy="358140"/>
          </a:xfrm>
          <a:prstGeom prst="rect">
            <a:avLst/>
          </a:prstGeom>
        </p:spPr>
        <p:txBody>
          <a:bodyPr lIns="0" tIns="0" rIns="0" bIns="0" rtlCol="0" anchor="t">
            <a:spAutoFit/>
          </a:bodyPr>
          <a:lstStyle/>
          <a:p>
            <a:pPr algn="l">
              <a:lnSpc>
                <a:spcPts val="1655"/>
              </a:lnSpc>
            </a:pPr>
            <a:r>
              <a:rPr lang="en-US" sz="1300" b="1">
                <a:solidFill>
                  <a:srgbClr val="1C7293"/>
                </a:solidFill>
                <a:latin typeface="Calibri (MS) Bold" panose="020F0702030404030204"/>
                <a:ea typeface="Calibri (MS) Bold" panose="020F0702030404030204"/>
                <a:cs typeface="Calibri (MS) Bold" panose="020F0702030404030204"/>
                <a:sym typeface="Calibri (MS) Bold" panose="020F0702030404030204"/>
              </a:rPr>
              <a:t>①  BASELINE CHẠY ĐÚNG</a:t>
            </a:r>
            <a:endParaRPr lang="en-US" sz="13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1097280" y="2430780"/>
            <a:ext cx="3557016" cy="861060"/>
          </a:xfrm>
          <a:prstGeom prst="rect">
            <a:avLst/>
          </a:prstGeom>
        </p:spPr>
        <p:txBody>
          <a:bodyPr lIns="0" tIns="0" rIns="0" bIns="0" rtlCol="0" anchor="t">
            <a:spAutoFit/>
          </a:bodyPr>
          <a:lstStyle/>
          <a:p>
            <a:pPr algn="l">
              <a:lnSpc>
                <a:spcPts val="5850"/>
              </a:lnSpc>
            </a:pPr>
            <a:r>
              <a:rPr lang="en-US" sz="4600" b="1">
                <a:solidFill>
                  <a:srgbClr val="1C7293"/>
                </a:solidFill>
                <a:latin typeface="Cambria Bold" panose="02040803050406030204"/>
                <a:ea typeface="Cambria Bold" panose="02040803050406030204"/>
                <a:cs typeface="Cambria Bold" panose="02040803050406030204"/>
                <a:sym typeface="Cambria Bold" panose="02040803050406030204"/>
              </a:rPr>
              <a:t>79,6</a:t>
            </a:r>
            <a:endParaRPr lang="en-US" sz="4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17" name="TextBox 17"/>
          <p:cNvSpPr txBox="1"/>
          <p:nvPr/>
        </p:nvSpPr>
        <p:spPr>
          <a:xfrm>
            <a:off x="1097280" y="3244215"/>
            <a:ext cx="3557016" cy="1327785"/>
          </a:xfrm>
          <a:prstGeom prst="rect">
            <a:avLst/>
          </a:prstGeom>
        </p:spPr>
        <p:txBody>
          <a:bodyPr lIns="0" tIns="0" rIns="0" bIns="0" rtlCol="0" anchor="t">
            <a:spAutoFit/>
          </a:bodyPr>
          <a:lstStyle/>
          <a:p>
            <a:pPr algn="l">
              <a:lnSpc>
                <a:spcPts val="2160"/>
              </a:lnSpc>
            </a:pPr>
            <a:r>
              <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rPr>
              <a:t>Tái lập Qwen2.5-VL-3B</a:t>
            </a:r>
            <a:endPar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845"/>
              </a:lnSpc>
            </a:pPr>
            <a:r>
              <a:rPr lang="en-US" sz="1450">
                <a:solidFill>
                  <a:srgbClr val="243044"/>
                </a:solidFill>
                <a:latin typeface="Calibri (MS)" panose="020F0502020204030204"/>
                <a:ea typeface="Calibri (MS)" panose="020F0502020204030204"/>
                <a:cs typeface="Calibri (MS)" panose="020F0502020204030204"/>
                <a:sym typeface="Calibri (MS)" panose="020F0502020204030204"/>
              </a:rPr>
              <a:t>TextVQA val, 5.000 câu tiếng Anh. Báo cáo gốc 79,3 → chênh +0,3 (ngưỡng ±2)</a:t>
            </a:r>
            <a:endParaRPr lang="en-US" sz="14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8" name="Group 18"/>
          <p:cNvGrpSpPr/>
          <p:nvPr/>
        </p:nvGrpSpPr>
        <p:grpSpPr>
          <a:xfrm rot="0">
            <a:off x="5001768" y="1920240"/>
            <a:ext cx="4014216" cy="2697480"/>
            <a:chOff x="0" y="0"/>
            <a:chExt cx="5352288" cy="3596640"/>
          </a:xfrm>
        </p:grpSpPr>
        <p:sp>
          <p:nvSpPr>
            <p:cNvPr id="19" name="Freeform 19"/>
            <p:cNvSpPr/>
            <p:nvPr/>
          </p:nvSpPr>
          <p:spPr>
            <a:xfrm>
              <a:off x="0" y="0"/>
              <a:ext cx="5352288" cy="3596640"/>
            </a:xfrm>
            <a:custGeom>
              <a:avLst/>
              <a:gdLst/>
              <a:ahLst/>
              <a:cxnLst/>
              <a:rect l="l" t="t" r="r" b="b"/>
              <a:pathLst>
                <a:path w="5352288" h="3596640">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F3F5F8"/>
            </a:solidFill>
          </p:spPr>
          <p:txBody>
            <a:bodyPr/>
            <a:p/>
          </p:txBody>
        </p:sp>
      </p:grpSp>
      <p:sp>
        <p:nvSpPr>
          <p:cNvPr id="20" name="TextBox 20"/>
          <p:cNvSpPr txBox="1"/>
          <p:nvPr/>
        </p:nvSpPr>
        <p:spPr>
          <a:xfrm>
            <a:off x="5276088" y="2083308"/>
            <a:ext cx="3557016" cy="358140"/>
          </a:xfrm>
          <a:prstGeom prst="rect">
            <a:avLst/>
          </a:prstGeom>
        </p:spPr>
        <p:txBody>
          <a:bodyPr lIns="0" tIns="0" rIns="0" bIns="0" rtlCol="0" anchor="t">
            <a:spAutoFit/>
          </a:bodyPr>
          <a:lstStyle/>
          <a:p>
            <a:pPr algn="l">
              <a:lnSpc>
                <a:spcPts val="1655"/>
              </a:lnSpc>
            </a:pPr>
            <a:r>
              <a:rPr lang="en-US" sz="1300" b="1">
                <a:solidFill>
                  <a:srgbClr val="1C7293"/>
                </a:solidFill>
                <a:latin typeface="Calibri (MS) Bold" panose="020F0702030404030204"/>
                <a:ea typeface="Calibri (MS) Bold" panose="020F0702030404030204"/>
                <a:cs typeface="Calibri (MS) Bold" panose="020F0702030404030204"/>
                <a:sym typeface="Calibri (MS) Bold" panose="020F0702030404030204"/>
              </a:rPr>
              <a:t>②  QLoRA SO VỚI ZERO-SHOT</a:t>
            </a:r>
            <a:endParaRPr lang="en-US" sz="13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1" name="TextBox 21"/>
          <p:cNvSpPr txBox="1"/>
          <p:nvPr/>
        </p:nvSpPr>
        <p:spPr>
          <a:xfrm>
            <a:off x="5276088" y="2430780"/>
            <a:ext cx="3557016" cy="861060"/>
          </a:xfrm>
          <a:prstGeom prst="rect">
            <a:avLst/>
          </a:prstGeom>
        </p:spPr>
        <p:txBody>
          <a:bodyPr lIns="0" tIns="0" rIns="0" bIns="0" rtlCol="0" anchor="t">
            <a:spAutoFit/>
          </a:bodyPr>
          <a:lstStyle/>
          <a:p>
            <a:pPr algn="l">
              <a:lnSpc>
                <a:spcPts val="5850"/>
              </a:lnSpc>
            </a:pPr>
            <a:r>
              <a:rPr lang="en-US" sz="4600" b="1">
                <a:solidFill>
                  <a:srgbClr val="1C7293"/>
                </a:solidFill>
                <a:latin typeface="Cambria Bold" panose="02040803050406030204"/>
                <a:ea typeface="Cambria Bold" panose="02040803050406030204"/>
                <a:cs typeface="Cambria Bold" panose="02040803050406030204"/>
                <a:sym typeface="Cambria Bold" panose="02040803050406030204"/>
              </a:rPr>
              <a:t>+21,1</a:t>
            </a:r>
            <a:endParaRPr lang="en-US" sz="46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22" name="TextBox 22"/>
          <p:cNvSpPr txBox="1"/>
          <p:nvPr/>
        </p:nvSpPr>
        <p:spPr>
          <a:xfrm>
            <a:off x="5276088" y="3244215"/>
            <a:ext cx="3557016" cy="1327785"/>
          </a:xfrm>
          <a:prstGeom prst="rect">
            <a:avLst/>
          </a:prstGeom>
        </p:spPr>
        <p:txBody>
          <a:bodyPr lIns="0" tIns="0" rIns="0" bIns="0" rtlCol="0" anchor="t">
            <a:spAutoFit/>
          </a:bodyPr>
          <a:lstStyle/>
          <a:p>
            <a:pPr algn="l">
              <a:lnSpc>
                <a:spcPts val="2160"/>
              </a:lnSpc>
            </a:pPr>
            <a:r>
              <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rPr>
              <a:t>ViTextVQA: 29,1 → 50,3 EM</a:t>
            </a:r>
            <a:endPar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845"/>
              </a:lnSpc>
            </a:pPr>
            <a:r>
              <a:rPr lang="en-US" sz="1450">
                <a:solidFill>
                  <a:srgbClr val="243044"/>
                </a:solidFill>
                <a:latin typeface="Calibri (MS)" panose="020F0502020204030204"/>
                <a:ea typeface="Calibri (MS)" panose="020F0502020204030204"/>
                <a:cs typeface="Calibri (MS)" panose="020F0502020204030204"/>
                <a:sym typeface="Calibri (MS)" panose="020F0502020204030204"/>
              </a:rPr>
              <a:t>ViVQA: 22,1 → 73,8 EM (+51,7). Cùng model, chỉ thêm adapter 0,196% tham số</a:t>
            </a:r>
            <a:endParaRPr lang="en-US" sz="14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3" name="Group 23"/>
          <p:cNvGrpSpPr/>
          <p:nvPr/>
        </p:nvGrpSpPr>
        <p:grpSpPr>
          <a:xfrm rot="0">
            <a:off x="9180576" y="1920240"/>
            <a:ext cx="4014216" cy="2697480"/>
            <a:chOff x="0" y="0"/>
            <a:chExt cx="5352288" cy="3596640"/>
          </a:xfrm>
        </p:grpSpPr>
        <p:sp>
          <p:nvSpPr>
            <p:cNvPr id="24" name="Freeform 24"/>
            <p:cNvSpPr/>
            <p:nvPr/>
          </p:nvSpPr>
          <p:spPr>
            <a:xfrm>
              <a:off x="0" y="0"/>
              <a:ext cx="5352288" cy="3596640"/>
            </a:xfrm>
            <a:custGeom>
              <a:avLst/>
              <a:gdLst/>
              <a:ahLst/>
              <a:cxnLst/>
              <a:rect l="l" t="t" r="r" b="b"/>
              <a:pathLst>
                <a:path w="5352288" h="3596640">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FBF0DA"/>
            </a:solidFill>
          </p:spPr>
          <p:txBody>
            <a:bodyPr/>
            <a:p/>
          </p:txBody>
        </p:sp>
      </p:grpSp>
      <p:sp>
        <p:nvSpPr>
          <p:cNvPr id="25" name="TextBox 25"/>
          <p:cNvSpPr txBox="1"/>
          <p:nvPr/>
        </p:nvSpPr>
        <p:spPr>
          <a:xfrm>
            <a:off x="9454896" y="2083308"/>
            <a:ext cx="3557016" cy="358140"/>
          </a:xfrm>
          <a:prstGeom prst="rect">
            <a:avLst/>
          </a:prstGeom>
        </p:spPr>
        <p:txBody>
          <a:bodyPr lIns="0" tIns="0" rIns="0" bIns="0" rtlCol="0" anchor="t">
            <a:spAutoFit/>
          </a:bodyPr>
          <a:lstStyle/>
          <a:p>
            <a:pPr algn="l">
              <a:lnSpc>
                <a:spcPts val="1655"/>
              </a:lnSpc>
            </a:pPr>
            <a:r>
              <a:rPr lang="en-US" sz="1300" b="1">
                <a:solidFill>
                  <a:srgbClr val="B86E0E"/>
                </a:solidFill>
                <a:latin typeface="Calibri (MS) Bold" panose="020F0702030404030204"/>
                <a:ea typeface="Calibri (MS) Bold" panose="020F0702030404030204"/>
                <a:cs typeface="Calibri (MS) Bold" panose="020F0702030404030204"/>
                <a:sym typeface="Calibri (MS) Bold" panose="020F0702030404030204"/>
              </a:rPr>
              <a:t>③  THÊM OCR · CHỈ ViTextVQA</a:t>
            </a:r>
            <a:endParaRPr lang="en-US" sz="1300" b="1">
              <a:solidFill>
                <a:srgbClr val="B86E0E"/>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6" name="TextBox 26"/>
          <p:cNvSpPr txBox="1"/>
          <p:nvPr/>
        </p:nvSpPr>
        <p:spPr>
          <a:xfrm>
            <a:off x="9454896" y="2430780"/>
            <a:ext cx="3557016" cy="861060"/>
          </a:xfrm>
          <a:prstGeom prst="rect">
            <a:avLst/>
          </a:prstGeom>
        </p:spPr>
        <p:txBody>
          <a:bodyPr lIns="0" tIns="0" rIns="0" bIns="0" rtlCol="0" anchor="t">
            <a:spAutoFit/>
          </a:bodyPr>
          <a:lstStyle/>
          <a:p>
            <a:pPr algn="l">
              <a:lnSpc>
                <a:spcPts val="5850"/>
              </a:lnSpc>
            </a:pPr>
            <a:r>
              <a:rPr lang="en-US" sz="4600" b="1">
                <a:solidFill>
                  <a:srgbClr val="B86E0E"/>
                </a:solidFill>
                <a:latin typeface="Cambria Bold" panose="02040803050406030204"/>
                <a:ea typeface="Cambria Bold" panose="02040803050406030204"/>
                <a:cs typeface="Cambria Bold" panose="02040803050406030204"/>
                <a:sym typeface="Cambria Bold" panose="02040803050406030204"/>
              </a:rPr>
              <a:t>+3,1</a:t>
            </a:r>
            <a:endParaRPr lang="en-US" sz="4600" b="1">
              <a:solidFill>
                <a:srgbClr val="B86E0E"/>
              </a:solidFill>
              <a:latin typeface="Cambria Bold" panose="02040803050406030204"/>
              <a:ea typeface="Cambria Bold" panose="02040803050406030204"/>
              <a:cs typeface="Cambria Bold" panose="02040803050406030204"/>
              <a:sym typeface="Cambria Bold" panose="02040803050406030204"/>
            </a:endParaRPr>
          </a:p>
        </p:txBody>
      </p:sp>
      <p:sp>
        <p:nvSpPr>
          <p:cNvPr id="27" name="TextBox 27"/>
          <p:cNvSpPr txBox="1"/>
          <p:nvPr/>
        </p:nvSpPr>
        <p:spPr>
          <a:xfrm>
            <a:off x="9454896" y="3244215"/>
            <a:ext cx="3557016" cy="1327785"/>
          </a:xfrm>
          <a:prstGeom prst="rect">
            <a:avLst/>
          </a:prstGeom>
        </p:spPr>
        <p:txBody>
          <a:bodyPr lIns="0" tIns="0" rIns="0" bIns="0" rtlCol="0" anchor="t">
            <a:spAutoFit/>
          </a:bodyPr>
          <a:lstStyle/>
          <a:p>
            <a:pPr algn="l">
              <a:lnSpc>
                <a:spcPts val="2160"/>
              </a:lnSpc>
            </a:pPr>
            <a:r>
              <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rPr>
              <a:t>B2 50,3 → B3-full 53,4 EM</a:t>
            </a:r>
            <a:endPar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845"/>
              </a:lnSpc>
            </a:pPr>
            <a:r>
              <a:rPr lang="en-US" sz="1450">
                <a:solidFill>
                  <a:srgbClr val="243044"/>
                </a:solidFill>
                <a:latin typeface="Calibri (MS)" panose="020F0502020204030204"/>
                <a:ea typeface="Calibri (MS)" panose="020F0502020204030204"/>
                <a:cs typeface="Calibri (MS)" panose="020F0502020204030204"/>
                <a:sym typeface="Calibri (MS)" panose="020F0502020204030204"/>
              </a:rPr>
              <a:t>Cùng QLoRA, cùng toàn bộ dữ liệu. 705 câu sửa đúng / 395 câu làm sai, p = 7×10⁻²¹</a:t>
            </a:r>
            <a:endParaRPr lang="en-US" sz="14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8" name="Group 28"/>
          <p:cNvGrpSpPr/>
          <p:nvPr/>
        </p:nvGrpSpPr>
        <p:grpSpPr>
          <a:xfrm rot="0">
            <a:off x="13359384" y="1920240"/>
            <a:ext cx="4014216" cy="2697480"/>
            <a:chOff x="0" y="0"/>
            <a:chExt cx="5352288" cy="3596640"/>
          </a:xfrm>
        </p:grpSpPr>
        <p:sp>
          <p:nvSpPr>
            <p:cNvPr id="29" name="Freeform 29"/>
            <p:cNvSpPr/>
            <p:nvPr/>
          </p:nvSpPr>
          <p:spPr>
            <a:xfrm>
              <a:off x="0" y="0"/>
              <a:ext cx="5352288" cy="3596640"/>
            </a:xfrm>
            <a:custGeom>
              <a:avLst/>
              <a:gdLst/>
              <a:ahLst/>
              <a:cxnLst/>
              <a:rect l="l" t="t" r="r" b="b"/>
              <a:pathLst>
                <a:path w="5352288" h="3596640">
                  <a:moveTo>
                    <a:pt x="0" y="215773"/>
                  </a:moveTo>
                  <a:cubicBezTo>
                    <a:pt x="0" y="96647"/>
                    <a:pt x="96647" y="0"/>
                    <a:pt x="215773" y="0"/>
                  </a:cubicBezTo>
                  <a:lnTo>
                    <a:pt x="5136515" y="0"/>
                  </a:lnTo>
                  <a:cubicBezTo>
                    <a:pt x="5255641" y="0"/>
                    <a:pt x="5352288" y="96647"/>
                    <a:pt x="5352288" y="215773"/>
                  </a:cubicBezTo>
                  <a:lnTo>
                    <a:pt x="5352288" y="3380867"/>
                  </a:lnTo>
                  <a:cubicBezTo>
                    <a:pt x="5352288" y="3499993"/>
                    <a:pt x="5255641" y="3596640"/>
                    <a:pt x="5136515" y="3596640"/>
                  </a:cubicBezTo>
                  <a:lnTo>
                    <a:pt x="215773" y="3596640"/>
                  </a:lnTo>
                  <a:cubicBezTo>
                    <a:pt x="96647" y="3596640"/>
                    <a:pt x="0" y="3499993"/>
                    <a:pt x="0" y="3380867"/>
                  </a:cubicBezTo>
                  <a:close/>
                </a:path>
              </a:pathLst>
            </a:custGeom>
            <a:solidFill>
              <a:srgbClr val="F3F5F8"/>
            </a:solidFill>
          </p:spPr>
          <p:txBody>
            <a:bodyPr/>
            <a:p/>
          </p:txBody>
        </p:sp>
      </p:grpSp>
      <p:sp>
        <p:nvSpPr>
          <p:cNvPr id="30" name="TextBox 30"/>
          <p:cNvSpPr txBox="1"/>
          <p:nvPr/>
        </p:nvSpPr>
        <p:spPr>
          <a:xfrm>
            <a:off x="13633704" y="2083308"/>
            <a:ext cx="3557016" cy="358140"/>
          </a:xfrm>
          <a:prstGeom prst="rect">
            <a:avLst/>
          </a:prstGeom>
        </p:spPr>
        <p:txBody>
          <a:bodyPr lIns="0" tIns="0" rIns="0" bIns="0" rtlCol="0" anchor="t">
            <a:spAutoFit/>
          </a:bodyPr>
          <a:lstStyle/>
          <a:p>
            <a:pPr algn="l">
              <a:lnSpc>
                <a:spcPts val="1655"/>
              </a:lnSpc>
            </a:pPr>
            <a:r>
              <a:rPr lang="en-US" sz="1300" b="1">
                <a:solidFill>
                  <a:srgbClr val="13294B"/>
                </a:solidFill>
                <a:latin typeface="Calibri (MS) Bold" panose="020F0702030404030204"/>
                <a:ea typeface="Calibri (MS) Bold" panose="020F0702030404030204"/>
                <a:cs typeface="Calibri (MS) Bold" panose="020F0702030404030204"/>
                <a:sym typeface="Calibri (MS) Bold" panose="020F0702030404030204"/>
              </a:rPr>
              <a:t>④  SO VỚI SOTA CÔNG BỐ</a:t>
            </a:r>
            <a:endParaRPr lang="en-US" sz="13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1" name="TextBox 31"/>
          <p:cNvSpPr txBox="1"/>
          <p:nvPr/>
        </p:nvSpPr>
        <p:spPr>
          <a:xfrm>
            <a:off x="13633704" y="2430780"/>
            <a:ext cx="3557016" cy="861060"/>
          </a:xfrm>
          <a:prstGeom prst="rect">
            <a:avLst/>
          </a:prstGeom>
        </p:spPr>
        <p:txBody>
          <a:bodyPr lIns="0" tIns="0" rIns="0" bIns="0" rtlCol="0" anchor="t">
            <a:spAutoFit/>
          </a:bodyPr>
          <a:lstStyle/>
          <a:p>
            <a:pPr algn="l">
              <a:lnSpc>
                <a:spcPts val="5850"/>
              </a:lnSpc>
            </a:pPr>
            <a:r>
              <a:rPr lang="en-US" sz="4600" b="1">
                <a:solidFill>
                  <a:srgbClr val="13294B"/>
                </a:solidFill>
                <a:latin typeface="Cambria Bold" panose="02040803050406030204"/>
                <a:ea typeface="Cambria Bold" panose="02040803050406030204"/>
                <a:cs typeface="Cambria Bold" panose="02040803050406030204"/>
                <a:sym typeface="Cambria Bold" panose="02040803050406030204"/>
              </a:rPr>
              <a:t>53,4</a:t>
            </a:r>
            <a:endParaRPr lang="en-US" sz="46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32" name="TextBox 32"/>
          <p:cNvSpPr txBox="1"/>
          <p:nvPr/>
        </p:nvSpPr>
        <p:spPr>
          <a:xfrm>
            <a:off x="13633704" y="3244215"/>
            <a:ext cx="3557016" cy="1327785"/>
          </a:xfrm>
          <a:prstGeom prst="rect">
            <a:avLst/>
          </a:prstGeom>
        </p:spPr>
        <p:txBody>
          <a:bodyPr lIns="0" tIns="0" rIns="0" bIns="0" rtlCol="0" anchor="t">
            <a:spAutoFit/>
          </a:bodyPr>
          <a:lstStyle/>
          <a:p>
            <a:pPr algn="l">
              <a:lnSpc>
                <a:spcPts val="2160"/>
              </a:lnSpc>
            </a:pPr>
            <a:r>
              <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rPr>
              <a:t>B3-full so với ViTextBLIP-2 25,5</a:t>
            </a:r>
            <a:endPar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845"/>
              </a:lnSpc>
            </a:pPr>
            <a:r>
              <a:rPr lang="en-US" sz="1450">
                <a:solidFill>
                  <a:srgbClr val="243044"/>
                </a:solidFill>
                <a:latin typeface="Calibri (MS)" panose="020F0502020204030204"/>
                <a:ea typeface="Calibri (MS)" panose="020F0502020204030204"/>
                <a:cs typeface="Calibri (MS)" panose="020F0502020204030204"/>
                <a:sym typeface="Calibri (MS)" panose="020F0502020204030204"/>
              </a:rPr>
              <a:t>Full test ViTextVQA 10.028 câu. F1 73,7 so với 54,0 của SOTA</a:t>
            </a:r>
            <a:endParaRPr lang="en-US" sz="14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33" name="Group 33"/>
          <p:cNvGrpSpPr/>
          <p:nvPr/>
        </p:nvGrpSpPr>
        <p:grpSpPr>
          <a:xfrm rot="0">
            <a:off x="822960" y="4800600"/>
            <a:ext cx="6800088" cy="4434840"/>
            <a:chOff x="0" y="0"/>
            <a:chExt cx="9066784" cy="5913120"/>
          </a:xfrm>
        </p:grpSpPr>
        <p:sp>
          <p:nvSpPr>
            <p:cNvPr id="34" name="Freeform 34" descr="ev16_ladder.png"/>
            <p:cNvSpPr/>
            <p:nvPr/>
          </p:nvSpPr>
          <p:spPr>
            <a:xfrm>
              <a:off x="0" y="0"/>
              <a:ext cx="9066784" cy="5913120"/>
            </a:xfrm>
            <a:custGeom>
              <a:avLst/>
              <a:gdLst/>
              <a:ahLst/>
              <a:cxnLst/>
              <a:rect l="l" t="t" r="r" b="b"/>
              <a:pathLst>
                <a:path w="9066784" h="5913120">
                  <a:moveTo>
                    <a:pt x="0" y="0"/>
                  </a:moveTo>
                  <a:lnTo>
                    <a:pt x="9066784" y="0"/>
                  </a:lnTo>
                  <a:lnTo>
                    <a:pt x="9066784" y="5913120"/>
                  </a:lnTo>
                  <a:lnTo>
                    <a:pt x="0" y="5913120"/>
                  </a:lnTo>
                  <a:lnTo>
                    <a:pt x="0" y="0"/>
                  </a:lnTo>
                  <a:close/>
                </a:path>
              </a:pathLst>
            </a:custGeom>
            <a:blipFill>
              <a:blip r:embed="rId5"/>
              <a:stretch>
                <a:fillRect/>
              </a:stretch>
            </a:blipFill>
          </p:spPr>
          <p:txBody>
            <a:bodyPr/>
            <a:p/>
          </p:txBody>
        </p:sp>
      </p:grpSp>
      <p:pic>
        <p:nvPicPr>
          <p:cNvPr id="35" name="Picture 34" descr="cell15.png"/>
          <p:cNvPicPr>
            <a:picLocks noChangeAspect="1"/>
          </p:cNvPicPr>
          <p:nvPr/>
        </p:nvPicPr>
        <p:blipFill>
          <a:blip r:embed="rId10"/>
          <a:stretch>
            <a:fillRect/>
          </a:stretch>
        </p:blipFill>
        <p:spPr>
          <a:xfrm>
            <a:off x="7900416" y="4800600"/>
            <a:ext cx="9564624" cy="3676142"/>
          </a:xfrm>
          <a:prstGeom prst="rect">
            <a:avLst/>
          </a:prstGeom>
        </p:spPr>
      </p:pic>
      <p:sp>
        <p:nvSpPr>
          <p:cNvPr id="36" name="TextBox 35"/>
          <p:cNvSpPr txBox="1"/>
          <p:nvPr/>
        </p:nvSpPr>
        <p:spPr>
          <a:xfrm>
            <a:off x="7900416" y="8586470"/>
            <a:ext cx="9564624" cy="694690"/>
          </a:xfrm>
          <a:prstGeom prst="rect">
            <a:avLst/>
          </a:prstGeom>
          <a:noFill/>
        </p:spPr>
        <p:txBody>
          <a:bodyPr wrap="square" anchor="t" lIns="0" rIns="0" tIns="0" bIns="0">
            <a:spAutoFit/>
          </a:bodyPr>
          <a:lstStyle/>
          <a:p>
            <a:pPr algn="l">
              <a:lnSpc>
                <a:spcPct val="106000"/>
              </a:lnSpc>
              <a:spcAft>
                <a:spcPts val="300"/>
              </a:spcAft>
            </a:pPr>
            <a:r>
              <a:rPr sz="1350" b="1">
                <a:solidFill>
                  <a:srgbClr val="B86E0E"/>
                </a:solidFill>
                <a:latin typeface="Calibri (MS) Bold"/>
              </a:rPr>
              <a:t>Số đã công bố: </a:t>
            </a:r>
            <a:r>
              <a:rPr sz="1350" b="0" u="sng">
                <a:solidFill>
                  <a:srgbClr val="1C7293"/>
                </a:solidFill>
                <a:latin typeface="Calibri (MS)"/>
                <a:hlinkClick r:id="rId7"/>
              </a:rPr>
              <a:t>79,3 — Qwen2.5-VL Technical Report, Table 5 ↗</a:t>
            </a:r>
            <a:r>
              <a:rPr sz="1350" b="0">
                <a:solidFill>
                  <a:srgbClr val="5B677A"/>
                </a:solidFill>
                <a:latin typeface="Calibri (MS)"/>
              </a:rPr>
              <a:t>  ·  </a:t>
            </a:r>
            <a:r>
              <a:rPr sz="1350" b="0" u="sng">
                <a:solidFill>
                  <a:srgbClr val="1C7293"/>
                </a:solidFill>
                <a:latin typeface="Calibri (MS)"/>
                <a:hlinkClick r:id="rId8"/>
              </a:rPr>
              <a:t>25,48 EM / 53,95 F1 — ViTextVQA (Nguyen et al., 2024), Table 6 ↗</a:t>
            </a:r>
          </a:p>
          <a:p>
            <a:pPr algn="l">
              <a:lnSpc>
                <a:spcPct val="106000"/>
              </a:lnSpc>
              <a:spcAft>
                <a:spcPts val="0"/>
              </a:spcAft>
            </a:pPr>
            <a:r>
              <a:rPr sz="1350" b="0">
                <a:solidFill>
                  <a:srgbClr val="5B677A"/>
                </a:solidFill>
                <a:latin typeface="Calibri (MS)"/>
              </a:rPr>
              <a:t>Paper SOTA không công bố cách chuẩn hoá đáp án → so cả F1 (73,7 so với 54,0).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6" name="Group 6"/>
          <p:cNvGrpSpPr/>
          <p:nvPr/>
        </p:nvGrpSpPr>
        <p:grpSpPr>
          <a:xfrm rot="0">
            <a:off x="822960" y="9612630"/>
            <a:ext cx="13716000" cy="468630"/>
            <a:chOff x="0" y="0"/>
            <a:chExt cx="18288000" cy="624840"/>
          </a:xfrm>
        </p:grpSpPr>
        <p:sp>
          <p:nvSpPr>
            <p:cNvPr id="7" name="Freeform 7"/>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8" name="TextBox 8"/>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9" name="TextBox 9"/>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03 · XỬ LÝ DỮ LIỆU</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Xử lý dữ liệu: trước và sau, trên mẫu thật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11" name="Group 11"/>
          <p:cNvGrpSpPr/>
          <p:nvPr/>
        </p:nvGrpSpPr>
        <p:grpSpPr>
          <a:xfrm rot="0">
            <a:off x="15458732" y="0"/>
            <a:ext cx="2829306" cy="1184338"/>
            <a:chOff x="0" y="0"/>
            <a:chExt cx="3772408" cy="1579118"/>
          </a:xfrm>
        </p:grpSpPr>
        <p:sp>
          <p:nvSpPr>
            <p:cNvPr id="12" name="Freeform 1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4"/>
              <a:stretch>
                <a:fillRect/>
              </a:stretch>
            </a:blipFill>
          </p:spPr>
          <p:txBody>
            <a:bodyPr/>
            <a:p/>
          </p:txBody>
        </p:sp>
      </p:grpSp>
      <p:grpSp>
        <p:nvGrpSpPr>
          <p:cNvPr id="13" name="Group 13"/>
          <p:cNvGrpSpPr/>
          <p:nvPr/>
        </p:nvGrpSpPr>
        <p:grpSpPr>
          <a:xfrm rot="0">
            <a:off x="822960" y="2011680"/>
            <a:ext cx="5440680" cy="7178040"/>
            <a:chOff x="0" y="0"/>
            <a:chExt cx="7254240" cy="9570720"/>
          </a:xfrm>
        </p:grpSpPr>
        <p:sp>
          <p:nvSpPr>
            <p:cNvPr id="14" name="Freeform 14"/>
            <p:cNvSpPr/>
            <p:nvPr/>
          </p:nvSpPr>
          <p:spPr>
            <a:xfrm>
              <a:off x="0" y="0"/>
              <a:ext cx="7254240" cy="9570720"/>
            </a:xfrm>
            <a:custGeom>
              <a:avLst/>
              <a:gdLst/>
              <a:ahLst/>
              <a:cxnLst/>
              <a:rect l="l" t="t" r="r" b="b"/>
              <a:pathLst>
                <a:path w="7254240" h="9570720">
                  <a:moveTo>
                    <a:pt x="0" y="217678"/>
                  </a:moveTo>
                  <a:cubicBezTo>
                    <a:pt x="0" y="97409"/>
                    <a:pt x="97409" y="0"/>
                    <a:pt x="217678" y="0"/>
                  </a:cubicBezTo>
                  <a:lnTo>
                    <a:pt x="7036562" y="0"/>
                  </a:lnTo>
                  <a:cubicBezTo>
                    <a:pt x="7156704" y="0"/>
                    <a:pt x="7254240" y="97409"/>
                    <a:pt x="7254240" y="217678"/>
                  </a:cubicBezTo>
                  <a:lnTo>
                    <a:pt x="7254240" y="9353042"/>
                  </a:lnTo>
                  <a:cubicBezTo>
                    <a:pt x="7254240" y="9473185"/>
                    <a:pt x="7156831" y="9570720"/>
                    <a:pt x="7036562" y="9570720"/>
                  </a:cubicBezTo>
                  <a:lnTo>
                    <a:pt x="217678" y="9570720"/>
                  </a:lnTo>
                  <a:cubicBezTo>
                    <a:pt x="97409" y="9570720"/>
                    <a:pt x="0" y="9473311"/>
                    <a:pt x="0" y="9353042"/>
                  </a:cubicBezTo>
                  <a:close/>
                </a:path>
              </a:pathLst>
            </a:custGeom>
            <a:solidFill>
              <a:srgbClr val="F3F5F8"/>
            </a:solidFill>
          </p:spPr>
          <p:txBody>
            <a:bodyPr/>
            <a:p/>
          </p:txBody>
        </p:sp>
      </p:grpSp>
      <p:sp>
        <p:nvSpPr>
          <p:cNvPr id="15" name="TextBox 15"/>
          <p:cNvSpPr txBox="1"/>
          <p:nvPr/>
        </p:nvSpPr>
        <p:spPr>
          <a:xfrm>
            <a:off x="1097280" y="2137410"/>
            <a:ext cx="4983480" cy="514350"/>
          </a:xfrm>
          <a:prstGeom prst="rect">
            <a:avLst/>
          </a:prstGeom>
        </p:spPr>
        <p:txBody>
          <a:bodyPr lIns="0" tIns="0" rIns="0" bIns="0" rtlCol="0" anchor="t">
            <a:spAutoFit/>
          </a:bodyPr>
          <a:lstStyle/>
          <a:p>
            <a:pPr algn="l">
              <a:lnSpc>
                <a:spcPts val="267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①  Ảnh · resize theo max_pixels</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6" name="Group 16"/>
          <p:cNvGrpSpPr/>
          <p:nvPr/>
        </p:nvGrpSpPr>
        <p:grpSpPr>
          <a:xfrm rot="0">
            <a:off x="6428232" y="2011680"/>
            <a:ext cx="5440680" cy="7178040"/>
            <a:chOff x="0" y="0"/>
            <a:chExt cx="7254240" cy="9570720"/>
          </a:xfrm>
        </p:grpSpPr>
        <p:sp>
          <p:nvSpPr>
            <p:cNvPr id="17" name="Freeform 17"/>
            <p:cNvSpPr/>
            <p:nvPr/>
          </p:nvSpPr>
          <p:spPr>
            <a:xfrm>
              <a:off x="0" y="0"/>
              <a:ext cx="7254240" cy="9570720"/>
            </a:xfrm>
            <a:custGeom>
              <a:avLst/>
              <a:gdLst/>
              <a:ahLst/>
              <a:cxnLst/>
              <a:rect l="l" t="t" r="r" b="b"/>
              <a:pathLst>
                <a:path w="7254240" h="9570720">
                  <a:moveTo>
                    <a:pt x="0" y="217678"/>
                  </a:moveTo>
                  <a:cubicBezTo>
                    <a:pt x="0" y="97409"/>
                    <a:pt x="97409" y="0"/>
                    <a:pt x="217678" y="0"/>
                  </a:cubicBezTo>
                  <a:lnTo>
                    <a:pt x="7036562" y="0"/>
                  </a:lnTo>
                  <a:cubicBezTo>
                    <a:pt x="7156704" y="0"/>
                    <a:pt x="7254240" y="97409"/>
                    <a:pt x="7254240" y="217678"/>
                  </a:cubicBezTo>
                  <a:lnTo>
                    <a:pt x="7254240" y="9353042"/>
                  </a:lnTo>
                  <a:cubicBezTo>
                    <a:pt x="7254240" y="9473185"/>
                    <a:pt x="7156831" y="9570720"/>
                    <a:pt x="7036562" y="9570720"/>
                  </a:cubicBezTo>
                  <a:lnTo>
                    <a:pt x="217678" y="9570720"/>
                  </a:lnTo>
                  <a:cubicBezTo>
                    <a:pt x="97409" y="9570720"/>
                    <a:pt x="0" y="9473311"/>
                    <a:pt x="0" y="9353042"/>
                  </a:cubicBezTo>
                  <a:close/>
                </a:path>
              </a:pathLst>
            </a:custGeom>
            <a:solidFill>
              <a:srgbClr val="F3F5F8"/>
            </a:solidFill>
          </p:spPr>
          <p:txBody>
            <a:bodyPr/>
            <a:p/>
          </p:txBody>
        </p:sp>
      </p:grpSp>
      <p:sp>
        <p:nvSpPr>
          <p:cNvPr id="18" name="TextBox 18"/>
          <p:cNvSpPr txBox="1"/>
          <p:nvPr/>
        </p:nvSpPr>
        <p:spPr>
          <a:xfrm>
            <a:off x="6702552" y="2137410"/>
            <a:ext cx="4983480" cy="514350"/>
          </a:xfrm>
          <a:prstGeom prst="rect">
            <a:avLst/>
          </a:prstGeom>
        </p:spPr>
        <p:txBody>
          <a:bodyPr lIns="0" tIns="0" rIns="0" bIns="0" rtlCol="0" anchor="t">
            <a:spAutoFit/>
          </a:bodyPr>
          <a:lstStyle/>
          <a:p>
            <a:pPr algn="l">
              <a:lnSpc>
                <a:spcPts val="267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②  OCR · chỉ ViTextVQA</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9" name="Group 19"/>
          <p:cNvGrpSpPr/>
          <p:nvPr/>
        </p:nvGrpSpPr>
        <p:grpSpPr>
          <a:xfrm rot="0">
            <a:off x="12033504" y="2011680"/>
            <a:ext cx="5440680" cy="7178040"/>
            <a:chOff x="0" y="0"/>
            <a:chExt cx="7254240" cy="9570720"/>
          </a:xfrm>
        </p:grpSpPr>
        <p:sp>
          <p:nvSpPr>
            <p:cNvPr id="20" name="Freeform 20"/>
            <p:cNvSpPr/>
            <p:nvPr/>
          </p:nvSpPr>
          <p:spPr>
            <a:xfrm>
              <a:off x="0" y="0"/>
              <a:ext cx="7254240" cy="9570720"/>
            </a:xfrm>
            <a:custGeom>
              <a:avLst/>
              <a:gdLst/>
              <a:ahLst/>
              <a:cxnLst/>
              <a:rect l="l" t="t" r="r" b="b"/>
              <a:pathLst>
                <a:path w="7254240" h="9570720">
                  <a:moveTo>
                    <a:pt x="0" y="217678"/>
                  </a:moveTo>
                  <a:cubicBezTo>
                    <a:pt x="0" y="97409"/>
                    <a:pt x="97409" y="0"/>
                    <a:pt x="217678" y="0"/>
                  </a:cubicBezTo>
                  <a:lnTo>
                    <a:pt x="7036562" y="0"/>
                  </a:lnTo>
                  <a:cubicBezTo>
                    <a:pt x="7156704" y="0"/>
                    <a:pt x="7254240" y="97409"/>
                    <a:pt x="7254240" y="217678"/>
                  </a:cubicBezTo>
                  <a:lnTo>
                    <a:pt x="7254240" y="9353042"/>
                  </a:lnTo>
                  <a:cubicBezTo>
                    <a:pt x="7254240" y="9473185"/>
                    <a:pt x="7156831" y="9570720"/>
                    <a:pt x="7036562" y="9570720"/>
                  </a:cubicBezTo>
                  <a:lnTo>
                    <a:pt x="217678" y="9570720"/>
                  </a:lnTo>
                  <a:cubicBezTo>
                    <a:pt x="97409" y="9570720"/>
                    <a:pt x="0" y="9473311"/>
                    <a:pt x="0" y="9353042"/>
                  </a:cubicBezTo>
                  <a:close/>
                </a:path>
              </a:pathLst>
            </a:custGeom>
            <a:solidFill>
              <a:srgbClr val="F3F5F8"/>
            </a:solidFill>
          </p:spPr>
          <p:txBody>
            <a:bodyPr/>
            <a:p/>
          </p:txBody>
        </p:sp>
      </p:grpSp>
      <p:sp>
        <p:nvSpPr>
          <p:cNvPr id="21" name="TextBox 21"/>
          <p:cNvSpPr txBox="1"/>
          <p:nvPr/>
        </p:nvSpPr>
        <p:spPr>
          <a:xfrm>
            <a:off x="12307824" y="2137410"/>
            <a:ext cx="4983480" cy="514350"/>
          </a:xfrm>
          <a:prstGeom prst="rect">
            <a:avLst/>
          </a:prstGeom>
        </p:spPr>
        <p:txBody>
          <a:bodyPr lIns="0" tIns="0" rIns="0" bIns="0" rtlCol="0" anchor="t">
            <a:spAutoFit/>
          </a:bodyPr>
          <a:lstStyle/>
          <a:p>
            <a:pPr algn="l">
              <a:lnSpc>
                <a:spcPts val="267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③  Văn bản · chuẩn hoá khi chấm</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22" name="Group 22"/>
          <p:cNvGrpSpPr/>
          <p:nvPr/>
        </p:nvGrpSpPr>
        <p:grpSpPr>
          <a:xfrm rot="0">
            <a:off x="1090927" y="2874007"/>
            <a:ext cx="2252977" cy="1272854"/>
            <a:chOff x="0" y="0"/>
            <a:chExt cx="3003969" cy="1697139"/>
          </a:xfrm>
        </p:grpSpPr>
        <p:sp>
          <p:nvSpPr>
            <p:cNvPr id="23" name="Freeform 23" descr="data_before.jpg"/>
            <p:cNvSpPr/>
            <p:nvPr/>
          </p:nvSpPr>
          <p:spPr>
            <a:xfrm>
              <a:off x="0" y="0"/>
              <a:ext cx="3003931" cy="1697101"/>
            </a:xfrm>
            <a:custGeom>
              <a:avLst/>
              <a:gdLst/>
              <a:ahLst/>
              <a:cxnLst/>
              <a:rect l="l" t="t" r="r" b="b"/>
              <a:pathLst>
                <a:path w="3003931" h="1697101">
                  <a:moveTo>
                    <a:pt x="0" y="0"/>
                  </a:moveTo>
                  <a:lnTo>
                    <a:pt x="3003931" y="0"/>
                  </a:lnTo>
                  <a:lnTo>
                    <a:pt x="3003931" y="1697101"/>
                  </a:lnTo>
                  <a:lnTo>
                    <a:pt x="0" y="1697101"/>
                  </a:lnTo>
                  <a:lnTo>
                    <a:pt x="0" y="0"/>
                  </a:lnTo>
                  <a:close/>
                </a:path>
              </a:pathLst>
            </a:custGeom>
            <a:blipFill>
              <a:blip r:embed="rId5"/>
              <a:stretch>
                <a:fillRect l="-218" r="-220" b="-2"/>
              </a:stretch>
            </a:blipFill>
          </p:spPr>
          <p:txBody>
            <a:bodyPr/>
            <a:p/>
          </p:txBody>
        </p:sp>
      </p:grpSp>
      <p:grpSp>
        <p:nvGrpSpPr>
          <p:cNvPr id="24" name="Group 24"/>
          <p:cNvGrpSpPr/>
          <p:nvPr/>
        </p:nvGrpSpPr>
        <p:grpSpPr>
          <a:xfrm rot="0">
            <a:off x="3742687" y="2874007"/>
            <a:ext cx="2252977" cy="1278941"/>
            <a:chOff x="0" y="0"/>
            <a:chExt cx="3003969" cy="1705254"/>
          </a:xfrm>
        </p:grpSpPr>
        <p:sp>
          <p:nvSpPr>
            <p:cNvPr id="25" name="Freeform 25" descr="data_after_grid.jpg"/>
            <p:cNvSpPr/>
            <p:nvPr/>
          </p:nvSpPr>
          <p:spPr>
            <a:xfrm>
              <a:off x="0" y="0"/>
              <a:ext cx="3003931" cy="1705229"/>
            </a:xfrm>
            <a:custGeom>
              <a:avLst/>
              <a:gdLst/>
              <a:ahLst/>
              <a:cxnLst/>
              <a:rect l="l" t="t" r="r" b="b"/>
              <a:pathLst>
                <a:path w="3003931" h="1705229">
                  <a:moveTo>
                    <a:pt x="0" y="0"/>
                  </a:moveTo>
                  <a:lnTo>
                    <a:pt x="3003931" y="0"/>
                  </a:lnTo>
                  <a:lnTo>
                    <a:pt x="3003931" y="1705229"/>
                  </a:lnTo>
                  <a:lnTo>
                    <a:pt x="0" y="1705229"/>
                  </a:lnTo>
                  <a:lnTo>
                    <a:pt x="0" y="0"/>
                  </a:lnTo>
                  <a:close/>
                </a:path>
              </a:pathLst>
            </a:custGeom>
            <a:blipFill>
              <a:blip r:embed="rId6"/>
              <a:stretch>
                <a:fillRect l="-216" r="-218" b="-1"/>
              </a:stretch>
            </a:blipFill>
          </p:spPr>
          <p:txBody>
            <a:bodyPr/>
            <a:p/>
          </p:txBody>
        </p:sp>
      </p:grpSp>
      <p:sp>
        <p:nvSpPr>
          <p:cNvPr id="26" name="TextBox 26"/>
          <p:cNvSpPr txBox="1"/>
          <p:nvPr/>
        </p:nvSpPr>
        <p:spPr>
          <a:xfrm>
            <a:off x="3355848" y="3150394"/>
            <a:ext cx="384048" cy="542925"/>
          </a:xfrm>
          <a:prstGeom prst="rect">
            <a:avLst/>
          </a:prstGeom>
        </p:spPr>
        <p:txBody>
          <a:bodyPr lIns="0" tIns="0" rIns="0" bIns="0" rtlCol="0" anchor="t">
            <a:spAutoFit/>
          </a:bodyPr>
          <a:lstStyle/>
          <a:p>
            <a:pPr algn="ctr">
              <a:lnSpc>
                <a:spcPts val="3815"/>
              </a:lnSpc>
            </a:pPr>
            <a:r>
              <a:rPr lang="en-US" sz="3000" b="1">
                <a:solidFill>
                  <a:srgbClr val="1C7293"/>
                </a:solidFill>
                <a:latin typeface="Calibri (MS) Bold" panose="020F0702030404030204"/>
                <a:ea typeface="Calibri (MS) Bold" panose="020F0702030404030204"/>
                <a:cs typeface="Calibri (MS) Bold" panose="020F0702030404030204"/>
                <a:sym typeface="Calibri (MS) Bold" panose="020F0702030404030204"/>
              </a:rPr>
              <a:t>→</a:t>
            </a:r>
            <a:endParaRPr lang="en-US" sz="30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7" name="TextBox 27"/>
          <p:cNvSpPr txBox="1"/>
          <p:nvPr/>
        </p:nvSpPr>
        <p:spPr>
          <a:xfrm>
            <a:off x="1097280" y="4285297"/>
            <a:ext cx="2240280" cy="861060"/>
          </a:xfrm>
          <a:prstGeom prst="rect">
            <a:avLst/>
          </a:prstGeom>
        </p:spPr>
        <p:txBody>
          <a:bodyPr lIns="0" tIns="0" rIns="0" bIns="0" rtlCol="0" anchor="t">
            <a:spAutoFit/>
          </a:bodyPr>
          <a:lstStyle/>
          <a:p>
            <a:pPr algn="l">
              <a:lnSpc>
                <a:spcPts val="1780"/>
              </a:lnSpc>
            </a:pPr>
            <a:r>
              <a:rPr lang="en-US" sz="1400" b="1">
                <a:solidFill>
                  <a:srgbClr val="5B677A"/>
                </a:solidFill>
                <a:latin typeface="Calibri (MS) Bold" panose="020F0702030404030204"/>
                <a:ea typeface="Calibri (MS) Bold" panose="020F0702030404030204"/>
                <a:cs typeface="Calibri (MS) Bold" panose="020F0702030404030204"/>
                <a:sym typeface="Calibri (MS) Bold" panose="020F0702030404030204"/>
              </a:rPr>
              <a:t>TRƯỚC · ảnh ViVQA</a:t>
            </a:r>
            <a:endParaRPr lang="en-US" sz="1400" b="1">
              <a:solidFill>
                <a:srgbClr val="5B677A"/>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160"/>
              </a:lnSpc>
            </a:pPr>
            <a:r>
              <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rPr>
              <a:t>640×360 px</a:t>
            </a:r>
            <a:endPar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910"/>
              </a:lnSpc>
            </a:pPr>
            <a:r>
              <a:rPr lang="en-US" sz="1500">
                <a:solidFill>
                  <a:srgbClr val="243044"/>
                </a:solidFill>
                <a:latin typeface="Calibri (MS)" panose="020F0502020204030204"/>
                <a:ea typeface="Calibri (MS)" panose="020F0502020204030204"/>
                <a:cs typeface="Calibri (MS)" panose="020F0502020204030204"/>
                <a:sym typeface="Calibri (MS)" panose="020F0502020204030204"/>
              </a:rPr>
              <a:t>230.400 điểm ảnh</a:t>
            </a:r>
            <a:endParaRPr lang="en-US" sz="15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8" name="TextBox 28"/>
          <p:cNvSpPr txBox="1"/>
          <p:nvPr/>
        </p:nvSpPr>
        <p:spPr>
          <a:xfrm>
            <a:off x="3749040" y="4285297"/>
            <a:ext cx="2240280" cy="861060"/>
          </a:xfrm>
          <a:prstGeom prst="rect">
            <a:avLst/>
          </a:prstGeom>
        </p:spPr>
        <p:txBody>
          <a:bodyPr lIns="0" tIns="0" rIns="0" bIns="0" rtlCol="0" anchor="t">
            <a:spAutoFit/>
          </a:bodyPr>
          <a:lstStyle/>
          <a:p>
            <a:pPr algn="l">
              <a:lnSpc>
                <a:spcPts val="1780"/>
              </a:lnSpc>
            </a:pPr>
            <a:r>
              <a:rPr lang="en-US" sz="1400" b="1">
                <a:solidFill>
                  <a:srgbClr val="B86E0E"/>
                </a:solidFill>
                <a:latin typeface="Calibri (MS) Bold" panose="020F0702030404030204"/>
                <a:ea typeface="Calibri (MS) Bold" panose="020F0702030404030204"/>
                <a:cs typeface="Calibri (MS) Bold" panose="020F0702030404030204"/>
                <a:sym typeface="Calibri (MS) Bold" panose="020F0702030404030204"/>
              </a:rPr>
              <a:t>SAU</a:t>
            </a:r>
            <a:endParaRPr lang="en-US" sz="1400" b="1">
              <a:solidFill>
                <a:srgbClr val="B86E0E"/>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160"/>
              </a:lnSpc>
            </a:pPr>
            <a:r>
              <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rPr>
              <a:t>644×364 px</a:t>
            </a:r>
            <a:endParaRPr lang="en-US" sz="17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910"/>
              </a:lnSpc>
            </a:pPr>
            <a:r>
              <a:rPr lang="en-US" sz="1500">
                <a:solidFill>
                  <a:srgbClr val="243044"/>
                </a:solidFill>
                <a:latin typeface="Calibri (MS)" panose="020F0502020204030204"/>
                <a:ea typeface="Calibri (MS)" panose="020F0502020204030204"/>
                <a:cs typeface="Calibri (MS)" panose="020F0502020204030204"/>
                <a:sym typeface="Calibri (MS)" panose="020F0502020204030204"/>
              </a:rPr>
              <a:t>lưới 23×13 = 299 token ảnh</a:t>
            </a:r>
            <a:endParaRPr lang="en-US" sz="15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9" name="TextBox 29"/>
          <p:cNvSpPr txBox="1"/>
          <p:nvPr/>
        </p:nvSpPr>
        <p:spPr>
          <a:xfrm>
            <a:off x="1097280" y="5519738"/>
            <a:ext cx="4937760" cy="2781300"/>
          </a:xfrm>
          <a:prstGeom prst="rect">
            <a:avLst/>
          </a:prstGeom>
        </p:spPr>
        <p:txBody>
          <a:bodyPr lIns="0" tIns="0" rIns="0" bIns="0" rtlCol="0" anchor="t">
            <a:spAutoFit/>
          </a:bodyPr>
          <a:lstStyle/>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Đổi về RGB; thu nhỏ giữ tỉ lệ, cạnh là bội số 28</a:t>
            </a:r>
            <a:endParaRPr lang="en-US" sz="160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Mỗi ô 28×28 px = 1 token; ≤ 401.408 px → tối đa 512 token</a:t>
            </a:r>
            <a:endParaRPr lang="en-US" sz="160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Ảnh ViTextVQA lớn hơn, vd 16267.jpg 1024×996 → 616×616 = 484 token</a:t>
            </a:r>
            <a:endParaRPr lang="en-US" sz="160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a:t>
            </a:r>
            <a:r>
              <a:rPr lang="en-US" sz="1600">
                <a:solidFill>
                  <a:srgbClr val="B86E0E"/>
                </a:solidFill>
                <a:latin typeface="Calibri (MS)" panose="020F0502020204030204"/>
                <a:ea typeface="Calibri (MS)" panose="020F0502020204030204"/>
                <a:cs typeface="Calibri (MS)" panose="020F0502020204030204"/>
                <a:sym typeface="Calibri (MS)" panose="020F0502020204030204"/>
              </a:rPr>
              <a:t>Ô cam: một token ảnh</a:t>
            </a:r>
            <a:endParaRPr lang="en-US" sz="1600">
              <a:solidFill>
                <a:srgbClr val="B86E0E"/>
              </a:solidFill>
              <a:latin typeface="Calibri (MS)" panose="020F0502020204030204"/>
              <a:ea typeface="Calibri (MS)" panose="020F0502020204030204"/>
              <a:cs typeface="Calibri (MS)" panose="020F0502020204030204"/>
              <a:sym typeface="Calibri (MS)" panose="020F0502020204030204"/>
            </a:endParaRPr>
          </a:p>
        </p:txBody>
      </p:sp>
      <p:grpSp>
        <p:nvGrpSpPr>
          <p:cNvPr id="30" name="Group 30"/>
          <p:cNvGrpSpPr/>
          <p:nvPr/>
        </p:nvGrpSpPr>
        <p:grpSpPr>
          <a:xfrm rot="0">
            <a:off x="6696199" y="2874007"/>
            <a:ext cx="4904737" cy="1044759"/>
            <a:chOff x="0" y="0"/>
            <a:chExt cx="6539649" cy="1393012"/>
          </a:xfrm>
        </p:grpSpPr>
        <p:sp>
          <p:nvSpPr>
            <p:cNvPr id="31" name="Freeform 31" descr="data_ocr_boxes.jpg"/>
            <p:cNvSpPr/>
            <p:nvPr/>
          </p:nvSpPr>
          <p:spPr>
            <a:xfrm>
              <a:off x="0" y="0"/>
              <a:ext cx="6539611" cy="1393063"/>
            </a:xfrm>
            <a:custGeom>
              <a:avLst/>
              <a:gdLst/>
              <a:ahLst/>
              <a:cxnLst/>
              <a:rect l="l" t="t" r="r" b="b"/>
              <a:pathLst>
                <a:path w="6539611" h="1393063">
                  <a:moveTo>
                    <a:pt x="0" y="0"/>
                  </a:moveTo>
                  <a:lnTo>
                    <a:pt x="6539611" y="0"/>
                  </a:lnTo>
                  <a:lnTo>
                    <a:pt x="6539611" y="1393063"/>
                  </a:lnTo>
                  <a:lnTo>
                    <a:pt x="0" y="1393063"/>
                  </a:lnTo>
                  <a:lnTo>
                    <a:pt x="0" y="0"/>
                  </a:lnTo>
                  <a:close/>
                </a:path>
              </a:pathLst>
            </a:custGeom>
            <a:blipFill>
              <a:blip r:embed="rId7"/>
              <a:stretch>
                <a:fillRect l="-484" r="-484" b="3"/>
              </a:stretch>
            </a:blipFill>
          </p:spPr>
          <p:txBody>
            <a:bodyPr/>
            <a:p/>
          </p:txBody>
        </p:sp>
      </p:grpSp>
      <p:sp>
        <p:nvSpPr>
          <p:cNvPr id="32" name="TextBox 32"/>
          <p:cNvSpPr txBox="1"/>
          <p:nvPr/>
        </p:nvSpPr>
        <p:spPr>
          <a:xfrm>
            <a:off x="6702552" y="4001957"/>
            <a:ext cx="4892040" cy="687705"/>
          </a:xfrm>
          <a:prstGeom prst="rect">
            <a:avLst/>
          </a:prstGeom>
        </p:spPr>
        <p:txBody>
          <a:bodyPr lIns="0" tIns="0" rIns="0" bIns="0" rtlCol="0" anchor="t">
            <a:spAutoFit/>
          </a:bodyPr>
          <a:lstStyle/>
          <a:p>
            <a:pPr algn="l">
              <a:lnSpc>
                <a:spcPts val="1845"/>
              </a:lnSpc>
            </a:pPr>
            <a:r>
              <a:rPr lang="en-US" sz="1450">
                <a:solidFill>
                  <a:srgbClr val="5B677A"/>
                </a:solidFill>
                <a:latin typeface="Calibri (MS)" panose="020F0502020204030204"/>
                <a:ea typeface="Calibri (MS)" panose="020F0502020204030204"/>
                <a:cs typeface="Calibri (MS)" panose="020F0502020204030204"/>
                <a:sym typeface="Calibri (MS)" panose="020F0502020204030204"/>
              </a:rPr>
              <a:t>Vị trí 13 khung chữ OCR thật của ảnh 16267.jpg (toạ độ trong cache). PaddleOCR dò vùng, VietOCR đọc, sắp trái-trên → phải-dưới</a:t>
            </a:r>
            <a:endParaRPr lang="en-US" sz="1450">
              <a:solidFill>
                <a:srgbClr val="5B677A"/>
              </a:solidFill>
              <a:latin typeface="Calibri (MS)" panose="020F0502020204030204"/>
              <a:ea typeface="Calibri (MS)" panose="020F0502020204030204"/>
              <a:cs typeface="Calibri (MS)" panose="020F0502020204030204"/>
              <a:sym typeface="Calibri (MS)" panose="020F0502020204030204"/>
            </a:endParaRPr>
          </a:p>
        </p:txBody>
      </p:sp>
      <p:grpSp>
        <p:nvGrpSpPr>
          <p:cNvPr id="33" name="Group 33"/>
          <p:cNvGrpSpPr/>
          <p:nvPr/>
        </p:nvGrpSpPr>
        <p:grpSpPr>
          <a:xfrm rot="0">
            <a:off x="6702552" y="4735382"/>
            <a:ext cx="4892040" cy="2468880"/>
            <a:chOff x="0" y="0"/>
            <a:chExt cx="6522720" cy="3291840"/>
          </a:xfrm>
        </p:grpSpPr>
        <p:sp>
          <p:nvSpPr>
            <p:cNvPr id="34" name="Freeform 34"/>
            <p:cNvSpPr/>
            <p:nvPr/>
          </p:nvSpPr>
          <p:spPr>
            <a:xfrm>
              <a:off x="0" y="0"/>
              <a:ext cx="6522720" cy="3291840"/>
            </a:xfrm>
            <a:custGeom>
              <a:avLst/>
              <a:gdLst/>
              <a:ahLst/>
              <a:cxnLst/>
              <a:rect l="l" t="t" r="r" b="b"/>
              <a:pathLst>
                <a:path w="6522720" h="3291840">
                  <a:moveTo>
                    <a:pt x="0" y="131699"/>
                  </a:moveTo>
                  <a:cubicBezTo>
                    <a:pt x="0" y="58928"/>
                    <a:pt x="58928" y="0"/>
                    <a:pt x="131699" y="0"/>
                  </a:cubicBezTo>
                  <a:lnTo>
                    <a:pt x="6391021" y="0"/>
                  </a:lnTo>
                  <a:cubicBezTo>
                    <a:pt x="6463792" y="0"/>
                    <a:pt x="6522720" y="58928"/>
                    <a:pt x="6522720" y="131699"/>
                  </a:cubicBezTo>
                  <a:lnTo>
                    <a:pt x="6522720" y="3160141"/>
                  </a:lnTo>
                  <a:cubicBezTo>
                    <a:pt x="6522720" y="3232912"/>
                    <a:pt x="6463792" y="3291840"/>
                    <a:pt x="6391021" y="3291840"/>
                  </a:cubicBezTo>
                  <a:lnTo>
                    <a:pt x="131699" y="3291840"/>
                  </a:lnTo>
                  <a:cubicBezTo>
                    <a:pt x="58928" y="3291840"/>
                    <a:pt x="0" y="3232912"/>
                    <a:pt x="0" y="3160141"/>
                  </a:cubicBezTo>
                  <a:close/>
                </a:path>
              </a:pathLst>
            </a:custGeom>
            <a:solidFill>
              <a:srgbClr val="1E2430"/>
            </a:solidFill>
          </p:spPr>
          <p:txBody>
            <a:bodyPr/>
            <a:p/>
          </p:txBody>
        </p:sp>
      </p:grpSp>
      <p:sp>
        <p:nvSpPr>
          <p:cNvPr id="35" name="TextBox 35"/>
          <p:cNvSpPr txBox="1"/>
          <p:nvPr/>
        </p:nvSpPr>
        <p:spPr>
          <a:xfrm>
            <a:off x="6867144" y="4843967"/>
            <a:ext cx="4572000" cy="2268855"/>
          </a:xfrm>
          <a:prstGeom prst="rect">
            <a:avLst/>
          </a:prstGeom>
        </p:spPr>
        <p:txBody>
          <a:bodyPr lIns="0" tIns="0" rIns="0" bIns="0" rtlCol="0" anchor="t">
            <a:spAutoFit/>
          </a:bodyPr>
          <a:lstStyle/>
          <a:p>
            <a:pPr algn="l">
              <a:lnSpc>
                <a:spcPts val="1590"/>
              </a:lnSpc>
            </a:pPr>
            <a:r>
              <a:rPr lang="en-US" sz="1250" b="1">
                <a:solidFill>
                  <a:srgbClr val="7DC4E4"/>
                </a:solidFill>
                <a:latin typeface="Consolas Bold" panose="020B0709020204030204"/>
                <a:ea typeface="Consolas Bold" panose="020B0709020204030204"/>
                <a:cs typeface="Consolas Bold" panose="020B0709020204030204"/>
                <a:sym typeface="Consolas Bold" panose="020B0709020204030204"/>
              </a:rPr>
              <a:t>Văn bản đọc được trong ảnh: </a:t>
            </a:r>
            <a:r>
              <a:rPr lang="en-US" sz="1250">
                <a:solidFill>
                  <a:srgbClr val="D6DEEB"/>
                </a:solidFill>
                <a:latin typeface="Consolas" panose="020B0609020204030204"/>
                <a:ea typeface="Consolas" panose="020B0609020204030204"/>
                <a:cs typeface="Consolas" panose="020B0609020204030204"/>
                <a:sym typeface="Consolas" panose="020B0609020204030204"/>
              </a:rPr>
              <a:t>PHO | CÙNJ | MALHACDE | CÔNG TY XÔ SỐ KIẾN THIẾT THU SỐ | </a:t>
            </a:r>
            <a:r>
              <a:rPr lang="en-US" sz="1250" b="1">
                <a:solidFill>
                  <a:srgbClr val="E8A33D"/>
                </a:solidFill>
                <a:latin typeface="Consolas Bold" panose="020B0709020204030204"/>
                <a:ea typeface="Consolas Bold" panose="020B0709020204030204"/>
                <a:cs typeface="Consolas Bold" panose="020B0709020204030204"/>
                <a:sym typeface="Consolas Bold" panose="020B0709020204030204"/>
              </a:rPr>
              <a:t>ĐẠI LÝ XỔ SÓ MIẾN BẮC</a:t>
            </a:r>
            <a:r>
              <a:rPr lang="en-US" sz="1250">
                <a:solidFill>
                  <a:srgbClr val="D6DEEB"/>
                </a:solidFill>
                <a:latin typeface="Consolas" panose="020B0609020204030204"/>
                <a:ea typeface="Consolas" panose="020B0609020204030204"/>
                <a:cs typeface="Consolas" panose="020B0609020204030204"/>
                <a:sym typeface="Consolas" panose="020B0609020204030204"/>
              </a:rPr>
              <a:t> | Collee Juice | PHỐ | THÁI PHIÊN | ISIO | BANH BẠO LONG THÀNH - SỬA NGÔ, SỬA ĐẬU NAY | Dens | BÌNH HỌC NƯỚC HÌA SĨ | BIOCOMRANG</a:t>
            </a:r>
            <a:endParaRPr lang="en-US" sz="1250">
              <a:solidFill>
                <a:srgbClr val="D6DEEB"/>
              </a:solidFill>
              <a:latin typeface="Consolas" panose="020B0609020204030204"/>
              <a:ea typeface="Consolas" panose="020B0609020204030204"/>
              <a:cs typeface="Consolas" panose="020B0609020204030204"/>
              <a:sym typeface="Consolas" panose="020B0609020204030204"/>
            </a:endParaRPr>
          </a:p>
          <a:p>
            <a:pPr algn="l">
              <a:lnSpc>
                <a:spcPts val="1590"/>
              </a:lnSpc>
            </a:pPr>
            <a:r>
              <a:rPr lang="en-US" sz="1250" b="1">
                <a:solidFill>
                  <a:srgbClr val="7DC4E4"/>
                </a:solidFill>
                <a:latin typeface="Consolas Bold" panose="020B0709020204030204"/>
                <a:ea typeface="Consolas Bold" panose="020B0709020204030204"/>
                <a:cs typeface="Consolas Bold" panose="020B0709020204030204"/>
                <a:sym typeface="Consolas Bold" panose="020B0709020204030204"/>
              </a:rPr>
              <a:t>Câu hỏi: </a:t>
            </a:r>
            <a:r>
              <a:rPr lang="en-US" sz="1250">
                <a:solidFill>
                  <a:srgbClr val="D6DEEB"/>
                </a:solidFill>
                <a:latin typeface="Consolas" panose="020B0609020204030204"/>
                <a:ea typeface="Consolas" panose="020B0609020204030204"/>
                <a:cs typeface="Consolas" panose="020B0609020204030204"/>
                <a:sym typeface="Consolas" panose="020B0609020204030204"/>
              </a:rPr>
              <a:t>cửa hàng có biển màu vàng là nơi nào ?</a:t>
            </a:r>
            <a:endParaRPr lang="en-US" sz="1250">
              <a:solidFill>
                <a:srgbClr val="D6DEEB"/>
              </a:solidFill>
              <a:latin typeface="Consolas" panose="020B0609020204030204"/>
              <a:ea typeface="Consolas" panose="020B0609020204030204"/>
              <a:cs typeface="Consolas" panose="020B0609020204030204"/>
              <a:sym typeface="Consolas" panose="020B0609020204030204"/>
            </a:endParaRPr>
          </a:p>
        </p:txBody>
      </p:sp>
      <p:sp>
        <p:nvSpPr>
          <p:cNvPr id="36" name="TextBox 36"/>
          <p:cNvSpPr txBox="1"/>
          <p:nvPr/>
        </p:nvSpPr>
        <p:spPr>
          <a:xfrm>
            <a:off x="6702552" y="7248077"/>
            <a:ext cx="4892040" cy="962025"/>
          </a:xfrm>
          <a:prstGeom prst="rect">
            <a:avLst/>
          </a:prstGeom>
        </p:spPr>
        <p:txBody>
          <a:bodyPr lIns="0" tIns="0" rIns="0" bIns="0" rtlCol="0" anchor="t">
            <a:spAutoFit/>
          </a:bodyPr>
          <a:lstStyle/>
          <a:p>
            <a:pPr algn="l">
              <a:lnSpc>
                <a:spcPts val="1845"/>
              </a:lnSpc>
            </a:pPr>
            <a:r>
              <a:rPr lang="en-US" sz="1450">
                <a:solidFill>
                  <a:srgbClr val="243044"/>
                </a:solidFill>
                <a:latin typeface="Calibri (MS)" panose="020F0502020204030204"/>
                <a:ea typeface="Calibri (MS)" panose="020F0502020204030204"/>
                <a:cs typeface="Calibri (MS)" panose="020F0502020204030204"/>
                <a:sym typeface="Calibri (MS)" panose="020F0502020204030204"/>
              </a:rPr>
              <a:t>OCR còn sai dấu (</a:t>
            </a:r>
            <a:r>
              <a:rPr lang="en-US" sz="1450" b="1">
                <a:solidFill>
                  <a:srgbClr val="B86E0E"/>
                </a:solidFill>
                <a:latin typeface="Calibri (MS) Bold" panose="020F0702030404030204"/>
                <a:ea typeface="Calibri (MS) Bold" panose="020F0702030404030204"/>
                <a:cs typeface="Calibri (MS) Bold" panose="020F0702030404030204"/>
                <a:sym typeface="Calibri (MS) Bold" panose="020F0702030404030204"/>
              </a:rPr>
              <a:t>SÓ, MIẾN</a:t>
            </a:r>
            <a:r>
              <a:rPr lang="en-US" sz="1450">
                <a:solidFill>
                  <a:srgbClr val="243044"/>
                </a:solidFill>
                <a:latin typeface="Calibri (MS)" panose="020F0502020204030204"/>
                <a:ea typeface="Calibri (MS)" panose="020F0502020204030204"/>
                <a:cs typeface="Calibri (MS)" panose="020F0502020204030204"/>
                <a:sym typeface="Calibri (MS)" panose="020F0502020204030204"/>
              </a:rPr>
              <a:t> thay vì SỐ, MIỀN) → model phải học dùng OCR có nhiễu. Đáp án: “đại lý xổ số miền bắc”.</a:t>
            </a:r>
            <a:endParaRPr lang="en-US" sz="1450">
              <a:solidFill>
                <a:srgbClr val="243044"/>
              </a:solidFill>
              <a:latin typeface="Calibri (MS)" panose="020F0502020204030204"/>
              <a:ea typeface="Calibri (MS)" panose="020F0502020204030204"/>
              <a:cs typeface="Calibri (MS)" panose="020F0502020204030204"/>
              <a:sym typeface="Calibri (MS)" panose="020F0502020204030204"/>
            </a:endParaRPr>
          </a:p>
        </p:txBody>
      </p:sp>
      <p:graphicFrame>
        <p:nvGraphicFramePr>
          <p:cNvPr id="37" name="Table 37"/>
          <p:cNvGraphicFramePr>
            <a:graphicFrameLocks noGrp="1"/>
          </p:cNvGraphicFramePr>
          <p:nvPr/>
        </p:nvGraphicFramePr>
        <p:xfrm>
          <a:off x="12307824" y="2880360"/>
          <a:ext cx="4889500" cy="3276600"/>
        </p:xfrm>
        <a:graphic>
          <a:graphicData uri="http://schemas.openxmlformats.org/drawingml/2006/table">
            <a:tbl>
              <a:tblPr/>
              <a:tblGrid>
                <a:gridCol w="2513294"/>
                <a:gridCol w="2376206"/>
              </a:tblGrid>
              <a:tr h="546100">
                <a:tc>
                  <a:txBody>
                    <a:bodyPr rtlCol="0"/>
                    <a:lstStyle/>
                    <a:p>
                      <a:pPr algn="l">
                        <a:lnSpc>
                          <a:spcPts val="1910"/>
                        </a:lnSpc>
                        <a:defRPr/>
                      </a:pPr>
                      <a:r>
                        <a:rPr lang="en-US" sz="1500" b="1">
                          <a:solidFill>
                            <a:srgbClr val="FFFFFF"/>
                          </a:solidFill>
                          <a:latin typeface="Calibri (MS) Bold" panose="020F0702030404030204"/>
                          <a:ea typeface="Calibri (MS) Bold" panose="020F0702030404030204"/>
                          <a:cs typeface="Calibri (MS) Bold" panose="020F0702030404030204"/>
                          <a:sym typeface="Calibri (MS) Bold" panose="020F0702030404030204"/>
                        </a:rPr>
                        <a:t>Trước</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94B"/>
                    </a:solidFill>
                  </a:tcPr>
                </a:tc>
                <a:tc>
                  <a:txBody>
                    <a:bodyPr rtlCol="0"/>
                    <a:lstStyle/>
                    <a:p>
                      <a:pPr algn="l">
                        <a:lnSpc>
                          <a:spcPts val="1910"/>
                        </a:lnSpc>
                        <a:defRPr/>
                      </a:pPr>
                      <a:r>
                        <a:rPr lang="en-US" sz="1500" b="1">
                          <a:solidFill>
                            <a:srgbClr val="FFFFFF"/>
                          </a:solidFill>
                          <a:latin typeface="Calibri (MS) Bold" panose="020F0702030404030204"/>
                          <a:ea typeface="Calibri (MS) Bold" panose="020F0702030404030204"/>
                          <a:cs typeface="Calibri (MS) Bold" panose="020F0702030404030204"/>
                          <a:sym typeface="Calibri (MS) Bold" panose="020F0702030404030204"/>
                        </a:rPr>
                        <a:t>Sau  normalize_vi()</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94B"/>
                    </a:solidFill>
                  </a:tcPr>
                </a:tc>
              </a:tr>
              <a:tr h="546100">
                <a:tc>
                  <a:txBody>
                    <a:bodyPr rtlCol="0"/>
                    <a:lstStyle/>
                    <a:p>
                      <a:pPr algn="l">
                        <a:lnSpc>
                          <a:spcPts val="1910"/>
                        </a:lnSpc>
                        <a:defRPr/>
                      </a:pPr>
                      <a:r>
                        <a:rPr lang="en-US" sz="1500">
                          <a:solidFill>
                            <a:srgbClr val="243044"/>
                          </a:solidFill>
                          <a:latin typeface="Calibri (MS)" panose="020F0502020204030204"/>
                          <a:ea typeface="Calibri (MS)" panose="020F0502020204030204"/>
                          <a:cs typeface="Calibri (MS)" panose="020F0502020204030204"/>
                          <a:sym typeface="Calibri (MS)" panose="020F0502020204030204"/>
                        </a:rPr>
                        <a:t>Đại lý xổ số Miền Bắc.</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rtlCol="0"/>
                    <a:lstStyle/>
                    <a:p>
                      <a:pPr algn="l">
                        <a:lnSpc>
                          <a:spcPts val="1910"/>
                        </a:lnSpc>
                        <a:defRPr/>
                      </a:pPr>
                      <a:r>
                        <a:rPr lang="en-US" sz="15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đại lý xổ số miền bắc</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r>
              <a:tr h="546100">
                <a:tc>
                  <a:txBody>
                    <a:bodyPr rtlCol="0"/>
                    <a:lstStyle/>
                    <a:p>
                      <a:pPr algn="l">
                        <a:lnSpc>
                          <a:spcPts val="1910"/>
                        </a:lnSpc>
                        <a:defRPr/>
                      </a:pPr>
                      <a:r>
                        <a:rPr lang="en-US" sz="1500">
                          <a:solidFill>
                            <a:srgbClr val="243044"/>
                          </a:solidFill>
                          <a:latin typeface="Calibri (MS)" panose="020F0502020204030204"/>
                          <a:ea typeface="Calibri (MS)" panose="020F0502020204030204"/>
                          <a:cs typeface="Calibri (MS)" panose="020F0502020204030204"/>
                          <a:sym typeface="Calibri (MS)" panose="020F0502020204030204"/>
                        </a:rPr>
                        <a:t>Màu Đỏ!</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rtlCol="0"/>
                    <a:lstStyle/>
                    <a:p>
                      <a:pPr algn="l">
                        <a:lnSpc>
                          <a:spcPts val="1910"/>
                        </a:lnSpc>
                        <a:defRPr/>
                      </a:pPr>
                      <a:r>
                        <a:rPr lang="en-US" sz="15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đỏ</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r>
              <a:tr h="546100">
                <a:tc>
                  <a:txBody>
                    <a:bodyPr rtlCol="0"/>
                    <a:lstStyle/>
                    <a:p>
                      <a:pPr algn="l">
                        <a:lnSpc>
                          <a:spcPts val="1910"/>
                        </a:lnSpc>
                        <a:defRPr/>
                      </a:pPr>
                      <a:r>
                        <a:rPr lang="en-US" sz="1500">
                          <a:solidFill>
                            <a:srgbClr val="243044"/>
                          </a:solidFill>
                          <a:latin typeface="Calibri (MS)" panose="020F0502020204030204"/>
                          <a:ea typeface="Calibri (MS)" panose="020F0502020204030204"/>
                          <a:cs typeface="Calibri (MS)" panose="020F0502020204030204"/>
                          <a:sym typeface="Calibri (MS)" panose="020F0502020204030204"/>
                        </a:rPr>
                        <a:t>ba</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rtlCol="0"/>
                    <a:lstStyle/>
                    <a:p>
                      <a:pPr algn="l">
                        <a:lnSpc>
                          <a:spcPts val="1910"/>
                        </a:lnSpc>
                        <a:defRPr/>
                      </a:pPr>
                      <a:r>
                        <a:rPr lang="en-US" sz="1500" b="1">
                          <a:solidFill>
                            <a:srgbClr val="13294B"/>
                          </a:solidFill>
                          <a:latin typeface="Calibri (MS) Bold" panose="020F0702030404030204"/>
                          <a:ea typeface="Calibri (MS) Bold" panose="020F0702030404030204"/>
                          <a:cs typeface="Calibri (MS) Bold" panose="020F0702030404030204"/>
                          <a:sym typeface="Calibri (MS) Bold" panose="020F0702030404030204"/>
                        </a:rPr>
                        <a:t>3</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r>
              <a:tr h="546100">
                <a:tc>
                  <a:txBody>
                    <a:bodyPr rtlCol="0"/>
                    <a:lstStyle/>
                    <a:p>
                      <a:pPr algn="l">
                        <a:lnSpc>
                          <a:spcPts val="1910"/>
                        </a:lnSpc>
                        <a:defRPr/>
                      </a:pPr>
                      <a:r>
                        <a:rPr lang="en-US" sz="1500">
                          <a:solidFill>
                            <a:srgbClr val="243044"/>
                          </a:solidFill>
                          <a:latin typeface="Calibri (MS)" panose="020F0502020204030204"/>
                          <a:ea typeface="Calibri (MS)" panose="020F0502020204030204"/>
                          <a:cs typeface="Calibri (MS)" panose="020F0502020204030204"/>
                          <a:sym typeface="Calibri (MS)" panose="020F0502020204030204"/>
                        </a:rPr>
                        <a:t>Cửa hàng  điện   thoại</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rtlCol="0"/>
                    <a:lstStyle/>
                    <a:p>
                      <a:pPr algn="l">
                        <a:lnSpc>
                          <a:spcPts val="1910"/>
                        </a:lnSpc>
                        <a:defRPr/>
                      </a:pPr>
                      <a:r>
                        <a:rPr lang="en-US" sz="1500" b="1">
                          <a:solidFill>
                            <a:srgbClr val="13294B"/>
                          </a:solidFill>
                          <a:latin typeface="Calibri (MS) Bold" panose="020F0702030404030204"/>
                          <a:ea typeface="Calibri (MS) Bold" panose="020F0702030404030204"/>
                          <a:cs typeface="Calibri (MS) Bold" panose="020F0702030404030204"/>
                          <a:sym typeface="Calibri (MS) Bold" panose="020F0702030404030204"/>
                        </a:rPr>
                        <a:t>cửa hàng điện thoại</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r>
              <a:tr h="546100">
                <a:tc>
                  <a:txBody>
                    <a:bodyPr rtlCol="0"/>
                    <a:lstStyle/>
                    <a:p>
                      <a:pPr algn="l">
                        <a:lnSpc>
                          <a:spcPts val="1910"/>
                        </a:lnSpc>
                        <a:defRPr/>
                      </a:pPr>
                      <a:r>
                        <a:rPr lang="en-US" sz="1500">
                          <a:solidFill>
                            <a:srgbClr val="243044"/>
                          </a:solidFill>
                          <a:latin typeface="Calibri (MS)" panose="020F0502020204030204"/>
                          <a:ea typeface="Calibri (MS)" panose="020F0502020204030204"/>
                          <a:cs typeface="Calibri (MS)" panose="020F0502020204030204"/>
                          <a:sym typeface="Calibri (MS)" panose="020F0502020204030204"/>
                        </a:rPr>
                        <a:t>con mèo  /  con meo</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c>
                  <a:txBody>
                    <a:bodyPr rtlCol="0"/>
                    <a:lstStyle/>
                    <a:p>
                      <a:pPr algn="l">
                        <a:lnSpc>
                          <a:spcPts val="1910"/>
                        </a:lnSpc>
                        <a:defRPr/>
                      </a:pPr>
                      <a:r>
                        <a:rPr lang="en-US" sz="1500" b="1">
                          <a:solidFill>
                            <a:srgbClr val="13294B"/>
                          </a:solidFill>
                          <a:latin typeface="Calibri (MS) Bold" panose="020F0702030404030204"/>
                          <a:ea typeface="Calibri (MS) Bold" panose="020F0702030404030204"/>
                          <a:cs typeface="Calibri (MS) Bold" panose="020F0702030404030204"/>
                          <a:sym typeface="Calibri (MS) Bold" panose="020F0702030404030204"/>
                        </a:rPr>
                        <a:t>giữ nguyên — khác nhau</a:t>
                      </a:r>
                      <a:endParaRPr lang="en-US" sz="1100"/>
                    </a:p>
                  </a:txBody>
                  <a:tcPr marT="91440" marB="91440" anchor="t">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FFFFFF"/>
                    </a:solidFill>
                  </a:tcPr>
                </a:tc>
              </a:tr>
            </a:tbl>
          </a:graphicData>
        </a:graphic>
      </p:graphicFrame>
      <p:sp>
        <p:nvSpPr>
          <p:cNvPr id="38" name="TextBox 38"/>
          <p:cNvSpPr txBox="1"/>
          <p:nvPr/>
        </p:nvSpPr>
        <p:spPr>
          <a:xfrm>
            <a:off x="12307824" y="6362700"/>
            <a:ext cx="4892040" cy="2781300"/>
          </a:xfrm>
          <a:prstGeom prst="rect">
            <a:avLst/>
          </a:prstGeom>
        </p:spPr>
        <p:txBody>
          <a:bodyPr lIns="0" tIns="0" rIns="0" bIns="0" rtlCol="0" anchor="t">
            <a:spAutoFit/>
          </a:bodyPr>
          <a:lstStyle/>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NFC, chữ thường, bỏ dấu câu, gộp khoảng trắng; bỏ tiền tố “màu”; số đứng riêng → chữ số</a:t>
            </a:r>
            <a:endParaRPr lang="en-US" sz="160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a:t>
            </a:r>
            <a:r>
              <a:rPr lang="en-US" sz="1600" b="1">
                <a:solidFill>
                  <a:srgbClr val="B86E0E"/>
                </a:solidFill>
                <a:latin typeface="Calibri (MS) Bold" panose="020F0702030404030204"/>
                <a:ea typeface="Calibri (MS) Bold" panose="020F0702030404030204"/>
                <a:cs typeface="Calibri (MS) Bold" panose="020F0702030404030204"/>
                <a:sym typeface="Calibri (MS) Bold" panose="020F0702030404030204"/>
              </a:rPr>
              <a:t>Giữ dấu thanh</a:t>
            </a:r>
            <a:r>
              <a:rPr lang="en-US" sz="1600">
                <a:solidFill>
                  <a:srgbClr val="243044"/>
                </a:solidFill>
                <a:latin typeface="Calibri (MS)" panose="020F0502020204030204"/>
                <a:ea typeface="Calibri (MS)" panose="020F0502020204030204"/>
                <a:cs typeface="Calibri (MS)" panose="020F0502020204030204"/>
                <a:sym typeface="Calibri (MS)" panose="020F0502020204030204"/>
              </a:rPr>
              <a:t> — sai dấu là sai nghĩa</a:t>
            </a:r>
            <a:endParaRPr lang="en-US" sz="160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Cùng một hàm cho đáp án chuẩn và câu trả lời của model</a:t>
            </a:r>
            <a:endParaRPr lang="en-US" sz="160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35"/>
              </a:lnSpc>
            </a:pPr>
            <a:r>
              <a:rPr lang="en-US" sz="1600">
                <a:solidFill>
                  <a:srgbClr val="243044"/>
                </a:solidFill>
                <a:latin typeface="Calibri (MS)" panose="020F0502020204030204"/>
                <a:ea typeface="Calibri (MS)" panose="020F0502020204030204"/>
                <a:cs typeface="Calibri (MS)" panose="020F0502020204030204"/>
                <a:sym typeface="Calibri (MS)" panose="020F0502020204030204"/>
              </a:rPr>
              <a:t>•  “…miền bác” so với “…miền bắc”: EM = 0, ANLS = 0,95</a:t>
            </a:r>
            <a:endParaRPr lang="en-US" sz="16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9" name="TextBox 39"/>
          <p:cNvSpPr txBox="1"/>
          <p:nvPr/>
        </p:nvSpPr>
        <p:spPr>
          <a:xfrm>
            <a:off x="822960" y="9225153"/>
            <a:ext cx="14173200" cy="348615"/>
          </a:xfrm>
          <a:prstGeom prst="rect">
            <a:avLst/>
          </a:prstGeom>
        </p:spPr>
        <p:txBody>
          <a:bodyPr lIns="0" tIns="0" rIns="0" bIns="0" rtlCol="0" anchor="t">
            <a:spAutoFit/>
          </a:bodyPr>
          <a:lstStyle/>
          <a:p>
            <a:pPr algn="l">
              <a:lnSpc>
                <a:spcPts val="1400"/>
              </a:lnSpc>
            </a:pPr>
            <a:r>
              <a:rPr lang="en-US" sz="1100">
                <a:solidFill>
                  <a:srgbClr val="5B677A"/>
                </a:solidFill>
                <a:latin typeface="Calibri (MS)" panose="020F0502020204030204"/>
                <a:ea typeface="Calibri (MS)" panose="020F0502020204030204"/>
                <a:cs typeface="Calibri (MS)" panose="020F0502020204030204"/>
                <a:sym typeface="Calibri (MS)" panose="020F0502020204030204"/>
              </a:rPr>
              <a:t>Mẫu thật: ① ViVQA COCO_train2014_000000088123 · ② ViTextVQA train_48788 (16267.jpg), cache paddledet_vietocr. Code: src/data/ocr.py · src/prompting/builder.py (template v1) · src/eval/metrics.py</a:t>
            </a:r>
            <a:endParaRPr lang="en-US" sz="1100">
              <a:solidFill>
                <a:srgbClr val="5B677A"/>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04 · KIẾN TRÚC BASELINE</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 name="TextBox 3"/>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Qwen2.5-VL-3B-Instruct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4" name="Group 4"/>
          <p:cNvGrpSpPr/>
          <p:nvPr/>
        </p:nvGrpSpPr>
        <p:grpSpPr>
          <a:xfrm rot="0">
            <a:off x="822960" y="1988820"/>
            <a:ext cx="11384280" cy="6492907"/>
            <a:chOff x="0" y="0"/>
            <a:chExt cx="15179040" cy="8657209"/>
          </a:xfrm>
        </p:grpSpPr>
        <p:sp>
          <p:nvSpPr>
            <p:cNvPr id="5" name="Freeform 5" descr="a7"/>
            <p:cNvSpPr/>
            <p:nvPr/>
          </p:nvSpPr>
          <p:spPr>
            <a:xfrm>
              <a:off x="0" y="0"/>
              <a:ext cx="15179039" cy="8657209"/>
            </a:xfrm>
            <a:custGeom>
              <a:avLst/>
              <a:gdLst/>
              <a:ahLst/>
              <a:cxnLst/>
              <a:rect l="l" t="t" r="r" b="b"/>
              <a:pathLst>
                <a:path w="15179039" h="8657209">
                  <a:moveTo>
                    <a:pt x="0" y="0"/>
                  </a:moveTo>
                  <a:lnTo>
                    <a:pt x="15179039" y="0"/>
                  </a:lnTo>
                  <a:lnTo>
                    <a:pt x="15179039" y="8657209"/>
                  </a:lnTo>
                  <a:lnTo>
                    <a:pt x="0" y="8657209"/>
                  </a:lnTo>
                  <a:lnTo>
                    <a:pt x="0" y="0"/>
                  </a:lnTo>
                  <a:close/>
                </a:path>
              </a:pathLst>
            </a:custGeom>
            <a:blipFill>
              <a:blip r:embed="rId1"/>
              <a:stretch>
                <a:fillRect l="-6" r="-6"/>
              </a:stretch>
            </a:blipFill>
          </p:spPr>
          <p:txBody>
            <a:bodyPr/>
            <a:p/>
          </p:txBody>
        </p:sp>
      </p:grpSp>
      <p:sp>
        <p:nvSpPr>
          <p:cNvPr id="6" name="Freeform 6"/>
          <p:cNvSpPr/>
          <p:nvPr/>
        </p:nvSpPr>
        <p:spPr>
          <a:xfrm>
            <a:off x="12739211" y="1972151"/>
            <a:ext cx="4742116" cy="2570797"/>
          </a:xfrm>
          <a:custGeom>
            <a:avLst/>
            <a:gdLst/>
            <a:ahLst/>
            <a:cxnLst/>
            <a:rect l="l" t="t" r="r" b="b"/>
            <a:pathLst>
              <a:path w="4742116" h="2570797">
                <a:moveTo>
                  <a:pt x="0" y="0"/>
                </a:moveTo>
                <a:lnTo>
                  <a:pt x="4742117" y="0"/>
                </a:lnTo>
                <a:lnTo>
                  <a:pt x="4742117" y="2570798"/>
                </a:lnTo>
                <a:lnTo>
                  <a:pt x="0" y="2570798"/>
                </a:lnTo>
                <a:lnTo>
                  <a:pt x="0" y="0"/>
                </a:lnTo>
                <a:close/>
              </a:path>
            </a:pathLst>
          </a:custGeom>
          <a:blipFill>
            <a:blip r:embed="rId2">
              <a:extLst>
                <a:ext uri="{96DAC541-7B7A-43D3-8B79-37D633B846F1}">
                  <asvg:svgBlip xmlns:asvg="http://schemas.microsoft.com/office/drawing/2016/SVG/main" r:embed="rId3"/>
                </a:ext>
              </a:extLst>
            </a:blip>
            <a:stretch>
              <a:fillRect t="-4" b="-4"/>
            </a:stretch>
          </a:blipFill>
        </p:spPr>
        <p:txBody>
          <a:bodyPr/>
          <a:p/>
        </p:txBody>
      </p:sp>
      <p:sp>
        <p:nvSpPr>
          <p:cNvPr id="7" name="TextBox 7"/>
          <p:cNvSpPr txBox="1"/>
          <p:nvPr/>
        </p:nvSpPr>
        <p:spPr>
          <a:xfrm>
            <a:off x="13098780" y="2011680"/>
            <a:ext cx="402290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Được train (QLoRA)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8" name="TextBox 8"/>
          <p:cNvSpPr txBox="1"/>
          <p:nvPr/>
        </p:nvSpPr>
        <p:spPr>
          <a:xfrm>
            <a:off x="13098780" y="2560320"/>
            <a:ext cx="4022903" cy="1897380"/>
          </a:xfrm>
          <a:prstGeom prst="rect">
            <a:avLst/>
          </a:prstGeom>
        </p:spPr>
        <p:txBody>
          <a:bodyPr lIns="0" tIns="0" rIns="0" bIns="0" rtlCol="0" anchor="t">
            <a:spAutoFit/>
          </a:bodyPr>
          <a:lstStyle/>
          <a:p>
            <a:pPr marL="470535" lvl="3" indent="-11747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LoRA r = 16, α = 32 trên q, k, v, o</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a:p>
            <a:pPr marL="470535" lvl="3" indent="-11747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7.372.800 tham số = 0,196% · 29,5 MB</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a:p>
            <a:pPr marL="470535" lvl="3" indent="-117475" algn="l">
              <a:lnSpc>
                <a:spcPts val="2160"/>
              </a:lnSpc>
              <a:buFont typeface="Arial" panose="020B0604020202020204"/>
              <a:buChar cha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Còn lại đóng băng, LLM 4-bit NF4</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9" name="Freeform 9"/>
          <p:cNvSpPr/>
          <p:nvPr/>
        </p:nvSpPr>
        <p:spPr>
          <a:xfrm>
            <a:off x="12739211" y="4715351"/>
            <a:ext cx="4742021" cy="4696778"/>
          </a:xfrm>
          <a:custGeom>
            <a:avLst/>
            <a:gdLst/>
            <a:ahLst/>
            <a:cxnLst/>
            <a:rect l="l" t="t" r="r" b="b"/>
            <a:pathLst>
              <a:path w="4742021" h="4696778">
                <a:moveTo>
                  <a:pt x="0" y="0"/>
                </a:moveTo>
                <a:lnTo>
                  <a:pt x="4742021" y="0"/>
                </a:lnTo>
                <a:lnTo>
                  <a:pt x="4742021" y="4696778"/>
                </a:lnTo>
                <a:lnTo>
                  <a:pt x="0" y="4696778"/>
                </a:lnTo>
                <a:lnTo>
                  <a:pt x="0" y="0"/>
                </a:lnTo>
                <a:close/>
              </a:path>
            </a:pathLst>
          </a:custGeom>
          <a:blipFill>
            <a:blip r:embed="rId4">
              <a:extLst>
                <a:ext uri="{96DAC541-7B7A-43D3-8B79-37D633B846F1}">
                  <asvg:svgBlip xmlns:asvg="http://schemas.microsoft.com/office/drawing/2016/SVG/main" r:embed="rId5"/>
                </a:ext>
              </a:extLst>
            </a:blip>
            <a:stretch>
              <a:fillRect t="-76" b="-76"/>
            </a:stretch>
          </a:blipFill>
        </p:spPr>
        <p:txBody>
          <a:bodyPr/>
          <a:p/>
        </p:txBody>
      </p:sp>
      <p:sp>
        <p:nvSpPr>
          <p:cNvPr id="10" name="TextBox 10"/>
          <p:cNvSpPr txBox="1"/>
          <p:nvPr/>
        </p:nvSpPr>
        <p:spPr>
          <a:xfrm>
            <a:off x="13098780" y="4754880"/>
            <a:ext cx="402290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Luồng dữ liệu (vào → ra)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3098780" y="5344668"/>
            <a:ext cx="4022903" cy="3268980"/>
          </a:xfrm>
          <a:prstGeom prst="rect">
            <a:avLst/>
          </a:prstGeom>
        </p:spPr>
        <p:txBody>
          <a:bodyPr lIns="0" tIns="0" rIns="0" bIns="0" rtlCol="0" anchor="t">
            <a:spAutoFit/>
          </a:bodyPr>
          <a:lstStyle/>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1 · Ảnh → ViT: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 401.408 px → patch 14×14 → 32 khối</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540"/>
              </a:lnSpc>
            </a:pPr>
            <a:r>
              <a:rPr lang="en-US" sz="450">
                <a:solidFill>
                  <a:srgbClr val="243044"/>
                </a:solidFill>
                <a:latin typeface="Calibri (MS)" panose="020F0502020204030204"/>
                <a:ea typeface="Calibri (MS)" panose="020F0502020204030204"/>
                <a:cs typeface="Calibri (MS)" panose="020F0502020204030204"/>
                <a:sym typeface="Calibri (MS)" panose="020F0502020204030204"/>
              </a:rPr>
              <a:t> </a:t>
            </a:r>
            <a:endParaRPr lang="en-US" sz="4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2 · Patch merger: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2×2 patch → 1 token (2048 chiều) → 256–512 token ảnh</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540"/>
              </a:lnSpc>
            </a:pPr>
            <a:r>
              <a:rPr lang="en-US" sz="450">
                <a:solidFill>
                  <a:srgbClr val="243044"/>
                </a:solidFill>
                <a:latin typeface="Calibri (MS)" panose="020F0502020204030204"/>
                <a:ea typeface="Calibri (MS)" panose="020F0502020204030204"/>
                <a:cs typeface="Calibri (MS)" panose="020F0502020204030204"/>
                <a:sym typeface="Calibri (MS)" panose="020F0502020204030204"/>
              </a:rPr>
              <a:t> </a:t>
            </a:r>
            <a:endParaRPr lang="en-US" sz="4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3 · Prompt P0: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chat template + token ảnh + câu hỏi tiếng Việt</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540"/>
              </a:lnSpc>
            </a:pPr>
            <a:r>
              <a:rPr lang="en-US" sz="450">
                <a:solidFill>
                  <a:srgbClr val="243044"/>
                </a:solidFill>
                <a:latin typeface="Calibri (MS)" panose="020F0502020204030204"/>
                <a:ea typeface="Calibri (MS)" panose="020F0502020204030204"/>
                <a:cs typeface="Calibri (MS)" panose="020F0502020204030204"/>
                <a:sym typeface="Calibri (MS)" panose="020F0502020204030204"/>
              </a:rPr>
              <a:t> </a:t>
            </a:r>
            <a:endParaRPr lang="en-US" sz="450">
              <a:solidFill>
                <a:srgbClr val="243044"/>
              </a:solidFill>
              <a:latin typeface="Calibri (MS)" panose="020F0502020204030204"/>
              <a:ea typeface="Calibri (MS)" panose="020F0502020204030204"/>
              <a:cs typeface="Calibri (MS)" panose="020F0502020204030204"/>
              <a:sym typeface="Calibri (MS)" panose="020F0502020204030204"/>
            </a:endParaRPr>
          </a:p>
          <a:p>
            <a:pPr algn="l">
              <a:lnSpc>
                <a:spcPts val="2070"/>
              </a:lnSpc>
            </a:pPr>
            <a:r>
              <a:rPr lang="en-US" sz="1725" b="1">
                <a:solidFill>
                  <a:srgbClr val="13294B"/>
                </a:solidFill>
                <a:latin typeface="Calibri (MS) Bold" panose="020F0702030404030204"/>
                <a:ea typeface="Calibri (MS) Bold" panose="020F0702030404030204"/>
                <a:cs typeface="Calibri (MS) Bold" panose="020F0702030404030204"/>
                <a:sym typeface="Calibri (MS) Bold" panose="020F0702030404030204"/>
              </a:rPr>
              <a:t>4 · Decoder (+LoRA): </a:t>
            </a:r>
            <a:r>
              <a:rPr lang="en-US" sz="1725">
                <a:solidFill>
                  <a:srgbClr val="243044"/>
                </a:solidFill>
                <a:latin typeface="Calibri (MS)" panose="020F0502020204030204"/>
                <a:ea typeface="Calibri (MS)" panose="020F0502020204030204"/>
                <a:cs typeface="Calibri (MS)" panose="020F0502020204030204"/>
                <a:sym typeface="Calibri (MS)" panose="020F0502020204030204"/>
              </a:rPr>
              <a:t>sinh tham lam, ≤ 32 token → chuẩn hoá → EM / ANLS</a:t>
            </a:r>
            <a:endParaRPr lang="en-US" sz="1725">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2" name="TextBox 12"/>
          <p:cNvSpPr txBox="1"/>
          <p:nvPr/>
        </p:nvSpPr>
        <p:spPr>
          <a:xfrm>
            <a:off x="13098780" y="8555355"/>
            <a:ext cx="4022903" cy="702945"/>
          </a:xfrm>
          <a:prstGeom prst="rect">
            <a:avLst/>
          </a:prstGeom>
        </p:spPr>
        <p:txBody>
          <a:bodyPr lIns="0" tIns="0" rIns="0" bIns="0" rtlCol="0" anchor="t">
            <a:spAutoFit/>
          </a:bodyPr>
          <a:lstStyle/>
          <a:p>
            <a:pPr algn="l">
              <a:lnSpc>
                <a:spcPts val="1980"/>
              </a:lnSpc>
            </a:pPr>
            <a:r>
              <a:rPr lang="en-US" sz="1650" i="1">
                <a:solidFill>
                  <a:srgbClr val="1C7293"/>
                </a:solidFill>
                <a:latin typeface="Calibri (MS) Italics" panose="020F05020202040A0204"/>
                <a:ea typeface="Calibri (MS) Italics" panose="020F05020202040A0204"/>
                <a:cs typeface="Calibri (MS) Italics" panose="020F05020202040A0204"/>
                <a:sym typeface="Calibri (MS) Italics" panose="020F05020202040A0204"/>
              </a:rPr>
              <a:t>Baseline không dùng OCR — OCR là cải tiến B3 (slide 24).</a:t>
            </a:r>
            <a:endParaRPr lang="en-US" sz="1650" i="1">
              <a:solidFill>
                <a:srgbClr val="1C7293"/>
              </a:solidFill>
              <a:latin typeface="Calibri (MS) Italics" panose="020F05020202040A0204"/>
              <a:ea typeface="Calibri (MS) Italics" panose="020F05020202040A0204"/>
              <a:cs typeface="Calibri (MS) Italics" panose="020F05020202040A0204"/>
              <a:sym typeface="Calibri (MS) Italics" panose="020F05020202040A0204"/>
            </a:endParaRPr>
          </a:p>
        </p:txBody>
      </p:sp>
      <p:grpSp>
        <p:nvGrpSpPr>
          <p:cNvPr id="13" name="Group 13"/>
          <p:cNvGrpSpPr/>
          <p:nvPr/>
        </p:nvGrpSpPr>
        <p:grpSpPr>
          <a:xfrm rot="0">
            <a:off x="15458732" y="0"/>
            <a:ext cx="2829306" cy="1184338"/>
            <a:chOff x="0" y="0"/>
            <a:chExt cx="3772408" cy="1579118"/>
          </a:xfrm>
        </p:grpSpPr>
        <p:sp>
          <p:nvSpPr>
            <p:cNvPr id="14" name="Freeform 14"/>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6"/>
              <a:stretch>
                <a:fillRect/>
              </a:stretch>
            </a:blipFill>
          </p:spPr>
          <p:txBody>
            <a:bodyPr/>
            <a:p/>
          </p:txBody>
        </p:sp>
      </p:grpSp>
      <p:grpSp>
        <p:nvGrpSpPr>
          <p:cNvPr id="15" name="Group 15"/>
          <p:cNvGrpSpPr/>
          <p:nvPr/>
        </p:nvGrpSpPr>
        <p:grpSpPr>
          <a:xfrm rot="0">
            <a:off x="822960" y="9641205"/>
            <a:ext cx="13716000" cy="440055"/>
            <a:chOff x="0" y="0"/>
            <a:chExt cx="18288000" cy="586740"/>
          </a:xfrm>
        </p:grpSpPr>
        <p:sp>
          <p:nvSpPr>
            <p:cNvPr id="16" name="Freeform 16"/>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7">
                <a:alphaModFix amt="0"/>
              </a:blip>
              <a:stretch>
                <a:fillRect t="-556902" b="-556904"/>
              </a:stretch>
            </a:blipFill>
          </p:spPr>
          <p:txBody>
            <a:bodyPr/>
            <a:p/>
          </p:txBody>
        </p:sp>
      </p:grpSp>
      <p:grpSp>
        <p:nvGrpSpPr>
          <p:cNvPr id="17" name="Group 17"/>
          <p:cNvGrpSpPr/>
          <p:nvPr/>
        </p:nvGrpSpPr>
        <p:grpSpPr>
          <a:xfrm rot="0">
            <a:off x="822960" y="9612630"/>
            <a:ext cx="13716000" cy="468630"/>
            <a:chOff x="0" y="0"/>
            <a:chExt cx="18288000" cy="624840"/>
          </a:xfrm>
        </p:grpSpPr>
        <p:sp>
          <p:nvSpPr>
            <p:cNvPr id="18" name="Freeform 18"/>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8">
                <a:alphaModFix amt="0"/>
              </a:blip>
              <a:stretch>
                <a:fillRect t="-520293" b="-520293"/>
              </a:stretch>
            </a:blipFill>
          </p:spPr>
          <p:txBody>
            <a:bodyPr/>
            <a:p/>
          </p:txBody>
        </p:sp>
        <p:sp>
          <p:nvSpPr>
            <p:cNvPr id="19" name="TextBox 19"/>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05 · GIAO THỨC ĐÁNH GIÁ</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Mọi run theo một giao thức cố định</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6" name="Group 6"/>
          <p:cNvGrpSpPr/>
          <p:nvPr/>
        </p:nvGrpSpPr>
        <p:grpSpPr>
          <a:xfrm rot="0">
            <a:off x="822960" y="1988820"/>
            <a:ext cx="16641604" cy="3242881"/>
            <a:chOff x="0" y="0"/>
            <a:chExt cx="22188805" cy="4323842"/>
          </a:xfrm>
        </p:grpSpPr>
        <p:sp>
          <p:nvSpPr>
            <p:cNvPr id="7" name="Freeform 7" descr="b7"/>
            <p:cNvSpPr/>
            <p:nvPr/>
          </p:nvSpPr>
          <p:spPr>
            <a:xfrm>
              <a:off x="0" y="0"/>
              <a:ext cx="22188805" cy="4323842"/>
            </a:xfrm>
            <a:custGeom>
              <a:avLst/>
              <a:gdLst/>
              <a:ahLst/>
              <a:cxnLst/>
              <a:rect l="l" t="t" r="r" b="b"/>
              <a:pathLst>
                <a:path w="22188805" h="4323842">
                  <a:moveTo>
                    <a:pt x="0" y="0"/>
                  </a:moveTo>
                  <a:lnTo>
                    <a:pt x="22188805" y="0"/>
                  </a:lnTo>
                  <a:lnTo>
                    <a:pt x="22188805" y="4323842"/>
                  </a:lnTo>
                  <a:lnTo>
                    <a:pt x="0" y="4323842"/>
                  </a:lnTo>
                  <a:lnTo>
                    <a:pt x="0" y="0"/>
                  </a:lnTo>
                  <a:close/>
                </a:path>
              </a:pathLst>
            </a:custGeom>
            <a:blipFill>
              <a:blip r:embed="rId2"/>
              <a:stretch>
                <a:fillRect/>
              </a:stretch>
            </a:blipFill>
          </p:spPr>
          <p:txBody>
            <a:bodyPr/>
            <a:p/>
          </p:txBody>
        </p:sp>
      </p:grpSp>
      <p:sp>
        <p:nvSpPr>
          <p:cNvPr id="8" name="Freeform 8"/>
          <p:cNvSpPr/>
          <p:nvPr/>
        </p:nvSpPr>
        <p:spPr>
          <a:xfrm>
            <a:off x="806291" y="5626532"/>
            <a:ext cx="5214747" cy="3031236"/>
          </a:xfrm>
          <a:custGeom>
            <a:avLst/>
            <a:gdLst/>
            <a:ahLst/>
            <a:cxnLst/>
            <a:rect l="l" t="t" r="r" b="b"/>
            <a:pathLst>
              <a:path w="5214747" h="3031236">
                <a:moveTo>
                  <a:pt x="0" y="0"/>
                </a:moveTo>
                <a:lnTo>
                  <a:pt x="5214747" y="0"/>
                </a:lnTo>
                <a:lnTo>
                  <a:pt x="5214747" y="3031236"/>
                </a:lnTo>
                <a:lnTo>
                  <a:pt x="0" y="3031236"/>
                </a:lnTo>
                <a:lnTo>
                  <a:pt x="0" y="0"/>
                </a:lnTo>
                <a:close/>
              </a:path>
            </a:pathLst>
          </a:custGeom>
          <a:blipFill>
            <a:blip r:embed="rId3">
              <a:extLst>
                <a:ext uri="{96DAC541-7B7A-43D3-8B79-37D633B846F1}">
                  <asvg:svgBlip xmlns:asvg="http://schemas.microsoft.com/office/drawing/2016/SVG/main" r:embed="rId4"/>
                </a:ext>
              </a:extLst>
            </a:blip>
            <a:stretch>
              <a:fillRect t="-71" b="-71"/>
            </a:stretch>
          </a:blipFill>
        </p:spPr>
        <p:txBody>
          <a:bodyPr/>
          <a:p/>
        </p:txBody>
      </p:sp>
      <p:sp>
        <p:nvSpPr>
          <p:cNvPr id="9" name="TextBox 9"/>
          <p:cNvSpPr txBox="1"/>
          <p:nvPr/>
        </p:nvSpPr>
        <p:spPr>
          <a:xfrm>
            <a:off x="1165860" y="5734641"/>
            <a:ext cx="4495648"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Cấu hình cố định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1165860" y="6323286"/>
            <a:ext cx="4495648" cy="2180634"/>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Tính bf16, 4-bit NF4 + double quant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Tối đa 512 token ảnh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Greedy, 32 token sinh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Seed 42 · NVIDIA L4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1" name="Freeform 11"/>
          <p:cNvSpPr/>
          <p:nvPr/>
        </p:nvSpPr>
        <p:spPr>
          <a:xfrm>
            <a:off x="6536379" y="5626532"/>
            <a:ext cx="5214747" cy="3031236"/>
          </a:xfrm>
          <a:custGeom>
            <a:avLst/>
            <a:gdLst/>
            <a:ahLst/>
            <a:cxnLst/>
            <a:rect l="l" t="t" r="r" b="b"/>
            <a:pathLst>
              <a:path w="5214747" h="3031236">
                <a:moveTo>
                  <a:pt x="0" y="0"/>
                </a:moveTo>
                <a:lnTo>
                  <a:pt x="5214747" y="0"/>
                </a:lnTo>
                <a:lnTo>
                  <a:pt x="5214747" y="3031236"/>
                </a:lnTo>
                <a:lnTo>
                  <a:pt x="0" y="3031236"/>
                </a:lnTo>
                <a:lnTo>
                  <a:pt x="0" y="0"/>
                </a:lnTo>
                <a:close/>
              </a:path>
            </a:pathLst>
          </a:custGeom>
          <a:blipFill>
            <a:blip r:embed="rId3">
              <a:extLst>
                <a:ext uri="{96DAC541-7B7A-43D3-8B79-37D633B846F1}">
                  <asvg:svgBlip xmlns:asvg="http://schemas.microsoft.com/office/drawing/2016/SVG/main" r:embed="rId4"/>
                </a:ext>
              </a:extLst>
            </a:blip>
            <a:stretch>
              <a:fillRect t="-71" b="-71"/>
            </a:stretch>
          </a:blipFill>
        </p:spPr>
        <p:txBody>
          <a:bodyPr/>
          <a:p/>
        </p:txBody>
      </p:sp>
      <p:sp>
        <p:nvSpPr>
          <p:cNvPr id="12" name="TextBox 12"/>
          <p:cNvSpPr txBox="1"/>
          <p:nvPr/>
        </p:nvSpPr>
        <p:spPr>
          <a:xfrm>
            <a:off x="6895948" y="5734641"/>
            <a:ext cx="4495648"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Metric</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3" name="TextBox 13"/>
          <p:cNvSpPr txBox="1"/>
          <p:nvPr/>
        </p:nvSpPr>
        <p:spPr>
          <a:xfrm>
            <a:off x="6895948" y="6323286"/>
            <a:ext cx="4495648" cy="2180634"/>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Chính: EM, VQA-Acc, ANLS</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Phụ: token-F1 (để so với paper)</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Chuẩn hoá tiếng Việt đối xứng, giữ dấu thanh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4" name="Freeform 14"/>
          <p:cNvSpPr/>
          <p:nvPr/>
        </p:nvSpPr>
        <p:spPr>
          <a:xfrm>
            <a:off x="12266466" y="5626532"/>
            <a:ext cx="5214747" cy="3031236"/>
          </a:xfrm>
          <a:custGeom>
            <a:avLst/>
            <a:gdLst/>
            <a:ahLst/>
            <a:cxnLst/>
            <a:rect l="l" t="t" r="r" b="b"/>
            <a:pathLst>
              <a:path w="5214747" h="3031236">
                <a:moveTo>
                  <a:pt x="0" y="0"/>
                </a:moveTo>
                <a:lnTo>
                  <a:pt x="5214747" y="0"/>
                </a:lnTo>
                <a:lnTo>
                  <a:pt x="5214747" y="3031236"/>
                </a:lnTo>
                <a:lnTo>
                  <a:pt x="0" y="3031236"/>
                </a:lnTo>
                <a:lnTo>
                  <a:pt x="0" y="0"/>
                </a:lnTo>
                <a:close/>
              </a:path>
            </a:pathLst>
          </a:custGeom>
          <a:blipFill>
            <a:blip r:embed="rId3">
              <a:extLst>
                <a:ext uri="{96DAC541-7B7A-43D3-8B79-37D633B846F1}">
                  <asvg:svgBlip xmlns:asvg="http://schemas.microsoft.com/office/drawing/2016/SVG/main" r:embed="rId4"/>
                </a:ext>
              </a:extLst>
            </a:blip>
            <a:stretch>
              <a:fillRect t="-71" b="-71"/>
            </a:stretch>
          </a:blipFill>
        </p:spPr>
        <p:txBody>
          <a:bodyPr/>
          <a:p/>
        </p:txBody>
      </p:sp>
      <p:sp>
        <p:nvSpPr>
          <p:cNvPr id="15" name="TextBox 15"/>
          <p:cNvSpPr txBox="1"/>
          <p:nvPr/>
        </p:nvSpPr>
        <p:spPr>
          <a:xfrm>
            <a:off x="12626035" y="5734641"/>
            <a:ext cx="4495648"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Thống kê</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12626035" y="6323286"/>
            <a:ext cx="4495648" cy="2180634"/>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Kiểm định McNemar chính xác, ghép cặp (EM)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CI95 bootstrap ghép cặp (ANLS)</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Cùng split, seed và cấu hình cho mọi run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7" name="Group 17"/>
          <p:cNvGrpSpPr/>
          <p:nvPr/>
        </p:nvGrpSpPr>
        <p:grpSpPr>
          <a:xfrm rot="0">
            <a:off x="822960" y="8750808"/>
            <a:ext cx="16641604" cy="822960"/>
            <a:chOff x="0" y="0"/>
            <a:chExt cx="22188805" cy="1097280"/>
          </a:xfrm>
        </p:grpSpPr>
        <p:sp>
          <p:nvSpPr>
            <p:cNvPr id="18" name="Freeform 18"/>
            <p:cNvSpPr/>
            <p:nvPr/>
          </p:nvSpPr>
          <p:spPr>
            <a:xfrm>
              <a:off x="0" y="0"/>
              <a:ext cx="22188805" cy="1097280"/>
            </a:xfrm>
            <a:custGeom>
              <a:avLst/>
              <a:gdLst/>
              <a:ahLst/>
              <a:cxnLst/>
              <a:rect l="l" t="t" r="r" b="b"/>
              <a:pathLst>
                <a:path w="22188805" h="1097280">
                  <a:moveTo>
                    <a:pt x="0" y="0"/>
                  </a:moveTo>
                  <a:lnTo>
                    <a:pt x="22188805" y="0"/>
                  </a:lnTo>
                  <a:lnTo>
                    <a:pt x="22188805" y="1097280"/>
                  </a:lnTo>
                  <a:lnTo>
                    <a:pt x="0" y="1097280"/>
                  </a:lnTo>
                  <a:close/>
                </a:path>
              </a:pathLst>
            </a:custGeom>
            <a:blipFill>
              <a:blip r:embed="rId1">
                <a:alphaModFix amt="0"/>
              </a:blip>
              <a:stretch>
                <a:fillRect t="-343745" b="-343745"/>
              </a:stretch>
            </a:blipFill>
          </p:spPr>
          <p:txBody>
            <a:bodyPr/>
            <a:p/>
          </p:txBody>
        </p:sp>
      </p:grpSp>
      <p:grpSp>
        <p:nvGrpSpPr>
          <p:cNvPr id="19" name="Group 19"/>
          <p:cNvGrpSpPr/>
          <p:nvPr/>
        </p:nvGrpSpPr>
        <p:grpSpPr>
          <a:xfrm rot="0">
            <a:off x="822960" y="8722233"/>
            <a:ext cx="16641623" cy="851535"/>
            <a:chOff x="0" y="0"/>
            <a:chExt cx="22188830" cy="1135380"/>
          </a:xfrm>
        </p:grpSpPr>
        <p:sp>
          <p:nvSpPr>
            <p:cNvPr id="20" name="Freeform 20"/>
            <p:cNvSpPr/>
            <p:nvPr/>
          </p:nvSpPr>
          <p:spPr>
            <a:xfrm>
              <a:off x="0" y="0"/>
              <a:ext cx="22188805" cy="1135380"/>
            </a:xfrm>
            <a:custGeom>
              <a:avLst/>
              <a:gdLst/>
              <a:ahLst/>
              <a:cxnLst/>
              <a:rect l="l" t="t" r="r" b="b"/>
              <a:pathLst>
                <a:path w="22188805" h="1135380">
                  <a:moveTo>
                    <a:pt x="0" y="0"/>
                  </a:moveTo>
                  <a:lnTo>
                    <a:pt x="22188805" y="0"/>
                  </a:lnTo>
                  <a:lnTo>
                    <a:pt x="22188805" y="1135380"/>
                  </a:lnTo>
                  <a:lnTo>
                    <a:pt x="0" y="1135380"/>
                  </a:lnTo>
                  <a:close/>
                </a:path>
              </a:pathLst>
            </a:custGeom>
            <a:blipFill>
              <a:blip r:embed="rId5">
                <a:alphaModFix amt="0"/>
              </a:blip>
              <a:stretch>
                <a:fillRect t="-330532" b="-330533"/>
              </a:stretch>
            </a:blipFill>
          </p:spPr>
          <p:txBody>
            <a:bodyPr/>
            <a:p/>
          </p:txBody>
        </p:sp>
      </p:grpSp>
      <p:grpSp>
        <p:nvGrpSpPr>
          <p:cNvPr id="21" name="Group 21"/>
          <p:cNvGrpSpPr/>
          <p:nvPr/>
        </p:nvGrpSpPr>
        <p:grpSpPr>
          <a:xfrm rot="0">
            <a:off x="822960" y="8693658"/>
            <a:ext cx="16641623" cy="880110"/>
            <a:chOff x="0" y="0"/>
            <a:chExt cx="22188830" cy="1173480"/>
          </a:xfrm>
        </p:grpSpPr>
        <p:sp>
          <p:nvSpPr>
            <p:cNvPr id="22" name="Freeform 22"/>
            <p:cNvSpPr/>
            <p:nvPr/>
          </p:nvSpPr>
          <p:spPr>
            <a:xfrm>
              <a:off x="0" y="0"/>
              <a:ext cx="22188830" cy="1173480"/>
            </a:xfrm>
            <a:custGeom>
              <a:avLst/>
              <a:gdLst/>
              <a:ahLst/>
              <a:cxnLst/>
              <a:rect l="l" t="t" r="r" b="b"/>
              <a:pathLst>
                <a:path w="22188830" h="1173480">
                  <a:moveTo>
                    <a:pt x="0" y="0"/>
                  </a:moveTo>
                  <a:lnTo>
                    <a:pt x="22188830" y="0"/>
                  </a:lnTo>
                  <a:lnTo>
                    <a:pt x="22188830" y="1173480"/>
                  </a:lnTo>
                  <a:lnTo>
                    <a:pt x="0" y="1173480"/>
                  </a:lnTo>
                  <a:close/>
                </a:path>
              </a:pathLst>
            </a:custGeom>
            <a:blipFill>
              <a:blip r:embed="rId6">
                <a:alphaModFix amt="0"/>
              </a:blip>
              <a:stretch>
                <a:fillRect t="-318434" b="-318434"/>
              </a:stretch>
            </a:blipFill>
          </p:spPr>
          <p:txBody>
            <a:bodyPr/>
            <a:p/>
          </p:txBody>
        </p:sp>
        <p:sp>
          <p:nvSpPr>
            <p:cNvPr id="23" name="TextBox 23"/>
            <p:cNvSpPr txBox="1"/>
            <p:nvPr/>
          </p:nvSpPr>
          <p:spPr>
            <a:xfrm>
              <a:off x="0" y="-38100"/>
              <a:ext cx="22188830" cy="1211580"/>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EM = Exact Match (khớp tuyệt đối) · VQA-Acc = VQA Accuracy (min(số gold khớp / 3, 1); = EM khi chỉ có 1 gold) · ANLS = Average Normalized Levenshtein Similarity (ngưỡng 0,5) · F1 = F1 theo token · bf16 = bfloat16 · NF4 = 4-bit NormalFloat (QLoRA) · CI95 = khoảng tin cậy 95% · McNemar = kiểm định ghép cặp trên các câu chỉ một run đúng</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grpSp>
        <p:nvGrpSpPr>
          <p:cNvPr id="24" name="Group 24"/>
          <p:cNvGrpSpPr/>
          <p:nvPr/>
        </p:nvGrpSpPr>
        <p:grpSpPr>
          <a:xfrm rot="0">
            <a:off x="15458732" y="0"/>
            <a:ext cx="2829306" cy="1184338"/>
            <a:chOff x="0" y="0"/>
            <a:chExt cx="3772408" cy="1579118"/>
          </a:xfrm>
        </p:grpSpPr>
        <p:sp>
          <p:nvSpPr>
            <p:cNvPr id="25" name="Freeform 25"/>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7"/>
              <a:stretch>
                <a:fillRect/>
              </a:stretch>
            </a:blipFill>
          </p:spPr>
          <p:txBody>
            <a:bodyPr/>
            <a:p/>
          </p:txBody>
        </p:sp>
      </p:grpSp>
      <p:grpSp>
        <p:nvGrpSpPr>
          <p:cNvPr id="26" name="Group 26"/>
          <p:cNvGrpSpPr/>
          <p:nvPr/>
        </p:nvGrpSpPr>
        <p:grpSpPr>
          <a:xfrm rot="0">
            <a:off x="822960" y="9641205"/>
            <a:ext cx="13716000" cy="440055"/>
            <a:chOff x="0" y="0"/>
            <a:chExt cx="18288000" cy="586740"/>
          </a:xfrm>
        </p:grpSpPr>
        <p:sp>
          <p:nvSpPr>
            <p:cNvPr id="27" name="Freeform 27"/>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5">
                <a:alphaModFix amt="0"/>
              </a:blip>
              <a:stretch>
                <a:fillRect t="-556902" b="-556904"/>
              </a:stretch>
            </a:blipFill>
          </p:spPr>
          <p:txBody>
            <a:bodyPr/>
            <a:p/>
          </p:txBody>
        </p:sp>
      </p:grpSp>
      <p:grpSp>
        <p:nvGrpSpPr>
          <p:cNvPr id="28" name="Group 28"/>
          <p:cNvGrpSpPr/>
          <p:nvPr/>
        </p:nvGrpSpPr>
        <p:grpSpPr>
          <a:xfrm rot="0">
            <a:off x="822960" y="9612630"/>
            <a:ext cx="13716000" cy="468630"/>
            <a:chOff x="0" y="0"/>
            <a:chExt cx="18288000" cy="624840"/>
          </a:xfrm>
        </p:grpSpPr>
        <p:sp>
          <p:nvSpPr>
            <p:cNvPr id="29" name="Freeform 29"/>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6">
                <a:alphaModFix amt="0"/>
              </a:blip>
              <a:stretch>
                <a:fillRect t="-520293" b="-520293"/>
              </a:stretch>
            </a:blipFill>
          </p:spPr>
          <p:txBody>
            <a:bodyPr/>
            <a:p/>
          </p:txBody>
        </p:sp>
        <p:sp>
          <p:nvSpPr>
            <p:cNvPr id="30" name="TextBox 30"/>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6" name="Group 6"/>
          <p:cNvGrpSpPr/>
          <p:nvPr/>
        </p:nvGrpSpPr>
        <p:grpSpPr>
          <a:xfrm rot="0">
            <a:off x="822960" y="9612630"/>
            <a:ext cx="13716000" cy="468630"/>
            <a:chOff x="0" y="0"/>
            <a:chExt cx="18288000" cy="624840"/>
          </a:xfrm>
        </p:grpSpPr>
        <p:sp>
          <p:nvSpPr>
            <p:cNvPr id="7" name="Freeform 7"/>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8" name="TextBox 8"/>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9" name="TextBox 9"/>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06 · KIỂM CHỨNG PIPELINE (R0)</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Baseline tái lập đúng số đã công bố</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1" name="Freeform 11"/>
          <p:cNvSpPr/>
          <p:nvPr/>
        </p:nvSpPr>
        <p:spPr>
          <a:xfrm>
            <a:off x="11230451" y="2040731"/>
            <a:ext cx="6250781" cy="3393758"/>
          </a:xfrm>
          <a:custGeom>
            <a:avLst/>
            <a:gdLst/>
            <a:ahLst/>
            <a:cxnLst/>
            <a:rect l="l" t="t" r="r" b="b"/>
            <a:pathLst>
              <a:path w="6250781" h="3393758">
                <a:moveTo>
                  <a:pt x="0" y="0"/>
                </a:moveTo>
                <a:lnTo>
                  <a:pt x="6250781" y="0"/>
                </a:lnTo>
                <a:lnTo>
                  <a:pt x="6250781" y="3393758"/>
                </a:lnTo>
                <a:lnTo>
                  <a:pt x="0" y="3393758"/>
                </a:lnTo>
                <a:lnTo>
                  <a:pt x="0" y="0"/>
                </a:lnTo>
                <a:close/>
              </a:path>
            </a:pathLst>
          </a:custGeom>
          <a:blipFill>
            <a:blip r:embed="rId4">
              <a:extLst>
                <a:ext uri="{96DAC541-7B7A-43D3-8B79-37D633B846F1}">
                  <asvg:svgBlip xmlns:asvg="http://schemas.microsoft.com/office/drawing/2016/SVG/main" r:embed="rId5"/>
                </a:ext>
              </a:extLst>
            </a:blip>
            <a:stretch>
              <a:fillRect t="-40" b="-40"/>
            </a:stretch>
          </a:blipFill>
        </p:spPr>
        <p:txBody>
          <a:bodyPr/>
          <a:p/>
        </p:txBody>
      </p:sp>
      <p:sp>
        <p:nvSpPr>
          <p:cNvPr id="12" name="TextBox 12"/>
          <p:cNvSpPr txBox="1"/>
          <p:nvPr/>
        </p:nvSpPr>
        <p:spPr>
          <a:xfrm>
            <a:off x="11658600" y="2148840"/>
            <a:ext cx="539450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Kết quả so với báo cáo gốc</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3" name="TextBox 13"/>
          <p:cNvSpPr txBox="1"/>
          <p:nvPr/>
        </p:nvSpPr>
        <p:spPr>
          <a:xfrm>
            <a:off x="11658600" y="2708910"/>
            <a:ext cx="5394503" cy="25031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Nhóm 79,6 so với 79,3 công bố, trên toàn bộ 5.000 câu TextVQA val: chênh +0,3 điểm → pipeline chạy đúng.</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4" name="Freeform 14"/>
          <p:cNvSpPr/>
          <p:nvPr/>
        </p:nvSpPr>
        <p:spPr>
          <a:xfrm>
            <a:off x="11230451" y="5675471"/>
            <a:ext cx="6250781" cy="3668078"/>
          </a:xfrm>
          <a:custGeom>
            <a:avLst/>
            <a:gdLst/>
            <a:ahLst/>
            <a:cxnLst/>
            <a:rect l="l" t="t" r="r" b="b"/>
            <a:pathLst>
              <a:path w="6250781" h="3668078">
                <a:moveTo>
                  <a:pt x="0" y="0"/>
                </a:moveTo>
                <a:lnTo>
                  <a:pt x="6250781" y="0"/>
                </a:lnTo>
                <a:lnTo>
                  <a:pt x="6250781" y="3668078"/>
                </a:lnTo>
                <a:lnTo>
                  <a:pt x="0" y="3668078"/>
                </a:lnTo>
                <a:lnTo>
                  <a:pt x="0" y="0"/>
                </a:lnTo>
                <a:close/>
              </a:path>
            </a:pathLst>
          </a:custGeom>
          <a:blipFill>
            <a:blip r:embed="rId6">
              <a:extLst>
                <a:ext uri="{96DAC541-7B7A-43D3-8B79-37D633B846F1}">
                  <asvg:svgBlip xmlns:asvg="http://schemas.microsoft.com/office/drawing/2016/SVG/main" r:embed="rId7"/>
                </a:ext>
              </a:extLst>
            </a:blip>
            <a:stretch>
              <a:fillRect t="-59" b="-59"/>
            </a:stretch>
          </a:blipFill>
        </p:spPr>
        <p:txBody>
          <a:bodyPr/>
          <a:p/>
        </p:txBody>
      </p:sp>
      <p:sp>
        <p:nvSpPr>
          <p:cNvPr id="15" name="TextBox 15"/>
          <p:cNvSpPr txBox="1"/>
          <p:nvPr/>
        </p:nvSpPr>
        <p:spPr>
          <a:xfrm>
            <a:off x="11658600" y="5783580"/>
            <a:ext cx="539450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Cái giá của cấu hình tiết kiệm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11658600" y="6343650"/>
            <a:ext cx="5394503" cy="2777490"/>
          </a:xfrm>
          <a:prstGeom prst="rect">
            <a:avLst/>
          </a:prstGeom>
        </p:spPr>
        <p:txBody>
          <a:bodyPr lIns="0" tIns="0" rIns="0" bIns="0" rtlCol="0" anchor="t">
            <a:spAutoFit/>
          </a:bodyPr>
          <a:lstStyle/>
          <a:p>
            <a:pPr marL="588010" lvl="3" indent="-14668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−4,4 điểm accuracy</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588010" lvl="3" indent="-14668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VRAM 10,9 → 2,5 GB (ít hơn 4,3 lần)</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588010" lvl="3" indent="-14668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Giữ 94,5% độ chính xác — báo cáo như số đo hiệu quả, không phải giả thuyết (slide 8)</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7" name="Group 17"/>
          <p:cNvGrpSpPr/>
          <p:nvPr/>
        </p:nvGrpSpPr>
        <p:grpSpPr>
          <a:xfrm rot="0">
            <a:off x="15458732" y="0"/>
            <a:ext cx="2829306" cy="1184338"/>
            <a:chOff x="0" y="0"/>
            <a:chExt cx="3772408" cy="1579118"/>
          </a:xfrm>
        </p:grpSpPr>
        <p:sp>
          <p:nvSpPr>
            <p:cNvPr id="18" name="Freeform 18"/>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8"/>
              <a:stretch>
                <a:fillRect/>
              </a:stretch>
            </a:blipFill>
          </p:spPr>
          <p:txBody>
            <a:bodyPr/>
            <a:p/>
          </p:txBody>
        </p:sp>
      </p:grpSp>
      <p:grpSp>
        <p:nvGrpSpPr>
          <p:cNvPr id="19" name="Group 19"/>
          <p:cNvGrpSpPr/>
          <p:nvPr/>
        </p:nvGrpSpPr>
        <p:grpSpPr>
          <a:xfrm rot="0">
            <a:off x="5351031" y="9684372"/>
            <a:ext cx="335394" cy="342957"/>
            <a:chOff x="0" y="0"/>
            <a:chExt cx="447192" cy="457276"/>
          </a:xfrm>
        </p:grpSpPr>
        <p:sp>
          <p:nvSpPr>
            <p:cNvPr id="20" name="Freeform 20"/>
            <p:cNvSpPr/>
            <p:nvPr/>
          </p:nvSpPr>
          <p:spPr>
            <a:xfrm>
              <a:off x="-31" y="27"/>
              <a:ext cx="447198" cy="457276"/>
            </a:xfrm>
            <a:custGeom>
              <a:avLst/>
              <a:gdLst/>
              <a:ahLst/>
              <a:cxnLst/>
              <a:rect l="l" t="t" r="r" b="b"/>
              <a:pathLst>
                <a:path w="447198" h="457276">
                  <a:moveTo>
                    <a:pt x="447198" y="160882"/>
                  </a:moveTo>
                  <a:cubicBezTo>
                    <a:pt x="447198" y="304392"/>
                    <a:pt x="430688" y="342492"/>
                    <a:pt x="409098" y="370432"/>
                  </a:cubicBezTo>
                  <a:cubicBezTo>
                    <a:pt x="386238" y="398372"/>
                    <a:pt x="354488" y="422502"/>
                    <a:pt x="322738" y="437742"/>
                  </a:cubicBezTo>
                  <a:cubicBezTo>
                    <a:pt x="289718" y="451712"/>
                    <a:pt x="250348" y="459332"/>
                    <a:pt x="214788" y="456792"/>
                  </a:cubicBezTo>
                  <a:cubicBezTo>
                    <a:pt x="179228" y="455522"/>
                    <a:pt x="141128" y="442822"/>
                    <a:pt x="110648" y="425042"/>
                  </a:cubicBezTo>
                  <a:cubicBezTo>
                    <a:pt x="80168" y="405992"/>
                    <a:pt x="50958" y="378052"/>
                    <a:pt x="33178" y="347572"/>
                  </a:cubicBezTo>
                  <a:cubicBezTo>
                    <a:pt x="14128" y="317092"/>
                    <a:pt x="2698" y="277722"/>
                    <a:pt x="158" y="242162"/>
                  </a:cubicBezTo>
                  <a:cubicBezTo>
                    <a:pt x="-1112" y="207872"/>
                    <a:pt x="5238" y="167232"/>
                    <a:pt x="20478" y="135482"/>
                  </a:cubicBezTo>
                  <a:cubicBezTo>
                    <a:pt x="34448" y="102462"/>
                    <a:pt x="59848" y="70712"/>
                    <a:pt x="87788" y="49122"/>
                  </a:cubicBezTo>
                  <a:cubicBezTo>
                    <a:pt x="115728" y="27532"/>
                    <a:pt x="152558" y="11022"/>
                    <a:pt x="186848" y="3402"/>
                  </a:cubicBezTo>
                  <a:cubicBezTo>
                    <a:pt x="222408" y="-2948"/>
                    <a:pt x="263048" y="-408"/>
                    <a:pt x="296068" y="11022"/>
                  </a:cubicBezTo>
                  <a:cubicBezTo>
                    <a:pt x="330358" y="21182"/>
                    <a:pt x="390048" y="66902"/>
                    <a:pt x="390048" y="66902"/>
                  </a:cubicBezTo>
                </a:path>
              </a:pathLst>
            </a:custGeom>
            <a:solidFill>
              <a:srgbClr val="FFFFFF">
                <a:alpha val="5882"/>
              </a:srgbClr>
            </a:solidFill>
          </p:spPr>
          <p:txBody>
            <a:bodyPr/>
            <a:p/>
          </p:txBody>
        </p:sp>
      </p:grpSp>
      <p:sp>
        <p:nvSpPr>
          <p:cNvPr id="21" name="Freeform 21"/>
          <p:cNvSpPr/>
          <p:nvPr/>
        </p:nvSpPr>
        <p:spPr>
          <a:xfrm>
            <a:off x="3391853" y="9579978"/>
            <a:ext cx="3207067" cy="483927"/>
          </a:xfrm>
          <a:custGeom>
            <a:avLst/>
            <a:gdLst/>
            <a:ahLst/>
            <a:cxnLst/>
            <a:rect l="l" t="t" r="r" b="b"/>
            <a:pathLst>
              <a:path w="3207067" h="483927">
                <a:moveTo>
                  <a:pt x="0" y="0"/>
                </a:moveTo>
                <a:lnTo>
                  <a:pt x="3207067" y="0"/>
                </a:lnTo>
                <a:lnTo>
                  <a:pt x="3207067" y="483927"/>
                </a:lnTo>
                <a:lnTo>
                  <a:pt x="0" y="483927"/>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p/>
        </p:txBody>
      </p:sp>
      <p:sp>
        <p:nvSpPr>
          <p:cNvPr id="22" name="Freeform 22"/>
          <p:cNvSpPr/>
          <p:nvPr/>
        </p:nvSpPr>
        <p:spPr>
          <a:xfrm>
            <a:off x="2383393" y="9612830"/>
            <a:ext cx="1499749" cy="474174"/>
          </a:xfrm>
          <a:custGeom>
            <a:avLst/>
            <a:gdLst/>
            <a:ahLst/>
            <a:cxnLst/>
            <a:rect l="l" t="t" r="r" b="b"/>
            <a:pathLst>
              <a:path w="1499749" h="474174">
                <a:moveTo>
                  <a:pt x="0" y="0"/>
                </a:moveTo>
                <a:lnTo>
                  <a:pt x="1499749" y="0"/>
                </a:lnTo>
                <a:lnTo>
                  <a:pt x="1499749" y="474174"/>
                </a:lnTo>
                <a:lnTo>
                  <a:pt x="0" y="474174"/>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txBody>
          <a:bodyPr/>
          <a:p/>
        </p:txBody>
      </p:sp>
      <p:sp>
        <p:nvSpPr>
          <p:cNvPr id="23" name="Freeform 23"/>
          <p:cNvSpPr/>
          <p:nvPr/>
        </p:nvSpPr>
        <p:spPr>
          <a:xfrm>
            <a:off x="2252662" y="9734550"/>
            <a:ext cx="1167803" cy="281883"/>
          </a:xfrm>
          <a:custGeom>
            <a:avLst/>
            <a:gdLst/>
            <a:ahLst/>
            <a:cxnLst/>
            <a:rect l="l" t="t" r="r" b="b"/>
            <a:pathLst>
              <a:path w="1167803" h="281883">
                <a:moveTo>
                  <a:pt x="0" y="0"/>
                </a:moveTo>
                <a:lnTo>
                  <a:pt x="1167804" y="0"/>
                </a:lnTo>
                <a:lnTo>
                  <a:pt x="1167804" y="281883"/>
                </a:lnTo>
                <a:lnTo>
                  <a:pt x="0" y="281883"/>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txBody>
          <a:bodyPr/>
          <a:p/>
        </p:txBody>
      </p:sp>
      <p:grpSp>
        <p:nvGrpSpPr>
          <p:cNvPr id="24" name="Group 24"/>
          <p:cNvGrpSpPr/>
          <p:nvPr/>
        </p:nvGrpSpPr>
        <p:grpSpPr>
          <a:xfrm rot="0">
            <a:off x="3871770" y="9851669"/>
            <a:ext cx="111585" cy="110604"/>
            <a:chOff x="0" y="0"/>
            <a:chExt cx="148780" cy="147472"/>
          </a:xfrm>
        </p:grpSpPr>
        <p:sp>
          <p:nvSpPr>
            <p:cNvPr id="25" name="Freeform 25"/>
            <p:cNvSpPr/>
            <p:nvPr/>
          </p:nvSpPr>
          <p:spPr>
            <a:xfrm>
              <a:off x="58" y="-51"/>
              <a:ext cx="148786" cy="147474"/>
            </a:xfrm>
            <a:custGeom>
              <a:avLst/>
              <a:gdLst/>
              <a:ahLst/>
              <a:cxnLst/>
              <a:rect l="l" t="t" r="r" b="b"/>
              <a:pathLst>
                <a:path w="148786" h="147474">
                  <a:moveTo>
                    <a:pt x="148786" y="52121"/>
                  </a:moveTo>
                  <a:cubicBezTo>
                    <a:pt x="128466" y="133401"/>
                    <a:pt x="119576" y="141021"/>
                    <a:pt x="106876" y="144831"/>
                  </a:cubicBezTo>
                  <a:cubicBezTo>
                    <a:pt x="89096" y="149911"/>
                    <a:pt x="53536" y="147371"/>
                    <a:pt x="35756" y="139751"/>
                  </a:cubicBezTo>
                  <a:cubicBezTo>
                    <a:pt x="24326" y="134671"/>
                    <a:pt x="16706" y="124511"/>
                    <a:pt x="10356" y="114351"/>
                  </a:cubicBezTo>
                  <a:cubicBezTo>
                    <a:pt x="4006" y="104191"/>
                    <a:pt x="-1074" y="92761"/>
                    <a:pt x="196" y="80061"/>
                  </a:cubicBezTo>
                  <a:cubicBezTo>
                    <a:pt x="196" y="61011"/>
                    <a:pt x="15436" y="27991"/>
                    <a:pt x="28136" y="15291"/>
                  </a:cubicBezTo>
                  <a:cubicBezTo>
                    <a:pt x="38296" y="5131"/>
                    <a:pt x="48456" y="1321"/>
                    <a:pt x="62426" y="51"/>
                  </a:cubicBezTo>
                  <a:cubicBezTo>
                    <a:pt x="80206" y="-1219"/>
                    <a:pt x="129736" y="21641"/>
                    <a:pt x="129736" y="21641"/>
                  </a:cubicBezTo>
                </a:path>
              </a:pathLst>
            </a:custGeom>
            <a:solidFill>
              <a:srgbClr val="FFFFFF"/>
            </a:solidFill>
          </p:spPr>
          <p:txBody>
            <a:bodyPr/>
            <a:p/>
          </p:txBody>
        </p:sp>
      </p:grpSp>
      <p:sp>
        <p:nvSpPr>
          <p:cNvPr id="26" name="Freeform 26"/>
          <p:cNvSpPr/>
          <p:nvPr/>
        </p:nvSpPr>
        <p:spPr>
          <a:xfrm>
            <a:off x="358140" y="9551670"/>
            <a:ext cx="6751320" cy="573824"/>
          </a:xfrm>
          <a:custGeom>
            <a:avLst/>
            <a:gdLst/>
            <a:ahLst/>
            <a:cxnLst/>
            <a:rect l="l" t="t" r="r" b="b"/>
            <a:pathLst>
              <a:path w="6751320" h="573824">
                <a:moveTo>
                  <a:pt x="0" y="0"/>
                </a:moveTo>
                <a:lnTo>
                  <a:pt x="6751320" y="0"/>
                </a:lnTo>
                <a:lnTo>
                  <a:pt x="6751320" y="573824"/>
                </a:lnTo>
                <a:lnTo>
                  <a:pt x="0" y="573824"/>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txBody>
          <a:bodyPr/>
          <a:p/>
        </p:txBody>
      </p:sp>
      <p:grpSp>
        <p:nvGrpSpPr>
          <p:cNvPr id="27" name="Group 27"/>
          <p:cNvGrpSpPr/>
          <p:nvPr/>
        </p:nvGrpSpPr>
        <p:grpSpPr>
          <a:xfrm rot="0">
            <a:off x="1028700" y="9434036"/>
            <a:ext cx="13716000" cy="440055"/>
            <a:chOff x="0" y="0"/>
            <a:chExt cx="18288000" cy="586740"/>
          </a:xfrm>
        </p:grpSpPr>
        <p:sp>
          <p:nvSpPr>
            <p:cNvPr id="28" name="Freeform 28"/>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29" name="Group 29"/>
          <p:cNvGrpSpPr/>
          <p:nvPr/>
        </p:nvGrpSpPr>
        <p:grpSpPr>
          <a:xfrm rot="0">
            <a:off x="1028700" y="9405461"/>
            <a:ext cx="13716000" cy="468630"/>
            <a:chOff x="0" y="0"/>
            <a:chExt cx="18288000" cy="624840"/>
          </a:xfrm>
        </p:grpSpPr>
        <p:sp>
          <p:nvSpPr>
            <p:cNvPr id="30" name="Freeform 30"/>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31" name="TextBox 31"/>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grpSp>
        <p:nvGrpSpPr>
          <p:cNvPr id="32" name="Group 32"/>
          <p:cNvGrpSpPr/>
          <p:nvPr/>
        </p:nvGrpSpPr>
        <p:grpSpPr>
          <a:xfrm rot="0">
            <a:off x="804672" y="2039112"/>
            <a:ext cx="10149840" cy="1161288"/>
            <a:chOff x="0" y="0"/>
            <a:chExt cx="13533120" cy="1548384"/>
          </a:xfrm>
        </p:grpSpPr>
        <p:sp>
          <p:nvSpPr>
            <p:cNvPr id="33" name="Freeform 33"/>
            <p:cNvSpPr/>
            <p:nvPr/>
          </p:nvSpPr>
          <p:spPr>
            <a:xfrm>
              <a:off x="0" y="0"/>
              <a:ext cx="13533120" cy="1548384"/>
            </a:xfrm>
            <a:custGeom>
              <a:avLst/>
              <a:gdLst/>
              <a:ahLst/>
              <a:cxnLst/>
              <a:rect l="l" t="t" r="r" b="b"/>
              <a:pathLst>
                <a:path w="13533120" h="1548384">
                  <a:moveTo>
                    <a:pt x="0" y="123825"/>
                  </a:moveTo>
                  <a:cubicBezTo>
                    <a:pt x="0" y="55499"/>
                    <a:pt x="55499" y="0"/>
                    <a:pt x="123825" y="0"/>
                  </a:cubicBezTo>
                  <a:lnTo>
                    <a:pt x="13409295" y="0"/>
                  </a:lnTo>
                  <a:cubicBezTo>
                    <a:pt x="13477748" y="0"/>
                    <a:pt x="13533120" y="55499"/>
                    <a:pt x="13533120" y="123825"/>
                  </a:cubicBezTo>
                  <a:lnTo>
                    <a:pt x="13533120" y="1424559"/>
                  </a:lnTo>
                  <a:cubicBezTo>
                    <a:pt x="13533120" y="1493012"/>
                    <a:pt x="13477621" y="1548384"/>
                    <a:pt x="13409295" y="1548384"/>
                  </a:cubicBezTo>
                  <a:lnTo>
                    <a:pt x="123825" y="1548384"/>
                  </a:lnTo>
                  <a:cubicBezTo>
                    <a:pt x="55372" y="1548384"/>
                    <a:pt x="0" y="1492885"/>
                    <a:pt x="0" y="1424559"/>
                  </a:cubicBezTo>
                  <a:close/>
                </a:path>
              </a:pathLst>
            </a:custGeom>
            <a:solidFill>
              <a:srgbClr val="FBF0DA"/>
            </a:solidFill>
          </p:spPr>
          <p:txBody>
            <a:bodyPr/>
            <a:p/>
          </p:txBody>
        </p:sp>
      </p:grpSp>
      <p:grpSp>
        <p:nvGrpSpPr>
          <p:cNvPr id="34" name="Group 34"/>
          <p:cNvGrpSpPr/>
          <p:nvPr/>
        </p:nvGrpSpPr>
        <p:grpSpPr>
          <a:xfrm rot="0">
            <a:off x="1051560" y="2103120"/>
            <a:ext cx="9692640" cy="1051560"/>
            <a:chOff x="0" y="0"/>
            <a:chExt cx="12923520" cy="1402080"/>
          </a:xfrm>
        </p:grpSpPr>
        <p:sp>
          <p:nvSpPr>
            <p:cNvPr id="35" name="Freeform 35"/>
            <p:cNvSpPr/>
            <p:nvPr/>
          </p:nvSpPr>
          <p:spPr>
            <a:xfrm>
              <a:off x="0" y="0"/>
              <a:ext cx="12923520" cy="1402080"/>
            </a:xfrm>
            <a:custGeom>
              <a:avLst/>
              <a:gdLst/>
              <a:ahLst/>
              <a:cxnLst/>
              <a:rect l="l" t="t" r="r" b="b"/>
              <a:pathLst>
                <a:path w="12923520" h="1402080">
                  <a:moveTo>
                    <a:pt x="0" y="0"/>
                  </a:moveTo>
                  <a:lnTo>
                    <a:pt x="12923520" y="0"/>
                  </a:lnTo>
                  <a:lnTo>
                    <a:pt x="12923520" y="1402080"/>
                  </a:lnTo>
                  <a:lnTo>
                    <a:pt x="0" y="1402080"/>
                  </a:lnTo>
                  <a:close/>
                </a:path>
              </a:pathLst>
            </a:custGeom>
            <a:blipFill>
              <a:blip r:embed="rId3">
                <a:alphaModFix amt="0"/>
              </a:blip>
              <a:stretch>
                <a:fillRect t="-129601" b="-129601"/>
              </a:stretch>
            </a:blipFill>
          </p:spPr>
          <p:txBody>
            <a:bodyPr/>
            <a:p/>
          </p:txBody>
        </p:sp>
        <p:sp>
          <p:nvSpPr>
            <p:cNvPr id="36" name="TextBox 36"/>
            <p:cNvSpPr txBox="1"/>
            <p:nvPr/>
          </p:nvSpPr>
          <p:spPr>
            <a:xfrm>
              <a:off x="0" y="-47625"/>
              <a:ext cx="12923520" cy="1449705"/>
            </a:xfrm>
            <a:prstGeom prst="rect">
              <a:avLst/>
            </a:prstGeom>
          </p:spPr>
          <p:txBody>
            <a:bodyPr lIns="0" tIns="0" rIns="0" bIns="0" rtlCol="0" anchor="ctr"/>
            <a:lstStyle/>
            <a:p>
              <a:pPr algn="l">
                <a:lnSpc>
                  <a:spcPts val="2290"/>
                </a:lnSpc>
              </a:pPr>
              <a:r>
                <a:rPr lang="en-US" sz="1800" b="1">
                  <a:solidFill>
                    <a:srgbClr val="B86E0E"/>
                  </a:solidFill>
                  <a:latin typeface="Calibri (MS) Bold" panose="020F0702030404030204"/>
                  <a:ea typeface="Calibri (MS) Bold" panose="020F0702030404030204"/>
                  <a:cs typeface="Calibri (MS) Bold" panose="020F0702030404030204"/>
                  <a:sym typeface="Calibri (MS) Bold" panose="020F0702030404030204"/>
                </a:rPr>
                <a:t>Báo cáo gốc  </a:t>
              </a:r>
              <a:r>
                <a:rPr lang="en-US" sz="1800">
                  <a:solidFill>
                    <a:srgbClr val="243044"/>
                  </a:solidFill>
                  <a:latin typeface="Calibri (MS)" panose="020F0502020204030204"/>
                  <a:ea typeface="Calibri (MS)" panose="020F0502020204030204"/>
                  <a:cs typeface="Calibri (MS)" panose="020F0502020204030204"/>
                  <a:sym typeface="Calibri (MS)" panose="020F0502020204030204"/>
                </a:rPr>
                <a:t>Qwen2.5-VL Technical Report (Bai et al., 2025), Table 5 — TextVQA val, Qwen2.5-VL-3B = </a:t>
              </a: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79,3</a:t>
              </a:r>
              <a:endPar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1910"/>
                </a:lnSpc>
              </a:pPr>
              <a:r>
                <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17" tooltip="https://arxiv.org/abs/2502.13923"/>
                </a:rPr>
                <a:t>arxiv.org/abs/2502.13923 ↗</a:t>
              </a:r>
              <a:endPar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17" tooltip="https://arxiv.org/abs/2502.13923"/>
              </a:endParaRPr>
            </a:p>
          </p:txBody>
        </p:sp>
      </p:grpSp>
      <p:pic>
        <p:nvPicPr>
          <p:cNvPr id="37" name="Picture 36" descr="cell19a.png"/>
          <p:cNvPicPr>
            <a:picLocks noChangeAspect="1"/>
          </p:cNvPicPr>
          <p:nvPr/>
        </p:nvPicPr>
        <p:blipFill>
          <a:blip r:embed="rId21"/>
          <a:stretch>
            <a:fillRect/>
          </a:stretch>
        </p:blipFill>
        <p:spPr>
          <a:xfrm>
            <a:off x="1124712" y="3310128"/>
            <a:ext cx="9509760" cy="3506207"/>
          </a:xfrm>
          <a:prstGeom prst="rect">
            <a:avLst/>
          </a:prstGeom>
        </p:spPr>
      </p:pic>
      <p:pic>
        <p:nvPicPr>
          <p:cNvPr id="38" name="Picture 37" descr="cell19b.png"/>
          <p:cNvPicPr>
            <a:picLocks noChangeAspect="1"/>
          </p:cNvPicPr>
          <p:nvPr/>
        </p:nvPicPr>
        <p:blipFill>
          <a:blip r:embed="rId22"/>
          <a:stretch>
            <a:fillRect/>
          </a:stretch>
        </p:blipFill>
        <p:spPr>
          <a:xfrm>
            <a:off x="1124712" y="6953495"/>
            <a:ext cx="9509760" cy="112463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6" name="Group 6"/>
          <p:cNvGrpSpPr/>
          <p:nvPr/>
        </p:nvGrpSpPr>
        <p:grpSpPr>
          <a:xfrm rot="0">
            <a:off x="822960" y="9612630"/>
            <a:ext cx="13716000" cy="468630"/>
            <a:chOff x="0" y="0"/>
            <a:chExt cx="18288000" cy="624840"/>
          </a:xfrm>
        </p:grpSpPr>
        <p:sp>
          <p:nvSpPr>
            <p:cNvPr id="7" name="Freeform 7"/>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8" name="TextBox 8"/>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9" name="TextBox 9"/>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EXISTING SYSTEM · 07 · BASELINE ZERO-SHOT (B1)</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Zero-shot sai chủ yếu ở định dạng câu trả lời</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11" name="Table 11"/>
          <p:cNvGraphicFramePr>
            <a:graphicFrameLocks noGrp="1"/>
          </p:cNvGraphicFramePr>
          <p:nvPr/>
        </p:nvGraphicFramePr>
        <p:xfrm>
          <a:off x="822960" y="2125980"/>
          <a:ext cx="8991601" cy="2743200"/>
        </p:xfrm>
        <a:graphic>
          <a:graphicData uri="http://schemas.openxmlformats.org/drawingml/2006/table">
            <a:tbl>
              <a:tblPr/>
              <a:tblGrid>
                <a:gridCol w="4430749"/>
                <a:gridCol w="1520284"/>
                <a:gridCol w="1520284"/>
                <a:gridCol w="1520284"/>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Tập test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ANLS</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ViVQA (3.001)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22,1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28,6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38,1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ViTextVQA tập con (2.000)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28,8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ViTextVQA đầy đủ (10.028)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12" name="Freeform 12"/>
          <p:cNvSpPr/>
          <p:nvPr/>
        </p:nvSpPr>
        <p:spPr>
          <a:xfrm>
            <a:off x="806291" y="5263991"/>
            <a:ext cx="9085898" cy="4148138"/>
          </a:xfrm>
          <a:custGeom>
            <a:avLst/>
            <a:gdLst/>
            <a:ahLst/>
            <a:cxnLst/>
            <a:rect l="l" t="t" r="r" b="b"/>
            <a:pathLst>
              <a:path w="9085898" h="4148138">
                <a:moveTo>
                  <a:pt x="0" y="0"/>
                </a:moveTo>
                <a:lnTo>
                  <a:pt x="9085898" y="0"/>
                </a:lnTo>
                <a:lnTo>
                  <a:pt x="9085898" y="4148138"/>
                </a:lnTo>
                <a:lnTo>
                  <a:pt x="0" y="4148138"/>
                </a:lnTo>
                <a:lnTo>
                  <a:pt x="0" y="0"/>
                </a:lnTo>
                <a:close/>
              </a:path>
            </a:pathLst>
          </a:custGeom>
          <a:blipFill>
            <a:blip r:embed="rId4">
              <a:extLst>
                <a:ext uri="{96DAC541-7B7A-43D3-8B79-37D633B846F1}">
                  <asvg:svgBlip xmlns:asvg="http://schemas.microsoft.com/office/drawing/2016/SVG/main" r:embed="rId5"/>
                </a:ext>
              </a:extLst>
            </a:blip>
            <a:stretch>
              <a:fillRect t="-52" b="-52"/>
            </a:stretch>
          </a:blipFill>
        </p:spPr>
        <p:txBody>
          <a:bodyPr/>
          <a:p/>
        </p:txBody>
      </p:sp>
      <p:sp>
        <p:nvSpPr>
          <p:cNvPr id="13" name="TextBox 13"/>
          <p:cNvSpPr txBox="1"/>
          <p:nvPr/>
        </p:nvSpPr>
        <p:spPr>
          <a:xfrm>
            <a:off x="1234440" y="5372100"/>
            <a:ext cx="8229600"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ViVQA EM theo loại câu hỏi</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4" name="Group 14"/>
          <p:cNvGrpSpPr/>
          <p:nvPr/>
        </p:nvGrpSpPr>
        <p:grpSpPr>
          <a:xfrm rot="0">
            <a:off x="246888" y="5184648"/>
            <a:ext cx="10204704" cy="4924044"/>
            <a:chOff x="0" y="0"/>
            <a:chExt cx="13606272" cy="6565392"/>
          </a:xfrm>
        </p:grpSpPr>
        <p:sp>
          <p:nvSpPr>
            <p:cNvPr id="15" name="Freeform 15"/>
            <p:cNvSpPr/>
            <p:nvPr/>
          </p:nvSpPr>
          <p:spPr>
            <a:xfrm>
              <a:off x="0" y="0"/>
              <a:ext cx="13606272" cy="6565392"/>
            </a:xfrm>
            <a:custGeom>
              <a:avLst/>
              <a:gdLst/>
              <a:ahLst/>
              <a:cxnLst/>
              <a:rect l="l" t="t" r="r" b="b"/>
              <a:pathLst>
                <a:path w="13606272" h="6565392">
                  <a:moveTo>
                    <a:pt x="0" y="0"/>
                  </a:moveTo>
                  <a:lnTo>
                    <a:pt x="13606272" y="0"/>
                  </a:lnTo>
                  <a:lnTo>
                    <a:pt x="13606272" y="6565392"/>
                  </a:lnTo>
                  <a:lnTo>
                    <a:pt x="0" y="6565392"/>
                  </a:lnTo>
                  <a:lnTo>
                    <a:pt x="0" y="0"/>
                  </a:lnTo>
                  <a:close/>
                </a:path>
              </a:pathLst>
            </a:custGeom>
            <a:blipFill>
              <a:blip r:embed="rId6"/>
              <a:stretch>
                <a:fillRect t="-20" b="-20"/>
              </a:stretch>
            </a:blipFill>
          </p:spPr>
          <p:txBody>
            <a:bodyPr/>
            <a:p/>
          </p:txBody>
        </p:sp>
      </p:grpSp>
      <p:sp>
        <p:nvSpPr>
          <p:cNvPr id="16" name="Freeform 16"/>
          <p:cNvSpPr/>
          <p:nvPr/>
        </p:nvSpPr>
        <p:spPr>
          <a:xfrm>
            <a:off x="10407491" y="2109311"/>
            <a:ext cx="7073741" cy="7302818"/>
          </a:xfrm>
          <a:custGeom>
            <a:avLst/>
            <a:gdLst/>
            <a:ahLst/>
            <a:cxnLst/>
            <a:rect l="l" t="t" r="r" b="b"/>
            <a:pathLst>
              <a:path w="7073741" h="7302818">
                <a:moveTo>
                  <a:pt x="0" y="0"/>
                </a:moveTo>
                <a:lnTo>
                  <a:pt x="7073741" y="0"/>
                </a:lnTo>
                <a:lnTo>
                  <a:pt x="7073741" y="7302818"/>
                </a:lnTo>
                <a:lnTo>
                  <a:pt x="0" y="7302818"/>
                </a:lnTo>
                <a:lnTo>
                  <a:pt x="0" y="0"/>
                </a:lnTo>
                <a:close/>
              </a:path>
            </a:pathLst>
          </a:custGeom>
          <a:blipFill>
            <a:blip r:embed="rId7">
              <a:extLst>
                <a:ext uri="{96DAC541-7B7A-43D3-8B79-37D633B846F1}">
                  <asvg:svgBlip xmlns:asvg="http://schemas.microsoft.com/office/drawing/2016/SVG/main" r:embed="rId8"/>
                </a:ext>
              </a:extLst>
            </a:blip>
            <a:stretch>
              <a:fillRect l="-4" r="-3"/>
            </a:stretch>
          </a:blipFill>
        </p:spPr>
        <p:txBody>
          <a:bodyPr/>
          <a:p/>
        </p:txBody>
      </p:sp>
      <p:sp>
        <p:nvSpPr>
          <p:cNvPr id="17" name="TextBox 17"/>
          <p:cNvSpPr txBox="1"/>
          <p:nvPr/>
        </p:nvSpPr>
        <p:spPr>
          <a:xfrm>
            <a:off x="10835640" y="2217420"/>
            <a:ext cx="621746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Lỗi chính: trả lời dài dòng</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8" name="TextBox 18"/>
          <p:cNvSpPr txBox="1"/>
          <p:nvPr/>
        </p:nvSpPr>
        <p:spPr>
          <a:xfrm>
            <a:off x="10835640" y="2846070"/>
            <a:ext cx="6217463" cy="6343650"/>
          </a:xfrm>
          <a:prstGeom prst="rect">
            <a:avLst/>
          </a:prstGeom>
        </p:spPr>
        <p:txBody>
          <a:bodyPr lIns="0" tIns="0" rIns="0" bIns="0" rtlCol="0" anchor="t">
            <a:spAutoFit/>
          </a:bodyPr>
          <a:lstStyle/>
          <a:p>
            <a:pPr marL="588010" lvl="3" indent="-14668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Số từ mỗi câu trả lời: 2,9 so với gold 1,6 (ViVQA); 5,5 so với 3,7 (ViTextVQA)</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588010" lvl="3" indent="-14668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19% câu trả lời ViTextVQA chứa đáp án gold nhưng vẫn trượt EM</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588010" lvl="3" indent="-14668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“Lịch tết năm 2021” so với gold “2021”</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a:p>
            <a:pPr marL="588010" lvl="3" indent="-146685" algn="l">
              <a:lnSpc>
                <a:spcPts val="2700"/>
              </a:lnSpc>
              <a:buFont typeface="Arial" panose="020B0604020202020204"/>
              <a:buChar char="￭"/>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Ngoài ra: chen tiếng Anh (“truck”), hallucination, gold nhiễu (“tía”)</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15458732" y="0"/>
            <a:ext cx="2829306" cy="1184338"/>
            <a:chOff x="0" y="0"/>
            <a:chExt cx="3772408" cy="1579118"/>
          </a:xfrm>
        </p:grpSpPr>
        <p:sp>
          <p:nvSpPr>
            <p:cNvPr id="20" name="Freeform 20"/>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9"/>
              <a:stretch>
                <a:fillRect/>
              </a:stretch>
            </a:blipFill>
          </p:spPr>
          <p:txBody>
            <a:bodyPr/>
            <a:p/>
          </p:txBody>
        </p:sp>
      </p:grpSp>
      <p:sp>
        <p:nvSpPr>
          <p:cNvPr id="21" name="Freeform 21"/>
          <p:cNvSpPr/>
          <p:nvPr/>
        </p:nvSpPr>
        <p:spPr>
          <a:xfrm>
            <a:off x="-69161" y="9678895"/>
            <a:ext cx="7859801" cy="506120"/>
          </a:xfrm>
          <a:custGeom>
            <a:avLst/>
            <a:gdLst/>
            <a:ahLst/>
            <a:cxnLst/>
            <a:rect l="l" t="t" r="r" b="b"/>
            <a:pathLst>
              <a:path w="7859801" h="506120">
                <a:moveTo>
                  <a:pt x="0" y="0"/>
                </a:moveTo>
                <a:lnTo>
                  <a:pt x="7859801" y="0"/>
                </a:lnTo>
                <a:lnTo>
                  <a:pt x="7859801" y="506121"/>
                </a:lnTo>
                <a:lnTo>
                  <a:pt x="0" y="506121"/>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p/>
        </p:txBody>
      </p:sp>
      <p:grpSp>
        <p:nvGrpSpPr>
          <p:cNvPr id="22" name="Group 22"/>
          <p:cNvGrpSpPr/>
          <p:nvPr/>
        </p:nvGrpSpPr>
        <p:grpSpPr>
          <a:xfrm rot="0">
            <a:off x="971550" y="9641205"/>
            <a:ext cx="13716000" cy="440055"/>
            <a:chOff x="0" y="0"/>
            <a:chExt cx="18288000" cy="586740"/>
          </a:xfrm>
        </p:grpSpPr>
        <p:sp>
          <p:nvSpPr>
            <p:cNvPr id="23" name="Freeform 23"/>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24" name="Group 24"/>
          <p:cNvGrpSpPr/>
          <p:nvPr/>
        </p:nvGrpSpPr>
        <p:grpSpPr>
          <a:xfrm rot="0">
            <a:off x="971550" y="9612630"/>
            <a:ext cx="13716000" cy="468630"/>
            <a:chOff x="0" y="0"/>
            <a:chExt cx="18288000" cy="624840"/>
          </a:xfrm>
        </p:grpSpPr>
        <p:sp>
          <p:nvSpPr>
            <p:cNvPr id="25" name="Freeform 25"/>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26" name="TextBox 26"/>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01 · LỘ TRÌNH</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Lộ trình: mỗi bước chỉ đổi một yếu tố</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54" name="Rounded Rectangle 53"/>
          <p:cNvSpPr/>
          <p:nvPr/>
        </p:nvSpPr>
        <p:spPr>
          <a:xfrm>
            <a:off x="806291" y="2386584"/>
            <a:ext cx="3833717" cy="6629400"/>
          </a:xfrm>
          <a:prstGeom prst="roundRect">
            <a:avLst>
              <a:gd name="adj" fmla="val 5000"/>
            </a:avLst>
          </a:prstGeom>
          <a:solidFill>
            <a:srgbClr val="E7F0F3"/>
          </a:solidFill>
          <a:ln>
            <a:noFill/>
          </a:ln>
        </p:spPr>
        <p:txBody>
          <a:bodyPr rtlCol="0" anchor="ctr"/>
          <a:lstStyle/>
          <a:p>
            <a:pPr algn="ctr"/>
          </a:p>
        </p:txBody>
      </p:sp>
      <p:sp>
        <p:nvSpPr>
          <p:cNvPr id="7" name="Freeform 7"/>
          <p:cNvSpPr/>
          <p:nvPr/>
        </p:nvSpPr>
        <p:spPr>
          <a:xfrm>
            <a:off x="1217771" y="2795111"/>
            <a:ext cx="1336358" cy="1336358"/>
          </a:xfrm>
          <a:custGeom>
            <a:avLst/>
            <a:gdLst/>
            <a:ahLst/>
            <a:cxnLst/>
            <a:rect l="l" t="t" r="r" b="b"/>
            <a:pathLst>
              <a:path w="1336358" h="1336358">
                <a:moveTo>
                  <a:pt x="0" y="0"/>
                </a:moveTo>
                <a:lnTo>
                  <a:pt x="1336358" y="0"/>
                </a:lnTo>
                <a:lnTo>
                  <a:pt x="1336358" y="1336358"/>
                </a:lnTo>
                <a:lnTo>
                  <a:pt x="0" y="133635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p/>
        </p:txBody>
      </p:sp>
      <p:grpSp>
        <p:nvGrpSpPr>
          <p:cNvPr id="8" name="Group 8"/>
          <p:cNvGrpSpPr/>
          <p:nvPr/>
        </p:nvGrpSpPr>
        <p:grpSpPr>
          <a:xfrm rot="0">
            <a:off x="1234440" y="2811780"/>
            <a:ext cx="1303020" cy="1303020"/>
            <a:chOff x="0" y="0"/>
            <a:chExt cx="1737360" cy="1737360"/>
          </a:xfrm>
        </p:grpSpPr>
        <p:sp>
          <p:nvSpPr>
            <p:cNvPr id="9" name="Freeform 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10" name="Group 10"/>
          <p:cNvGrpSpPr/>
          <p:nvPr/>
        </p:nvGrpSpPr>
        <p:grpSpPr>
          <a:xfrm rot="0">
            <a:off x="1234440" y="2776061"/>
            <a:ext cx="1303020" cy="1338739"/>
            <a:chOff x="0" y="0"/>
            <a:chExt cx="1737360" cy="1784985"/>
          </a:xfrm>
        </p:grpSpPr>
        <p:sp>
          <p:nvSpPr>
            <p:cNvPr id="11" name="Freeform 1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12" name="Group 12"/>
          <p:cNvGrpSpPr/>
          <p:nvPr/>
        </p:nvGrpSpPr>
        <p:grpSpPr>
          <a:xfrm rot="0">
            <a:off x="1234440" y="2740342"/>
            <a:ext cx="1303020" cy="1374458"/>
            <a:chOff x="0" y="0"/>
            <a:chExt cx="1737360" cy="1832610"/>
          </a:xfrm>
        </p:grpSpPr>
        <p:sp>
          <p:nvSpPr>
            <p:cNvPr id="13" name="Freeform 1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14" name="TextBox 1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B2</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5" name="TextBox 15"/>
          <p:cNvSpPr txBox="1"/>
          <p:nvPr/>
        </p:nvSpPr>
        <p:spPr>
          <a:xfrm>
            <a:off x="1234440" y="4286250"/>
            <a:ext cx="2977401" cy="2503170"/>
          </a:xfrm>
          <a:prstGeom prst="rect">
            <a:avLst/>
          </a:prstGeom>
        </p:spPr>
        <p:txBody>
          <a:bodyPr lIns="0" tIns="0" rIns="0" bIns="0" rtlCol="0" anchor="t">
            <a:spAutoFit/>
          </a:bodyPr>
          <a:lstStyle/>
          <a:p>
            <a:pPr algn="l">
              <a:lnSpc>
                <a:spcPts val="2700"/>
              </a:lnSpc>
            </a:pPr>
            <a:r>
              <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rPr>
              <a:t>QLoRA (không OCR)</a:t>
            </a:r>
            <a:endPar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PEFT có hơn zero-shot? → +21,1 EM ViTextVQA, +51,7 ViVQA</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56" name="Rounded Rectangle 55"/>
          <p:cNvSpPr/>
          <p:nvPr/>
        </p:nvSpPr>
        <p:spPr>
          <a:xfrm>
            <a:off x="5086712" y="2386584"/>
            <a:ext cx="3833717" cy="6629400"/>
          </a:xfrm>
          <a:prstGeom prst="roundRect">
            <a:avLst>
              <a:gd name="adj" fmla="val 5000"/>
            </a:avLst>
          </a:prstGeom>
          <a:solidFill>
            <a:srgbClr val="F3F5F8"/>
          </a:solidFill>
          <a:ln>
            <a:noFill/>
          </a:ln>
        </p:spPr>
        <p:txBody>
          <a:bodyPr rtlCol="0" anchor="ctr"/>
          <a:lstStyle/>
          <a:p>
            <a:pPr algn="ctr"/>
          </a:p>
        </p:txBody>
      </p:sp>
      <p:sp>
        <p:nvSpPr>
          <p:cNvPr id="17" name="Freeform 17"/>
          <p:cNvSpPr/>
          <p:nvPr/>
        </p:nvSpPr>
        <p:spPr>
          <a:xfrm>
            <a:off x="5498192" y="2795111"/>
            <a:ext cx="1336357" cy="1336358"/>
          </a:xfrm>
          <a:custGeom>
            <a:avLst/>
            <a:gdLst/>
            <a:ahLst/>
            <a:cxnLst/>
            <a:rect l="l" t="t" r="r" b="b"/>
            <a:pathLst>
              <a:path w="1336357" h="1336358">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p/>
        </p:txBody>
      </p:sp>
      <p:grpSp>
        <p:nvGrpSpPr>
          <p:cNvPr id="18" name="Group 18"/>
          <p:cNvGrpSpPr/>
          <p:nvPr/>
        </p:nvGrpSpPr>
        <p:grpSpPr>
          <a:xfrm rot="0">
            <a:off x="5514861" y="2811780"/>
            <a:ext cx="1303020" cy="1303020"/>
            <a:chOff x="0" y="0"/>
            <a:chExt cx="1737360" cy="1737360"/>
          </a:xfrm>
        </p:grpSpPr>
        <p:sp>
          <p:nvSpPr>
            <p:cNvPr id="19" name="Freeform 1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20" name="Group 20"/>
          <p:cNvGrpSpPr/>
          <p:nvPr/>
        </p:nvGrpSpPr>
        <p:grpSpPr>
          <a:xfrm rot="0">
            <a:off x="5514861" y="2776061"/>
            <a:ext cx="1303020" cy="1338739"/>
            <a:chOff x="0" y="0"/>
            <a:chExt cx="1737360" cy="1784985"/>
          </a:xfrm>
        </p:grpSpPr>
        <p:sp>
          <p:nvSpPr>
            <p:cNvPr id="21" name="Freeform 2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22" name="Group 22"/>
          <p:cNvGrpSpPr/>
          <p:nvPr/>
        </p:nvGrpSpPr>
        <p:grpSpPr>
          <a:xfrm rot="0">
            <a:off x="5514861" y="2740342"/>
            <a:ext cx="1303020" cy="1374458"/>
            <a:chOff x="0" y="0"/>
            <a:chExt cx="1737360" cy="1832610"/>
          </a:xfrm>
        </p:grpSpPr>
        <p:sp>
          <p:nvSpPr>
            <p:cNvPr id="23" name="Freeform 2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24" name="TextBox 2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B3</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5" name="TextBox 25"/>
          <p:cNvSpPr txBox="1"/>
          <p:nvPr/>
        </p:nvSpPr>
        <p:spPr>
          <a:xfrm>
            <a:off x="5514861" y="4286250"/>
            <a:ext cx="2977401" cy="2503170"/>
          </a:xfrm>
          <a:prstGeom prst="rect">
            <a:avLst/>
          </a:prstGeom>
        </p:spPr>
        <p:txBody>
          <a:bodyPr lIns="0" tIns="0" rIns="0" bIns="0" rtlCol="0" anchor="t">
            <a:spAutoFit/>
          </a:bodyPr>
          <a:lstStyle/>
          <a:p>
            <a:pPr algn="l">
              <a:lnSpc>
                <a:spcPts val="2700"/>
              </a:lnSpc>
            </a:pPr>
            <a:r>
              <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rPr>
              <a:t>QLoRA + dòng OCR (8k câu)</a:t>
            </a:r>
            <a:endPar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Dạy model dùng chữ OCR có giúp? → +2,5 EM so với B2-sub</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58" name="Rounded Rectangle 57"/>
          <p:cNvSpPr/>
          <p:nvPr/>
        </p:nvSpPr>
        <p:spPr>
          <a:xfrm>
            <a:off x="9367133" y="2386584"/>
            <a:ext cx="3833717" cy="6629400"/>
          </a:xfrm>
          <a:prstGeom prst="roundRect">
            <a:avLst>
              <a:gd name="adj" fmla="val 5000"/>
            </a:avLst>
          </a:prstGeom>
          <a:solidFill>
            <a:srgbClr val="F3F5F8"/>
          </a:solidFill>
          <a:ln>
            <a:noFill/>
          </a:ln>
        </p:spPr>
        <p:txBody>
          <a:bodyPr rtlCol="0" anchor="ctr"/>
          <a:lstStyle/>
          <a:p>
            <a:pPr algn="ctr"/>
          </a:p>
        </p:txBody>
      </p:sp>
      <p:sp>
        <p:nvSpPr>
          <p:cNvPr id="27" name="Freeform 27"/>
          <p:cNvSpPr/>
          <p:nvPr/>
        </p:nvSpPr>
        <p:spPr>
          <a:xfrm>
            <a:off x="9778613" y="2795111"/>
            <a:ext cx="1336358" cy="1336358"/>
          </a:xfrm>
          <a:custGeom>
            <a:avLst/>
            <a:gdLst/>
            <a:ahLst/>
            <a:cxnLst/>
            <a:rect l="l" t="t" r="r" b="b"/>
            <a:pathLst>
              <a:path w="1336358" h="1336358">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p/>
        </p:txBody>
      </p:sp>
      <p:grpSp>
        <p:nvGrpSpPr>
          <p:cNvPr id="28" name="Group 28"/>
          <p:cNvGrpSpPr/>
          <p:nvPr/>
        </p:nvGrpSpPr>
        <p:grpSpPr>
          <a:xfrm rot="0">
            <a:off x="9795281" y="2811780"/>
            <a:ext cx="1303020" cy="1303020"/>
            <a:chOff x="0" y="0"/>
            <a:chExt cx="1737360" cy="1737360"/>
          </a:xfrm>
        </p:grpSpPr>
        <p:sp>
          <p:nvSpPr>
            <p:cNvPr id="29" name="Freeform 2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30" name="Group 30"/>
          <p:cNvGrpSpPr/>
          <p:nvPr/>
        </p:nvGrpSpPr>
        <p:grpSpPr>
          <a:xfrm rot="0">
            <a:off x="9795281" y="2776061"/>
            <a:ext cx="1303020" cy="1338739"/>
            <a:chOff x="0" y="0"/>
            <a:chExt cx="1737360" cy="1784985"/>
          </a:xfrm>
        </p:grpSpPr>
        <p:sp>
          <p:nvSpPr>
            <p:cNvPr id="31" name="Freeform 3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32" name="Group 32"/>
          <p:cNvGrpSpPr/>
          <p:nvPr/>
        </p:nvGrpSpPr>
        <p:grpSpPr>
          <a:xfrm rot="0">
            <a:off x="9795281" y="2740342"/>
            <a:ext cx="1303020" cy="1374458"/>
            <a:chOff x="0" y="0"/>
            <a:chExt cx="1737360" cy="1832610"/>
          </a:xfrm>
        </p:grpSpPr>
        <p:sp>
          <p:nvSpPr>
            <p:cNvPr id="33" name="Freeform 3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34" name="TextBox 3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B3F</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5" name="TextBox 35"/>
          <p:cNvSpPr txBox="1"/>
          <p:nvPr/>
        </p:nvSpPr>
        <p:spPr>
          <a:xfrm>
            <a:off x="9795281" y="4286250"/>
            <a:ext cx="2977401" cy="2503170"/>
          </a:xfrm>
          <a:prstGeom prst="rect">
            <a:avLst/>
          </a:prstGeom>
        </p:spPr>
        <p:txBody>
          <a:bodyPr lIns="0" tIns="0" rIns="0" bIns="0" rtlCol="0" anchor="t">
            <a:spAutoFit/>
          </a:bodyPr>
          <a:lstStyle/>
          <a:p>
            <a:pPr algn="l">
              <a:lnSpc>
                <a:spcPts val="2700"/>
              </a:lnSpc>
            </a:pPr>
            <a:r>
              <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rPr>
              <a:t>B3 trên toàn bộ dữ liệu</a:t>
            </a:r>
            <a:endPar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Đủ dữ liệu OCR còn giúp? → +3,1 EM so với B2</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60" name="Rounded Rectangle 59"/>
          <p:cNvSpPr/>
          <p:nvPr/>
        </p:nvSpPr>
        <p:spPr>
          <a:xfrm>
            <a:off x="13647553" y="2386584"/>
            <a:ext cx="3833717" cy="6629400"/>
          </a:xfrm>
          <a:prstGeom prst="roundRect">
            <a:avLst>
              <a:gd name="adj" fmla="val 5000"/>
            </a:avLst>
          </a:prstGeom>
          <a:solidFill>
            <a:srgbClr val="F3F5F8"/>
          </a:solidFill>
          <a:ln>
            <a:noFill/>
          </a:ln>
        </p:spPr>
        <p:txBody>
          <a:bodyPr rtlCol="0" anchor="ctr"/>
          <a:lstStyle/>
          <a:p>
            <a:pPr algn="ctr"/>
          </a:p>
        </p:txBody>
      </p:sp>
      <p:sp>
        <p:nvSpPr>
          <p:cNvPr id="37" name="Freeform 37"/>
          <p:cNvSpPr/>
          <p:nvPr/>
        </p:nvSpPr>
        <p:spPr>
          <a:xfrm>
            <a:off x="14059033" y="2795111"/>
            <a:ext cx="1336357" cy="1336358"/>
          </a:xfrm>
          <a:custGeom>
            <a:avLst/>
            <a:gdLst/>
            <a:ahLst/>
            <a:cxnLst/>
            <a:rect l="l" t="t" r="r" b="b"/>
            <a:pathLst>
              <a:path w="1336357" h="1336358">
                <a:moveTo>
                  <a:pt x="0" y="0"/>
                </a:moveTo>
                <a:lnTo>
                  <a:pt x="1336358" y="0"/>
                </a:lnTo>
                <a:lnTo>
                  <a:pt x="1336358"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p/>
        </p:txBody>
      </p:sp>
      <p:grpSp>
        <p:nvGrpSpPr>
          <p:cNvPr id="38" name="Group 38"/>
          <p:cNvGrpSpPr/>
          <p:nvPr/>
        </p:nvGrpSpPr>
        <p:grpSpPr>
          <a:xfrm rot="0">
            <a:off x="14075702" y="2811780"/>
            <a:ext cx="1303020" cy="1303020"/>
            <a:chOff x="0" y="0"/>
            <a:chExt cx="1737360" cy="1737360"/>
          </a:xfrm>
        </p:grpSpPr>
        <p:sp>
          <p:nvSpPr>
            <p:cNvPr id="39" name="Freeform 3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40" name="Group 40"/>
          <p:cNvGrpSpPr/>
          <p:nvPr/>
        </p:nvGrpSpPr>
        <p:grpSpPr>
          <a:xfrm rot="0">
            <a:off x="14075702" y="2776061"/>
            <a:ext cx="1303020" cy="1338739"/>
            <a:chOff x="0" y="0"/>
            <a:chExt cx="1737360" cy="1784985"/>
          </a:xfrm>
        </p:grpSpPr>
        <p:sp>
          <p:nvSpPr>
            <p:cNvPr id="41" name="Freeform 4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42" name="Group 42"/>
          <p:cNvGrpSpPr/>
          <p:nvPr/>
        </p:nvGrpSpPr>
        <p:grpSpPr>
          <a:xfrm rot="0">
            <a:off x="14075702" y="2740342"/>
            <a:ext cx="1303020" cy="1374458"/>
            <a:chOff x="0" y="0"/>
            <a:chExt cx="1737360" cy="1832610"/>
          </a:xfrm>
        </p:grpSpPr>
        <p:sp>
          <p:nvSpPr>
            <p:cNvPr id="43" name="Freeform 4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44" name="TextBox 4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SH</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45" name="TextBox 45"/>
          <p:cNvSpPr txBox="1"/>
          <p:nvPr/>
        </p:nvSpPr>
        <p:spPr>
          <a:xfrm>
            <a:off x="14075702" y="4286250"/>
            <a:ext cx="2977401" cy="2503170"/>
          </a:xfrm>
          <a:prstGeom prst="rect">
            <a:avLst/>
          </a:prstGeom>
        </p:spPr>
        <p:txBody>
          <a:bodyPr lIns="0" tIns="0" rIns="0" bIns="0" rtlCol="0" anchor="t">
            <a:spAutoFit/>
          </a:bodyPr>
          <a:lstStyle/>
          <a:p>
            <a:pPr algn="l">
              <a:lnSpc>
                <a:spcPts val="2700"/>
              </a:lnSpc>
            </a:pPr>
            <a:r>
              <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rPr>
              <a:t>Một adapter, hai dataset</a:t>
            </a:r>
            <a:endParaRPr lang="en-US" sz="2250" b="1">
              <a:solidFill>
                <a:srgbClr val="243044"/>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Dùng chung có kém? → không kém (ΔEM −0,27 / +0,25)</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46" name="TextBox 46"/>
          <p:cNvSpPr txBox="1"/>
          <p:nvPr/>
        </p:nvSpPr>
        <p:spPr>
          <a:xfrm>
            <a:off x="822960" y="9125712"/>
            <a:ext cx="16641623" cy="760095"/>
          </a:xfrm>
          <a:prstGeom prst="rect">
            <a:avLst/>
          </a:prstGeom>
        </p:spPr>
        <p:txBody>
          <a:bodyPr lIns="0" tIns="0" rIns="0" bIns="0" rtlCol="0" anchor="t">
            <a:spAutoFit/>
          </a:bodyPr>
          <a:lstStyle/>
          <a:p>
            <a:pPr algn="l">
              <a:lnSpc>
                <a:spcPts val="252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Khởi điểm: B1 zero-shot (EM 22,1 ViVQA · 29,1 ViTextVQA). Mỗi bước chỉ đổi một yếu tố so với bước trước.</a:t>
            </a:r>
            <a:endParaRPr lang="en-US" sz="21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nvGrpSpPr>
          <p:cNvPr id="47" name="Group 47"/>
          <p:cNvGrpSpPr/>
          <p:nvPr/>
        </p:nvGrpSpPr>
        <p:grpSpPr>
          <a:xfrm rot="0">
            <a:off x="15458732" y="0"/>
            <a:ext cx="2829306" cy="1184338"/>
            <a:chOff x="0" y="0"/>
            <a:chExt cx="3772408" cy="1579118"/>
          </a:xfrm>
        </p:grpSpPr>
        <p:sp>
          <p:nvSpPr>
            <p:cNvPr id="48" name="Freeform 48"/>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2"/>
              <a:stretch>
                <a:fillRect/>
              </a:stretch>
            </a:blipFill>
          </p:spPr>
          <p:txBody>
            <a:bodyPr/>
            <a:p/>
          </p:txBody>
        </p:sp>
      </p:grpSp>
      <p:grpSp>
        <p:nvGrpSpPr>
          <p:cNvPr id="49" name="Group 49"/>
          <p:cNvGrpSpPr/>
          <p:nvPr/>
        </p:nvGrpSpPr>
        <p:grpSpPr>
          <a:xfrm rot="0">
            <a:off x="822960" y="9641205"/>
            <a:ext cx="13716000" cy="440055"/>
            <a:chOff x="0" y="0"/>
            <a:chExt cx="18288000" cy="586740"/>
          </a:xfrm>
        </p:grpSpPr>
        <p:sp>
          <p:nvSpPr>
            <p:cNvPr id="50" name="Freeform 50"/>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6">
                <a:alphaModFix amt="0"/>
              </a:blip>
              <a:stretch>
                <a:fillRect t="-556902" b="-556904"/>
              </a:stretch>
            </a:blipFill>
          </p:spPr>
          <p:txBody>
            <a:bodyPr/>
            <a:p/>
          </p:txBody>
        </p:sp>
      </p:grpSp>
      <p:grpSp>
        <p:nvGrpSpPr>
          <p:cNvPr id="51" name="Group 51"/>
          <p:cNvGrpSpPr/>
          <p:nvPr/>
        </p:nvGrpSpPr>
        <p:grpSpPr>
          <a:xfrm rot="0">
            <a:off x="822960" y="9612630"/>
            <a:ext cx="13716000" cy="468630"/>
            <a:chOff x="0" y="0"/>
            <a:chExt cx="18288000" cy="624840"/>
          </a:xfrm>
        </p:grpSpPr>
        <p:sp>
          <p:nvSpPr>
            <p:cNvPr id="52" name="Freeform 52"/>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7">
                <a:alphaModFix amt="0"/>
              </a:blip>
              <a:stretch>
                <a:fillRect t="-520293" b="-520293"/>
              </a:stretch>
            </a:blipFill>
          </p:spPr>
          <p:txBody>
            <a:bodyPr/>
            <a:p/>
          </p:txBody>
        </p:sp>
        <p:sp>
          <p:nvSpPr>
            <p:cNvPr id="53" name="TextBox 53"/>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pic>
        <p:nvPicPr>
          <p:cNvPr id="55" name="Picture 54" descr="step_B2.png"/>
          <p:cNvPicPr>
            <a:picLocks noChangeAspect="1"/>
          </p:cNvPicPr>
          <p:nvPr/>
        </p:nvPicPr>
        <p:blipFill>
          <a:blip r:embed="rId14"/>
          <a:stretch>
            <a:fillRect/>
          </a:stretch>
        </p:blipFill>
        <p:spPr>
          <a:xfrm>
            <a:off x="989171" y="6903720"/>
            <a:ext cx="3467957" cy="1965175"/>
          </a:xfrm>
          <a:prstGeom prst="rect">
            <a:avLst/>
          </a:prstGeom>
        </p:spPr>
      </p:pic>
      <p:pic>
        <p:nvPicPr>
          <p:cNvPr id="57" name="Picture 56" descr="step_B3.png"/>
          <p:cNvPicPr>
            <a:picLocks noChangeAspect="1"/>
          </p:cNvPicPr>
          <p:nvPr/>
        </p:nvPicPr>
        <p:blipFill>
          <a:blip r:embed="rId15"/>
          <a:stretch>
            <a:fillRect/>
          </a:stretch>
        </p:blipFill>
        <p:spPr>
          <a:xfrm>
            <a:off x="5269592" y="6903720"/>
            <a:ext cx="3467957" cy="1965175"/>
          </a:xfrm>
          <a:prstGeom prst="rect">
            <a:avLst/>
          </a:prstGeom>
        </p:spPr>
      </p:pic>
      <p:pic>
        <p:nvPicPr>
          <p:cNvPr id="59" name="Picture 58" descr="step_B3F.png"/>
          <p:cNvPicPr>
            <a:picLocks noChangeAspect="1"/>
          </p:cNvPicPr>
          <p:nvPr/>
        </p:nvPicPr>
        <p:blipFill>
          <a:blip r:embed="rId16"/>
          <a:stretch>
            <a:fillRect/>
          </a:stretch>
        </p:blipFill>
        <p:spPr>
          <a:xfrm>
            <a:off x="9550013" y="6903720"/>
            <a:ext cx="3467957" cy="1965175"/>
          </a:xfrm>
          <a:prstGeom prst="rect">
            <a:avLst/>
          </a:prstGeom>
        </p:spPr>
      </p:pic>
      <p:pic>
        <p:nvPicPr>
          <p:cNvPr id="61" name="Picture 60" descr="step_SH.png"/>
          <p:cNvPicPr>
            <a:picLocks noChangeAspect="1"/>
          </p:cNvPicPr>
          <p:nvPr/>
        </p:nvPicPr>
        <p:blipFill>
          <a:blip r:embed="rId17"/>
          <a:stretch>
            <a:fillRect/>
          </a:stretch>
        </p:blipFill>
        <p:spPr>
          <a:xfrm>
            <a:off x="13830432" y="6903720"/>
            <a:ext cx="3467957" cy="19651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grpSp>
        <p:nvGrpSpPr>
          <p:cNvPr id="4" name="Group 4"/>
          <p:cNvGrpSpPr/>
          <p:nvPr/>
        </p:nvGrpSpPr>
        <p:grpSpPr>
          <a:xfrm rot="0">
            <a:off x="822960" y="9641205"/>
            <a:ext cx="13716000" cy="440055"/>
            <a:chOff x="0" y="0"/>
            <a:chExt cx="18288000" cy="586740"/>
          </a:xfrm>
        </p:grpSpPr>
        <p:sp>
          <p:nvSpPr>
            <p:cNvPr id="5" name="Freeform 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6" name="Group 6"/>
          <p:cNvGrpSpPr/>
          <p:nvPr/>
        </p:nvGrpSpPr>
        <p:grpSpPr>
          <a:xfrm rot="0">
            <a:off x="822960" y="9612630"/>
            <a:ext cx="13716000" cy="468630"/>
            <a:chOff x="0" y="0"/>
            <a:chExt cx="18288000" cy="624840"/>
          </a:xfrm>
        </p:grpSpPr>
        <p:sp>
          <p:nvSpPr>
            <p:cNvPr id="7" name="Freeform 7"/>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8" name="TextBox 8"/>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1 + Review 2 (cộng dồn)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9" name="TextBox 9"/>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02 · QLoRA (B2)</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QLoRA một epoch: tăng lớn và có ý nghĩa thống kê</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13" name="Table 13"/>
          <p:cNvGraphicFramePr>
            <a:graphicFrameLocks noGrp="1"/>
          </p:cNvGraphicFramePr>
          <p:nvPr/>
        </p:nvGraphicFramePr>
        <p:xfrm>
          <a:off x="11521440" y="2057400"/>
          <a:ext cx="6426200" cy="3429000"/>
        </p:xfrm>
        <a:graphic>
          <a:graphicData uri="http://schemas.openxmlformats.org/drawingml/2006/table">
            <a:tbl>
              <a:tblPr/>
              <a:tblGrid>
                <a:gridCol w="2699780"/>
                <a:gridCol w="1856623"/>
                <a:gridCol w="1869797"/>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Chi phí</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ViVQA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ViTextVQA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Mẫu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10.799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35.159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Thời gian train (L4)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3,0 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12,0 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VRAM đỉnh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6,6 GB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6,9 GB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Suy luận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0,57 s /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 s /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14" name="Freeform 14"/>
          <p:cNvSpPr/>
          <p:nvPr/>
        </p:nvSpPr>
        <p:spPr>
          <a:xfrm>
            <a:off x="11504771" y="5812631"/>
            <a:ext cx="5976461" cy="3599497"/>
          </a:xfrm>
          <a:custGeom>
            <a:avLst/>
            <a:gdLst/>
            <a:ahLst/>
            <a:cxnLst/>
            <a:rect l="l" t="t" r="r" b="b"/>
            <a:pathLst>
              <a:path w="5976461" h="3599497">
                <a:moveTo>
                  <a:pt x="0" y="0"/>
                </a:moveTo>
                <a:lnTo>
                  <a:pt x="5976461" y="0"/>
                </a:lnTo>
                <a:lnTo>
                  <a:pt x="5976461" y="3599498"/>
                </a:lnTo>
                <a:lnTo>
                  <a:pt x="0" y="3599498"/>
                </a:lnTo>
                <a:lnTo>
                  <a:pt x="0" y="0"/>
                </a:lnTo>
                <a:close/>
              </a:path>
            </a:pathLst>
          </a:custGeom>
          <a:blipFill>
            <a:blip r:embed="rId5">
              <a:extLst>
                <a:ext uri="{96DAC541-7B7A-43D3-8B79-37D633B846F1}">
                  <asvg:svgBlip xmlns:asvg="http://schemas.microsoft.com/office/drawing/2016/SVG/main" r:embed="rId6"/>
                </a:ext>
              </a:extLst>
            </a:blip>
            <a:stretch>
              <a:fillRect l="-30" r="-30"/>
            </a:stretch>
          </a:blipFill>
        </p:spPr>
        <p:txBody>
          <a:bodyPr/>
          <a:p/>
        </p:txBody>
      </p:sp>
      <p:sp>
        <p:nvSpPr>
          <p:cNvPr id="15" name="TextBox 15"/>
          <p:cNvSpPr txBox="1"/>
          <p:nvPr/>
        </p:nvSpPr>
        <p:spPr>
          <a:xfrm>
            <a:off x="11864340" y="5920740"/>
            <a:ext cx="525734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Kiểm định thống kê (McNemar)</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11864340" y="6509385"/>
            <a:ext cx="5257343" cy="274891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Tăng có ý nghĩa thống kê (p &lt; 0,05) trên cả hai dataset. ViTextVQA đầy đủ: 2.543 câu chỉ B2 đúng so với 423 câu chỉ B1 đúng.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7" name="Group 17"/>
          <p:cNvGrpSpPr/>
          <p:nvPr/>
        </p:nvGrpSpPr>
        <p:grpSpPr>
          <a:xfrm rot="0">
            <a:off x="15458732" y="0"/>
            <a:ext cx="2829306" cy="1184338"/>
            <a:chOff x="0" y="0"/>
            <a:chExt cx="3772408" cy="1579118"/>
          </a:xfrm>
        </p:grpSpPr>
        <p:sp>
          <p:nvSpPr>
            <p:cNvPr id="18" name="Freeform 18"/>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7"/>
              <a:stretch>
                <a:fillRect/>
              </a:stretch>
            </a:blipFill>
          </p:spPr>
          <p:txBody>
            <a:bodyPr/>
            <a:p/>
          </p:txBody>
        </p:sp>
      </p:grpSp>
      <p:sp>
        <p:nvSpPr>
          <p:cNvPr id="19" name="Freeform 19"/>
          <p:cNvSpPr/>
          <p:nvPr/>
        </p:nvSpPr>
        <p:spPr>
          <a:xfrm>
            <a:off x="289560" y="9621022"/>
            <a:ext cx="6376035" cy="470183"/>
          </a:xfrm>
          <a:custGeom>
            <a:avLst/>
            <a:gdLst/>
            <a:ahLst/>
            <a:cxnLst/>
            <a:rect l="l" t="t" r="r" b="b"/>
            <a:pathLst>
              <a:path w="6376035" h="470183">
                <a:moveTo>
                  <a:pt x="0" y="0"/>
                </a:moveTo>
                <a:lnTo>
                  <a:pt x="6376035" y="0"/>
                </a:lnTo>
                <a:lnTo>
                  <a:pt x="6376035" y="470182"/>
                </a:lnTo>
                <a:lnTo>
                  <a:pt x="0" y="47018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p/>
        </p:txBody>
      </p:sp>
      <p:grpSp>
        <p:nvGrpSpPr>
          <p:cNvPr id="20" name="Group 20"/>
          <p:cNvGrpSpPr/>
          <p:nvPr/>
        </p:nvGrpSpPr>
        <p:grpSpPr>
          <a:xfrm rot="0">
            <a:off x="867070" y="9598695"/>
            <a:ext cx="13716000" cy="440055"/>
            <a:chOff x="0" y="0"/>
            <a:chExt cx="18288000" cy="586740"/>
          </a:xfrm>
        </p:grpSpPr>
        <p:sp>
          <p:nvSpPr>
            <p:cNvPr id="21" name="Freeform 21"/>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22" name="Group 22"/>
          <p:cNvGrpSpPr/>
          <p:nvPr/>
        </p:nvGrpSpPr>
        <p:grpSpPr>
          <a:xfrm rot="0">
            <a:off x="867070" y="9570120"/>
            <a:ext cx="13716000" cy="468630"/>
            <a:chOff x="0" y="0"/>
            <a:chExt cx="18288000" cy="624840"/>
          </a:xfrm>
        </p:grpSpPr>
        <p:sp>
          <p:nvSpPr>
            <p:cNvPr id="23" name="Freeform 23"/>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24" name="TextBox 24"/>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pic>
        <p:nvPicPr>
          <p:cNvPr id="25" name="Picture 24" descr="chart22.png"/>
          <p:cNvPicPr>
            <a:picLocks noChangeAspect="1"/>
          </p:cNvPicPr>
          <p:nvPr/>
        </p:nvPicPr>
        <p:blipFill>
          <a:blip r:embed="rId11"/>
          <a:stretch>
            <a:fillRect/>
          </a:stretch>
        </p:blipFill>
        <p:spPr>
          <a:xfrm>
            <a:off x="822960" y="2057400"/>
            <a:ext cx="10332720" cy="673873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03 · PHÂN TÍCH LỖI B2</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B2 còn sai ở đâu</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6" name="Group 6"/>
          <p:cNvGrpSpPr/>
          <p:nvPr/>
        </p:nvGrpSpPr>
        <p:grpSpPr>
          <a:xfrm rot="0">
            <a:off x="-137160" y="1028700"/>
            <a:ext cx="11521440" cy="6103620"/>
            <a:chOff x="0" y="0"/>
            <a:chExt cx="15361920" cy="8138160"/>
          </a:xfrm>
        </p:grpSpPr>
        <p:sp>
          <p:nvSpPr>
            <p:cNvPr id="7" name="Freeform 7"/>
            <p:cNvSpPr/>
            <p:nvPr/>
          </p:nvSpPr>
          <p:spPr>
            <a:xfrm>
              <a:off x="0" y="0"/>
              <a:ext cx="15361920" cy="8138160"/>
            </a:xfrm>
            <a:custGeom>
              <a:avLst/>
              <a:gdLst/>
              <a:ahLst/>
              <a:cxnLst/>
              <a:rect l="l" t="t" r="r" b="b"/>
              <a:pathLst>
                <a:path w="15361920" h="8138160">
                  <a:moveTo>
                    <a:pt x="0" y="0"/>
                  </a:moveTo>
                  <a:lnTo>
                    <a:pt x="15361920" y="0"/>
                  </a:lnTo>
                  <a:lnTo>
                    <a:pt x="15361920" y="8138160"/>
                  </a:lnTo>
                  <a:lnTo>
                    <a:pt x="0" y="8138160"/>
                  </a:lnTo>
                  <a:lnTo>
                    <a:pt x="0" y="0"/>
                  </a:lnTo>
                  <a:close/>
                </a:path>
              </a:pathLst>
            </a:custGeom>
            <a:blipFill>
              <a:blip r:embed="rId2"/>
              <a:stretch>
                <a:fillRect/>
              </a:stretch>
            </a:blipFill>
          </p:spPr>
          <p:txBody>
            <a:bodyPr/>
            <a:p/>
          </p:txBody>
        </p:sp>
      </p:grpSp>
      <p:graphicFrame>
        <p:nvGraphicFramePr>
          <p:cNvPr id="8" name="Table 8"/>
          <p:cNvGraphicFramePr>
            <a:graphicFrameLocks noGrp="1"/>
          </p:cNvGraphicFramePr>
          <p:nvPr/>
        </p:nvGraphicFramePr>
        <p:xfrm>
          <a:off x="822960" y="6336792"/>
          <a:ext cx="9550400" cy="2336800"/>
        </p:xfrm>
        <a:graphic>
          <a:graphicData uri="http://schemas.openxmlformats.org/drawingml/2006/table">
            <a:tbl>
              <a:tblPr/>
              <a:tblGrid>
                <a:gridCol w="2470791"/>
                <a:gridCol w="3339364"/>
                <a:gridCol w="3740244"/>
              </a:tblGrid>
              <a:tr h="5842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Nhóm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B2 trả lời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Gold</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84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dấu thanh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đặng việt thủy</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đặng việt thúy</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84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lệch ký tự</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372 . 568 . 177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372 . 566 . 177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84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thiếu chữ</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nhân dân quận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ủy ban nhân dân quận 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9" name="Freeform 9"/>
          <p:cNvSpPr/>
          <p:nvPr/>
        </p:nvSpPr>
        <p:spPr>
          <a:xfrm>
            <a:off x="10956131" y="2040731"/>
            <a:ext cx="6525101" cy="6822757"/>
          </a:xfrm>
          <a:custGeom>
            <a:avLst/>
            <a:gdLst/>
            <a:ahLst/>
            <a:cxnLst/>
            <a:rect l="l" t="t" r="r" b="b"/>
            <a:pathLst>
              <a:path w="6525101" h="6822757">
                <a:moveTo>
                  <a:pt x="0" y="0"/>
                </a:moveTo>
                <a:lnTo>
                  <a:pt x="6525101" y="0"/>
                </a:lnTo>
                <a:lnTo>
                  <a:pt x="6525101" y="6822758"/>
                </a:lnTo>
                <a:lnTo>
                  <a:pt x="0" y="6822758"/>
                </a:lnTo>
                <a:lnTo>
                  <a:pt x="0" y="0"/>
                </a:lnTo>
                <a:close/>
              </a:path>
            </a:pathLst>
          </a:custGeom>
          <a:blipFill>
            <a:blip r:embed="rId3">
              <a:extLst>
                <a:ext uri="{96DAC541-7B7A-43D3-8B79-37D633B846F1}">
                  <asvg:svgBlip xmlns:asvg="http://schemas.microsoft.com/office/drawing/2016/SVG/main" r:embed="rId4"/>
                </a:ext>
              </a:extLst>
            </a:blip>
            <a:stretch>
              <a:fillRect l="-20" r="-20"/>
            </a:stretch>
          </a:blipFill>
        </p:spPr>
        <p:txBody>
          <a:bodyPr/>
          <a:p/>
        </p:txBody>
      </p:sp>
      <p:sp>
        <p:nvSpPr>
          <p:cNvPr id="10" name="TextBox 10"/>
          <p:cNvSpPr txBox="1"/>
          <p:nvPr/>
        </p:nvSpPr>
        <p:spPr>
          <a:xfrm>
            <a:off x="11384280" y="2148840"/>
            <a:ext cx="5668823" cy="400178"/>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Duyệt tay 200 lỗi B2 </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1384280" y="3148965"/>
            <a:ext cx="5668823" cy="556069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54% thực ra đúng ý: EM quá khắt khe (ViVQA 62%, ViTextVQA 46%)</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Gold nhiễu: 12,5% (ViVQA 19%)</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Lỗi thật ở ViTextVQA: đọc sai chữ 28%, nhầm vùng chữ 23%, dấu thanh 8%</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Hallucination (không có trong ảnh): 7% số lỗi (CI95 4–11%)</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 người + nhãn gợi ý của AI; κ = 0,62 (2 người độc lập); bỏ 42 dòng có AI hỗ trợ, kết luận không đổi</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2" name="Group 12"/>
          <p:cNvGrpSpPr/>
          <p:nvPr/>
        </p:nvGrpSpPr>
        <p:grpSpPr>
          <a:xfrm rot="0">
            <a:off x="822960" y="8778240"/>
            <a:ext cx="16641604" cy="754380"/>
            <a:chOff x="0" y="0"/>
            <a:chExt cx="22188805" cy="1005840"/>
          </a:xfrm>
        </p:grpSpPr>
        <p:sp>
          <p:nvSpPr>
            <p:cNvPr id="13" name="Freeform 13"/>
            <p:cNvSpPr/>
            <p:nvPr/>
          </p:nvSpPr>
          <p:spPr>
            <a:xfrm>
              <a:off x="0" y="0"/>
              <a:ext cx="22188805" cy="1005840"/>
            </a:xfrm>
            <a:custGeom>
              <a:avLst/>
              <a:gdLst/>
              <a:ahLst/>
              <a:cxnLst/>
              <a:rect l="l" t="t" r="r" b="b"/>
              <a:pathLst>
                <a:path w="22188805" h="1005840">
                  <a:moveTo>
                    <a:pt x="0" y="0"/>
                  </a:moveTo>
                  <a:lnTo>
                    <a:pt x="22188805" y="0"/>
                  </a:lnTo>
                  <a:lnTo>
                    <a:pt x="22188805" y="1005840"/>
                  </a:lnTo>
                  <a:lnTo>
                    <a:pt x="0" y="1005840"/>
                  </a:lnTo>
                  <a:close/>
                </a:path>
              </a:pathLst>
            </a:custGeom>
            <a:blipFill>
              <a:blip r:embed="rId1">
                <a:alphaModFix amt="0"/>
              </a:blip>
              <a:stretch>
                <a:fillRect t="-379540" b="-379540"/>
              </a:stretch>
            </a:blipFill>
          </p:spPr>
          <p:txBody>
            <a:bodyPr/>
            <a:p/>
          </p:txBody>
        </p:sp>
      </p:grpSp>
      <p:grpSp>
        <p:nvGrpSpPr>
          <p:cNvPr id="14" name="Group 14"/>
          <p:cNvGrpSpPr/>
          <p:nvPr/>
        </p:nvGrpSpPr>
        <p:grpSpPr>
          <a:xfrm rot="0">
            <a:off x="822960" y="8749665"/>
            <a:ext cx="16641623" cy="782955"/>
            <a:chOff x="0" y="0"/>
            <a:chExt cx="22188830" cy="1043940"/>
          </a:xfrm>
        </p:grpSpPr>
        <p:sp>
          <p:nvSpPr>
            <p:cNvPr id="15" name="Freeform 15"/>
            <p:cNvSpPr/>
            <p:nvPr/>
          </p:nvSpPr>
          <p:spPr>
            <a:xfrm>
              <a:off x="0" y="0"/>
              <a:ext cx="22188805" cy="1043940"/>
            </a:xfrm>
            <a:custGeom>
              <a:avLst/>
              <a:gdLst/>
              <a:ahLst/>
              <a:cxnLst/>
              <a:rect l="l" t="t" r="r" b="b"/>
              <a:pathLst>
                <a:path w="22188805" h="1043940">
                  <a:moveTo>
                    <a:pt x="0" y="0"/>
                  </a:moveTo>
                  <a:lnTo>
                    <a:pt x="22188805" y="0"/>
                  </a:lnTo>
                  <a:lnTo>
                    <a:pt x="22188805" y="1043940"/>
                  </a:lnTo>
                  <a:lnTo>
                    <a:pt x="0" y="1043940"/>
                  </a:lnTo>
                  <a:close/>
                </a:path>
              </a:pathLst>
            </a:custGeom>
            <a:blipFill>
              <a:blip r:embed="rId5">
                <a:alphaModFix amt="0"/>
              </a:blip>
              <a:stretch>
                <a:fillRect t="-363863" b="-363864"/>
              </a:stretch>
            </a:blipFill>
          </p:spPr>
          <p:txBody>
            <a:bodyPr/>
            <a:p/>
          </p:txBody>
        </p:sp>
      </p:grpSp>
      <p:grpSp>
        <p:nvGrpSpPr>
          <p:cNvPr id="16" name="Group 16"/>
          <p:cNvGrpSpPr/>
          <p:nvPr/>
        </p:nvGrpSpPr>
        <p:grpSpPr>
          <a:xfrm rot="0">
            <a:off x="822960" y="8721090"/>
            <a:ext cx="16641623" cy="811530"/>
            <a:chOff x="0" y="0"/>
            <a:chExt cx="22188830" cy="1082040"/>
          </a:xfrm>
        </p:grpSpPr>
        <p:sp>
          <p:nvSpPr>
            <p:cNvPr id="17" name="Freeform 17"/>
            <p:cNvSpPr/>
            <p:nvPr/>
          </p:nvSpPr>
          <p:spPr>
            <a:xfrm>
              <a:off x="0" y="0"/>
              <a:ext cx="22188830" cy="1082040"/>
            </a:xfrm>
            <a:custGeom>
              <a:avLst/>
              <a:gdLst/>
              <a:ahLst/>
              <a:cxnLst/>
              <a:rect l="l" t="t" r="r" b="b"/>
              <a:pathLst>
                <a:path w="22188830" h="1082040">
                  <a:moveTo>
                    <a:pt x="0" y="0"/>
                  </a:moveTo>
                  <a:lnTo>
                    <a:pt x="22188830" y="0"/>
                  </a:lnTo>
                  <a:lnTo>
                    <a:pt x="22188830" y="1082040"/>
                  </a:lnTo>
                  <a:lnTo>
                    <a:pt x="0" y="1082040"/>
                  </a:lnTo>
                  <a:close/>
                </a:path>
              </a:pathLst>
            </a:custGeom>
            <a:blipFill>
              <a:blip r:embed="rId6">
                <a:alphaModFix amt="0"/>
              </a:blip>
              <a:stretch>
                <a:fillRect t="-349569" b="-349569"/>
              </a:stretch>
            </a:blipFill>
          </p:spPr>
          <p:txBody>
            <a:bodyPr/>
            <a:p/>
          </p:txBody>
        </p:sp>
        <p:sp>
          <p:nvSpPr>
            <p:cNvPr id="18" name="TextBox 18"/>
            <p:cNvSpPr txBox="1"/>
            <p:nvPr/>
          </p:nvSpPr>
          <p:spPr>
            <a:xfrm>
              <a:off x="0" y="-38100"/>
              <a:ext cx="22188830" cy="1120140"/>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Nguồn — phân loại tự động: python -m src.eval.answer_format --buckets trên experiments/W07_B2_eval_qlora_r16_ep1_vitextvqa_testfull_… (4.988 = 10.028 − 5.040 câu đúng). Duyệt tay: docs/W07/audit/W07_error_audit_final.json (nhãn ở docs/W07/audit/labels/, tính bằng compute_error_audit.py).</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grpSp>
        <p:nvGrpSpPr>
          <p:cNvPr id="19" name="Group 19"/>
          <p:cNvGrpSpPr/>
          <p:nvPr/>
        </p:nvGrpSpPr>
        <p:grpSpPr>
          <a:xfrm rot="0">
            <a:off x="15458732" y="0"/>
            <a:ext cx="2829306" cy="1184338"/>
            <a:chOff x="0" y="0"/>
            <a:chExt cx="3772408" cy="1579118"/>
          </a:xfrm>
        </p:grpSpPr>
        <p:sp>
          <p:nvSpPr>
            <p:cNvPr id="20" name="Freeform 20"/>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7"/>
              <a:stretch>
                <a:fillRect/>
              </a:stretch>
            </a:blipFill>
          </p:spPr>
          <p:txBody>
            <a:bodyPr/>
            <a:p/>
          </p:txBody>
        </p:sp>
      </p:grpSp>
      <p:grpSp>
        <p:nvGrpSpPr>
          <p:cNvPr id="21" name="Group 21"/>
          <p:cNvGrpSpPr/>
          <p:nvPr/>
        </p:nvGrpSpPr>
        <p:grpSpPr>
          <a:xfrm rot="0">
            <a:off x="822960" y="9641205"/>
            <a:ext cx="13716000" cy="440055"/>
            <a:chOff x="0" y="0"/>
            <a:chExt cx="18288000" cy="586740"/>
          </a:xfrm>
        </p:grpSpPr>
        <p:sp>
          <p:nvSpPr>
            <p:cNvPr id="22" name="Freeform 22"/>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5">
                <a:alphaModFix amt="0"/>
              </a:blip>
              <a:stretch>
                <a:fillRect t="-556902" b="-556904"/>
              </a:stretch>
            </a:blipFill>
          </p:spPr>
          <p:txBody>
            <a:bodyPr/>
            <a:p/>
          </p:txBody>
        </p:sp>
      </p:grpSp>
      <p:grpSp>
        <p:nvGrpSpPr>
          <p:cNvPr id="23" name="Group 23"/>
          <p:cNvGrpSpPr/>
          <p:nvPr/>
        </p:nvGrpSpPr>
        <p:grpSpPr>
          <a:xfrm rot="0">
            <a:off x="822960" y="9612630"/>
            <a:ext cx="13716000" cy="468630"/>
            <a:chOff x="0" y="0"/>
            <a:chExt cx="18288000" cy="624840"/>
          </a:xfrm>
        </p:grpSpPr>
        <p:sp>
          <p:nvSpPr>
            <p:cNvPr id="24" name="Freeform 24"/>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6">
                <a:alphaModFix amt="0"/>
              </a:blip>
              <a:stretch>
                <a:fillRect t="-520293" b="-520293"/>
              </a:stretch>
            </a:blipFill>
          </p:spPr>
          <p:txBody>
            <a:bodyPr/>
            <a:p/>
          </p:txBody>
        </p:sp>
        <p:sp>
          <p:nvSpPr>
            <p:cNvPr id="25" name="TextBox 25"/>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04 · PHƯƠNG PHÁP ĐỀ XUẤT (B3)</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QLoRA nhận biết OCR: dạy model dùng văn bản OCR</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Freeform 6"/>
          <p:cNvSpPr/>
          <p:nvPr/>
        </p:nvSpPr>
        <p:spPr>
          <a:xfrm>
            <a:off x="806291" y="2109311"/>
            <a:ext cx="3010472" cy="1816417"/>
          </a:xfrm>
          <a:custGeom>
            <a:avLst/>
            <a:gdLst/>
            <a:ahLst/>
            <a:cxnLst/>
            <a:rect l="l" t="t" r="r" b="b"/>
            <a:pathLst>
              <a:path w="3010472" h="1816417">
                <a:moveTo>
                  <a:pt x="0" y="0"/>
                </a:moveTo>
                <a:lnTo>
                  <a:pt x="3010472" y="0"/>
                </a:lnTo>
                <a:lnTo>
                  <a:pt x="3010472" y="1816418"/>
                </a:lnTo>
                <a:lnTo>
                  <a:pt x="0" y="1816418"/>
                </a:lnTo>
                <a:lnTo>
                  <a:pt x="0" y="0"/>
                </a:lnTo>
                <a:close/>
              </a:path>
            </a:pathLst>
          </a:custGeom>
          <a:blipFill>
            <a:blip r:embed="rId2">
              <a:extLst>
                <a:ext uri="{96DAC541-7B7A-43D3-8B79-37D633B846F1}">
                  <asvg:svgBlip xmlns:asvg="http://schemas.microsoft.com/office/drawing/2016/SVG/main" r:embed="rId3"/>
                </a:ext>
              </a:extLst>
            </a:blip>
            <a:stretch>
              <a:fillRect l="-69" r="-69"/>
            </a:stretch>
          </a:blipFill>
        </p:spPr>
        <p:txBody>
          <a:bodyPr/>
          <a:p/>
        </p:txBody>
      </p:sp>
      <p:sp>
        <p:nvSpPr>
          <p:cNvPr id="7" name="TextBox 7"/>
          <p:cNvSpPr txBox="1"/>
          <p:nvPr/>
        </p:nvSpPr>
        <p:spPr>
          <a:xfrm>
            <a:off x="960120" y="2119122"/>
            <a:ext cx="2702871" cy="7475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Ảnh</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8" name="TextBox 8"/>
          <p:cNvSpPr txBox="1"/>
          <p:nvPr/>
        </p:nvSpPr>
        <p:spPr>
          <a:xfrm>
            <a:off x="1028700" y="2862072"/>
            <a:ext cx="2565711" cy="9372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chữ trong ảnh</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9" name="Freeform 9"/>
          <p:cNvSpPr/>
          <p:nvPr/>
        </p:nvSpPr>
        <p:spPr>
          <a:xfrm>
            <a:off x="3852062" y="2849975"/>
            <a:ext cx="335089" cy="335089"/>
          </a:xfrm>
          <a:custGeom>
            <a:avLst/>
            <a:gdLst/>
            <a:ahLst/>
            <a:cxnLst/>
            <a:rect l="l" t="t" r="r" b="b"/>
            <a:pathLst>
              <a:path w="335089" h="335089">
                <a:moveTo>
                  <a:pt x="0" y="0"/>
                </a:moveTo>
                <a:lnTo>
                  <a:pt x="335090" y="0"/>
                </a:lnTo>
                <a:lnTo>
                  <a:pt x="335090" y="335090"/>
                </a:lnTo>
                <a:lnTo>
                  <a:pt x="0" y="33509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p/>
        </p:txBody>
      </p:sp>
      <p:sp>
        <p:nvSpPr>
          <p:cNvPr id="10" name="Freeform 10"/>
          <p:cNvSpPr/>
          <p:nvPr/>
        </p:nvSpPr>
        <p:spPr>
          <a:xfrm>
            <a:off x="4222394" y="2109311"/>
            <a:ext cx="3010472" cy="1816417"/>
          </a:xfrm>
          <a:custGeom>
            <a:avLst/>
            <a:gdLst/>
            <a:ahLst/>
            <a:cxnLst/>
            <a:rect l="l" t="t" r="r" b="b"/>
            <a:pathLst>
              <a:path w="3010472" h="1816417">
                <a:moveTo>
                  <a:pt x="0" y="0"/>
                </a:moveTo>
                <a:lnTo>
                  <a:pt x="3010472" y="0"/>
                </a:lnTo>
                <a:lnTo>
                  <a:pt x="3010472" y="1816418"/>
                </a:lnTo>
                <a:lnTo>
                  <a:pt x="0" y="1816418"/>
                </a:lnTo>
                <a:lnTo>
                  <a:pt x="0" y="0"/>
                </a:lnTo>
                <a:close/>
              </a:path>
            </a:pathLst>
          </a:custGeom>
          <a:blipFill>
            <a:blip r:embed="rId2">
              <a:extLst>
                <a:ext uri="{96DAC541-7B7A-43D3-8B79-37D633B846F1}">
                  <asvg:svgBlip xmlns:asvg="http://schemas.microsoft.com/office/drawing/2016/SVG/main" r:embed="rId3"/>
                </a:ext>
              </a:extLst>
            </a:blip>
            <a:stretch>
              <a:fillRect l="-69" r="-69"/>
            </a:stretch>
          </a:blipFill>
        </p:spPr>
        <p:txBody>
          <a:bodyPr/>
          <a:p/>
        </p:txBody>
      </p:sp>
      <p:sp>
        <p:nvSpPr>
          <p:cNvPr id="11" name="TextBox 11"/>
          <p:cNvSpPr txBox="1"/>
          <p:nvPr/>
        </p:nvSpPr>
        <p:spPr>
          <a:xfrm>
            <a:off x="4376223" y="2119122"/>
            <a:ext cx="2702871" cy="7475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PaddleOCR</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2" name="TextBox 12"/>
          <p:cNvSpPr txBox="1"/>
          <p:nvPr/>
        </p:nvSpPr>
        <p:spPr>
          <a:xfrm>
            <a:off x="4444803" y="2862072"/>
            <a:ext cx="2565711" cy="9372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dò dòng chữ</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3" name="Freeform 13"/>
          <p:cNvSpPr/>
          <p:nvPr/>
        </p:nvSpPr>
        <p:spPr>
          <a:xfrm>
            <a:off x="7268175" y="2849975"/>
            <a:ext cx="335089" cy="335089"/>
          </a:xfrm>
          <a:custGeom>
            <a:avLst/>
            <a:gdLst/>
            <a:ahLst/>
            <a:cxnLst/>
            <a:rect l="l" t="t" r="r" b="b"/>
            <a:pathLst>
              <a:path w="335089" h="335089">
                <a:moveTo>
                  <a:pt x="0" y="0"/>
                </a:moveTo>
                <a:lnTo>
                  <a:pt x="335090" y="0"/>
                </a:lnTo>
                <a:lnTo>
                  <a:pt x="335090" y="335090"/>
                </a:lnTo>
                <a:lnTo>
                  <a:pt x="0" y="33509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p/>
        </p:txBody>
      </p:sp>
      <p:sp>
        <p:nvSpPr>
          <p:cNvPr id="14" name="Freeform 14"/>
          <p:cNvSpPr/>
          <p:nvPr/>
        </p:nvSpPr>
        <p:spPr>
          <a:xfrm>
            <a:off x="7638507" y="2109311"/>
            <a:ext cx="3010472" cy="1816417"/>
          </a:xfrm>
          <a:custGeom>
            <a:avLst/>
            <a:gdLst/>
            <a:ahLst/>
            <a:cxnLst/>
            <a:rect l="l" t="t" r="r" b="b"/>
            <a:pathLst>
              <a:path w="3010472" h="1816417">
                <a:moveTo>
                  <a:pt x="0" y="0"/>
                </a:moveTo>
                <a:lnTo>
                  <a:pt x="3010472" y="0"/>
                </a:lnTo>
                <a:lnTo>
                  <a:pt x="3010472" y="1816418"/>
                </a:lnTo>
                <a:lnTo>
                  <a:pt x="0" y="1816418"/>
                </a:lnTo>
                <a:lnTo>
                  <a:pt x="0" y="0"/>
                </a:lnTo>
                <a:close/>
              </a:path>
            </a:pathLst>
          </a:custGeom>
          <a:blipFill>
            <a:blip r:embed="rId2">
              <a:extLst>
                <a:ext uri="{96DAC541-7B7A-43D3-8B79-37D633B846F1}">
                  <asvg:svgBlip xmlns:asvg="http://schemas.microsoft.com/office/drawing/2016/SVG/main" r:embed="rId3"/>
                </a:ext>
              </a:extLst>
            </a:blip>
            <a:stretch>
              <a:fillRect l="-69" r="-69"/>
            </a:stretch>
          </a:blipFill>
        </p:spPr>
        <p:txBody>
          <a:bodyPr/>
          <a:p/>
        </p:txBody>
      </p:sp>
      <p:sp>
        <p:nvSpPr>
          <p:cNvPr id="15" name="TextBox 15"/>
          <p:cNvSpPr txBox="1"/>
          <p:nvPr/>
        </p:nvSpPr>
        <p:spPr>
          <a:xfrm>
            <a:off x="7792336" y="2119122"/>
            <a:ext cx="2702871" cy="7475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VietOCR</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6" name="TextBox 16"/>
          <p:cNvSpPr txBox="1"/>
          <p:nvPr/>
        </p:nvSpPr>
        <p:spPr>
          <a:xfrm>
            <a:off x="7860916" y="2862072"/>
            <a:ext cx="2565711" cy="9372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đọc tiếng Việt, giữ dấu</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7" name="Freeform 17"/>
          <p:cNvSpPr/>
          <p:nvPr/>
        </p:nvSpPr>
        <p:spPr>
          <a:xfrm>
            <a:off x="10684278" y="2849975"/>
            <a:ext cx="335089" cy="335089"/>
          </a:xfrm>
          <a:custGeom>
            <a:avLst/>
            <a:gdLst/>
            <a:ahLst/>
            <a:cxnLst/>
            <a:rect l="l" t="t" r="r" b="b"/>
            <a:pathLst>
              <a:path w="335089" h="335089">
                <a:moveTo>
                  <a:pt x="0" y="0"/>
                </a:moveTo>
                <a:lnTo>
                  <a:pt x="335090" y="0"/>
                </a:lnTo>
                <a:lnTo>
                  <a:pt x="335090" y="335090"/>
                </a:lnTo>
                <a:lnTo>
                  <a:pt x="0" y="33509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p/>
        </p:txBody>
      </p:sp>
      <p:sp>
        <p:nvSpPr>
          <p:cNvPr id="18" name="Freeform 18"/>
          <p:cNvSpPr/>
          <p:nvPr/>
        </p:nvSpPr>
        <p:spPr>
          <a:xfrm>
            <a:off x="11054610" y="2109311"/>
            <a:ext cx="3010472" cy="1816417"/>
          </a:xfrm>
          <a:custGeom>
            <a:avLst/>
            <a:gdLst/>
            <a:ahLst/>
            <a:cxnLst/>
            <a:rect l="l" t="t" r="r" b="b"/>
            <a:pathLst>
              <a:path w="3010472" h="1816417">
                <a:moveTo>
                  <a:pt x="0" y="0"/>
                </a:moveTo>
                <a:lnTo>
                  <a:pt x="3010472" y="0"/>
                </a:lnTo>
                <a:lnTo>
                  <a:pt x="3010472" y="1816418"/>
                </a:lnTo>
                <a:lnTo>
                  <a:pt x="0" y="1816418"/>
                </a:lnTo>
                <a:lnTo>
                  <a:pt x="0" y="0"/>
                </a:lnTo>
                <a:close/>
              </a:path>
            </a:pathLst>
          </a:custGeom>
          <a:blipFill>
            <a:blip r:embed="rId6">
              <a:extLst>
                <a:ext uri="{96DAC541-7B7A-43D3-8B79-37D633B846F1}">
                  <asvg:svgBlip xmlns:asvg="http://schemas.microsoft.com/office/drawing/2016/SVG/main" r:embed="rId7"/>
                </a:ext>
              </a:extLst>
            </a:blip>
            <a:stretch>
              <a:fillRect l="-69" r="-69"/>
            </a:stretch>
          </a:blipFill>
        </p:spPr>
        <p:txBody>
          <a:bodyPr/>
          <a:p/>
        </p:txBody>
      </p:sp>
      <p:sp>
        <p:nvSpPr>
          <p:cNvPr id="19" name="TextBox 19"/>
          <p:cNvSpPr txBox="1"/>
          <p:nvPr/>
        </p:nvSpPr>
        <p:spPr>
          <a:xfrm>
            <a:off x="11208439" y="2119122"/>
            <a:ext cx="2702871" cy="7475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Prompt</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0" name="TextBox 20"/>
          <p:cNvSpPr txBox="1"/>
          <p:nvPr/>
        </p:nvSpPr>
        <p:spPr>
          <a:xfrm>
            <a:off x="11277019" y="2862072"/>
            <a:ext cx="2565711" cy="9372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1 dòng OCR + câu hỏi</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1" name="Freeform 21"/>
          <p:cNvSpPr/>
          <p:nvPr/>
        </p:nvSpPr>
        <p:spPr>
          <a:xfrm>
            <a:off x="14100391" y="2849975"/>
            <a:ext cx="335089" cy="335089"/>
          </a:xfrm>
          <a:custGeom>
            <a:avLst/>
            <a:gdLst/>
            <a:ahLst/>
            <a:cxnLst/>
            <a:rect l="l" t="t" r="r" b="b"/>
            <a:pathLst>
              <a:path w="335089" h="335089">
                <a:moveTo>
                  <a:pt x="0" y="0"/>
                </a:moveTo>
                <a:lnTo>
                  <a:pt x="335089" y="0"/>
                </a:lnTo>
                <a:lnTo>
                  <a:pt x="335089" y="335090"/>
                </a:lnTo>
                <a:lnTo>
                  <a:pt x="0" y="33509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p/>
        </p:txBody>
      </p:sp>
      <p:sp>
        <p:nvSpPr>
          <p:cNvPr id="22" name="Freeform 22"/>
          <p:cNvSpPr/>
          <p:nvPr/>
        </p:nvSpPr>
        <p:spPr>
          <a:xfrm>
            <a:off x="14470723" y="2109311"/>
            <a:ext cx="3010472" cy="1816417"/>
          </a:xfrm>
          <a:custGeom>
            <a:avLst/>
            <a:gdLst/>
            <a:ahLst/>
            <a:cxnLst/>
            <a:rect l="l" t="t" r="r" b="b"/>
            <a:pathLst>
              <a:path w="3010472" h="1816417">
                <a:moveTo>
                  <a:pt x="0" y="0"/>
                </a:moveTo>
                <a:lnTo>
                  <a:pt x="3010471" y="0"/>
                </a:lnTo>
                <a:lnTo>
                  <a:pt x="3010471" y="1816418"/>
                </a:lnTo>
                <a:lnTo>
                  <a:pt x="0" y="1816418"/>
                </a:lnTo>
                <a:lnTo>
                  <a:pt x="0" y="0"/>
                </a:lnTo>
                <a:close/>
              </a:path>
            </a:pathLst>
          </a:custGeom>
          <a:blipFill>
            <a:blip r:embed="rId8">
              <a:extLst>
                <a:ext uri="{96DAC541-7B7A-43D3-8B79-37D633B846F1}">
                  <asvg:svgBlip xmlns:asvg="http://schemas.microsoft.com/office/drawing/2016/SVG/main" r:embed="rId9"/>
                </a:ext>
              </a:extLst>
            </a:blip>
            <a:stretch>
              <a:fillRect l="-69" r="-69"/>
            </a:stretch>
          </a:blipFill>
        </p:spPr>
        <p:txBody>
          <a:bodyPr/>
          <a:p/>
        </p:txBody>
      </p:sp>
      <p:sp>
        <p:nvSpPr>
          <p:cNvPr id="23" name="TextBox 23"/>
          <p:cNvSpPr txBox="1"/>
          <p:nvPr/>
        </p:nvSpPr>
        <p:spPr>
          <a:xfrm>
            <a:off x="14624552" y="2119122"/>
            <a:ext cx="2702871" cy="747522"/>
          </a:xfrm>
          <a:prstGeom prst="rect">
            <a:avLst/>
          </a:prstGeom>
        </p:spPr>
        <p:txBody>
          <a:bodyPr lIns="0" tIns="0" rIns="0" bIns="0" rtlCol="0" anchor="t">
            <a:spAutoFit/>
          </a:bodyPr>
          <a:lstStyle/>
          <a:p>
            <a:pPr algn="ctr">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Qwen2.5-VL + LoRA</a:t>
            </a:r>
            <a:endPar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4" name="TextBox 24"/>
          <p:cNvSpPr txBox="1"/>
          <p:nvPr/>
        </p:nvSpPr>
        <p:spPr>
          <a:xfrm>
            <a:off x="14693132" y="2862072"/>
            <a:ext cx="2565711" cy="937260"/>
          </a:xfrm>
          <a:prstGeom prst="rect">
            <a:avLst/>
          </a:prstGeom>
        </p:spPr>
        <p:txBody>
          <a:bodyPr lIns="0" tIns="0" rIns="0" bIns="0" rtlCol="0" anchor="t">
            <a:spAutoFit/>
          </a:bodyPr>
          <a:lstStyle/>
          <a:p>
            <a:pPr algn="ctr">
              <a:lnSpc>
                <a:spcPts val="2160"/>
              </a:lnSpc>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LoRA train cùng dòng OCR</a:t>
            </a:r>
            <a:endParaRPr lang="en-US" sz="18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5" name="Freeform 25"/>
          <p:cNvSpPr/>
          <p:nvPr/>
        </p:nvSpPr>
        <p:spPr>
          <a:xfrm>
            <a:off x="806291" y="4235291"/>
            <a:ext cx="16674941" cy="1062038"/>
          </a:xfrm>
          <a:custGeom>
            <a:avLst/>
            <a:gdLst/>
            <a:ahLst/>
            <a:cxnLst/>
            <a:rect l="l" t="t" r="r" b="b"/>
            <a:pathLst>
              <a:path w="16674941" h="1062038">
                <a:moveTo>
                  <a:pt x="0" y="0"/>
                </a:moveTo>
                <a:lnTo>
                  <a:pt x="16674941" y="0"/>
                </a:lnTo>
                <a:lnTo>
                  <a:pt x="16674941" y="1062038"/>
                </a:lnTo>
                <a:lnTo>
                  <a:pt x="0" y="1062038"/>
                </a:lnTo>
                <a:lnTo>
                  <a:pt x="0" y="0"/>
                </a:lnTo>
                <a:close/>
              </a:path>
            </a:pathLst>
          </a:custGeom>
          <a:blipFill>
            <a:blip r:embed="rId10">
              <a:extLst>
                <a:ext uri="{96DAC541-7B7A-43D3-8B79-37D633B846F1}">
                  <asvg:svgBlip xmlns:asvg="http://schemas.microsoft.com/office/drawing/2016/SVG/main" r:embed="rId11"/>
                </a:ext>
              </a:extLst>
            </a:blip>
            <a:stretch>
              <a:fillRect t="-214" b="-214"/>
            </a:stretch>
          </a:blipFill>
        </p:spPr>
        <p:txBody>
          <a:bodyPr/>
          <a:p/>
        </p:txBody>
      </p:sp>
      <p:grpSp>
        <p:nvGrpSpPr>
          <p:cNvPr id="26" name="Group 26"/>
          <p:cNvGrpSpPr/>
          <p:nvPr/>
        </p:nvGrpSpPr>
        <p:grpSpPr>
          <a:xfrm rot="0">
            <a:off x="1234440" y="4251960"/>
            <a:ext cx="15818644" cy="1028700"/>
            <a:chOff x="0" y="0"/>
            <a:chExt cx="21091525" cy="1371600"/>
          </a:xfrm>
        </p:grpSpPr>
        <p:sp>
          <p:nvSpPr>
            <p:cNvPr id="27" name="Freeform 27"/>
            <p:cNvSpPr/>
            <p:nvPr/>
          </p:nvSpPr>
          <p:spPr>
            <a:xfrm>
              <a:off x="0" y="0"/>
              <a:ext cx="21091525" cy="1371600"/>
            </a:xfrm>
            <a:custGeom>
              <a:avLst/>
              <a:gdLst/>
              <a:ahLst/>
              <a:cxnLst/>
              <a:rect l="l" t="t" r="r" b="b"/>
              <a:pathLst>
                <a:path w="21091525" h="1371600">
                  <a:moveTo>
                    <a:pt x="0" y="0"/>
                  </a:moveTo>
                  <a:lnTo>
                    <a:pt x="21091525" y="0"/>
                  </a:lnTo>
                  <a:lnTo>
                    <a:pt x="21091525" y="1371600"/>
                  </a:lnTo>
                  <a:lnTo>
                    <a:pt x="0" y="1371600"/>
                  </a:lnTo>
                  <a:close/>
                </a:path>
              </a:pathLst>
            </a:custGeom>
            <a:blipFill>
              <a:blip r:embed="rId1">
                <a:alphaModFix amt="0"/>
              </a:blip>
              <a:stretch>
                <a:fillRect t="-249419" b="-249419"/>
              </a:stretch>
            </a:blipFill>
          </p:spPr>
          <p:txBody>
            <a:bodyPr/>
            <a:p/>
          </p:txBody>
        </p:sp>
      </p:grpSp>
      <p:grpSp>
        <p:nvGrpSpPr>
          <p:cNvPr id="28" name="Group 28"/>
          <p:cNvGrpSpPr/>
          <p:nvPr/>
        </p:nvGrpSpPr>
        <p:grpSpPr>
          <a:xfrm rot="0">
            <a:off x="1234440" y="4244816"/>
            <a:ext cx="15818663" cy="1035844"/>
            <a:chOff x="0" y="0"/>
            <a:chExt cx="21091550" cy="1381125"/>
          </a:xfrm>
        </p:grpSpPr>
        <p:sp>
          <p:nvSpPr>
            <p:cNvPr id="29" name="Freeform 29"/>
            <p:cNvSpPr/>
            <p:nvPr/>
          </p:nvSpPr>
          <p:spPr>
            <a:xfrm>
              <a:off x="0" y="0"/>
              <a:ext cx="21091525" cy="1381125"/>
            </a:xfrm>
            <a:custGeom>
              <a:avLst/>
              <a:gdLst/>
              <a:ahLst/>
              <a:cxnLst/>
              <a:rect l="l" t="t" r="r" b="b"/>
              <a:pathLst>
                <a:path w="21091525" h="1381125">
                  <a:moveTo>
                    <a:pt x="0" y="0"/>
                  </a:moveTo>
                  <a:lnTo>
                    <a:pt x="21091525" y="0"/>
                  </a:lnTo>
                  <a:lnTo>
                    <a:pt x="21091525" y="1381125"/>
                  </a:lnTo>
                  <a:lnTo>
                    <a:pt x="0" y="1381125"/>
                  </a:lnTo>
                  <a:close/>
                </a:path>
              </a:pathLst>
            </a:custGeom>
            <a:blipFill>
              <a:blip r:embed="rId12">
                <a:alphaModFix amt="0"/>
              </a:blip>
              <a:stretch>
                <a:fillRect t="-247354" b="-247354"/>
              </a:stretch>
            </a:blipFill>
          </p:spPr>
          <p:txBody>
            <a:bodyPr/>
            <a:p/>
          </p:txBody>
        </p:sp>
      </p:grpSp>
      <p:grpSp>
        <p:nvGrpSpPr>
          <p:cNvPr id="30" name="Group 30"/>
          <p:cNvGrpSpPr/>
          <p:nvPr/>
        </p:nvGrpSpPr>
        <p:grpSpPr>
          <a:xfrm rot="0">
            <a:off x="1234440" y="4237672"/>
            <a:ext cx="15818663" cy="1042988"/>
            <a:chOff x="0" y="0"/>
            <a:chExt cx="21091550" cy="1390650"/>
          </a:xfrm>
        </p:grpSpPr>
        <p:sp>
          <p:nvSpPr>
            <p:cNvPr id="31" name="Freeform 31"/>
            <p:cNvSpPr/>
            <p:nvPr/>
          </p:nvSpPr>
          <p:spPr>
            <a:xfrm>
              <a:off x="0" y="0"/>
              <a:ext cx="21091551" cy="1390650"/>
            </a:xfrm>
            <a:custGeom>
              <a:avLst/>
              <a:gdLst/>
              <a:ahLst/>
              <a:cxnLst/>
              <a:rect l="l" t="t" r="r" b="b"/>
              <a:pathLst>
                <a:path w="21091551" h="1390650">
                  <a:moveTo>
                    <a:pt x="0" y="0"/>
                  </a:moveTo>
                  <a:lnTo>
                    <a:pt x="21091551" y="0"/>
                  </a:lnTo>
                  <a:lnTo>
                    <a:pt x="21091551" y="1390650"/>
                  </a:lnTo>
                  <a:lnTo>
                    <a:pt x="0" y="1390650"/>
                  </a:lnTo>
                  <a:close/>
                </a:path>
              </a:pathLst>
            </a:custGeom>
            <a:blipFill>
              <a:blip r:embed="rId13">
                <a:alphaModFix amt="0"/>
              </a:blip>
              <a:stretch>
                <a:fillRect t="-245523" b="-245523"/>
              </a:stretch>
            </a:blipFill>
          </p:spPr>
          <p:txBody>
            <a:bodyPr/>
            <a:p/>
          </p:txBody>
        </p:sp>
        <p:sp>
          <p:nvSpPr>
            <p:cNvPr id="32" name="TextBox 32"/>
            <p:cNvSpPr txBox="1"/>
            <p:nvPr/>
          </p:nvSpPr>
          <p:spPr>
            <a:xfrm>
              <a:off x="0" y="-9525"/>
              <a:ext cx="21091550" cy="1400175"/>
            </a:xfrm>
            <a:prstGeom prst="rect">
              <a:avLst/>
            </a:prstGeom>
          </p:spPr>
          <p:txBody>
            <a:bodyPr lIns="0" tIns="0" rIns="0" bIns="0" rtlCol="0" anchor="ctr"/>
            <a:lstStyle/>
            <a:p>
              <a:pPr algn="l">
                <a:lnSpc>
                  <a:spcPts val="2340"/>
                </a:lnSpc>
              </a:pPr>
              <a:r>
                <a:rPr lang="en-US" sz="1950" b="1">
                  <a:solidFill>
                    <a:srgbClr val="13294B"/>
                  </a:solidFill>
                  <a:latin typeface="Courier New Bold" panose="02070609020205020404"/>
                  <a:ea typeface="Courier New Bold" panose="02070609020205020404"/>
                  <a:cs typeface="Courier New Bold" panose="02070609020205020404"/>
                  <a:sym typeface="Courier New Bold" panose="02070609020205020404"/>
                </a:rPr>
                <a:t>Dòng prompt:  </a:t>
              </a:r>
              <a:r>
                <a:rPr lang="en-US" sz="1950">
                  <a:solidFill>
                    <a:srgbClr val="243044"/>
                  </a:solidFill>
                  <a:latin typeface="Courier New" panose="02070309020205020404"/>
                  <a:ea typeface="Courier New" panose="02070309020205020404"/>
                  <a:cs typeface="Courier New" panose="02070309020205020404"/>
                  <a:sym typeface="Courier New" panose="02070309020205020404"/>
                </a:rPr>
                <a:t>Văn bản đọc được trong ảnh: NHÀ THUỐC TÂM AN | 0919 467 868 …   Câu hỏi: tên nhà thuốc là gì?</a:t>
              </a:r>
              <a:endParaRPr lang="en-US" sz="1950">
                <a:solidFill>
                  <a:srgbClr val="243044"/>
                </a:solidFill>
                <a:latin typeface="Courier New" panose="02070309020205020404"/>
                <a:ea typeface="Courier New" panose="02070309020205020404"/>
                <a:cs typeface="Courier New" panose="02070309020205020404"/>
                <a:sym typeface="Courier New" panose="02070309020205020404"/>
              </a:endParaRPr>
            </a:p>
          </p:txBody>
        </p:sp>
      </p:grpSp>
      <p:sp>
        <p:nvSpPr>
          <p:cNvPr id="33" name="Freeform 33"/>
          <p:cNvSpPr/>
          <p:nvPr/>
        </p:nvSpPr>
        <p:spPr>
          <a:xfrm>
            <a:off x="806291" y="5675471"/>
            <a:ext cx="5214747" cy="3736658"/>
          </a:xfrm>
          <a:custGeom>
            <a:avLst/>
            <a:gdLst/>
            <a:ahLst/>
            <a:cxnLst/>
            <a:rect l="l" t="t" r="r" b="b"/>
            <a:pathLst>
              <a:path w="5214747" h="3736658">
                <a:moveTo>
                  <a:pt x="0" y="0"/>
                </a:moveTo>
                <a:lnTo>
                  <a:pt x="5214747" y="0"/>
                </a:lnTo>
                <a:lnTo>
                  <a:pt x="5214747" y="3736658"/>
                </a:lnTo>
                <a:lnTo>
                  <a:pt x="0" y="3736658"/>
                </a:lnTo>
                <a:lnTo>
                  <a:pt x="0" y="0"/>
                </a:lnTo>
                <a:close/>
              </a:path>
            </a:pathLst>
          </a:custGeom>
          <a:blipFill>
            <a:blip r:embed="rId14">
              <a:extLst>
                <a:ext uri="{96DAC541-7B7A-43D3-8B79-37D633B846F1}">
                  <asvg:svgBlip xmlns:asvg="http://schemas.microsoft.com/office/drawing/2016/SVG/main" r:embed="rId15"/>
                </a:ext>
              </a:extLst>
            </a:blip>
            <a:stretch>
              <a:fillRect t="-41" b="-41"/>
            </a:stretch>
          </a:blipFill>
        </p:spPr>
        <p:txBody>
          <a:bodyPr/>
          <a:p/>
        </p:txBody>
      </p:sp>
      <p:sp>
        <p:nvSpPr>
          <p:cNvPr id="34" name="TextBox 34"/>
          <p:cNvSpPr txBox="1"/>
          <p:nvPr/>
        </p:nvSpPr>
        <p:spPr>
          <a:xfrm>
            <a:off x="1165860" y="578358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Vì sao OCR</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5" name="TextBox 35"/>
          <p:cNvSpPr txBox="1"/>
          <p:nvPr/>
        </p:nvSpPr>
        <p:spPr>
          <a:xfrm>
            <a:off x="1165860" y="6440805"/>
            <a:ext cx="4495648" cy="274891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Lỗi thật của B2 ở ViTextVQA: đọc sai chữ 28%, nhầm vùng chữ 23%, sai dấu 8%</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Chữ tiếng Việt trong ảnh là gap nghiên cứu G2</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6" name="Freeform 36"/>
          <p:cNvSpPr/>
          <p:nvPr/>
        </p:nvSpPr>
        <p:spPr>
          <a:xfrm>
            <a:off x="6536379" y="5675471"/>
            <a:ext cx="5214747" cy="3736658"/>
          </a:xfrm>
          <a:custGeom>
            <a:avLst/>
            <a:gdLst/>
            <a:ahLst/>
            <a:cxnLst/>
            <a:rect l="l" t="t" r="r" b="b"/>
            <a:pathLst>
              <a:path w="5214747" h="3736658">
                <a:moveTo>
                  <a:pt x="0" y="0"/>
                </a:moveTo>
                <a:lnTo>
                  <a:pt x="5214747" y="0"/>
                </a:lnTo>
                <a:lnTo>
                  <a:pt x="5214747" y="3736658"/>
                </a:lnTo>
                <a:lnTo>
                  <a:pt x="0" y="3736658"/>
                </a:lnTo>
                <a:lnTo>
                  <a:pt x="0" y="0"/>
                </a:lnTo>
                <a:close/>
              </a:path>
            </a:pathLst>
          </a:custGeom>
          <a:blipFill>
            <a:blip r:embed="rId14">
              <a:extLst>
                <a:ext uri="{96DAC541-7B7A-43D3-8B79-37D633B846F1}">
                  <asvg:svgBlip xmlns:asvg="http://schemas.microsoft.com/office/drawing/2016/SVG/main" r:embed="rId15"/>
                </a:ext>
              </a:extLst>
            </a:blip>
            <a:stretch>
              <a:fillRect t="-41" b="-41"/>
            </a:stretch>
          </a:blipFill>
        </p:spPr>
        <p:txBody>
          <a:bodyPr/>
          <a:p/>
        </p:txBody>
      </p:sp>
      <p:sp>
        <p:nvSpPr>
          <p:cNvPr id="37" name="TextBox 37"/>
          <p:cNvSpPr txBox="1"/>
          <p:nvPr/>
        </p:nvSpPr>
        <p:spPr>
          <a:xfrm>
            <a:off x="6895948" y="578358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Chọn OCR (trên dev300)</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8" name="TextBox 38"/>
          <p:cNvSpPr txBox="1"/>
          <p:nvPr/>
        </p:nvSpPr>
        <p:spPr>
          <a:xfrm>
            <a:off x="6895948" y="6440805"/>
            <a:ext cx="4495648" cy="274891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PaddleOCR bản Latin làm rơi dấu: “Kiểu Thẩm” → “Kiu Thm”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Đáp án nằm trong văn bản OCR: VietOCR 37,7% so với 27,0% (p = 0,0008) → VietOCR</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9" name="Freeform 39"/>
          <p:cNvSpPr/>
          <p:nvPr/>
        </p:nvSpPr>
        <p:spPr>
          <a:xfrm>
            <a:off x="12266466" y="5675471"/>
            <a:ext cx="5214747" cy="3736658"/>
          </a:xfrm>
          <a:custGeom>
            <a:avLst/>
            <a:gdLst/>
            <a:ahLst/>
            <a:cxnLst/>
            <a:rect l="l" t="t" r="r" b="b"/>
            <a:pathLst>
              <a:path w="5214747" h="3736658">
                <a:moveTo>
                  <a:pt x="0" y="0"/>
                </a:moveTo>
                <a:lnTo>
                  <a:pt x="5214747" y="0"/>
                </a:lnTo>
                <a:lnTo>
                  <a:pt x="5214747" y="3736658"/>
                </a:lnTo>
                <a:lnTo>
                  <a:pt x="0" y="3736658"/>
                </a:lnTo>
                <a:lnTo>
                  <a:pt x="0" y="0"/>
                </a:lnTo>
                <a:close/>
              </a:path>
            </a:pathLst>
          </a:custGeom>
          <a:blipFill>
            <a:blip r:embed="rId16">
              <a:extLst>
                <a:ext uri="{96DAC541-7B7A-43D3-8B79-37D633B846F1}">
                  <asvg:svgBlip xmlns:asvg="http://schemas.microsoft.com/office/drawing/2016/SVG/main" r:embed="rId17"/>
                </a:ext>
              </a:extLst>
            </a:blip>
            <a:stretch>
              <a:fillRect t="-41" b="-41"/>
            </a:stretch>
          </a:blipFill>
        </p:spPr>
        <p:txBody>
          <a:bodyPr/>
          <a:p/>
        </p:txBody>
      </p:sp>
      <p:sp>
        <p:nvSpPr>
          <p:cNvPr id="40" name="TextBox 40"/>
          <p:cNvSpPr txBox="1"/>
          <p:nvPr/>
        </p:nvSpPr>
        <p:spPr>
          <a:xfrm>
            <a:off x="12626035" y="578358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gì</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41" name="TextBox 41"/>
          <p:cNvSpPr txBox="1"/>
          <p:nvPr/>
        </p:nvSpPr>
        <p:spPr>
          <a:xfrm>
            <a:off x="12626035" y="6440805"/>
            <a:ext cx="4495648" cy="274891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QLoRA y hệt B2 (r = 16, 0,196% tham số); chỉ thêm dòng OCR vào prompt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Phép thử có kiểm soát: tập con 8.000 câu, B3 so với B2-sub (cùng tập, không OCR)</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42" name="Group 42"/>
          <p:cNvGrpSpPr/>
          <p:nvPr/>
        </p:nvGrpSpPr>
        <p:grpSpPr>
          <a:xfrm rot="0">
            <a:off x="15458732" y="0"/>
            <a:ext cx="2829306" cy="1184338"/>
            <a:chOff x="0" y="0"/>
            <a:chExt cx="3772408" cy="1579118"/>
          </a:xfrm>
        </p:grpSpPr>
        <p:sp>
          <p:nvSpPr>
            <p:cNvPr id="43" name="Freeform 43"/>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8"/>
              <a:stretch>
                <a:fillRect/>
              </a:stretch>
            </a:blipFill>
          </p:spPr>
          <p:txBody>
            <a:bodyPr/>
            <a:p/>
          </p:txBody>
        </p:sp>
      </p:grpSp>
      <p:grpSp>
        <p:nvGrpSpPr>
          <p:cNvPr id="44" name="Group 44"/>
          <p:cNvGrpSpPr/>
          <p:nvPr/>
        </p:nvGrpSpPr>
        <p:grpSpPr>
          <a:xfrm rot="0">
            <a:off x="822960" y="9641205"/>
            <a:ext cx="13716000" cy="440055"/>
            <a:chOff x="0" y="0"/>
            <a:chExt cx="18288000" cy="586740"/>
          </a:xfrm>
        </p:grpSpPr>
        <p:sp>
          <p:nvSpPr>
            <p:cNvPr id="45" name="Freeform 45"/>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12">
                <a:alphaModFix amt="0"/>
              </a:blip>
              <a:stretch>
                <a:fillRect t="-556902" b="-556904"/>
              </a:stretch>
            </a:blipFill>
          </p:spPr>
          <p:txBody>
            <a:bodyPr/>
            <a:p/>
          </p:txBody>
        </p:sp>
      </p:grpSp>
      <p:grpSp>
        <p:nvGrpSpPr>
          <p:cNvPr id="46" name="Group 46"/>
          <p:cNvGrpSpPr/>
          <p:nvPr/>
        </p:nvGrpSpPr>
        <p:grpSpPr>
          <a:xfrm rot="0">
            <a:off x="822960" y="9612630"/>
            <a:ext cx="13716000" cy="468630"/>
            <a:chOff x="0" y="0"/>
            <a:chExt cx="18288000" cy="624840"/>
          </a:xfrm>
        </p:grpSpPr>
        <p:sp>
          <p:nvSpPr>
            <p:cNvPr id="47" name="Freeform 47"/>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13">
                <a:alphaModFix amt="0"/>
              </a:blip>
              <a:stretch>
                <a:fillRect t="-520293" b="-520293"/>
              </a:stretch>
            </a:blipFill>
          </p:spPr>
          <p:txBody>
            <a:bodyPr/>
            <a:p/>
          </p:txBody>
        </p:sp>
        <p:sp>
          <p:nvSpPr>
            <p:cNvPr id="48" name="TextBox 48"/>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05 · ABLATION: OCR LÚC TRAIN × OCR LÚC TEST</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OCR chỉ giúp khi model được train cùng OCR</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TextBox 6"/>
          <p:cNvSpPr txBox="1"/>
          <p:nvPr/>
        </p:nvSpPr>
        <p:spPr>
          <a:xfrm>
            <a:off x="3497580" y="1914525"/>
            <a:ext cx="3360420" cy="69151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không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7" name="TextBox 7"/>
          <p:cNvSpPr txBox="1"/>
          <p:nvPr/>
        </p:nvSpPr>
        <p:spPr>
          <a:xfrm>
            <a:off x="7063740" y="1914525"/>
            <a:ext cx="3360420" cy="69151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Test có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8" name="Group 8"/>
          <p:cNvGrpSpPr/>
          <p:nvPr/>
        </p:nvGrpSpPr>
        <p:grpSpPr>
          <a:xfrm rot="0">
            <a:off x="822960" y="2674620"/>
            <a:ext cx="2537460" cy="2125980"/>
            <a:chOff x="0" y="0"/>
            <a:chExt cx="3383280" cy="2834640"/>
          </a:xfrm>
        </p:grpSpPr>
        <p:sp>
          <p:nvSpPr>
            <p:cNvPr id="9" name="Freeform 9"/>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572" r="-57572"/>
              </a:stretch>
            </a:blipFill>
          </p:spPr>
          <p:txBody>
            <a:bodyPr/>
            <a:p/>
          </p:txBody>
        </p:sp>
      </p:grpSp>
      <p:grpSp>
        <p:nvGrpSpPr>
          <p:cNvPr id="10" name="Group 10"/>
          <p:cNvGrpSpPr/>
          <p:nvPr/>
        </p:nvGrpSpPr>
        <p:grpSpPr>
          <a:xfrm rot="0">
            <a:off x="822960" y="2638901"/>
            <a:ext cx="2537460" cy="2161699"/>
            <a:chOff x="0" y="0"/>
            <a:chExt cx="3383280" cy="2882265"/>
          </a:xfrm>
        </p:grpSpPr>
        <p:sp>
          <p:nvSpPr>
            <p:cNvPr id="11" name="Freeform 11"/>
            <p:cNvSpPr/>
            <p:nvPr/>
          </p:nvSpPr>
          <p:spPr>
            <a:xfrm>
              <a:off x="0" y="0"/>
              <a:ext cx="3383280" cy="2882265"/>
            </a:xfrm>
            <a:custGeom>
              <a:avLst/>
              <a:gdLst/>
              <a:ahLst/>
              <a:cxnLst/>
              <a:rect l="l" t="t" r="r" b="b"/>
              <a:pathLst>
                <a:path w="3383280" h="2882265">
                  <a:moveTo>
                    <a:pt x="0" y="0"/>
                  </a:moveTo>
                  <a:lnTo>
                    <a:pt x="3383280" y="0"/>
                  </a:lnTo>
                  <a:lnTo>
                    <a:pt x="3383280" y="2882265"/>
                  </a:lnTo>
                  <a:lnTo>
                    <a:pt x="0" y="2882265"/>
                  </a:lnTo>
                  <a:close/>
                </a:path>
              </a:pathLst>
            </a:custGeom>
            <a:blipFill>
              <a:blip r:embed="rId2">
                <a:alphaModFix amt="0"/>
              </a:blip>
              <a:stretch>
                <a:fillRect l="-59379" r="-59379"/>
              </a:stretch>
            </a:blipFill>
          </p:spPr>
          <p:txBody>
            <a:bodyPr/>
            <a:p/>
          </p:txBody>
        </p:sp>
      </p:grpSp>
      <p:grpSp>
        <p:nvGrpSpPr>
          <p:cNvPr id="12" name="Group 12"/>
          <p:cNvGrpSpPr/>
          <p:nvPr/>
        </p:nvGrpSpPr>
        <p:grpSpPr>
          <a:xfrm rot="0">
            <a:off x="822960" y="2603183"/>
            <a:ext cx="2537460" cy="2197417"/>
            <a:chOff x="0" y="0"/>
            <a:chExt cx="3383280" cy="2929890"/>
          </a:xfrm>
        </p:grpSpPr>
        <p:sp>
          <p:nvSpPr>
            <p:cNvPr id="13" name="Freeform 13"/>
            <p:cNvSpPr/>
            <p:nvPr/>
          </p:nvSpPr>
          <p:spPr>
            <a:xfrm>
              <a:off x="0" y="0"/>
              <a:ext cx="3383280" cy="2929890"/>
            </a:xfrm>
            <a:custGeom>
              <a:avLst/>
              <a:gdLst/>
              <a:ahLst/>
              <a:cxnLst/>
              <a:rect l="l" t="t" r="r" b="b"/>
              <a:pathLst>
                <a:path w="3383280" h="2929890">
                  <a:moveTo>
                    <a:pt x="0" y="0"/>
                  </a:moveTo>
                  <a:lnTo>
                    <a:pt x="3383280" y="0"/>
                  </a:lnTo>
                  <a:lnTo>
                    <a:pt x="3383280" y="2929890"/>
                  </a:lnTo>
                  <a:lnTo>
                    <a:pt x="0" y="2929890"/>
                  </a:lnTo>
                  <a:close/>
                </a:path>
              </a:pathLst>
            </a:custGeom>
            <a:blipFill>
              <a:blip r:embed="rId3">
                <a:alphaModFix amt="0"/>
              </a:blip>
              <a:stretch>
                <a:fillRect l="-61109" r="-61109"/>
              </a:stretch>
            </a:blipFill>
          </p:spPr>
          <p:txBody>
            <a:bodyPr/>
            <a:p/>
          </p:txBody>
        </p:sp>
        <p:sp>
          <p:nvSpPr>
            <p:cNvPr id="14" name="TextBox 14"/>
            <p:cNvSpPr txBox="1"/>
            <p:nvPr/>
          </p:nvSpPr>
          <p:spPr>
            <a:xfrm>
              <a:off x="0" y="-47625"/>
              <a:ext cx="3383280" cy="297751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không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5" name="Group 15"/>
          <p:cNvGrpSpPr/>
          <p:nvPr/>
        </p:nvGrpSpPr>
        <p:grpSpPr>
          <a:xfrm rot="0">
            <a:off x="822960" y="5006340"/>
            <a:ext cx="2537460" cy="2125980"/>
            <a:chOff x="0" y="0"/>
            <a:chExt cx="3383280" cy="2834640"/>
          </a:xfrm>
        </p:grpSpPr>
        <p:sp>
          <p:nvSpPr>
            <p:cNvPr id="16" name="Freeform 16"/>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572" r="-57572"/>
              </a:stretch>
            </a:blipFill>
          </p:spPr>
          <p:txBody>
            <a:bodyPr/>
            <a:p/>
          </p:txBody>
        </p:sp>
      </p:grpSp>
      <p:grpSp>
        <p:nvGrpSpPr>
          <p:cNvPr id="17" name="Group 17"/>
          <p:cNvGrpSpPr/>
          <p:nvPr/>
        </p:nvGrpSpPr>
        <p:grpSpPr>
          <a:xfrm rot="0">
            <a:off x="822960" y="4970621"/>
            <a:ext cx="2537460" cy="2161699"/>
            <a:chOff x="0" y="0"/>
            <a:chExt cx="3383280" cy="2882265"/>
          </a:xfrm>
        </p:grpSpPr>
        <p:sp>
          <p:nvSpPr>
            <p:cNvPr id="18" name="Freeform 18"/>
            <p:cNvSpPr/>
            <p:nvPr/>
          </p:nvSpPr>
          <p:spPr>
            <a:xfrm>
              <a:off x="0" y="0"/>
              <a:ext cx="3383280" cy="2882265"/>
            </a:xfrm>
            <a:custGeom>
              <a:avLst/>
              <a:gdLst/>
              <a:ahLst/>
              <a:cxnLst/>
              <a:rect l="l" t="t" r="r" b="b"/>
              <a:pathLst>
                <a:path w="3383280" h="2882265">
                  <a:moveTo>
                    <a:pt x="0" y="0"/>
                  </a:moveTo>
                  <a:lnTo>
                    <a:pt x="3383280" y="0"/>
                  </a:lnTo>
                  <a:lnTo>
                    <a:pt x="3383280" y="2882265"/>
                  </a:lnTo>
                  <a:lnTo>
                    <a:pt x="0" y="2882265"/>
                  </a:lnTo>
                  <a:close/>
                </a:path>
              </a:pathLst>
            </a:custGeom>
            <a:blipFill>
              <a:blip r:embed="rId2">
                <a:alphaModFix amt="0"/>
              </a:blip>
              <a:stretch>
                <a:fillRect l="-59379" r="-59379"/>
              </a:stretch>
            </a:blipFill>
          </p:spPr>
          <p:txBody>
            <a:bodyPr/>
            <a:p/>
          </p:txBody>
        </p:sp>
      </p:grpSp>
      <p:grpSp>
        <p:nvGrpSpPr>
          <p:cNvPr id="19" name="Group 19"/>
          <p:cNvGrpSpPr/>
          <p:nvPr/>
        </p:nvGrpSpPr>
        <p:grpSpPr>
          <a:xfrm rot="0">
            <a:off x="822960" y="4934903"/>
            <a:ext cx="2537460" cy="2197417"/>
            <a:chOff x="0" y="0"/>
            <a:chExt cx="3383280" cy="2929890"/>
          </a:xfrm>
        </p:grpSpPr>
        <p:sp>
          <p:nvSpPr>
            <p:cNvPr id="20" name="Freeform 20"/>
            <p:cNvSpPr/>
            <p:nvPr/>
          </p:nvSpPr>
          <p:spPr>
            <a:xfrm>
              <a:off x="0" y="0"/>
              <a:ext cx="3383280" cy="2929890"/>
            </a:xfrm>
            <a:custGeom>
              <a:avLst/>
              <a:gdLst/>
              <a:ahLst/>
              <a:cxnLst/>
              <a:rect l="l" t="t" r="r" b="b"/>
              <a:pathLst>
                <a:path w="3383280" h="2929890">
                  <a:moveTo>
                    <a:pt x="0" y="0"/>
                  </a:moveTo>
                  <a:lnTo>
                    <a:pt x="3383280" y="0"/>
                  </a:lnTo>
                  <a:lnTo>
                    <a:pt x="3383280" y="2929890"/>
                  </a:lnTo>
                  <a:lnTo>
                    <a:pt x="0" y="2929890"/>
                  </a:lnTo>
                  <a:close/>
                </a:path>
              </a:pathLst>
            </a:custGeom>
            <a:blipFill>
              <a:blip r:embed="rId3">
                <a:alphaModFix amt="0"/>
              </a:blip>
              <a:stretch>
                <a:fillRect l="-61109" r="-61109"/>
              </a:stretch>
            </a:blipFill>
          </p:spPr>
          <p:txBody>
            <a:bodyPr/>
            <a:p/>
          </p:txBody>
        </p:sp>
        <p:sp>
          <p:nvSpPr>
            <p:cNvPr id="21" name="TextBox 21"/>
            <p:cNvSpPr txBox="1"/>
            <p:nvPr/>
          </p:nvSpPr>
          <p:spPr>
            <a:xfrm>
              <a:off x="0" y="-47625"/>
              <a:ext cx="3383280" cy="297751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Train có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2" name="Freeform 22"/>
          <p:cNvSpPr/>
          <p:nvPr/>
        </p:nvSpPr>
        <p:spPr>
          <a:xfrm>
            <a:off x="3480911" y="265795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4">
              <a:extLst>
                <a:ext uri="{96DAC541-7B7A-43D3-8B79-37D633B846F1}">
                  <asvg:svgBlip xmlns:asvg="http://schemas.microsoft.com/office/drawing/2016/SVG/main" r:embed="rId5"/>
                </a:ext>
              </a:extLst>
            </a:blip>
            <a:stretch>
              <a:fillRect l="-31" r="-31"/>
            </a:stretch>
          </a:blipFill>
        </p:spPr>
        <p:txBody>
          <a:bodyPr/>
          <a:p/>
        </p:txBody>
      </p:sp>
      <p:sp>
        <p:nvSpPr>
          <p:cNvPr id="23" name="TextBox 23"/>
          <p:cNvSpPr txBox="1"/>
          <p:nvPr/>
        </p:nvSpPr>
        <p:spPr>
          <a:xfrm>
            <a:off x="3497580" y="2892933"/>
            <a:ext cx="3360420" cy="105727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45,55</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4" name="TextBox 24"/>
          <p:cNvSpPr txBox="1"/>
          <p:nvPr/>
        </p:nvSpPr>
        <p:spPr>
          <a:xfrm>
            <a:off x="3634740" y="383476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B2-sub</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5" name="Freeform 25"/>
          <p:cNvSpPr/>
          <p:nvPr/>
        </p:nvSpPr>
        <p:spPr>
          <a:xfrm>
            <a:off x="7047071" y="265795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4">
              <a:extLst>
                <a:ext uri="{96DAC541-7B7A-43D3-8B79-37D633B846F1}">
                  <asvg:svgBlip xmlns:asvg="http://schemas.microsoft.com/office/drawing/2016/SVG/main" r:embed="rId5"/>
                </a:ext>
              </a:extLst>
            </a:blip>
            <a:stretch>
              <a:fillRect l="-31" r="-31"/>
            </a:stretch>
          </a:blipFill>
        </p:spPr>
        <p:txBody>
          <a:bodyPr/>
          <a:p/>
        </p:txBody>
      </p:sp>
      <p:sp>
        <p:nvSpPr>
          <p:cNvPr id="26" name="TextBox 26"/>
          <p:cNvSpPr txBox="1"/>
          <p:nvPr/>
        </p:nvSpPr>
        <p:spPr>
          <a:xfrm>
            <a:off x="7063740" y="2892933"/>
            <a:ext cx="3360420" cy="105727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44,90</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7" name="TextBox 27"/>
          <p:cNvSpPr txBox="1"/>
          <p:nvPr/>
        </p:nvSpPr>
        <p:spPr>
          <a:xfrm>
            <a:off x="7200900" y="383476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B2-sub + OCR lúc test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8" name="Freeform 28"/>
          <p:cNvSpPr/>
          <p:nvPr/>
        </p:nvSpPr>
        <p:spPr>
          <a:xfrm>
            <a:off x="3480911" y="498967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4">
              <a:extLst>
                <a:ext uri="{96DAC541-7B7A-43D3-8B79-37D633B846F1}">
                  <asvg:svgBlip xmlns:asvg="http://schemas.microsoft.com/office/drawing/2016/SVG/main" r:embed="rId5"/>
                </a:ext>
              </a:extLst>
            </a:blip>
            <a:stretch>
              <a:fillRect l="-31" r="-31"/>
            </a:stretch>
          </a:blipFill>
        </p:spPr>
        <p:txBody>
          <a:bodyPr/>
          <a:p/>
        </p:txBody>
      </p:sp>
      <p:sp>
        <p:nvSpPr>
          <p:cNvPr id="29" name="TextBox 29"/>
          <p:cNvSpPr txBox="1"/>
          <p:nvPr/>
        </p:nvSpPr>
        <p:spPr>
          <a:xfrm>
            <a:off x="3497580" y="5224653"/>
            <a:ext cx="3360420" cy="105727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45,00</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30" name="TextBox 30"/>
          <p:cNvSpPr txBox="1"/>
          <p:nvPr/>
        </p:nvSpPr>
        <p:spPr>
          <a:xfrm>
            <a:off x="3634740" y="616648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 bỏ OCR lúc test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1" name="Freeform 31"/>
          <p:cNvSpPr/>
          <p:nvPr/>
        </p:nvSpPr>
        <p:spPr>
          <a:xfrm>
            <a:off x="7047071" y="498967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6">
              <a:extLst>
                <a:ext uri="{96DAC541-7B7A-43D3-8B79-37D633B846F1}">
                  <asvg:svgBlip xmlns:asvg="http://schemas.microsoft.com/office/drawing/2016/SVG/main" r:embed="rId7"/>
                </a:ext>
              </a:extLst>
            </a:blip>
            <a:stretch>
              <a:fillRect l="-31" r="-31"/>
            </a:stretch>
          </a:blipFill>
        </p:spPr>
        <p:txBody>
          <a:bodyPr/>
          <a:p/>
        </p:txBody>
      </p:sp>
      <p:sp>
        <p:nvSpPr>
          <p:cNvPr id="32" name="TextBox 32"/>
          <p:cNvSpPr txBox="1"/>
          <p:nvPr/>
        </p:nvSpPr>
        <p:spPr>
          <a:xfrm>
            <a:off x="7063740" y="5224653"/>
            <a:ext cx="3360420" cy="1057275"/>
          </a:xfrm>
          <a:prstGeom prst="rect">
            <a:avLst/>
          </a:prstGeom>
        </p:spPr>
        <p:txBody>
          <a:bodyPr lIns="0" tIns="0" rIns="0" bIns="0" rtlCol="0" anchor="t">
            <a:spAutoFit/>
          </a:bodyPr>
          <a:lstStyle/>
          <a:p>
            <a:pPr algn="ctr">
              <a:lnSpc>
                <a:spcPts val="6120"/>
              </a:lnSpc>
            </a:pPr>
            <a:r>
              <a:rPr lang="en-US" sz="5100" b="1">
                <a:solidFill>
                  <a:srgbClr val="E8A33D"/>
                </a:solidFill>
                <a:latin typeface="Cambria Bold" panose="02040803050406030204"/>
                <a:ea typeface="Cambria Bold" panose="02040803050406030204"/>
                <a:cs typeface="Cambria Bold" panose="02040803050406030204"/>
                <a:sym typeface="Cambria Bold" panose="02040803050406030204"/>
              </a:rPr>
              <a:t>49,25</a:t>
            </a:r>
            <a:endParaRPr lang="en-US" sz="51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33" name="TextBox 33"/>
          <p:cNvSpPr txBox="1"/>
          <p:nvPr/>
        </p:nvSpPr>
        <p:spPr>
          <a:xfrm>
            <a:off x="7200900" y="616648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 (đề xuất)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4" name="TextBox 34"/>
          <p:cNvSpPr txBox="1"/>
          <p:nvPr/>
        </p:nvSpPr>
        <p:spPr>
          <a:xfrm>
            <a:off x="3497580" y="7021068"/>
            <a:ext cx="6926580" cy="594360"/>
          </a:xfrm>
          <a:prstGeom prst="rect">
            <a:avLst/>
          </a:prstGeom>
        </p:spPr>
        <p:txBody>
          <a:bodyPr lIns="0" tIns="0" rIns="0" bIns="0" rtlCol="0" anchor="t">
            <a:spAutoFit/>
          </a:bodyPr>
          <a:lstStyle/>
          <a:p>
            <a:pPr algn="ctr">
              <a:lnSpc>
                <a:spcPts val="2160"/>
              </a:lnSpc>
            </a:pPr>
            <a:r>
              <a:rPr lang="en-US" sz="1800">
                <a:solidFill>
                  <a:srgbClr val="6B7280"/>
                </a:solidFill>
                <a:latin typeface="Calibri (MS)" panose="020F0502020204030204"/>
                <a:ea typeface="Calibri (MS)" panose="020F0502020204030204"/>
                <a:cs typeface="Calibri (MS)" panose="020F0502020204030204"/>
                <a:sym typeface="Calibri (MS)" panose="020F0502020204030204"/>
              </a:rPr>
              <a:t>EM (%), ViTextVQA tập con test (2.000 câu), seed 42</a:t>
            </a:r>
            <a:endParaRPr lang="en-US" sz="1800">
              <a:solidFill>
                <a:srgbClr val="6B7280"/>
              </a:solidFill>
              <a:latin typeface="Calibri (MS)" panose="020F0502020204030204"/>
              <a:ea typeface="Calibri (MS)" panose="020F0502020204030204"/>
              <a:cs typeface="Calibri (MS)" panose="020F0502020204030204"/>
              <a:sym typeface="Calibri (MS)" panose="020F0502020204030204"/>
            </a:endParaRPr>
          </a:p>
        </p:txBody>
      </p:sp>
      <p:sp>
        <p:nvSpPr>
          <p:cNvPr id="35" name="Freeform 35"/>
          <p:cNvSpPr/>
          <p:nvPr/>
        </p:nvSpPr>
        <p:spPr>
          <a:xfrm>
            <a:off x="11024711" y="2040731"/>
            <a:ext cx="6456521" cy="3188017"/>
          </a:xfrm>
          <a:custGeom>
            <a:avLst/>
            <a:gdLst/>
            <a:ahLst/>
            <a:cxnLst/>
            <a:rect l="l" t="t" r="r" b="b"/>
            <a:pathLst>
              <a:path w="6456521" h="3188017">
                <a:moveTo>
                  <a:pt x="0" y="0"/>
                </a:moveTo>
                <a:lnTo>
                  <a:pt x="6456521" y="0"/>
                </a:lnTo>
                <a:lnTo>
                  <a:pt x="6456521" y="3188018"/>
                </a:lnTo>
                <a:lnTo>
                  <a:pt x="0" y="3188018"/>
                </a:lnTo>
                <a:lnTo>
                  <a:pt x="0" y="0"/>
                </a:lnTo>
                <a:close/>
              </a:path>
            </a:pathLst>
          </a:custGeom>
          <a:blipFill>
            <a:blip r:embed="rId8">
              <a:extLst>
                <a:ext uri="{96DAC541-7B7A-43D3-8B79-37D633B846F1}">
                  <asvg:svgBlip xmlns:asvg="http://schemas.microsoft.com/office/drawing/2016/SVG/main" r:embed="rId9"/>
                </a:ext>
              </a:extLst>
            </a:blip>
            <a:stretch>
              <a:fillRect t="-33" b="-33"/>
            </a:stretch>
          </a:blipFill>
        </p:spPr>
        <p:txBody>
          <a:bodyPr/>
          <a:p/>
        </p:txBody>
      </p:sp>
      <p:sp>
        <p:nvSpPr>
          <p:cNvPr id="36" name="TextBox 36"/>
          <p:cNvSpPr txBox="1"/>
          <p:nvPr/>
        </p:nvSpPr>
        <p:spPr>
          <a:xfrm>
            <a:off x="11384280" y="2107692"/>
            <a:ext cx="573740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Kiểm định ghép cặp (McNemar, EM)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7" name="TextBox 37"/>
          <p:cNvSpPr txBox="1"/>
          <p:nvPr/>
        </p:nvSpPr>
        <p:spPr>
          <a:xfrm>
            <a:off x="11384280" y="2668905"/>
            <a:ext cx="5737403" cy="247459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Chỉ OCR lúc test: −0,65 (p = 0,49)</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Chỉ OCR lúc train: −0,55 (p = 0,35)</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Cả train lẫn test: +4,35 (p = 2 × 10⁻⁸)</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Bỏ OCR khỏi B3: −4,25 (p = 4 × 10⁻⁹)</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8" name="Freeform 38"/>
          <p:cNvSpPr/>
          <p:nvPr/>
        </p:nvSpPr>
        <p:spPr>
          <a:xfrm>
            <a:off x="11024711" y="5469731"/>
            <a:ext cx="6456521" cy="1953578"/>
          </a:xfrm>
          <a:custGeom>
            <a:avLst/>
            <a:gdLst/>
            <a:ahLst/>
            <a:cxnLst/>
            <a:rect l="l" t="t" r="r" b="b"/>
            <a:pathLst>
              <a:path w="6456521" h="1953578">
                <a:moveTo>
                  <a:pt x="0" y="0"/>
                </a:moveTo>
                <a:lnTo>
                  <a:pt x="6456521" y="0"/>
                </a:lnTo>
                <a:lnTo>
                  <a:pt x="6456521" y="1953578"/>
                </a:lnTo>
                <a:lnTo>
                  <a:pt x="0" y="1953578"/>
                </a:lnTo>
                <a:lnTo>
                  <a:pt x="0" y="0"/>
                </a:lnTo>
                <a:close/>
              </a:path>
            </a:pathLst>
          </a:custGeom>
          <a:blipFill>
            <a:blip r:embed="rId10">
              <a:extLst>
                <a:ext uri="{96DAC541-7B7A-43D3-8B79-37D633B846F1}">
                  <asvg:svgBlip xmlns:asvg="http://schemas.microsoft.com/office/drawing/2016/SVG/main" r:embed="rId11"/>
                </a:ext>
              </a:extLst>
            </a:blip>
            <a:stretch>
              <a:fillRect t="-208" b="-208"/>
            </a:stretch>
          </a:blipFill>
        </p:spPr>
        <p:txBody>
          <a:bodyPr/>
          <a:p/>
        </p:txBody>
      </p:sp>
      <p:grpSp>
        <p:nvGrpSpPr>
          <p:cNvPr id="39" name="Group 39"/>
          <p:cNvGrpSpPr/>
          <p:nvPr/>
        </p:nvGrpSpPr>
        <p:grpSpPr>
          <a:xfrm rot="0">
            <a:off x="11384280" y="5486400"/>
            <a:ext cx="5737384" cy="1920240"/>
            <a:chOff x="0" y="0"/>
            <a:chExt cx="7649845" cy="2560320"/>
          </a:xfrm>
        </p:grpSpPr>
        <p:sp>
          <p:nvSpPr>
            <p:cNvPr id="40" name="Freeform 40"/>
            <p:cNvSpPr/>
            <p:nvPr/>
          </p:nvSpPr>
          <p:spPr>
            <a:xfrm>
              <a:off x="0" y="0"/>
              <a:ext cx="7649845" cy="2560320"/>
            </a:xfrm>
            <a:custGeom>
              <a:avLst/>
              <a:gdLst/>
              <a:ahLst/>
              <a:cxnLst/>
              <a:rect l="l" t="t" r="r" b="b"/>
              <a:pathLst>
                <a:path w="7649845" h="2560320">
                  <a:moveTo>
                    <a:pt x="0" y="0"/>
                  </a:moveTo>
                  <a:lnTo>
                    <a:pt x="7649845" y="0"/>
                  </a:lnTo>
                  <a:lnTo>
                    <a:pt x="7649845" y="2560320"/>
                  </a:lnTo>
                  <a:lnTo>
                    <a:pt x="0" y="2560320"/>
                  </a:lnTo>
                  <a:close/>
                </a:path>
              </a:pathLst>
            </a:custGeom>
            <a:blipFill>
              <a:blip r:embed="rId1">
                <a:alphaModFix amt="0"/>
              </a:blip>
              <a:stretch>
                <a:fillRect t="-8178" b="-8177"/>
              </a:stretch>
            </a:blipFill>
          </p:spPr>
          <p:txBody>
            <a:bodyPr/>
            <a:p/>
          </p:txBody>
        </p:sp>
      </p:grpSp>
      <p:grpSp>
        <p:nvGrpSpPr>
          <p:cNvPr id="41" name="Group 41"/>
          <p:cNvGrpSpPr/>
          <p:nvPr/>
        </p:nvGrpSpPr>
        <p:grpSpPr>
          <a:xfrm rot="0">
            <a:off x="11384280" y="5443538"/>
            <a:ext cx="5737403" cy="1963102"/>
            <a:chOff x="0" y="0"/>
            <a:chExt cx="7649870" cy="2617470"/>
          </a:xfrm>
        </p:grpSpPr>
        <p:sp>
          <p:nvSpPr>
            <p:cNvPr id="42" name="Freeform 42"/>
            <p:cNvSpPr/>
            <p:nvPr/>
          </p:nvSpPr>
          <p:spPr>
            <a:xfrm>
              <a:off x="0" y="0"/>
              <a:ext cx="7649845" cy="2617470"/>
            </a:xfrm>
            <a:custGeom>
              <a:avLst/>
              <a:gdLst/>
              <a:ahLst/>
              <a:cxnLst/>
              <a:rect l="l" t="t" r="r" b="b"/>
              <a:pathLst>
                <a:path w="7649845" h="2617470">
                  <a:moveTo>
                    <a:pt x="0" y="0"/>
                  </a:moveTo>
                  <a:lnTo>
                    <a:pt x="7649845" y="0"/>
                  </a:lnTo>
                  <a:lnTo>
                    <a:pt x="7649845" y="2617470"/>
                  </a:lnTo>
                  <a:lnTo>
                    <a:pt x="0" y="2617470"/>
                  </a:lnTo>
                  <a:close/>
                </a:path>
              </a:pathLst>
            </a:custGeom>
            <a:blipFill>
              <a:blip r:embed="rId2">
                <a:alphaModFix amt="0"/>
              </a:blip>
              <a:stretch>
                <a:fillRect t="-6907" b="-6907"/>
              </a:stretch>
            </a:blipFill>
          </p:spPr>
          <p:txBody>
            <a:bodyPr/>
            <a:p/>
          </p:txBody>
        </p:sp>
      </p:grpSp>
      <p:grpSp>
        <p:nvGrpSpPr>
          <p:cNvPr id="43" name="Group 43"/>
          <p:cNvGrpSpPr/>
          <p:nvPr/>
        </p:nvGrpSpPr>
        <p:grpSpPr>
          <a:xfrm rot="0">
            <a:off x="11384280" y="5400675"/>
            <a:ext cx="5737403" cy="2005965"/>
            <a:chOff x="0" y="0"/>
            <a:chExt cx="7649870" cy="2674620"/>
          </a:xfrm>
        </p:grpSpPr>
        <p:sp>
          <p:nvSpPr>
            <p:cNvPr id="44" name="Freeform 44"/>
            <p:cNvSpPr/>
            <p:nvPr/>
          </p:nvSpPr>
          <p:spPr>
            <a:xfrm>
              <a:off x="0" y="0"/>
              <a:ext cx="7649871" cy="2674619"/>
            </a:xfrm>
            <a:custGeom>
              <a:avLst/>
              <a:gdLst/>
              <a:ahLst/>
              <a:cxnLst/>
              <a:rect l="l" t="t" r="r" b="b"/>
              <a:pathLst>
                <a:path w="7649871" h="2674619">
                  <a:moveTo>
                    <a:pt x="0" y="0"/>
                  </a:moveTo>
                  <a:lnTo>
                    <a:pt x="7649871" y="0"/>
                  </a:lnTo>
                  <a:lnTo>
                    <a:pt x="7649871" y="2674619"/>
                  </a:lnTo>
                  <a:lnTo>
                    <a:pt x="0" y="2674619"/>
                  </a:lnTo>
                  <a:close/>
                </a:path>
              </a:pathLst>
            </a:custGeom>
            <a:blipFill>
              <a:blip r:embed="rId3">
                <a:alphaModFix amt="0"/>
              </a:blip>
              <a:stretch>
                <a:fillRect t="-5730" b="-5730"/>
              </a:stretch>
            </a:blipFill>
          </p:spPr>
          <p:txBody>
            <a:bodyPr/>
            <a:p/>
          </p:txBody>
        </p:sp>
        <p:sp>
          <p:nvSpPr>
            <p:cNvPr id="45" name="TextBox 45"/>
            <p:cNvSpPr txBox="1"/>
            <p:nvPr/>
          </p:nvSpPr>
          <p:spPr>
            <a:xfrm>
              <a:off x="0" y="-57150"/>
              <a:ext cx="7649870" cy="2731770"/>
            </a:xfrm>
            <a:prstGeom prst="rect">
              <a:avLst/>
            </a:prstGeom>
          </p:spPr>
          <p:txBody>
            <a:bodyPr lIns="0" tIns="0" rIns="0" bIns="0" rtlCol="0" anchor="ct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Tương tác +4,9 EM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(CI95 +3,2 đến +6,6) → cần OCR ở cả train lẫn test</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sp>
        <p:nvSpPr>
          <p:cNvPr id="46" name="Freeform 46"/>
          <p:cNvSpPr/>
          <p:nvPr/>
        </p:nvSpPr>
        <p:spPr>
          <a:xfrm>
            <a:off x="806291" y="8007191"/>
            <a:ext cx="16674941" cy="1404938"/>
          </a:xfrm>
          <a:custGeom>
            <a:avLst/>
            <a:gdLst/>
            <a:ahLst/>
            <a:cxnLst/>
            <a:rect l="l" t="t" r="r" b="b"/>
            <a:pathLst>
              <a:path w="16674941" h="1404938">
                <a:moveTo>
                  <a:pt x="0" y="0"/>
                </a:moveTo>
                <a:lnTo>
                  <a:pt x="16674941" y="0"/>
                </a:lnTo>
                <a:lnTo>
                  <a:pt x="16674941" y="1404938"/>
                </a:lnTo>
                <a:lnTo>
                  <a:pt x="0" y="1404938"/>
                </a:lnTo>
                <a:lnTo>
                  <a:pt x="0" y="0"/>
                </a:lnTo>
                <a:close/>
              </a:path>
            </a:pathLst>
          </a:custGeom>
          <a:blipFill>
            <a:blip r:embed="rId12">
              <a:extLst>
                <a:ext uri="{96DAC541-7B7A-43D3-8B79-37D633B846F1}">
                  <asvg:svgBlip xmlns:asvg="http://schemas.microsoft.com/office/drawing/2016/SVG/main" r:embed="rId13"/>
                </a:ext>
              </a:extLst>
            </a:blip>
            <a:stretch>
              <a:fillRect t="-159" b="-159"/>
            </a:stretch>
          </a:blipFill>
        </p:spPr>
        <p:txBody>
          <a:bodyPr/>
          <a:p/>
        </p:txBody>
      </p:sp>
      <p:grpSp>
        <p:nvGrpSpPr>
          <p:cNvPr id="47" name="Group 47"/>
          <p:cNvGrpSpPr/>
          <p:nvPr/>
        </p:nvGrpSpPr>
        <p:grpSpPr>
          <a:xfrm rot="0">
            <a:off x="1234440" y="8023860"/>
            <a:ext cx="15818644" cy="1371600"/>
            <a:chOff x="0" y="0"/>
            <a:chExt cx="21091525" cy="1828800"/>
          </a:xfrm>
        </p:grpSpPr>
        <p:sp>
          <p:nvSpPr>
            <p:cNvPr id="48" name="Freeform 48"/>
            <p:cNvSpPr/>
            <p:nvPr/>
          </p:nvSpPr>
          <p:spPr>
            <a:xfrm>
              <a:off x="0" y="0"/>
              <a:ext cx="21091525" cy="1828800"/>
            </a:xfrm>
            <a:custGeom>
              <a:avLst/>
              <a:gdLst/>
              <a:ahLst/>
              <a:cxnLst/>
              <a:rect l="l" t="t" r="r" b="b"/>
              <a:pathLst>
                <a:path w="21091525" h="1828800">
                  <a:moveTo>
                    <a:pt x="0" y="0"/>
                  </a:moveTo>
                  <a:lnTo>
                    <a:pt x="21091525" y="0"/>
                  </a:lnTo>
                  <a:lnTo>
                    <a:pt x="21091525" y="1828800"/>
                  </a:lnTo>
                  <a:lnTo>
                    <a:pt x="0" y="1828800"/>
                  </a:lnTo>
                  <a:close/>
                </a:path>
              </a:pathLst>
            </a:custGeom>
            <a:blipFill>
              <a:blip r:embed="rId1">
                <a:alphaModFix amt="0"/>
              </a:blip>
              <a:stretch>
                <a:fillRect t="-174564" b="-174564"/>
              </a:stretch>
            </a:blipFill>
          </p:spPr>
          <p:txBody>
            <a:bodyPr/>
            <a:p/>
          </p:txBody>
        </p:sp>
      </p:grpSp>
      <p:grpSp>
        <p:nvGrpSpPr>
          <p:cNvPr id="49" name="Group 49"/>
          <p:cNvGrpSpPr/>
          <p:nvPr/>
        </p:nvGrpSpPr>
        <p:grpSpPr>
          <a:xfrm rot="0">
            <a:off x="1234440" y="7980997"/>
            <a:ext cx="15818663" cy="1414462"/>
            <a:chOff x="0" y="0"/>
            <a:chExt cx="21091550" cy="1885950"/>
          </a:xfrm>
        </p:grpSpPr>
        <p:sp>
          <p:nvSpPr>
            <p:cNvPr id="50" name="Freeform 50"/>
            <p:cNvSpPr/>
            <p:nvPr/>
          </p:nvSpPr>
          <p:spPr>
            <a:xfrm>
              <a:off x="0" y="0"/>
              <a:ext cx="21091525" cy="1885950"/>
            </a:xfrm>
            <a:custGeom>
              <a:avLst/>
              <a:gdLst/>
              <a:ahLst/>
              <a:cxnLst/>
              <a:rect l="l" t="t" r="r" b="b"/>
              <a:pathLst>
                <a:path w="21091525" h="1885950">
                  <a:moveTo>
                    <a:pt x="0" y="0"/>
                  </a:moveTo>
                  <a:lnTo>
                    <a:pt x="21091525" y="0"/>
                  </a:lnTo>
                  <a:lnTo>
                    <a:pt x="21091525" y="1885950"/>
                  </a:lnTo>
                  <a:lnTo>
                    <a:pt x="0" y="1885950"/>
                  </a:lnTo>
                  <a:close/>
                </a:path>
              </a:pathLst>
            </a:custGeom>
            <a:blipFill>
              <a:blip r:embed="rId2">
                <a:alphaModFix amt="0"/>
              </a:blip>
              <a:stretch>
                <a:fillRect t="-167759" b="-167759"/>
              </a:stretch>
            </a:blipFill>
          </p:spPr>
          <p:txBody>
            <a:bodyPr/>
            <a:p/>
          </p:txBody>
        </p:sp>
      </p:grpSp>
      <p:grpSp>
        <p:nvGrpSpPr>
          <p:cNvPr id="51" name="Group 51"/>
          <p:cNvGrpSpPr/>
          <p:nvPr/>
        </p:nvGrpSpPr>
        <p:grpSpPr>
          <a:xfrm rot="0">
            <a:off x="1234440" y="7938135"/>
            <a:ext cx="15818663" cy="1457325"/>
            <a:chOff x="0" y="0"/>
            <a:chExt cx="21091550" cy="1943100"/>
          </a:xfrm>
        </p:grpSpPr>
        <p:sp>
          <p:nvSpPr>
            <p:cNvPr id="52" name="Freeform 52"/>
            <p:cNvSpPr/>
            <p:nvPr/>
          </p:nvSpPr>
          <p:spPr>
            <a:xfrm>
              <a:off x="0" y="0"/>
              <a:ext cx="21091551" cy="1943099"/>
            </a:xfrm>
            <a:custGeom>
              <a:avLst/>
              <a:gdLst/>
              <a:ahLst/>
              <a:cxnLst/>
              <a:rect l="l" t="t" r="r" b="b"/>
              <a:pathLst>
                <a:path w="21091551" h="1943099">
                  <a:moveTo>
                    <a:pt x="0" y="0"/>
                  </a:moveTo>
                  <a:lnTo>
                    <a:pt x="21091551" y="0"/>
                  </a:lnTo>
                  <a:lnTo>
                    <a:pt x="21091551" y="1943099"/>
                  </a:lnTo>
                  <a:lnTo>
                    <a:pt x="0" y="1943099"/>
                  </a:lnTo>
                  <a:close/>
                </a:path>
              </a:pathLst>
            </a:custGeom>
            <a:blipFill>
              <a:blip r:embed="rId3">
                <a:alphaModFix amt="0"/>
              </a:blip>
              <a:stretch>
                <a:fillRect t="-161502" b="-161502"/>
              </a:stretch>
            </a:blipFill>
          </p:spPr>
          <p:txBody>
            <a:bodyPr/>
            <a:p/>
          </p:txBody>
        </p:sp>
        <p:sp>
          <p:nvSpPr>
            <p:cNvPr id="53" name="TextBox 53"/>
            <p:cNvSpPr txBox="1"/>
            <p:nvPr/>
          </p:nvSpPr>
          <p:spPr>
            <a:xfrm>
              <a:off x="0" y="-57150"/>
              <a:ext cx="21091550" cy="2000250"/>
            </a:xfrm>
            <a:prstGeom prst="rect">
              <a:avLst/>
            </a:prstGeom>
          </p:spPr>
          <p:txBody>
            <a:bodyPr lIns="0" tIns="0" rIns="0" bIns="0" rtlCol="0" anchor="ct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Kết luận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đóng góp không phải “thêm OCR vào prompt” — mà là dùng QLoRA dạy model khi nào tin OCR, khi nào tin ảnh.</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grpSp>
        <p:nvGrpSpPr>
          <p:cNvPr id="54" name="Group 54"/>
          <p:cNvGrpSpPr/>
          <p:nvPr/>
        </p:nvGrpSpPr>
        <p:grpSpPr>
          <a:xfrm rot="0">
            <a:off x="15458732" y="0"/>
            <a:ext cx="2829306" cy="1184338"/>
            <a:chOff x="0" y="0"/>
            <a:chExt cx="3772408" cy="1579118"/>
          </a:xfrm>
        </p:grpSpPr>
        <p:sp>
          <p:nvSpPr>
            <p:cNvPr id="55" name="Freeform 55"/>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4"/>
              <a:stretch>
                <a:fillRect/>
              </a:stretch>
            </a:blipFill>
          </p:spPr>
          <p:txBody>
            <a:bodyPr/>
            <a:p/>
          </p:txBody>
        </p:sp>
      </p:grpSp>
      <p:grpSp>
        <p:nvGrpSpPr>
          <p:cNvPr id="56" name="Group 56"/>
          <p:cNvGrpSpPr/>
          <p:nvPr/>
        </p:nvGrpSpPr>
        <p:grpSpPr>
          <a:xfrm rot="0">
            <a:off x="822960" y="9641205"/>
            <a:ext cx="13716000" cy="440055"/>
            <a:chOff x="0" y="0"/>
            <a:chExt cx="18288000" cy="586740"/>
          </a:xfrm>
        </p:grpSpPr>
        <p:sp>
          <p:nvSpPr>
            <p:cNvPr id="57" name="Freeform 57"/>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58" name="Group 58"/>
          <p:cNvGrpSpPr/>
          <p:nvPr/>
        </p:nvGrpSpPr>
        <p:grpSpPr>
          <a:xfrm rot="0">
            <a:off x="822960" y="9612630"/>
            <a:ext cx="13716000" cy="468630"/>
            <a:chOff x="0" y="0"/>
            <a:chExt cx="18288000" cy="624840"/>
          </a:xfrm>
        </p:grpSpPr>
        <p:sp>
          <p:nvSpPr>
            <p:cNvPr id="59" name="Freeform 59"/>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60" name="TextBox 60"/>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
        <p:nvSpPr>
          <p:cNvPr id="61" name="TextBox 61"/>
          <p:cNvSpPr txBox="1"/>
          <p:nvPr/>
        </p:nvSpPr>
        <p:spPr>
          <a:xfrm>
            <a:off x="1234440" y="7450455"/>
            <a:ext cx="10058400" cy="459105"/>
          </a:xfrm>
          <a:prstGeom prst="rect">
            <a:avLst/>
          </a:prstGeom>
        </p:spPr>
        <p:txBody>
          <a:bodyPr lIns="0" tIns="0" rIns="0" bIns="0" rtlCol="0" anchor="t">
            <a:spAutoFit/>
          </a:bodyPr>
          <a:lstStyle/>
          <a:p>
            <a:pPr algn="l">
              <a:lnSpc>
                <a:spcPts val="2160"/>
              </a:lnSpc>
            </a:pPr>
            <a:r>
              <a:rPr lang="en-US" sz="1700" b="1">
                <a:solidFill>
                  <a:srgbClr val="1C7293"/>
                </a:solidFill>
                <a:latin typeface="Calibri (MS) Bold" panose="020F0702030404030204"/>
                <a:ea typeface="Calibri (MS) Bold" panose="020F0702030404030204"/>
                <a:cs typeface="Calibri (MS) Bold" panose="020F0702030404030204"/>
                <a:sym typeface="Calibri (MS) Bold" panose="020F0702030404030204"/>
              </a:rPr>
              <a:t>Lặp lại 3 seed (42/43/44): </a:t>
            </a:r>
            <a:r>
              <a:rPr lang="en-US" sz="1700">
                <a:solidFill>
                  <a:srgbClr val="1C7293"/>
                </a:solidFill>
                <a:latin typeface="Calibri (MS)" panose="020F0502020204030204"/>
                <a:ea typeface="Calibri (MS)" panose="020F0502020204030204"/>
                <a:cs typeface="Calibri (MS)" panose="020F0502020204030204"/>
                <a:sym typeface="Calibri (MS)" panose="020F0502020204030204"/>
              </a:rPr>
              <a:t>+3,57 ± 0,76 EM, cả 3 seed p ≤ 1,4×10⁻⁴ (phụ lục P4)</a:t>
            </a:r>
            <a:endParaRPr lang="en-US" sz="1700">
              <a:solidFill>
                <a:srgbClr val="1C7293"/>
              </a:solidFill>
              <a:latin typeface="Calibri (MS)" panose="020F0502020204030204"/>
              <a:ea typeface="Calibri (MS)" panose="020F0502020204030204"/>
              <a:cs typeface="Calibri (MS)" panose="020F0502020204030204"/>
              <a:sym typeface="Calibri (MS)" panose="020F05020202040302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METHODOLOGY · 06 · B3 TRÊN TOÀN BỘ DỮ LIỆU (B3-full)</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5" name="Group 5"/>
          <p:cNvGrpSpPr/>
          <p:nvPr/>
        </p:nvGrpSpPr>
        <p:grpSpPr>
          <a:xfrm rot="0">
            <a:off x="15458732" y="0"/>
            <a:ext cx="2829306" cy="1184338"/>
            <a:chOff x="0" y="0"/>
            <a:chExt cx="3772408" cy="1579118"/>
          </a:xfrm>
        </p:grpSpPr>
        <p:sp>
          <p:nvSpPr>
            <p:cNvPr id="6" name="Freeform 6"/>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2"/>
              <a:stretch>
                <a:fillRect/>
              </a:stretch>
            </a:blipFill>
          </p:spPr>
          <p:txBody>
            <a:bodyPr/>
            <a:p/>
          </p:txBody>
        </p:sp>
      </p:grpSp>
      <p:sp>
        <p:nvSpPr>
          <p:cNvPr id="7" name="TextBox 7"/>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Đủ dữ liệu: QLoRA nhận biết OCR vượt QLoRA thường</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8" name="TextBox 8"/>
          <p:cNvSpPr txBox="1"/>
          <p:nvPr/>
        </p:nvSpPr>
        <p:spPr>
          <a:xfrm>
            <a:off x="3497580" y="1914525"/>
            <a:ext cx="3360420" cy="69151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Không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9" name="TextBox 9"/>
          <p:cNvSpPr txBox="1"/>
          <p:nvPr/>
        </p:nvSpPr>
        <p:spPr>
          <a:xfrm>
            <a:off x="7063740" y="1914525"/>
            <a:ext cx="3360420" cy="691515"/>
          </a:xfrm>
          <a:prstGeom prst="rect">
            <a:avLst/>
          </a:prstGeom>
        </p:spPr>
        <p:txBody>
          <a:bodyPr lIns="0" tIns="0" rIns="0" bIns="0" rtlCol="0" anchor="t">
            <a:spAutoFit/>
          </a:bodyPr>
          <a:lstStyle/>
          <a:p>
            <a:pPr algn="ctr">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Có OCR</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0" name="Group 10"/>
          <p:cNvGrpSpPr/>
          <p:nvPr/>
        </p:nvGrpSpPr>
        <p:grpSpPr>
          <a:xfrm rot="0">
            <a:off x="822960" y="2674620"/>
            <a:ext cx="2537460" cy="2125980"/>
            <a:chOff x="0" y="0"/>
            <a:chExt cx="3383280" cy="2834640"/>
          </a:xfrm>
        </p:grpSpPr>
        <p:sp>
          <p:nvSpPr>
            <p:cNvPr id="11" name="Freeform 11"/>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572" r="-57572"/>
              </a:stretch>
            </a:blipFill>
          </p:spPr>
          <p:txBody>
            <a:bodyPr/>
            <a:p/>
          </p:txBody>
        </p:sp>
      </p:grpSp>
      <p:grpSp>
        <p:nvGrpSpPr>
          <p:cNvPr id="12" name="Group 12"/>
          <p:cNvGrpSpPr/>
          <p:nvPr/>
        </p:nvGrpSpPr>
        <p:grpSpPr>
          <a:xfrm rot="0">
            <a:off x="822960" y="2638901"/>
            <a:ext cx="2537460" cy="2161699"/>
            <a:chOff x="0" y="0"/>
            <a:chExt cx="3383280" cy="2882265"/>
          </a:xfrm>
        </p:grpSpPr>
        <p:sp>
          <p:nvSpPr>
            <p:cNvPr id="13" name="Freeform 13"/>
            <p:cNvSpPr/>
            <p:nvPr/>
          </p:nvSpPr>
          <p:spPr>
            <a:xfrm>
              <a:off x="0" y="0"/>
              <a:ext cx="3383280" cy="2882265"/>
            </a:xfrm>
            <a:custGeom>
              <a:avLst/>
              <a:gdLst/>
              <a:ahLst/>
              <a:cxnLst/>
              <a:rect l="l" t="t" r="r" b="b"/>
              <a:pathLst>
                <a:path w="3383280" h="2882265">
                  <a:moveTo>
                    <a:pt x="0" y="0"/>
                  </a:moveTo>
                  <a:lnTo>
                    <a:pt x="3383280" y="0"/>
                  </a:lnTo>
                  <a:lnTo>
                    <a:pt x="3383280" y="2882265"/>
                  </a:lnTo>
                  <a:lnTo>
                    <a:pt x="0" y="2882265"/>
                  </a:lnTo>
                  <a:close/>
                </a:path>
              </a:pathLst>
            </a:custGeom>
            <a:blipFill>
              <a:blip r:embed="rId3">
                <a:alphaModFix amt="0"/>
              </a:blip>
              <a:stretch>
                <a:fillRect l="-59379" r="-59379"/>
              </a:stretch>
            </a:blipFill>
          </p:spPr>
          <p:txBody>
            <a:bodyPr/>
            <a:p/>
          </p:txBody>
        </p:sp>
      </p:grpSp>
      <p:grpSp>
        <p:nvGrpSpPr>
          <p:cNvPr id="14" name="Group 14"/>
          <p:cNvGrpSpPr/>
          <p:nvPr/>
        </p:nvGrpSpPr>
        <p:grpSpPr>
          <a:xfrm rot="0">
            <a:off x="822960" y="2603183"/>
            <a:ext cx="2537460" cy="2197417"/>
            <a:chOff x="0" y="0"/>
            <a:chExt cx="3383280" cy="2929890"/>
          </a:xfrm>
        </p:grpSpPr>
        <p:sp>
          <p:nvSpPr>
            <p:cNvPr id="15" name="Freeform 15"/>
            <p:cNvSpPr/>
            <p:nvPr/>
          </p:nvSpPr>
          <p:spPr>
            <a:xfrm>
              <a:off x="0" y="0"/>
              <a:ext cx="3383280" cy="2929890"/>
            </a:xfrm>
            <a:custGeom>
              <a:avLst/>
              <a:gdLst/>
              <a:ahLst/>
              <a:cxnLst/>
              <a:rect l="l" t="t" r="r" b="b"/>
              <a:pathLst>
                <a:path w="3383280" h="2929890">
                  <a:moveTo>
                    <a:pt x="0" y="0"/>
                  </a:moveTo>
                  <a:lnTo>
                    <a:pt x="3383280" y="0"/>
                  </a:lnTo>
                  <a:lnTo>
                    <a:pt x="3383280" y="2929890"/>
                  </a:lnTo>
                  <a:lnTo>
                    <a:pt x="0" y="2929890"/>
                  </a:lnTo>
                  <a:close/>
                </a:path>
              </a:pathLst>
            </a:custGeom>
            <a:blipFill>
              <a:blip r:embed="rId4">
                <a:alphaModFix amt="0"/>
              </a:blip>
              <a:stretch>
                <a:fillRect l="-61109" r="-61109"/>
              </a:stretch>
            </a:blipFill>
          </p:spPr>
          <p:txBody>
            <a:bodyPr/>
            <a:p/>
          </p:txBody>
        </p:sp>
        <p:sp>
          <p:nvSpPr>
            <p:cNvPr id="16" name="TextBox 16"/>
            <p:cNvSpPr txBox="1"/>
            <p:nvPr/>
          </p:nvSpPr>
          <p:spPr>
            <a:xfrm>
              <a:off x="0" y="-47625"/>
              <a:ext cx="3383280" cy="297751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23% train (8k)</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grpSp>
        <p:nvGrpSpPr>
          <p:cNvPr id="17" name="Group 17"/>
          <p:cNvGrpSpPr/>
          <p:nvPr/>
        </p:nvGrpSpPr>
        <p:grpSpPr>
          <a:xfrm rot="0">
            <a:off x="822960" y="5006340"/>
            <a:ext cx="2537460" cy="2125980"/>
            <a:chOff x="0" y="0"/>
            <a:chExt cx="3383280" cy="2834640"/>
          </a:xfrm>
        </p:grpSpPr>
        <p:sp>
          <p:nvSpPr>
            <p:cNvPr id="18" name="Freeform 18"/>
            <p:cNvSpPr/>
            <p:nvPr/>
          </p:nvSpPr>
          <p:spPr>
            <a:xfrm>
              <a:off x="0" y="0"/>
              <a:ext cx="3383280" cy="2834640"/>
            </a:xfrm>
            <a:custGeom>
              <a:avLst/>
              <a:gdLst/>
              <a:ahLst/>
              <a:cxnLst/>
              <a:rect l="l" t="t" r="r" b="b"/>
              <a:pathLst>
                <a:path w="3383280" h="2834640">
                  <a:moveTo>
                    <a:pt x="0" y="0"/>
                  </a:moveTo>
                  <a:lnTo>
                    <a:pt x="3383280" y="0"/>
                  </a:lnTo>
                  <a:lnTo>
                    <a:pt x="3383280" y="2834640"/>
                  </a:lnTo>
                  <a:lnTo>
                    <a:pt x="0" y="2834640"/>
                  </a:lnTo>
                  <a:close/>
                </a:path>
              </a:pathLst>
            </a:custGeom>
            <a:blipFill>
              <a:blip r:embed="rId1">
                <a:alphaModFix amt="0"/>
              </a:blip>
              <a:stretch>
                <a:fillRect l="-57572" r="-57572"/>
              </a:stretch>
            </a:blipFill>
          </p:spPr>
          <p:txBody>
            <a:bodyPr/>
            <a:p/>
          </p:txBody>
        </p:sp>
      </p:grpSp>
      <p:grpSp>
        <p:nvGrpSpPr>
          <p:cNvPr id="19" name="Group 19"/>
          <p:cNvGrpSpPr/>
          <p:nvPr/>
        </p:nvGrpSpPr>
        <p:grpSpPr>
          <a:xfrm rot="0">
            <a:off x="822960" y="4970621"/>
            <a:ext cx="2537460" cy="2161699"/>
            <a:chOff x="0" y="0"/>
            <a:chExt cx="3383280" cy="2882265"/>
          </a:xfrm>
        </p:grpSpPr>
        <p:sp>
          <p:nvSpPr>
            <p:cNvPr id="20" name="Freeform 20"/>
            <p:cNvSpPr/>
            <p:nvPr/>
          </p:nvSpPr>
          <p:spPr>
            <a:xfrm>
              <a:off x="0" y="0"/>
              <a:ext cx="3383280" cy="2882265"/>
            </a:xfrm>
            <a:custGeom>
              <a:avLst/>
              <a:gdLst/>
              <a:ahLst/>
              <a:cxnLst/>
              <a:rect l="l" t="t" r="r" b="b"/>
              <a:pathLst>
                <a:path w="3383280" h="2882265">
                  <a:moveTo>
                    <a:pt x="0" y="0"/>
                  </a:moveTo>
                  <a:lnTo>
                    <a:pt x="3383280" y="0"/>
                  </a:lnTo>
                  <a:lnTo>
                    <a:pt x="3383280" y="2882265"/>
                  </a:lnTo>
                  <a:lnTo>
                    <a:pt x="0" y="2882265"/>
                  </a:lnTo>
                  <a:close/>
                </a:path>
              </a:pathLst>
            </a:custGeom>
            <a:blipFill>
              <a:blip r:embed="rId3">
                <a:alphaModFix amt="0"/>
              </a:blip>
              <a:stretch>
                <a:fillRect l="-59379" r="-59379"/>
              </a:stretch>
            </a:blipFill>
          </p:spPr>
          <p:txBody>
            <a:bodyPr/>
            <a:p/>
          </p:txBody>
        </p:sp>
      </p:grpSp>
      <p:grpSp>
        <p:nvGrpSpPr>
          <p:cNvPr id="21" name="Group 21"/>
          <p:cNvGrpSpPr/>
          <p:nvPr/>
        </p:nvGrpSpPr>
        <p:grpSpPr>
          <a:xfrm rot="0">
            <a:off x="822960" y="4934903"/>
            <a:ext cx="2537460" cy="2197417"/>
            <a:chOff x="0" y="0"/>
            <a:chExt cx="3383280" cy="2929890"/>
          </a:xfrm>
        </p:grpSpPr>
        <p:sp>
          <p:nvSpPr>
            <p:cNvPr id="22" name="Freeform 22"/>
            <p:cNvSpPr/>
            <p:nvPr/>
          </p:nvSpPr>
          <p:spPr>
            <a:xfrm>
              <a:off x="0" y="0"/>
              <a:ext cx="3383280" cy="2929890"/>
            </a:xfrm>
            <a:custGeom>
              <a:avLst/>
              <a:gdLst/>
              <a:ahLst/>
              <a:cxnLst/>
              <a:rect l="l" t="t" r="r" b="b"/>
              <a:pathLst>
                <a:path w="3383280" h="2929890">
                  <a:moveTo>
                    <a:pt x="0" y="0"/>
                  </a:moveTo>
                  <a:lnTo>
                    <a:pt x="3383280" y="0"/>
                  </a:lnTo>
                  <a:lnTo>
                    <a:pt x="3383280" y="2929890"/>
                  </a:lnTo>
                  <a:lnTo>
                    <a:pt x="0" y="2929890"/>
                  </a:lnTo>
                  <a:close/>
                </a:path>
              </a:pathLst>
            </a:custGeom>
            <a:blipFill>
              <a:blip r:embed="rId4">
                <a:alphaModFix amt="0"/>
              </a:blip>
              <a:stretch>
                <a:fillRect l="-61109" r="-61109"/>
              </a:stretch>
            </a:blipFill>
          </p:spPr>
          <p:txBody>
            <a:bodyPr/>
            <a:p/>
          </p:txBody>
        </p:sp>
        <p:sp>
          <p:nvSpPr>
            <p:cNvPr id="23" name="TextBox 23"/>
            <p:cNvSpPr txBox="1"/>
            <p:nvPr/>
          </p:nvSpPr>
          <p:spPr>
            <a:xfrm>
              <a:off x="0" y="-47625"/>
              <a:ext cx="3383280" cy="297751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100% train</a:t>
              </a:r>
              <a:endPar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4" name="Freeform 24"/>
          <p:cNvSpPr/>
          <p:nvPr/>
        </p:nvSpPr>
        <p:spPr>
          <a:xfrm>
            <a:off x="3480911" y="265795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31" r="-31"/>
            </a:stretch>
          </a:blipFill>
        </p:spPr>
        <p:txBody>
          <a:bodyPr/>
          <a:p/>
        </p:txBody>
      </p:sp>
      <p:sp>
        <p:nvSpPr>
          <p:cNvPr id="25" name="TextBox 25"/>
          <p:cNvSpPr txBox="1"/>
          <p:nvPr/>
        </p:nvSpPr>
        <p:spPr>
          <a:xfrm>
            <a:off x="3497580" y="2892933"/>
            <a:ext cx="3360420" cy="105727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46,56</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6" name="TextBox 26"/>
          <p:cNvSpPr txBox="1"/>
          <p:nvPr/>
        </p:nvSpPr>
        <p:spPr>
          <a:xfrm>
            <a:off x="3634740" y="383476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B2-sub</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7" name="Freeform 27"/>
          <p:cNvSpPr/>
          <p:nvPr/>
        </p:nvSpPr>
        <p:spPr>
          <a:xfrm>
            <a:off x="7047071" y="265795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31" r="-31"/>
            </a:stretch>
          </a:blipFill>
        </p:spPr>
        <p:txBody>
          <a:bodyPr/>
          <a:p/>
        </p:txBody>
      </p:sp>
      <p:sp>
        <p:nvSpPr>
          <p:cNvPr id="28" name="TextBox 28"/>
          <p:cNvSpPr txBox="1"/>
          <p:nvPr/>
        </p:nvSpPr>
        <p:spPr>
          <a:xfrm>
            <a:off x="7063740" y="2892933"/>
            <a:ext cx="3360420" cy="105727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49,10</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9" name="TextBox 29"/>
          <p:cNvSpPr txBox="1"/>
          <p:nvPr/>
        </p:nvSpPr>
        <p:spPr>
          <a:xfrm>
            <a:off x="7200900" y="383476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0" name="Freeform 30"/>
          <p:cNvSpPr/>
          <p:nvPr/>
        </p:nvSpPr>
        <p:spPr>
          <a:xfrm>
            <a:off x="3480911" y="498967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31" r="-31"/>
            </a:stretch>
          </a:blipFill>
        </p:spPr>
        <p:txBody>
          <a:bodyPr/>
          <a:p/>
        </p:txBody>
      </p:sp>
      <p:sp>
        <p:nvSpPr>
          <p:cNvPr id="31" name="TextBox 31"/>
          <p:cNvSpPr txBox="1"/>
          <p:nvPr/>
        </p:nvSpPr>
        <p:spPr>
          <a:xfrm>
            <a:off x="3497580" y="5224653"/>
            <a:ext cx="3360420" cy="1057275"/>
          </a:xfrm>
          <a:prstGeom prst="rect">
            <a:avLst/>
          </a:prstGeom>
        </p:spPr>
        <p:txBody>
          <a:bodyPr lIns="0" tIns="0" rIns="0" bIns="0" rtlCol="0" anchor="t">
            <a:spAutoFit/>
          </a:bodyPr>
          <a:lstStyle/>
          <a:p>
            <a:pPr algn="ctr">
              <a:lnSpc>
                <a:spcPts val="6120"/>
              </a:lnSpc>
            </a:pPr>
            <a:r>
              <a:rPr lang="en-US" sz="5100" b="1">
                <a:solidFill>
                  <a:srgbClr val="13294B"/>
                </a:solidFill>
                <a:latin typeface="Cambria Bold" panose="02040803050406030204"/>
                <a:ea typeface="Cambria Bold" panose="02040803050406030204"/>
                <a:cs typeface="Cambria Bold" panose="02040803050406030204"/>
                <a:sym typeface="Cambria Bold" panose="02040803050406030204"/>
              </a:rPr>
              <a:t>50,26</a:t>
            </a:r>
            <a:endParaRPr lang="en-US" sz="51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32" name="TextBox 32"/>
          <p:cNvSpPr txBox="1"/>
          <p:nvPr/>
        </p:nvSpPr>
        <p:spPr>
          <a:xfrm>
            <a:off x="3634740" y="616648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B2</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3" name="Freeform 33"/>
          <p:cNvSpPr/>
          <p:nvPr/>
        </p:nvSpPr>
        <p:spPr>
          <a:xfrm>
            <a:off x="7047071" y="4989671"/>
            <a:ext cx="3393758" cy="2159317"/>
          </a:xfrm>
          <a:custGeom>
            <a:avLst/>
            <a:gdLst/>
            <a:ahLst/>
            <a:cxnLst/>
            <a:rect l="l" t="t" r="r" b="b"/>
            <a:pathLst>
              <a:path w="3393758" h="2159317">
                <a:moveTo>
                  <a:pt x="0" y="0"/>
                </a:moveTo>
                <a:lnTo>
                  <a:pt x="3393758" y="0"/>
                </a:lnTo>
                <a:lnTo>
                  <a:pt x="3393758" y="2159318"/>
                </a:lnTo>
                <a:lnTo>
                  <a:pt x="0" y="2159318"/>
                </a:lnTo>
                <a:lnTo>
                  <a:pt x="0" y="0"/>
                </a:lnTo>
                <a:close/>
              </a:path>
            </a:pathLst>
          </a:custGeom>
          <a:blipFill>
            <a:blip r:embed="rId7">
              <a:extLst>
                <a:ext uri="{96DAC541-7B7A-43D3-8B79-37D633B846F1}">
                  <asvg:svgBlip xmlns:asvg="http://schemas.microsoft.com/office/drawing/2016/SVG/main" r:embed="rId8"/>
                </a:ext>
              </a:extLst>
            </a:blip>
            <a:stretch>
              <a:fillRect l="-31" r="-31"/>
            </a:stretch>
          </a:blipFill>
        </p:spPr>
        <p:txBody>
          <a:bodyPr/>
          <a:p/>
        </p:txBody>
      </p:sp>
      <p:sp>
        <p:nvSpPr>
          <p:cNvPr id="34" name="TextBox 34"/>
          <p:cNvSpPr txBox="1"/>
          <p:nvPr/>
        </p:nvSpPr>
        <p:spPr>
          <a:xfrm>
            <a:off x="7063740" y="5224653"/>
            <a:ext cx="3360420" cy="1057275"/>
          </a:xfrm>
          <a:prstGeom prst="rect">
            <a:avLst/>
          </a:prstGeom>
        </p:spPr>
        <p:txBody>
          <a:bodyPr lIns="0" tIns="0" rIns="0" bIns="0" rtlCol="0" anchor="t">
            <a:spAutoFit/>
          </a:bodyPr>
          <a:lstStyle/>
          <a:p>
            <a:pPr algn="ctr">
              <a:lnSpc>
                <a:spcPts val="6120"/>
              </a:lnSpc>
            </a:pPr>
            <a:r>
              <a:rPr lang="en-US" sz="5100" b="1">
                <a:solidFill>
                  <a:srgbClr val="E8A33D"/>
                </a:solidFill>
                <a:latin typeface="Cambria Bold" panose="02040803050406030204"/>
                <a:ea typeface="Cambria Bold" panose="02040803050406030204"/>
                <a:cs typeface="Cambria Bold" panose="02040803050406030204"/>
                <a:sym typeface="Cambria Bold" panose="02040803050406030204"/>
              </a:rPr>
              <a:t>53,35</a:t>
            </a:r>
            <a:endParaRPr lang="en-US" sz="51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35" name="TextBox 35"/>
          <p:cNvSpPr txBox="1"/>
          <p:nvPr/>
        </p:nvSpPr>
        <p:spPr>
          <a:xfrm>
            <a:off x="7200900" y="6166485"/>
            <a:ext cx="3086100" cy="760095"/>
          </a:xfrm>
          <a:prstGeom prst="rect">
            <a:avLst/>
          </a:prstGeom>
        </p:spPr>
        <p:txBody>
          <a:bodyPr lIns="0" tIns="0" rIns="0" bIns="0" rtlCol="0" anchor="t">
            <a:spAutoFit/>
          </a:bodyPr>
          <a:lstStyle/>
          <a:p>
            <a:pPr algn="ctr">
              <a:lnSpc>
                <a:spcPts val="2340"/>
              </a:lnSpc>
            </a:pPr>
            <a:r>
              <a:rPr lang="en-US" sz="1950">
                <a:solidFill>
                  <a:srgbClr val="243044"/>
                </a:solidFill>
                <a:latin typeface="Calibri (MS)" panose="020F0502020204030204"/>
                <a:ea typeface="Calibri (MS)" panose="020F0502020204030204"/>
                <a:cs typeface="Calibri (MS)" panose="020F0502020204030204"/>
                <a:sym typeface="Calibri (MS)" panose="020F0502020204030204"/>
              </a:rPr>
              <a:t>B3-full (đề xuất)</a:t>
            </a:r>
            <a:endParaRPr lang="en-US" sz="19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6" name="TextBox 36"/>
          <p:cNvSpPr txBox="1"/>
          <p:nvPr/>
        </p:nvSpPr>
        <p:spPr>
          <a:xfrm>
            <a:off x="3497580" y="7182612"/>
            <a:ext cx="6926580" cy="594360"/>
          </a:xfrm>
          <a:prstGeom prst="rect">
            <a:avLst/>
          </a:prstGeom>
        </p:spPr>
        <p:txBody>
          <a:bodyPr lIns="0" tIns="0" rIns="0" bIns="0" rtlCol="0" anchor="t">
            <a:spAutoFit/>
          </a:bodyPr>
          <a:lstStyle/>
          <a:p>
            <a:pPr algn="ctr">
              <a:lnSpc>
                <a:spcPts val="2160"/>
              </a:lnSpc>
            </a:pPr>
            <a:r>
              <a:rPr lang="en-US" sz="1800">
                <a:solidFill>
                  <a:srgbClr val="6B7280"/>
                </a:solidFill>
                <a:latin typeface="Calibri (MS)" panose="020F0502020204030204"/>
                <a:ea typeface="Calibri (MS)" panose="020F0502020204030204"/>
                <a:cs typeface="Calibri (MS)" panose="020F0502020204030204"/>
                <a:sym typeface="Calibri (MS)" panose="020F0502020204030204"/>
              </a:rPr>
              <a:t>EM (%), ViTextVQA full test (10.028 câu), seed 42</a:t>
            </a:r>
            <a:endParaRPr lang="en-US" sz="1800">
              <a:solidFill>
                <a:srgbClr val="6B7280"/>
              </a:solidFill>
              <a:latin typeface="Calibri (MS)" panose="020F0502020204030204"/>
              <a:ea typeface="Calibri (MS)" panose="020F0502020204030204"/>
              <a:cs typeface="Calibri (MS)" panose="020F0502020204030204"/>
              <a:sym typeface="Calibri (MS)" panose="020F0502020204030204"/>
            </a:endParaRPr>
          </a:p>
        </p:txBody>
      </p:sp>
      <p:sp>
        <p:nvSpPr>
          <p:cNvPr id="37" name="Freeform 37"/>
          <p:cNvSpPr/>
          <p:nvPr/>
        </p:nvSpPr>
        <p:spPr>
          <a:xfrm>
            <a:off x="11024711" y="2040731"/>
            <a:ext cx="6456521" cy="3188017"/>
          </a:xfrm>
          <a:custGeom>
            <a:avLst/>
            <a:gdLst/>
            <a:ahLst/>
            <a:cxnLst/>
            <a:rect l="l" t="t" r="r" b="b"/>
            <a:pathLst>
              <a:path w="6456521" h="3188017">
                <a:moveTo>
                  <a:pt x="0" y="0"/>
                </a:moveTo>
                <a:lnTo>
                  <a:pt x="6456521" y="0"/>
                </a:lnTo>
                <a:lnTo>
                  <a:pt x="6456521" y="3188018"/>
                </a:lnTo>
                <a:lnTo>
                  <a:pt x="0" y="3188018"/>
                </a:lnTo>
                <a:lnTo>
                  <a:pt x="0" y="0"/>
                </a:lnTo>
                <a:close/>
              </a:path>
            </a:pathLst>
          </a:custGeom>
          <a:blipFill>
            <a:blip r:embed="rId9">
              <a:extLst>
                <a:ext uri="{96DAC541-7B7A-43D3-8B79-37D633B846F1}">
                  <asvg:svgBlip xmlns:asvg="http://schemas.microsoft.com/office/drawing/2016/SVG/main" r:embed="rId10"/>
                </a:ext>
              </a:extLst>
            </a:blip>
            <a:stretch>
              <a:fillRect t="-33" b="-33"/>
            </a:stretch>
          </a:blipFill>
        </p:spPr>
        <p:txBody>
          <a:bodyPr/>
          <a:p/>
        </p:txBody>
      </p:sp>
      <p:sp>
        <p:nvSpPr>
          <p:cNvPr id="38" name="TextBox 38"/>
          <p:cNvSpPr txBox="1"/>
          <p:nvPr/>
        </p:nvSpPr>
        <p:spPr>
          <a:xfrm>
            <a:off x="11384280" y="2107692"/>
            <a:ext cx="573740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Kiểm định ghép cặp (McNemar, EM)</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39" name="TextBox 39"/>
          <p:cNvSpPr txBox="1"/>
          <p:nvPr/>
        </p:nvSpPr>
        <p:spPr>
          <a:xfrm>
            <a:off x="11384280" y="2668905"/>
            <a:ext cx="5737403" cy="247459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OCR ở 23% dữ liệu: +2,54 (p = 10⁻¹⁴)</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OCR ở 100% dữ liệu: +3,09 (705 so với 395 câu, p = 7 × 10⁻²¹)</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ΔANLS +1,87 (CI95 +1,38 đến +2,36)</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Hơn ViTextBLIP-2: 25,48 EM / 53,95 F1</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40" name="Freeform 40"/>
          <p:cNvSpPr/>
          <p:nvPr/>
        </p:nvSpPr>
        <p:spPr>
          <a:xfrm>
            <a:off x="11024711" y="5469731"/>
            <a:ext cx="6456521" cy="1953578"/>
          </a:xfrm>
          <a:custGeom>
            <a:avLst/>
            <a:gdLst/>
            <a:ahLst/>
            <a:cxnLst/>
            <a:rect l="l" t="t" r="r" b="b"/>
            <a:pathLst>
              <a:path w="6456521" h="1953578">
                <a:moveTo>
                  <a:pt x="0" y="0"/>
                </a:moveTo>
                <a:lnTo>
                  <a:pt x="6456521" y="0"/>
                </a:lnTo>
                <a:lnTo>
                  <a:pt x="6456521" y="1953578"/>
                </a:lnTo>
                <a:lnTo>
                  <a:pt x="0" y="1953578"/>
                </a:lnTo>
                <a:lnTo>
                  <a:pt x="0" y="0"/>
                </a:lnTo>
                <a:close/>
              </a:path>
            </a:pathLst>
          </a:custGeom>
          <a:blipFill>
            <a:blip r:embed="rId11">
              <a:extLst>
                <a:ext uri="{96DAC541-7B7A-43D3-8B79-37D633B846F1}">
                  <asvg:svgBlip xmlns:asvg="http://schemas.microsoft.com/office/drawing/2016/SVG/main" r:embed="rId12"/>
                </a:ext>
              </a:extLst>
            </a:blip>
            <a:stretch>
              <a:fillRect t="-208" b="-208"/>
            </a:stretch>
          </a:blipFill>
        </p:spPr>
        <p:txBody>
          <a:bodyPr/>
          <a:p/>
        </p:txBody>
      </p:sp>
      <p:grpSp>
        <p:nvGrpSpPr>
          <p:cNvPr id="41" name="Group 41"/>
          <p:cNvGrpSpPr/>
          <p:nvPr/>
        </p:nvGrpSpPr>
        <p:grpSpPr>
          <a:xfrm rot="0">
            <a:off x="11384280" y="5486400"/>
            <a:ext cx="5737384" cy="1920240"/>
            <a:chOff x="0" y="0"/>
            <a:chExt cx="7649845" cy="2560320"/>
          </a:xfrm>
        </p:grpSpPr>
        <p:sp>
          <p:nvSpPr>
            <p:cNvPr id="42" name="Freeform 42"/>
            <p:cNvSpPr/>
            <p:nvPr/>
          </p:nvSpPr>
          <p:spPr>
            <a:xfrm>
              <a:off x="0" y="0"/>
              <a:ext cx="7649845" cy="2560320"/>
            </a:xfrm>
            <a:custGeom>
              <a:avLst/>
              <a:gdLst/>
              <a:ahLst/>
              <a:cxnLst/>
              <a:rect l="l" t="t" r="r" b="b"/>
              <a:pathLst>
                <a:path w="7649845" h="2560320">
                  <a:moveTo>
                    <a:pt x="0" y="0"/>
                  </a:moveTo>
                  <a:lnTo>
                    <a:pt x="7649845" y="0"/>
                  </a:lnTo>
                  <a:lnTo>
                    <a:pt x="7649845" y="2560320"/>
                  </a:lnTo>
                  <a:lnTo>
                    <a:pt x="0" y="2560320"/>
                  </a:lnTo>
                  <a:close/>
                </a:path>
              </a:pathLst>
            </a:custGeom>
            <a:blipFill>
              <a:blip r:embed="rId1">
                <a:alphaModFix amt="0"/>
              </a:blip>
              <a:stretch>
                <a:fillRect t="-8178" b="-8177"/>
              </a:stretch>
            </a:blipFill>
          </p:spPr>
          <p:txBody>
            <a:bodyPr/>
            <a:p/>
          </p:txBody>
        </p:sp>
      </p:grpSp>
      <p:grpSp>
        <p:nvGrpSpPr>
          <p:cNvPr id="43" name="Group 43"/>
          <p:cNvGrpSpPr/>
          <p:nvPr/>
        </p:nvGrpSpPr>
        <p:grpSpPr>
          <a:xfrm rot="0">
            <a:off x="11384280" y="5443538"/>
            <a:ext cx="5737403" cy="1963102"/>
            <a:chOff x="0" y="0"/>
            <a:chExt cx="7649870" cy="2617470"/>
          </a:xfrm>
        </p:grpSpPr>
        <p:sp>
          <p:nvSpPr>
            <p:cNvPr id="44" name="Freeform 44"/>
            <p:cNvSpPr/>
            <p:nvPr/>
          </p:nvSpPr>
          <p:spPr>
            <a:xfrm>
              <a:off x="0" y="0"/>
              <a:ext cx="7649845" cy="2617470"/>
            </a:xfrm>
            <a:custGeom>
              <a:avLst/>
              <a:gdLst/>
              <a:ahLst/>
              <a:cxnLst/>
              <a:rect l="l" t="t" r="r" b="b"/>
              <a:pathLst>
                <a:path w="7649845" h="2617470">
                  <a:moveTo>
                    <a:pt x="0" y="0"/>
                  </a:moveTo>
                  <a:lnTo>
                    <a:pt x="7649845" y="0"/>
                  </a:lnTo>
                  <a:lnTo>
                    <a:pt x="7649845" y="2617470"/>
                  </a:lnTo>
                  <a:lnTo>
                    <a:pt x="0" y="2617470"/>
                  </a:lnTo>
                  <a:close/>
                </a:path>
              </a:pathLst>
            </a:custGeom>
            <a:blipFill>
              <a:blip r:embed="rId3">
                <a:alphaModFix amt="0"/>
              </a:blip>
              <a:stretch>
                <a:fillRect t="-6907" b="-6907"/>
              </a:stretch>
            </a:blipFill>
          </p:spPr>
          <p:txBody>
            <a:bodyPr/>
            <a:p/>
          </p:txBody>
        </p:sp>
      </p:grpSp>
      <p:grpSp>
        <p:nvGrpSpPr>
          <p:cNvPr id="45" name="Group 45"/>
          <p:cNvGrpSpPr/>
          <p:nvPr/>
        </p:nvGrpSpPr>
        <p:grpSpPr>
          <a:xfrm rot="0">
            <a:off x="11384280" y="5400675"/>
            <a:ext cx="5737403" cy="2005965"/>
            <a:chOff x="0" y="0"/>
            <a:chExt cx="7649870" cy="2674620"/>
          </a:xfrm>
        </p:grpSpPr>
        <p:sp>
          <p:nvSpPr>
            <p:cNvPr id="46" name="Freeform 46"/>
            <p:cNvSpPr/>
            <p:nvPr/>
          </p:nvSpPr>
          <p:spPr>
            <a:xfrm>
              <a:off x="0" y="0"/>
              <a:ext cx="7649871" cy="2674619"/>
            </a:xfrm>
            <a:custGeom>
              <a:avLst/>
              <a:gdLst/>
              <a:ahLst/>
              <a:cxnLst/>
              <a:rect l="l" t="t" r="r" b="b"/>
              <a:pathLst>
                <a:path w="7649871" h="2674619">
                  <a:moveTo>
                    <a:pt x="0" y="0"/>
                  </a:moveTo>
                  <a:lnTo>
                    <a:pt x="7649871" y="0"/>
                  </a:lnTo>
                  <a:lnTo>
                    <a:pt x="7649871" y="2674619"/>
                  </a:lnTo>
                  <a:lnTo>
                    <a:pt x="0" y="2674619"/>
                  </a:lnTo>
                  <a:close/>
                </a:path>
              </a:pathLst>
            </a:custGeom>
            <a:blipFill>
              <a:blip r:embed="rId4">
                <a:alphaModFix amt="0"/>
              </a:blip>
              <a:stretch>
                <a:fillRect t="-5730" b="-5730"/>
              </a:stretch>
            </a:blipFill>
          </p:spPr>
          <p:txBody>
            <a:bodyPr/>
            <a:p/>
          </p:txBody>
        </p:sp>
        <p:sp>
          <p:nvSpPr>
            <p:cNvPr id="47" name="TextBox 47"/>
            <p:cNvSpPr txBox="1"/>
            <p:nvPr/>
          </p:nvSpPr>
          <p:spPr>
            <a:xfrm>
              <a:off x="0" y="-57150"/>
              <a:ext cx="7649870" cy="2731770"/>
            </a:xfrm>
            <a:prstGeom prst="rect">
              <a:avLst/>
            </a:prstGeom>
          </p:spPr>
          <p:txBody>
            <a:bodyPr lIns="0" tIns="0" rIns="0" bIns="0" rtlCol="0" anchor="ct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Tương tác dữ liệu × OCR +0,55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(CI95 −0,20 đến +1,29) → lợi ích của OCR không giảm khi thêm dữ liệu</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sp>
        <p:nvSpPr>
          <p:cNvPr id="48" name="Freeform 48"/>
          <p:cNvSpPr/>
          <p:nvPr/>
        </p:nvSpPr>
        <p:spPr>
          <a:xfrm>
            <a:off x="806291" y="8007191"/>
            <a:ext cx="16674941" cy="1404938"/>
          </a:xfrm>
          <a:custGeom>
            <a:avLst/>
            <a:gdLst/>
            <a:ahLst/>
            <a:cxnLst/>
            <a:rect l="l" t="t" r="r" b="b"/>
            <a:pathLst>
              <a:path w="16674941" h="1404938">
                <a:moveTo>
                  <a:pt x="0" y="0"/>
                </a:moveTo>
                <a:lnTo>
                  <a:pt x="16674941" y="0"/>
                </a:lnTo>
                <a:lnTo>
                  <a:pt x="16674941" y="1404938"/>
                </a:lnTo>
                <a:lnTo>
                  <a:pt x="0" y="1404938"/>
                </a:lnTo>
                <a:lnTo>
                  <a:pt x="0" y="0"/>
                </a:lnTo>
                <a:close/>
              </a:path>
            </a:pathLst>
          </a:custGeom>
          <a:blipFill>
            <a:blip r:embed="rId13">
              <a:extLst>
                <a:ext uri="{96DAC541-7B7A-43D3-8B79-37D633B846F1}">
                  <asvg:svgBlip xmlns:asvg="http://schemas.microsoft.com/office/drawing/2016/SVG/main" r:embed="rId14"/>
                </a:ext>
              </a:extLst>
            </a:blip>
            <a:stretch>
              <a:fillRect t="-159" b="-159"/>
            </a:stretch>
          </a:blipFill>
        </p:spPr>
        <p:txBody>
          <a:bodyPr/>
          <a:p/>
        </p:txBody>
      </p:sp>
      <p:grpSp>
        <p:nvGrpSpPr>
          <p:cNvPr id="49" name="Group 49"/>
          <p:cNvGrpSpPr/>
          <p:nvPr/>
        </p:nvGrpSpPr>
        <p:grpSpPr>
          <a:xfrm rot="0">
            <a:off x="1234440" y="8023860"/>
            <a:ext cx="15818644" cy="1371600"/>
            <a:chOff x="0" y="0"/>
            <a:chExt cx="21091525" cy="1828800"/>
          </a:xfrm>
        </p:grpSpPr>
        <p:sp>
          <p:nvSpPr>
            <p:cNvPr id="50" name="Freeform 50"/>
            <p:cNvSpPr/>
            <p:nvPr/>
          </p:nvSpPr>
          <p:spPr>
            <a:xfrm>
              <a:off x="0" y="0"/>
              <a:ext cx="21091525" cy="1828800"/>
            </a:xfrm>
            <a:custGeom>
              <a:avLst/>
              <a:gdLst/>
              <a:ahLst/>
              <a:cxnLst/>
              <a:rect l="l" t="t" r="r" b="b"/>
              <a:pathLst>
                <a:path w="21091525" h="1828800">
                  <a:moveTo>
                    <a:pt x="0" y="0"/>
                  </a:moveTo>
                  <a:lnTo>
                    <a:pt x="21091525" y="0"/>
                  </a:lnTo>
                  <a:lnTo>
                    <a:pt x="21091525" y="1828800"/>
                  </a:lnTo>
                  <a:lnTo>
                    <a:pt x="0" y="1828800"/>
                  </a:lnTo>
                  <a:close/>
                </a:path>
              </a:pathLst>
            </a:custGeom>
            <a:blipFill>
              <a:blip r:embed="rId1">
                <a:alphaModFix amt="0"/>
              </a:blip>
              <a:stretch>
                <a:fillRect t="-174564" b="-174564"/>
              </a:stretch>
            </a:blipFill>
          </p:spPr>
          <p:txBody>
            <a:bodyPr/>
            <a:p/>
          </p:txBody>
        </p:sp>
      </p:grpSp>
      <p:grpSp>
        <p:nvGrpSpPr>
          <p:cNvPr id="51" name="Group 51"/>
          <p:cNvGrpSpPr/>
          <p:nvPr/>
        </p:nvGrpSpPr>
        <p:grpSpPr>
          <a:xfrm rot="0">
            <a:off x="1234440" y="7980997"/>
            <a:ext cx="15818663" cy="1414462"/>
            <a:chOff x="0" y="0"/>
            <a:chExt cx="21091550" cy="1885950"/>
          </a:xfrm>
        </p:grpSpPr>
        <p:sp>
          <p:nvSpPr>
            <p:cNvPr id="52" name="Freeform 52"/>
            <p:cNvSpPr/>
            <p:nvPr/>
          </p:nvSpPr>
          <p:spPr>
            <a:xfrm>
              <a:off x="0" y="0"/>
              <a:ext cx="21091525" cy="1885950"/>
            </a:xfrm>
            <a:custGeom>
              <a:avLst/>
              <a:gdLst/>
              <a:ahLst/>
              <a:cxnLst/>
              <a:rect l="l" t="t" r="r" b="b"/>
              <a:pathLst>
                <a:path w="21091525" h="1885950">
                  <a:moveTo>
                    <a:pt x="0" y="0"/>
                  </a:moveTo>
                  <a:lnTo>
                    <a:pt x="21091525" y="0"/>
                  </a:lnTo>
                  <a:lnTo>
                    <a:pt x="21091525" y="1885950"/>
                  </a:lnTo>
                  <a:lnTo>
                    <a:pt x="0" y="1885950"/>
                  </a:lnTo>
                  <a:close/>
                </a:path>
              </a:pathLst>
            </a:custGeom>
            <a:blipFill>
              <a:blip r:embed="rId3">
                <a:alphaModFix amt="0"/>
              </a:blip>
              <a:stretch>
                <a:fillRect t="-167759" b="-167759"/>
              </a:stretch>
            </a:blipFill>
          </p:spPr>
          <p:txBody>
            <a:bodyPr/>
            <a:p/>
          </p:txBody>
        </p:sp>
      </p:grpSp>
      <p:grpSp>
        <p:nvGrpSpPr>
          <p:cNvPr id="53" name="Group 53"/>
          <p:cNvGrpSpPr/>
          <p:nvPr/>
        </p:nvGrpSpPr>
        <p:grpSpPr>
          <a:xfrm rot="0">
            <a:off x="1234440" y="7938135"/>
            <a:ext cx="15818663" cy="1457325"/>
            <a:chOff x="0" y="0"/>
            <a:chExt cx="21091550" cy="1943100"/>
          </a:xfrm>
        </p:grpSpPr>
        <p:sp>
          <p:nvSpPr>
            <p:cNvPr id="54" name="Freeform 54"/>
            <p:cNvSpPr/>
            <p:nvPr/>
          </p:nvSpPr>
          <p:spPr>
            <a:xfrm>
              <a:off x="0" y="0"/>
              <a:ext cx="21091551" cy="1943099"/>
            </a:xfrm>
            <a:custGeom>
              <a:avLst/>
              <a:gdLst/>
              <a:ahLst/>
              <a:cxnLst/>
              <a:rect l="l" t="t" r="r" b="b"/>
              <a:pathLst>
                <a:path w="21091551" h="1943099">
                  <a:moveTo>
                    <a:pt x="0" y="0"/>
                  </a:moveTo>
                  <a:lnTo>
                    <a:pt x="21091551" y="0"/>
                  </a:lnTo>
                  <a:lnTo>
                    <a:pt x="21091551" y="1943099"/>
                  </a:lnTo>
                  <a:lnTo>
                    <a:pt x="0" y="1943099"/>
                  </a:lnTo>
                  <a:close/>
                </a:path>
              </a:pathLst>
            </a:custGeom>
            <a:blipFill>
              <a:blip r:embed="rId4">
                <a:alphaModFix amt="0"/>
              </a:blip>
              <a:stretch>
                <a:fillRect t="-161502" b="-161502"/>
              </a:stretch>
            </a:blipFill>
          </p:spPr>
          <p:txBody>
            <a:bodyPr/>
            <a:p/>
          </p:txBody>
        </p:sp>
        <p:sp>
          <p:nvSpPr>
            <p:cNvPr id="55" name="TextBox 55"/>
            <p:cNvSpPr txBox="1"/>
            <p:nvPr/>
          </p:nvSpPr>
          <p:spPr>
            <a:xfrm>
              <a:off x="0" y="-57150"/>
              <a:ext cx="21091550" cy="2000250"/>
            </a:xfrm>
            <a:prstGeom prst="rect">
              <a:avLst/>
            </a:prstGeom>
          </p:spPr>
          <p:txBody>
            <a:bodyPr lIns="0" tIns="0" rIns="0" bIns="0" rtlCol="0" anchor="ctr"/>
            <a:lstStyle/>
            <a:p>
              <a:pPr algn="l">
                <a:lnSpc>
                  <a:spcPts val="2700"/>
                </a:lnSpc>
              </a:pPr>
              <a:r>
                <a:rPr lang="en-US" sz="2250" b="1">
                  <a:solidFill>
                    <a:srgbClr val="13294B"/>
                  </a:solidFill>
                  <a:latin typeface="Calibri (MS) Bold" panose="020F0702030404030204"/>
                  <a:ea typeface="Calibri (MS) Bold" panose="020F0702030404030204"/>
                  <a:cs typeface="Calibri (MS) Bold" panose="020F0702030404030204"/>
                  <a:sym typeface="Calibri (MS) Bold" panose="020F0702030404030204"/>
                </a:rPr>
                <a:t>Kết luận  </a:t>
              </a:r>
              <a:r>
                <a:rPr lang="en-US" sz="2250">
                  <a:solidFill>
                    <a:srgbClr val="243044"/>
                  </a:solidFill>
                  <a:latin typeface="Calibri (MS)" panose="020F0502020204030204"/>
                  <a:ea typeface="Calibri (MS)" panose="020F0502020204030204"/>
                  <a:cs typeface="Calibri (MS)" panose="020F0502020204030204"/>
                  <a:sym typeface="Calibri (MS)" panose="020F0502020204030204"/>
                </a:rPr>
                <a:t>B3-full là mô hình ViTextVQA chính thức: EM 53,35 / F1 73,73 — EM gấp đôi SOTA công bố; 12,8 h train trên một L4 (B2: 12,0 h).</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grpSp>
        <p:nvGrpSpPr>
          <p:cNvPr id="56" name="Group 56"/>
          <p:cNvGrpSpPr/>
          <p:nvPr/>
        </p:nvGrpSpPr>
        <p:grpSpPr>
          <a:xfrm rot="0">
            <a:off x="822960" y="9641205"/>
            <a:ext cx="13716000" cy="440055"/>
            <a:chOff x="0" y="0"/>
            <a:chExt cx="18288000" cy="586740"/>
          </a:xfrm>
        </p:grpSpPr>
        <p:sp>
          <p:nvSpPr>
            <p:cNvPr id="57" name="Freeform 57"/>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3">
                <a:alphaModFix amt="0"/>
              </a:blip>
              <a:stretch>
                <a:fillRect t="-556902" b="-556904"/>
              </a:stretch>
            </a:blipFill>
          </p:spPr>
          <p:txBody>
            <a:bodyPr/>
            <a:p/>
          </p:txBody>
        </p:sp>
      </p:grpSp>
      <p:grpSp>
        <p:nvGrpSpPr>
          <p:cNvPr id="58" name="Group 58"/>
          <p:cNvGrpSpPr/>
          <p:nvPr/>
        </p:nvGrpSpPr>
        <p:grpSpPr>
          <a:xfrm rot="0">
            <a:off x="822960" y="9612630"/>
            <a:ext cx="13716000" cy="468630"/>
            <a:chOff x="0" y="0"/>
            <a:chExt cx="18288000" cy="624840"/>
          </a:xfrm>
        </p:grpSpPr>
        <p:sp>
          <p:nvSpPr>
            <p:cNvPr id="59" name="Freeform 59"/>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4">
                <a:alphaModFix amt="0"/>
              </a:blip>
              <a:stretch>
                <a:fillRect t="-520293" b="-520293"/>
              </a:stretch>
            </a:blipFill>
          </p:spPr>
          <p:txBody>
            <a:bodyPr/>
            <a:p/>
          </p:txBody>
        </p:sp>
        <p:sp>
          <p:nvSpPr>
            <p:cNvPr id="60" name="TextBox 60"/>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GIẢ THUYẾT</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Bằng chứng đến thời điểm này</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6" name="Table 6"/>
          <p:cNvGraphicFramePr>
            <a:graphicFrameLocks noGrp="1"/>
          </p:cNvGraphicFramePr>
          <p:nvPr/>
        </p:nvGraphicFramePr>
        <p:xfrm>
          <a:off x="822960" y="2057400"/>
          <a:ext cx="16586200" cy="5067300"/>
        </p:xfrm>
        <a:graphic>
          <a:graphicData uri="http://schemas.openxmlformats.org/drawingml/2006/table">
            <a:tbl>
              <a:tblPr/>
              <a:tblGrid>
                <a:gridCol w="7091442"/>
                <a:gridCol w="6726660"/>
                <a:gridCol w="2768098"/>
              </a:tblGrid>
              <a:tr h="7239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Giả thuyết (slide 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Bằng chứng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Trạng thái</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H1  QLoRA ≥ +5 EM so với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+51,7 (ViVQA), +21,1 (ViTextVQA đầy đủ), p ≈ 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Ủng hộ</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H2  Chữ OCR ≥ +3 ANLS, tốt nhất khi kết hợp QLoRA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Tương tác +4,9 EM; đủ dữ liệu +3,1 EM (p ≈ 10⁻²¹); nhưng ANLS +1,87 (&lt; +3)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E8A33D"/>
                          </a:solidFill>
                          <a:latin typeface="Calibri (MS) Bold" panose="020F0702030404030204"/>
                          <a:ea typeface="Calibri (MS) Bold" panose="020F0702030404030204"/>
                          <a:cs typeface="Calibri (MS) Bold" panose="020F0702030404030204"/>
                          <a:sym typeface="Calibri (MS) Bold" panose="020F0702030404030204"/>
                        </a:rPr>
                        <a:t>Một phần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H3  Prompt định dạng tiếng Việt ≥ +3 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Dạng few-shot: −2,1 / −1,2 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B42318"/>
                          </a:solidFill>
                          <a:latin typeface="Calibri (MS) Bold" panose="020F0702030404030204"/>
                          <a:ea typeface="Calibri (MS) Bold" panose="020F0702030404030204"/>
                          <a:cs typeface="Calibri (MS) Bold" panose="020F0702030404030204"/>
                          <a:sym typeface="Calibri (MS) Bold" panose="020F0702030404030204"/>
                        </a:rPr>
                        <a:t>Chưa ủng hộ</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H4  QLoRA không làm tăng hallucination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POPE tiếng Việt (500 ảnh chưa thấy, 4.985 câu): B3-full không tăng (ΔF1 +5,5 / +3,7 / +2,5); C3 chưa kết luận (91% câu trả lời không theo dạng có/không)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E8A33D"/>
                          </a:solidFill>
                          <a:latin typeface="Calibri (MS) Bold" panose="020F0702030404030204"/>
                          <a:ea typeface="Calibri (MS) Bold" panose="020F0702030404030204"/>
                          <a:cs typeface="Calibri (MS) Bold" panose="020F0702030404030204"/>
                          <a:sym typeface="Calibri (MS) Bold" panose="020F0702030404030204"/>
                        </a:rPr>
                        <a:t>Một phần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Hiệu quả (số đo, không phải giả thuyết)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4-bit giữ 94,5% độ chính xác; VRAM −77%; adapter dùng chung không kém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Đã đo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7239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Ablation A1 (module), A2 (rank)</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A1 −0,55 (p = 0,34); A2 +1,05 (p = 0,07) → giữ r = 16, q, k, v, 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b="1">
                          <a:solidFill>
                            <a:srgbClr val="6B7280"/>
                          </a:solidFill>
                          <a:latin typeface="Calibri (MS) Bold" panose="020F0702030404030204"/>
                          <a:ea typeface="Calibri (MS) Bold" panose="020F0702030404030204"/>
                          <a:cs typeface="Calibri (MS) Bold" panose="020F0702030404030204"/>
                          <a:sym typeface="Calibri (MS) Bold" panose="020F0702030404030204"/>
                        </a:rPr>
                        <a:t>Đã làm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Freeform 7"/>
          <p:cNvSpPr/>
          <p:nvPr/>
        </p:nvSpPr>
        <p:spPr>
          <a:xfrm>
            <a:off x="806291" y="7664291"/>
            <a:ext cx="16674941" cy="1747838"/>
          </a:xfrm>
          <a:custGeom>
            <a:avLst/>
            <a:gdLst/>
            <a:ahLst/>
            <a:cxnLst/>
            <a:rect l="l" t="t" r="r" b="b"/>
            <a:pathLst>
              <a:path w="16674941" h="1747838">
                <a:moveTo>
                  <a:pt x="0" y="0"/>
                </a:moveTo>
                <a:lnTo>
                  <a:pt x="16674941" y="0"/>
                </a:lnTo>
                <a:lnTo>
                  <a:pt x="16674941" y="1747838"/>
                </a:lnTo>
                <a:lnTo>
                  <a:pt x="0" y="1747838"/>
                </a:lnTo>
                <a:lnTo>
                  <a:pt x="0" y="0"/>
                </a:lnTo>
                <a:close/>
              </a:path>
            </a:pathLst>
          </a:custGeom>
          <a:blipFill>
            <a:blip r:embed="rId2">
              <a:extLst>
                <a:ext uri="{96DAC541-7B7A-43D3-8B79-37D633B846F1}">
                  <asvg:svgBlip xmlns:asvg="http://schemas.microsoft.com/office/drawing/2016/SVG/main" r:embed="rId3"/>
                </a:ext>
              </a:extLst>
            </a:blip>
            <a:stretch>
              <a:fillRect t="-126" b="-125"/>
            </a:stretch>
          </a:blipFill>
        </p:spPr>
        <p:txBody>
          <a:bodyPr/>
          <a:p/>
        </p:txBody>
      </p:sp>
      <p:grpSp>
        <p:nvGrpSpPr>
          <p:cNvPr id="8" name="Group 8"/>
          <p:cNvGrpSpPr/>
          <p:nvPr/>
        </p:nvGrpSpPr>
        <p:grpSpPr>
          <a:xfrm rot="0">
            <a:off x="1303020" y="7680960"/>
            <a:ext cx="15681484" cy="1714500"/>
            <a:chOff x="0" y="0"/>
            <a:chExt cx="20908645" cy="2286000"/>
          </a:xfrm>
        </p:grpSpPr>
        <p:sp>
          <p:nvSpPr>
            <p:cNvPr id="9" name="Freeform 9"/>
            <p:cNvSpPr/>
            <p:nvPr/>
          </p:nvSpPr>
          <p:spPr>
            <a:xfrm>
              <a:off x="0" y="0"/>
              <a:ext cx="20908645" cy="2286000"/>
            </a:xfrm>
            <a:custGeom>
              <a:avLst/>
              <a:gdLst/>
              <a:ahLst/>
              <a:cxnLst/>
              <a:rect l="l" t="t" r="r" b="b"/>
              <a:pathLst>
                <a:path w="20908645" h="2286000">
                  <a:moveTo>
                    <a:pt x="0" y="0"/>
                  </a:moveTo>
                  <a:lnTo>
                    <a:pt x="20908645" y="0"/>
                  </a:lnTo>
                  <a:lnTo>
                    <a:pt x="20908645" y="2286000"/>
                  </a:lnTo>
                  <a:lnTo>
                    <a:pt x="0" y="2286000"/>
                  </a:lnTo>
                  <a:close/>
                </a:path>
              </a:pathLst>
            </a:custGeom>
            <a:blipFill>
              <a:blip r:embed="rId1">
                <a:alphaModFix amt="0"/>
              </a:blip>
              <a:stretch>
                <a:fillRect t="-128093" b="-128093"/>
              </a:stretch>
            </a:blipFill>
          </p:spPr>
          <p:txBody>
            <a:bodyPr/>
            <a:p/>
          </p:txBody>
        </p:sp>
      </p:grpSp>
      <p:grpSp>
        <p:nvGrpSpPr>
          <p:cNvPr id="10" name="Group 10"/>
          <p:cNvGrpSpPr/>
          <p:nvPr/>
        </p:nvGrpSpPr>
        <p:grpSpPr>
          <a:xfrm rot="0">
            <a:off x="1303020" y="7638097"/>
            <a:ext cx="15681503" cy="1757362"/>
            <a:chOff x="0" y="0"/>
            <a:chExt cx="20908670" cy="2343150"/>
          </a:xfrm>
        </p:grpSpPr>
        <p:sp>
          <p:nvSpPr>
            <p:cNvPr id="11" name="Freeform 11"/>
            <p:cNvSpPr/>
            <p:nvPr/>
          </p:nvSpPr>
          <p:spPr>
            <a:xfrm>
              <a:off x="0" y="0"/>
              <a:ext cx="20908645" cy="2343150"/>
            </a:xfrm>
            <a:custGeom>
              <a:avLst/>
              <a:gdLst/>
              <a:ahLst/>
              <a:cxnLst/>
              <a:rect l="l" t="t" r="r" b="b"/>
              <a:pathLst>
                <a:path w="20908645" h="2343150">
                  <a:moveTo>
                    <a:pt x="0" y="0"/>
                  </a:moveTo>
                  <a:lnTo>
                    <a:pt x="20908645" y="0"/>
                  </a:lnTo>
                  <a:lnTo>
                    <a:pt x="20908645" y="2343150"/>
                  </a:lnTo>
                  <a:lnTo>
                    <a:pt x="0" y="2343150"/>
                  </a:lnTo>
                  <a:close/>
                </a:path>
              </a:pathLst>
            </a:custGeom>
            <a:blipFill>
              <a:blip r:embed="rId4">
                <a:alphaModFix amt="0"/>
              </a:blip>
              <a:stretch>
                <a:fillRect t="-123750" b="-123750"/>
              </a:stretch>
            </a:blipFill>
          </p:spPr>
          <p:txBody>
            <a:bodyPr/>
            <a:p/>
          </p:txBody>
        </p:sp>
      </p:grpSp>
      <p:grpSp>
        <p:nvGrpSpPr>
          <p:cNvPr id="12" name="Group 12"/>
          <p:cNvGrpSpPr/>
          <p:nvPr/>
        </p:nvGrpSpPr>
        <p:grpSpPr>
          <a:xfrm rot="0">
            <a:off x="1303020" y="7595235"/>
            <a:ext cx="15681503" cy="1800225"/>
            <a:chOff x="0" y="0"/>
            <a:chExt cx="20908670" cy="2400300"/>
          </a:xfrm>
        </p:grpSpPr>
        <p:sp>
          <p:nvSpPr>
            <p:cNvPr id="13" name="Freeform 13"/>
            <p:cNvSpPr/>
            <p:nvPr/>
          </p:nvSpPr>
          <p:spPr>
            <a:xfrm>
              <a:off x="0" y="0"/>
              <a:ext cx="20908671" cy="2400299"/>
            </a:xfrm>
            <a:custGeom>
              <a:avLst/>
              <a:gdLst/>
              <a:ahLst/>
              <a:cxnLst/>
              <a:rect l="l" t="t" r="r" b="b"/>
              <a:pathLst>
                <a:path w="20908671" h="2400299">
                  <a:moveTo>
                    <a:pt x="0" y="0"/>
                  </a:moveTo>
                  <a:lnTo>
                    <a:pt x="20908671" y="0"/>
                  </a:lnTo>
                  <a:lnTo>
                    <a:pt x="20908671" y="2400299"/>
                  </a:lnTo>
                  <a:lnTo>
                    <a:pt x="0" y="2400299"/>
                  </a:lnTo>
                  <a:close/>
                </a:path>
              </a:pathLst>
            </a:custGeom>
            <a:blipFill>
              <a:blip r:embed="rId5">
                <a:alphaModFix amt="0"/>
              </a:blip>
              <a:stretch>
                <a:fillRect t="-119731" b="-119731"/>
              </a:stretch>
            </a:blipFill>
          </p:spPr>
          <p:txBody>
            <a:bodyPr/>
            <a:p/>
          </p:txBody>
        </p:sp>
        <p:sp>
          <p:nvSpPr>
            <p:cNvPr id="14" name="TextBox 14"/>
            <p:cNvSpPr txBox="1"/>
            <p:nvPr/>
          </p:nvSpPr>
          <p:spPr>
            <a:xfrm>
              <a:off x="0" y="-57150"/>
              <a:ext cx="20908670" cy="2457450"/>
            </a:xfrm>
            <a:prstGeom prst="rect">
              <a:avLst/>
            </a:prstGeom>
          </p:spPr>
          <p:txBody>
            <a:bodyPr lIns="0" tIns="0" rIns="0" bIns="0" rtlCol="0" anchor="ctr"/>
            <a:lstStyle/>
            <a:p>
              <a:pPr algn="l">
                <a:lnSpc>
                  <a:spcPts val="2700"/>
                </a:lnSpc>
              </a:pPr>
              <a:r>
                <a:rPr lang="en-US" sz="2250">
                  <a:solidFill>
                    <a:srgbClr val="13294B"/>
                  </a:solidFill>
                  <a:latin typeface="Calibri (MS)" panose="020F0502020204030204"/>
                  <a:ea typeface="Calibri (MS)" panose="020F0502020204030204"/>
                  <a:cs typeface="Calibri (MS)" panose="020F0502020204030204"/>
                  <a:sym typeface="Calibri (MS)" panose="020F0502020204030204"/>
                </a:rPr>
                <a:t>RQ1: zero-shot EM 22,1 (ViVQA), 29,1 (ViTextVQA).  RQ2: QLoRA +51,7 / +21,1 EM.  RQ3: QLoRA nhận biết OCR +3,1 EM so với cùng QLoRA (full test, đủ dữ liệu).  RQ4: POPE tiếng Việt — B3-full không làm tăng hallucination; C3 chưa kết luận.</a:t>
              </a:r>
              <a:endParaRPr lang="en-US" sz="2250">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grpSp>
        <p:nvGrpSpPr>
          <p:cNvPr id="15" name="Group 15"/>
          <p:cNvGrpSpPr/>
          <p:nvPr/>
        </p:nvGrpSpPr>
        <p:grpSpPr>
          <a:xfrm rot="0">
            <a:off x="15458732" y="0"/>
            <a:ext cx="2829306" cy="1184338"/>
            <a:chOff x="0" y="0"/>
            <a:chExt cx="3772408" cy="1579118"/>
          </a:xfrm>
        </p:grpSpPr>
        <p:sp>
          <p:nvSpPr>
            <p:cNvPr id="16" name="Freeform 16"/>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6"/>
              <a:stretch>
                <a:fillRect/>
              </a:stretch>
            </a:blipFill>
          </p:spPr>
          <p:txBody>
            <a:bodyPr/>
            <a:p/>
          </p:txBody>
        </p:sp>
      </p:grpSp>
      <p:grpSp>
        <p:nvGrpSpPr>
          <p:cNvPr id="17" name="Group 17"/>
          <p:cNvGrpSpPr/>
          <p:nvPr/>
        </p:nvGrpSpPr>
        <p:grpSpPr>
          <a:xfrm rot="0">
            <a:off x="822960" y="9641205"/>
            <a:ext cx="13716000" cy="440055"/>
            <a:chOff x="0" y="0"/>
            <a:chExt cx="18288000" cy="586740"/>
          </a:xfrm>
        </p:grpSpPr>
        <p:sp>
          <p:nvSpPr>
            <p:cNvPr id="18" name="Freeform 18"/>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4">
                <a:alphaModFix amt="0"/>
              </a:blip>
              <a:stretch>
                <a:fillRect t="-556902" b="-556904"/>
              </a:stretch>
            </a:blipFill>
          </p:spPr>
          <p:txBody>
            <a:bodyPr/>
            <a:p/>
          </p:txBody>
        </p:sp>
      </p:grpSp>
      <p:grpSp>
        <p:nvGrpSpPr>
          <p:cNvPr id="19" name="Group 19"/>
          <p:cNvGrpSpPr/>
          <p:nvPr/>
        </p:nvGrpSpPr>
        <p:grpSpPr>
          <a:xfrm rot="0">
            <a:off x="822960" y="9612630"/>
            <a:ext cx="13716000" cy="468630"/>
            <a:chOff x="0" y="0"/>
            <a:chExt cx="18288000" cy="624840"/>
          </a:xfrm>
        </p:grpSpPr>
        <p:sp>
          <p:nvSpPr>
            <p:cNvPr id="20" name="Freeform 20"/>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5">
                <a:alphaModFix amt="0"/>
              </a:blip>
              <a:stretch>
                <a:fillRect t="-520293" b="-520293"/>
              </a:stretch>
            </a:blipFill>
          </p:spPr>
          <p:txBody>
            <a:bodyPr/>
            <a:p/>
          </p:txBody>
        </p:sp>
        <p:sp>
          <p:nvSpPr>
            <p:cNvPr id="21" name="TextBox 21"/>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bg_end.jpg"/>
          <p:cNvPicPr>
            <a:picLocks noChangeAspect="1"/>
          </p:cNvPicPr>
          <p:nvPr/>
        </p:nvPicPr>
        <p:blipFill>
          <a:blip r:embed="rId7"/>
          <a:stretch>
            <a:fillRect/>
          </a:stretch>
        </p:blipFill>
        <p:spPr>
          <a:xfrm>
            <a:off x="0" y="0"/>
            <a:ext cx="18288000" cy="10287000"/>
          </a:xfrm>
          <a:prstGeom prst="rect">
            <a:avLst/>
          </a:prstGeom>
        </p:spPr>
      </p:pic>
      <p:grpSp>
        <p:nvGrpSpPr>
          <p:cNvPr id="11" name="Group 11"/>
          <p:cNvGrpSpPr/>
          <p:nvPr/>
        </p:nvGrpSpPr>
        <p:grpSpPr>
          <a:xfrm rot="0">
            <a:off x="0" y="0"/>
            <a:ext cx="2829306" cy="1184338"/>
            <a:chOff x="0" y="0"/>
            <a:chExt cx="3772408" cy="1579118"/>
          </a:xfrm>
        </p:grpSpPr>
        <p:sp>
          <p:nvSpPr>
            <p:cNvPr id="12" name="Freeform 1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5"/>
              <a:stretch>
                <a:fillRect/>
              </a:stretch>
            </a:blipFill>
          </p:spPr>
          <p:txBody>
            <a:bodyPr/>
            <a:p/>
          </p:txBody>
        </p:sp>
      </p:grpSp>
      <p:sp>
        <p:nvSpPr>
          <p:cNvPr id="14" name="TextBox 13"/>
          <p:cNvSpPr txBox="1"/>
          <p:nvPr/>
        </p:nvSpPr>
        <p:spPr>
          <a:xfrm>
            <a:off x="1097280" y="2377440"/>
            <a:ext cx="7315200" cy="1280160"/>
          </a:xfrm>
          <a:prstGeom prst="rect">
            <a:avLst/>
          </a:prstGeom>
          <a:noFill/>
        </p:spPr>
        <p:txBody>
          <a:bodyPr wrap="square" anchor="t" lIns="0" rIns="0" tIns="0" bIns="0">
            <a:spAutoFit/>
          </a:bodyPr>
          <a:lstStyle/>
          <a:p>
            <a:pPr algn="l">
              <a:lnSpc>
                <a:spcPct val="106000"/>
              </a:lnSpc>
              <a:spcAft>
                <a:spcPts val="0"/>
              </a:spcAft>
            </a:pPr>
            <a:r>
              <a:rPr sz="5800" b="1">
                <a:solidFill>
                  <a:srgbClr val="FFFFFF"/>
                </a:solidFill>
                <a:latin typeface="Cambria Bold"/>
              </a:rPr>
              <a:t>Cảm ơn hội đồng</a:t>
            </a:r>
          </a:p>
        </p:txBody>
      </p:sp>
      <p:sp>
        <p:nvSpPr>
          <p:cNvPr id="15" name="TextBox 14"/>
          <p:cNvSpPr txBox="1"/>
          <p:nvPr/>
        </p:nvSpPr>
        <p:spPr>
          <a:xfrm>
            <a:off x="1097280" y="3749039"/>
            <a:ext cx="7132320" cy="640080"/>
          </a:xfrm>
          <a:prstGeom prst="rect">
            <a:avLst/>
          </a:prstGeom>
          <a:noFill/>
        </p:spPr>
        <p:txBody>
          <a:bodyPr wrap="square" anchor="t" lIns="0" rIns="0" tIns="0" bIns="0">
            <a:spAutoFit/>
          </a:bodyPr>
          <a:lstStyle/>
          <a:p>
            <a:pPr algn="l">
              <a:lnSpc>
                <a:spcPct val="106000"/>
              </a:lnSpc>
              <a:spcAft>
                <a:spcPts val="0"/>
              </a:spcAft>
            </a:pPr>
            <a:r>
              <a:rPr sz="2800" b="0">
                <a:solidFill>
                  <a:srgbClr val="E8A33D"/>
                </a:solidFill>
                <a:latin typeface="Calibri (MS)"/>
              </a:rPr>
              <a:t>Nhóm rất mong nhận được góp ý.</a:t>
            </a:r>
          </a:p>
        </p:txBody>
      </p:sp>
      <p:sp>
        <p:nvSpPr>
          <p:cNvPr id="16" name="TextBox 15"/>
          <p:cNvSpPr txBox="1"/>
          <p:nvPr/>
        </p:nvSpPr>
        <p:spPr>
          <a:xfrm>
            <a:off x="1097280" y="4846320"/>
            <a:ext cx="6949440" cy="1828800"/>
          </a:xfrm>
          <a:prstGeom prst="rect">
            <a:avLst/>
          </a:prstGeom>
          <a:noFill/>
        </p:spPr>
        <p:txBody>
          <a:bodyPr wrap="square" anchor="t" lIns="0" rIns="0" tIns="0" bIns="0">
            <a:spAutoFit/>
          </a:bodyPr>
          <a:lstStyle/>
          <a:p>
            <a:pPr algn="l">
              <a:lnSpc>
                <a:spcPct val="106000"/>
              </a:lnSpc>
              <a:spcAft>
                <a:spcPts val="0"/>
              </a:spcAft>
            </a:pPr>
            <a:r>
              <a:rPr sz="2100" b="0">
                <a:solidFill>
                  <a:srgbClr val="FFFFFF"/>
                </a:solidFill>
                <a:latin typeface="Calibri (MS)"/>
              </a:rPr>
              <a:t>Mọi con số trong bài đều có log và tái lập được: seed, config và giao thức đánh giá cố định.</a:t>
            </a:r>
          </a:p>
        </p:txBody>
      </p:sp>
      <p:sp>
        <p:nvSpPr>
          <p:cNvPr id="17" name="TextBox 16">
            <a:hlinkClick r:id="rId8"/>
          </p:cNvPr>
          <p:cNvSpPr txBox="1"/>
          <p:nvPr/>
        </p:nvSpPr>
        <p:spPr>
          <a:xfrm>
            <a:off x="1097280" y="6949440"/>
            <a:ext cx="6949440" cy="457200"/>
          </a:xfrm>
          <a:prstGeom prst="rect">
            <a:avLst/>
          </a:prstGeom>
          <a:noFill/>
        </p:spPr>
        <p:txBody>
          <a:bodyPr wrap="square" anchor="t" lIns="0" rIns="0" tIns="0" bIns="0">
            <a:spAutoFit/>
          </a:bodyPr>
          <a:lstStyle/>
          <a:p>
            <a:pPr algn="l">
              <a:lnSpc>
                <a:spcPct val="106000"/>
              </a:lnSpc>
              <a:spcAft>
                <a:spcPts val="0"/>
              </a:spcAft>
            </a:pPr>
            <a:r>
              <a:rPr sz="1900" b="1">
                <a:solidFill>
                  <a:srgbClr val="C8D6E6"/>
                </a:solidFill>
                <a:latin typeface="Calibri (MS) Bold"/>
              </a:rPr>
              <a:t>Repo: </a:t>
            </a:r>
            <a:r>
              <a:rPr sz="1900" b="0">
                <a:solidFill>
                  <a:srgbClr val="FFFFFF"/>
                </a:solidFill>
                <a:latin typeface="Calibri (MS)"/>
              </a:rPr>
              <a:t>github.com/PLHGNAOH/ViVQA-VLM ↗</a:t>
            </a:r>
          </a:p>
        </p:txBody>
      </p:sp>
      <p:pic>
        <p:nvPicPr>
          <p:cNvPr id="18" name="Picture 17" descr="end_grid.png"/>
          <p:cNvPicPr>
            <a:picLocks noChangeAspect="1"/>
          </p:cNvPicPr>
          <p:nvPr/>
        </p:nvPicPr>
        <p:blipFill>
          <a:blip r:embed="rId9"/>
          <a:stretch>
            <a:fillRect/>
          </a:stretch>
        </p:blipFill>
        <p:spPr>
          <a:xfrm>
            <a:off x="8503920" y="1417320"/>
            <a:ext cx="9326880" cy="579738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2606011" y="-1422978"/>
            <a:ext cx="18946825" cy="13987367"/>
          </a:xfrm>
          <a:custGeom>
            <a:avLst/>
            <a:gdLst/>
            <a:ahLst/>
            <a:cxnLst/>
            <a:rect l="l" t="t" r="r" b="b"/>
            <a:pathLst>
              <a:path w="18946825" h="13987367">
                <a:moveTo>
                  <a:pt x="0" y="0"/>
                </a:moveTo>
                <a:lnTo>
                  <a:pt x="18946825" y="0"/>
                </a:lnTo>
                <a:lnTo>
                  <a:pt x="18946825" y="13987367"/>
                </a:lnTo>
                <a:lnTo>
                  <a:pt x="0" y="13987367"/>
                </a:lnTo>
                <a:lnTo>
                  <a:pt x="0" y="0"/>
                </a:lnTo>
                <a:close/>
              </a:path>
            </a:pathLst>
          </a:custGeom>
          <a:blipFill>
            <a:blip r:embed="rId1">
              <a:extLst>
                <a:ext uri="{96DAC541-7B7A-43D3-8B79-37D633B846F1}">
                  <asvg:svgBlip xmlns:asvg="http://schemas.microsoft.com/office/drawing/2016/SVG/main" r:embed="rId2"/>
                </a:ext>
              </a:extLst>
            </a:blip>
            <a:stretch>
              <a:fillRect l="-3" r="-3"/>
            </a:stretch>
          </a:blipFill>
        </p:spPr>
        <p:txBody>
          <a:bodyPr/>
          <a:p/>
        </p:txBody>
      </p:sp>
      <p:grpSp>
        <p:nvGrpSpPr>
          <p:cNvPr id="3" name="Group 3"/>
          <p:cNvGrpSpPr/>
          <p:nvPr/>
        </p:nvGrpSpPr>
        <p:grpSpPr>
          <a:xfrm rot="0">
            <a:off x="1152144" y="2425551"/>
            <a:ext cx="16184880" cy="1636395"/>
            <a:chOff x="0" y="0"/>
            <a:chExt cx="21579840" cy="2181860"/>
          </a:xfrm>
        </p:grpSpPr>
        <p:sp>
          <p:nvSpPr>
            <p:cNvPr id="4" name="Freeform 4"/>
            <p:cNvSpPr/>
            <p:nvPr/>
          </p:nvSpPr>
          <p:spPr>
            <a:xfrm>
              <a:off x="0" y="0"/>
              <a:ext cx="21579839" cy="2181860"/>
            </a:xfrm>
            <a:custGeom>
              <a:avLst/>
              <a:gdLst/>
              <a:ahLst/>
              <a:cxnLst/>
              <a:rect l="l" t="t" r="r" b="b"/>
              <a:pathLst>
                <a:path w="21579839" h="2181860">
                  <a:moveTo>
                    <a:pt x="0" y="0"/>
                  </a:moveTo>
                  <a:lnTo>
                    <a:pt x="21579839" y="0"/>
                  </a:lnTo>
                  <a:lnTo>
                    <a:pt x="21579839" y="2181860"/>
                  </a:lnTo>
                  <a:lnTo>
                    <a:pt x="0" y="2181860"/>
                  </a:lnTo>
                  <a:close/>
                </a:path>
              </a:pathLst>
            </a:custGeom>
            <a:blipFill>
              <a:blip r:embed="rId3">
                <a:alphaModFix amt="0"/>
              </a:blip>
              <a:stretch>
                <a:fillRect t="-365236" b="-365236"/>
              </a:stretch>
            </a:blipFill>
          </p:spPr>
          <p:txBody>
            <a:bodyPr/>
            <a:p/>
          </p:txBody>
        </p:sp>
      </p:grpSp>
      <p:grpSp>
        <p:nvGrpSpPr>
          <p:cNvPr id="5" name="Group 5"/>
          <p:cNvGrpSpPr/>
          <p:nvPr/>
        </p:nvGrpSpPr>
        <p:grpSpPr>
          <a:xfrm rot="0">
            <a:off x="1152144" y="4061936"/>
            <a:ext cx="15636240" cy="1508760"/>
            <a:chOff x="0" y="0"/>
            <a:chExt cx="20848320" cy="2011680"/>
          </a:xfrm>
        </p:grpSpPr>
        <p:sp>
          <p:nvSpPr>
            <p:cNvPr id="6" name="Freeform 6"/>
            <p:cNvSpPr/>
            <p:nvPr/>
          </p:nvSpPr>
          <p:spPr>
            <a:xfrm>
              <a:off x="0" y="0"/>
              <a:ext cx="20848320" cy="2011680"/>
            </a:xfrm>
            <a:custGeom>
              <a:avLst/>
              <a:gdLst/>
              <a:ahLst/>
              <a:cxnLst/>
              <a:rect l="l" t="t" r="r" b="b"/>
              <a:pathLst>
                <a:path w="20848320" h="2011680">
                  <a:moveTo>
                    <a:pt x="0" y="0"/>
                  </a:moveTo>
                  <a:lnTo>
                    <a:pt x="20848320" y="0"/>
                  </a:lnTo>
                  <a:lnTo>
                    <a:pt x="20848320" y="2011680"/>
                  </a:lnTo>
                  <a:lnTo>
                    <a:pt x="0" y="2011680"/>
                  </a:lnTo>
                  <a:close/>
                </a:path>
              </a:pathLst>
            </a:custGeom>
            <a:blipFill>
              <a:blip r:embed="rId3">
                <a:alphaModFix amt="0"/>
              </a:blip>
              <a:stretch>
                <a:fillRect t="-385097" b="-385097"/>
              </a:stretch>
            </a:blipFill>
          </p:spPr>
          <p:txBody>
            <a:bodyPr/>
            <a:p/>
          </p:txBody>
        </p:sp>
      </p:grpSp>
      <p:grpSp>
        <p:nvGrpSpPr>
          <p:cNvPr id="7" name="Group 7"/>
          <p:cNvGrpSpPr/>
          <p:nvPr/>
        </p:nvGrpSpPr>
        <p:grpSpPr>
          <a:xfrm rot="0">
            <a:off x="1152144" y="5788352"/>
            <a:ext cx="11795760" cy="559594"/>
            <a:chOff x="0" y="0"/>
            <a:chExt cx="15727680" cy="746125"/>
          </a:xfrm>
        </p:grpSpPr>
        <p:sp>
          <p:nvSpPr>
            <p:cNvPr id="8" name="Freeform 8"/>
            <p:cNvSpPr/>
            <p:nvPr/>
          </p:nvSpPr>
          <p:spPr>
            <a:xfrm>
              <a:off x="0" y="0"/>
              <a:ext cx="15727680" cy="746125"/>
            </a:xfrm>
            <a:custGeom>
              <a:avLst/>
              <a:gdLst/>
              <a:ahLst/>
              <a:cxnLst/>
              <a:rect l="l" t="t" r="r" b="b"/>
              <a:pathLst>
                <a:path w="15727680" h="746125">
                  <a:moveTo>
                    <a:pt x="0" y="0"/>
                  </a:moveTo>
                  <a:lnTo>
                    <a:pt x="15727680" y="0"/>
                  </a:lnTo>
                  <a:lnTo>
                    <a:pt x="15727680" y="746125"/>
                  </a:lnTo>
                  <a:lnTo>
                    <a:pt x="0" y="746125"/>
                  </a:lnTo>
                  <a:close/>
                </a:path>
              </a:pathLst>
            </a:custGeom>
            <a:blipFill>
              <a:blip r:embed="rId4">
                <a:alphaModFix amt="0"/>
              </a:blip>
              <a:stretch>
                <a:fillRect t="-360442" b="-360442"/>
              </a:stretch>
            </a:blipFill>
          </p:spPr>
          <p:txBody>
            <a:bodyPr/>
            <a:p/>
          </p:txBody>
        </p:sp>
      </p:grpSp>
      <p:grpSp>
        <p:nvGrpSpPr>
          <p:cNvPr id="9" name="Group 9"/>
          <p:cNvGrpSpPr/>
          <p:nvPr/>
        </p:nvGrpSpPr>
        <p:grpSpPr>
          <a:xfrm rot="0">
            <a:off x="1152144" y="6531216"/>
            <a:ext cx="14538960" cy="523399"/>
            <a:chOff x="0" y="0"/>
            <a:chExt cx="19385280" cy="697865"/>
          </a:xfrm>
        </p:grpSpPr>
        <p:sp>
          <p:nvSpPr>
            <p:cNvPr id="10" name="Freeform 10"/>
            <p:cNvSpPr/>
            <p:nvPr/>
          </p:nvSpPr>
          <p:spPr>
            <a:xfrm>
              <a:off x="0" y="0"/>
              <a:ext cx="19385280" cy="697865"/>
            </a:xfrm>
            <a:custGeom>
              <a:avLst/>
              <a:gdLst/>
              <a:ahLst/>
              <a:cxnLst/>
              <a:rect l="l" t="t" r="r" b="b"/>
              <a:pathLst>
                <a:path w="19385280" h="697865">
                  <a:moveTo>
                    <a:pt x="0" y="0"/>
                  </a:moveTo>
                  <a:lnTo>
                    <a:pt x="19385280" y="0"/>
                  </a:lnTo>
                  <a:lnTo>
                    <a:pt x="19385280" y="697865"/>
                  </a:lnTo>
                  <a:lnTo>
                    <a:pt x="0" y="697865"/>
                  </a:lnTo>
                  <a:close/>
                </a:path>
              </a:pathLst>
            </a:custGeom>
            <a:blipFill>
              <a:blip r:embed="rId3">
                <a:alphaModFix amt="0"/>
              </a:blip>
              <a:stretch>
                <a:fillRect t="-1116205" b="-1116207"/>
              </a:stretch>
            </a:blipFill>
          </p:spPr>
          <p:txBody>
            <a:bodyPr/>
            <a:p/>
          </p:txBody>
        </p:sp>
      </p:grpSp>
      <p:grpSp>
        <p:nvGrpSpPr>
          <p:cNvPr id="11" name="Group 11"/>
          <p:cNvGrpSpPr/>
          <p:nvPr/>
        </p:nvGrpSpPr>
        <p:grpSpPr>
          <a:xfrm rot="0">
            <a:off x="0" y="0"/>
            <a:ext cx="2829306" cy="1184338"/>
            <a:chOff x="0" y="0"/>
            <a:chExt cx="3772408" cy="1579118"/>
          </a:xfrm>
        </p:grpSpPr>
        <p:sp>
          <p:nvSpPr>
            <p:cNvPr id="12" name="Freeform 12"/>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5"/>
              <a:stretch>
                <a:fillRect/>
              </a:stretch>
            </a:blipFill>
          </p:spPr>
          <p:txBody>
            <a:bodyPr/>
            <a:p/>
          </p:txBody>
        </p:sp>
      </p:grpSp>
      <p:grpSp>
        <p:nvGrpSpPr>
          <p:cNvPr id="13" name="Group 13"/>
          <p:cNvGrpSpPr/>
          <p:nvPr/>
        </p:nvGrpSpPr>
        <p:grpSpPr>
          <a:xfrm rot="0">
            <a:off x="1152144" y="7273719"/>
            <a:ext cx="14538960" cy="523399"/>
            <a:chOff x="0" y="0"/>
            <a:chExt cx="19385280" cy="697865"/>
          </a:xfrm>
        </p:grpSpPr>
        <p:sp>
          <p:nvSpPr>
            <p:cNvPr id="14" name="Freeform 14"/>
            <p:cNvSpPr/>
            <p:nvPr/>
          </p:nvSpPr>
          <p:spPr>
            <a:xfrm>
              <a:off x="0" y="0"/>
              <a:ext cx="19385280" cy="697865"/>
            </a:xfrm>
            <a:custGeom>
              <a:avLst/>
              <a:gdLst/>
              <a:ahLst/>
              <a:cxnLst/>
              <a:rect l="l" t="t" r="r" b="b"/>
              <a:pathLst>
                <a:path w="19385280" h="697865">
                  <a:moveTo>
                    <a:pt x="0" y="0"/>
                  </a:moveTo>
                  <a:lnTo>
                    <a:pt x="19385280" y="0"/>
                  </a:lnTo>
                  <a:lnTo>
                    <a:pt x="19385280" y="697865"/>
                  </a:lnTo>
                  <a:lnTo>
                    <a:pt x="0" y="697865"/>
                  </a:lnTo>
                  <a:close/>
                </a:path>
              </a:pathLst>
            </a:custGeom>
            <a:blipFill>
              <a:blip r:embed="rId4">
                <a:alphaModFix amt="0"/>
              </a:blip>
              <a:stretch>
                <a:fillRect t="-490878" b="-490878"/>
              </a:stretch>
            </a:blipFill>
          </p:spPr>
          <p:txBody>
            <a:bodyPr/>
            <a:p/>
          </p:txBody>
        </p:sp>
      </p:grpSp>
      <p:sp>
        <p:nvSpPr>
          <p:cNvPr id="15" name="TextBox 15"/>
          <p:cNvSpPr txBox="1"/>
          <p:nvPr/>
        </p:nvSpPr>
        <p:spPr>
          <a:xfrm>
            <a:off x="768820" y="2584609"/>
            <a:ext cx="13565791" cy="5972175"/>
          </a:xfrm>
          <a:prstGeom prst="rect">
            <a:avLst/>
          </a:prstGeom>
        </p:spPr>
        <p:txBody>
          <a:bodyPr lIns="0" tIns="0" rIns="0" bIns="0" rtlCol="0" anchor="t">
            <a:spAutoFit/>
          </a:bodyPr>
          <a:lstStyle/>
          <a:p>
            <a:pPr algn="l">
              <a:lnSpc>
                <a:spcPts val="8075"/>
              </a:lnSpc>
            </a:pPr>
            <a:r>
              <a:rPr lang="en-US" sz="6730" b="1">
                <a:solidFill>
                  <a:srgbClr val="FFFFFF"/>
                </a:solidFill>
                <a:latin typeface="Noto Sans Bold" panose="020B0802040504020204"/>
                <a:ea typeface="Noto Sans Bold" panose="020B0802040504020204"/>
                <a:cs typeface="Noto Sans Bold" panose="020B0802040504020204"/>
                <a:sym typeface="Noto Sans Bold" panose="020B0802040504020204"/>
              </a:rPr>
              <a:t>Phụ lục</a:t>
            </a:r>
            <a:endParaRPr lang="en-US" sz="6730" b="1">
              <a:solidFill>
                <a:srgbClr val="FFFFFF"/>
              </a:solidFill>
              <a:latin typeface="Noto Sans Bold" panose="020B0802040504020204"/>
              <a:ea typeface="Noto Sans Bold" panose="020B0802040504020204"/>
              <a:cs typeface="Noto Sans Bold" panose="020B0802040504020204"/>
              <a:sym typeface="Noto Sans Bold" panose="020B0802040504020204"/>
            </a:endParaRPr>
          </a:p>
          <a:p>
            <a:pPr algn="l">
              <a:lnSpc>
                <a:spcPts val="7355"/>
              </a:lnSpc>
            </a:pPr>
            <a:r>
              <a:rPr lang="en-US" sz="6130" b="1">
                <a:solidFill>
                  <a:srgbClr val="FFFFFF"/>
                </a:solidFill>
                <a:latin typeface="Noto Sans Bold" panose="020B0802040504020204"/>
                <a:ea typeface="Noto Sans Bold" panose="020B0802040504020204"/>
                <a:cs typeface="Noto Sans Bold" panose="020B0802040504020204"/>
                <a:sym typeface="Noto Sans Bold" panose="020B0802040504020204"/>
              </a:rPr>
              <a:t> </a:t>
            </a:r>
            <a:endParaRPr lang="en-US" sz="6130" b="1">
              <a:solidFill>
                <a:srgbClr val="FFFFFF"/>
              </a:solidFill>
              <a:latin typeface="Noto Sans Bold" panose="020B0802040504020204"/>
              <a:ea typeface="Noto Sans Bold" panose="020B0802040504020204"/>
              <a:cs typeface="Noto Sans Bold" panose="020B0802040504020204"/>
              <a:sym typeface="Noto Sans Bold" panose="020B0802040504020204"/>
            </a:endParaRPr>
          </a:p>
          <a:p>
            <a:pPr marL="1240790" lvl="2" indent="-413385" algn="l">
              <a:lnSpc>
                <a:spcPts val="6515"/>
              </a:lnSpc>
              <a:buFont typeface="Arial" panose="020B0604020202020204"/>
              <a:buChar char="⚬"/>
            </a:pPr>
            <a:r>
              <a:rPr lang="en-US" sz="5425">
                <a:solidFill>
                  <a:srgbClr val="FFFFFF"/>
                </a:solidFill>
                <a:latin typeface="Noto Sans" panose="020B0502040504020204"/>
                <a:ea typeface="Noto Sans" panose="020B0502040504020204"/>
                <a:cs typeface="Noto Sans" panose="020B0502040504020204"/>
                <a:sym typeface="Noto Sans" panose="020B0502040504020204"/>
              </a:rPr>
              <a:t>Slide dự phòng — chỉ mở khi hội đồng hỏi</a:t>
            </a:r>
            <a:endParaRPr lang="en-US" sz="5425">
              <a:solidFill>
                <a:srgbClr val="FFFFFF"/>
              </a:solidFill>
              <a:latin typeface="Noto Sans" panose="020B0502040504020204"/>
              <a:ea typeface="Noto Sans" panose="020B0502040504020204"/>
              <a:cs typeface="Noto Sans" panose="020B0502040504020204"/>
              <a:sym typeface="Noto Sans" panose="020B0502040504020204"/>
            </a:endParaRPr>
          </a:p>
          <a:p>
            <a:pPr marL="1240790" lvl="2" indent="-413385" algn="l">
              <a:lnSpc>
                <a:spcPts val="6515"/>
              </a:lnSpc>
              <a:buFont typeface="Arial" panose="020B0604020202020204"/>
              <a:buChar char="⚬"/>
            </a:pPr>
            <a:r>
              <a:rPr lang="en-US" sz="5425">
                <a:solidFill>
                  <a:srgbClr val="FFFFFF"/>
                </a:solidFill>
                <a:latin typeface="Noto Sans" panose="020B0502040504020204"/>
                <a:ea typeface="Noto Sans" panose="020B0502040504020204"/>
                <a:cs typeface="Noto Sans" panose="020B0502040504020204"/>
                <a:sym typeface="Noto Sans" panose="020B0502040504020204"/>
              </a:rPr>
              <a:t>Đối chứng, SOTA, độ vững qua seed</a:t>
            </a:r>
            <a:endParaRPr lang="en-US" sz="5425">
              <a:solidFill>
                <a:srgbClr val="FFFFFF"/>
              </a:solidFill>
              <a:latin typeface="Noto Sans" panose="020B0502040504020204"/>
              <a:ea typeface="Noto Sans" panose="020B0502040504020204"/>
              <a:cs typeface="Noto Sans" panose="020B0502040504020204"/>
              <a:sym typeface="Noto Sans" panose="020B0502040504020204"/>
            </a:endParaRPr>
          </a:p>
          <a:p>
            <a:pPr marL="1240790" lvl="2" indent="-413385" algn="l">
              <a:lnSpc>
                <a:spcPts val="6515"/>
              </a:lnSpc>
              <a:buFont typeface="Arial" panose="020B0604020202020204"/>
              <a:buChar char="⚬"/>
            </a:pPr>
            <a:r>
              <a:rPr lang="en-US" sz="5425">
                <a:solidFill>
                  <a:srgbClr val="FFFFFF"/>
                </a:solidFill>
                <a:latin typeface="Noto Sans" panose="020B0502040504020204"/>
                <a:ea typeface="Noto Sans" panose="020B0502040504020204"/>
                <a:cs typeface="Noto Sans" panose="020B0502040504020204"/>
                <a:sym typeface="Noto Sans" panose="020B0502040504020204"/>
              </a:rPr>
              <a:t>Ablation LoRA, epoch ViVQA, adapter dùng chung, loại câu hỏi</a:t>
            </a:r>
            <a:endParaRPr lang="en-US" sz="5425">
              <a:solidFill>
                <a:srgbClr val="FFFFFF"/>
              </a:solidFill>
              <a:latin typeface="Noto Sans" panose="020B0502040504020204"/>
              <a:ea typeface="Noto Sans" panose="020B0502040504020204"/>
              <a:cs typeface="Noto Sans" panose="020B0502040504020204"/>
              <a:sym typeface="Noto Sans" panose="020B0502040504020204"/>
            </a:endParaRPr>
          </a:p>
          <a:p>
            <a:pPr marL="1240790" lvl="2" indent="-413385" algn="l">
              <a:lnSpc>
                <a:spcPts val="5885"/>
              </a:lnSpc>
            </a:pPr>
          </a:p>
        </p:txBody>
      </p:sp>
      <p:sp>
        <p:nvSpPr>
          <p:cNvPr id="16" name="TextBox 16"/>
          <p:cNvSpPr txBox="1"/>
          <p:nvPr/>
        </p:nvSpPr>
        <p:spPr>
          <a:xfrm>
            <a:off x="638870" y="1375524"/>
            <a:ext cx="2712606" cy="695325"/>
          </a:xfrm>
          <a:prstGeom prst="rect">
            <a:avLst/>
          </a:prstGeom>
        </p:spPr>
        <p:txBody>
          <a:bodyPr lIns="0" tIns="0" rIns="0" bIns="0" rtlCol="0" anchor="t">
            <a:spAutoFit/>
          </a:bodyPr>
          <a:lstStyle/>
          <a:p>
            <a:pPr algn="ctr">
              <a:lnSpc>
                <a:spcPts val="5520"/>
              </a:lnSpc>
            </a:pPr>
            <a:r>
              <a:rPr lang="en-US" sz="4600" b="1">
                <a:solidFill>
                  <a:srgbClr val="FFFFFF"/>
                </a:solidFill>
                <a:latin typeface="Noto Sans Bold" panose="020B0802040504020204"/>
                <a:ea typeface="Noto Sans Bold" panose="020B0802040504020204"/>
                <a:cs typeface="Noto Sans Bold" panose="020B0802040504020204"/>
                <a:sym typeface="Noto Sans Bold" panose="020B0802040504020204"/>
              </a:rPr>
              <a:t> Review 2</a:t>
            </a:r>
            <a:endParaRPr lang="en-US" sz="4600" b="1">
              <a:solidFill>
                <a:srgbClr val="FFFFFF"/>
              </a:solidFill>
              <a:latin typeface="Noto Sans Bold" panose="020B0802040504020204"/>
              <a:ea typeface="Noto Sans Bold" panose="020B0802040504020204"/>
              <a:cs typeface="Noto Sans Bold" panose="020B0802040504020204"/>
              <a:sym typeface="Noto Sans Bold" panose="020B08020405040202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REVIEW 2 · BƯỚC TIẾP THEO</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733553"/>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Đến Review 3 </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Freeform 6"/>
          <p:cNvSpPr/>
          <p:nvPr/>
        </p:nvSpPr>
        <p:spPr>
          <a:xfrm>
            <a:off x="806291" y="2383631"/>
            <a:ext cx="3833717" cy="4696778"/>
          </a:xfrm>
          <a:custGeom>
            <a:avLst/>
            <a:gdLst/>
            <a:ahLst/>
            <a:cxnLst/>
            <a:rect l="l" t="t" r="r" b="b"/>
            <a:pathLst>
              <a:path w="3833717" h="4696778">
                <a:moveTo>
                  <a:pt x="0" y="0"/>
                </a:moveTo>
                <a:lnTo>
                  <a:pt x="3833717" y="0"/>
                </a:lnTo>
                <a:lnTo>
                  <a:pt x="3833717" y="4696778"/>
                </a:lnTo>
                <a:lnTo>
                  <a:pt x="0" y="4696778"/>
                </a:lnTo>
                <a:lnTo>
                  <a:pt x="0" y="0"/>
                </a:lnTo>
                <a:close/>
              </a:path>
            </a:pathLst>
          </a:custGeom>
          <a:blipFill>
            <a:blip r:embed="rId2">
              <a:extLst>
                <a:ext uri="{96DAC541-7B7A-43D3-8B79-37D633B846F1}">
                  <asvg:svgBlip xmlns:asvg="http://schemas.microsoft.com/office/drawing/2016/SVG/main" r:embed="rId3"/>
                </a:ext>
              </a:extLst>
            </a:blip>
            <a:stretch>
              <a:fillRect t="-27" b="-27"/>
            </a:stretch>
          </a:blipFill>
        </p:spPr>
        <p:txBody>
          <a:bodyPr/>
          <a:p/>
        </p:txBody>
      </p:sp>
      <p:sp>
        <p:nvSpPr>
          <p:cNvPr id="7" name="Freeform 7"/>
          <p:cNvSpPr/>
          <p:nvPr/>
        </p:nvSpPr>
        <p:spPr>
          <a:xfrm>
            <a:off x="1217771" y="2795111"/>
            <a:ext cx="1336358" cy="1336358"/>
          </a:xfrm>
          <a:custGeom>
            <a:avLst/>
            <a:gdLst/>
            <a:ahLst/>
            <a:cxnLst/>
            <a:rect l="l" t="t" r="r" b="b"/>
            <a:pathLst>
              <a:path w="1336358" h="1336358">
                <a:moveTo>
                  <a:pt x="0" y="0"/>
                </a:moveTo>
                <a:lnTo>
                  <a:pt x="1336358" y="0"/>
                </a:lnTo>
                <a:lnTo>
                  <a:pt x="1336358" y="1336358"/>
                </a:lnTo>
                <a:lnTo>
                  <a:pt x="0" y="133635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p/>
        </p:txBody>
      </p:sp>
      <p:grpSp>
        <p:nvGrpSpPr>
          <p:cNvPr id="8" name="Group 8"/>
          <p:cNvGrpSpPr/>
          <p:nvPr/>
        </p:nvGrpSpPr>
        <p:grpSpPr>
          <a:xfrm rot="0">
            <a:off x="1234440" y="2811780"/>
            <a:ext cx="1303020" cy="1303020"/>
            <a:chOff x="0" y="0"/>
            <a:chExt cx="1737360" cy="1737360"/>
          </a:xfrm>
        </p:grpSpPr>
        <p:sp>
          <p:nvSpPr>
            <p:cNvPr id="9" name="Freeform 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10" name="Group 10"/>
          <p:cNvGrpSpPr/>
          <p:nvPr/>
        </p:nvGrpSpPr>
        <p:grpSpPr>
          <a:xfrm rot="0">
            <a:off x="1234440" y="2776061"/>
            <a:ext cx="1303020" cy="1338739"/>
            <a:chOff x="0" y="0"/>
            <a:chExt cx="1737360" cy="1784985"/>
          </a:xfrm>
        </p:grpSpPr>
        <p:sp>
          <p:nvSpPr>
            <p:cNvPr id="11" name="Freeform 1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12" name="Group 12"/>
          <p:cNvGrpSpPr/>
          <p:nvPr/>
        </p:nvGrpSpPr>
        <p:grpSpPr>
          <a:xfrm rot="0">
            <a:off x="1234440" y="2740342"/>
            <a:ext cx="1303020" cy="1374458"/>
            <a:chOff x="0" y="0"/>
            <a:chExt cx="1737360" cy="1832610"/>
          </a:xfrm>
        </p:grpSpPr>
        <p:sp>
          <p:nvSpPr>
            <p:cNvPr id="13" name="Freeform 1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14" name="TextBox 1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15" name="TextBox 15"/>
          <p:cNvSpPr txBox="1"/>
          <p:nvPr/>
        </p:nvSpPr>
        <p:spPr>
          <a:xfrm>
            <a:off x="1234440" y="4286250"/>
            <a:ext cx="2977401" cy="25031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Đã xong: đo hallucination (POPE tiếng Việt) và phân tích lỗi — H4 ủng hộ một phần</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6" name="Freeform 16"/>
          <p:cNvSpPr/>
          <p:nvPr/>
        </p:nvSpPr>
        <p:spPr>
          <a:xfrm>
            <a:off x="5086712" y="2383631"/>
            <a:ext cx="3833717" cy="4696778"/>
          </a:xfrm>
          <a:custGeom>
            <a:avLst/>
            <a:gdLst/>
            <a:ahLst/>
            <a:cxnLst/>
            <a:rect l="l" t="t" r="r" b="b"/>
            <a:pathLst>
              <a:path w="3833717" h="4696778">
                <a:moveTo>
                  <a:pt x="0" y="0"/>
                </a:moveTo>
                <a:lnTo>
                  <a:pt x="3833717" y="0"/>
                </a:lnTo>
                <a:lnTo>
                  <a:pt x="3833717"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t="-27" b="-27"/>
            </a:stretch>
          </a:blipFill>
        </p:spPr>
        <p:txBody>
          <a:bodyPr/>
          <a:p/>
        </p:txBody>
      </p:sp>
      <p:sp>
        <p:nvSpPr>
          <p:cNvPr id="17" name="Freeform 17"/>
          <p:cNvSpPr/>
          <p:nvPr/>
        </p:nvSpPr>
        <p:spPr>
          <a:xfrm>
            <a:off x="5498192" y="2795111"/>
            <a:ext cx="1336357" cy="1336358"/>
          </a:xfrm>
          <a:custGeom>
            <a:avLst/>
            <a:gdLst/>
            <a:ahLst/>
            <a:cxnLst/>
            <a:rect l="l" t="t" r="r" b="b"/>
            <a:pathLst>
              <a:path w="1336357" h="1336358">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p/>
        </p:txBody>
      </p:sp>
      <p:grpSp>
        <p:nvGrpSpPr>
          <p:cNvPr id="18" name="Group 18"/>
          <p:cNvGrpSpPr/>
          <p:nvPr/>
        </p:nvGrpSpPr>
        <p:grpSpPr>
          <a:xfrm rot="0">
            <a:off x="5514861" y="2811780"/>
            <a:ext cx="1303020" cy="1303020"/>
            <a:chOff x="0" y="0"/>
            <a:chExt cx="1737360" cy="1737360"/>
          </a:xfrm>
        </p:grpSpPr>
        <p:sp>
          <p:nvSpPr>
            <p:cNvPr id="19" name="Freeform 1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20" name="Group 20"/>
          <p:cNvGrpSpPr/>
          <p:nvPr/>
        </p:nvGrpSpPr>
        <p:grpSpPr>
          <a:xfrm rot="0">
            <a:off x="5514861" y="2776061"/>
            <a:ext cx="1303020" cy="1338739"/>
            <a:chOff x="0" y="0"/>
            <a:chExt cx="1737360" cy="1784985"/>
          </a:xfrm>
        </p:grpSpPr>
        <p:sp>
          <p:nvSpPr>
            <p:cNvPr id="21" name="Freeform 2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22" name="Group 22"/>
          <p:cNvGrpSpPr/>
          <p:nvPr/>
        </p:nvGrpSpPr>
        <p:grpSpPr>
          <a:xfrm rot="0">
            <a:off x="5514861" y="2740342"/>
            <a:ext cx="1303020" cy="1374458"/>
            <a:chOff x="0" y="0"/>
            <a:chExt cx="1737360" cy="1832610"/>
          </a:xfrm>
        </p:grpSpPr>
        <p:sp>
          <p:nvSpPr>
            <p:cNvPr id="23" name="Freeform 2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24" name="TextBox 2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1</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25" name="TextBox 25"/>
          <p:cNvSpPr txBox="1"/>
          <p:nvPr/>
        </p:nvSpPr>
        <p:spPr>
          <a:xfrm>
            <a:off x="5514861" y="4286250"/>
            <a:ext cx="2977401" cy="25031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Sửa thiên vị trả lời “có” của adapter dùng chung trước khi làm prototype</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6" name="Freeform 26"/>
          <p:cNvSpPr/>
          <p:nvPr/>
        </p:nvSpPr>
        <p:spPr>
          <a:xfrm>
            <a:off x="9367133" y="2383631"/>
            <a:ext cx="3833717" cy="4696778"/>
          </a:xfrm>
          <a:custGeom>
            <a:avLst/>
            <a:gdLst/>
            <a:ahLst/>
            <a:cxnLst/>
            <a:rect l="l" t="t" r="r" b="b"/>
            <a:pathLst>
              <a:path w="3833717" h="4696778">
                <a:moveTo>
                  <a:pt x="0" y="0"/>
                </a:moveTo>
                <a:lnTo>
                  <a:pt x="3833717" y="0"/>
                </a:lnTo>
                <a:lnTo>
                  <a:pt x="3833717"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t="-27" b="-27"/>
            </a:stretch>
          </a:blipFill>
        </p:spPr>
        <p:txBody>
          <a:bodyPr/>
          <a:p/>
        </p:txBody>
      </p:sp>
      <p:sp>
        <p:nvSpPr>
          <p:cNvPr id="27" name="Freeform 27"/>
          <p:cNvSpPr/>
          <p:nvPr/>
        </p:nvSpPr>
        <p:spPr>
          <a:xfrm>
            <a:off x="9778613" y="2795111"/>
            <a:ext cx="1336358" cy="1336358"/>
          </a:xfrm>
          <a:custGeom>
            <a:avLst/>
            <a:gdLst/>
            <a:ahLst/>
            <a:cxnLst/>
            <a:rect l="l" t="t" r="r" b="b"/>
            <a:pathLst>
              <a:path w="1336358" h="1336358">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p/>
        </p:txBody>
      </p:sp>
      <p:grpSp>
        <p:nvGrpSpPr>
          <p:cNvPr id="28" name="Group 28"/>
          <p:cNvGrpSpPr/>
          <p:nvPr/>
        </p:nvGrpSpPr>
        <p:grpSpPr>
          <a:xfrm rot="0">
            <a:off x="9795281" y="2811780"/>
            <a:ext cx="1303020" cy="1303020"/>
            <a:chOff x="0" y="0"/>
            <a:chExt cx="1737360" cy="1737360"/>
          </a:xfrm>
        </p:grpSpPr>
        <p:sp>
          <p:nvSpPr>
            <p:cNvPr id="29" name="Freeform 2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30" name="Group 30"/>
          <p:cNvGrpSpPr/>
          <p:nvPr/>
        </p:nvGrpSpPr>
        <p:grpSpPr>
          <a:xfrm rot="0">
            <a:off x="9795281" y="2776061"/>
            <a:ext cx="1303020" cy="1338739"/>
            <a:chOff x="0" y="0"/>
            <a:chExt cx="1737360" cy="1784985"/>
          </a:xfrm>
        </p:grpSpPr>
        <p:sp>
          <p:nvSpPr>
            <p:cNvPr id="31" name="Freeform 3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32" name="Group 32"/>
          <p:cNvGrpSpPr/>
          <p:nvPr/>
        </p:nvGrpSpPr>
        <p:grpSpPr>
          <a:xfrm rot="0">
            <a:off x="9795281" y="2740342"/>
            <a:ext cx="1303020" cy="1374458"/>
            <a:chOff x="0" y="0"/>
            <a:chExt cx="1737360" cy="1832610"/>
          </a:xfrm>
        </p:grpSpPr>
        <p:sp>
          <p:nvSpPr>
            <p:cNvPr id="33" name="Freeform 3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34" name="TextBox 3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2</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35" name="TextBox 35"/>
          <p:cNvSpPr txBox="1"/>
          <p:nvPr/>
        </p:nvSpPr>
        <p:spPr>
          <a:xfrm>
            <a:off x="9795281" y="4286250"/>
            <a:ext cx="2977401" cy="25031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Prototype web: ảnh → OCR → câu trả lời kèm chữ OCR và độ tin cậy</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36" name="Freeform 36"/>
          <p:cNvSpPr/>
          <p:nvPr/>
        </p:nvSpPr>
        <p:spPr>
          <a:xfrm>
            <a:off x="13647553" y="2383631"/>
            <a:ext cx="3833717" cy="4696778"/>
          </a:xfrm>
          <a:custGeom>
            <a:avLst/>
            <a:gdLst/>
            <a:ahLst/>
            <a:cxnLst/>
            <a:rect l="l" t="t" r="r" b="b"/>
            <a:pathLst>
              <a:path w="3833717" h="4696778">
                <a:moveTo>
                  <a:pt x="0" y="0"/>
                </a:moveTo>
                <a:lnTo>
                  <a:pt x="3833718" y="0"/>
                </a:lnTo>
                <a:lnTo>
                  <a:pt x="3833718"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t="-27" b="-27"/>
            </a:stretch>
          </a:blipFill>
        </p:spPr>
        <p:txBody>
          <a:bodyPr/>
          <a:p/>
        </p:txBody>
      </p:sp>
      <p:sp>
        <p:nvSpPr>
          <p:cNvPr id="37" name="Freeform 37"/>
          <p:cNvSpPr/>
          <p:nvPr/>
        </p:nvSpPr>
        <p:spPr>
          <a:xfrm>
            <a:off x="14059033" y="2795111"/>
            <a:ext cx="1336357" cy="1336358"/>
          </a:xfrm>
          <a:custGeom>
            <a:avLst/>
            <a:gdLst/>
            <a:ahLst/>
            <a:cxnLst/>
            <a:rect l="l" t="t" r="r" b="b"/>
            <a:pathLst>
              <a:path w="1336357" h="1336358">
                <a:moveTo>
                  <a:pt x="0" y="0"/>
                </a:moveTo>
                <a:lnTo>
                  <a:pt x="1336358" y="0"/>
                </a:lnTo>
                <a:lnTo>
                  <a:pt x="1336358"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p/>
        </p:txBody>
      </p:sp>
      <p:grpSp>
        <p:nvGrpSpPr>
          <p:cNvPr id="38" name="Group 38"/>
          <p:cNvGrpSpPr/>
          <p:nvPr/>
        </p:nvGrpSpPr>
        <p:grpSpPr>
          <a:xfrm rot="0">
            <a:off x="14075702" y="2811780"/>
            <a:ext cx="1303020" cy="1303020"/>
            <a:chOff x="0" y="0"/>
            <a:chExt cx="1737360" cy="1737360"/>
          </a:xfrm>
        </p:grpSpPr>
        <p:sp>
          <p:nvSpPr>
            <p:cNvPr id="39" name="Freeform 39"/>
            <p:cNvSpPr/>
            <p:nvPr/>
          </p:nvSpPr>
          <p:spPr>
            <a:xfrm>
              <a:off x="0" y="0"/>
              <a:ext cx="1737360" cy="1737360"/>
            </a:xfrm>
            <a:custGeom>
              <a:avLst/>
              <a:gdLst/>
              <a:ahLst/>
              <a:cxnLst/>
              <a:rect l="l" t="t" r="r" b="b"/>
              <a:pathLst>
                <a:path w="1737360" h="1737360">
                  <a:moveTo>
                    <a:pt x="0" y="0"/>
                  </a:moveTo>
                  <a:lnTo>
                    <a:pt x="1737360" y="0"/>
                  </a:lnTo>
                  <a:lnTo>
                    <a:pt x="1737360" y="1737360"/>
                  </a:lnTo>
                  <a:lnTo>
                    <a:pt x="0" y="1737360"/>
                  </a:lnTo>
                  <a:close/>
                </a:path>
              </a:pathLst>
            </a:custGeom>
            <a:blipFill>
              <a:blip r:embed="rId1">
                <a:alphaModFix amt="0"/>
              </a:blip>
              <a:stretch>
                <a:fillRect l="-78392" r="-78393"/>
              </a:stretch>
            </a:blipFill>
          </p:spPr>
          <p:txBody>
            <a:bodyPr/>
            <a:p/>
          </p:txBody>
        </p:sp>
      </p:grpSp>
      <p:grpSp>
        <p:nvGrpSpPr>
          <p:cNvPr id="40" name="Group 40"/>
          <p:cNvGrpSpPr/>
          <p:nvPr/>
        </p:nvGrpSpPr>
        <p:grpSpPr>
          <a:xfrm rot="0">
            <a:off x="14075702" y="2776061"/>
            <a:ext cx="1303020" cy="1338739"/>
            <a:chOff x="0" y="0"/>
            <a:chExt cx="1737360" cy="1784985"/>
          </a:xfrm>
        </p:grpSpPr>
        <p:sp>
          <p:nvSpPr>
            <p:cNvPr id="41" name="Freeform 41"/>
            <p:cNvSpPr/>
            <p:nvPr/>
          </p:nvSpPr>
          <p:spPr>
            <a:xfrm>
              <a:off x="0" y="0"/>
              <a:ext cx="1737360" cy="1784985"/>
            </a:xfrm>
            <a:custGeom>
              <a:avLst/>
              <a:gdLst/>
              <a:ahLst/>
              <a:cxnLst/>
              <a:rect l="l" t="t" r="r" b="b"/>
              <a:pathLst>
                <a:path w="1737360" h="1784985">
                  <a:moveTo>
                    <a:pt x="0" y="0"/>
                  </a:moveTo>
                  <a:lnTo>
                    <a:pt x="1737360" y="0"/>
                  </a:lnTo>
                  <a:lnTo>
                    <a:pt x="1737360" y="1784985"/>
                  </a:lnTo>
                  <a:lnTo>
                    <a:pt x="0" y="1784985"/>
                  </a:lnTo>
                  <a:close/>
                </a:path>
              </a:pathLst>
            </a:custGeom>
            <a:blipFill>
              <a:blip r:embed="rId6">
                <a:alphaModFix amt="0"/>
              </a:blip>
              <a:stretch>
                <a:fillRect l="-81912" r="-81912"/>
              </a:stretch>
            </a:blipFill>
          </p:spPr>
          <p:txBody>
            <a:bodyPr/>
            <a:p/>
          </p:txBody>
        </p:sp>
      </p:grpSp>
      <p:grpSp>
        <p:nvGrpSpPr>
          <p:cNvPr id="42" name="Group 42"/>
          <p:cNvGrpSpPr/>
          <p:nvPr/>
        </p:nvGrpSpPr>
        <p:grpSpPr>
          <a:xfrm rot="0">
            <a:off x="14075702" y="2740342"/>
            <a:ext cx="1303020" cy="1374458"/>
            <a:chOff x="0" y="0"/>
            <a:chExt cx="1737360" cy="1832610"/>
          </a:xfrm>
        </p:grpSpPr>
        <p:sp>
          <p:nvSpPr>
            <p:cNvPr id="43" name="Freeform 43"/>
            <p:cNvSpPr/>
            <p:nvPr/>
          </p:nvSpPr>
          <p:spPr>
            <a:xfrm>
              <a:off x="0" y="0"/>
              <a:ext cx="1737360" cy="1832610"/>
            </a:xfrm>
            <a:custGeom>
              <a:avLst/>
              <a:gdLst/>
              <a:ahLst/>
              <a:cxnLst/>
              <a:rect l="l" t="t" r="r" b="b"/>
              <a:pathLst>
                <a:path w="1737360" h="1832610">
                  <a:moveTo>
                    <a:pt x="0" y="0"/>
                  </a:moveTo>
                  <a:lnTo>
                    <a:pt x="1737360" y="0"/>
                  </a:lnTo>
                  <a:lnTo>
                    <a:pt x="1737360" y="1832610"/>
                  </a:lnTo>
                  <a:lnTo>
                    <a:pt x="0" y="1832610"/>
                  </a:lnTo>
                  <a:close/>
                </a:path>
              </a:pathLst>
            </a:custGeom>
            <a:blipFill>
              <a:blip r:embed="rId7">
                <a:alphaModFix amt="0"/>
              </a:blip>
              <a:stretch>
                <a:fillRect l="-85337" r="-85337"/>
              </a:stretch>
            </a:blipFill>
          </p:spPr>
          <p:txBody>
            <a:bodyPr/>
            <a:p/>
          </p:txBody>
        </p:sp>
        <p:sp>
          <p:nvSpPr>
            <p:cNvPr id="44" name="TextBox 44"/>
            <p:cNvSpPr txBox="1"/>
            <p:nvPr/>
          </p:nvSpPr>
          <p:spPr>
            <a:xfrm>
              <a:off x="0" y="-47625"/>
              <a:ext cx="1737360" cy="1880235"/>
            </a:xfrm>
            <a:prstGeom prst="rect">
              <a:avLst/>
            </a:prstGeom>
          </p:spPr>
          <p:txBody>
            <a:bodyPr lIns="0" tIns="0" rIns="0" bIns="0" rtlCol="0" anchor="ctr"/>
            <a:lstStyle/>
            <a:p>
              <a:pPr algn="ctr">
                <a:lnSpc>
                  <a:spcPts val="2520"/>
                </a:lnSpc>
              </a:pPr>
              <a:r>
                <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rPr>
                <a:t>3</a:t>
              </a:r>
              <a:endParaRPr lang="en-US" sz="2100" b="1">
                <a:solidFill>
                  <a:srgbClr val="FFFFFF"/>
                </a:solidFill>
                <a:latin typeface="Calibri (MS) Bold" panose="020F0702030404030204"/>
                <a:ea typeface="Calibri (MS) Bold" panose="020F0702030404030204"/>
                <a:cs typeface="Calibri (MS) Bold" panose="020F0702030404030204"/>
                <a:sym typeface="Calibri (MS) Bold" panose="020F0702030404030204"/>
              </a:endParaRPr>
            </a:p>
          </p:txBody>
        </p:sp>
      </p:grpSp>
      <p:sp>
        <p:nvSpPr>
          <p:cNvPr id="45" name="TextBox 45"/>
          <p:cNvSpPr txBox="1"/>
          <p:nvPr/>
        </p:nvSpPr>
        <p:spPr>
          <a:xfrm>
            <a:off x="14075702" y="4286250"/>
            <a:ext cx="2977401" cy="2503170"/>
          </a:xfrm>
          <a:prstGeom prst="rect">
            <a:avLst/>
          </a:prstGeom>
        </p:spPr>
        <p:txBody>
          <a:bodyPr lIns="0" tIns="0" rIns="0" bIns="0" rtlCol="0" anchor="t">
            <a:spAutoFit/>
          </a:bodyPr>
          <a:lstStyle/>
          <a:p>
            <a:pPr algn="l">
              <a:lnSpc>
                <a:spcPts val="2700"/>
              </a:lnSpc>
            </a:pPr>
            <a:r>
              <a:rPr lang="en-US" sz="2250">
                <a:solidFill>
                  <a:srgbClr val="243044"/>
                </a:solidFill>
                <a:latin typeface="Calibri (MS)" panose="020F0502020204030204"/>
                <a:ea typeface="Calibri (MS)" panose="020F0502020204030204"/>
                <a:cs typeface="Calibri (MS)" panose="020F0502020204030204"/>
                <a:sym typeface="Calibri (MS)" panose="020F0502020204030204"/>
              </a:rPr>
              <a:t>Review 3: bộ slide này + Phần C (kết quả cuối, lỗi, hallucination, demo)</a:t>
            </a:r>
            <a:endParaRPr lang="en-US" sz="225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46" name="TextBox 46"/>
          <p:cNvSpPr txBox="1"/>
          <p:nvPr/>
        </p:nvSpPr>
        <p:spPr>
          <a:xfrm>
            <a:off x="822960" y="7400925"/>
            <a:ext cx="16641623" cy="760095"/>
          </a:xfrm>
          <a:prstGeom prst="rect">
            <a:avLst/>
          </a:prstGeom>
        </p:spPr>
        <p:txBody>
          <a:bodyPr lIns="0" tIns="0" rIns="0" bIns="0" rtlCol="0" anchor="t">
            <a:spAutoFit/>
          </a:bodyPr>
          <a:lstStyle/>
          <a:p>
            <a:pPr algn="l">
              <a:lnSpc>
                <a:spcPts val="2520"/>
              </a:lnSpc>
            </a:pPr>
            <a:r>
              <a:rPr lang="en-US" sz="2100">
                <a:solidFill>
                  <a:srgbClr val="6B7280"/>
                </a:solidFill>
                <a:latin typeface="Calibri (MS)" panose="020F0502020204030204"/>
                <a:ea typeface="Calibri (MS)" panose="020F0502020204030204"/>
                <a:cs typeface="Calibri (MS)" panose="020F0502020204030204"/>
                <a:sym typeface="Calibri (MS)" panose="020F0502020204030204"/>
              </a:rPr>
              <a:t>Mọi run giữ giao thức cố định và chỉ dùng PEFT.</a:t>
            </a:r>
            <a:endParaRPr lang="en-US" sz="21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nvGrpSpPr>
          <p:cNvPr id="47" name="Group 47"/>
          <p:cNvGrpSpPr/>
          <p:nvPr/>
        </p:nvGrpSpPr>
        <p:grpSpPr>
          <a:xfrm rot="0">
            <a:off x="15458732" y="0"/>
            <a:ext cx="2829306" cy="1184338"/>
            <a:chOff x="0" y="0"/>
            <a:chExt cx="3772408" cy="1579118"/>
          </a:xfrm>
        </p:grpSpPr>
        <p:sp>
          <p:nvSpPr>
            <p:cNvPr id="48" name="Freeform 48"/>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2"/>
              <a:stretch>
                <a:fillRect/>
              </a:stretch>
            </a:blipFill>
          </p:spPr>
          <p:txBody>
            <a:bodyPr/>
            <a:p/>
          </p:txBody>
        </p:sp>
      </p:grpSp>
      <p:grpSp>
        <p:nvGrpSpPr>
          <p:cNvPr id="49" name="Group 49"/>
          <p:cNvGrpSpPr/>
          <p:nvPr/>
        </p:nvGrpSpPr>
        <p:grpSpPr>
          <a:xfrm rot="0">
            <a:off x="822960" y="9641205"/>
            <a:ext cx="13716000" cy="440055"/>
            <a:chOff x="0" y="0"/>
            <a:chExt cx="18288000" cy="586740"/>
          </a:xfrm>
        </p:grpSpPr>
        <p:sp>
          <p:nvSpPr>
            <p:cNvPr id="50" name="Freeform 50"/>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6">
                <a:alphaModFix amt="0"/>
              </a:blip>
              <a:stretch>
                <a:fillRect t="-556902" b="-556904"/>
              </a:stretch>
            </a:blipFill>
          </p:spPr>
          <p:txBody>
            <a:bodyPr/>
            <a:p/>
          </p:txBody>
        </p:sp>
      </p:grpSp>
      <p:grpSp>
        <p:nvGrpSpPr>
          <p:cNvPr id="51" name="Group 51"/>
          <p:cNvGrpSpPr/>
          <p:nvPr/>
        </p:nvGrpSpPr>
        <p:grpSpPr>
          <a:xfrm rot="0">
            <a:off x="822960" y="9612630"/>
            <a:ext cx="13716000" cy="468630"/>
            <a:chOff x="0" y="0"/>
            <a:chExt cx="18288000" cy="624840"/>
          </a:xfrm>
        </p:grpSpPr>
        <p:sp>
          <p:nvSpPr>
            <p:cNvPr id="52" name="Freeform 52"/>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7">
                <a:alphaModFix amt="0"/>
              </a:blip>
              <a:stretch>
                <a:fillRect t="-520293" b="-520293"/>
              </a:stretch>
            </a:blipFill>
          </p:spPr>
          <p:txBody>
            <a:bodyPr/>
            <a:p/>
          </p:txBody>
        </p:sp>
        <p:sp>
          <p:nvSpPr>
            <p:cNvPr id="53" name="TextBox 53"/>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P1 · ĐỐI CHỨNG</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5" name="Group 5"/>
          <p:cNvGrpSpPr/>
          <p:nvPr/>
        </p:nvGrpSpPr>
        <p:grpSpPr>
          <a:xfrm rot="0">
            <a:off x="15458732" y="0"/>
            <a:ext cx="2829306" cy="1184338"/>
            <a:chOff x="0" y="0"/>
            <a:chExt cx="3772408" cy="1579118"/>
          </a:xfrm>
        </p:grpSpPr>
        <p:sp>
          <p:nvSpPr>
            <p:cNvPr id="6" name="Freeform 6"/>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2"/>
              <a:stretch>
                <a:fillRect/>
              </a:stretch>
            </a:blipFill>
          </p:spPr>
          <p:txBody>
            <a:bodyPr/>
            <a:p/>
          </p:txBody>
        </p:sp>
      </p:grpSp>
      <p:sp>
        <p:nvSpPr>
          <p:cNvPr id="7" name="TextBox 7"/>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Mức tăng là thật, không do rò rỉ, không chỉ do định dạng</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8" name="Freeform 8"/>
          <p:cNvSpPr/>
          <p:nvPr/>
        </p:nvSpPr>
        <p:spPr>
          <a:xfrm>
            <a:off x="806291" y="2040731"/>
            <a:ext cx="5382578" cy="3530917"/>
          </a:xfrm>
          <a:custGeom>
            <a:avLst/>
            <a:gdLst/>
            <a:ahLst/>
            <a:cxnLst/>
            <a:rect l="l" t="t" r="r" b="b"/>
            <a:pathLst>
              <a:path w="5382578" h="3530917">
                <a:moveTo>
                  <a:pt x="0" y="0"/>
                </a:moveTo>
                <a:lnTo>
                  <a:pt x="5382578" y="0"/>
                </a:lnTo>
                <a:lnTo>
                  <a:pt x="5382578" y="3530918"/>
                </a:lnTo>
                <a:lnTo>
                  <a:pt x="0" y="3530918"/>
                </a:lnTo>
                <a:lnTo>
                  <a:pt x="0" y="0"/>
                </a:lnTo>
                <a:close/>
              </a:path>
            </a:pathLst>
          </a:custGeom>
          <a:blipFill>
            <a:blip r:embed="rId3">
              <a:extLst>
                <a:ext uri="{96DAC541-7B7A-43D3-8B79-37D633B846F1}">
                  <asvg:svgBlip xmlns:asvg="http://schemas.microsoft.com/office/drawing/2016/SVG/main" r:embed="rId4"/>
                </a:ext>
              </a:extLst>
            </a:blip>
            <a:stretch>
              <a:fillRect l="-39" r="-39"/>
            </a:stretch>
          </a:blipFill>
        </p:spPr>
        <p:txBody>
          <a:bodyPr/>
          <a:p/>
        </p:txBody>
      </p:sp>
      <p:sp>
        <p:nvSpPr>
          <p:cNvPr id="9" name="TextBox 9"/>
          <p:cNvSpPr txBox="1"/>
          <p:nvPr/>
        </p:nvSpPr>
        <p:spPr>
          <a:xfrm>
            <a:off x="1165860" y="2107692"/>
            <a:ext cx="4663440"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Phân tầng rò rỉ ViVQA</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0" name="TextBox 10"/>
          <p:cNvSpPr txBox="1"/>
          <p:nvPr/>
        </p:nvSpPr>
        <p:spPr>
          <a:xfrm>
            <a:off x="1165860" y="2737485"/>
            <a:ext cx="4663440" cy="268033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Tập sạch (n = 1.219): </a:t>
            </a: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EM 25,0 → 69,1</a:t>
            </a:r>
            <a:endPar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Mốc đoán theo phân bố đáp án: 14,4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1" name="Freeform 11"/>
          <p:cNvSpPr/>
          <p:nvPr/>
        </p:nvSpPr>
        <p:spPr>
          <a:xfrm>
            <a:off x="806291" y="5881211"/>
            <a:ext cx="5382578" cy="3530917"/>
          </a:xfrm>
          <a:custGeom>
            <a:avLst/>
            <a:gdLst/>
            <a:ahLst/>
            <a:cxnLst/>
            <a:rect l="l" t="t" r="r" b="b"/>
            <a:pathLst>
              <a:path w="5382578" h="3530917">
                <a:moveTo>
                  <a:pt x="0" y="0"/>
                </a:moveTo>
                <a:lnTo>
                  <a:pt x="5382578" y="0"/>
                </a:lnTo>
                <a:lnTo>
                  <a:pt x="5382578" y="3530918"/>
                </a:lnTo>
                <a:lnTo>
                  <a:pt x="0" y="3530918"/>
                </a:lnTo>
                <a:lnTo>
                  <a:pt x="0" y="0"/>
                </a:lnTo>
                <a:close/>
              </a:path>
            </a:pathLst>
          </a:custGeom>
          <a:blipFill>
            <a:blip r:embed="rId3">
              <a:extLst>
                <a:ext uri="{96DAC541-7B7A-43D3-8B79-37D633B846F1}">
                  <asvg:svgBlip xmlns:asvg="http://schemas.microsoft.com/office/drawing/2016/SVG/main" r:embed="rId4"/>
                </a:ext>
              </a:extLst>
            </a:blip>
            <a:stretch>
              <a:fillRect l="-39" r="-39"/>
            </a:stretch>
          </a:blipFill>
        </p:spPr>
        <p:txBody>
          <a:bodyPr/>
          <a:p/>
        </p:txBody>
      </p:sp>
      <p:sp>
        <p:nvSpPr>
          <p:cNvPr id="12" name="TextBox 12"/>
          <p:cNvSpPr txBox="1"/>
          <p:nvPr/>
        </p:nvSpPr>
        <p:spPr>
          <a:xfrm>
            <a:off x="1165860" y="5948172"/>
            <a:ext cx="4663440"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ViTextVQA: không trùng ảnh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3" name="TextBox 13"/>
          <p:cNvSpPr txBox="1"/>
          <p:nvPr/>
        </p:nvSpPr>
        <p:spPr>
          <a:xfrm>
            <a:off x="1165860" y="6577965"/>
            <a:ext cx="4663440" cy="268033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 ảnh trùng train–test, </a:t>
            </a:r>
            <a:r>
              <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rPr>
              <a:t>vẫn +21,1 EM trên full test</a:t>
            </a:r>
            <a:endParaRPr lang="en-US" sz="2100" b="1">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4" name="Freeform 14"/>
          <p:cNvSpPr/>
          <p:nvPr/>
        </p:nvSpPr>
        <p:spPr>
          <a:xfrm>
            <a:off x="6704171" y="2040731"/>
            <a:ext cx="10777061" cy="7371397"/>
          </a:xfrm>
          <a:custGeom>
            <a:avLst/>
            <a:gdLst/>
            <a:ahLst/>
            <a:cxnLst/>
            <a:rect l="l" t="t" r="r" b="b"/>
            <a:pathLst>
              <a:path w="10777061" h="7371397">
                <a:moveTo>
                  <a:pt x="0" y="0"/>
                </a:moveTo>
                <a:lnTo>
                  <a:pt x="10777061" y="0"/>
                </a:lnTo>
                <a:lnTo>
                  <a:pt x="10777061" y="7371398"/>
                </a:lnTo>
                <a:lnTo>
                  <a:pt x="0" y="7371398"/>
                </a:lnTo>
                <a:lnTo>
                  <a:pt x="0" y="0"/>
                </a:lnTo>
                <a:close/>
              </a:path>
            </a:pathLst>
          </a:custGeom>
          <a:blipFill>
            <a:blip r:embed="rId5">
              <a:extLst>
                <a:ext uri="{96DAC541-7B7A-43D3-8B79-37D633B846F1}">
                  <asvg:svgBlip xmlns:asvg="http://schemas.microsoft.com/office/drawing/2016/SVG/main" r:embed="rId6"/>
                </a:ext>
              </a:extLst>
            </a:blip>
            <a:stretch>
              <a:fillRect l="-17" r="-17"/>
            </a:stretch>
          </a:blipFill>
        </p:spPr>
        <p:txBody>
          <a:bodyPr/>
          <a:p/>
        </p:txBody>
      </p:sp>
      <p:sp>
        <p:nvSpPr>
          <p:cNvPr id="15" name="TextBox 15"/>
          <p:cNvSpPr txBox="1"/>
          <p:nvPr/>
        </p:nvSpPr>
        <p:spPr>
          <a:xfrm>
            <a:off x="7132320" y="2107692"/>
            <a:ext cx="992078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Đối chứng few-shot: 5 ví dụ chữ trong prompt (FS5)</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16" name="Group 16"/>
          <p:cNvGrpSpPr/>
          <p:nvPr/>
        </p:nvGrpSpPr>
        <p:grpSpPr>
          <a:xfrm rot="0">
            <a:off x="5893356" y="1778556"/>
            <a:ext cx="12398693" cy="6935629"/>
            <a:chOff x="0" y="0"/>
            <a:chExt cx="16531590" cy="9247505"/>
          </a:xfrm>
        </p:grpSpPr>
        <p:sp>
          <p:nvSpPr>
            <p:cNvPr id="17" name="Freeform 17"/>
            <p:cNvSpPr/>
            <p:nvPr/>
          </p:nvSpPr>
          <p:spPr>
            <a:xfrm>
              <a:off x="0" y="0"/>
              <a:ext cx="16531589" cy="9247505"/>
            </a:xfrm>
            <a:custGeom>
              <a:avLst/>
              <a:gdLst/>
              <a:ahLst/>
              <a:cxnLst/>
              <a:rect l="l" t="t" r="r" b="b"/>
              <a:pathLst>
                <a:path w="16531589" h="9247505">
                  <a:moveTo>
                    <a:pt x="0" y="0"/>
                  </a:moveTo>
                  <a:lnTo>
                    <a:pt x="16531589" y="0"/>
                  </a:lnTo>
                  <a:lnTo>
                    <a:pt x="16531589" y="9247505"/>
                  </a:lnTo>
                  <a:lnTo>
                    <a:pt x="0" y="9247505"/>
                  </a:lnTo>
                  <a:lnTo>
                    <a:pt x="0" y="0"/>
                  </a:lnTo>
                  <a:close/>
                </a:path>
              </a:pathLst>
            </a:custGeom>
            <a:blipFill>
              <a:blip r:embed="rId7"/>
              <a:stretch>
                <a:fillRect l="-21" r="-21"/>
              </a:stretch>
            </a:blipFill>
          </p:spPr>
          <p:txBody>
            <a:bodyPr/>
            <a:p/>
          </p:txBody>
        </p:sp>
      </p:grpSp>
      <p:sp>
        <p:nvSpPr>
          <p:cNvPr id="18" name="TextBox 18"/>
          <p:cNvSpPr txBox="1"/>
          <p:nvPr/>
        </p:nvSpPr>
        <p:spPr>
          <a:xfrm>
            <a:off x="7132320" y="7606665"/>
            <a:ext cx="9920783" cy="165163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Few-shot làm câu trả lời ngắn lại nhưng mất nội dung (EM −2,1 ở ViVQA, p = 0,004; −1,2 ở ViTextVQA, không ý nghĩa). B2 vượt FS5 ở cả hai (p ≈ 0) → QLoRA học nhiều hơn định dạng.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822960" y="9641205"/>
            <a:ext cx="13716000" cy="440055"/>
            <a:chOff x="0" y="0"/>
            <a:chExt cx="18288000" cy="586740"/>
          </a:xfrm>
        </p:grpSpPr>
        <p:sp>
          <p:nvSpPr>
            <p:cNvPr id="20" name="Freeform 20"/>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8">
                <a:alphaModFix amt="0"/>
              </a:blip>
              <a:stretch>
                <a:fillRect t="-556902" b="-556904"/>
              </a:stretch>
            </a:blipFill>
          </p:spPr>
          <p:txBody>
            <a:bodyPr/>
            <a:p/>
          </p:txBody>
        </p:sp>
      </p:grpSp>
      <p:grpSp>
        <p:nvGrpSpPr>
          <p:cNvPr id="21" name="Group 21"/>
          <p:cNvGrpSpPr/>
          <p:nvPr/>
        </p:nvGrpSpPr>
        <p:grpSpPr>
          <a:xfrm rot="0">
            <a:off x="822960" y="9612630"/>
            <a:ext cx="13716000" cy="468630"/>
            <a:chOff x="0" y="0"/>
            <a:chExt cx="18288000" cy="624840"/>
          </a:xfrm>
        </p:grpSpPr>
        <p:sp>
          <p:nvSpPr>
            <p:cNvPr id="22" name="Freeform 22"/>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9">
                <a:alphaModFix amt="0"/>
              </a:blip>
              <a:stretch>
                <a:fillRect t="-520293" b="-520293"/>
              </a:stretch>
            </a:blipFill>
          </p:spPr>
          <p:txBody>
            <a:bodyPr/>
            <a:p/>
          </p:txBody>
        </p:sp>
        <p:sp>
          <p:nvSpPr>
            <p:cNvPr id="23" name="TextBox 23"/>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P2 · SO VỚI SOTA</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Full test ViTextVQA: cao hơn SOTA đã công bố</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6" name="Table 6"/>
          <p:cNvGraphicFramePr>
            <a:graphicFrameLocks noGrp="1"/>
          </p:cNvGraphicFramePr>
          <p:nvPr/>
        </p:nvGraphicFramePr>
        <p:xfrm>
          <a:off x="822960" y="2125980"/>
          <a:ext cx="16573500" cy="3352800"/>
        </p:xfrm>
        <a:graphic>
          <a:graphicData uri="http://schemas.openxmlformats.org/drawingml/2006/table">
            <a:tbl>
              <a:tblPr/>
              <a:tblGrid>
                <a:gridCol w="5444301"/>
                <a:gridCol w="3494592"/>
                <a:gridCol w="3494592"/>
                <a:gridCol w="4140014"/>
              </a:tblGrid>
              <a:tr h="8382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Model (full test, 10.028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 [CI95]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 [CI95]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so với SOTA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ViTextBLIP-2 · Nguyen và cs. [3], Table 6 (có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25,48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B1 · Qwen2.5-VL-3B zero-shot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29,12 [28,23; 29,99]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53,89 [53,11; 54,66]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cao hơn về EM; F1 ngang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838200">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B2 · + QLoRA, 1 epoch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50,26 [49,27; 51,23]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71,16 [70,42; 71,89]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cao hơn cả EM và 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7" name="Freeform 7"/>
          <p:cNvSpPr/>
          <p:nvPr/>
        </p:nvSpPr>
        <p:spPr>
          <a:xfrm>
            <a:off x="806291" y="5812631"/>
            <a:ext cx="5214842" cy="2570797"/>
          </a:xfrm>
          <a:custGeom>
            <a:avLst/>
            <a:gdLst/>
            <a:ahLst/>
            <a:cxnLst/>
            <a:rect l="l" t="t" r="r" b="b"/>
            <a:pathLst>
              <a:path w="5214842" h="2570797">
                <a:moveTo>
                  <a:pt x="0" y="0"/>
                </a:moveTo>
                <a:lnTo>
                  <a:pt x="5214843" y="0"/>
                </a:lnTo>
                <a:lnTo>
                  <a:pt x="5214843" y="2570798"/>
                </a:lnTo>
                <a:lnTo>
                  <a:pt x="0" y="2570798"/>
                </a:lnTo>
                <a:lnTo>
                  <a:pt x="0" y="0"/>
                </a:lnTo>
                <a:close/>
              </a:path>
            </a:pathLst>
          </a:custGeom>
          <a:blipFill>
            <a:blip r:embed="rId2">
              <a:extLst>
                <a:ext uri="{96DAC541-7B7A-43D3-8B79-37D633B846F1}">
                  <asvg:svgBlip xmlns:asvg="http://schemas.microsoft.com/office/drawing/2016/SVG/main" r:embed="rId3"/>
                </a:ext>
              </a:extLst>
            </a:blip>
            <a:stretch>
              <a:fillRect l="-27" r="-28"/>
            </a:stretch>
          </a:blipFill>
        </p:spPr>
        <p:txBody>
          <a:bodyPr/>
          <a:p/>
        </p:txBody>
      </p:sp>
      <p:sp>
        <p:nvSpPr>
          <p:cNvPr id="8" name="TextBox 8"/>
          <p:cNvSpPr txBox="1"/>
          <p:nvPr/>
        </p:nvSpPr>
        <p:spPr>
          <a:xfrm>
            <a:off x="1165860" y="592074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Tái lập được</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9" name="TextBox 9"/>
          <p:cNvSpPr txBox="1"/>
          <p:nvPr/>
        </p:nvSpPr>
        <p:spPr>
          <a:xfrm>
            <a:off x="1165860" y="6577965"/>
            <a:ext cx="4495648" cy="158305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Dự đoán full test trùng 100% với các run tập con trên 2.000 câu chung.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0" name="Freeform 10"/>
          <p:cNvSpPr/>
          <p:nvPr/>
        </p:nvSpPr>
        <p:spPr>
          <a:xfrm>
            <a:off x="6536379" y="5812631"/>
            <a:ext cx="5214842" cy="2570797"/>
          </a:xfrm>
          <a:custGeom>
            <a:avLst/>
            <a:gdLst/>
            <a:ahLst/>
            <a:cxnLst/>
            <a:rect l="l" t="t" r="r" b="b"/>
            <a:pathLst>
              <a:path w="5214842" h="2570797">
                <a:moveTo>
                  <a:pt x="0" y="0"/>
                </a:moveTo>
                <a:lnTo>
                  <a:pt x="5214842" y="0"/>
                </a:lnTo>
                <a:lnTo>
                  <a:pt x="5214842" y="2570798"/>
                </a:lnTo>
                <a:lnTo>
                  <a:pt x="0" y="2570798"/>
                </a:lnTo>
                <a:lnTo>
                  <a:pt x="0" y="0"/>
                </a:lnTo>
                <a:close/>
              </a:path>
            </a:pathLst>
          </a:custGeom>
          <a:blipFill>
            <a:blip r:embed="rId2">
              <a:extLst>
                <a:ext uri="{96DAC541-7B7A-43D3-8B79-37D633B846F1}">
                  <asvg:svgBlip xmlns:asvg="http://schemas.microsoft.com/office/drawing/2016/SVG/main" r:embed="rId3"/>
                </a:ext>
              </a:extLst>
            </a:blip>
            <a:stretch>
              <a:fillRect l="-27" r="-28"/>
            </a:stretch>
          </a:blipFill>
        </p:spPr>
        <p:txBody>
          <a:bodyPr/>
          <a:p/>
        </p:txBody>
      </p:sp>
      <p:sp>
        <p:nvSpPr>
          <p:cNvPr id="11" name="TextBox 11"/>
          <p:cNvSpPr txBox="1"/>
          <p:nvPr/>
        </p:nvSpPr>
        <p:spPr>
          <a:xfrm>
            <a:off x="6895948" y="592074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Công bằng về loại</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2" name="TextBox 12"/>
          <p:cNvSpPr txBox="1"/>
          <p:nvPr/>
        </p:nvSpPr>
        <p:spPr>
          <a:xfrm>
            <a:off x="6895948" y="6577965"/>
            <a:ext cx="4495648" cy="158305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Cả B2 và ViTextBLIP-2 đều được train trên tập train ViTextVQA.</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3" name="Freeform 13"/>
          <p:cNvSpPr/>
          <p:nvPr/>
        </p:nvSpPr>
        <p:spPr>
          <a:xfrm>
            <a:off x="12266466" y="5812631"/>
            <a:ext cx="5214842" cy="2570797"/>
          </a:xfrm>
          <a:custGeom>
            <a:avLst/>
            <a:gdLst/>
            <a:ahLst/>
            <a:cxnLst/>
            <a:rect l="l" t="t" r="r" b="b"/>
            <a:pathLst>
              <a:path w="5214842" h="2570797">
                <a:moveTo>
                  <a:pt x="0" y="0"/>
                </a:moveTo>
                <a:lnTo>
                  <a:pt x="5214843" y="0"/>
                </a:lnTo>
                <a:lnTo>
                  <a:pt x="5214843" y="2570798"/>
                </a:lnTo>
                <a:lnTo>
                  <a:pt x="0" y="2570798"/>
                </a:lnTo>
                <a:lnTo>
                  <a:pt x="0" y="0"/>
                </a:lnTo>
                <a:close/>
              </a:path>
            </a:pathLst>
          </a:custGeom>
          <a:blipFill>
            <a:blip r:embed="rId4">
              <a:extLst>
                <a:ext uri="{96DAC541-7B7A-43D3-8B79-37D633B846F1}">
                  <asvg:svgBlip xmlns:asvg="http://schemas.microsoft.com/office/drawing/2016/SVG/main" r:embed="rId5"/>
                </a:ext>
              </a:extLst>
            </a:blip>
            <a:stretch>
              <a:fillRect l="-27" r="-28"/>
            </a:stretch>
          </a:blipFill>
        </p:spPr>
        <p:txBody>
          <a:bodyPr/>
          <a:p/>
        </p:txBody>
      </p:sp>
      <p:sp>
        <p:nvSpPr>
          <p:cNvPr id="14" name="TextBox 14"/>
          <p:cNvSpPr txBox="1"/>
          <p:nvPr/>
        </p:nvSpPr>
        <p:spPr>
          <a:xfrm>
            <a:off x="12626035" y="592074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Giới hạn</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12626035" y="6577965"/>
            <a:ext cx="4495648" cy="158305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Paper không công bố cách chuẩn hoá đáp án; phép so giả định cách chấm tương đương.</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822960" y="8641080"/>
            <a:ext cx="16641604" cy="685800"/>
            <a:chOff x="0" y="0"/>
            <a:chExt cx="22188805" cy="914400"/>
          </a:xfrm>
        </p:grpSpPr>
        <p:sp>
          <p:nvSpPr>
            <p:cNvPr id="17" name="Freeform 17"/>
            <p:cNvSpPr/>
            <p:nvPr/>
          </p:nvSpPr>
          <p:spPr>
            <a:xfrm>
              <a:off x="0" y="0"/>
              <a:ext cx="22188805" cy="914400"/>
            </a:xfrm>
            <a:custGeom>
              <a:avLst/>
              <a:gdLst/>
              <a:ahLst/>
              <a:cxnLst/>
              <a:rect l="l" t="t" r="r" b="b"/>
              <a:pathLst>
                <a:path w="22188805" h="914400">
                  <a:moveTo>
                    <a:pt x="0" y="0"/>
                  </a:moveTo>
                  <a:lnTo>
                    <a:pt x="22188805" y="0"/>
                  </a:lnTo>
                  <a:lnTo>
                    <a:pt x="22188805" y="914400"/>
                  </a:lnTo>
                  <a:lnTo>
                    <a:pt x="0" y="914400"/>
                  </a:lnTo>
                  <a:close/>
                </a:path>
              </a:pathLst>
            </a:custGeom>
            <a:blipFill>
              <a:blip r:embed="rId1">
                <a:alphaModFix amt="0"/>
              </a:blip>
              <a:stretch>
                <a:fillRect t="-422494" b="-422494"/>
              </a:stretch>
            </a:blipFill>
          </p:spPr>
          <p:txBody>
            <a:bodyPr/>
            <a:p/>
          </p:txBody>
        </p:sp>
      </p:grpSp>
      <p:grpSp>
        <p:nvGrpSpPr>
          <p:cNvPr id="18" name="Group 18"/>
          <p:cNvGrpSpPr/>
          <p:nvPr/>
        </p:nvGrpSpPr>
        <p:grpSpPr>
          <a:xfrm rot="0">
            <a:off x="822960" y="8612505"/>
            <a:ext cx="16641623" cy="714375"/>
            <a:chOff x="0" y="0"/>
            <a:chExt cx="22188830" cy="952500"/>
          </a:xfrm>
        </p:grpSpPr>
        <p:sp>
          <p:nvSpPr>
            <p:cNvPr id="19" name="Freeform 19"/>
            <p:cNvSpPr/>
            <p:nvPr/>
          </p:nvSpPr>
          <p:spPr>
            <a:xfrm>
              <a:off x="0" y="0"/>
              <a:ext cx="22188805" cy="952500"/>
            </a:xfrm>
            <a:custGeom>
              <a:avLst/>
              <a:gdLst/>
              <a:ahLst/>
              <a:cxnLst/>
              <a:rect l="l" t="t" r="r" b="b"/>
              <a:pathLst>
                <a:path w="22188805" h="952500">
                  <a:moveTo>
                    <a:pt x="0" y="0"/>
                  </a:moveTo>
                  <a:lnTo>
                    <a:pt x="22188805" y="0"/>
                  </a:lnTo>
                  <a:lnTo>
                    <a:pt x="22188805" y="952500"/>
                  </a:lnTo>
                  <a:lnTo>
                    <a:pt x="0" y="952500"/>
                  </a:lnTo>
                  <a:close/>
                </a:path>
              </a:pathLst>
            </a:custGeom>
            <a:blipFill>
              <a:blip r:embed="rId6">
                <a:alphaModFix amt="0"/>
              </a:blip>
              <a:stretch>
                <a:fillRect t="-403594" b="-403596"/>
              </a:stretch>
            </a:blipFill>
          </p:spPr>
          <p:txBody>
            <a:bodyPr/>
            <a:p/>
          </p:txBody>
        </p:sp>
      </p:grpSp>
      <p:grpSp>
        <p:nvGrpSpPr>
          <p:cNvPr id="20" name="Group 20"/>
          <p:cNvGrpSpPr/>
          <p:nvPr/>
        </p:nvGrpSpPr>
        <p:grpSpPr>
          <a:xfrm rot="0">
            <a:off x="822960" y="8583930"/>
            <a:ext cx="16641623" cy="742950"/>
            <a:chOff x="0" y="0"/>
            <a:chExt cx="22188830" cy="990600"/>
          </a:xfrm>
        </p:grpSpPr>
        <p:sp>
          <p:nvSpPr>
            <p:cNvPr id="21" name="Freeform 21"/>
            <p:cNvSpPr/>
            <p:nvPr/>
          </p:nvSpPr>
          <p:spPr>
            <a:xfrm>
              <a:off x="0" y="0"/>
              <a:ext cx="22188830" cy="990600"/>
            </a:xfrm>
            <a:custGeom>
              <a:avLst/>
              <a:gdLst/>
              <a:ahLst/>
              <a:cxnLst/>
              <a:rect l="l" t="t" r="r" b="b"/>
              <a:pathLst>
                <a:path w="22188830" h="990600">
                  <a:moveTo>
                    <a:pt x="0" y="0"/>
                  </a:moveTo>
                  <a:lnTo>
                    <a:pt x="22188830" y="0"/>
                  </a:lnTo>
                  <a:lnTo>
                    <a:pt x="22188830" y="990600"/>
                  </a:lnTo>
                  <a:lnTo>
                    <a:pt x="0" y="990600"/>
                  </a:lnTo>
                  <a:close/>
                </a:path>
              </a:pathLst>
            </a:custGeom>
            <a:blipFill>
              <a:blip r:embed="rId7">
                <a:alphaModFix amt="0"/>
              </a:blip>
              <a:stretch>
                <a:fillRect t="-386452" b="-386452"/>
              </a:stretch>
            </a:blipFill>
          </p:spPr>
          <p:txBody>
            <a:bodyPr/>
            <a:p/>
          </p:txBody>
        </p:sp>
        <p:sp>
          <p:nvSpPr>
            <p:cNvPr id="22" name="TextBox 22"/>
            <p:cNvSpPr txBox="1"/>
            <p:nvPr/>
          </p:nvSpPr>
          <p:spPr>
            <a:xfrm>
              <a:off x="0" y="-38100"/>
              <a:ext cx="22188830" cy="1028700"/>
            </a:xfrm>
            <a:prstGeom prst="rect">
              <a:avLst/>
            </a:prstGeom>
          </p:spPr>
          <p:txBody>
            <a:bodyPr lIns="0" tIns="0" rIns="0" bIns="0" rtlCol="0" anchor="b"/>
            <a:lstStyle/>
            <a:p>
              <a:pPr algn="l">
                <a:lnSpc>
                  <a:spcPts val="1800"/>
                </a:lnSpc>
              </a:pPr>
              <a:r>
                <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8" tooltip="https://arxiv.org/pdf/2404.10652"/>
                </a:rPr>
                <a:t>[3] Nguyen và cs., ViTextVQA, arXiv:2404.10652, 2024. CI95 = bootstrap ghép cặp, 10.000 lần lấy mẫu, seed 42. Số của nhóm: experiments/W07_B1_zeroshot_…_testfull, W07_B2_eval_…_testfull, W07_fulltest_summary_L4_seed42.</a:t>
              </a:r>
              <a:endPar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8" tooltip="https://arxiv.org/pdf/2404.10652"/>
              </a:endParaRPr>
            </a:p>
          </p:txBody>
        </p:sp>
      </p:grpSp>
      <p:grpSp>
        <p:nvGrpSpPr>
          <p:cNvPr id="23" name="Group 23"/>
          <p:cNvGrpSpPr/>
          <p:nvPr/>
        </p:nvGrpSpPr>
        <p:grpSpPr>
          <a:xfrm rot="0">
            <a:off x="15458732" y="0"/>
            <a:ext cx="2829306" cy="1184338"/>
            <a:chOff x="0" y="0"/>
            <a:chExt cx="3772408" cy="1579118"/>
          </a:xfrm>
        </p:grpSpPr>
        <p:sp>
          <p:nvSpPr>
            <p:cNvPr id="24" name="Freeform 24"/>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9"/>
              <a:stretch>
                <a:fillRect/>
              </a:stretch>
            </a:blipFill>
          </p:spPr>
          <p:txBody>
            <a:bodyPr/>
            <a:p/>
          </p:txBody>
        </p:sp>
      </p:grpSp>
      <p:grpSp>
        <p:nvGrpSpPr>
          <p:cNvPr id="25" name="Group 25"/>
          <p:cNvGrpSpPr/>
          <p:nvPr/>
        </p:nvGrpSpPr>
        <p:grpSpPr>
          <a:xfrm rot="0">
            <a:off x="822960" y="9641205"/>
            <a:ext cx="13716000" cy="440055"/>
            <a:chOff x="0" y="0"/>
            <a:chExt cx="18288000" cy="586740"/>
          </a:xfrm>
        </p:grpSpPr>
        <p:sp>
          <p:nvSpPr>
            <p:cNvPr id="26" name="Freeform 26"/>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6">
                <a:alphaModFix amt="0"/>
              </a:blip>
              <a:stretch>
                <a:fillRect t="-556902" b="-556904"/>
              </a:stretch>
            </a:blipFill>
          </p:spPr>
          <p:txBody>
            <a:bodyPr/>
            <a:p/>
          </p:txBody>
        </p:sp>
      </p:grpSp>
      <p:grpSp>
        <p:nvGrpSpPr>
          <p:cNvPr id="27" name="Group 27"/>
          <p:cNvGrpSpPr/>
          <p:nvPr/>
        </p:nvGrpSpPr>
        <p:grpSpPr>
          <a:xfrm rot="0">
            <a:off x="822960" y="9612630"/>
            <a:ext cx="13716000" cy="468630"/>
            <a:chOff x="0" y="0"/>
            <a:chExt cx="18288000" cy="624840"/>
          </a:xfrm>
        </p:grpSpPr>
        <p:sp>
          <p:nvSpPr>
            <p:cNvPr id="28" name="Freeform 28"/>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7">
                <a:alphaModFix amt="0"/>
              </a:blip>
              <a:stretch>
                <a:fillRect t="-520293" b="-520293"/>
              </a:stretch>
            </a:blipFill>
          </p:spPr>
          <p:txBody>
            <a:bodyPr/>
            <a:p/>
          </p:txBody>
        </p:sp>
        <p:sp>
          <p:nvSpPr>
            <p:cNvPr id="29" name="TextBox 29"/>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P3 · SOTA SO VỚI NHÓM</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ViTextBLIP-2 làm thế nào — và nhóm khác ở đâu</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6" name="Table 6"/>
          <p:cNvGraphicFramePr>
            <a:graphicFrameLocks noGrp="1"/>
          </p:cNvGraphicFramePr>
          <p:nvPr/>
        </p:nvGraphicFramePr>
        <p:xfrm>
          <a:off x="822960" y="1988820"/>
          <a:ext cx="16573500" cy="6172200"/>
        </p:xfrm>
        <a:graphic>
          <a:graphicData uri="http://schemas.openxmlformats.org/drawingml/2006/table">
            <a:tbl>
              <a:tblPr/>
              <a:tblGrid>
                <a:gridCol w="3035980"/>
                <a:gridCol w="6816011"/>
                <a:gridCol w="6721509"/>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Khía cạnh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ViTextBLIP-2 (SOTA, paper [3])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Nhóm: B2 = Qwen2.5-VL-3B + QLoRA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Thị giác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ViT pretrained, đóng băng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ViT của Qwen2.5-VL (32 khối), đóng băng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Chữ trong ảnh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SwinTextSpotter [4], không fine-tune, bộ ký tự tiếng Việt; token OCR trộn như đặc trưng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Không dùng OCR ngoài — VLM tự đọc chữ từ ảnh (OCR thêm ở B3, slide 24)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Mô hình ngôn ngữ</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ViT5 [5] (T5 tiếng Việt), đóng băng</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Decoder Qwen2.5-3B, 36 lớp, 4-bit NF4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Phần được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Q-Former (khởi tạo từ BLIP-2) trộn ảnh, câu hỏi và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LoRA trên q, k, v, o: 7,37 triệu tham số (0,196%)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Xử lý dữ liệu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Sắp chữ OCR trái-trên → phải-dưới (giúp hầu hết model)</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Split chính thức; chuẩn hoá tiếng Việt (NFC, chữ thường, giữ dấu thanh)</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Dữ liệu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Toàn bộ train ViTextVQA</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Toàn bộ train ViTextVQA, 1 epoch (12,0 h trên 1 L4)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Metric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EM, F1; không công bố cách chuẩn hoá</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l">
                        <a:lnSpc>
                          <a:spcPts val="2160"/>
                        </a:lnSpc>
                        <a:defRPr/>
                      </a:pPr>
                      <a:r>
                        <a:rPr lang="en-US" sz="1800">
                          <a:solidFill>
                            <a:srgbClr val="243044"/>
                          </a:solidFill>
                          <a:latin typeface="Calibri (MS)" panose="020F0502020204030204"/>
                          <a:ea typeface="Calibri (MS)" panose="020F0502020204030204"/>
                          <a:cs typeface="Calibri (MS)" panose="020F0502020204030204"/>
                          <a:sym typeface="Calibri (MS)" panose="020F0502020204030204"/>
                        </a:rPr>
                        <a:t>EM, ANLS (+ F1 để so); hàm chuẩn hoá công khai trong code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160"/>
                        </a:lnSpc>
                        <a:defRPr/>
                      </a:pPr>
                      <a:r>
                        <a:rPr lang="en-US" sz="1800" b="1">
                          <a:solidFill>
                            <a:srgbClr val="13294B"/>
                          </a:solidFill>
                          <a:latin typeface="Calibri (MS) Bold" panose="020F0702030404030204"/>
                          <a:ea typeface="Calibri (MS) Bold" panose="020F0702030404030204"/>
                          <a:cs typeface="Calibri (MS) Bold" panose="020F0702030404030204"/>
                          <a:sym typeface="Calibri (MS) Bold" panose="020F0702030404030204"/>
                        </a:rPr>
                        <a:t>Full test (EM / 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l">
                        <a:lnSpc>
                          <a:spcPts val="2160"/>
                        </a:lnSpc>
                        <a:defRPr/>
                      </a:pPr>
                      <a:r>
                        <a:rPr lang="en-US" sz="1800" b="1">
                          <a:solidFill>
                            <a:srgbClr val="243044"/>
                          </a:solidFill>
                          <a:latin typeface="Calibri (MS) Bold" panose="020F0702030404030204"/>
                          <a:ea typeface="Calibri (MS) Bold" panose="020F0702030404030204"/>
                          <a:cs typeface="Calibri (MS) Bold" panose="020F0702030404030204"/>
                          <a:sym typeface="Calibri (MS) Bold" panose="020F0702030404030204"/>
                        </a:rPr>
                        <a:t>25,48 / 53,95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rtlCol="0"/>
                    <a:lstStyle/>
                    <a:p>
                      <a:pPr algn="l">
                        <a:lnSpc>
                          <a:spcPts val="2160"/>
                        </a:lnSpc>
                        <a:defRPr/>
                      </a:pPr>
                      <a:r>
                        <a:rPr lang="en-US" sz="1800" b="1">
                          <a:solidFill>
                            <a:srgbClr val="243044"/>
                          </a:solidFill>
                          <a:latin typeface="Calibri (MS) Bold" panose="020F0702030404030204"/>
                          <a:ea typeface="Calibri (MS) Bold" panose="020F0702030404030204"/>
                          <a:cs typeface="Calibri (MS) Bold" panose="020F0702030404030204"/>
                          <a:sym typeface="Calibri (MS) Bold" panose="020F0702030404030204"/>
                        </a:rPr>
                        <a:t>50,26 / 71,16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grpSp>
        <p:nvGrpSpPr>
          <p:cNvPr id="7" name="Group 7"/>
          <p:cNvGrpSpPr/>
          <p:nvPr/>
        </p:nvGrpSpPr>
        <p:grpSpPr>
          <a:xfrm rot="0">
            <a:off x="822960" y="8641080"/>
            <a:ext cx="16641604" cy="850392"/>
            <a:chOff x="0" y="0"/>
            <a:chExt cx="22188805" cy="1133856"/>
          </a:xfrm>
        </p:grpSpPr>
        <p:sp>
          <p:nvSpPr>
            <p:cNvPr id="8" name="Freeform 8"/>
            <p:cNvSpPr/>
            <p:nvPr/>
          </p:nvSpPr>
          <p:spPr>
            <a:xfrm>
              <a:off x="0" y="0"/>
              <a:ext cx="22188805" cy="1133856"/>
            </a:xfrm>
            <a:custGeom>
              <a:avLst/>
              <a:gdLst/>
              <a:ahLst/>
              <a:cxnLst/>
              <a:rect l="l" t="t" r="r" b="b"/>
              <a:pathLst>
                <a:path w="22188805" h="1133856">
                  <a:moveTo>
                    <a:pt x="0" y="0"/>
                  </a:moveTo>
                  <a:lnTo>
                    <a:pt x="22188805" y="0"/>
                  </a:lnTo>
                  <a:lnTo>
                    <a:pt x="22188805" y="1133856"/>
                  </a:lnTo>
                  <a:lnTo>
                    <a:pt x="0" y="1133856"/>
                  </a:lnTo>
                  <a:close/>
                </a:path>
              </a:pathLst>
            </a:custGeom>
            <a:blipFill>
              <a:blip r:embed="rId1">
                <a:alphaModFix amt="0"/>
              </a:blip>
              <a:stretch>
                <a:fillRect t="-331043" b="-331043"/>
              </a:stretch>
            </a:blipFill>
          </p:spPr>
          <p:txBody>
            <a:bodyPr/>
            <a:p/>
          </p:txBody>
        </p:sp>
      </p:grpSp>
      <p:grpSp>
        <p:nvGrpSpPr>
          <p:cNvPr id="9" name="Group 9"/>
          <p:cNvGrpSpPr/>
          <p:nvPr/>
        </p:nvGrpSpPr>
        <p:grpSpPr>
          <a:xfrm rot="0">
            <a:off x="780240" y="7962795"/>
            <a:ext cx="16641623" cy="878967"/>
            <a:chOff x="0" y="0"/>
            <a:chExt cx="22188830" cy="1171956"/>
          </a:xfrm>
        </p:grpSpPr>
        <p:sp>
          <p:nvSpPr>
            <p:cNvPr id="10" name="Freeform 10"/>
            <p:cNvSpPr/>
            <p:nvPr/>
          </p:nvSpPr>
          <p:spPr>
            <a:xfrm>
              <a:off x="0" y="0"/>
              <a:ext cx="22188805" cy="1171956"/>
            </a:xfrm>
            <a:custGeom>
              <a:avLst/>
              <a:gdLst/>
              <a:ahLst/>
              <a:cxnLst/>
              <a:rect l="l" t="t" r="r" b="b"/>
              <a:pathLst>
                <a:path w="22188805" h="1171956">
                  <a:moveTo>
                    <a:pt x="0" y="0"/>
                  </a:moveTo>
                  <a:lnTo>
                    <a:pt x="22188805" y="0"/>
                  </a:lnTo>
                  <a:lnTo>
                    <a:pt x="22188805" y="1171956"/>
                  </a:lnTo>
                  <a:lnTo>
                    <a:pt x="0" y="1171956"/>
                  </a:lnTo>
                  <a:close/>
                </a:path>
              </a:pathLst>
            </a:custGeom>
            <a:blipFill>
              <a:blip r:embed="rId2">
                <a:alphaModFix amt="0"/>
              </a:blip>
              <a:stretch>
                <a:fillRect t="-318656" b="-318657"/>
              </a:stretch>
            </a:blipFill>
          </p:spPr>
          <p:txBody>
            <a:bodyPr/>
            <a:p/>
          </p:txBody>
        </p:sp>
      </p:grpSp>
      <p:grpSp>
        <p:nvGrpSpPr>
          <p:cNvPr id="11" name="Group 11"/>
          <p:cNvGrpSpPr/>
          <p:nvPr/>
        </p:nvGrpSpPr>
        <p:grpSpPr>
          <a:xfrm rot="0">
            <a:off x="780240" y="7934220"/>
            <a:ext cx="16641623" cy="907542"/>
            <a:chOff x="0" y="0"/>
            <a:chExt cx="22188830" cy="1210056"/>
          </a:xfrm>
        </p:grpSpPr>
        <p:sp>
          <p:nvSpPr>
            <p:cNvPr id="12" name="Freeform 12"/>
            <p:cNvSpPr/>
            <p:nvPr/>
          </p:nvSpPr>
          <p:spPr>
            <a:xfrm>
              <a:off x="0" y="0"/>
              <a:ext cx="22188830" cy="1210056"/>
            </a:xfrm>
            <a:custGeom>
              <a:avLst/>
              <a:gdLst/>
              <a:ahLst/>
              <a:cxnLst/>
              <a:rect l="l" t="t" r="r" b="b"/>
              <a:pathLst>
                <a:path w="22188830" h="1210056">
                  <a:moveTo>
                    <a:pt x="0" y="0"/>
                  </a:moveTo>
                  <a:lnTo>
                    <a:pt x="22188830" y="0"/>
                  </a:lnTo>
                  <a:lnTo>
                    <a:pt x="22188830" y="1210056"/>
                  </a:lnTo>
                  <a:lnTo>
                    <a:pt x="0" y="1210056"/>
                  </a:lnTo>
                  <a:close/>
                </a:path>
              </a:pathLst>
            </a:custGeom>
            <a:blipFill>
              <a:blip r:embed="rId3">
                <a:alphaModFix amt="0"/>
              </a:blip>
              <a:stretch>
                <a:fillRect t="-307297" b="-307297"/>
              </a:stretch>
            </a:blipFill>
          </p:spPr>
          <p:txBody>
            <a:bodyPr/>
            <a:p/>
          </p:txBody>
        </p:sp>
        <p:sp>
          <p:nvSpPr>
            <p:cNvPr id="13" name="TextBox 13"/>
            <p:cNvSpPr txBox="1"/>
            <p:nvPr/>
          </p:nvSpPr>
          <p:spPr>
            <a:xfrm>
              <a:off x="0" y="-38100"/>
              <a:ext cx="22188830" cy="1248156"/>
            </a:xfrm>
            <a:prstGeom prst="rect">
              <a:avLst/>
            </a:prstGeom>
          </p:spPr>
          <p:txBody>
            <a:bodyPr lIns="0" tIns="0" rIns="0" bIns="0" rtlCol="0" anchor="b"/>
            <a:lstStyle/>
            <a:p>
              <a:pPr algn="l">
                <a:lnSpc>
                  <a:spcPts val="1800"/>
                </a:lnSpc>
              </a:pPr>
              <a:r>
                <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4" tooltip="https://arxiv.org/pdf/2404.10652"/>
                </a:rPr>
                <a:t>[3] Nguyen và cs., ViTextVQA, arXiv:2404.10652, 2024 (bản mở rộng ESWA 2025) . Lưu ý: số 25,48 / 53,95 của paper nằm ở cột “OCR confidence” trong Table 10; bảng ablation báo 24,83 / 52,51 cho model đầy đủ.</a:t>
              </a:r>
              <a:endPar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4" tooltip="https://arxiv.org/pdf/2404.10652"/>
              </a:endParaRPr>
            </a:p>
          </p:txBody>
        </p:sp>
      </p:grpSp>
      <p:sp>
        <p:nvSpPr>
          <p:cNvPr id="14" name="TextBox 14"/>
          <p:cNvSpPr txBox="1"/>
          <p:nvPr/>
        </p:nvSpPr>
        <p:spPr>
          <a:xfrm>
            <a:off x="780240" y="8765562"/>
            <a:ext cx="3521516" cy="304800"/>
          </a:xfrm>
          <a:prstGeom prst="rect">
            <a:avLst/>
          </a:prstGeom>
        </p:spPr>
        <p:txBody>
          <a:bodyPr lIns="0" tIns="0" rIns="0" bIns="0" rtlCol="0" anchor="t">
            <a:spAutoFit/>
          </a:bodyPr>
          <a:lstStyle/>
          <a:p>
            <a:pPr algn="ctr">
              <a:lnSpc>
                <a:spcPts val="1800"/>
              </a:lnSpc>
            </a:pPr>
            <a:r>
              <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5" tooltip="https://arxiv.org/pdf/2203.10209"/>
              </a:rPr>
              <a:t> [4] Huang và cs., SwinTextSpotter, CVPR 2022</a:t>
            </a:r>
            <a:endPar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5" tooltip="https://arxiv.org/pdf/2203.10209"/>
            </a:endParaRPr>
          </a:p>
        </p:txBody>
      </p:sp>
      <p:sp>
        <p:nvSpPr>
          <p:cNvPr id="15" name="TextBox 15"/>
          <p:cNvSpPr txBox="1"/>
          <p:nvPr/>
        </p:nvSpPr>
        <p:spPr>
          <a:xfrm>
            <a:off x="780240" y="9067800"/>
            <a:ext cx="2987278" cy="304800"/>
          </a:xfrm>
          <a:prstGeom prst="rect">
            <a:avLst/>
          </a:prstGeom>
        </p:spPr>
        <p:txBody>
          <a:bodyPr lIns="0" tIns="0" rIns="0" bIns="0" rtlCol="0" anchor="t">
            <a:spAutoFit/>
          </a:bodyPr>
          <a:lstStyle/>
          <a:p>
            <a:pPr algn="ctr">
              <a:lnSpc>
                <a:spcPts val="1800"/>
              </a:lnSpc>
            </a:pPr>
            <a:r>
              <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6" tooltip="https://aclanthology.org/2022.naacl-srw.18.pdf"/>
              </a:rPr>
              <a:t>[5] Phan và cs., ViT5, NAACL SRW 2022</a:t>
            </a:r>
            <a:endParaRPr lang="en-US" sz="1500" u="sng">
              <a:solidFill>
                <a:srgbClr val="0000FF"/>
              </a:solidFill>
              <a:latin typeface="Calibri (MS)" panose="020F0502020204030204"/>
              <a:ea typeface="Calibri (MS)" panose="020F0502020204030204"/>
              <a:cs typeface="Calibri (MS)" panose="020F0502020204030204"/>
              <a:sym typeface="Calibri (MS)" panose="020F0502020204030204"/>
              <a:hlinkClick r:id="rId6" tooltip="https://aclanthology.org/2022.naacl-srw.18.pdf"/>
            </a:endParaRPr>
          </a:p>
        </p:txBody>
      </p:sp>
      <p:grpSp>
        <p:nvGrpSpPr>
          <p:cNvPr id="16" name="Group 16"/>
          <p:cNvGrpSpPr/>
          <p:nvPr/>
        </p:nvGrpSpPr>
        <p:grpSpPr>
          <a:xfrm rot="0">
            <a:off x="15458732" y="0"/>
            <a:ext cx="2829306" cy="1184338"/>
            <a:chOff x="0" y="0"/>
            <a:chExt cx="3772408" cy="1579118"/>
          </a:xfrm>
        </p:grpSpPr>
        <p:sp>
          <p:nvSpPr>
            <p:cNvPr id="17" name="Freeform 17"/>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7"/>
              <a:stretch>
                <a:fillRect/>
              </a:stretch>
            </a:blipFill>
          </p:spPr>
          <p:txBody>
            <a:bodyPr/>
            <a:p/>
          </p:txBody>
        </p:sp>
      </p:grpSp>
      <p:grpSp>
        <p:nvGrpSpPr>
          <p:cNvPr id="18" name="Group 18"/>
          <p:cNvGrpSpPr/>
          <p:nvPr/>
        </p:nvGrpSpPr>
        <p:grpSpPr>
          <a:xfrm rot="0">
            <a:off x="822960" y="9641205"/>
            <a:ext cx="13716000" cy="440055"/>
            <a:chOff x="0" y="0"/>
            <a:chExt cx="18288000" cy="586740"/>
          </a:xfrm>
        </p:grpSpPr>
        <p:sp>
          <p:nvSpPr>
            <p:cNvPr id="19" name="Freeform 19"/>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2">
                <a:alphaModFix amt="0"/>
              </a:blip>
              <a:stretch>
                <a:fillRect t="-556902" b="-556904"/>
              </a:stretch>
            </a:blipFill>
          </p:spPr>
          <p:txBody>
            <a:bodyPr/>
            <a:p/>
          </p:txBody>
        </p:sp>
      </p:grpSp>
      <p:grpSp>
        <p:nvGrpSpPr>
          <p:cNvPr id="20" name="Group 20"/>
          <p:cNvGrpSpPr/>
          <p:nvPr/>
        </p:nvGrpSpPr>
        <p:grpSpPr>
          <a:xfrm rot="0">
            <a:off x="822960" y="9612630"/>
            <a:ext cx="13716000" cy="468630"/>
            <a:chOff x="0" y="0"/>
            <a:chExt cx="18288000" cy="624840"/>
          </a:xfrm>
        </p:grpSpPr>
        <p:sp>
          <p:nvSpPr>
            <p:cNvPr id="21" name="Freeform 21"/>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3">
                <a:alphaModFix amt="0"/>
              </a:blip>
              <a:stretch>
                <a:fillRect t="-520293" b="-520293"/>
              </a:stretch>
            </a:blipFill>
          </p:spPr>
          <p:txBody>
            <a:bodyPr/>
            <a:p/>
          </p:txBody>
        </p:sp>
        <p:sp>
          <p:nvSpPr>
            <p:cNvPr id="22" name="TextBox 22"/>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P4 · ĐỘ VỮNG</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Mức tăng giữ vững qua các seed và trên full test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6" name="Group 6"/>
          <p:cNvGrpSpPr/>
          <p:nvPr/>
        </p:nvGrpSpPr>
        <p:grpSpPr>
          <a:xfrm rot="0">
            <a:off x="54864" y="1289304"/>
            <a:ext cx="9217152" cy="7022592"/>
            <a:chOff x="0" y="0"/>
            <a:chExt cx="12289536" cy="9363456"/>
          </a:xfrm>
        </p:grpSpPr>
        <p:sp>
          <p:nvSpPr>
            <p:cNvPr id="7" name="Freeform 7"/>
            <p:cNvSpPr/>
            <p:nvPr/>
          </p:nvSpPr>
          <p:spPr>
            <a:xfrm>
              <a:off x="0" y="0"/>
              <a:ext cx="12289536" cy="9363456"/>
            </a:xfrm>
            <a:custGeom>
              <a:avLst/>
              <a:gdLst/>
              <a:ahLst/>
              <a:cxnLst/>
              <a:rect l="l" t="t" r="r" b="b"/>
              <a:pathLst>
                <a:path w="12289536" h="9363456">
                  <a:moveTo>
                    <a:pt x="0" y="0"/>
                  </a:moveTo>
                  <a:lnTo>
                    <a:pt x="12289536" y="0"/>
                  </a:lnTo>
                  <a:lnTo>
                    <a:pt x="12289536" y="9363456"/>
                  </a:lnTo>
                  <a:lnTo>
                    <a:pt x="0" y="9363456"/>
                  </a:lnTo>
                  <a:lnTo>
                    <a:pt x="0" y="0"/>
                  </a:lnTo>
                  <a:close/>
                </a:path>
              </a:pathLst>
            </a:custGeom>
            <a:blipFill>
              <a:blip r:embed="rId2"/>
              <a:stretch>
                <a:fillRect l="-35" r="-35"/>
              </a:stretch>
            </a:blipFill>
          </p:spPr>
          <p:txBody>
            <a:bodyPr/>
            <a:p/>
          </p:txBody>
        </p:sp>
      </p:grpSp>
      <p:sp>
        <p:nvSpPr>
          <p:cNvPr id="8" name="Freeform 8"/>
          <p:cNvSpPr/>
          <p:nvPr/>
        </p:nvSpPr>
        <p:spPr>
          <a:xfrm>
            <a:off x="806291" y="7801451"/>
            <a:ext cx="7714297" cy="1610678"/>
          </a:xfrm>
          <a:custGeom>
            <a:avLst/>
            <a:gdLst/>
            <a:ahLst/>
            <a:cxnLst/>
            <a:rect l="l" t="t" r="r" b="b"/>
            <a:pathLst>
              <a:path w="7714297" h="1610678">
                <a:moveTo>
                  <a:pt x="0" y="0"/>
                </a:moveTo>
                <a:lnTo>
                  <a:pt x="7714298" y="0"/>
                </a:lnTo>
                <a:lnTo>
                  <a:pt x="7714298" y="1610678"/>
                </a:lnTo>
                <a:lnTo>
                  <a:pt x="0" y="1610678"/>
                </a:lnTo>
                <a:lnTo>
                  <a:pt x="0" y="0"/>
                </a:lnTo>
                <a:close/>
              </a:path>
            </a:pathLst>
          </a:custGeom>
          <a:blipFill>
            <a:blip r:embed="rId3">
              <a:extLst>
                <a:ext uri="{96DAC541-7B7A-43D3-8B79-37D633B846F1}">
                  <asvg:svgBlip xmlns:asvg="http://schemas.microsoft.com/office/drawing/2016/SVG/main" r:embed="rId4"/>
                </a:ext>
              </a:extLst>
            </a:blip>
            <a:stretch>
              <a:fillRect t="-259" b="-260"/>
            </a:stretch>
          </a:blipFill>
        </p:spPr>
        <p:txBody>
          <a:bodyPr/>
          <a:p/>
        </p:txBody>
      </p:sp>
      <p:grpSp>
        <p:nvGrpSpPr>
          <p:cNvPr id="9" name="Group 9"/>
          <p:cNvGrpSpPr/>
          <p:nvPr/>
        </p:nvGrpSpPr>
        <p:grpSpPr>
          <a:xfrm rot="0">
            <a:off x="1165860" y="7818120"/>
            <a:ext cx="6995160" cy="1577340"/>
            <a:chOff x="0" y="0"/>
            <a:chExt cx="9326880" cy="2103120"/>
          </a:xfrm>
        </p:grpSpPr>
        <p:sp>
          <p:nvSpPr>
            <p:cNvPr id="10" name="Freeform 10"/>
            <p:cNvSpPr/>
            <p:nvPr/>
          </p:nvSpPr>
          <p:spPr>
            <a:xfrm>
              <a:off x="0" y="0"/>
              <a:ext cx="9326880" cy="2103120"/>
            </a:xfrm>
            <a:custGeom>
              <a:avLst/>
              <a:gdLst/>
              <a:ahLst/>
              <a:cxnLst/>
              <a:rect l="l" t="t" r="r" b="b"/>
              <a:pathLst>
                <a:path w="9326880" h="2103120">
                  <a:moveTo>
                    <a:pt x="0" y="0"/>
                  </a:moveTo>
                  <a:lnTo>
                    <a:pt x="9326880" y="0"/>
                  </a:lnTo>
                  <a:lnTo>
                    <a:pt x="9326880" y="2103120"/>
                  </a:lnTo>
                  <a:lnTo>
                    <a:pt x="0" y="2103120"/>
                  </a:lnTo>
                  <a:close/>
                </a:path>
              </a:pathLst>
            </a:custGeom>
            <a:blipFill>
              <a:blip r:embed="rId1">
                <a:alphaModFix amt="0"/>
              </a:blip>
              <a:stretch>
                <a:fillRect t="-36352" b="-36351"/>
              </a:stretch>
            </a:blipFill>
          </p:spPr>
          <p:txBody>
            <a:bodyPr/>
            <a:p/>
          </p:txBody>
        </p:sp>
      </p:grpSp>
      <p:grpSp>
        <p:nvGrpSpPr>
          <p:cNvPr id="11" name="Group 11"/>
          <p:cNvGrpSpPr/>
          <p:nvPr/>
        </p:nvGrpSpPr>
        <p:grpSpPr>
          <a:xfrm rot="0">
            <a:off x="1165860" y="7782401"/>
            <a:ext cx="6995160" cy="1613059"/>
            <a:chOff x="0" y="0"/>
            <a:chExt cx="9326880" cy="2150745"/>
          </a:xfrm>
        </p:grpSpPr>
        <p:sp>
          <p:nvSpPr>
            <p:cNvPr id="12" name="Freeform 12"/>
            <p:cNvSpPr/>
            <p:nvPr/>
          </p:nvSpPr>
          <p:spPr>
            <a:xfrm>
              <a:off x="0" y="0"/>
              <a:ext cx="9326880" cy="2150745"/>
            </a:xfrm>
            <a:custGeom>
              <a:avLst/>
              <a:gdLst/>
              <a:ahLst/>
              <a:cxnLst/>
              <a:rect l="l" t="t" r="r" b="b"/>
              <a:pathLst>
                <a:path w="9326880" h="2150745">
                  <a:moveTo>
                    <a:pt x="0" y="0"/>
                  </a:moveTo>
                  <a:lnTo>
                    <a:pt x="9326880" y="0"/>
                  </a:lnTo>
                  <a:lnTo>
                    <a:pt x="9326880" y="2150745"/>
                  </a:lnTo>
                  <a:lnTo>
                    <a:pt x="0" y="2150745"/>
                  </a:lnTo>
                  <a:close/>
                </a:path>
              </a:pathLst>
            </a:custGeom>
            <a:blipFill>
              <a:blip r:embed="rId5">
                <a:alphaModFix amt="0"/>
              </a:blip>
              <a:stretch>
                <a:fillRect t="-34439" b="-34439"/>
              </a:stretch>
            </a:blipFill>
          </p:spPr>
          <p:txBody>
            <a:bodyPr/>
            <a:p/>
          </p:txBody>
        </p:sp>
      </p:grpSp>
      <p:grpSp>
        <p:nvGrpSpPr>
          <p:cNvPr id="13" name="Group 13"/>
          <p:cNvGrpSpPr/>
          <p:nvPr/>
        </p:nvGrpSpPr>
        <p:grpSpPr>
          <a:xfrm rot="0">
            <a:off x="1165860" y="7746682"/>
            <a:ext cx="6995160" cy="1648777"/>
            <a:chOff x="0" y="0"/>
            <a:chExt cx="9326880" cy="2198370"/>
          </a:xfrm>
        </p:grpSpPr>
        <p:sp>
          <p:nvSpPr>
            <p:cNvPr id="14" name="Freeform 14"/>
            <p:cNvSpPr/>
            <p:nvPr/>
          </p:nvSpPr>
          <p:spPr>
            <a:xfrm>
              <a:off x="0" y="0"/>
              <a:ext cx="9326880" cy="2198370"/>
            </a:xfrm>
            <a:custGeom>
              <a:avLst/>
              <a:gdLst/>
              <a:ahLst/>
              <a:cxnLst/>
              <a:rect l="l" t="t" r="r" b="b"/>
              <a:pathLst>
                <a:path w="9326880" h="2198370">
                  <a:moveTo>
                    <a:pt x="0" y="0"/>
                  </a:moveTo>
                  <a:lnTo>
                    <a:pt x="9326880" y="0"/>
                  </a:lnTo>
                  <a:lnTo>
                    <a:pt x="9326880" y="2198370"/>
                  </a:lnTo>
                  <a:lnTo>
                    <a:pt x="0" y="2198370"/>
                  </a:lnTo>
                  <a:close/>
                </a:path>
              </a:pathLst>
            </a:custGeom>
            <a:blipFill>
              <a:blip r:embed="rId6">
                <a:alphaModFix amt="0"/>
              </a:blip>
              <a:stretch>
                <a:fillRect t="-32667" b="-32667"/>
              </a:stretch>
            </a:blipFill>
          </p:spPr>
          <p:txBody>
            <a:bodyPr/>
            <a:p/>
          </p:txBody>
        </p:sp>
        <p:sp>
          <p:nvSpPr>
            <p:cNvPr id="15" name="TextBox 15"/>
            <p:cNvSpPr txBox="1"/>
            <p:nvPr/>
          </p:nvSpPr>
          <p:spPr>
            <a:xfrm>
              <a:off x="0" y="-47625"/>
              <a:ext cx="9326880" cy="2245995"/>
            </a:xfrm>
            <a:prstGeom prst="rect">
              <a:avLst/>
            </a:prstGeom>
          </p:spPr>
          <p:txBody>
            <a:bodyPr lIns="0" tIns="0" rIns="0" bIns="0" rtlCol="0" anchor="ctr"/>
            <a:lstStyle/>
            <a:p>
              <a:pPr algn="l">
                <a:lnSpc>
                  <a:spcPts val="2520"/>
                </a:lnSpc>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+3,57 ± 0,76 EM · cả 3 seed p ≤ 1,4 × 10⁻⁴ → ổn định</a:t>
              </a:r>
              <a:r>
                <a:rPr lang="en-US" sz="2100">
                  <a:solidFill>
                    <a:srgbClr val="243044"/>
                  </a:solidFill>
                  <a:latin typeface="Calibri (MS)" panose="020F0502020204030204"/>
                  <a:ea typeface="Calibri (MS)" panose="020F0502020204030204"/>
                  <a:cs typeface="Calibri (MS)" panose="020F0502020204030204"/>
                  <a:sym typeface="Calibri (MS)" panose="020F0502020204030204"/>
                </a:rPr>
                <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graphicFrame>
        <p:nvGraphicFramePr>
          <p:cNvPr id="16" name="Table 16"/>
          <p:cNvGraphicFramePr>
            <a:graphicFrameLocks noGrp="1"/>
          </p:cNvGraphicFramePr>
          <p:nvPr/>
        </p:nvGraphicFramePr>
        <p:xfrm>
          <a:off x="9052560" y="2057400"/>
          <a:ext cx="8343900" cy="3429000"/>
        </p:xfrm>
        <a:graphic>
          <a:graphicData uri="http://schemas.openxmlformats.org/drawingml/2006/table">
            <a:tbl>
              <a:tblPr/>
              <a:tblGrid>
                <a:gridCol w="3427851"/>
                <a:gridCol w="1977175"/>
                <a:gridCol w="1515595"/>
                <a:gridCol w="1423279"/>
              </a:tblGrid>
              <a:tr h="6858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Full test (10.028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Dữ liệu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F1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ViTextBLIP-2 (paper)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toàn bộ</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25,48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53,95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B2-sub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46,56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67,83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85800">
                <a:tc>
                  <a:txBody>
                    <a:bodyPr rtlCol="0"/>
                    <a:lstStyle/>
                    <a:p>
                      <a:pPr algn="l">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B3 (nhận biết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23%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49,10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rtlCol="0"/>
                    <a:lstStyle/>
                    <a:p>
                      <a:pPr algn="ctr">
                        <a:lnSpc>
                          <a:spcPts val="2520"/>
                        </a:lnSpc>
                        <a:defRPr/>
                      </a:pPr>
                      <a:r>
                        <a:rPr lang="en-US" sz="2100" b="1">
                          <a:solidFill>
                            <a:srgbClr val="13294B"/>
                          </a:solidFill>
                          <a:latin typeface="Calibri (MS) Bold" panose="020F0702030404030204"/>
                          <a:ea typeface="Calibri (MS) Bold" panose="020F0702030404030204"/>
                          <a:cs typeface="Calibri (MS) Bold" panose="020F0702030404030204"/>
                          <a:sym typeface="Calibri (MS) Bold" panose="020F0702030404030204"/>
                        </a:rPr>
                        <a:t>70,03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6858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B2 (QLoRA, không OCR)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50,26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71,16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17" name="Freeform 17"/>
          <p:cNvSpPr/>
          <p:nvPr/>
        </p:nvSpPr>
        <p:spPr>
          <a:xfrm>
            <a:off x="9035891" y="5812631"/>
            <a:ext cx="8445341" cy="3599497"/>
          </a:xfrm>
          <a:custGeom>
            <a:avLst/>
            <a:gdLst/>
            <a:ahLst/>
            <a:cxnLst/>
            <a:rect l="l" t="t" r="r" b="b"/>
            <a:pathLst>
              <a:path w="8445341" h="3599497">
                <a:moveTo>
                  <a:pt x="0" y="0"/>
                </a:moveTo>
                <a:lnTo>
                  <a:pt x="8445341" y="0"/>
                </a:lnTo>
                <a:lnTo>
                  <a:pt x="8445341" y="3599498"/>
                </a:lnTo>
                <a:lnTo>
                  <a:pt x="0" y="3599498"/>
                </a:lnTo>
                <a:lnTo>
                  <a:pt x="0" y="0"/>
                </a:lnTo>
                <a:close/>
              </a:path>
            </a:pathLst>
          </a:custGeom>
          <a:blipFill>
            <a:blip r:embed="rId7">
              <a:extLst>
                <a:ext uri="{96DAC541-7B7A-43D3-8B79-37D633B846F1}">
                  <asvg:svgBlip xmlns:asvg="http://schemas.microsoft.com/office/drawing/2016/SVG/main" r:embed="rId8"/>
                </a:ext>
              </a:extLst>
            </a:blip>
            <a:stretch>
              <a:fillRect l="-6" r="-6"/>
            </a:stretch>
          </a:blipFill>
        </p:spPr>
        <p:txBody>
          <a:bodyPr/>
          <a:p/>
        </p:txBody>
      </p:sp>
      <p:sp>
        <p:nvSpPr>
          <p:cNvPr id="18" name="TextBox 18"/>
          <p:cNvSpPr txBox="1"/>
          <p:nvPr/>
        </p:nvSpPr>
        <p:spPr>
          <a:xfrm>
            <a:off x="9395460" y="5892165"/>
            <a:ext cx="7726223" cy="336613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B3 so với B2-sub: +2,54 EM (672 so với 417 câu chỉ một model đúng, p = 10⁻¹⁴)</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Cao hơn ViTextBLIP-2 cả EM và F1 (cận dưới CI95 48,1 / 69,3)</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Đính chính: vẫn thấp hơn B2 dữ liệu đầy đủ 1,16 EM (p = 0,003); OCR bù ≈ 69% phần mất do cắt dữ liệu với 25% thời gian train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9" name="Group 19"/>
          <p:cNvGrpSpPr/>
          <p:nvPr/>
        </p:nvGrpSpPr>
        <p:grpSpPr>
          <a:xfrm rot="0">
            <a:off x="15458732" y="0"/>
            <a:ext cx="2829306" cy="1184338"/>
            <a:chOff x="0" y="0"/>
            <a:chExt cx="3772408" cy="1579118"/>
          </a:xfrm>
        </p:grpSpPr>
        <p:sp>
          <p:nvSpPr>
            <p:cNvPr id="20" name="Freeform 20"/>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9"/>
              <a:stretch>
                <a:fillRect/>
              </a:stretch>
            </a:blipFill>
          </p:spPr>
          <p:txBody>
            <a:bodyPr/>
            <a:p/>
          </p:txBody>
        </p:sp>
      </p:grpSp>
      <p:grpSp>
        <p:nvGrpSpPr>
          <p:cNvPr id="21" name="Group 21"/>
          <p:cNvGrpSpPr/>
          <p:nvPr/>
        </p:nvGrpSpPr>
        <p:grpSpPr>
          <a:xfrm rot="0">
            <a:off x="822960" y="9641205"/>
            <a:ext cx="13716000" cy="440055"/>
            <a:chOff x="0" y="0"/>
            <a:chExt cx="18288000" cy="586740"/>
          </a:xfrm>
        </p:grpSpPr>
        <p:sp>
          <p:nvSpPr>
            <p:cNvPr id="22" name="Freeform 22"/>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5">
                <a:alphaModFix amt="0"/>
              </a:blip>
              <a:stretch>
                <a:fillRect t="-556902" b="-556904"/>
              </a:stretch>
            </a:blipFill>
          </p:spPr>
          <p:txBody>
            <a:bodyPr/>
            <a:p/>
          </p:txBody>
        </p:sp>
      </p:grpSp>
      <p:grpSp>
        <p:nvGrpSpPr>
          <p:cNvPr id="23" name="Group 23"/>
          <p:cNvGrpSpPr/>
          <p:nvPr/>
        </p:nvGrpSpPr>
        <p:grpSpPr>
          <a:xfrm rot="0">
            <a:off x="822960" y="9612630"/>
            <a:ext cx="13716000" cy="468630"/>
            <a:chOff x="0" y="0"/>
            <a:chExt cx="18288000" cy="624840"/>
          </a:xfrm>
        </p:grpSpPr>
        <p:sp>
          <p:nvSpPr>
            <p:cNvPr id="24" name="Freeform 24"/>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6">
                <a:alphaModFix amt="0"/>
              </a:blip>
              <a:stretch>
                <a:fillRect t="-520293" b="-520293"/>
              </a:stretch>
            </a:blipFill>
          </p:spPr>
          <p:txBody>
            <a:bodyPr/>
            <a:p/>
          </p:txBody>
        </p:sp>
        <p:sp>
          <p:nvSpPr>
            <p:cNvPr id="25" name="TextBox 25"/>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P5 · ABLATION CẤU HÌNH LoRA</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Cấu hình LoRA đã hợp lý — giữ r = 16 trên q, k, v, o</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6" name="Table 6"/>
          <p:cNvGraphicFramePr>
            <a:graphicFrameLocks noGrp="1"/>
          </p:cNvGraphicFramePr>
          <p:nvPr/>
        </p:nvGraphicFramePr>
        <p:xfrm>
          <a:off x="822960" y="2130552"/>
          <a:ext cx="16510001" cy="2794000"/>
        </p:xfrm>
        <a:graphic>
          <a:graphicData uri="http://schemas.openxmlformats.org/drawingml/2006/table">
            <a:tbl>
              <a:tblPr/>
              <a:tblGrid>
                <a:gridCol w="3722260"/>
                <a:gridCol w="3902001"/>
                <a:gridCol w="2374213"/>
                <a:gridCol w="1205907"/>
                <a:gridCol w="2733693"/>
                <a:gridCol w="2571927"/>
              </a:tblGrid>
              <a:tr h="6985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Run (công thức B3, test2000)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LoRA gắn vào</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Tham số train</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EM</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ΔEM so với B3 · p</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Train · adapter</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698500">
                <a:tc>
                  <a:txBody>
                    <a:bodyPr rtlCol="0"/>
                    <a:lstStyle/>
                    <a:p>
                      <a:pPr algn="l">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B3 (mốc)</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q, k, v, o · r 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7,37 tr · 0,196%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49,25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3,0 h · 29,5 MB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985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A1 · module</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 MLP (gate, up, down) · r 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7,48 tr · 0,199%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48,70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−0,55 · p = 0,34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3,5 h · 30,0 MB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6985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A2 · rank</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q, k, v, o · r 64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29,5 tr · 0,779%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50,30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+1,05 · p = 0,07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2,9 h · 118 MB</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Freeform 7"/>
          <p:cNvSpPr/>
          <p:nvPr/>
        </p:nvSpPr>
        <p:spPr>
          <a:xfrm>
            <a:off x="806291" y="6018371"/>
            <a:ext cx="5214842" cy="2570797"/>
          </a:xfrm>
          <a:custGeom>
            <a:avLst/>
            <a:gdLst/>
            <a:ahLst/>
            <a:cxnLst/>
            <a:rect l="l" t="t" r="r" b="b"/>
            <a:pathLst>
              <a:path w="5214842" h="2570797">
                <a:moveTo>
                  <a:pt x="0" y="0"/>
                </a:moveTo>
                <a:lnTo>
                  <a:pt x="5214843" y="0"/>
                </a:lnTo>
                <a:lnTo>
                  <a:pt x="5214843" y="2570798"/>
                </a:lnTo>
                <a:lnTo>
                  <a:pt x="0" y="2570798"/>
                </a:lnTo>
                <a:lnTo>
                  <a:pt x="0" y="0"/>
                </a:lnTo>
                <a:close/>
              </a:path>
            </a:pathLst>
          </a:custGeom>
          <a:blipFill>
            <a:blip r:embed="rId2">
              <a:extLst>
                <a:ext uri="{96DAC541-7B7A-43D3-8B79-37D633B846F1}">
                  <asvg:svgBlip xmlns:asvg="http://schemas.microsoft.com/office/drawing/2016/SVG/main" r:embed="rId3"/>
                </a:ext>
              </a:extLst>
            </a:blip>
            <a:stretch>
              <a:fillRect l="-27" r="-28"/>
            </a:stretch>
          </a:blipFill>
        </p:spPr>
        <p:txBody>
          <a:bodyPr/>
          <a:p/>
        </p:txBody>
      </p:sp>
      <p:sp>
        <p:nvSpPr>
          <p:cNvPr id="8" name="TextBox 8"/>
          <p:cNvSpPr txBox="1"/>
          <p:nvPr/>
        </p:nvSpPr>
        <p:spPr>
          <a:xfrm>
            <a:off x="1165860" y="612648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A1: thêm MLP không giúp</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9" name="TextBox 9"/>
          <p:cNvSpPr txBox="1"/>
          <p:nvPr/>
        </p:nvSpPr>
        <p:spPr>
          <a:xfrm>
            <a:off x="1165860" y="6783705"/>
            <a:ext cx="4495648" cy="158305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Cùng ngân sách tham số: CI95 [−1,60; +0,45]; chậm hơn 17,5% mỗi step</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0" name="Freeform 10"/>
          <p:cNvSpPr/>
          <p:nvPr/>
        </p:nvSpPr>
        <p:spPr>
          <a:xfrm>
            <a:off x="6536379" y="6018371"/>
            <a:ext cx="5214842" cy="2570797"/>
          </a:xfrm>
          <a:custGeom>
            <a:avLst/>
            <a:gdLst/>
            <a:ahLst/>
            <a:cxnLst/>
            <a:rect l="l" t="t" r="r" b="b"/>
            <a:pathLst>
              <a:path w="5214842" h="2570797">
                <a:moveTo>
                  <a:pt x="0" y="0"/>
                </a:moveTo>
                <a:lnTo>
                  <a:pt x="5214842" y="0"/>
                </a:lnTo>
                <a:lnTo>
                  <a:pt x="5214842" y="2570798"/>
                </a:lnTo>
                <a:lnTo>
                  <a:pt x="0" y="2570798"/>
                </a:lnTo>
                <a:lnTo>
                  <a:pt x="0" y="0"/>
                </a:lnTo>
                <a:close/>
              </a:path>
            </a:pathLst>
          </a:custGeom>
          <a:blipFill>
            <a:blip r:embed="rId2">
              <a:extLst>
                <a:ext uri="{96DAC541-7B7A-43D3-8B79-37D633B846F1}">
                  <asvg:svgBlip xmlns:asvg="http://schemas.microsoft.com/office/drawing/2016/SVG/main" r:embed="rId3"/>
                </a:ext>
              </a:extLst>
            </a:blip>
            <a:stretch>
              <a:fillRect l="-27" r="-28"/>
            </a:stretch>
          </a:blipFill>
        </p:spPr>
        <p:txBody>
          <a:bodyPr/>
          <a:p/>
        </p:txBody>
      </p:sp>
      <p:sp>
        <p:nvSpPr>
          <p:cNvPr id="11" name="TextBox 11"/>
          <p:cNvSpPr txBox="1"/>
          <p:nvPr/>
        </p:nvSpPr>
        <p:spPr>
          <a:xfrm>
            <a:off x="6895948" y="612648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A2: rank 64 không khác rõ</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2" name="TextBox 12"/>
          <p:cNvSpPr txBox="1"/>
          <p:nvPr/>
        </p:nvSpPr>
        <p:spPr>
          <a:xfrm>
            <a:off x="6895948" y="6783705"/>
            <a:ext cx="4495648" cy="158305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CI95 [−0,05; +2,15], p = 0,07 — dưới ngưỡng; adapter lớn gấp 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3" name="Freeform 13"/>
          <p:cNvSpPr/>
          <p:nvPr/>
        </p:nvSpPr>
        <p:spPr>
          <a:xfrm>
            <a:off x="12266466" y="6018371"/>
            <a:ext cx="5214842" cy="2570797"/>
          </a:xfrm>
          <a:custGeom>
            <a:avLst/>
            <a:gdLst/>
            <a:ahLst/>
            <a:cxnLst/>
            <a:rect l="l" t="t" r="r" b="b"/>
            <a:pathLst>
              <a:path w="5214842" h="2570797">
                <a:moveTo>
                  <a:pt x="0" y="0"/>
                </a:moveTo>
                <a:lnTo>
                  <a:pt x="5214843" y="0"/>
                </a:lnTo>
                <a:lnTo>
                  <a:pt x="5214843" y="2570798"/>
                </a:lnTo>
                <a:lnTo>
                  <a:pt x="0" y="2570798"/>
                </a:lnTo>
                <a:lnTo>
                  <a:pt x="0" y="0"/>
                </a:lnTo>
                <a:close/>
              </a:path>
            </a:pathLst>
          </a:custGeom>
          <a:blipFill>
            <a:blip r:embed="rId4">
              <a:extLst>
                <a:ext uri="{96DAC541-7B7A-43D3-8B79-37D633B846F1}">
                  <asvg:svgBlip xmlns:asvg="http://schemas.microsoft.com/office/drawing/2016/SVG/main" r:embed="rId5"/>
                </a:ext>
              </a:extLst>
            </a:blip>
            <a:stretch>
              <a:fillRect l="-27" r="-28"/>
            </a:stretch>
          </a:blipFill>
        </p:spPr>
        <p:txBody>
          <a:bodyPr/>
          <a:p/>
        </p:txBody>
      </p:sp>
      <p:sp>
        <p:nvSpPr>
          <p:cNvPr id="14" name="TextBox 14"/>
          <p:cNvSpPr txBox="1"/>
          <p:nvPr/>
        </p:nvSpPr>
        <p:spPr>
          <a:xfrm>
            <a:off x="12626035" y="6126480"/>
            <a:ext cx="4495648" cy="73152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Quyết định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5" name="TextBox 15"/>
          <p:cNvSpPr txBox="1"/>
          <p:nvPr/>
        </p:nvSpPr>
        <p:spPr>
          <a:xfrm>
            <a:off x="12626035" y="6783705"/>
            <a:ext cx="4495648" cy="158305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Giữ r = 16 trên q, k, v, o cho mọi run; không chọn cấu hình bằng test</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6" name="Group 16"/>
          <p:cNvGrpSpPr/>
          <p:nvPr/>
        </p:nvGrpSpPr>
        <p:grpSpPr>
          <a:xfrm rot="0">
            <a:off x="822960" y="8709660"/>
            <a:ext cx="16641604" cy="850392"/>
            <a:chOff x="0" y="0"/>
            <a:chExt cx="22188805" cy="1133856"/>
          </a:xfrm>
        </p:grpSpPr>
        <p:sp>
          <p:nvSpPr>
            <p:cNvPr id="17" name="Freeform 17"/>
            <p:cNvSpPr/>
            <p:nvPr/>
          </p:nvSpPr>
          <p:spPr>
            <a:xfrm>
              <a:off x="0" y="0"/>
              <a:ext cx="22188805" cy="1133856"/>
            </a:xfrm>
            <a:custGeom>
              <a:avLst/>
              <a:gdLst/>
              <a:ahLst/>
              <a:cxnLst/>
              <a:rect l="l" t="t" r="r" b="b"/>
              <a:pathLst>
                <a:path w="22188805" h="1133856">
                  <a:moveTo>
                    <a:pt x="0" y="0"/>
                  </a:moveTo>
                  <a:lnTo>
                    <a:pt x="22188805" y="0"/>
                  </a:lnTo>
                  <a:lnTo>
                    <a:pt x="22188805" y="1133856"/>
                  </a:lnTo>
                  <a:lnTo>
                    <a:pt x="0" y="1133856"/>
                  </a:lnTo>
                  <a:close/>
                </a:path>
              </a:pathLst>
            </a:custGeom>
            <a:blipFill>
              <a:blip r:embed="rId1">
                <a:alphaModFix amt="0"/>
              </a:blip>
              <a:stretch>
                <a:fillRect t="-331043" b="-331043"/>
              </a:stretch>
            </a:blipFill>
          </p:spPr>
          <p:txBody>
            <a:bodyPr/>
            <a:p/>
          </p:txBody>
        </p:sp>
      </p:grpSp>
      <p:grpSp>
        <p:nvGrpSpPr>
          <p:cNvPr id="18" name="Group 18"/>
          <p:cNvGrpSpPr/>
          <p:nvPr/>
        </p:nvGrpSpPr>
        <p:grpSpPr>
          <a:xfrm rot="0">
            <a:off x="822960" y="8681085"/>
            <a:ext cx="16641623" cy="878967"/>
            <a:chOff x="0" y="0"/>
            <a:chExt cx="22188830" cy="1171956"/>
          </a:xfrm>
        </p:grpSpPr>
        <p:sp>
          <p:nvSpPr>
            <p:cNvPr id="19" name="Freeform 19"/>
            <p:cNvSpPr/>
            <p:nvPr/>
          </p:nvSpPr>
          <p:spPr>
            <a:xfrm>
              <a:off x="0" y="0"/>
              <a:ext cx="22188805" cy="1171956"/>
            </a:xfrm>
            <a:custGeom>
              <a:avLst/>
              <a:gdLst/>
              <a:ahLst/>
              <a:cxnLst/>
              <a:rect l="l" t="t" r="r" b="b"/>
              <a:pathLst>
                <a:path w="22188805" h="1171956">
                  <a:moveTo>
                    <a:pt x="0" y="0"/>
                  </a:moveTo>
                  <a:lnTo>
                    <a:pt x="22188805" y="0"/>
                  </a:lnTo>
                  <a:lnTo>
                    <a:pt x="22188805" y="1171956"/>
                  </a:lnTo>
                  <a:lnTo>
                    <a:pt x="0" y="1171956"/>
                  </a:lnTo>
                  <a:close/>
                </a:path>
              </a:pathLst>
            </a:custGeom>
            <a:blipFill>
              <a:blip r:embed="rId6">
                <a:alphaModFix amt="0"/>
              </a:blip>
              <a:stretch>
                <a:fillRect t="-318656" b="-318657"/>
              </a:stretch>
            </a:blipFill>
          </p:spPr>
          <p:txBody>
            <a:bodyPr/>
            <a:p/>
          </p:txBody>
        </p:sp>
      </p:grpSp>
      <p:grpSp>
        <p:nvGrpSpPr>
          <p:cNvPr id="20" name="Group 20"/>
          <p:cNvGrpSpPr/>
          <p:nvPr/>
        </p:nvGrpSpPr>
        <p:grpSpPr>
          <a:xfrm rot="0">
            <a:off x="822960" y="8652510"/>
            <a:ext cx="16641623" cy="907542"/>
            <a:chOff x="0" y="0"/>
            <a:chExt cx="22188830" cy="1210056"/>
          </a:xfrm>
        </p:grpSpPr>
        <p:sp>
          <p:nvSpPr>
            <p:cNvPr id="21" name="Freeform 21"/>
            <p:cNvSpPr/>
            <p:nvPr/>
          </p:nvSpPr>
          <p:spPr>
            <a:xfrm>
              <a:off x="0" y="0"/>
              <a:ext cx="22188830" cy="1210056"/>
            </a:xfrm>
            <a:custGeom>
              <a:avLst/>
              <a:gdLst/>
              <a:ahLst/>
              <a:cxnLst/>
              <a:rect l="l" t="t" r="r" b="b"/>
              <a:pathLst>
                <a:path w="22188830" h="1210056">
                  <a:moveTo>
                    <a:pt x="0" y="0"/>
                  </a:moveTo>
                  <a:lnTo>
                    <a:pt x="22188830" y="0"/>
                  </a:lnTo>
                  <a:lnTo>
                    <a:pt x="22188830" y="1210056"/>
                  </a:lnTo>
                  <a:lnTo>
                    <a:pt x="0" y="1210056"/>
                  </a:lnTo>
                  <a:close/>
                </a:path>
              </a:pathLst>
            </a:custGeom>
            <a:blipFill>
              <a:blip r:embed="rId7">
                <a:alphaModFix amt="0"/>
              </a:blip>
              <a:stretch>
                <a:fillRect t="-307297" b="-307297"/>
              </a:stretch>
            </a:blipFill>
          </p:spPr>
          <p:txBody>
            <a:bodyPr/>
            <a:p/>
          </p:txBody>
        </p:sp>
        <p:sp>
          <p:nvSpPr>
            <p:cNvPr id="22" name="TextBox 22"/>
            <p:cNvSpPr txBox="1"/>
            <p:nvPr/>
          </p:nvSpPr>
          <p:spPr>
            <a:xfrm>
              <a:off x="0" y="-38100"/>
              <a:ext cx="22188830" cy="1248156"/>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Chỉ kết luận khác biệt khi McNemar p &lt; 0,05. Một seed (42); độ lệch chuẩn EM của B3 qua 3 seed là 0,23 điểm. α = 2r ở mọi run; LoRA chỉ gắn vào LLM (0 lớp vision). Run: experiments/W10_A2_…, W10_A3_… (tên thư mục cũ).</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grpSp>
        <p:nvGrpSpPr>
          <p:cNvPr id="23" name="Group 23"/>
          <p:cNvGrpSpPr/>
          <p:nvPr/>
        </p:nvGrpSpPr>
        <p:grpSpPr>
          <a:xfrm rot="0">
            <a:off x="15458732" y="0"/>
            <a:ext cx="2829306" cy="1184338"/>
            <a:chOff x="0" y="0"/>
            <a:chExt cx="3772408" cy="1579118"/>
          </a:xfrm>
        </p:grpSpPr>
        <p:sp>
          <p:nvSpPr>
            <p:cNvPr id="24" name="Freeform 24"/>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8"/>
              <a:stretch>
                <a:fillRect/>
              </a:stretch>
            </a:blipFill>
          </p:spPr>
          <p:txBody>
            <a:bodyPr/>
            <a:p/>
          </p:txBody>
        </p:sp>
      </p:grpSp>
      <p:grpSp>
        <p:nvGrpSpPr>
          <p:cNvPr id="25" name="Group 25"/>
          <p:cNvGrpSpPr/>
          <p:nvPr/>
        </p:nvGrpSpPr>
        <p:grpSpPr>
          <a:xfrm rot="0">
            <a:off x="822960" y="9641205"/>
            <a:ext cx="13716000" cy="440055"/>
            <a:chOff x="0" y="0"/>
            <a:chExt cx="18288000" cy="586740"/>
          </a:xfrm>
        </p:grpSpPr>
        <p:sp>
          <p:nvSpPr>
            <p:cNvPr id="26" name="Freeform 26"/>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6">
                <a:alphaModFix amt="0"/>
              </a:blip>
              <a:stretch>
                <a:fillRect t="-556902" b="-556904"/>
              </a:stretch>
            </a:blipFill>
          </p:spPr>
          <p:txBody>
            <a:bodyPr/>
            <a:p/>
          </p:txBody>
        </p:sp>
      </p:grpSp>
      <p:grpSp>
        <p:nvGrpSpPr>
          <p:cNvPr id="27" name="Group 27"/>
          <p:cNvGrpSpPr/>
          <p:nvPr/>
        </p:nvGrpSpPr>
        <p:grpSpPr>
          <a:xfrm rot="0">
            <a:off x="822960" y="9612630"/>
            <a:ext cx="13716000" cy="468630"/>
            <a:chOff x="0" y="0"/>
            <a:chExt cx="18288000" cy="624840"/>
          </a:xfrm>
        </p:grpSpPr>
        <p:sp>
          <p:nvSpPr>
            <p:cNvPr id="28" name="Freeform 28"/>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7">
                <a:alphaModFix amt="0"/>
              </a:blip>
              <a:stretch>
                <a:fillRect t="-520293" b="-520293"/>
              </a:stretch>
            </a:blipFill>
          </p:spPr>
          <p:txBody>
            <a:bodyPr/>
            <a:p/>
          </p:txBody>
        </p:sp>
        <p:sp>
          <p:nvSpPr>
            <p:cNvPr id="29" name="TextBox 29"/>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P6 · ViVQA: SỐ EPOCH</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5" name="Group 5"/>
          <p:cNvGrpSpPr/>
          <p:nvPr/>
        </p:nvGrpSpPr>
        <p:grpSpPr>
          <a:xfrm rot="0">
            <a:off x="15458732" y="0"/>
            <a:ext cx="2829306" cy="1184338"/>
            <a:chOff x="0" y="0"/>
            <a:chExt cx="3772408" cy="1579118"/>
          </a:xfrm>
        </p:grpSpPr>
        <p:sp>
          <p:nvSpPr>
            <p:cNvPr id="6" name="Freeform 6"/>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2"/>
              <a:stretch>
                <a:fillRect/>
              </a:stretch>
            </a:blipFill>
          </p:spPr>
          <p:txBody>
            <a:bodyPr/>
            <a:p/>
          </p:txBody>
        </p:sp>
      </p:grpSp>
      <p:sp>
        <p:nvSpPr>
          <p:cNvPr id="7" name="TextBox 7"/>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ViVQA: epoch thứ hai có ích — chọn mà không chạm test</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pSp>
        <p:nvGrpSpPr>
          <p:cNvPr id="8" name="Group 8"/>
          <p:cNvGrpSpPr/>
          <p:nvPr/>
        </p:nvGrpSpPr>
        <p:grpSpPr>
          <a:xfrm rot="0">
            <a:off x="-137160" y="1097280"/>
            <a:ext cx="11521440" cy="6858000"/>
            <a:chOff x="0" y="0"/>
            <a:chExt cx="15361920" cy="9144000"/>
          </a:xfrm>
        </p:grpSpPr>
        <p:sp>
          <p:nvSpPr>
            <p:cNvPr id="9" name="Freeform 9"/>
            <p:cNvSpPr/>
            <p:nvPr/>
          </p:nvSpPr>
          <p:spPr>
            <a:xfrm>
              <a:off x="0" y="0"/>
              <a:ext cx="15361920" cy="9144000"/>
            </a:xfrm>
            <a:custGeom>
              <a:avLst/>
              <a:gdLst/>
              <a:ahLst/>
              <a:cxnLst/>
              <a:rect l="l" t="t" r="r" b="b"/>
              <a:pathLst>
                <a:path w="15361920" h="9144000">
                  <a:moveTo>
                    <a:pt x="0" y="0"/>
                  </a:moveTo>
                  <a:lnTo>
                    <a:pt x="15361920" y="0"/>
                  </a:lnTo>
                  <a:lnTo>
                    <a:pt x="15361920" y="9144000"/>
                  </a:lnTo>
                  <a:lnTo>
                    <a:pt x="0" y="9144000"/>
                  </a:lnTo>
                  <a:lnTo>
                    <a:pt x="0" y="0"/>
                  </a:lnTo>
                  <a:close/>
                </a:path>
              </a:pathLst>
            </a:custGeom>
            <a:blipFill>
              <a:blip r:embed="rId3"/>
              <a:stretch>
                <a:fillRect l="-16" r="-16"/>
              </a:stretch>
            </a:blipFill>
          </p:spPr>
          <p:txBody>
            <a:bodyPr/>
            <a:p/>
          </p:txBody>
        </p:sp>
      </p:grpSp>
      <p:sp>
        <p:nvSpPr>
          <p:cNvPr id="10" name="Freeform 10"/>
          <p:cNvSpPr/>
          <p:nvPr/>
        </p:nvSpPr>
        <p:spPr>
          <a:xfrm>
            <a:off x="806291" y="7252811"/>
            <a:ext cx="9634538" cy="2159317"/>
          </a:xfrm>
          <a:custGeom>
            <a:avLst/>
            <a:gdLst/>
            <a:ahLst/>
            <a:cxnLst/>
            <a:rect l="l" t="t" r="r" b="b"/>
            <a:pathLst>
              <a:path w="9634538" h="2159317">
                <a:moveTo>
                  <a:pt x="0" y="0"/>
                </a:moveTo>
                <a:lnTo>
                  <a:pt x="9634538" y="0"/>
                </a:lnTo>
                <a:lnTo>
                  <a:pt x="9634538" y="2159318"/>
                </a:lnTo>
                <a:lnTo>
                  <a:pt x="0" y="2159318"/>
                </a:lnTo>
                <a:lnTo>
                  <a:pt x="0" y="0"/>
                </a:lnTo>
                <a:close/>
              </a:path>
            </a:pathLst>
          </a:custGeom>
          <a:blipFill>
            <a:blip r:embed="rId4">
              <a:extLst>
                <a:ext uri="{96DAC541-7B7A-43D3-8B79-37D633B846F1}">
                  <asvg:svgBlip xmlns:asvg="http://schemas.microsoft.com/office/drawing/2016/SVG/main" r:embed="rId5"/>
                </a:ext>
              </a:extLst>
            </a:blip>
            <a:stretch>
              <a:fillRect t="-41" b="-41"/>
            </a:stretch>
          </a:blipFill>
        </p:spPr>
        <p:txBody>
          <a:bodyPr/>
          <a:p/>
        </p:txBody>
      </p:sp>
      <p:grpSp>
        <p:nvGrpSpPr>
          <p:cNvPr id="11" name="Group 11"/>
          <p:cNvGrpSpPr/>
          <p:nvPr/>
        </p:nvGrpSpPr>
        <p:grpSpPr>
          <a:xfrm rot="0">
            <a:off x="1165860" y="7269480"/>
            <a:ext cx="8915400" cy="2125980"/>
            <a:chOff x="0" y="0"/>
            <a:chExt cx="11887200" cy="2834640"/>
          </a:xfrm>
        </p:grpSpPr>
        <p:sp>
          <p:nvSpPr>
            <p:cNvPr id="12" name="Freeform 12"/>
            <p:cNvSpPr/>
            <p:nvPr/>
          </p:nvSpPr>
          <p:spPr>
            <a:xfrm>
              <a:off x="0" y="0"/>
              <a:ext cx="11887200" cy="2834640"/>
            </a:xfrm>
            <a:custGeom>
              <a:avLst/>
              <a:gdLst/>
              <a:ahLst/>
              <a:cxnLst/>
              <a:rect l="l" t="t" r="r" b="b"/>
              <a:pathLst>
                <a:path w="11887200" h="2834640">
                  <a:moveTo>
                    <a:pt x="0" y="0"/>
                  </a:moveTo>
                  <a:lnTo>
                    <a:pt x="11887200" y="0"/>
                  </a:lnTo>
                  <a:lnTo>
                    <a:pt x="11887200" y="2834640"/>
                  </a:lnTo>
                  <a:lnTo>
                    <a:pt x="0" y="2834640"/>
                  </a:lnTo>
                  <a:close/>
                </a:path>
              </a:pathLst>
            </a:custGeom>
            <a:blipFill>
              <a:blip r:embed="rId1">
                <a:alphaModFix amt="0"/>
              </a:blip>
              <a:stretch>
                <a:fillRect t="-31654" b="-31654"/>
              </a:stretch>
            </a:blipFill>
          </p:spPr>
          <p:txBody>
            <a:bodyPr/>
            <a:p/>
          </p:txBody>
        </p:sp>
      </p:grpSp>
      <p:grpSp>
        <p:nvGrpSpPr>
          <p:cNvPr id="13" name="Group 13"/>
          <p:cNvGrpSpPr/>
          <p:nvPr/>
        </p:nvGrpSpPr>
        <p:grpSpPr>
          <a:xfrm rot="0">
            <a:off x="1165860" y="7233761"/>
            <a:ext cx="8915400" cy="2161699"/>
            <a:chOff x="0" y="0"/>
            <a:chExt cx="11887200" cy="2882265"/>
          </a:xfrm>
        </p:grpSpPr>
        <p:sp>
          <p:nvSpPr>
            <p:cNvPr id="14" name="Freeform 14"/>
            <p:cNvSpPr/>
            <p:nvPr/>
          </p:nvSpPr>
          <p:spPr>
            <a:xfrm>
              <a:off x="0" y="0"/>
              <a:ext cx="11887200" cy="2882265"/>
            </a:xfrm>
            <a:custGeom>
              <a:avLst/>
              <a:gdLst/>
              <a:ahLst/>
              <a:cxnLst/>
              <a:rect l="l" t="t" r="r" b="b"/>
              <a:pathLst>
                <a:path w="11887200" h="2882265">
                  <a:moveTo>
                    <a:pt x="0" y="0"/>
                  </a:moveTo>
                  <a:lnTo>
                    <a:pt x="11887200" y="0"/>
                  </a:lnTo>
                  <a:lnTo>
                    <a:pt x="11887200" y="2882265"/>
                  </a:lnTo>
                  <a:lnTo>
                    <a:pt x="0" y="2882265"/>
                  </a:lnTo>
                  <a:close/>
                </a:path>
              </a:pathLst>
            </a:custGeom>
            <a:blipFill>
              <a:blip r:embed="rId6">
                <a:alphaModFix amt="0"/>
              </a:blip>
              <a:stretch>
                <a:fillRect t="-30305" b="-30305"/>
              </a:stretch>
            </a:blipFill>
          </p:spPr>
          <p:txBody>
            <a:bodyPr/>
            <a:p/>
          </p:txBody>
        </p:sp>
      </p:grpSp>
      <p:grpSp>
        <p:nvGrpSpPr>
          <p:cNvPr id="15" name="Group 15"/>
          <p:cNvGrpSpPr/>
          <p:nvPr/>
        </p:nvGrpSpPr>
        <p:grpSpPr>
          <a:xfrm rot="0">
            <a:off x="1165860" y="7198043"/>
            <a:ext cx="8915400" cy="2197417"/>
            <a:chOff x="0" y="0"/>
            <a:chExt cx="11887200" cy="2929890"/>
          </a:xfrm>
        </p:grpSpPr>
        <p:sp>
          <p:nvSpPr>
            <p:cNvPr id="16" name="Freeform 16"/>
            <p:cNvSpPr/>
            <p:nvPr/>
          </p:nvSpPr>
          <p:spPr>
            <a:xfrm>
              <a:off x="0" y="0"/>
              <a:ext cx="11887200" cy="2929890"/>
            </a:xfrm>
            <a:custGeom>
              <a:avLst/>
              <a:gdLst/>
              <a:ahLst/>
              <a:cxnLst/>
              <a:rect l="l" t="t" r="r" b="b"/>
              <a:pathLst>
                <a:path w="11887200" h="2929890">
                  <a:moveTo>
                    <a:pt x="0" y="0"/>
                  </a:moveTo>
                  <a:lnTo>
                    <a:pt x="11887200" y="0"/>
                  </a:lnTo>
                  <a:lnTo>
                    <a:pt x="11887200" y="2929890"/>
                  </a:lnTo>
                  <a:lnTo>
                    <a:pt x="0" y="2929890"/>
                  </a:lnTo>
                  <a:close/>
                </a:path>
              </a:pathLst>
            </a:custGeom>
            <a:blipFill>
              <a:blip r:embed="rId7">
                <a:alphaModFix amt="0"/>
              </a:blip>
              <a:stretch>
                <a:fillRect t="-29055" b="-29055"/>
              </a:stretch>
            </a:blipFill>
          </p:spPr>
          <p:txBody>
            <a:bodyPr/>
            <a:p/>
          </p:txBody>
        </p:sp>
        <p:sp>
          <p:nvSpPr>
            <p:cNvPr id="17" name="TextBox 17"/>
            <p:cNvSpPr txBox="1"/>
            <p:nvPr/>
          </p:nvSpPr>
          <p:spPr>
            <a:xfrm>
              <a:off x="0" y="-47625"/>
              <a:ext cx="11887200" cy="2977515"/>
            </a:xfrm>
            <a:prstGeom prst="rect">
              <a:avLst/>
            </a:prstGeom>
          </p:spPr>
          <p:txBody>
            <a:bodyPr lIns="0" tIns="0" rIns="0" bIns="0" rtlCol="0" anchor="ctr"/>
            <a:lstStyle/>
            <a:p>
              <a:pPr algn="l">
                <a:lnSpc>
                  <a:spcPts val="2520"/>
                </a:lnSpc>
              </a:pPr>
              <a:r>
                <a:rPr lang="en-US" sz="2100">
                  <a:solidFill>
                    <a:srgbClr val="13294B"/>
                  </a:solidFill>
                  <a:latin typeface="Calibri (MS)" panose="020F0502020204030204"/>
                  <a:ea typeface="Calibri (MS)" panose="020F0502020204030204"/>
                  <a:cs typeface="Calibri (MS)" panose="020F0502020204030204"/>
                  <a:sym typeface="Calibri (MS)" panose="020F0502020204030204"/>
                </a:rPr>
                <a:t>Chọn epoch theo EM trên val sạch → C3 (+3,9 EM, p = 1,4 × 10⁻⁴)</a:t>
              </a:r>
              <a:endParaRPr lang="en-US" sz="2100">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sp>
        <p:nvSpPr>
          <p:cNvPr id="18" name="Freeform 18"/>
          <p:cNvSpPr/>
          <p:nvPr/>
        </p:nvSpPr>
        <p:spPr>
          <a:xfrm>
            <a:off x="10956131" y="2040731"/>
            <a:ext cx="6525101" cy="3599497"/>
          </a:xfrm>
          <a:custGeom>
            <a:avLst/>
            <a:gdLst/>
            <a:ahLst/>
            <a:cxnLst/>
            <a:rect l="l" t="t" r="r" b="b"/>
            <a:pathLst>
              <a:path w="6525101" h="3599497">
                <a:moveTo>
                  <a:pt x="0" y="0"/>
                </a:moveTo>
                <a:lnTo>
                  <a:pt x="6525101" y="0"/>
                </a:lnTo>
                <a:lnTo>
                  <a:pt x="6525101" y="3599498"/>
                </a:lnTo>
                <a:lnTo>
                  <a:pt x="0" y="3599498"/>
                </a:lnTo>
                <a:lnTo>
                  <a:pt x="0" y="0"/>
                </a:lnTo>
                <a:close/>
              </a:path>
            </a:pathLst>
          </a:custGeom>
          <a:blipFill>
            <a:blip r:embed="rId8">
              <a:extLst>
                <a:ext uri="{96DAC541-7B7A-43D3-8B79-37D633B846F1}">
                  <asvg:svgBlip xmlns:asvg="http://schemas.microsoft.com/office/drawing/2016/SVG/main" r:embed="rId9"/>
                </a:ext>
              </a:extLst>
            </a:blip>
            <a:stretch>
              <a:fillRect l="-56" r="-56"/>
            </a:stretch>
          </a:blipFill>
        </p:spPr>
        <p:txBody>
          <a:bodyPr/>
          <a:p/>
        </p:txBody>
      </p:sp>
      <p:sp>
        <p:nvSpPr>
          <p:cNvPr id="19" name="TextBox 19"/>
          <p:cNvSpPr txBox="1"/>
          <p:nvPr/>
        </p:nvSpPr>
        <p:spPr>
          <a:xfrm>
            <a:off x="11384280" y="2234565"/>
            <a:ext cx="5668823" cy="1263015"/>
          </a:xfrm>
          <a:prstGeom prst="rect">
            <a:avLst/>
          </a:prstGeom>
        </p:spPr>
        <p:txBody>
          <a:bodyPr lIns="0" tIns="0" rIns="0" bIns="0" rtlCol="0" anchor="t">
            <a:spAutoFit/>
          </a:bodyPr>
          <a:lstStyle/>
          <a:p>
            <a:pPr algn="l">
              <a:lnSpc>
                <a:spcPts val="7200"/>
              </a:lnSpc>
            </a:pPr>
            <a:r>
              <a:rPr lang="en-US" sz="6000" b="1">
                <a:solidFill>
                  <a:srgbClr val="13294B"/>
                </a:solidFill>
                <a:latin typeface="Cambria Bold" panose="02040803050406030204"/>
                <a:ea typeface="Cambria Bold" panose="02040803050406030204"/>
                <a:cs typeface="Cambria Bold" panose="02040803050406030204"/>
                <a:sym typeface="Cambria Bold" panose="02040803050406030204"/>
              </a:rPr>
              <a:t>73,8 → 76,6</a:t>
            </a:r>
            <a:endParaRPr lang="en-US" sz="60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20" name="TextBox 20"/>
          <p:cNvSpPr txBox="1"/>
          <p:nvPr/>
        </p:nvSpPr>
        <p:spPr>
          <a:xfrm>
            <a:off x="11384280" y="3423285"/>
            <a:ext cx="5668823" cy="137731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EM test ViVQA (3.001 câu), chạm một lần: +2,9, p = 4,6 × 10⁻⁹</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21" name="TextBox 21"/>
          <p:cNvSpPr txBox="1"/>
          <p:nvPr/>
        </p:nvSpPr>
        <p:spPr>
          <a:xfrm>
            <a:off x="11384280" y="4246245"/>
            <a:ext cx="5668823" cy="1308735"/>
          </a:xfrm>
          <a:prstGeom prst="rect">
            <a:avLst/>
          </a:prstGeom>
        </p:spPr>
        <p:txBody>
          <a:bodyPr lIns="0" tIns="0" rIns="0" bIns="0" rtlCol="0" anchor="t">
            <a:spAutoFit/>
          </a:bodyPr>
          <a:lstStyle/>
          <a:p>
            <a:pPr algn="l">
              <a:lnSpc>
                <a:spcPts val="2340"/>
              </a:lnSpc>
            </a:pPr>
            <a:r>
              <a:rPr lang="en-US" sz="1950" i="1">
                <a:solidFill>
                  <a:srgbClr val="243044"/>
                </a:solidFill>
                <a:latin typeface="Calibri (MS) Italics" panose="020F05020202040A0204"/>
                <a:ea typeface="Calibri (MS) Italics" panose="020F05020202040A0204"/>
                <a:cs typeface="Calibri (MS) Italics" panose="020F05020202040A0204"/>
                <a:sym typeface="Calibri (MS) Italics" panose="020F05020202040A0204"/>
              </a:rPr>
              <a:t>Không phải nhớ ảnh (kiểm sau): trên phần test sạch — ảnh và cặp hỏi–đáp chưa thấy, n = 1.219 — +3,2 EM (69,1 → 72,3, p = 1,5 × 10⁻⁴)</a:t>
            </a:r>
            <a:endParaRPr lang="en-US" sz="1950" i="1">
              <a:solidFill>
                <a:srgbClr val="243044"/>
              </a:solidFill>
              <a:latin typeface="Calibri (MS) Italics" panose="020F05020202040A0204"/>
              <a:ea typeface="Calibri (MS) Italics" panose="020F05020202040A0204"/>
              <a:cs typeface="Calibri (MS) Italics" panose="020F05020202040A0204"/>
              <a:sym typeface="Calibri (MS) Italics" panose="020F05020202040A0204"/>
            </a:endParaRPr>
          </a:p>
        </p:txBody>
      </p:sp>
      <p:sp>
        <p:nvSpPr>
          <p:cNvPr id="22" name="Freeform 22"/>
          <p:cNvSpPr/>
          <p:nvPr/>
        </p:nvSpPr>
        <p:spPr>
          <a:xfrm>
            <a:off x="10956131" y="5881211"/>
            <a:ext cx="6525101" cy="3530917"/>
          </a:xfrm>
          <a:custGeom>
            <a:avLst/>
            <a:gdLst/>
            <a:ahLst/>
            <a:cxnLst/>
            <a:rect l="l" t="t" r="r" b="b"/>
            <a:pathLst>
              <a:path w="6525101" h="3530917">
                <a:moveTo>
                  <a:pt x="0" y="0"/>
                </a:moveTo>
                <a:lnTo>
                  <a:pt x="6525101" y="0"/>
                </a:lnTo>
                <a:lnTo>
                  <a:pt x="6525101" y="3530918"/>
                </a:lnTo>
                <a:lnTo>
                  <a:pt x="0" y="3530918"/>
                </a:lnTo>
                <a:lnTo>
                  <a:pt x="0" y="0"/>
                </a:lnTo>
                <a:close/>
              </a:path>
            </a:pathLst>
          </a:custGeom>
          <a:blipFill>
            <a:blip r:embed="rId10">
              <a:extLst>
                <a:ext uri="{96DAC541-7B7A-43D3-8B79-37D633B846F1}">
                  <asvg:svgBlip xmlns:asvg="http://schemas.microsoft.com/office/drawing/2016/SVG/main" r:embed="rId11"/>
                </a:ext>
              </a:extLst>
            </a:blip>
            <a:stretch>
              <a:fillRect l="-28" r="-28"/>
            </a:stretch>
          </a:blipFill>
        </p:spPr>
        <p:txBody>
          <a:bodyPr/>
          <a:p/>
        </p:txBody>
      </p:sp>
      <p:sp>
        <p:nvSpPr>
          <p:cNvPr id="23" name="TextBox 23"/>
          <p:cNvSpPr txBox="1"/>
          <p:nvPr/>
        </p:nvSpPr>
        <p:spPr>
          <a:xfrm>
            <a:off x="11384280" y="5948172"/>
            <a:ext cx="5668823" cy="662940"/>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Vì sao dùng val sạch</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24" name="TextBox 24"/>
          <p:cNvSpPr txBox="1"/>
          <p:nvPr/>
        </p:nvSpPr>
        <p:spPr>
          <a:xfrm>
            <a:off x="11384280" y="6509385"/>
            <a:ext cx="5668823" cy="2817495"/>
          </a:xfrm>
          <a:prstGeom prst="rect">
            <a:avLst/>
          </a:prstGeom>
        </p:spPr>
        <p:txBody>
          <a:bodyPr lIns="0" tIns="0" rIns="0" bIns="0" rtlCol="0" anchor="t">
            <a:spAutoFit/>
          </a:bodyPr>
          <a:lstStyle/>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512 / 1.200 câu val dùng chung ảnh với train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Train lâu hơn nhớ ảnh → val thường thiên vị</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a:p>
            <a:pPr marL="549275" lvl="3" indent="-137160" algn="l">
              <a:lnSpc>
                <a:spcPts val="2520"/>
              </a:lnSpc>
              <a:buFont typeface="Arial" panose="020B0604020202020204"/>
              <a:buChar cha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Chi phí: 6,1 giờ thay vì 3,0 giờ trên một L4</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25" name="Group 25"/>
          <p:cNvGrpSpPr/>
          <p:nvPr/>
        </p:nvGrpSpPr>
        <p:grpSpPr>
          <a:xfrm rot="0">
            <a:off x="822960" y="9641205"/>
            <a:ext cx="13716000" cy="440055"/>
            <a:chOff x="0" y="0"/>
            <a:chExt cx="18288000" cy="586740"/>
          </a:xfrm>
        </p:grpSpPr>
        <p:sp>
          <p:nvSpPr>
            <p:cNvPr id="26" name="Freeform 26"/>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6">
                <a:alphaModFix amt="0"/>
              </a:blip>
              <a:stretch>
                <a:fillRect t="-556902" b="-556904"/>
              </a:stretch>
            </a:blipFill>
          </p:spPr>
          <p:txBody>
            <a:bodyPr/>
            <a:p/>
          </p:txBody>
        </p:sp>
      </p:grpSp>
      <p:grpSp>
        <p:nvGrpSpPr>
          <p:cNvPr id="27" name="Group 27"/>
          <p:cNvGrpSpPr/>
          <p:nvPr/>
        </p:nvGrpSpPr>
        <p:grpSpPr>
          <a:xfrm rot="0">
            <a:off x="822960" y="9612630"/>
            <a:ext cx="13716000" cy="468630"/>
            <a:chOff x="0" y="0"/>
            <a:chExt cx="18288000" cy="624840"/>
          </a:xfrm>
        </p:grpSpPr>
        <p:sp>
          <p:nvSpPr>
            <p:cNvPr id="28" name="Freeform 28"/>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7">
                <a:alphaModFix amt="0"/>
              </a:blip>
              <a:stretch>
                <a:fillRect t="-520293" b="-520293"/>
              </a:stretch>
            </a:blipFill>
          </p:spPr>
          <p:txBody>
            <a:bodyPr/>
            <a:p/>
          </p:txBody>
        </p:sp>
        <p:sp>
          <p:nvSpPr>
            <p:cNvPr id="29" name="TextBox 29"/>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P7 · ADAPTER DÙNG CHUNG (SH)</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5" name="TextBox 5"/>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Một adapter cho hai dataset — không kém</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6" name="Freeform 6"/>
          <p:cNvSpPr/>
          <p:nvPr/>
        </p:nvSpPr>
        <p:spPr>
          <a:xfrm>
            <a:off x="806291" y="2383631"/>
            <a:ext cx="3833717" cy="4010978"/>
          </a:xfrm>
          <a:custGeom>
            <a:avLst/>
            <a:gdLst/>
            <a:ahLst/>
            <a:cxnLst/>
            <a:rect l="l" t="t" r="r" b="b"/>
            <a:pathLst>
              <a:path w="3833717" h="4010978">
                <a:moveTo>
                  <a:pt x="0" y="0"/>
                </a:moveTo>
                <a:lnTo>
                  <a:pt x="3833717" y="0"/>
                </a:lnTo>
                <a:lnTo>
                  <a:pt x="3833717" y="4010978"/>
                </a:lnTo>
                <a:lnTo>
                  <a:pt x="0" y="4010978"/>
                </a:lnTo>
                <a:lnTo>
                  <a:pt x="0" y="0"/>
                </a:lnTo>
                <a:close/>
              </a:path>
            </a:pathLst>
          </a:custGeom>
          <a:blipFill>
            <a:blip r:embed="rId2">
              <a:extLst>
                <a:ext uri="{96DAC541-7B7A-43D3-8B79-37D633B846F1}">
                  <asvg:svgBlip xmlns:asvg="http://schemas.microsoft.com/office/drawing/2016/SVG/main" r:embed="rId3"/>
                </a:ext>
              </a:extLst>
            </a:blip>
            <a:stretch>
              <a:fillRect t="-43" b="-43"/>
            </a:stretch>
          </a:blipFill>
        </p:spPr>
        <p:txBody>
          <a:bodyPr/>
          <a:p/>
        </p:txBody>
      </p:sp>
      <p:sp>
        <p:nvSpPr>
          <p:cNvPr id="7" name="TextBox 7"/>
          <p:cNvSpPr txBox="1"/>
          <p:nvPr/>
        </p:nvSpPr>
        <p:spPr>
          <a:xfrm>
            <a:off x="1234440" y="2988945"/>
            <a:ext cx="2977401" cy="1263015"/>
          </a:xfrm>
          <a:prstGeom prst="rect">
            <a:avLst/>
          </a:prstGeom>
        </p:spPr>
        <p:txBody>
          <a:bodyPr lIns="0" tIns="0" rIns="0" bIns="0" rtlCol="0" anchor="t">
            <a:spAutoFit/>
          </a:bodyPr>
          <a:lstStyle/>
          <a:p>
            <a:pPr algn="l">
              <a:lnSpc>
                <a:spcPts val="6480"/>
              </a:lnSpc>
            </a:pPr>
            <a:r>
              <a:rPr lang="en-US" sz="5400" b="1">
                <a:solidFill>
                  <a:srgbClr val="1C7293"/>
                </a:solidFill>
                <a:latin typeface="Cambria Bold" panose="02040803050406030204"/>
                <a:ea typeface="Cambria Bold" panose="02040803050406030204"/>
                <a:cs typeface="Cambria Bold" panose="02040803050406030204"/>
                <a:sym typeface="Cambria Bold" panose="02040803050406030204"/>
              </a:rPr>
              <a:t>−0,27</a:t>
            </a:r>
            <a:endParaRPr lang="en-US" sz="5400" b="1">
              <a:solidFill>
                <a:srgbClr val="1C7293"/>
              </a:solidFill>
              <a:latin typeface="Cambria Bold" panose="02040803050406030204"/>
              <a:ea typeface="Cambria Bold" panose="02040803050406030204"/>
              <a:cs typeface="Cambria Bold" panose="02040803050406030204"/>
              <a:sym typeface="Cambria Bold" panose="02040803050406030204"/>
            </a:endParaRPr>
          </a:p>
        </p:txBody>
      </p:sp>
      <p:sp>
        <p:nvSpPr>
          <p:cNvPr id="8" name="TextBox 8"/>
          <p:cNvSpPr txBox="1"/>
          <p:nvPr/>
        </p:nvSpPr>
        <p:spPr>
          <a:xfrm>
            <a:off x="1234440" y="4177665"/>
            <a:ext cx="2977401" cy="137731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ViVQA: SH so với C1 (cùng 1 epoch); CI95 [−1,13; +0,60] → không kém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9" name="Freeform 9"/>
          <p:cNvSpPr/>
          <p:nvPr/>
        </p:nvSpPr>
        <p:spPr>
          <a:xfrm>
            <a:off x="5086712" y="2383631"/>
            <a:ext cx="3833717" cy="4010978"/>
          </a:xfrm>
          <a:custGeom>
            <a:avLst/>
            <a:gdLst/>
            <a:ahLst/>
            <a:cxnLst/>
            <a:rect l="l" t="t" r="r" b="b"/>
            <a:pathLst>
              <a:path w="3833717" h="4010978">
                <a:moveTo>
                  <a:pt x="0" y="0"/>
                </a:moveTo>
                <a:lnTo>
                  <a:pt x="3833717" y="0"/>
                </a:lnTo>
                <a:lnTo>
                  <a:pt x="3833717" y="4010978"/>
                </a:lnTo>
                <a:lnTo>
                  <a:pt x="0" y="4010978"/>
                </a:lnTo>
                <a:lnTo>
                  <a:pt x="0" y="0"/>
                </a:lnTo>
                <a:close/>
              </a:path>
            </a:pathLst>
          </a:custGeom>
          <a:blipFill>
            <a:blip r:embed="rId2">
              <a:extLst>
                <a:ext uri="{96DAC541-7B7A-43D3-8B79-37D633B846F1}">
                  <asvg:svgBlip xmlns:asvg="http://schemas.microsoft.com/office/drawing/2016/SVG/main" r:embed="rId3"/>
                </a:ext>
              </a:extLst>
            </a:blip>
            <a:stretch>
              <a:fillRect t="-43" b="-43"/>
            </a:stretch>
          </a:blipFill>
        </p:spPr>
        <p:txBody>
          <a:bodyPr/>
          <a:p/>
        </p:txBody>
      </p:sp>
      <p:sp>
        <p:nvSpPr>
          <p:cNvPr id="10" name="TextBox 10"/>
          <p:cNvSpPr txBox="1"/>
          <p:nvPr/>
        </p:nvSpPr>
        <p:spPr>
          <a:xfrm>
            <a:off x="5514861" y="2988945"/>
            <a:ext cx="2977401" cy="1263015"/>
          </a:xfrm>
          <a:prstGeom prst="rect">
            <a:avLst/>
          </a:prstGeom>
        </p:spPr>
        <p:txBody>
          <a:bodyPr lIns="0" tIns="0" rIns="0" bIns="0" rtlCol="0" anchor="t">
            <a:spAutoFit/>
          </a:bodyPr>
          <a:lstStyle/>
          <a:p>
            <a:pPr algn="l">
              <a:lnSpc>
                <a:spcPts val="6480"/>
              </a:lnSpc>
            </a:pPr>
            <a:r>
              <a:rPr lang="en-US" sz="5400" b="1">
                <a:solidFill>
                  <a:srgbClr val="13294B"/>
                </a:solidFill>
                <a:latin typeface="Cambria Bold" panose="02040803050406030204"/>
                <a:ea typeface="Cambria Bold" panose="02040803050406030204"/>
                <a:cs typeface="Cambria Bold" panose="02040803050406030204"/>
                <a:sym typeface="Cambria Bold" panose="02040803050406030204"/>
              </a:rPr>
              <a:t>+0,25</a:t>
            </a:r>
            <a:endParaRPr lang="en-US" sz="54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1" name="TextBox 11"/>
          <p:cNvSpPr txBox="1"/>
          <p:nvPr/>
        </p:nvSpPr>
        <p:spPr>
          <a:xfrm>
            <a:off x="5514861" y="4177665"/>
            <a:ext cx="2977401" cy="137731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ViTextVQA test2000: SH so với B3 (cùng 8k câu); CI95 [−0,95; +1,45] → không kém</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2" name="Freeform 12"/>
          <p:cNvSpPr/>
          <p:nvPr/>
        </p:nvSpPr>
        <p:spPr>
          <a:xfrm>
            <a:off x="9367133" y="2383631"/>
            <a:ext cx="3833717" cy="4010978"/>
          </a:xfrm>
          <a:custGeom>
            <a:avLst/>
            <a:gdLst/>
            <a:ahLst/>
            <a:cxnLst/>
            <a:rect l="l" t="t" r="r" b="b"/>
            <a:pathLst>
              <a:path w="3833717" h="4010978">
                <a:moveTo>
                  <a:pt x="0" y="0"/>
                </a:moveTo>
                <a:lnTo>
                  <a:pt x="3833717" y="0"/>
                </a:lnTo>
                <a:lnTo>
                  <a:pt x="3833717" y="4010978"/>
                </a:lnTo>
                <a:lnTo>
                  <a:pt x="0" y="4010978"/>
                </a:lnTo>
                <a:lnTo>
                  <a:pt x="0" y="0"/>
                </a:lnTo>
                <a:close/>
              </a:path>
            </a:pathLst>
          </a:custGeom>
          <a:blipFill>
            <a:blip r:embed="rId2">
              <a:extLst>
                <a:ext uri="{96DAC541-7B7A-43D3-8B79-37D633B846F1}">
                  <asvg:svgBlip xmlns:asvg="http://schemas.microsoft.com/office/drawing/2016/SVG/main" r:embed="rId3"/>
                </a:ext>
              </a:extLst>
            </a:blip>
            <a:stretch>
              <a:fillRect t="-43" b="-43"/>
            </a:stretch>
          </a:blipFill>
        </p:spPr>
        <p:txBody>
          <a:bodyPr/>
          <a:p/>
        </p:txBody>
      </p:sp>
      <p:sp>
        <p:nvSpPr>
          <p:cNvPr id="13" name="TextBox 13"/>
          <p:cNvSpPr txBox="1"/>
          <p:nvPr/>
        </p:nvSpPr>
        <p:spPr>
          <a:xfrm>
            <a:off x="9795281" y="2988945"/>
            <a:ext cx="2977401" cy="1263015"/>
          </a:xfrm>
          <a:prstGeom prst="rect">
            <a:avLst/>
          </a:prstGeom>
        </p:spPr>
        <p:txBody>
          <a:bodyPr lIns="0" tIns="0" rIns="0" bIns="0" rtlCol="0" anchor="t">
            <a:spAutoFit/>
          </a:bodyPr>
          <a:lstStyle/>
          <a:p>
            <a:pPr algn="l">
              <a:lnSpc>
                <a:spcPts val="6480"/>
              </a:lnSpc>
            </a:pPr>
            <a:r>
              <a:rPr lang="en-US" sz="5400" b="1">
                <a:solidFill>
                  <a:srgbClr val="13294B"/>
                </a:solidFill>
                <a:latin typeface="Cambria Bold" panose="02040803050406030204"/>
                <a:ea typeface="Cambria Bold" panose="02040803050406030204"/>
                <a:cs typeface="Cambria Bold" panose="02040803050406030204"/>
                <a:sym typeface="Cambria Bold" panose="02040803050406030204"/>
              </a:rPr>
              <a:t>+0,15</a:t>
            </a:r>
            <a:endParaRPr lang="en-US" sz="54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sp>
        <p:nvSpPr>
          <p:cNvPr id="14" name="TextBox 14"/>
          <p:cNvSpPr txBox="1"/>
          <p:nvPr/>
        </p:nvSpPr>
        <p:spPr>
          <a:xfrm>
            <a:off x="9795281" y="4177665"/>
            <a:ext cx="2977401" cy="137731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Câu ViVQA có dòng OCR vô nghĩa (n = 1.328): không bị hại; chép nhầm OCR 0,3%</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5" name="Freeform 15"/>
          <p:cNvSpPr/>
          <p:nvPr/>
        </p:nvSpPr>
        <p:spPr>
          <a:xfrm>
            <a:off x="13647553" y="2383631"/>
            <a:ext cx="3833717" cy="4010978"/>
          </a:xfrm>
          <a:custGeom>
            <a:avLst/>
            <a:gdLst/>
            <a:ahLst/>
            <a:cxnLst/>
            <a:rect l="l" t="t" r="r" b="b"/>
            <a:pathLst>
              <a:path w="3833717" h="4010978">
                <a:moveTo>
                  <a:pt x="0" y="0"/>
                </a:moveTo>
                <a:lnTo>
                  <a:pt x="3833718" y="0"/>
                </a:lnTo>
                <a:lnTo>
                  <a:pt x="3833718" y="4010978"/>
                </a:lnTo>
                <a:lnTo>
                  <a:pt x="0" y="4010978"/>
                </a:lnTo>
                <a:lnTo>
                  <a:pt x="0" y="0"/>
                </a:lnTo>
                <a:close/>
              </a:path>
            </a:pathLst>
          </a:custGeom>
          <a:blipFill>
            <a:blip r:embed="rId4">
              <a:extLst>
                <a:ext uri="{96DAC541-7B7A-43D3-8B79-37D633B846F1}">
                  <asvg:svgBlip xmlns:asvg="http://schemas.microsoft.com/office/drawing/2016/SVG/main" r:embed="rId5"/>
                </a:ext>
              </a:extLst>
            </a:blip>
            <a:stretch>
              <a:fillRect t="-43" b="-43"/>
            </a:stretch>
          </a:blipFill>
        </p:spPr>
        <p:txBody>
          <a:bodyPr/>
          <a:p/>
        </p:txBody>
      </p:sp>
      <p:sp>
        <p:nvSpPr>
          <p:cNvPr id="16" name="TextBox 16"/>
          <p:cNvSpPr txBox="1"/>
          <p:nvPr/>
        </p:nvSpPr>
        <p:spPr>
          <a:xfrm>
            <a:off x="14075702" y="2988945"/>
            <a:ext cx="2977401" cy="1263015"/>
          </a:xfrm>
          <a:prstGeom prst="rect">
            <a:avLst/>
          </a:prstGeom>
        </p:spPr>
        <p:txBody>
          <a:bodyPr lIns="0" tIns="0" rIns="0" bIns="0" rtlCol="0" anchor="t">
            <a:spAutoFit/>
          </a:bodyPr>
          <a:lstStyle/>
          <a:p>
            <a:pPr algn="l">
              <a:lnSpc>
                <a:spcPts val="6480"/>
              </a:lnSpc>
            </a:pPr>
            <a:r>
              <a:rPr lang="en-US" sz="5400" b="1">
                <a:solidFill>
                  <a:srgbClr val="E8A33D"/>
                </a:solidFill>
                <a:latin typeface="Cambria Bold" panose="02040803050406030204"/>
                <a:ea typeface="Cambria Bold" panose="02040803050406030204"/>
                <a:cs typeface="Cambria Bold" panose="02040803050406030204"/>
                <a:sym typeface="Cambria Bold" panose="02040803050406030204"/>
              </a:rPr>
              <a:t>1</a:t>
            </a:r>
            <a:endParaRPr lang="en-US" sz="5400" b="1">
              <a:solidFill>
                <a:srgbClr val="E8A33D"/>
              </a:solidFill>
              <a:latin typeface="Cambria Bold" panose="02040803050406030204"/>
              <a:ea typeface="Cambria Bold" panose="02040803050406030204"/>
              <a:cs typeface="Cambria Bold" panose="02040803050406030204"/>
              <a:sym typeface="Cambria Bold" panose="02040803050406030204"/>
            </a:endParaRPr>
          </a:p>
        </p:txBody>
      </p:sp>
      <p:sp>
        <p:nvSpPr>
          <p:cNvPr id="17" name="TextBox 17"/>
          <p:cNvSpPr txBox="1"/>
          <p:nvPr/>
        </p:nvSpPr>
        <p:spPr>
          <a:xfrm>
            <a:off x="14075702" y="4177665"/>
            <a:ext cx="2977401" cy="1377315"/>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adapter (29,5 MB) thay vì 2; train 6,1 h = C1 + B3; demo không cần bộ chọn</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8" name="Freeform 18"/>
          <p:cNvSpPr/>
          <p:nvPr/>
        </p:nvSpPr>
        <p:spPr>
          <a:xfrm>
            <a:off x="806291" y="6841331"/>
            <a:ext cx="16674941" cy="1473517"/>
          </a:xfrm>
          <a:custGeom>
            <a:avLst/>
            <a:gdLst/>
            <a:ahLst/>
            <a:cxnLst/>
            <a:rect l="l" t="t" r="r" b="b"/>
            <a:pathLst>
              <a:path w="16674941" h="1473517">
                <a:moveTo>
                  <a:pt x="0" y="0"/>
                </a:moveTo>
                <a:lnTo>
                  <a:pt x="16674941" y="0"/>
                </a:lnTo>
                <a:lnTo>
                  <a:pt x="16674941" y="1473518"/>
                </a:lnTo>
                <a:lnTo>
                  <a:pt x="0" y="1473518"/>
                </a:lnTo>
                <a:lnTo>
                  <a:pt x="0" y="0"/>
                </a:lnTo>
                <a:close/>
              </a:path>
            </a:pathLst>
          </a:custGeom>
          <a:blipFill>
            <a:blip r:embed="rId6">
              <a:extLst>
                <a:ext uri="{96DAC541-7B7A-43D3-8B79-37D633B846F1}">
                  <asvg:svgBlip xmlns:asvg="http://schemas.microsoft.com/office/drawing/2016/SVG/main" r:embed="rId7"/>
                </a:ext>
              </a:extLst>
            </a:blip>
            <a:stretch>
              <a:fillRect t="-87" b="-86"/>
            </a:stretch>
          </a:blipFill>
        </p:spPr>
        <p:txBody>
          <a:bodyPr/>
          <a:p/>
        </p:txBody>
      </p:sp>
      <p:grpSp>
        <p:nvGrpSpPr>
          <p:cNvPr id="19" name="Group 19"/>
          <p:cNvGrpSpPr/>
          <p:nvPr/>
        </p:nvGrpSpPr>
        <p:grpSpPr>
          <a:xfrm rot="0">
            <a:off x="1303020" y="6858000"/>
            <a:ext cx="15681484" cy="1440180"/>
            <a:chOff x="0" y="0"/>
            <a:chExt cx="20908645" cy="1920240"/>
          </a:xfrm>
        </p:grpSpPr>
        <p:sp>
          <p:nvSpPr>
            <p:cNvPr id="20" name="Freeform 20"/>
            <p:cNvSpPr/>
            <p:nvPr/>
          </p:nvSpPr>
          <p:spPr>
            <a:xfrm>
              <a:off x="0" y="0"/>
              <a:ext cx="20908645" cy="1920240"/>
            </a:xfrm>
            <a:custGeom>
              <a:avLst/>
              <a:gdLst/>
              <a:ahLst/>
              <a:cxnLst/>
              <a:rect l="l" t="t" r="r" b="b"/>
              <a:pathLst>
                <a:path w="20908645" h="1920240">
                  <a:moveTo>
                    <a:pt x="0" y="0"/>
                  </a:moveTo>
                  <a:lnTo>
                    <a:pt x="20908645" y="0"/>
                  </a:lnTo>
                  <a:lnTo>
                    <a:pt x="20908645" y="1920240"/>
                  </a:lnTo>
                  <a:lnTo>
                    <a:pt x="0" y="1920240"/>
                  </a:lnTo>
                  <a:close/>
                </a:path>
              </a:pathLst>
            </a:custGeom>
            <a:blipFill>
              <a:blip r:embed="rId1">
                <a:alphaModFix amt="0"/>
              </a:blip>
              <a:stretch>
                <a:fillRect t="-162016" b="-162016"/>
              </a:stretch>
            </a:blipFill>
          </p:spPr>
          <p:txBody>
            <a:bodyPr/>
            <a:p/>
          </p:txBody>
        </p:sp>
      </p:grpSp>
      <p:grpSp>
        <p:nvGrpSpPr>
          <p:cNvPr id="21" name="Group 21"/>
          <p:cNvGrpSpPr/>
          <p:nvPr/>
        </p:nvGrpSpPr>
        <p:grpSpPr>
          <a:xfrm rot="0">
            <a:off x="1303020" y="6829425"/>
            <a:ext cx="15681503" cy="1468755"/>
            <a:chOff x="0" y="0"/>
            <a:chExt cx="20908670" cy="1958340"/>
          </a:xfrm>
        </p:grpSpPr>
        <p:sp>
          <p:nvSpPr>
            <p:cNvPr id="22" name="Freeform 22"/>
            <p:cNvSpPr/>
            <p:nvPr/>
          </p:nvSpPr>
          <p:spPr>
            <a:xfrm>
              <a:off x="0" y="0"/>
              <a:ext cx="20908645" cy="1958340"/>
            </a:xfrm>
            <a:custGeom>
              <a:avLst/>
              <a:gdLst/>
              <a:ahLst/>
              <a:cxnLst/>
              <a:rect l="l" t="t" r="r" b="b"/>
              <a:pathLst>
                <a:path w="20908645" h="1958340">
                  <a:moveTo>
                    <a:pt x="0" y="0"/>
                  </a:moveTo>
                  <a:lnTo>
                    <a:pt x="20908645" y="0"/>
                  </a:lnTo>
                  <a:lnTo>
                    <a:pt x="20908645" y="1958340"/>
                  </a:lnTo>
                  <a:lnTo>
                    <a:pt x="0" y="1958340"/>
                  </a:lnTo>
                  <a:close/>
                </a:path>
              </a:pathLst>
            </a:custGeom>
            <a:blipFill>
              <a:blip r:embed="rId8">
                <a:alphaModFix amt="0"/>
              </a:blip>
              <a:stretch>
                <a:fillRect t="-157891" b="-157892"/>
              </a:stretch>
            </a:blipFill>
          </p:spPr>
          <p:txBody>
            <a:bodyPr/>
            <a:p/>
          </p:txBody>
        </p:sp>
      </p:grpSp>
      <p:grpSp>
        <p:nvGrpSpPr>
          <p:cNvPr id="23" name="Group 23"/>
          <p:cNvGrpSpPr/>
          <p:nvPr/>
        </p:nvGrpSpPr>
        <p:grpSpPr>
          <a:xfrm rot="0">
            <a:off x="1303020" y="6800850"/>
            <a:ext cx="15681503" cy="1497330"/>
            <a:chOff x="0" y="0"/>
            <a:chExt cx="20908670" cy="1996440"/>
          </a:xfrm>
        </p:grpSpPr>
        <p:sp>
          <p:nvSpPr>
            <p:cNvPr id="24" name="Freeform 24"/>
            <p:cNvSpPr/>
            <p:nvPr/>
          </p:nvSpPr>
          <p:spPr>
            <a:xfrm>
              <a:off x="0" y="0"/>
              <a:ext cx="20908671" cy="1996440"/>
            </a:xfrm>
            <a:custGeom>
              <a:avLst/>
              <a:gdLst/>
              <a:ahLst/>
              <a:cxnLst/>
              <a:rect l="l" t="t" r="r" b="b"/>
              <a:pathLst>
                <a:path w="20908671" h="1996440">
                  <a:moveTo>
                    <a:pt x="0" y="0"/>
                  </a:moveTo>
                  <a:lnTo>
                    <a:pt x="20908671" y="0"/>
                  </a:lnTo>
                  <a:lnTo>
                    <a:pt x="20908671" y="1996440"/>
                  </a:lnTo>
                  <a:lnTo>
                    <a:pt x="0" y="1996440"/>
                  </a:lnTo>
                  <a:close/>
                </a:path>
              </a:pathLst>
            </a:custGeom>
            <a:blipFill>
              <a:blip r:embed="rId9">
                <a:alphaModFix amt="0"/>
              </a:blip>
              <a:stretch>
                <a:fillRect t="-154066" b="-154066"/>
              </a:stretch>
            </a:blipFill>
          </p:spPr>
          <p:txBody>
            <a:bodyPr/>
            <a:p/>
          </p:txBody>
        </p:sp>
        <p:sp>
          <p:nvSpPr>
            <p:cNvPr id="25" name="TextBox 25"/>
            <p:cNvSpPr txBox="1"/>
            <p:nvPr/>
          </p:nvSpPr>
          <p:spPr>
            <a:xfrm>
              <a:off x="0" y="-38100"/>
              <a:ext cx="20908670" cy="2034540"/>
            </a:xfrm>
            <a:prstGeom prst="rect">
              <a:avLst/>
            </a:prstGeom>
          </p:spPr>
          <p:txBody>
            <a:bodyPr lIns="0" tIns="0" rIns="0" bIns="0" rtlCol="0" anchor="ctr"/>
            <a:lstStyle/>
            <a:p>
              <a:pPr algn="l">
                <a:lnSpc>
                  <a:spcPts val="2880"/>
                </a:lnSpc>
              </a:pPr>
              <a:r>
                <a:rPr lang="en-US" sz="2400">
                  <a:solidFill>
                    <a:srgbClr val="13294B"/>
                  </a:solidFill>
                  <a:latin typeface="Calibri (MS)" panose="020F0502020204030204"/>
                  <a:ea typeface="Calibri (MS)" panose="020F0502020204030204"/>
                  <a:cs typeface="Calibri (MS)" panose="020F0502020204030204"/>
                  <a:sym typeface="Calibri (MS)" panose="020F0502020204030204"/>
                </a:rPr>
                <a:t>So với adapter riêng: ΔEM −0,27 (ViVQA) và +0,25 (ViTextVQA), CI95 đều chứa 0. Đánh đổi: SH là bản rẻ (1 epoch ViVQA, 23% ViTextVQA), thấp hơn C3 3,1 và B3-full 4,4 EM → bảng chính giữ C3 / B3-full; prototype dùng SH.</a:t>
              </a:r>
              <a:endParaRPr lang="en-US" sz="2400">
                <a:solidFill>
                  <a:srgbClr val="13294B"/>
                </a:solidFill>
                <a:latin typeface="Calibri (MS)" panose="020F0502020204030204"/>
                <a:ea typeface="Calibri (MS)" panose="020F0502020204030204"/>
                <a:cs typeface="Calibri (MS)" panose="020F0502020204030204"/>
                <a:sym typeface="Calibri (MS)" panose="020F0502020204030204"/>
              </a:endParaRPr>
            </a:p>
          </p:txBody>
        </p:sp>
      </p:grpSp>
      <p:grpSp>
        <p:nvGrpSpPr>
          <p:cNvPr id="26" name="Group 26"/>
          <p:cNvGrpSpPr/>
          <p:nvPr/>
        </p:nvGrpSpPr>
        <p:grpSpPr>
          <a:xfrm rot="0">
            <a:off x="15458732" y="0"/>
            <a:ext cx="2829306" cy="1184338"/>
            <a:chOff x="0" y="0"/>
            <a:chExt cx="3772408" cy="1579118"/>
          </a:xfrm>
        </p:grpSpPr>
        <p:sp>
          <p:nvSpPr>
            <p:cNvPr id="27" name="Freeform 27"/>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10"/>
              <a:stretch>
                <a:fillRect/>
              </a:stretch>
            </a:blipFill>
          </p:spPr>
          <p:txBody>
            <a:bodyPr/>
            <a:p/>
          </p:txBody>
        </p:sp>
      </p:grpSp>
      <p:grpSp>
        <p:nvGrpSpPr>
          <p:cNvPr id="28" name="Group 28"/>
          <p:cNvGrpSpPr/>
          <p:nvPr/>
        </p:nvGrpSpPr>
        <p:grpSpPr>
          <a:xfrm rot="0">
            <a:off x="822960" y="9641205"/>
            <a:ext cx="13716000" cy="440055"/>
            <a:chOff x="0" y="0"/>
            <a:chExt cx="18288000" cy="586740"/>
          </a:xfrm>
        </p:grpSpPr>
        <p:sp>
          <p:nvSpPr>
            <p:cNvPr id="29" name="Freeform 29"/>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8">
                <a:alphaModFix amt="0"/>
              </a:blip>
              <a:stretch>
                <a:fillRect t="-556902" b="-556904"/>
              </a:stretch>
            </a:blipFill>
          </p:spPr>
          <p:txBody>
            <a:bodyPr/>
            <a:p/>
          </p:txBody>
        </p:sp>
      </p:grpSp>
      <p:grpSp>
        <p:nvGrpSpPr>
          <p:cNvPr id="30" name="Group 30"/>
          <p:cNvGrpSpPr/>
          <p:nvPr/>
        </p:nvGrpSpPr>
        <p:grpSpPr>
          <a:xfrm rot="0">
            <a:off x="822960" y="9612630"/>
            <a:ext cx="13716000" cy="468630"/>
            <a:chOff x="0" y="0"/>
            <a:chExt cx="18288000" cy="624840"/>
          </a:xfrm>
        </p:grpSpPr>
        <p:sp>
          <p:nvSpPr>
            <p:cNvPr id="31" name="Freeform 31"/>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9">
                <a:alphaModFix amt="0"/>
              </a:blip>
              <a:stretch>
                <a:fillRect t="-520293" b="-520293"/>
              </a:stretch>
            </a:blipFill>
          </p:spPr>
          <p:txBody>
            <a:bodyPr/>
            <a:p/>
          </p:txBody>
        </p:sp>
        <p:sp>
          <p:nvSpPr>
            <p:cNvPr id="32" name="TextBox 32"/>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0">
            <a:off x="822960" y="9669780"/>
            <a:ext cx="13716000" cy="411480"/>
            <a:chOff x="0" y="0"/>
            <a:chExt cx="18288000" cy="548640"/>
          </a:xfrm>
        </p:grpSpPr>
        <p:sp>
          <p:nvSpPr>
            <p:cNvPr id="3" name="Freeform 3"/>
            <p:cNvSpPr/>
            <p:nvPr/>
          </p:nvSpPr>
          <p:spPr>
            <a:xfrm>
              <a:off x="0" y="0"/>
              <a:ext cx="18288000" cy="548640"/>
            </a:xfrm>
            <a:custGeom>
              <a:avLst/>
              <a:gdLst/>
              <a:ahLst/>
              <a:cxnLst/>
              <a:rect l="l" t="t" r="r" b="b"/>
              <a:pathLst>
                <a:path w="18288000" h="548640">
                  <a:moveTo>
                    <a:pt x="0" y="0"/>
                  </a:moveTo>
                  <a:lnTo>
                    <a:pt x="18288000" y="0"/>
                  </a:lnTo>
                  <a:lnTo>
                    <a:pt x="18288000" y="548640"/>
                  </a:lnTo>
                  <a:lnTo>
                    <a:pt x="0" y="548640"/>
                  </a:lnTo>
                  <a:close/>
                </a:path>
              </a:pathLst>
            </a:custGeom>
            <a:blipFill>
              <a:blip r:embed="rId1">
                <a:alphaModFix amt="0"/>
              </a:blip>
              <a:stretch>
                <a:fillRect t="-599048" b="-599050"/>
              </a:stretch>
            </a:blipFill>
          </p:spPr>
          <p:txBody>
            <a:bodyPr/>
            <a:p/>
          </p:txBody>
        </p:sp>
      </p:grpSp>
      <p:sp>
        <p:nvSpPr>
          <p:cNvPr id="4" name="TextBox 4"/>
          <p:cNvSpPr txBox="1"/>
          <p:nvPr/>
        </p:nvSpPr>
        <p:spPr>
          <a:xfrm>
            <a:off x="822960" y="353187"/>
            <a:ext cx="16641623" cy="497205"/>
          </a:xfrm>
          <a:prstGeom prst="rect">
            <a:avLst/>
          </a:prstGeom>
        </p:spPr>
        <p:txBody>
          <a:bodyPr lIns="0" tIns="0" rIns="0" bIns="0" rtlCol="0" anchor="t">
            <a:spAutoFit/>
          </a:bodyPr>
          <a:lstStyle/>
          <a:p>
            <a:pPr algn="l">
              <a:lnSpc>
                <a:spcPts val="1980"/>
              </a:lnSpc>
            </a:pPr>
            <a:r>
              <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rPr>
              <a:t>PHỤ LỤC · P8 · KẾT QUẢ THEO LOẠI CÂU HỎI</a:t>
            </a:r>
            <a:endParaRPr lang="en-US" sz="1650" b="1" spc="297">
              <a:solidFill>
                <a:srgbClr val="1C7293"/>
              </a:solidFill>
              <a:latin typeface="Calibri (MS) Bold" panose="020F0702030404030204"/>
              <a:ea typeface="Calibri (MS) Bold" panose="020F0702030404030204"/>
              <a:cs typeface="Calibri (MS) Bold" panose="020F0702030404030204"/>
              <a:sym typeface="Calibri (MS) Bold" panose="020F0702030404030204"/>
            </a:endParaRPr>
          </a:p>
        </p:txBody>
      </p:sp>
      <p:grpSp>
        <p:nvGrpSpPr>
          <p:cNvPr id="5" name="Group 5"/>
          <p:cNvGrpSpPr/>
          <p:nvPr/>
        </p:nvGrpSpPr>
        <p:grpSpPr>
          <a:xfrm rot="0">
            <a:off x="15458732" y="0"/>
            <a:ext cx="2829306" cy="1184338"/>
            <a:chOff x="0" y="0"/>
            <a:chExt cx="3772408" cy="1579118"/>
          </a:xfrm>
        </p:grpSpPr>
        <p:sp>
          <p:nvSpPr>
            <p:cNvPr id="6" name="Freeform 6"/>
            <p:cNvSpPr/>
            <p:nvPr/>
          </p:nvSpPr>
          <p:spPr>
            <a:xfrm>
              <a:off x="0" y="0"/>
              <a:ext cx="3772408" cy="1579118"/>
            </a:xfrm>
            <a:custGeom>
              <a:avLst/>
              <a:gdLst/>
              <a:ahLst/>
              <a:cxnLst/>
              <a:rect l="l" t="t" r="r" b="b"/>
              <a:pathLst>
                <a:path w="3772408" h="1579118">
                  <a:moveTo>
                    <a:pt x="0" y="0"/>
                  </a:moveTo>
                  <a:lnTo>
                    <a:pt x="3772408" y="0"/>
                  </a:lnTo>
                  <a:lnTo>
                    <a:pt x="3772408" y="1579118"/>
                  </a:lnTo>
                  <a:lnTo>
                    <a:pt x="0" y="1579118"/>
                  </a:lnTo>
                  <a:lnTo>
                    <a:pt x="0" y="0"/>
                  </a:lnTo>
                  <a:close/>
                </a:path>
              </a:pathLst>
            </a:custGeom>
            <a:blipFill>
              <a:blip r:embed="rId2"/>
              <a:stretch>
                <a:fillRect/>
              </a:stretch>
            </a:blipFill>
          </p:spPr>
          <p:txBody>
            <a:bodyPr/>
            <a:p/>
          </p:txBody>
        </p:sp>
      </p:grpSp>
      <p:sp>
        <p:nvSpPr>
          <p:cNvPr id="7" name="TextBox 7"/>
          <p:cNvSpPr txBox="1"/>
          <p:nvPr/>
        </p:nvSpPr>
        <p:spPr>
          <a:xfrm>
            <a:off x="822960" y="821817"/>
            <a:ext cx="16641623" cy="988695"/>
          </a:xfrm>
          <a:prstGeom prst="rect">
            <a:avLst/>
          </a:prstGeom>
        </p:spPr>
        <p:txBody>
          <a:bodyPr lIns="0" tIns="0" rIns="0" bIns="0" rtlCol="0" anchor="t">
            <a:spAutoFit/>
          </a:bodyPr>
          <a:lstStyle/>
          <a:p>
            <a:pPr algn="l">
              <a:lnSpc>
                <a:spcPts val="5760"/>
              </a:lnSpc>
            </a:pPr>
            <a:r>
              <a:rPr lang="en-US" sz="4800" b="1">
                <a:solidFill>
                  <a:srgbClr val="13294B"/>
                </a:solidFill>
                <a:latin typeface="Cambria Bold" panose="02040803050406030204"/>
                <a:ea typeface="Cambria Bold" panose="02040803050406030204"/>
                <a:cs typeface="Cambria Bold" panose="02040803050406030204"/>
                <a:sym typeface="Cambria Bold" panose="02040803050406030204"/>
              </a:rPr>
              <a:t>OCR giúp nhiều nhất ở câu phải chép đúng từng ký tự</a:t>
            </a:r>
            <a:endParaRPr lang="en-US" sz="4800" b="1">
              <a:solidFill>
                <a:srgbClr val="13294B"/>
              </a:solidFill>
              <a:latin typeface="Cambria Bold" panose="02040803050406030204"/>
              <a:ea typeface="Cambria Bold" panose="02040803050406030204"/>
              <a:cs typeface="Cambria Bold" panose="02040803050406030204"/>
              <a:sym typeface="Cambria Bold" panose="02040803050406030204"/>
            </a:endParaRPr>
          </a:p>
        </p:txBody>
      </p:sp>
      <p:graphicFrame>
        <p:nvGraphicFramePr>
          <p:cNvPr id="8" name="Table 8"/>
          <p:cNvGraphicFramePr>
            <a:graphicFrameLocks noGrp="1"/>
          </p:cNvGraphicFramePr>
          <p:nvPr/>
        </p:nvGraphicFramePr>
        <p:xfrm>
          <a:off x="822960" y="2011680"/>
          <a:ext cx="10820400" cy="6007100"/>
        </p:xfrm>
        <a:graphic>
          <a:graphicData uri="http://schemas.openxmlformats.org/drawingml/2006/table">
            <a:tbl>
              <a:tblPr/>
              <a:tblGrid>
                <a:gridCol w="4505178"/>
                <a:gridCol w="1333079"/>
                <a:gridCol w="1333079"/>
                <a:gridCol w="1511790"/>
                <a:gridCol w="2137273"/>
              </a:tblGrid>
              <a:tr h="546100">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Loại câu hỏi (số câu)</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B3-full</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rtlCol="0"/>
                    <a:lstStyle/>
                    <a:p>
                      <a:pPr algn="l">
                        <a:lnSpc>
                          <a:spcPts val="2340"/>
                        </a:lnSpc>
                        <a:defRPr/>
                      </a:pPr>
                      <a:r>
                        <a:rPr lang="en-US" sz="1950" b="1">
                          <a:solidFill>
                            <a:srgbClr val="FFFFFF"/>
                          </a:solidFill>
                          <a:latin typeface="Calibri (MS) Bold" panose="020F0702030404030204"/>
                          <a:ea typeface="Calibri (MS) Bold" panose="020F0702030404030204"/>
                          <a:cs typeface="Calibri (MS) Bold" panose="020F0702030404030204"/>
                          <a:sym typeface="Calibri (MS) Bold" panose="020F0702030404030204"/>
                        </a:rPr>
                        <a:t>Δ B2 → B3-full</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Liên hệ: SĐT, web (641)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55,5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+8,6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Tên người (420)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40,7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54,8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+6,4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Khác ⚠ (2.404)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21,5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46,1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49,6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Số, thời gian (1.041)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41,2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55,7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58,8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Địa điểm (969)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44,0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47,0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+3,0</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Nội dung chữ ⚠ (777)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27,4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48,6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51,1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Tên riêng ⚠ (1.971)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34,9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55,7</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57,6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Sản phẩm, dịch vụ (1.144)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16,5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42,5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44,1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+1,6</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Nguồn ảnh (661)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24,5</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57,2</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58,1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+0,9</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46100">
                <a:tc>
                  <a:txBody>
                    <a:bodyPr rtlCol="0"/>
                    <a:lstStyle/>
                    <a:p>
                      <a:pPr algn="l">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Tất cả (10.028)</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29,1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50,3</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53,4</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rtlCol="0"/>
                    <a:lstStyle/>
                    <a:p>
                      <a:pPr algn="ctr">
                        <a:lnSpc>
                          <a:spcPts val="2520"/>
                        </a:lnSpc>
                        <a:defRPr/>
                      </a:pPr>
                      <a:r>
                        <a:rPr lang="en-US" sz="2100" b="1">
                          <a:solidFill>
                            <a:srgbClr val="243044"/>
                          </a:solidFill>
                          <a:latin typeface="Calibri (MS) Bold" panose="020F0702030404030204"/>
                          <a:ea typeface="Calibri (MS) Bold" panose="020F0702030404030204"/>
                          <a:cs typeface="Calibri (MS) Bold" panose="020F0702030404030204"/>
                          <a:sym typeface="Calibri (MS) Bold" panose="020F0702030404030204"/>
                        </a:rPr>
                        <a:t>+3,1</a:t>
                      </a:r>
                      <a:endParaRPr lang="en-US" sz="1100"/>
                    </a:p>
                  </a:txBody>
                  <a:tcPr marL="76200" marR="76200" marT="76200" marB="76200" anchor="t">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9" name="Freeform 9"/>
          <p:cNvSpPr/>
          <p:nvPr/>
        </p:nvSpPr>
        <p:spPr>
          <a:xfrm>
            <a:off x="12016883" y="2006394"/>
            <a:ext cx="5455691" cy="1903381"/>
          </a:xfrm>
          <a:custGeom>
            <a:avLst/>
            <a:gdLst/>
            <a:ahLst/>
            <a:cxnLst/>
            <a:rect l="l" t="t" r="r" b="b"/>
            <a:pathLst>
              <a:path w="5455691" h="1903381">
                <a:moveTo>
                  <a:pt x="0" y="0"/>
                </a:moveTo>
                <a:lnTo>
                  <a:pt x="5455691" y="0"/>
                </a:lnTo>
                <a:lnTo>
                  <a:pt x="5455691" y="1903380"/>
                </a:lnTo>
                <a:lnTo>
                  <a:pt x="0" y="1903380"/>
                </a:lnTo>
                <a:lnTo>
                  <a:pt x="0" y="0"/>
                </a:lnTo>
                <a:close/>
              </a:path>
            </a:pathLst>
          </a:custGeom>
          <a:blipFill>
            <a:blip r:embed="rId3">
              <a:extLst>
                <a:ext uri="{96DAC541-7B7A-43D3-8B79-37D633B846F1}">
                  <asvg:svgBlip xmlns:asvg="http://schemas.microsoft.com/office/drawing/2016/SVG/main" r:embed="rId4"/>
                </a:ext>
              </a:extLst>
            </a:blip>
            <a:stretch>
              <a:fillRect t="-23" b="-23"/>
            </a:stretch>
          </a:blipFill>
        </p:spPr>
        <p:txBody>
          <a:bodyPr/>
          <a:p/>
        </p:txBody>
      </p:sp>
      <p:sp>
        <p:nvSpPr>
          <p:cNvPr id="10" name="TextBox 10"/>
          <p:cNvSpPr txBox="1"/>
          <p:nvPr/>
        </p:nvSpPr>
        <p:spPr>
          <a:xfrm>
            <a:off x="12344400" y="2090928"/>
            <a:ext cx="4846320" cy="734568"/>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Chép chính xác: lợi nhiều nhất</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1" name="TextBox 11"/>
          <p:cNvSpPr txBox="1"/>
          <p:nvPr/>
        </p:nvSpPr>
        <p:spPr>
          <a:xfrm>
            <a:off x="12344400" y="2693670"/>
            <a:ext cx="4846320" cy="1146810"/>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Liên hệ +8,6; bỏ OCR khỏi B3 thì loại này giảm mạnh nhất (64,4 → 53,0)</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2" name="Freeform 12"/>
          <p:cNvSpPr/>
          <p:nvPr/>
        </p:nvSpPr>
        <p:spPr>
          <a:xfrm>
            <a:off x="12016883" y="4082082"/>
            <a:ext cx="5455691" cy="1903381"/>
          </a:xfrm>
          <a:custGeom>
            <a:avLst/>
            <a:gdLst/>
            <a:ahLst/>
            <a:cxnLst/>
            <a:rect l="l" t="t" r="r" b="b"/>
            <a:pathLst>
              <a:path w="5455691" h="1903381">
                <a:moveTo>
                  <a:pt x="0" y="0"/>
                </a:moveTo>
                <a:lnTo>
                  <a:pt x="5455691" y="0"/>
                </a:lnTo>
                <a:lnTo>
                  <a:pt x="5455691" y="1903380"/>
                </a:lnTo>
                <a:lnTo>
                  <a:pt x="0" y="1903380"/>
                </a:lnTo>
                <a:lnTo>
                  <a:pt x="0" y="0"/>
                </a:lnTo>
                <a:close/>
              </a:path>
            </a:pathLst>
          </a:custGeom>
          <a:blipFill>
            <a:blip r:embed="rId3">
              <a:extLst>
                <a:ext uri="{96DAC541-7B7A-43D3-8B79-37D633B846F1}">
                  <asvg:svgBlip xmlns:asvg="http://schemas.microsoft.com/office/drawing/2016/SVG/main" r:embed="rId4"/>
                </a:ext>
              </a:extLst>
            </a:blip>
            <a:stretch>
              <a:fillRect t="-23" b="-23"/>
            </a:stretch>
          </a:blipFill>
        </p:spPr>
        <p:txBody>
          <a:bodyPr/>
          <a:p/>
        </p:txBody>
      </p:sp>
      <p:sp>
        <p:nvSpPr>
          <p:cNvPr id="13" name="TextBox 13"/>
          <p:cNvSpPr txBox="1"/>
          <p:nvPr/>
        </p:nvSpPr>
        <p:spPr>
          <a:xfrm>
            <a:off x="12344400" y="4166616"/>
            <a:ext cx="4846320" cy="734568"/>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Watermark: OCR ít giúp</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4" name="TextBox 14"/>
          <p:cNvSpPr txBox="1"/>
          <p:nvPr/>
        </p:nvSpPr>
        <p:spPr>
          <a:xfrm>
            <a:off x="12344400" y="4769358"/>
            <a:ext cx="4846320" cy="1146810"/>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Nguồn ảnh +0,9 — chữ nhỏ, mờ, nằm ở góc ảnh</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sp>
        <p:nvSpPr>
          <p:cNvPr id="15" name="Freeform 15"/>
          <p:cNvSpPr/>
          <p:nvPr/>
        </p:nvSpPr>
        <p:spPr>
          <a:xfrm>
            <a:off x="12016883" y="6157770"/>
            <a:ext cx="5455691" cy="1903381"/>
          </a:xfrm>
          <a:custGeom>
            <a:avLst/>
            <a:gdLst/>
            <a:ahLst/>
            <a:cxnLst/>
            <a:rect l="l" t="t" r="r" b="b"/>
            <a:pathLst>
              <a:path w="5455691" h="1903381">
                <a:moveTo>
                  <a:pt x="0" y="0"/>
                </a:moveTo>
                <a:lnTo>
                  <a:pt x="5455691" y="0"/>
                </a:lnTo>
                <a:lnTo>
                  <a:pt x="5455691" y="1903380"/>
                </a:lnTo>
                <a:lnTo>
                  <a:pt x="0" y="1903380"/>
                </a:lnTo>
                <a:lnTo>
                  <a:pt x="0" y="0"/>
                </a:lnTo>
                <a:close/>
              </a:path>
            </a:pathLst>
          </a:custGeom>
          <a:blipFill>
            <a:blip r:embed="rId5">
              <a:extLst>
                <a:ext uri="{96DAC541-7B7A-43D3-8B79-37D633B846F1}">
                  <asvg:svgBlip xmlns:asvg="http://schemas.microsoft.com/office/drawing/2016/SVG/main" r:embed="rId6"/>
                </a:ext>
              </a:extLst>
            </a:blip>
            <a:stretch>
              <a:fillRect t="-23" b="-23"/>
            </a:stretch>
          </a:blipFill>
        </p:spPr>
        <p:txBody>
          <a:bodyPr/>
          <a:p/>
        </p:txBody>
      </p:sp>
      <p:sp>
        <p:nvSpPr>
          <p:cNvPr id="16" name="TextBox 16"/>
          <p:cNvSpPr txBox="1"/>
          <p:nvPr/>
        </p:nvSpPr>
        <p:spPr>
          <a:xfrm>
            <a:off x="12344400" y="6242304"/>
            <a:ext cx="4846320" cy="734568"/>
          </a:xfrm>
          <a:prstGeom prst="rect">
            <a:avLst/>
          </a:prstGeom>
        </p:spPr>
        <p:txBody>
          <a:bodyPr lIns="0" tIns="0" rIns="0" bIns="0" rtlCol="0" anchor="t">
            <a:spAutoFit/>
          </a:bodyPr>
          <a:lstStyle/>
          <a:p>
            <a:pPr algn="l">
              <a:lnSpc>
                <a:spcPts val="2880"/>
              </a:lnSpc>
            </a:pPr>
            <a:r>
              <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rPr>
              <a:t>Khó nhất: phải suy ra từ chữ</a:t>
            </a:r>
            <a:endParaRPr lang="en-US" sz="2400" b="1">
              <a:solidFill>
                <a:srgbClr val="13294B"/>
              </a:solidFill>
              <a:latin typeface="Calibri (MS) Bold" panose="020F0702030404030204"/>
              <a:ea typeface="Calibri (MS) Bold" panose="020F0702030404030204"/>
              <a:cs typeface="Calibri (MS) Bold" panose="020F0702030404030204"/>
              <a:sym typeface="Calibri (MS) Bold" panose="020F0702030404030204"/>
            </a:endParaRPr>
          </a:p>
        </p:txBody>
      </p:sp>
      <p:sp>
        <p:nvSpPr>
          <p:cNvPr id="17" name="TextBox 17"/>
          <p:cNvSpPr txBox="1"/>
          <p:nvPr/>
        </p:nvSpPr>
        <p:spPr>
          <a:xfrm>
            <a:off x="12344400" y="6845046"/>
            <a:ext cx="4846320" cy="1146810"/>
          </a:xfrm>
          <a:prstGeom prst="rect">
            <a:avLst/>
          </a:prstGeom>
        </p:spPr>
        <p:txBody>
          <a:bodyPr lIns="0" tIns="0" rIns="0" bIns="0" rtlCol="0" anchor="t">
            <a:spAutoFit/>
          </a:bodyPr>
          <a:lstStyle/>
          <a:p>
            <a:pPr algn="l">
              <a:lnSpc>
                <a:spcPts val="2520"/>
              </a:lnSpc>
            </a:pPr>
            <a:r>
              <a:rPr lang="en-US" sz="2100">
                <a:solidFill>
                  <a:srgbClr val="243044"/>
                </a:solidFill>
                <a:latin typeface="Calibri (MS)" panose="020F0502020204030204"/>
                <a:ea typeface="Calibri (MS)" panose="020F0502020204030204"/>
                <a:cs typeface="Calibri (MS)" panose="020F0502020204030204"/>
                <a:sym typeface="Calibri (MS)" panose="020F0502020204030204"/>
              </a:rPr>
              <a:t>Sản phẩm, dịch vụ 44,1; địa điểm 47,0 → trọng tâm phân tích lỗi tiếp theo</a:t>
            </a:r>
            <a:endParaRPr lang="en-US" sz="2100">
              <a:solidFill>
                <a:srgbClr val="243044"/>
              </a:solidFill>
              <a:latin typeface="Calibri (MS)" panose="020F0502020204030204"/>
              <a:ea typeface="Calibri (MS)" panose="020F0502020204030204"/>
              <a:cs typeface="Calibri (MS)" panose="020F0502020204030204"/>
              <a:sym typeface="Calibri (MS)" panose="020F0502020204030204"/>
            </a:endParaRPr>
          </a:p>
        </p:txBody>
      </p:sp>
      <p:grpSp>
        <p:nvGrpSpPr>
          <p:cNvPr id="18" name="Group 18"/>
          <p:cNvGrpSpPr/>
          <p:nvPr/>
        </p:nvGrpSpPr>
        <p:grpSpPr>
          <a:xfrm rot="0">
            <a:off x="822960" y="8709660"/>
            <a:ext cx="16641604" cy="850392"/>
            <a:chOff x="0" y="0"/>
            <a:chExt cx="22188805" cy="1133856"/>
          </a:xfrm>
        </p:grpSpPr>
        <p:sp>
          <p:nvSpPr>
            <p:cNvPr id="19" name="Freeform 19"/>
            <p:cNvSpPr/>
            <p:nvPr/>
          </p:nvSpPr>
          <p:spPr>
            <a:xfrm>
              <a:off x="0" y="0"/>
              <a:ext cx="22188805" cy="1133856"/>
            </a:xfrm>
            <a:custGeom>
              <a:avLst/>
              <a:gdLst/>
              <a:ahLst/>
              <a:cxnLst/>
              <a:rect l="l" t="t" r="r" b="b"/>
              <a:pathLst>
                <a:path w="22188805" h="1133856">
                  <a:moveTo>
                    <a:pt x="0" y="0"/>
                  </a:moveTo>
                  <a:lnTo>
                    <a:pt x="22188805" y="0"/>
                  </a:lnTo>
                  <a:lnTo>
                    <a:pt x="22188805" y="1133856"/>
                  </a:lnTo>
                  <a:lnTo>
                    <a:pt x="0" y="1133856"/>
                  </a:lnTo>
                  <a:close/>
                </a:path>
              </a:pathLst>
            </a:custGeom>
            <a:blipFill>
              <a:blip r:embed="rId1">
                <a:alphaModFix amt="0"/>
              </a:blip>
              <a:stretch>
                <a:fillRect t="-331043" b="-331043"/>
              </a:stretch>
            </a:blipFill>
          </p:spPr>
          <p:txBody>
            <a:bodyPr/>
            <a:p/>
          </p:txBody>
        </p:sp>
      </p:grpSp>
      <p:grpSp>
        <p:nvGrpSpPr>
          <p:cNvPr id="20" name="Group 20"/>
          <p:cNvGrpSpPr/>
          <p:nvPr/>
        </p:nvGrpSpPr>
        <p:grpSpPr>
          <a:xfrm rot="0">
            <a:off x="822960" y="8681085"/>
            <a:ext cx="16641623" cy="878967"/>
            <a:chOff x="0" y="0"/>
            <a:chExt cx="22188830" cy="1171956"/>
          </a:xfrm>
        </p:grpSpPr>
        <p:sp>
          <p:nvSpPr>
            <p:cNvPr id="21" name="Freeform 21"/>
            <p:cNvSpPr/>
            <p:nvPr/>
          </p:nvSpPr>
          <p:spPr>
            <a:xfrm>
              <a:off x="0" y="0"/>
              <a:ext cx="22188805" cy="1171956"/>
            </a:xfrm>
            <a:custGeom>
              <a:avLst/>
              <a:gdLst/>
              <a:ahLst/>
              <a:cxnLst/>
              <a:rect l="l" t="t" r="r" b="b"/>
              <a:pathLst>
                <a:path w="22188805" h="1171956">
                  <a:moveTo>
                    <a:pt x="0" y="0"/>
                  </a:moveTo>
                  <a:lnTo>
                    <a:pt x="22188805" y="0"/>
                  </a:lnTo>
                  <a:lnTo>
                    <a:pt x="22188805" y="1171956"/>
                  </a:lnTo>
                  <a:lnTo>
                    <a:pt x="0" y="1171956"/>
                  </a:lnTo>
                  <a:close/>
                </a:path>
              </a:pathLst>
            </a:custGeom>
            <a:blipFill>
              <a:blip r:embed="rId7">
                <a:alphaModFix amt="0"/>
              </a:blip>
              <a:stretch>
                <a:fillRect t="-318656" b="-318657"/>
              </a:stretch>
            </a:blipFill>
          </p:spPr>
          <p:txBody>
            <a:bodyPr/>
            <a:p/>
          </p:txBody>
        </p:sp>
      </p:grpSp>
      <p:grpSp>
        <p:nvGrpSpPr>
          <p:cNvPr id="22" name="Group 22"/>
          <p:cNvGrpSpPr/>
          <p:nvPr/>
        </p:nvGrpSpPr>
        <p:grpSpPr>
          <a:xfrm rot="0">
            <a:off x="822960" y="8652510"/>
            <a:ext cx="16641623" cy="907542"/>
            <a:chOff x="0" y="0"/>
            <a:chExt cx="22188830" cy="1210056"/>
          </a:xfrm>
        </p:grpSpPr>
        <p:sp>
          <p:nvSpPr>
            <p:cNvPr id="23" name="Freeform 23"/>
            <p:cNvSpPr/>
            <p:nvPr/>
          </p:nvSpPr>
          <p:spPr>
            <a:xfrm>
              <a:off x="0" y="0"/>
              <a:ext cx="22188830" cy="1210056"/>
            </a:xfrm>
            <a:custGeom>
              <a:avLst/>
              <a:gdLst/>
              <a:ahLst/>
              <a:cxnLst/>
              <a:rect l="l" t="t" r="r" b="b"/>
              <a:pathLst>
                <a:path w="22188830" h="1210056">
                  <a:moveTo>
                    <a:pt x="0" y="0"/>
                  </a:moveTo>
                  <a:lnTo>
                    <a:pt x="22188830" y="0"/>
                  </a:lnTo>
                  <a:lnTo>
                    <a:pt x="22188830" y="1210056"/>
                  </a:lnTo>
                  <a:lnTo>
                    <a:pt x="0" y="1210056"/>
                  </a:lnTo>
                  <a:close/>
                </a:path>
              </a:pathLst>
            </a:custGeom>
            <a:blipFill>
              <a:blip r:embed="rId8">
                <a:alphaModFix amt="0"/>
              </a:blip>
              <a:stretch>
                <a:fillRect t="-307297" b="-307297"/>
              </a:stretch>
            </a:blipFill>
          </p:spPr>
          <p:txBody>
            <a:bodyPr/>
            <a:p/>
          </p:txBody>
        </p:sp>
        <p:sp>
          <p:nvSpPr>
            <p:cNvPr id="24" name="TextBox 24"/>
            <p:cNvSpPr txBox="1"/>
            <p:nvPr/>
          </p:nvSpPr>
          <p:spPr>
            <a:xfrm>
              <a:off x="0" y="-38100"/>
              <a:ext cx="22188830" cy="1248156"/>
            </a:xfrm>
            <a:prstGeom prst="rect">
              <a:avLst/>
            </a:prstGeom>
          </p:spPr>
          <p:txBody>
            <a:bodyPr lIns="0" tIns="0" rIns="0" bIns="0" rtlCol="0" anchor="b"/>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Loại câu hỏi gán bằng từ khoá (qt-v1, thiết kế trên dev); kiểm bằng 150 câu gán tay mù: khớp 80,7%. ⚠ = precision &lt; 80%, chỉ mô tả. EM %, full test; chưa kiểm định theo loại.</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grpSp>
        <p:nvGrpSpPr>
          <p:cNvPr id="25" name="Group 25"/>
          <p:cNvGrpSpPr/>
          <p:nvPr/>
        </p:nvGrpSpPr>
        <p:grpSpPr>
          <a:xfrm rot="0">
            <a:off x="822960" y="9641205"/>
            <a:ext cx="13716000" cy="440055"/>
            <a:chOff x="0" y="0"/>
            <a:chExt cx="18288000" cy="586740"/>
          </a:xfrm>
        </p:grpSpPr>
        <p:sp>
          <p:nvSpPr>
            <p:cNvPr id="26" name="Freeform 26"/>
            <p:cNvSpPr/>
            <p:nvPr/>
          </p:nvSpPr>
          <p:spPr>
            <a:xfrm>
              <a:off x="0" y="0"/>
              <a:ext cx="18288000" cy="586740"/>
            </a:xfrm>
            <a:custGeom>
              <a:avLst/>
              <a:gdLst/>
              <a:ahLst/>
              <a:cxnLst/>
              <a:rect l="l" t="t" r="r" b="b"/>
              <a:pathLst>
                <a:path w="18288000" h="586740">
                  <a:moveTo>
                    <a:pt x="0" y="0"/>
                  </a:moveTo>
                  <a:lnTo>
                    <a:pt x="18288000" y="0"/>
                  </a:lnTo>
                  <a:lnTo>
                    <a:pt x="18288000" y="586740"/>
                  </a:lnTo>
                  <a:lnTo>
                    <a:pt x="0" y="586740"/>
                  </a:lnTo>
                  <a:close/>
                </a:path>
              </a:pathLst>
            </a:custGeom>
            <a:blipFill>
              <a:blip r:embed="rId7">
                <a:alphaModFix amt="0"/>
              </a:blip>
              <a:stretch>
                <a:fillRect t="-556902" b="-556904"/>
              </a:stretch>
            </a:blipFill>
          </p:spPr>
          <p:txBody>
            <a:bodyPr/>
            <a:p/>
          </p:txBody>
        </p:sp>
      </p:grpSp>
      <p:grpSp>
        <p:nvGrpSpPr>
          <p:cNvPr id="27" name="Group 27"/>
          <p:cNvGrpSpPr/>
          <p:nvPr/>
        </p:nvGrpSpPr>
        <p:grpSpPr>
          <a:xfrm rot="0">
            <a:off x="822960" y="9612630"/>
            <a:ext cx="13716000" cy="468630"/>
            <a:chOff x="0" y="0"/>
            <a:chExt cx="18288000" cy="624840"/>
          </a:xfrm>
        </p:grpSpPr>
        <p:sp>
          <p:nvSpPr>
            <p:cNvPr id="28" name="Freeform 28"/>
            <p:cNvSpPr/>
            <p:nvPr/>
          </p:nvSpPr>
          <p:spPr>
            <a:xfrm>
              <a:off x="0" y="0"/>
              <a:ext cx="18288000" cy="624840"/>
            </a:xfrm>
            <a:custGeom>
              <a:avLst/>
              <a:gdLst/>
              <a:ahLst/>
              <a:cxnLst/>
              <a:rect l="l" t="t" r="r" b="b"/>
              <a:pathLst>
                <a:path w="18288000" h="624840">
                  <a:moveTo>
                    <a:pt x="0" y="0"/>
                  </a:moveTo>
                  <a:lnTo>
                    <a:pt x="18288000" y="0"/>
                  </a:lnTo>
                  <a:lnTo>
                    <a:pt x="18288000" y="624840"/>
                  </a:lnTo>
                  <a:lnTo>
                    <a:pt x="0" y="624840"/>
                  </a:lnTo>
                  <a:close/>
                </a:path>
              </a:pathLst>
            </a:custGeom>
            <a:blipFill>
              <a:blip r:embed="rId8">
                <a:alphaModFix amt="0"/>
              </a:blip>
              <a:stretch>
                <a:fillRect t="-520293" b="-520293"/>
              </a:stretch>
            </a:blipFill>
          </p:spPr>
          <p:txBody>
            <a:bodyPr/>
            <a:p/>
          </p:txBody>
        </p:sp>
        <p:sp>
          <p:nvSpPr>
            <p:cNvPr id="29" name="TextBox 29"/>
            <p:cNvSpPr txBox="1"/>
            <p:nvPr/>
          </p:nvSpPr>
          <p:spPr>
            <a:xfrm>
              <a:off x="0" y="-38100"/>
              <a:ext cx="18288000" cy="662940"/>
            </a:xfrm>
            <a:prstGeom prst="rect">
              <a:avLst/>
            </a:prstGeom>
          </p:spPr>
          <p:txBody>
            <a:bodyPr lIns="0" tIns="0" rIns="0" bIns="0" rtlCol="0" anchor="ctr"/>
            <a:lstStyle/>
            <a:p>
              <a:pPr algn="l">
                <a:lnSpc>
                  <a:spcPts val="1800"/>
                </a:lnSpc>
              </a:pPr>
              <a:r>
                <a:rPr lang="en-US" sz="1500">
                  <a:solidFill>
                    <a:srgbClr val="6B7280"/>
                  </a:solidFill>
                  <a:latin typeface="Calibri (MS)" panose="020F0502020204030204"/>
                  <a:ea typeface="Calibri (MS)" panose="020F0502020204030204"/>
                  <a:cs typeface="Calibri (MS)" panose="020F0502020204030204"/>
                  <a:sym typeface="Calibri (MS)" panose="020F0502020204030204"/>
                </a:rPr>
                <a:t>ViVQA-VLM · Review 2 · GFA26AI35 · Đại học FPT</a:t>
              </a:r>
              <a:endParaRPr lang="en-US" sz="1500">
                <a:solidFill>
                  <a:srgbClr val="6B7280"/>
                </a:solidFill>
                <a:latin typeface="Calibri (MS)" panose="020F0502020204030204"/>
                <a:ea typeface="Calibri (MS)" panose="020F0502020204030204"/>
                <a:cs typeface="Calibri (MS)" panose="020F0502020204030204"/>
                <a:sym typeface="Calibri (MS)" panose="020F0502020204030204"/>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27419</Words>
  <Application>WPS Presentation</Application>
  <PresentationFormat>On-screen Show (4:3)</PresentationFormat>
  <Paragraphs>1549</Paragraphs>
  <Slides>38</Slides>
  <Notes>0</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38</vt:i4>
      </vt:variant>
    </vt:vector>
  </HeadingPairs>
  <TitlesOfParts>
    <vt:vector size="59" baseType="lpstr">
      <vt:lpstr>Arial</vt:lpstr>
      <vt:lpstr>SimSun</vt:lpstr>
      <vt:lpstr>Wingdings</vt:lpstr>
      <vt:lpstr>Noto Sans Bold</vt:lpstr>
      <vt:lpstr>Noto Sans</vt:lpstr>
      <vt:lpstr>Calibri (MS)</vt:lpstr>
      <vt:lpstr>Calibri (MS) Bold</vt:lpstr>
      <vt:lpstr>Cambria Bold</vt:lpstr>
      <vt:lpstr>Arial</vt:lpstr>
      <vt:lpstr>Inter Bold</vt:lpstr>
      <vt:lpstr>Lora Bold</vt:lpstr>
      <vt:lpstr>Inter</vt:lpstr>
      <vt:lpstr>Calibri (MS) Italics</vt:lpstr>
      <vt:lpstr>Microsoft YaHei</vt:lpstr>
      <vt:lpstr>Arial Unicode MS</vt:lpstr>
      <vt:lpstr>Calibri</vt:lpstr>
      <vt:lpstr>Consolas Bold</vt:lpstr>
      <vt:lpstr>Consolas</vt:lpstr>
      <vt:lpstr>Courier New Bold</vt:lpstr>
      <vt:lpstr>Courier New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KLTN</dc:title>
  <dc:creator/>
  <cp:lastModifiedBy>Phạm Lê Huy Hoàng</cp:lastModifiedBy>
  <cp:revision>2</cp:revision>
  <dcterms:created xsi:type="dcterms:W3CDTF">2006-08-16T00:00:00Z</dcterms:created>
  <dcterms:modified xsi:type="dcterms:W3CDTF">2026-10-26T13:38:26Z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E4FD5176374F40298F105FACC8D3B1CB_12</vt:lpwstr>
  </property>
  <property fmtid="{D5CDD505-2E9C-101B-9397-08002B2CF9AE}" pid="3" name="KSOProductBuildVer">
    <vt:lpwstr>2057-12.2.0.23206</vt:lpwstr>
  </property>
</Properties>
</file>