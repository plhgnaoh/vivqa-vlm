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0.svg" ContentType="image/svg+xml"/>
  <Override PartName="/ppt/media/image102.svg" ContentType="image/svg+xml"/>
  <Override PartName="/ppt/media/image108.svg" ContentType="image/svg+xml"/>
  <Override PartName="/ppt/media/image11.svg" ContentType="image/svg+xml"/>
  <Override PartName="/ppt/media/image110.svg" ContentType="image/svg+xml"/>
  <Override PartName="/ppt/media/image112.svg" ContentType="image/svg+xml"/>
  <Override PartName="/ppt/media/image118.svg" ContentType="image/svg+xml"/>
  <Override PartName="/ppt/media/image120.svg" ContentType="image/svg+xml"/>
  <Override PartName="/ppt/media/image124.svg" ContentType="image/svg+xml"/>
  <Override PartName="/ppt/media/image126.svg" ContentType="image/svg+xml"/>
  <Override PartName="/ppt/media/image128.svg" ContentType="image/svg+xml"/>
  <Override PartName="/ppt/media/image130.svg" ContentType="image/svg+xml"/>
  <Override PartName="/ppt/media/image132.svg" ContentType="image/svg+xml"/>
  <Override PartName="/ppt/media/image134.svg" ContentType="image/svg+xml"/>
  <Override PartName="/ppt/media/image136.svg" ContentType="image/svg+xml"/>
  <Override PartName="/ppt/media/image138.svg" ContentType="image/svg+xml"/>
  <Override PartName="/ppt/media/image140.svg" ContentType="image/svg+xml"/>
  <Override PartName="/ppt/media/image142.svg" ContentType="image/svg+xml"/>
  <Override PartName="/ppt/media/image144.svg" ContentType="image/svg+xml"/>
  <Override PartName="/ppt/media/image146.svg" ContentType="image/svg+xml"/>
  <Override PartName="/ppt/media/image148.svg" ContentType="image/svg+xml"/>
  <Override PartName="/ppt/media/image150.svg" ContentType="image/svg+xml"/>
  <Override PartName="/ppt/media/image154.svg" ContentType="image/svg+xml"/>
  <Override PartName="/ppt/media/image157.svg" ContentType="image/svg+xml"/>
  <Override PartName="/ppt/media/image159.svg" ContentType="image/svg+xml"/>
  <Override PartName="/ppt/media/image161.svg" ContentType="image/svg+xml"/>
  <Override PartName="/ppt/media/image163.svg" ContentType="image/svg+xml"/>
  <Override PartName="/ppt/media/image166.svg" ContentType="image/svg+xml"/>
  <Override PartName="/ppt/media/image168.svg" ContentType="image/svg+xml"/>
  <Override PartName="/ppt/media/image171.svg" ContentType="image/svg+xml"/>
  <Override PartName="/ppt/media/image173.svg" ContentType="image/svg+xml"/>
  <Override PartName="/ppt/media/image175.svg" ContentType="image/svg+xml"/>
  <Override PartName="/ppt/media/image178.svg" ContentType="image/svg+xml"/>
  <Override PartName="/ppt/media/image180.svg" ContentType="image/svg+xml"/>
  <Override PartName="/ppt/media/image182.svg" ContentType="image/svg+xml"/>
  <Override PartName="/ppt/media/image184.svg" ContentType="image/svg+xml"/>
  <Override PartName="/ppt/media/image186.svg" ContentType="image/svg+xml"/>
  <Override PartName="/ppt/media/image188.svg" ContentType="image/svg+xml"/>
  <Override PartName="/ppt/media/image190.svg" ContentType="image/svg+xml"/>
  <Override PartName="/ppt/media/image192.svg" ContentType="image/svg+xml"/>
  <Override PartName="/ppt/media/image23.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svg" ContentType="image/svg+xml"/>
  <Override PartName="/ppt/media/image71.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svg" ContentType="image/svg+xml"/>
  <Override PartName="/ppt/media/image91.svg" ContentType="image/svg+xml"/>
  <Override PartName="/ppt/media/image93.svg" ContentType="image/svg+xml"/>
  <Override PartName="/ppt/media/image9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Calibri (MS) Bold" charset="1" panose="020F0702030404030204"/>
      <p:regular r:id="rId44"/>
    </p:embeddedFont>
    <p:embeddedFont>
      <p:font typeface="Cambria Bold" charset="1" panose="02040803050406030204"/>
      <p:regular r:id="rId45"/>
    </p:embeddedFont>
    <p:embeddedFont>
      <p:font typeface="Calibri (MS)" charset="1" panose="020F0502020204030204"/>
      <p:regular r:id="rId46"/>
    </p:embeddedFont>
    <p:embeddedFont>
      <p:font typeface="Inter Bold" charset="1" panose="02000503000000020004"/>
      <p:regular r:id="rId47"/>
    </p:embeddedFont>
    <p:embeddedFont>
      <p:font typeface="Lora Bold" charset="1" panose="00000800000000000000"/>
      <p:regular r:id="rId48"/>
    </p:embeddedFont>
    <p:embeddedFont>
      <p:font typeface="Inter" charset="1" panose="02000503000000020004"/>
      <p:regular r:id="rId49"/>
    </p:embeddedFont>
    <p:embeddedFont>
      <p:font typeface="Calibri (MS) Italics" charset="1" panose="020F05020202040A0204"/>
      <p:regular r:id="rId50"/>
    </p:embeddedFont>
    <p:embeddedFont>
      <p:font typeface="Consolas Bold" charset="1" panose="020B0709020204030204"/>
      <p:regular r:id="rId51"/>
    </p:embeddedFont>
    <p:embeddedFont>
      <p:font typeface="Consolas" charset="1" panose="020B0609020204030204"/>
      <p:regular r:id="rId52"/>
    </p:embeddedFont>
    <p:embeddedFont>
      <p:font typeface="Courier New Bold" charset="1" panose="02070609020205020404"/>
      <p:regular r:id="rId53"/>
    </p:embeddedFont>
    <p:embeddedFont>
      <p:font typeface="Courier New" charset="1" panose="02070309020205020404"/>
      <p:regular r:id="rId54"/>
    </p:embeddedFont>
    <p:embeddedFont>
      <p:font typeface="Noto Sans Bold" charset="1" panose="020B0802040504020204"/>
      <p:regular r:id="rId55"/>
    </p:embeddedFont>
    <p:embeddedFont>
      <p:font typeface="Noto Sans" charset="1" panose="020B0502040504020204"/>
      <p:regular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font" Target="fonts/font44.fntdata"/><Relationship Id="rId45" Type="http://schemas.openxmlformats.org/officeDocument/2006/relationships/font" Target="fonts/font45.fntdata"/><Relationship Id="rId46" Type="http://schemas.openxmlformats.org/officeDocument/2006/relationships/font" Target="fonts/font46.fntdata"/><Relationship Id="rId47" Type="http://schemas.openxmlformats.org/officeDocument/2006/relationships/font" Target="fonts/font47.fntdata"/><Relationship Id="rId48" Type="http://schemas.openxmlformats.org/officeDocument/2006/relationships/font" Target="fonts/font48.fntdata"/><Relationship Id="rId49" Type="http://schemas.openxmlformats.org/officeDocument/2006/relationships/font" Target="fonts/font49.fntdata"/><Relationship Id="rId50" Type="http://schemas.openxmlformats.org/officeDocument/2006/relationships/font" Target="fonts/font50.fntdata"/><Relationship Id="rId51" Type="http://schemas.openxmlformats.org/officeDocument/2006/relationships/font" Target="fonts/font51.fntdata"/><Relationship Id="rId52" Type="http://schemas.openxmlformats.org/officeDocument/2006/relationships/font" Target="fonts/font52.fntdata"/><Relationship Id="rId53" Type="http://schemas.openxmlformats.org/officeDocument/2006/relationships/font" Target="fonts/font53.fntdata"/><Relationship Id="rId54" Type="http://schemas.openxmlformats.org/officeDocument/2006/relationships/font" Target="fonts/font54.fntdata"/><Relationship Id="rId55" Type="http://schemas.openxmlformats.org/officeDocument/2006/relationships/font" Target="fonts/font55.fntdata"/><Relationship Id="rId56" Type="http://schemas.openxmlformats.org/officeDocument/2006/relationships/font" Target="fonts/font56.fntdata"/><Relationship Id="rId5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 ~20 giây]</a:t>
            </a:r>
          </a:p>
          <a:p>
            <a:r>
              <a:t>Kính chào thầy cô. Nhóm em là GFA26AI35, đề tài ViVQA-VLM: hỏi đáp hình ảnh tiếng Việt hiệu quả bằng mô hình thị giác–ngôn ngữ, GVHD là thầy Đặng Ngọc Minh Đức và thầy Phạm Minh Trí.</a:t>
            </a:r>
          </a:p>
          <a:p>
            <a:r>
              <a:t>Bộ slide hôm nay là bộ cộng dồn: phần A là nội dung Review 1 đã sửa theo góp ý — xoay quanh phạm vi bài toán; phần B là nội dung mới của Review 2 — hệ thống hiện có (Existing System) và phương pháp (Methodology).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phần · ~5 giây]</a:t>
            </a:r>
          </a:p>
          <a:p>
            <a:r>
              <a:t>"Trước hết là phần A — phạm vi bài toán."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[Phát biểu bài toán · ~1 phút]</a:t>
            </a:r>
          </a:p>
          <a:p>
            <a:r>
              <a:t>Ý chính: ảnh + câu hỏi tiếng Việt → câu trả lời tiếng Việt ngắn.</a:t>
            </a:r>
          </a:p>
          <a:p>
            <a:r>
              <a:t>Cách nói (chỉ hàng trên rồi hàng dưới): Đầu vào là một ảnh và một câu hỏi tiếng Việt. Có hai kiểu ảnh. Hàng trên là ảnh đời thường của ViVQA — hỏi màu chiếc xe đạp. Hàng dưới là ảnh có chữ tiếng Việt của ViTextVQA — hỏi cửa hàng có biển vàng là nơi nào; muốn trả lời phải đọc được chữ trên biển.</a:t>
            </a:r>
          </a:p>
          <a:p>
            <a:r>
              <a:t>Ở giữa là mô hình: Qwen2.5-VL-3B, 3 tỉ tham số, được nén 4-bit và đóng băng; nhóm chỉ train thêm một adapter QLoRA nhỏ, khoảng 0,2% tham số.</a:t>
            </a:r>
          </a:p>
          <a:p>
            <a:r>
              <a:t>Đầu ra là câu trả lời ngắn, so với đáp án chuẩn. ViVQA đáp án rất ngắn nên chấm EM, VQA-Acc. ViTextVQA đáp án là chữ trong ảnh, dài hơn, nên chấm thêm ANLS — chịu được lỗi vài ký tự.</a:t>
            </a:r>
          </a:p>
          <a:p>
            <a:r>
              <a:t>Nếu bị hỏi "vì sao câu trả lời ngắn": 99,83% đáp án ViVQA ≤ 3 từ; bài toán là hỏi đáp, không phải sinh mô tả.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[V1–V4 · ~1 phút]</a:t>
            </a:r>
          </a:p>
          <a:p>
            <a:r>
              <a:t>Ý chính: vì sao tiếng Việt khó hơn tiếng Anh — bốn vấn đề.</a:t>
            </a:r>
          </a:p>
          <a:p>
            <a:r>
              <a:t>V1: dấu thanh là nét rất nhỏ, sai dấu là đổi nghĩa (má khác mà) — lỗi nhìn ở mức pixel, chuẩn hoá văn bản không sửa được.</a:t>
            </a:r>
          </a:p>
          <a:p>
            <a:r>
              <a:t>V2: model pretrain chủ yếu bằng tiếng Anh/Trung nên hay trả lời tiếng Anh hoặc dài dòng → EM = 0 dù hiểu đúng.</a:t>
            </a:r>
          </a:p>
          <a:p>
            <a:r>
              <a:t>V3: khoảng trắng tiếng Việt tách âm tiết chứ không tách từ; đọc sai thứ tự chữ làm vỡ từ.</a:t>
            </a:r>
          </a:p>
          <a:p>
            <a:r>
              <a:t>V4: hallucination — trả lời trôi chảy nhưng không có trong ảnh.</a:t>
            </a:r>
          </a:p>
          <a:p>
            <a:r>
              <a:t>Mỗi thẻ có một ví dụ: V1 má/mà/mã/ma; V2 hỏi tiếng Việt, model trả lời tiếng Anh nên EM = 0; V3 biển “cửa hàng điện thoại” đọc theo cột thành “cửa điện hàng thoại”; V4 ảnh không có người nhưng model vẫn tả áo người đạp xe. Ví dụ V2, V4 là minh hoạ dạng lỗi; ảnh V4 lấy từ ViVQA.</a:t>
            </a:r>
          </a:p>
          <a:p>
            <a:r>
              <a:t>Nếu bị hỏi (góp ý số 2): chuẩn hoá NFC, chữ thường, resize chỉ là tiền xử lý bắt buộc, không phải đóng góp.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trống · ~1 phút]</a:t>
            </a:r>
          </a:p>
          <a:p>
            <a:r>
              <a:t>Bốn khoảng trống, G3 là trọng tâm. Mỗi thẻ có một hình làm bằng chứng.</a:t>
            </a:r>
          </a:p>
          <a:p>
            <a:r>
              <a:t>G1 — VLM được huấn luyện thiên về tiếng Anh. Hình là output thật của baseline zero-shot trên ViVQA test: hỏi 'những gì bên cạnh nhau', model trả lời 'bus and car' thay vì 'xe buýt'; câu dưới còn lẫn cả chữ Trung '镜子' vào câu tiếng Việt. Sai ngôn ngữ thì EM bằng 0.</a:t>
            </a:r>
          </a:p>
          <a:p>
            <a:r>
              <a:t>G2 — VQA tiếng Việt còn yếu, nhất là ảnh có chữ: SOTA công bố trên ViTextVQA chỉ 25,48 EM, con người 88,00 — cách nhau 62,5 điểm.</a:t>
            </a:r>
          </a:p>
          <a:p>
            <a:r>
              <a:t>G3 — trọng tâm: các paper VQA tiếng Việt nhóm khảo sát đều train kiểu thông thường, không dùng PEFT. Bên phải hình là cách của nhóm: model gốc đóng băng 4-bit, chỉ train adapter LoRA khoảng 0,2% tham số, vừa một GPU Colab.</a:t>
            </a:r>
          </a:p>
          <a:p>
            <a:r>
              <a:t>G4 — chưa có đánh giá hallucination kiểu POPE cho tiếng Việt. Hình minh hoạ dạng câu hỏi: ảnh không có mèo, model nói 'có' là bịa.</a:t>
            </a:r>
          </a:p>
          <a:p>
            <a:r>
              <a:t>Bản đồ: G3 được trả lời ở slide 21 (QLoRA), G2 ở slide 23–25 (QLoRA nhận biết OCR), G4 ở slide 22 và 26 (lỗi B2,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và ngoài phạm vi · ~1 phút — slide mới, trả lời thẳng "phạm vi bài toán"]</a:t>
            </a:r>
          </a:p>
          <a:p>
            <a:r>
              <a:t>Hàng trên là những gì nằm trong phạm vi: dữ liệu là hai benchmark công khai với split cố định; mô hình là một baseline mở Qwen2.5-VL-3B, chỉ PEFT; đánh giá bằng EM, VQA-Acc, ANLS cộng ablation, phân tích lỗi, hallucination — tất cả trên một GPU Colab.</a:t>
            </a:r>
          </a:p>
          <a:p>
            <a:r>
              <a:t>Ô dưới — ngoài phạm vi: full fine-tuning; câu trả lời dài, giải thích, hội thoại nhiều lượt; video; ngôn ngữ khác; tự train lại OCR. RAG tri thức ngoài chỉ làm nếu phân tích lỗi đòi hỏi.</a:t>
            </a:r>
          </a:p>
          <a:p>
            <a:r>
              <a:t>Nếu bị hỏi "vì sao không full fine-tune": đó là ràng buộc của đề cương và của phần cứng; mục tiêu đề tài là hiệu quả.</a:t>
            </a:r>
          </a:p>
          <a:p>
            <a:r>
              <a:t>Hình trong từng thẻ: dữ liệu — một ảnh ViVQA thật và các khung chữ OCR thật của một ảnh ViTextVQA; mô hình — model gốc đóng băng, chỉ train phần LoRA màu cam; đánh giá — các metric và một GPU. Hàng dưới là bảy thứ ngoài phạm vi, mỗi thứ một biểu tượng gạch chéo.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nghiên cứu · ~45 giây]</a:t>
            </a:r>
          </a:p>
          <a:p>
            <a:r>
              <a:t>Bốn câu hỏi, RQ2 là trung tâm.</a:t>
            </a:r>
          </a:p>
          <a:p>
            <a:r>
              <a:t>RQ1: zero-shot làm được bao nhiêu, lỗi tiếng Việt nào chiếm ưu thế, prompt có giúp không. RQ2: QLoRA cải thiện bao nhiêu so với zero-shot mà không full fine-tune. RQ3: chữ OCR tiếng Việt có giúp đọc chữ trong ảnh không, và có cộng hưởng với QLoRA không. RQ4: sau QLoRA, model bịa nhiều hơn hay ít hơn.</a:t>
            </a:r>
          </a:p>
          <a:p>
            <a:r>
              <a:t>Nhấn: mỗi câu hỏi ghi rõ đo bằng metric gì — câu nào cũng kiểm chứng được.</a:t>
            </a:r>
          </a:p>
          <a:p>
            <a:r>
              <a:t>Mỗi câu hỏi có một hình nhỏ bên phải: RQ1 — output thật của zero-shot, trả lời dài dòng trong khi đáp án chỉ là 'tòa nhà'; RQ2 — model đóng băng cộng adapter LoRA; RQ3 — dòng chữ OCR thật được đưa vào prompt; RQ4 — câu hỏi kiểu POPE để đo model có bịa vật thể không. Bốn hình này lặp lại ở slide giả thuyết để nối RQ với 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 thuyết · ~1 phút]</a:t>
            </a:r>
          </a:p>
          <a:p>
            <a:r>
              <a:t>Mỗi giả thuyết gắn một vấn đề tiếng Việt.</a:t>
            </a:r>
          </a:p>
          <a:p>
            <a:r>
              <a:t>H1: QLoRA tăng ít nhất 5 điểm EM so với chính model đó zero-shot. H2: chữ OCR có dấu trong prompt tăng ít nhất 3 điểm ANLS và tốt nhất khi kết hợp QLoRA. H3: prompt định dạng tiếng Việt tăng ít nhất 3 điểm EM. H4: QLoRA không làm tăng hallucination.</a:t>
            </a:r>
          </a:p>
          <a:p>
            <a:r>
              <a:t>Kết quả từng giả thuyết ở slide 26. Nếu bị hỏi (góp ý số 3): 4-bit/16-bit không còn là giả thuyết mà là số đo hiệu quả; cấu hình LoRA chuyển thành ablation A1, A2.</a:t>
            </a:r>
          </a:p>
          <a:p>
            <a:r>
              <a:t>Hình bên trái mỗi dòng là hình của câu hỏi nghiên cứu tương ứng: H1 ↔ RQ2 (QLoRA), H2 ↔ RQ3 (OCR), H3 ↔ RQ1 (định dạng), H4 ↔ RQ4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 ~1 phút]</a:t>
            </a:r>
          </a:p>
          <a:p>
            <a:r>
              <a:t>ViVQA: 15.000 cặp hỏi–đáp trên 10.328 ảnh COCO; bản gốc chỉ có train/test nên nhóm tách val 1.200 câu từ train, seed 42. ViTextVQA: 50.342 cặp, 16.762 ảnh có chữ tiếng Việt, dùng split chính thức của tác giả.</a:t>
            </a:r>
          </a:p>
          <a:p>
            <a:r>
              <a:t>Đặc điểm đáp án quyết định metric: ViVQA rất ngắn → EM/VQA-Acc; ViTextVQA dài hơn, đọc từ ảnh → thêm ANLS.</a:t>
            </a:r>
          </a:p>
          <a:p>
            <a:r>
              <a:t>Dải dưới trả lời góp ý số 9: tiền xử lý trước, rồi mới cố định split; chọn cấu hình chỉ trên val/dev; test chỉ dùng để báo cáo, không dùng để chọn.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[Phương pháp đề xuất · ~1,5 phút]</a:t>
            </a:r>
          </a:p>
          <a:p>
            <a:r>
              <a:t>Một câu: QLoRA trên Qwen2.5-VL-3B cộng prompt tiếng Việt có chữ OCR.</a:t>
            </a:r>
          </a:p>
          <a:p>
            <a:r>
              <a:t>Đi theo ba khối. A — chuẩn bị dữ liệu, chạy một lần rồi cache: dữ liệu → tiền xử lý → OCR (chỉ ViTextVQA; VietOCR, sắp trái-trên → phải-dưới) → chia tập cố định.</a:t>
            </a:r>
          </a:p>
          <a:p>
            <a:r>
              <a:t>B — huấn luyện và suy luận, giống hệt cho mọi run: ghép prompt (ảnh + câu hỏi + một dòng OCR) → Qwen2.5-VL: encoder ảnh đóng băng, LLM 4-bit đóng băng + LoRA r = 16. Khi train, loss chỉ tính trên token đáp án; khi suy luận, greedy, trả lời ngắn.</a:t>
            </a:r>
          </a:p>
          <a:p>
            <a:r>
              <a:t>C — chấm điểm sau cùng một bước chuẩn hoá, phân tích lỗi, hallucination, và prototype web.</a:t>
            </a:r>
          </a:p>
          <a:p>
            <a:r>
              <a:t>Nhấn: bước 1–4 cố định nên mọi so sánh chỉ khác đúng một yếu tố (góp ý số 4: đã có một phương pháp và hình pipeline).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[Sản phẩm &amp; giá trị · ~1 phút] Bên trái là bốn nhóm sản phẩm và giá trị: một cải tiến PEFT đã kiểm chứng so với baseline, kèm ablation, phân tích lỗi và hallucination; luận văn kèm gói tái lập; giá trị thực tiễn như đọc biển hiệu, hỗ trợ người khiếm thị; và ý nghĩa khoa học. Bên phải là hình minh hoạ prototype web nhóm sẽ làm: người dùng tải ảnh, hỏi bằng tiếng Việt, hệ thống trả lời và hiện luôn các dòng chữ OCR đọc được làm bằng chứng — ví dụ câu hỏi cửa hàng biển vàng, dòng OCR 'đại lý xổ số miền bắc' được tô sáng. Nếu ảnh không có chữ thì hiện cảnh báo. Đây là giao diện dự kiến, làm ở tuần 13–14.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 hoạch · ~45 giây — góp ý số 10]</a:t>
            </a:r>
          </a:p>
          <a:p>
            <a:r>
              <a:t>Cột mới "Đầu ra · trạng thái" trả lời góp ý: kế hoạch phải có đầu ra kiểm chứng được. Bốn mốc: Review 1 (W3), Review 2 (W8), Review 3 (W13), bảo vệ (W15).</a:t>
            </a:r>
          </a:p>
          <a:p>
            <a:r>
              <a:t>Đến Review 2: W1–W8 đã xong. Phần thí nghiệm của W9–W10 (B3 toàn bộ dữ liệu, ablation LoRA, đánh giá đầy đủ, adapter dùng chung) đã làm sớm — kết quả có ở phần B. Vì vậy hallucination và phân tích lỗi được dời lên W9–W10, prototype dời lên W11–12.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phần · ~10 giây]</a:t>
            </a:r>
          </a:p>
          <a:p>
            <a:r>
              <a:t>"Phần B — nội dung chính của Review 2: hệ thống hiện có và phương pháp."</a:t>
            </a:r>
          </a:p>
          <a:p>
            <a:r>
              <a:t>Logic của phần B: trước tiên xem các hệ thống hiện có — công trình trước và baseline nhóm tái lập — làm được đến đâu và yếu ở đâu; sau đó là phương pháp nhóm dùng để sửa đúng những điểm yếu đó.</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tắt · ~1 phút — bốn con số, đọc theo thứ tự trái sang phải]</a:t>
            </a:r>
          </a:p>
          <a:p>
            <a:r>
              <a:t>Một, 79,6: trước khi làm tiếng Việt, nhóm kiểm tra pipeline có chạy đúng không bằng cách chạy lại Qwen2.5-VL-3B trên TextVQA val — bộ tiếng Anh mà báo cáo gốc công bố 79,3. Nhóm được 79,6, chênh 0,3 → baseline chạy đúng.</a:t>
            </a:r>
          </a:p>
          <a:p>
            <a:r>
              <a:t>Hai, +21,1: trên ViTextVQA, cùng model, chỉ thêm adapter QLoRA, EM tăng từ 29,1 lên 50,3; trên ViVQA tăng từ 22,1 lên 73,8, tức +51,7.</a:t>
            </a:r>
          </a:p>
          <a:p>
            <a:r>
              <a:t>Ba, +3,1: chỉ trên ViTextVQA, vì ViVQA là ảnh đời thường gần như không có chữ. Cùng QLoRA, cùng toàn bộ dữ liệu, thêm dòng OCR khi train và khi test: EM từ 50,3 lên 53,4. 705 câu được sửa đúng so với 395 câu bị làm sai, p cỡ 10 mũ trừ 21.</a:t>
            </a:r>
          </a:p>
          <a:p>
            <a:r>
              <a:t>Bốn, 53,4: đây là EM của mô hình cuối cùng, B3-full, trên toàn bộ 10.028 câu test ViTextVQA. SOTA đã công bố trên đúng tập này là ViTextBLIP-2 với 25,5 EM. Vì paper không công bố cách chuẩn hoá đáp án, nhóm so thêm F1: 73,7 so với 54,0 — vẫn hơn rõ.</a:t>
            </a:r>
          </a:p>
          <a:p>
            <a:r>
              <a:t>Biểu đồ bên trái là bậc thang: SOTA 25,5, zero-shot 29,1, thêm QLoRA 50,3, thêm OCR 53,4. Ô code bên phải: tính lại từng con số trực tiếp từ file dự đoán của mỗi run trong repo.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System 1 · baseline Qwen2.5-VL-3B · ~1,5 phút — góp ý của thầy Trí]</a:t>
            </a:r>
          </a:p>
          <a:p>
            <a:r>
              <a:t>Baseline của nhóm là Qwen2.5-VL-3B-Instruct. Dải dưới hình là lý do chọn: VLM mở, đa ngôn ngữ, đọc chữ trong ảnh tốt; 3 tỉ tham số nên nén 4-bit vừa một GPU Colab; và là một trong ba baseline đề cương cho phép.</a:t>
            </a:r>
          </a:p>
          <a:p>
            <a:r>
              <a:t>Đi theo luồng dữ liệu bên phải. (1) Ảnh vào ViT: tối đa 401.408 pixel, cắt patch 14×14, qua 32 khối. (2) Patch merger gộp 2×2 patch thành 1 token → 256–512 token ảnh. (3) Prompt: chat template + token ảnh + câu hỏi tiếng Việt. (4) Decoder Qwen2.5, 36 lớp, sinh tham lam tối đa 32 token, rồi chuẩn hoá và chấm.</a:t>
            </a:r>
          </a:p>
          <a:p>
            <a:r>
              <a:t>Ô vàng: phần được train là LoRA r = 16, α = 32 trên q, k, v, o — 7,37 triệu tham số, 29,5 MB; còn lại đóng băng, LLM 4-bit NF4.</a:t>
            </a:r>
          </a:p>
          <a:p>
            <a:r>
              <a:t>Baseline không dùng OCR; OCR là cải tiến B3 (slide 23). Slide sau là bằng chứng nhóm chạy baseline đúng.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System 2 · tái lập baseline R0 · ~1 phút] Chưa có paper nào công bố Qwen2.5-VL-3B trên ViVQA hay ViTextVQA, nên nhóm kiểm chứng pipeline bằng một con số đã công bố: Table 5 của báo cáo kỹ thuật Qwen2.5-VL ghi TextVQA val của bản 3B là 79,3. Ô code thứ nhất đọc file metrics.json thật của run R0: chạy toàn bộ 5.000 câu, bf16, trên GPU L4, commit fefa9ed, được 0,79596 tức 79,6 — chênh +0,3. Ô code thứ hai: tính lại độc lập từ 5.000 dự đoán thô trong predictions.json, ra đúng 0,79596. Cấu hình tiết kiệm của nhóm, 4-bit và 512 token, mất 4,4 điểm nhưng VRAM giảm từ 10,9 xuống 2,5 GB.</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System 3 · baseline zero-shot B1 · ~1 phút]</a:t>
            </a:r>
          </a:p>
          <a:p>
            <a:r>
              <a:t>EM 22,1 ở ViVQA, khoảng 29 ở ViTextVQA. Lỗi chính không phải "không hiểu" mà là định dạng: trả lời dài gần gấp đôi đáp án chuẩn; 19% câu trả lời ViTextVQA chứa đáp án nhưng vẫn trượt EM (ví dụ "Lịch tết năm 2021" so với "2021"). Ngoài ra có chen tiếng Anh, hallucination và đáp án chuẩn nhiễu.</a:t>
            </a:r>
          </a:p>
          <a:p>
            <a:r>
              <a:t>Biểu đồ: ViVQA zero-shot gần 0 ở câu hỏi vị trí và vật thể. Đây chính là điểm yếu V2 mà phương pháp phải sửa.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System 4 · xử lý dữ liệu · ~1 phút] Slide này cho thấy dữ liệu trước và sau xử lý trên một mẫu thật của ViTextVQA. Một: ảnh ViVQA gốc 640 nhân 360 được làm tròn về 644 nhân 364, cạnh là bội số của 28; mỗi ô 28 nhân 28 là một token ảnh, nên ảnh thành lưới 23 nhân 13 bằng 299 token. Ảnh ViTextVQA lớn hơn, như ảnh 16267 kích thước 1024 nhân 996, bị thu nhỏ giữ tỉ lệ còn 616 nhân 616, tức 484 token — luôn dưới giới hạn 512. Hai: với ViTextVQA, đây là vị trí 13 khung chữ thật trên ảnh 16267. PaddleOCR dò vùng chữ, VietOCR đọc tiếng Việt, các dòng được sắp từ trái-trên sang phải-dưới rồi ghép thành một dòng trong prompt. Ví dụ ở đây OCR đọc ra 'đại lý xổ só miến bắc' — còn sai dấu — nên model phải học cách dùng OCR có nhiễu; đó là lý do nhóm train cùng OCR. Ba: trước khi chấm, câu trả lời của model và đáp án chuẩn đi qua cùng một hàm chuẩn hoá: NFC, chữ thường, bỏ dấu câu, gộp khoảng trắng, nhưng giữ dấu thanh.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System 5 · giao thức đánh giá · ~45 giây]</a:t>
            </a:r>
          </a:p>
          <a:p>
            <a:r>
              <a:t>Mọi run — từ R0, B1 đến các cải tiến — dùng chung một giao thức cố định: bf16, 4-bit NF4, tối đa 512 token ảnh, greedy 32 token, seed 42, GPU L4.</a:t>
            </a:r>
          </a:p>
          <a:p>
            <a:r>
              <a:t>Metric chính EM, VQA-Acc, ANLS; F1 để so với paper. Chuẩn hoá tiếng Việt đối xứng cho dự đoán và đáp án, giữ dấu thanh.</a:t>
            </a:r>
          </a:p>
          <a:p>
            <a:r>
              <a:t>Thống kê: McNemar ghép cặp cho EM, CI95 bootstrap cho ANLS.</a:t>
            </a:r>
          </a:p>
          <a:p>
            <a:r>
              <a:t>Nếu bị hỏi: hai dataset chỉ có một đáp án mỗi câu nên VQA-Acc trùng EM — nhóm vẫn báo cáo cột này vì là metric bắt buộc.</a:t>
            </a:r>
          </a:p>
          <a:p>
            <a:r>
              <a:t>Hình sáu bước, mỗi bước một ví dụ thật: (1) split của hai dataset, seed 42, test chỉ dùng để báo cáo; (2) prompt thật — câu chỉ dẫn hệ thống tiếng Việt và câu hỏi; (3) model và cấu hình khoá trong config; (4) output thật của hàm chuẩn hoá: 'Màu Đỏ.' thành 'đỏ', 'Hai.' thành '2'; (5) vì sao cần ANLS: dự đoán 'cửa hàng điện thoai' thiếu một dấu → EM bằng 0 nhưng ANLS 0,947; (6) mỗi run ghi metrics.json, predictions.json và run_signature.json.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[Methodology 1 · lộ trình · ~45 giây]</a:t>
            </a:r>
          </a:p>
          <a:p>
            <a:r>
              <a:t>Phương pháp đi năm bước, mỗi bước chỉ đổi một yếu tố so với bước bên trái.</a:t>
            </a:r>
          </a:p>
          <a:p>
            <a:r>
              <a:t>B1: zero-shot — hỏi thẳng model gốc, không train gì; đây là khởi điểm: EM 22,1 trên ViVQA và 29,1 trên ViTextVQA.</a:t>
            </a:r>
          </a:p>
          <a:p>
            <a:r>
              <a:t>B2: thêm QLoRA — PEFT có hơn zero-shot không. B3: thêm một dòng OCR vào prompt khi train và test — dạy model dùng chữ OCR có giúp không (trên tập con 8.000 câu để tiết kiệm). B3F (B3-full): cùng công thức trên toàn bộ dữ liệu — đủ dữ liệu OCR còn giúp không. SH: một adapter cho cả hai dataset — để làm prototype.</a:t>
            </a:r>
          </a:p>
          <a:p>
            <a:r>
              <a:t>Mỗi thẻ có một hình nhỏ: B1 — model gốc đóng băng, không có phần nào được train; B2 — model gốc đóng băng, chỉ train phần LoRA màu cam; B3 — dòng OCR nằm ngay trong prompt khi train; B3-full — từ 23% lên 100% dữ liệu; SH — một adapter dùng cho cả hai bộ.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[Methodology 2 · QLoRA B2 · ~45 giây]</a:t>
            </a:r>
          </a:p>
          <a:p>
            <a:r>
              <a:t>Biểu đồ: ViVQA 22,1 → 73,8 EM (+51,7) trên 3.001 câu test; ViTextVQA 29,1 → 50,3 (+21,1) trên toàn bộ 10.028 câu test. Kiểm định McNemar: tăng có ý nghĩa thống kê, p &lt; 0,05, trên cả hai dataset.</a:t>
            </a:r>
          </a:p>
          <a:p>
            <a:r>
              <a:t>Chi phí: 3 giờ (ViVQA) và 12 giờ (ViTextVQA) trên một L4, VRAM tối đa 6,9 GB. H1 được ủng hộ.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[Methodology 3 · B2 còn sai ở đâu · ~1 phút]</a:t>
            </a:r>
          </a:p>
          <a:p>
            <a:r>
              <a:t>Nhóm chọn cải tiến dựa trên lỗi thật, không đoán. Biểu đồ trái: phân loại tự động 4.988 câu B2 trả lời sai trên full test ViTextVQA — 47,4% sai nội dung hoặc vùng ảnh, 16,8% lệch 1–2 ký tự, 13,6% thừa chữ, 13,2% thiếu chữ, 9,0% chỉ sai dấu thanh; bảng dưới là ví dụ thật của ba nhóm. Duyệt tay 200 lỗi: 54% thực ra đúng ý nhưng EM quá khắt khe; 12,5% đáp án chuẩn nhiễu.</a:t>
            </a:r>
          </a:p>
          <a:p>
            <a:r>
              <a:t>Lỗi thật ở ViTextVQA: đọc sai chữ 28%, nhầm vùng chữ 23%, sai dấu 8% → đọc chữ là điểm yếu lớn nhất → động lực cho OCR (B3). Hallucination chỉ 7% số lỗi. Nhãn có kiểm độ đồng thuận κ = 0,62.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[Methodology 4 · phương pháp đề xuất B3 · ~1 phút]</a:t>
            </a:r>
          </a:p>
          <a:p>
            <a:r>
              <a:t>Ảnh → PaddleOCR dò dòng chữ → VietOCR đọc tiếng Việt, giữ dấu → một dòng "Văn bản đọc được trong ảnh: …" đặt trước câu hỏi → Qwen2.5-VL + LoRA train cùng dòng OCR.</a:t>
            </a:r>
          </a:p>
          <a:p>
            <a:r>
              <a:t>VietOCR được chọn trên dev300: đáp án nằm trong văn bản OCR 37,7% so với 27,0% của PaddleOCR (bản Latin làm rơi dấu).</a:t>
            </a:r>
          </a:p>
          <a:p>
            <a:r>
              <a:t>Mọi thứ khác y hệt B2. Phép thử có kiểm soát: tập con 8.000 câu, so với B2-sub cùng tập nhưng không OCR.</a:t>
            </a:r>
          </a:p>
          <a:p>
            <a:r>
              <a:t>Hình là một mẫu thật trong tập train ViTextVQA (train_48788, ảnh 16267.jpg): hỏi 'cửa hàng có biển màu vàng là nơi nào?'. PaddleOCR dò 13 khung chữ, số trên khung là thứ tự đọc; VietOCR đọc ra 'ĐẠI LÝ XỔ SÓ MIẾN BẮC' — vẫn sai dấu, nên nhóm train cùng OCR để model học dùng OCR có nhiễu. Các dòng được ghép bằng dấu | thành một dòng 'Văn bản đọc được trong ảnh: …' đặt trước câu hỏi; LoRA học sinh ra đáp án 'đại lý xổ số miền bắc'.</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[Methodology 5 · ablation 2×2 · ~1 phút — slide quan trọng nhất về OCR]</a:t>
            </a:r>
          </a:p>
          <a:p>
            <a:r>
              <a:t>OCR lúc train × OCR lúc test, trên test2000. Chỉ thêm OCR lúc test: không giúp. Chỉ lúc train: không giúp. Cả hai: +4,35 EM. Tương tác +4,9 EM, CI95 từ +3,2 đến +6,6.</a:t>
            </a:r>
          </a:p>
          <a:p>
            <a:r>
              <a:t>Kết luận: đóng góp không phải "nhét OCR vào prompt", mà là dùng QLoRA dạy model khi nào tin chữ OCR, khi nào tin ảnh. Lặp lại với 3 seed 42, 43, 44: B3 hơn B2-sub trung bình 3,57 ± 0,76 EM, cả ba seed đều có p nhỏ hơn 1,4 nhân 10 mũ trừ 4 — chi tiết ở phụ lục.</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[Methodology 6 · B3-full (W10) · ~1 phút]</a:t>
            </a:r>
          </a:p>
          <a:p>
            <a:r>
              <a:t>B3-full = công thức B3 y hệt, trên toàn bộ 35.159 câu train. Bảng 2×2 dữ liệu × OCR trên full test: không OCR 46,56 → 50,26 khi thêm dữ liệu; có OCR 49,10 → 53,35.</a:t>
            </a:r>
          </a:p>
          <a:p>
            <a:r>
              <a:t>So sánh chính B2 → B3-full: +3,09 EM; 705 câu chỉ B3-full đúng so với 395 câu chỉ B2 đúng; p = 7 × 10⁻²¹ → OCR-aware vượt B2 khi đủ dữ liệu. Tương tác +0,55 không có ý nghĩa: lợi ích của OCR không giảm khi thêm dữ liệu.</a:t>
            </a:r>
          </a:p>
          <a:p>
            <a:r>
              <a:t>B3-full là mô hình ViTextVQA chính thức: 53,35 EM — gấp đôi SOTA công bố.</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 thuyết · ~45 giây] H1 ủng hộ: QLoRA tăng 51,7 EM ở ViVQA và 21,1 ở ViTextVQA. H2 một phần: OCR cộng hưởng với QLoRA — tương tác +4,9 EM, và +3,1 EM khi đủ dữ liệu — nhưng ANLS chỉ +1,87, chưa tới ngưỡng +3. H3 chưa ủng hộ: few-shot làm giảm EM. H4 một phần: trên POPE tiếng Việt, 500 ảnh chưa thấy khi train, B3-full không làm tăng hallucination; còn C3, model QLoRA trên ViVQA, chưa kết luận được vì 91% câu trả lời không theo dạng có/không — model quên định dạng sau khi train trên ViVQA không có câu yes/no. Ablation A1, A2 đã làm: giữ r = 16 trên q, k, v, 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 ~10 giây]</a:t>
            </a:r>
          </a:p>
          <a:p>
            <a:r>
              <a:t>"Nhóm em xin cảm ơn thầy cô và rất mong nhận được góp ý." Mọi con số trong bài đều có log và tái lập được.</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các slide dự phòng, chỉ mở khi hội đồng hỏi.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[Bước tiếp theo · ~30 giây] Đo hallucination và phân tích lỗi đã xong, H4 ủng hộ một phần. Việc tiếp theo: sửa thiên vị trả lời 'có' của adapter dùng chung trước khi làm prototype; prototype web chạy OCR trước, trả lời kèm chữ OCR và độ tin cậy; Review 3 thêm Phần C gồm kết quả cuối, lỗi, hallucination và demo.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P1 · đối chứng · ~1 phút]</a:t>
            </a:r>
          </a:p>
          <a:p>
            <a:r>
              <a:t>Mức tăng có thật không? Hai đối chứng.</a:t>
            </a:r>
          </a:p>
          <a:p>
            <a:r>
              <a:t>(1) Rò rỉ ViVQA: chỉ tính phần test sạch (ảnh và cặp hỏi–đáp chưa thấy, n = 1.219) vẫn 25,0 → 69,1; mốc đoán theo phân bố đáp án chỉ 14,4. ViTextVQA không trùng ảnh mà vẫn +21,1.</a:t>
            </a:r>
          </a:p>
          <a:p>
            <a:r>
              <a:t>(2) Few-shot FS5: cho 5 ví dụ trong prompt để model học định dạng — câu trả lời ngắn lại nhưng mất nội dung, EM còn giảm. B2 vượt FS5 rõ → QLoRA học nhiều hơn định dạng. Đây cũng là bằng chứng H3 chưa được ủng hộ.</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P2 · so với SOTA · ~45 giây]</a:t>
            </a:r>
          </a:p>
          <a:p>
            <a:r>
              <a:t>Cận dưới CI95 của nhóm vẫn lớn hơn số công bố. B1 zero-shot đã cao hơn về EM; B2 cao hơn cả EM và F1.</a:t>
            </a:r>
          </a:p>
          <a:p>
            <a:r>
              <a:t>Giới hạn: paper không công bố cách chuẩn hoá đáp án nên phép so giả định cách chấm tương đương. Kết quả của phương pháp đề xuất B3-full (53,35 EM) ở slide 25.</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P3 · SOTA khác nhóm ở đâu · ~45 giây]</a:t>
            </a:r>
          </a:p>
          <a:p>
            <a:r>
              <a:t>ViTextBLIP-2 dùng OCR ngoài (SwinTextSpotter), LM tiếng Việt ViT5 đóng băng, chỉ train Q-Former. Nhóm dùng VLM đa ngôn ngữ tự đọc chữ, chỉ train LoRA 0,196%. Hai bên cùng train trên toàn bộ train ViTextVQA.</a:t>
            </a:r>
          </a:p>
          <a:p>
            <a:r>
              <a:t>Điểm rút ra: SOTA có dùng OCR — một gợi ý cho bước B3 của nhóm.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P4 · độ vững · ~45 giây]</a:t>
            </a:r>
          </a:p>
          <a:p>
            <a:r>
              <a:t>Ba seed: +3,57 ± 0,76 EM, cả ba seed p ≤ 1,4 × 10⁻⁴. Full test 10.028 câu: B3 49,10 so với B2-sub 46,56, p = 10⁻¹⁴, cao hơn ViTextBLIP-2.</a:t>
            </a:r>
          </a:p>
          <a:p>
            <a:r>
              <a:t>Nói trung thực: với 23% dữ liệu, B3 vẫn thấp hơn B2 dữ liệu đầy đủ 1,16 EM — câu hỏi "đủ dữ liệu thì OCR còn giúp không?" được trả lời ở slide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P5 · ablation LoRA (W10) · ~45 giây]</a:t>
            </a:r>
          </a:p>
          <a:p>
            <a:r>
              <a:t>Cấu hình LoRA đã hợp lý chưa? Hai ablation trên công thức B3.</a:t>
            </a:r>
          </a:p>
          <a:p>
            <a:r>
              <a:t>A1: gắn LoRA thêm vào các lớp MLP, giữ cùng ngân sách tham số (r = 4): −0,55 EM, p = 0,34 → không cải thiện, lại chậm hơn 17,5%. A2: tăng rank lên 64: +1,05 EM nhưng p = 0,07 → không khác có ý nghĩa, adapter lớn gấp 4.</a:t>
            </a:r>
          </a:p>
          <a:p>
            <a:r>
              <a:t>Quyết định: giữ r = 16 trên q, k, v, o. B3-full dùng cấu hình B3 bất kể kết quả ablation — không chọn cấu hình bằng test.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P6 · ViVQA: số epoch · ~45 giây]</a:t>
            </a:r>
          </a:p>
          <a:p>
            <a:r>
              <a:t>Với ViVQA, train 1 hay 2 epoch? Chọn trên val sạch, vì 512/1.200 câu val dùng chung ảnh với train — train lâu sẽ làm val thường bị thiên vị. Chọn theo EM trên val sạch: 2 epoch hơn có ý nghĩa → chọn C3 (2 epoch).</a:t>
            </a:r>
          </a:p>
          <a:p>
            <a:r>
              <a:t>Chạm test một lần: 73,8 → 76,6, p = 4,6 × 10⁻⁹; trên phần test sạch vẫn +3,2 → không phải nhớ ảnh. C3 là mô hình ViVQA chính thức.</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P7 · adapter dùng chung SH (W11) · ~1 phút]</a:t>
            </a:r>
          </a:p>
          <a:p>
            <a:r>
              <a:t>Một adapter train trộn ViVQA + ViTextVQA (8k), mọi câu dùng prompt có OCR — đúng như cách demo chạy thật, vì demo không biết trước câu hỏi thuộc loại nào.</a:t>
            </a:r>
          </a:p>
          <a:p>
            <a:r>
              <a:t>So với adapter riêng: C1 trên ViVQA −0,27, CI95 [−1,13; +0,60]; B3 trên ViTextVQA +0,25, CI95 [−0,95; +1,45] → không kém trên cả hai.</a:t>
            </a:r>
          </a:p>
          <a:p>
            <a:r>
              <a:t>44% câu ViVQA có dòng OCR vô nghĩa (ảnh COCO, chữ tiếng Anh) nhưng không bị hại (+0,15); chép nhầm chữ OCR chỉ 0,3%.</a:t>
            </a:r>
          </a:p>
          <a:p>
            <a:r>
              <a:t>Đánh đổi: SH là bản rẻ nên thấp hơn C3 và B3-full khoảng 3–4 EM → bảng kết quả chính giữ C3/B3-full, prototype dùng 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P8 · theo loại câu hỏi (W11) · ~1 phút]</a:t>
            </a:r>
          </a:p>
          <a:p>
            <a:r>
              <a:t>ViTextVQA không có nhãn loại câu hỏi, nên nhóm viết bộ phân loại bằng từ khoá trên dev, rồi kiểm bằng 150 câu gán tay mù: khớp 80,7%.</a:t>
            </a:r>
          </a:p>
          <a:p>
            <a:r>
              <a:t>Kết quả: OCR giúp nhiều nhất ở câu phải chép đúng từng ký tự — số điện thoại, website +8,6 EM; tên người +6,4. Gần như không giúp ở watermark nguồn ảnh (+0,9). Loại khó nhất là sản phẩm/dịch vụ và địa điểm — phải suy ra từ chữ — là trọng tâm phân tích lỗi tiếp theo.</a:t>
            </a:r>
          </a:p>
          <a:p>
            <a:r>
              <a:t>Ba loại có dấu ⚠ có nhãn kém tin cậy, chỉ dùng để mô tả.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2.png"/><Relationship Id="rId13" Type="http://schemas.openxmlformats.org/officeDocument/2006/relationships/image" Target="../media/image16.jpeg"/><Relationship Id="rId14" Type="http://schemas.openxmlformats.org/officeDocument/2006/relationships/image" Target="../media/image17.jpeg"/><Relationship Id="rId15" Type="http://schemas.openxmlformats.org/officeDocument/2006/relationships/image" Target="../media/image18.jpeg"/><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2.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16.jpeg"/><Relationship Id="rId12" Type="http://schemas.openxmlformats.org/officeDocument/2006/relationships/image" Target="../media/image17.jpeg"/><Relationship Id="rId13" Type="http://schemas.openxmlformats.org/officeDocument/2006/relationships/image" Target="../media/image18.jpeg"/><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27.png"/><Relationship Id="rId4" Type="http://schemas.openxmlformats.org/officeDocument/2006/relationships/image" Target="../media/image28.sv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8.jpeg"/><Relationship Id="rId8" Type="http://schemas.openxmlformats.org/officeDocument/2006/relationships/hyperlink" Target="https://arxiv.org/pdf/2509.23661" TargetMode="External"/><Relationship Id="rId9" Type="http://schemas.openxmlformats.org/officeDocument/2006/relationships/hyperlink" Target="https://arxiv.org/pdf/2404.10652" TargetMode="External"/><Relationship Id="rId10" Type="http://schemas.openxmlformats.org/officeDocument/2006/relationships/image" Target="../media/image29.png"/><Relationship Id="rId11" Type="http://schemas.openxmlformats.org/officeDocument/2006/relationships/image" Target="../media/image30.svg"/><Relationship Id="rId12" Type="http://schemas.openxmlformats.org/officeDocument/2006/relationships/hyperlink" Target="https://arxiv.org/pdf/2305.10355" TargetMode="External"/><Relationship Id="rId13" Type="http://schemas.openxmlformats.org/officeDocument/2006/relationships/image" Target="../media/image2.png"/><Relationship Id="rId14" Type="http://schemas.openxmlformats.org/officeDocument/2006/relationships/image" Target="../media/image193.png"/><Relationship Id="rId15" Type="http://schemas.openxmlformats.org/officeDocument/2006/relationships/image" Target="../media/image194.png"/><Relationship Id="rId16" Type="http://schemas.openxmlformats.org/officeDocument/2006/relationships/image" Target="../media/image195.png"/><Relationship Id="rId17" Type="http://schemas.openxmlformats.org/officeDocument/2006/relationships/image" Target="../media/image196.png"/><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2.pn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8.jpeg"/><Relationship Id="rId8" Type="http://schemas.openxmlformats.org/officeDocument/2006/relationships/image" Target="../media/image197.png"/><Relationship Id="rId9" Type="http://schemas.openxmlformats.org/officeDocument/2006/relationships/image" Target="../media/image198.png"/><Relationship Id="rId10" Type="http://schemas.openxmlformats.org/officeDocument/2006/relationships/image" Target="../media/image199.png"/><Relationship Id="rId11" Type="http://schemas.openxmlformats.org/officeDocument/2006/relationships/image" Target="../media/image200.png"/><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8.jpeg"/><Relationship Id="rId8" Type="http://schemas.openxmlformats.org/officeDocument/2006/relationships/image" Target="../media/image33.png"/><Relationship Id="rId9" Type="http://schemas.openxmlformats.org/officeDocument/2006/relationships/image" Target="../media/image34.svg"/><Relationship Id="rId10" Type="http://schemas.openxmlformats.org/officeDocument/2006/relationships/image" Target="../media/image2.png"/><Relationship Id="rId11" Type="http://schemas.openxmlformats.org/officeDocument/2006/relationships/image" Target="../media/image201.png"/><Relationship Id="rId12" Type="http://schemas.openxmlformats.org/officeDocument/2006/relationships/image" Target="../media/image202.png"/><Relationship Id="rId13" Type="http://schemas.openxmlformats.org/officeDocument/2006/relationships/image" Target="../media/image203.png"/><Relationship Id="rId14" Type="http://schemas.openxmlformats.org/officeDocument/2006/relationships/image" Target="../media/image204.png"/><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2.pn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8.jpeg"/><Relationship Id="rId8" Type="http://schemas.openxmlformats.org/officeDocument/2006/relationships/image" Target="../media/image202.png"/><Relationship Id="rId9" Type="http://schemas.openxmlformats.org/officeDocument/2006/relationships/image" Target="../media/image203.png"/><Relationship Id="rId10" Type="http://schemas.openxmlformats.org/officeDocument/2006/relationships/image" Target="../media/image201.png"/><Relationship Id="rId11" Type="http://schemas.openxmlformats.org/officeDocument/2006/relationships/image" Target="../media/image204.png"/><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5.png"/><Relationship Id="rId4" Type="http://schemas.openxmlformats.org/officeDocument/2006/relationships/image" Target="../media/image36.svg"/><Relationship Id="rId5" Type="http://schemas.openxmlformats.org/officeDocument/2006/relationships/hyperlink" Target="https://aclanthology.org/2021.paclic-1.72/" TargetMode="External"/><Relationship Id="rId6" Type="http://schemas.openxmlformats.org/officeDocument/2006/relationships/image" Target="../media/image37.png"/><Relationship Id="rId7" Type="http://schemas.openxmlformats.org/officeDocument/2006/relationships/image" Target="../media/image38.svg"/><Relationship Id="rId8" Type="http://schemas.openxmlformats.org/officeDocument/2006/relationships/hyperlink" Target="https://arxiv.org/abs/2404.10652" TargetMode="External"/><Relationship Id="rId9" Type="http://schemas.openxmlformats.org/officeDocument/2006/relationships/image" Target="../media/image39.png"/><Relationship Id="rId10" Type="http://schemas.openxmlformats.org/officeDocument/2006/relationships/image" Target="../media/image40.svg"/><Relationship Id="rId11" Type="http://schemas.openxmlformats.org/officeDocument/2006/relationships/image" Target="../media/image20.jpeg"/><Relationship Id="rId12" Type="http://schemas.openxmlformats.org/officeDocument/2006/relationships/image" Target="../media/image16.jpeg"/><Relationship Id="rId13" Type="http://schemas.openxmlformats.org/officeDocument/2006/relationships/image" Target="../media/image17.jpeg"/><Relationship Id="rId14" Type="http://schemas.openxmlformats.org/officeDocument/2006/relationships/image" Target="../media/image18.jpeg"/><Relationship Id="rId15" Type="http://schemas.openxmlformats.org/officeDocument/2006/relationships/image" Target="../media/image41.png"/><Relationship Id="rId16" Type="http://schemas.openxmlformats.org/officeDocument/2006/relationships/image" Target="../media/image42.svg"/><Relationship Id="rId17" Type="http://schemas.openxmlformats.org/officeDocument/2006/relationships/image" Target="../media/image43.png"/><Relationship Id="rId18" Type="http://schemas.openxmlformats.org/officeDocument/2006/relationships/image" Target="../media/image44.svg"/><Relationship Id="rId1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46.png"/><Relationship Id="rId4" Type="http://schemas.openxmlformats.org/officeDocument/2006/relationships/image" Target="../media/image47.sv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8.jpe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image" Target="../media/image50.png"/><Relationship Id="rId11" Type="http://schemas.openxmlformats.org/officeDocument/2006/relationships/image" Target="../media/image51.svg"/><Relationship Id="rId12" Type="http://schemas.openxmlformats.org/officeDocument/2006/relationships/image" Target="../media/image52.png"/><Relationship Id="rId13" Type="http://schemas.openxmlformats.org/officeDocument/2006/relationships/image" Target="../media/image53.svg"/><Relationship Id="rId14" Type="http://schemas.openxmlformats.org/officeDocument/2006/relationships/image" Target="../media/image54.png"/><Relationship Id="rId15" Type="http://schemas.openxmlformats.org/officeDocument/2006/relationships/image" Target="../media/image55.svg"/><Relationship Id="rId16" Type="http://schemas.openxmlformats.org/officeDocument/2006/relationships/image" Target="../media/image56.png"/><Relationship Id="rId17" Type="http://schemas.openxmlformats.org/officeDocument/2006/relationships/image" Target="../media/image57.svg"/><Relationship Id="rId18" Type="http://schemas.openxmlformats.org/officeDocument/2006/relationships/image" Target="../media/image58.png"/><Relationship Id="rId19" Type="http://schemas.openxmlformats.org/officeDocument/2006/relationships/image" Target="../media/image59.svg"/><Relationship Id="rId20" Type="http://schemas.openxmlformats.org/officeDocument/2006/relationships/image" Target="../media/image60.png"/><Relationship Id="rId21" Type="http://schemas.openxmlformats.org/officeDocument/2006/relationships/image" Target="../media/image61.svg"/><Relationship Id="rId22" Type="http://schemas.openxmlformats.org/officeDocument/2006/relationships/image" Target="../media/image62.png"/><Relationship Id="rId23" Type="http://schemas.openxmlformats.org/officeDocument/2006/relationships/image" Target="../media/image63.svg"/><Relationship Id="rId24" Type="http://schemas.openxmlformats.org/officeDocument/2006/relationships/image" Target="../media/image64.png"/><Relationship Id="rId25" Type="http://schemas.openxmlformats.org/officeDocument/2006/relationships/image" Target="../media/image65.svg"/><Relationship Id="rId26" Type="http://schemas.openxmlformats.org/officeDocument/2006/relationships/image" Target="../media/image66.png"/><Relationship Id="rId27" Type="http://schemas.openxmlformats.org/officeDocument/2006/relationships/image" Target="../media/image67.svg"/><Relationship Id="rId28" Type="http://schemas.openxmlformats.org/officeDocument/2006/relationships/image" Target="../media/image68.png"/><Relationship Id="rId29" Type="http://schemas.openxmlformats.org/officeDocument/2006/relationships/image" Target="../media/image69.svg"/><Relationship Id="rId30" Type="http://schemas.openxmlformats.org/officeDocument/2006/relationships/image" Target="../media/image70.png"/><Relationship Id="rId31" Type="http://schemas.openxmlformats.org/officeDocument/2006/relationships/image" Target="../media/image71.svg"/><Relationship Id="rId32" Type="http://schemas.openxmlformats.org/officeDocument/2006/relationships/image" Target="../media/image2.png"/><Relationship Id="rId33"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2.png"/><Relationship Id="rId4" Type="http://schemas.openxmlformats.org/officeDocument/2006/relationships/image" Target="../media/image16.jpeg"/><Relationship Id="rId5" Type="http://schemas.openxmlformats.org/officeDocument/2006/relationships/image" Target="../media/image17.jpeg"/><Relationship Id="rId6" Type="http://schemas.openxmlformats.org/officeDocument/2006/relationships/image" Target="../media/image18.jpeg"/><Relationship Id="rId7" Type="http://schemas.openxmlformats.org/officeDocument/2006/relationships/image" Target="../media/image72.png"/><Relationship Id="rId8"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2.png"/><Relationship Id="rId4" Type="http://schemas.openxmlformats.org/officeDocument/2006/relationships/image" Target="../media/image16.jpeg"/><Relationship Id="rId5" Type="http://schemas.openxmlformats.org/officeDocument/2006/relationships/image" Target="../media/image17.jpeg"/><Relationship Id="rId6" Type="http://schemas.openxmlformats.org/officeDocument/2006/relationships/image" Target="../media/image18.jpeg"/><Relationship Id="rId7"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jpeg"/><Relationship Id="rId3" Type="http://schemas.openxmlformats.org/officeDocument/2006/relationships/image" Target="../media/image2.png"/><Relationship Id="rId4" Type="http://schemas.openxmlformats.org/officeDocument/2006/relationships/image" Target="../media/image74.png"/><Relationship Id="rId5"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6.jpeg"/><Relationship Id="rId4" Type="http://schemas.openxmlformats.org/officeDocument/2006/relationships/image" Target="../media/image17.jpeg"/><Relationship Id="rId5" Type="http://schemas.openxmlformats.org/officeDocument/2006/relationships/image" Target="../media/image18.jpeg"/><Relationship Id="rId6" Type="http://schemas.openxmlformats.org/officeDocument/2006/relationships/image" Target="../media/image2.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hyperlink" Target="https://arxiv.org/abs/2502.13923" TargetMode="External"/><Relationship Id="rId10" Type="http://schemas.openxmlformats.org/officeDocument/2006/relationships/hyperlink" Target="https://arxiv.org/abs/2404.10652" TargetMode="External"/><Relationship Id="rId11"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svg"/><Relationship Id="rId5" Type="http://schemas.openxmlformats.org/officeDocument/2006/relationships/image" Target="../media/image80.png"/><Relationship Id="rId6" Type="http://schemas.openxmlformats.org/officeDocument/2006/relationships/image" Target="../media/image81.svg"/><Relationship Id="rId7" Type="http://schemas.openxmlformats.org/officeDocument/2006/relationships/image" Target="../media/image2.png"/><Relationship Id="rId8" Type="http://schemas.openxmlformats.org/officeDocument/2006/relationships/image" Target="../media/image16.jpeg"/><Relationship Id="rId9" Type="http://schemas.openxmlformats.org/officeDocument/2006/relationships/image" Target="../media/image17.jpeg"/><Relationship Id="rId10" Type="http://schemas.openxmlformats.org/officeDocument/2006/relationships/image" Target="../media/image18.jpeg"/><Relationship Id="rId11" Type="http://schemas.openxmlformats.org/officeDocument/2006/relationships/hyperlink" Target="https://arxiv.org/abs/2502.13923" TargetMode="External"/><Relationship Id="rId1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6.jpeg"/><Relationship Id="rId4" Type="http://schemas.openxmlformats.org/officeDocument/2006/relationships/image" Target="../media/image17.jpeg"/><Relationship Id="rId5" Type="http://schemas.openxmlformats.org/officeDocument/2006/relationships/image" Target="../media/image18.jpeg"/><Relationship Id="rId6" Type="http://schemas.openxmlformats.org/officeDocument/2006/relationships/image" Target="../media/image82.png"/><Relationship Id="rId7" Type="http://schemas.openxmlformats.org/officeDocument/2006/relationships/image" Target="../media/image83.svg"/><Relationship Id="rId8" Type="http://schemas.openxmlformats.org/officeDocument/2006/relationships/image" Target="../media/image84.png"/><Relationship Id="rId9" Type="http://schemas.openxmlformats.org/officeDocument/2006/relationships/image" Target="../media/image85.svg"/><Relationship Id="rId10" Type="http://schemas.openxmlformats.org/officeDocument/2006/relationships/image" Target="../media/image2.png"/><Relationship Id="rId11" Type="http://schemas.openxmlformats.org/officeDocument/2006/relationships/image" Target="../media/image86.png"/><Relationship Id="rId12" Type="http://schemas.openxmlformats.org/officeDocument/2006/relationships/image" Target="../media/image87.svg"/><Relationship Id="rId13" Type="http://schemas.openxmlformats.org/officeDocument/2006/relationships/image" Target="../media/image88.png"/><Relationship Id="rId14" Type="http://schemas.openxmlformats.org/officeDocument/2006/relationships/image" Target="../media/image89.svg"/><Relationship Id="rId15" Type="http://schemas.openxmlformats.org/officeDocument/2006/relationships/image" Target="../media/image90.png"/><Relationship Id="rId16" Type="http://schemas.openxmlformats.org/officeDocument/2006/relationships/image" Target="../media/image91.svg"/><Relationship Id="rId17" Type="http://schemas.openxmlformats.org/officeDocument/2006/relationships/image" Target="../media/image92.png"/><Relationship Id="rId18" Type="http://schemas.openxmlformats.org/officeDocument/2006/relationships/image" Target="../media/image93.svg"/><Relationship Id="rId19" Type="http://schemas.openxmlformats.org/officeDocument/2006/relationships/hyperlink" Target="https://arxiv.org/abs/2502.13923" TargetMode="External"/><Relationship Id="rId20" Type="http://schemas.openxmlformats.org/officeDocument/2006/relationships/image" Target="../media/image94.png"/><Relationship Id="rId21" Type="http://schemas.openxmlformats.org/officeDocument/2006/relationships/image" Target="../media/image95.png"/><Relationship Id="rId2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6.jpeg"/><Relationship Id="rId4" Type="http://schemas.openxmlformats.org/officeDocument/2006/relationships/image" Target="../media/image17.jpeg"/><Relationship Id="rId5" Type="http://schemas.openxmlformats.org/officeDocument/2006/relationships/image" Target="../media/image18.jpe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100.svg"/><Relationship Id="rId11" Type="http://schemas.openxmlformats.org/officeDocument/2006/relationships/image" Target="../media/image2.png"/><Relationship Id="rId12" Type="http://schemas.openxmlformats.org/officeDocument/2006/relationships/image" Target="../media/image101.png"/><Relationship Id="rId13" Type="http://schemas.openxmlformats.org/officeDocument/2006/relationships/image" Target="../media/image102.svg"/><Relationship Id="rId14"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6.jpeg"/><Relationship Id="rId4" Type="http://schemas.openxmlformats.org/officeDocument/2006/relationships/image" Target="../media/image17.jpeg"/><Relationship Id="rId5" Type="http://schemas.openxmlformats.org/officeDocument/2006/relationships/image" Target="../media/image18.jpeg"/><Relationship Id="rId6" Type="http://schemas.openxmlformats.org/officeDocument/2006/relationships/image" Target="../media/image2.png"/><Relationship Id="rId7" Type="http://schemas.openxmlformats.org/officeDocument/2006/relationships/image" Target="../media/image103.jpeg"/><Relationship Id="rId8" Type="http://schemas.openxmlformats.org/officeDocument/2006/relationships/image" Target="../media/image104.jpeg"/><Relationship Id="rId9" Type="http://schemas.openxmlformats.org/officeDocument/2006/relationships/image" Target="../media/image105.jpeg"/><Relationship Id="rId10"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06.png"/><Relationship Id="rId4" Type="http://schemas.openxmlformats.org/officeDocument/2006/relationships/image" Target="../media/image107.png"/><Relationship Id="rId5" Type="http://schemas.openxmlformats.org/officeDocument/2006/relationships/image" Target="../media/image108.svg"/><Relationship Id="rId6" Type="http://schemas.openxmlformats.org/officeDocument/2006/relationships/image" Target="../media/image16.jpeg"/><Relationship Id="rId7" Type="http://schemas.openxmlformats.org/officeDocument/2006/relationships/image" Target="../media/image17.jpeg"/><Relationship Id="rId8" Type="http://schemas.openxmlformats.org/officeDocument/2006/relationships/image" Target="../media/image18.jpeg"/><Relationship Id="rId9" Type="http://schemas.openxmlformats.org/officeDocument/2006/relationships/image" Target="../media/image2.png"/><Relationship Id="rId10" Type="http://schemas.openxmlformats.org/officeDocument/2006/relationships/image" Target="../media/image205.png"/><Relationship Id="rId11"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09.png"/><Relationship Id="rId4" Type="http://schemas.openxmlformats.org/officeDocument/2006/relationships/image" Target="../media/image110.sv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8.jpeg"/><Relationship Id="rId8" Type="http://schemas.openxmlformats.org/officeDocument/2006/relationships/image" Target="../media/image111.png"/><Relationship Id="rId9" Type="http://schemas.openxmlformats.org/officeDocument/2006/relationships/image" Target="../media/image112.svg"/><Relationship Id="rId10" Type="http://schemas.openxmlformats.org/officeDocument/2006/relationships/image" Target="../media/image2.png"/><Relationship Id="rId11" Type="http://schemas.openxmlformats.org/officeDocument/2006/relationships/image" Target="../media/image113.png"/><Relationship Id="rId12" Type="http://schemas.openxmlformats.org/officeDocument/2006/relationships/image" Target="../media/image114.png"/><Relationship Id="rId13" Type="http://schemas.openxmlformats.org/officeDocument/2006/relationships/image" Target="../media/image115.png"/><Relationship Id="rId14" Type="http://schemas.openxmlformats.org/officeDocument/2006/relationships/image" Target="../media/image116.png"/><Relationship Id="rId15" Type="http://schemas.openxmlformats.org/officeDocument/2006/relationships/notesSlide" Target="../notesSlides/notesSlide21.xml"/><Relationship Id="rId16" Type="http://schemas.openxmlformats.org/officeDocument/2006/relationships/image" Target="../media/image45.png"/><Relationship Id="rId17" Type="http://schemas.openxmlformats.org/officeDocument/2006/relationships/image" Target="../media/image198.png"/><Relationship Id="rId18" Type="http://schemas.openxmlformats.org/officeDocument/2006/relationships/image" Target="../media/image206.png"/><Relationship Id="rId19" Type="http://schemas.openxmlformats.org/officeDocument/2006/relationships/image" Target="../media/image207.png"/><Relationship Id="rId20" Type="http://schemas.openxmlformats.org/officeDocument/2006/relationships/image" Target="../media/image20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6.jpeg"/><Relationship Id="rId4" Type="http://schemas.openxmlformats.org/officeDocument/2006/relationships/image" Target="../media/image17.jpeg"/><Relationship Id="rId5" Type="http://schemas.openxmlformats.org/officeDocument/2006/relationships/image" Target="../media/image18.jpeg"/><Relationship Id="rId6" Type="http://schemas.openxmlformats.org/officeDocument/2006/relationships/image" Target="../media/image117.png"/><Relationship Id="rId7" Type="http://schemas.openxmlformats.org/officeDocument/2006/relationships/image" Target="../media/image118.svg"/><Relationship Id="rId8" Type="http://schemas.openxmlformats.org/officeDocument/2006/relationships/image" Target="../media/image2.png"/><Relationship Id="rId9" Type="http://schemas.openxmlformats.org/officeDocument/2006/relationships/image" Target="../media/image119.png"/><Relationship Id="rId10" Type="http://schemas.openxmlformats.org/officeDocument/2006/relationships/image" Target="../media/image120.svg"/><Relationship Id="rId11" Type="http://schemas.openxmlformats.org/officeDocument/2006/relationships/image" Target="../media/image121.png"/><Relationship Id="rId1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svg"/><Relationship Id="rId6" Type="http://schemas.openxmlformats.org/officeDocument/2006/relationships/image" Target="../media/image16.jpeg"/><Relationship Id="rId7" Type="http://schemas.openxmlformats.org/officeDocument/2006/relationships/image" Target="../media/image17.jpeg"/><Relationship Id="rId8" Type="http://schemas.openxmlformats.org/officeDocument/2006/relationships/image" Target="../media/image18.jpeg"/><Relationship Id="rId9" Type="http://schemas.openxmlformats.org/officeDocument/2006/relationships/image" Target="../media/image2.png"/><Relationship Id="rId10" Type="http://schemas.openxmlformats.org/officeDocument/2006/relationships/notesSlide" Target="../notesSlides/notesSlide23.xml"/><Relationship Id="rId11" Type="http://schemas.openxmlformats.org/officeDocument/2006/relationships/image" Target="../media/image20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25.png"/><Relationship Id="rId4" Type="http://schemas.openxmlformats.org/officeDocument/2006/relationships/image" Target="../media/image126.svg"/><Relationship Id="rId5" Type="http://schemas.openxmlformats.org/officeDocument/2006/relationships/image" Target="../media/image127.png"/><Relationship Id="rId6" Type="http://schemas.openxmlformats.org/officeDocument/2006/relationships/image" Target="../media/image128.svg"/><Relationship Id="rId7" Type="http://schemas.openxmlformats.org/officeDocument/2006/relationships/image" Target="../media/image129.png"/><Relationship Id="rId8" Type="http://schemas.openxmlformats.org/officeDocument/2006/relationships/image" Target="../media/image130.svg"/><Relationship Id="rId9" Type="http://schemas.openxmlformats.org/officeDocument/2006/relationships/image" Target="../media/image131.png"/><Relationship Id="rId10" Type="http://schemas.openxmlformats.org/officeDocument/2006/relationships/image" Target="../media/image132.svg"/><Relationship Id="rId11" Type="http://schemas.openxmlformats.org/officeDocument/2006/relationships/image" Target="../media/image133.png"/><Relationship Id="rId12" Type="http://schemas.openxmlformats.org/officeDocument/2006/relationships/image" Target="../media/image134.svg"/><Relationship Id="rId13" Type="http://schemas.openxmlformats.org/officeDocument/2006/relationships/image" Target="../media/image16.jpeg"/><Relationship Id="rId14" Type="http://schemas.openxmlformats.org/officeDocument/2006/relationships/image" Target="../media/image17.jpeg"/><Relationship Id="rId15" Type="http://schemas.openxmlformats.org/officeDocument/2006/relationships/image" Target="../media/image18.jpeg"/><Relationship Id="rId16" Type="http://schemas.openxmlformats.org/officeDocument/2006/relationships/image" Target="../media/image135.png"/><Relationship Id="rId17" Type="http://schemas.openxmlformats.org/officeDocument/2006/relationships/image" Target="../media/image136.svg"/><Relationship Id="rId18" Type="http://schemas.openxmlformats.org/officeDocument/2006/relationships/image" Target="../media/image137.png"/><Relationship Id="rId19" Type="http://schemas.openxmlformats.org/officeDocument/2006/relationships/image" Target="../media/image138.svg"/><Relationship Id="rId20" Type="http://schemas.openxmlformats.org/officeDocument/2006/relationships/image" Target="../media/image2.png"/><Relationship Id="rId21" Type="http://schemas.openxmlformats.org/officeDocument/2006/relationships/notesSlide" Target="../notesSlides/notesSlide24.xml"/><Relationship Id="rId22" Type="http://schemas.openxmlformats.org/officeDocument/2006/relationships/image" Target="../media/image2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6.jpeg"/><Relationship Id="rId4" Type="http://schemas.openxmlformats.org/officeDocument/2006/relationships/image" Target="../media/image17.jpeg"/><Relationship Id="rId5" Type="http://schemas.openxmlformats.org/officeDocument/2006/relationships/image" Target="../media/image18.jpeg"/><Relationship Id="rId6" Type="http://schemas.openxmlformats.org/officeDocument/2006/relationships/image" Target="../media/image139.png"/><Relationship Id="rId7" Type="http://schemas.openxmlformats.org/officeDocument/2006/relationships/image" Target="../media/image140.svg"/><Relationship Id="rId8" Type="http://schemas.openxmlformats.org/officeDocument/2006/relationships/image" Target="../media/image141.png"/><Relationship Id="rId9" Type="http://schemas.openxmlformats.org/officeDocument/2006/relationships/image" Target="../media/image142.svg"/><Relationship Id="rId10" Type="http://schemas.openxmlformats.org/officeDocument/2006/relationships/image" Target="../media/image143.png"/><Relationship Id="rId11" Type="http://schemas.openxmlformats.org/officeDocument/2006/relationships/image" Target="../media/image144.svg"/><Relationship Id="rId12" Type="http://schemas.openxmlformats.org/officeDocument/2006/relationships/image" Target="../media/image145.png"/><Relationship Id="rId13" Type="http://schemas.openxmlformats.org/officeDocument/2006/relationships/image" Target="../media/image146.svg"/><Relationship Id="rId14" Type="http://schemas.openxmlformats.org/officeDocument/2006/relationships/image" Target="../media/image147.png"/><Relationship Id="rId15" Type="http://schemas.openxmlformats.org/officeDocument/2006/relationships/image" Target="../media/image148.svg"/><Relationship Id="rId16" Type="http://schemas.openxmlformats.org/officeDocument/2006/relationships/image" Target="../media/image2.png"/><Relationship Id="rId17"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2.png"/><Relationship Id="rId4" Type="http://schemas.openxmlformats.org/officeDocument/2006/relationships/image" Target="../media/image16.jpeg"/><Relationship Id="rId5" Type="http://schemas.openxmlformats.org/officeDocument/2006/relationships/image" Target="../media/image17.jpeg"/><Relationship Id="rId6" Type="http://schemas.openxmlformats.org/officeDocument/2006/relationships/image" Target="../media/image18.jpeg"/><Relationship Id="rId7" Type="http://schemas.openxmlformats.org/officeDocument/2006/relationships/image" Target="../media/image139.png"/><Relationship Id="rId8" Type="http://schemas.openxmlformats.org/officeDocument/2006/relationships/image" Target="../media/image140.svg"/><Relationship Id="rId9" Type="http://schemas.openxmlformats.org/officeDocument/2006/relationships/image" Target="../media/image141.png"/><Relationship Id="rId10" Type="http://schemas.openxmlformats.org/officeDocument/2006/relationships/image" Target="../media/image142.svg"/><Relationship Id="rId11" Type="http://schemas.openxmlformats.org/officeDocument/2006/relationships/image" Target="../media/image143.png"/><Relationship Id="rId12" Type="http://schemas.openxmlformats.org/officeDocument/2006/relationships/image" Target="../media/image144.svg"/><Relationship Id="rId13" Type="http://schemas.openxmlformats.org/officeDocument/2006/relationships/image" Target="../media/image145.png"/><Relationship Id="rId14" Type="http://schemas.openxmlformats.org/officeDocument/2006/relationships/image" Target="../media/image146.svg"/><Relationship Id="rId15" Type="http://schemas.openxmlformats.org/officeDocument/2006/relationships/image" Target="../media/image147.png"/><Relationship Id="rId16" Type="http://schemas.openxmlformats.org/officeDocument/2006/relationships/image" Target="../media/image148.svg"/><Relationship Id="rId17"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49.png"/><Relationship Id="rId4" Type="http://schemas.openxmlformats.org/officeDocument/2006/relationships/image" Target="../media/image150.sv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8.jpeg"/><Relationship Id="rId8" Type="http://schemas.openxmlformats.org/officeDocument/2006/relationships/image" Target="../media/image2.png"/><Relationship Id="rId9"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jpeg"/><Relationship Id="rId3" Type="http://schemas.openxmlformats.org/officeDocument/2006/relationships/image" Target="../media/image2.png"/><Relationship Id="rId4" Type="http://schemas.openxmlformats.org/officeDocument/2006/relationships/image" Target="../media/image152.png"/><Relationship Id="rId5"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png"/><Relationship Id="rId3" Type="http://schemas.openxmlformats.org/officeDocument/2006/relationships/image" Target="../media/image154.svg"/><Relationship Id="rId4" Type="http://schemas.openxmlformats.org/officeDocument/2006/relationships/image" Target="../media/image155.png"/><Relationship Id="rId5" Type="http://schemas.openxmlformats.org/officeDocument/2006/relationships/image" Target="../media/image20.jpeg"/><Relationship Id="rId6" Type="http://schemas.openxmlformats.org/officeDocument/2006/relationships/image" Target="../media/image2.png"/><Relationship Id="rId7"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56.png"/><Relationship Id="rId4" Type="http://schemas.openxmlformats.org/officeDocument/2006/relationships/image" Target="../media/image157.svg"/><Relationship Id="rId5" Type="http://schemas.openxmlformats.org/officeDocument/2006/relationships/image" Target="../media/image109.png"/><Relationship Id="rId6" Type="http://schemas.openxmlformats.org/officeDocument/2006/relationships/image" Target="../media/image110.svg"/><Relationship Id="rId7" Type="http://schemas.openxmlformats.org/officeDocument/2006/relationships/image" Target="../media/image16.jpeg"/><Relationship Id="rId8" Type="http://schemas.openxmlformats.org/officeDocument/2006/relationships/image" Target="../media/image17.jpeg"/><Relationship Id="rId9" Type="http://schemas.openxmlformats.org/officeDocument/2006/relationships/image" Target="../media/image18.jpeg"/><Relationship Id="rId10" Type="http://schemas.openxmlformats.org/officeDocument/2006/relationships/image" Target="../media/image158.png"/><Relationship Id="rId11" Type="http://schemas.openxmlformats.org/officeDocument/2006/relationships/image" Target="../media/image159.svg"/><Relationship Id="rId12" Type="http://schemas.openxmlformats.org/officeDocument/2006/relationships/image" Target="../media/image111.png"/><Relationship Id="rId13" Type="http://schemas.openxmlformats.org/officeDocument/2006/relationships/image" Target="../media/image112.svg"/><Relationship Id="rId14" Type="http://schemas.openxmlformats.org/officeDocument/2006/relationships/image" Target="../media/image2.png"/><Relationship Id="rId15"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2.png"/><Relationship Id="rId4" Type="http://schemas.openxmlformats.org/officeDocument/2006/relationships/image" Target="../media/image160.png"/><Relationship Id="rId5" Type="http://schemas.openxmlformats.org/officeDocument/2006/relationships/image" Target="../media/image161.svg"/><Relationship Id="rId6" Type="http://schemas.openxmlformats.org/officeDocument/2006/relationships/image" Target="../media/image162.png"/><Relationship Id="rId7" Type="http://schemas.openxmlformats.org/officeDocument/2006/relationships/image" Target="../media/image163.svg"/><Relationship Id="rId8" Type="http://schemas.openxmlformats.org/officeDocument/2006/relationships/image" Target="../media/image164.png"/><Relationship Id="rId9" Type="http://schemas.openxmlformats.org/officeDocument/2006/relationships/image" Target="../media/image16.jpeg"/><Relationship Id="rId10" Type="http://schemas.openxmlformats.org/officeDocument/2006/relationships/image" Target="../media/image17.jpeg"/><Relationship Id="rId11" Type="http://schemas.openxmlformats.org/officeDocument/2006/relationships/image" Target="../media/image18.jpeg"/><Relationship Id="rId1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65.png"/><Relationship Id="rId4" Type="http://schemas.openxmlformats.org/officeDocument/2006/relationships/image" Target="../media/image166.svg"/><Relationship Id="rId5" Type="http://schemas.openxmlformats.org/officeDocument/2006/relationships/image" Target="../media/image167.png"/><Relationship Id="rId6" Type="http://schemas.openxmlformats.org/officeDocument/2006/relationships/image" Target="../media/image168.svg"/><Relationship Id="rId7" Type="http://schemas.openxmlformats.org/officeDocument/2006/relationships/image" Target="../media/image16.jpeg"/><Relationship Id="rId8" Type="http://schemas.openxmlformats.org/officeDocument/2006/relationships/image" Target="../media/image17.jpeg"/><Relationship Id="rId9" Type="http://schemas.openxmlformats.org/officeDocument/2006/relationships/image" Target="../media/image18.jpeg"/><Relationship Id="rId10" Type="http://schemas.openxmlformats.org/officeDocument/2006/relationships/hyperlink" Target="https://arxiv.org/pdf/2404.10652" TargetMode="External"/><Relationship Id="rId11" Type="http://schemas.openxmlformats.org/officeDocument/2006/relationships/image" Target="../media/image2.png"/><Relationship Id="rId12"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6.jpeg"/><Relationship Id="rId4" Type="http://schemas.openxmlformats.org/officeDocument/2006/relationships/image" Target="../media/image17.jpeg"/><Relationship Id="rId5" Type="http://schemas.openxmlformats.org/officeDocument/2006/relationships/image" Target="../media/image18.jpeg"/><Relationship Id="rId6" Type="http://schemas.openxmlformats.org/officeDocument/2006/relationships/hyperlink" Target="https://arxiv.org/pdf/2404.10652" TargetMode="External"/><Relationship Id="rId7" Type="http://schemas.openxmlformats.org/officeDocument/2006/relationships/hyperlink" Target="https://arxiv.org/pdf/2203.10209" TargetMode="External"/><Relationship Id="rId8" Type="http://schemas.openxmlformats.org/officeDocument/2006/relationships/hyperlink" Target="https://aclanthology.org/2022.naacl-srw.18.pdf" TargetMode="External"/><Relationship Id="rId9" Type="http://schemas.openxmlformats.org/officeDocument/2006/relationships/image" Target="../media/image2.png"/><Relationship Id="rId10"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69.png"/><Relationship Id="rId4" Type="http://schemas.openxmlformats.org/officeDocument/2006/relationships/image" Target="../media/image170.png"/><Relationship Id="rId5" Type="http://schemas.openxmlformats.org/officeDocument/2006/relationships/image" Target="../media/image171.svg"/><Relationship Id="rId6" Type="http://schemas.openxmlformats.org/officeDocument/2006/relationships/image" Target="../media/image16.jpeg"/><Relationship Id="rId7" Type="http://schemas.openxmlformats.org/officeDocument/2006/relationships/image" Target="../media/image17.jpeg"/><Relationship Id="rId8" Type="http://schemas.openxmlformats.org/officeDocument/2006/relationships/image" Target="../media/image18.jpeg"/><Relationship Id="rId9" Type="http://schemas.openxmlformats.org/officeDocument/2006/relationships/image" Target="../media/image172.png"/><Relationship Id="rId10" Type="http://schemas.openxmlformats.org/officeDocument/2006/relationships/image" Target="../media/image173.svg"/><Relationship Id="rId11" Type="http://schemas.openxmlformats.org/officeDocument/2006/relationships/image" Target="../media/image2.png"/><Relationship Id="rId1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65.png"/><Relationship Id="rId4" Type="http://schemas.openxmlformats.org/officeDocument/2006/relationships/image" Target="../media/image166.svg"/><Relationship Id="rId5" Type="http://schemas.openxmlformats.org/officeDocument/2006/relationships/image" Target="../media/image174.png"/><Relationship Id="rId6" Type="http://schemas.openxmlformats.org/officeDocument/2006/relationships/image" Target="../media/image175.svg"/><Relationship Id="rId7" Type="http://schemas.openxmlformats.org/officeDocument/2006/relationships/image" Target="../media/image16.jpeg"/><Relationship Id="rId8" Type="http://schemas.openxmlformats.org/officeDocument/2006/relationships/image" Target="../media/image17.jpeg"/><Relationship Id="rId9" Type="http://schemas.openxmlformats.org/officeDocument/2006/relationships/image" Target="../media/image18.jpeg"/><Relationship Id="rId10" Type="http://schemas.openxmlformats.org/officeDocument/2006/relationships/image" Target="../media/image2.png"/><Relationship Id="rId11"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2.png"/><Relationship Id="rId4" Type="http://schemas.openxmlformats.org/officeDocument/2006/relationships/image" Target="../media/image176.png"/><Relationship Id="rId5" Type="http://schemas.openxmlformats.org/officeDocument/2006/relationships/image" Target="../media/image177.png"/><Relationship Id="rId6" Type="http://schemas.openxmlformats.org/officeDocument/2006/relationships/image" Target="../media/image178.svg"/><Relationship Id="rId7" Type="http://schemas.openxmlformats.org/officeDocument/2006/relationships/image" Target="../media/image16.jpeg"/><Relationship Id="rId8" Type="http://schemas.openxmlformats.org/officeDocument/2006/relationships/image" Target="../media/image17.jpeg"/><Relationship Id="rId9" Type="http://schemas.openxmlformats.org/officeDocument/2006/relationships/image" Target="../media/image18.jpeg"/><Relationship Id="rId10" Type="http://schemas.openxmlformats.org/officeDocument/2006/relationships/image" Target="../media/image179.png"/><Relationship Id="rId11" Type="http://schemas.openxmlformats.org/officeDocument/2006/relationships/image" Target="../media/image180.svg"/><Relationship Id="rId12" Type="http://schemas.openxmlformats.org/officeDocument/2006/relationships/image" Target="../media/image181.png"/><Relationship Id="rId13" Type="http://schemas.openxmlformats.org/officeDocument/2006/relationships/image" Target="../media/image182.svg"/><Relationship Id="rId14"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image" Target="../media/image187.png"/><Relationship Id="rId8" Type="http://schemas.openxmlformats.org/officeDocument/2006/relationships/image" Target="../media/image188.svg"/><Relationship Id="rId9" Type="http://schemas.openxmlformats.org/officeDocument/2006/relationships/image" Target="../media/image16.jpeg"/><Relationship Id="rId10" Type="http://schemas.openxmlformats.org/officeDocument/2006/relationships/image" Target="../media/image17.jpeg"/><Relationship Id="rId11" Type="http://schemas.openxmlformats.org/officeDocument/2006/relationships/image" Target="../media/image18.jpeg"/><Relationship Id="rId12" Type="http://schemas.openxmlformats.org/officeDocument/2006/relationships/image" Target="../media/image2.png"/><Relationship Id="rId13"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2.png"/><Relationship Id="rId4" Type="http://schemas.openxmlformats.org/officeDocument/2006/relationships/image" Target="../media/image189.png"/><Relationship Id="rId5" Type="http://schemas.openxmlformats.org/officeDocument/2006/relationships/image" Target="../media/image190.svg"/><Relationship Id="rId6" Type="http://schemas.openxmlformats.org/officeDocument/2006/relationships/image" Target="../media/image191.png"/><Relationship Id="rId7" Type="http://schemas.openxmlformats.org/officeDocument/2006/relationships/image" Target="../media/image192.svg"/><Relationship Id="rId8" Type="http://schemas.openxmlformats.org/officeDocument/2006/relationships/image" Target="../media/image16.jpeg"/><Relationship Id="rId9" Type="http://schemas.openxmlformats.org/officeDocument/2006/relationships/image" Target="../media/image17.jpeg"/><Relationship Id="rId10" Type="http://schemas.openxmlformats.org/officeDocument/2006/relationships/image" Target="../media/image18.jpeg"/><Relationship Id="rId11" Type="http://schemas.openxmlformats.org/officeDocument/2006/relationships/notesSlide" Target="../notesSlides/notesSlide38.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bg_cover.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txBody>
            <a:bodyPr/>
            <a:p/>
          </p:txBody>
        </p:sp>
      </p:grpSp>
      <p:grpSp>
        <p:nvGrpSpPr>
          <p:cNvPr name="Group 4" id="4"/>
          <p:cNvGrpSpPr/>
          <p:nvPr/>
        </p:nvGrpSpPr>
        <p:grpSpPr>
          <a:xfrm rot="0">
            <a:off x="0" y="0"/>
            <a:ext cx="2829306" cy="1184338"/>
            <a:chOff x="0" y="0"/>
            <a:chExt cx="3772408" cy="1579118"/>
          </a:xfrm>
        </p:grpSpPr>
        <p:sp>
          <p:nvSpPr>
            <p:cNvPr name="Freeform 5" id="5"/>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3"/>
              <a:stretch>
                <a:fillRect l="0" t="0" r="0" b="0"/>
              </a:stretch>
            </a:blipFill>
          </p:spPr>
          <p:txBody>
            <a:bodyPr/>
            <a:p/>
          </p:txBody>
        </p:sp>
      </p:grpSp>
      <p:grpSp>
        <p:nvGrpSpPr>
          <p:cNvPr name="Group 6" id="6"/>
          <p:cNvGrpSpPr/>
          <p:nvPr/>
        </p:nvGrpSpPr>
        <p:grpSpPr>
          <a:xfrm rot="0">
            <a:off x="1097280" y="1920240"/>
            <a:ext cx="3026664" cy="457200"/>
            <a:chOff x="0" y="0"/>
            <a:chExt cx="4035552" cy="609600"/>
          </a:xfrm>
        </p:grpSpPr>
        <p:sp>
          <p:nvSpPr>
            <p:cNvPr name="Freeform 7" id="7"/>
            <p:cNvSpPr/>
            <p:nvPr/>
          </p:nvSpPr>
          <p:spPr>
            <a:xfrm flipH="false" flipV="false" rot="0">
              <a:off x="0" y="0"/>
              <a:ext cx="4035552" cy="609600"/>
            </a:xfrm>
            <a:custGeom>
              <a:avLst/>
              <a:gdLst/>
              <a:ahLst/>
              <a:cxnLst/>
              <a:rect r="r" b="b" t="t" l="l"/>
              <a:pathLst>
                <a:path h="609600" w="4035552">
                  <a:moveTo>
                    <a:pt x="0" y="304800"/>
                  </a:moveTo>
                  <a:cubicBezTo>
                    <a:pt x="0" y="136525"/>
                    <a:pt x="136525" y="0"/>
                    <a:pt x="304800" y="0"/>
                  </a:cubicBezTo>
                  <a:lnTo>
                    <a:pt x="3730752" y="0"/>
                  </a:lnTo>
                  <a:cubicBezTo>
                    <a:pt x="3899027" y="0"/>
                    <a:pt x="4035552" y="136525"/>
                    <a:pt x="4035552" y="304800"/>
                  </a:cubicBezTo>
                  <a:cubicBezTo>
                    <a:pt x="4035552" y="473075"/>
                    <a:pt x="3899027" y="609600"/>
                    <a:pt x="3730752" y="609600"/>
                  </a:cubicBezTo>
                  <a:lnTo>
                    <a:pt x="304800" y="609600"/>
                  </a:lnTo>
                  <a:cubicBezTo>
                    <a:pt x="136525" y="609600"/>
                    <a:pt x="0" y="473075"/>
                    <a:pt x="0" y="304800"/>
                  </a:cubicBezTo>
                  <a:close/>
                </a:path>
              </a:pathLst>
            </a:custGeom>
            <a:solidFill>
              <a:srgbClr val="E8A33D"/>
            </a:solidFill>
          </p:spPr>
          <p:txBody>
            <a:bodyPr/>
            <a:p/>
          </p:txBody>
        </p:sp>
        <p:sp>
          <p:nvSpPr>
            <p:cNvPr name="TextBox 8" id="8"/>
            <p:cNvSpPr txBox="true"/>
            <p:nvPr/>
          </p:nvSpPr>
          <p:spPr>
            <a:xfrm>
              <a:off x="0" y="-38100"/>
              <a:ext cx="4035552" cy="647700"/>
            </a:xfrm>
            <a:prstGeom prst="rect">
              <a:avLst/>
            </a:prstGeom>
          </p:spPr>
          <p:txBody>
            <a:bodyPr anchor="ctr" rtlCol="false" tIns="50800" lIns="50800" bIns="50800" rIns="50800"/>
            <a:lstStyle/>
            <a:p>
              <a:pPr algn="ctr">
                <a:lnSpc>
                  <a:spcPts val="1780"/>
                </a:lnSpc>
              </a:pPr>
              <a:r>
                <a:rPr lang="en-US" sz="1400" b="true">
                  <a:solidFill>
                    <a:srgbClr val="FFFFFF"/>
                  </a:solidFill>
                  <a:latin typeface="Calibri (MS) Bold"/>
                  <a:ea typeface="Calibri (MS) Bold"/>
                  <a:cs typeface="Calibri (MS) Bold"/>
                  <a:sym typeface="Calibri (MS) Bold"/>
                </a:rPr>
                <a:t>GFA26AI35 · ĐẠI HỌC FPT</a:t>
              </a:r>
            </a:p>
          </p:txBody>
        </p:sp>
      </p:grpSp>
      <p:sp>
        <p:nvSpPr>
          <p:cNvPr name="TextBox 9" id="9"/>
          <p:cNvSpPr txBox="true"/>
          <p:nvPr/>
        </p:nvSpPr>
        <p:spPr>
          <a:xfrm rot="0">
            <a:off x="1097280" y="2539365"/>
            <a:ext cx="8778240" cy="1529715"/>
          </a:xfrm>
          <a:prstGeom prst="rect">
            <a:avLst/>
          </a:prstGeom>
        </p:spPr>
        <p:txBody>
          <a:bodyPr anchor="t" rtlCol="false" tIns="0" lIns="0" bIns="0" rIns="0">
            <a:spAutoFit/>
          </a:bodyPr>
          <a:lstStyle/>
          <a:p>
            <a:pPr algn="l">
              <a:lnSpc>
                <a:spcPts val="9158"/>
              </a:lnSpc>
            </a:pPr>
            <a:r>
              <a:rPr lang="en-US" sz="7200" b="true">
                <a:solidFill>
                  <a:srgbClr val="FFFFFF"/>
                </a:solidFill>
                <a:latin typeface="Cambria Bold"/>
                <a:ea typeface="Cambria Bold"/>
                <a:cs typeface="Cambria Bold"/>
                <a:sym typeface="Cambria Bold"/>
              </a:rPr>
              <a:t>ViVQA-VLM</a:t>
            </a:r>
          </a:p>
        </p:txBody>
      </p:sp>
      <p:sp>
        <p:nvSpPr>
          <p:cNvPr name="TextBox 10" id="10"/>
          <p:cNvSpPr txBox="true"/>
          <p:nvPr/>
        </p:nvSpPr>
        <p:spPr>
          <a:xfrm rot="0">
            <a:off x="1097280" y="3901440"/>
            <a:ext cx="8595360" cy="1264920"/>
          </a:xfrm>
          <a:prstGeom prst="rect">
            <a:avLst/>
          </a:prstGeom>
        </p:spPr>
        <p:txBody>
          <a:bodyPr anchor="t" rtlCol="false" tIns="0" lIns="0" bIns="0" rIns="0">
            <a:spAutoFit/>
          </a:bodyPr>
          <a:lstStyle/>
          <a:p>
            <a:pPr algn="l">
              <a:lnSpc>
                <a:spcPts val="3307"/>
              </a:lnSpc>
            </a:pPr>
            <a:r>
              <a:rPr lang="en-US" sz="2600">
                <a:solidFill>
                  <a:srgbClr val="FFFFFF"/>
                </a:solidFill>
                <a:latin typeface="Calibri (MS)"/>
                <a:ea typeface="Calibri (MS)"/>
                <a:cs typeface="Calibri (MS)"/>
                <a:sym typeface="Calibri (MS)"/>
              </a:rPr>
              <a:t>Efficient Vietnamese Visual Question Answering</a:t>
            </a:r>
          </a:p>
          <a:p>
            <a:pPr algn="l">
              <a:lnSpc>
                <a:spcPts val="3307"/>
              </a:lnSpc>
            </a:pPr>
            <a:r>
              <a:rPr lang="en-US" sz="2600">
                <a:solidFill>
                  <a:srgbClr val="FFFFFF"/>
                </a:solidFill>
                <a:latin typeface="Calibri (MS)"/>
                <a:ea typeface="Calibri (MS)"/>
                <a:cs typeface="Calibri (MS)"/>
                <a:sym typeface="Calibri (MS)"/>
              </a:rPr>
              <a:t>using Vision–Language Models</a:t>
            </a:r>
          </a:p>
        </p:txBody>
      </p:sp>
      <p:grpSp>
        <p:nvGrpSpPr>
          <p:cNvPr name="Group 11" id="11"/>
          <p:cNvGrpSpPr/>
          <p:nvPr/>
        </p:nvGrpSpPr>
        <p:grpSpPr>
          <a:xfrm rot="0">
            <a:off x="1115568" y="5349240"/>
            <a:ext cx="1463040" cy="73152"/>
            <a:chOff x="0" y="0"/>
            <a:chExt cx="1950720" cy="97536"/>
          </a:xfrm>
        </p:grpSpPr>
        <p:sp>
          <p:nvSpPr>
            <p:cNvPr name="Freeform 12" id="12"/>
            <p:cNvSpPr/>
            <p:nvPr/>
          </p:nvSpPr>
          <p:spPr>
            <a:xfrm flipH="false" flipV="false" rot="0">
              <a:off x="0" y="0"/>
              <a:ext cx="1950720" cy="97536"/>
            </a:xfrm>
            <a:custGeom>
              <a:avLst/>
              <a:gdLst/>
              <a:ahLst/>
              <a:cxnLst/>
              <a:rect r="r" b="b" t="t" l="l"/>
              <a:pathLst>
                <a:path h="97536" w="1950720">
                  <a:moveTo>
                    <a:pt x="0" y="0"/>
                  </a:moveTo>
                  <a:lnTo>
                    <a:pt x="1950720" y="0"/>
                  </a:lnTo>
                  <a:lnTo>
                    <a:pt x="1950720" y="97536"/>
                  </a:lnTo>
                  <a:lnTo>
                    <a:pt x="0" y="97536"/>
                  </a:lnTo>
                  <a:close/>
                </a:path>
              </a:pathLst>
            </a:custGeom>
            <a:solidFill>
              <a:srgbClr val="E8A33D"/>
            </a:solidFill>
          </p:spPr>
          <p:txBody>
            <a:bodyPr/>
            <a:p/>
          </p:txBody>
        </p:sp>
      </p:grpSp>
      <p:sp>
        <p:nvSpPr>
          <p:cNvPr name="TextBox 13" id="13"/>
          <p:cNvSpPr txBox="true"/>
          <p:nvPr/>
        </p:nvSpPr>
        <p:spPr>
          <a:xfrm rot="0">
            <a:off x="1097280" y="6343650"/>
            <a:ext cx="8595360" cy="1056666"/>
          </a:xfrm>
          <a:prstGeom prst="rect">
            <a:avLst/>
          </a:prstGeom>
        </p:spPr>
        <p:txBody>
          <a:bodyPr anchor="t" rtlCol="false" tIns="0" lIns="0" bIns="0" rIns="0">
            <a:spAutoFit/>
          </a:bodyPr>
          <a:lstStyle/>
          <a:p>
            <a:pPr algn="l">
              <a:lnSpc>
                <a:spcPts val="2798"/>
              </a:lnSpc>
            </a:pPr>
            <a:r>
              <a:rPr lang="en-US" sz="2199" b="true">
                <a:solidFill>
                  <a:srgbClr val="C8D6E6"/>
                </a:solidFill>
                <a:latin typeface="Calibri (MS) Bold"/>
                <a:ea typeface="Calibri (MS) Bold"/>
                <a:cs typeface="Calibri (MS) Bold"/>
                <a:sym typeface="Calibri (MS) Bold"/>
              </a:rPr>
              <a:t>Supervisors  </a:t>
            </a:r>
            <a:r>
              <a:rPr lang="en-US" sz="2199">
                <a:solidFill>
                  <a:srgbClr val="FFFFFF"/>
                </a:solidFill>
                <a:latin typeface="Calibri (MS)"/>
                <a:ea typeface="Calibri (MS)"/>
                <a:cs typeface="Calibri (MS)"/>
                <a:sym typeface="Calibri (MS)"/>
              </a:rPr>
              <a:t>Đặng Ngọc Minh Đức · Phạm Minh Trí</a:t>
            </a:r>
          </a:p>
          <a:p>
            <a:pPr algn="l">
              <a:lnSpc>
                <a:spcPts val="2671"/>
              </a:lnSpc>
            </a:pPr>
            <a:r>
              <a:rPr lang="en-US" sz="2099" b="true">
                <a:solidFill>
                  <a:srgbClr val="C8D6E6"/>
                </a:solidFill>
                <a:latin typeface="Calibri (MS) Bold"/>
                <a:ea typeface="Calibri (MS) Bold"/>
                <a:cs typeface="Calibri (MS) Bold"/>
                <a:sym typeface="Calibri (MS) Bold"/>
              </a:rPr>
              <a:t>Team  </a:t>
            </a:r>
            <a:r>
              <a:rPr lang="en-US" sz="2099">
                <a:solidFill>
                  <a:srgbClr val="FFFFFF"/>
                </a:solidFill>
                <a:latin typeface="Calibri (MS)"/>
                <a:ea typeface="Calibri (MS)"/>
                <a:cs typeface="Calibri (MS)"/>
                <a:sym typeface="Calibri (MS)"/>
              </a:rPr>
              <a:t>Phạm Lê Huy Hoàng (Leader), Hồ Đắc Toàn, Trần Quốc Huân, Văn Quang Trường</a:t>
            </a:r>
          </a:p>
        </p:txBody>
      </p:sp>
      <p:grpSp>
        <p:nvGrpSpPr>
          <p:cNvPr name="Group 14" id="14"/>
          <p:cNvGrpSpPr/>
          <p:nvPr/>
        </p:nvGrpSpPr>
        <p:grpSpPr>
          <a:xfrm rot="0">
            <a:off x="9509760" y="1417320"/>
            <a:ext cx="8503920" cy="7040451"/>
            <a:chOff x="0" y="0"/>
            <a:chExt cx="11338560" cy="9387268"/>
          </a:xfrm>
        </p:grpSpPr>
        <p:sp>
          <p:nvSpPr>
            <p:cNvPr name="Freeform 15" id="15" descr="cover_cards.png"/>
            <p:cNvSpPr/>
            <p:nvPr/>
          </p:nvSpPr>
          <p:spPr>
            <a:xfrm flipH="false" flipV="false" rot="0">
              <a:off x="0" y="0"/>
              <a:ext cx="11338560" cy="9387332"/>
            </a:xfrm>
            <a:custGeom>
              <a:avLst/>
              <a:gdLst/>
              <a:ahLst/>
              <a:cxnLst/>
              <a:rect r="r" b="b" t="t" l="l"/>
              <a:pathLst>
                <a:path h="9387332" w="11338560">
                  <a:moveTo>
                    <a:pt x="0" y="0"/>
                  </a:moveTo>
                  <a:lnTo>
                    <a:pt x="11338560" y="0"/>
                  </a:lnTo>
                  <a:lnTo>
                    <a:pt x="11338560" y="9387332"/>
                  </a:lnTo>
                  <a:lnTo>
                    <a:pt x="0" y="9387332"/>
                  </a:lnTo>
                  <a:lnTo>
                    <a:pt x="0" y="0"/>
                  </a:lnTo>
                  <a:close/>
                </a:path>
              </a:pathLst>
            </a:custGeom>
            <a:blipFill>
              <a:blip r:embed="rId4"/>
              <a:stretch>
                <a:fillRect l="0" t="0" r="0" b="0"/>
              </a:stretch>
            </a:blipFill>
          </p:spPr>
          <p:txBody>
            <a:body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bg_r1.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txBody>
            <a:bodyPr/>
            <a:p/>
          </p:txBody>
        </p:sp>
      </p:grpSp>
      <p:grpSp>
        <p:nvGrpSpPr>
          <p:cNvPr name="Group 4" id="4"/>
          <p:cNvGrpSpPr/>
          <p:nvPr/>
        </p:nvGrpSpPr>
        <p:grpSpPr>
          <a:xfrm rot="0">
            <a:off x="0" y="0"/>
            <a:ext cx="2829306" cy="1184338"/>
            <a:chOff x="0" y="0"/>
            <a:chExt cx="3772408" cy="1579118"/>
          </a:xfrm>
        </p:grpSpPr>
        <p:sp>
          <p:nvSpPr>
            <p:cNvPr name="Freeform 5" id="5"/>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3"/>
              <a:stretch>
                <a:fillRect l="0" t="0" r="0" b="0"/>
              </a:stretch>
            </a:blipFill>
          </p:spPr>
          <p:txBody>
            <a:bodyPr/>
            <a:p/>
          </p:txBody>
        </p:sp>
      </p:grpSp>
      <p:grpSp>
        <p:nvGrpSpPr>
          <p:cNvPr name="Group 6" id="6"/>
          <p:cNvGrpSpPr/>
          <p:nvPr/>
        </p:nvGrpSpPr>
        <p:grpSpPr>
          <a:xfrm rot="0">
            <a:off x="1097280" y="2011680"/>
            <a:ext cx="1243584" cy="457200"/>
            <a:chOff x="0" y="0"/>
            <a:chExt cx="1658112" cy="609600"/>
          </a:xfrm>
        </p:grpSpPr>
        <p:sp>
          <p:nvSpPr>
            <p:cNvPr name="Freeform 7" id="7"/>
            <p:cNvSpPr/>
            <p:nvPr/>
          </p:nvSpPr>
          <p:spPr>
            <a:xfrm flipH="false" flipV="false" rot="0">
              <a:off x="0" y="0"/>
              <a:ext cx="1658112" cy="609600"/>
            </a:xfrm>
            <a:custGeom>
              <a:avLst/>
              <a:gdLst/>
              <a:ahLst/>
              <a:cxnLst/>
              <a:rect r="r" b="b" t="t" l="l"/>
              <a:pathLst>
                <a:path h="609600" w="1658112">
                  <a:moveTo>
                    <a:pt x="0" y="304800"/>
                  </a:moveTo>
                  <a:cubicBezTo>
                    <a:pt x="0" y="136525"/>
                    <a:pt x="136525" y="0"/>
                    <a:pt x="304800" y="0"/>
                  </a:cubicBezTo>
                  <a:lnTo>
                    <a:pt x="1353312" y="0"/>
                  </a:lnTo>
                  <a:cubicBezTo>
                    <a:pt x="1521587" y="0"/>
                    <a:pt x="1658112" y="136525"/>
                    <a:pt x="1658112" y="304800"/>
                  </a:cubicBezTo>
                  <a:cubicBezTo>
                    <a:pt x="1658112" y="473075"/>
                    <a:pt x="1521587" y="609600"/>
                    <a:pt x="1353312" y="609600"/>
                  </a:cubicBezTo>
                  <a:lnTo>
                    <a:pt x="304800" y="609600"/>
                  </a:lnTo>
                  <a:cubicBezTo>
                    <a:pt x="136525" y="609600"/>
                    <a:pt x="0" y="473075"/>
                    <a:pt x="0" y="304800"/>
                  </a:cubicBezTo>
                  <a:close/>
                </a:path>
              </a:pathLst>
            </a:custGeom>
            <a:solidFill>
              <a:srgbClr val="1C7293"/>
            </a:solidFill>
          </p:spPr>
          <p:txBody>
            <a:bodyPr/>
            <a:p/>
          </p:txBody>
        </p:sp>
        <p:sp>
          <p:nvSpPr>
            <p:cNvPr name="TextBox 8" id="8"/>
            <p:cNvSpPr txBox="true"/>
            <p:nvPr/>
          </p:nvSpPr>
          <p:spPr>
            <a:xfrm>
              <a:off x="0" y="-38100"/>
              <a:ext cx="1658112" cy="647700"/>
            </a:xfrm>
            <a:prstGeom prst="rect">
              <a:avLst/>
            </a:prstGeom>
          </p:spPr>
          <p:txBody>
            <a:bodyPr anchor="ctr" rtlCol="false" tIns="50800" lIns="50800" bIns="50800" rIns="50800"/>
            <a:lstStyle/>
            <a:p>
              <a:pPr algn="ctr">
                <a:lnSpc>
                  <a:spcPts val="1780"/>
                </a:lnSpc>
              </a:pPr>
              <a:r>
                <a:rPr lang="en-US" sz="1400" b="true">
                  <a:solidFill>
                    <a:srgbClr val="FFFFFF"/>
                  </a:solidFill>
                  <a:latin typeface="Calibri (MS) Bold"/>
                  <a:ea typeface="Calibri (MS) Bold"/>
                  <a:cs typeface="Calibri (MS) Bold"/>
                  <a:sym typeface="Calibri (MS) Bold"/>
                </a:rPr>
                <a:t>REVIEW 1</a:t>
              </a:r>
            </a:p>
          </p:txBody>
        </p:sp>
      </p:grpSp>
      <p:sp>
        <p:nvSpPr>
          <p:cNvPr name="TextBox 9" id="9"/>
          <p:cNvSpPr txBox="true"/>
          <p:nvPr/>
        </p:nvSpPr>
        <p:spPr>
          <a:xfrm rot="0">
            <a:off x="1097280" y="2649855"/>
            <a:ext cx="7863840" cy="1236345"/>
          </a:xfrm>
          <a:prstGeom prst="rect">
            <a:avLst/>
          </a:prstGeom>
        </p:spPr>
        <p:txBody>
          <a:bodyPr anchor="t" rtlCol="false" tIns="0" lIns="0" bIns="0" rIns="0">
            <a:spAutoFit/>
          </a:bodyPr>
          <a:lstStyle/>
          <a:p>
            <a:pPr algn="l">
              <a:lnSpc>
                <a:spcPts val="7123"/>
              </a:lnSpc>
            </a:pPr>
            <a:r>
              <a:rPr lang="en-US" sz="5600" b="true">
                <a:solidFill>
                  <a:srgbClr val="FFFFFF"/>
                </a:solidFill>
                <a:latin typeface="Cambria Bold"/>
                <a:ea typeface="Cambria Bold"/>
                <a:cs typeface="Cambria Bold"/>
                <a:sym typeface="Cambria Bold"/>
              </a:rPr>
              <a:t>Phạm vi bài toán</a:t>
            </a:r>
          </a:p>
        </p:txBody>
      </p:sp>
      <p:sp>
        <p:nvSpPr>
          <p:cNvPr name="TextBox 10" id="10"/>
          <p:cNvSpPr txBox="true"/>
          <p:nvPr/>
        </p:nvSpPr>
        <p:spPr>
          <a:xfrm rot="0">
            <a:off x="1143000" y="4240530"/>
            <a:ext cx="7680960" cy="4171950"/>
          </a:xfrm>
          <a:prstGeom prst="rect">
            <a:avLst/>
          </a:prstGeom>
        </p:spPr>
        <p:txBody>
          <a:bodyPr anchor="t" rtlCol="false" tIns="0" lIns="0" bIns="0" rIns="0">
            <a:spAutoFit/>
          </a:bodyPr>
          <a:lstStyle/>
          <a:p>
            <a:pPr algn="l">
              <a:lnSpc>
                <a:spcPts val="3052"/>
              </a:lnSpc>
            </a:pPr>
            <a:r>
              <a:rPr lang="en-US" sz="2400" b="true">
                <a:solidFill>
                  <a:srgbClr val="E8A33D"/>
                </a:solidFill>
                <a:latin typeface="Calibri (MS) Bold"/>
                <a:ea typeface="Calibri (MS) Bold"/>
                <a:cs typeface="Calibri (MS) Bold"/>
                <a:sym typeface="Calibri (MS) Bold"/>
              </a:rPr>
              <a:t>01  </a:t>
            </a:r>
            <a:r>
              <a:rPr lang="en-US" sz="2400">
                <a:solidFill>
                  <a:srgbClr val="FFFFFF"/>
                </a:solidFill>
                <a:latin typeface="Calibri (MS)"/>
                <a:ea typeface="Calibri (MS)"/>
                <a:cs typeface="Calibri (MS)"/>
                <a:sym typeface="Calibri (MS)"/>
              </a:rPr>
              <a:t>Bài toán gì</a:t>
            </a:r>
          </a:p>
          <a:p>
            <a:pPr algn="l">
              <a:lnSpc>
                <a:spcPts val="3052"/>
              </a:lnSpc>
            </a:pPr>
            <a:r>
              <a:rPr lang="en-US" sz="2400" b="true">
                <a:solidFill>
                  <a:srgbClr val="E8A33D"/>
                </a:solidFill>
                <a:latin typeface="Calibri (MS) Bold"/>
                <a:ea typeface="Calibri (MS) Bold"/>
                <a:cs typeface="Calibri (MS) Bold"/>
                <a:sym typeface="Calibri (MS) Bold"/>
              </a:rPr>
              <a:t>02  </a:t>
            </a:r>
            <a:r>
              <a:rPr lang="en-US" sz="2400">
                <a:solidFill>
                  <a:srgbClr val="FFFFFF"/>
                </a:solidFill>
                <a:latin typeface="Calibri (MS)"/>
                <a:ea typeface="Calibri (MS)"/>
                <a:cs typeface="Calibri (MS)"/>
                <a:sym typeface="Calibri (MS)"/>
              </a:rPr>
              <a:t>Vì sao khó với tiếng Việt</a:t>
            </a:r>
          </a:p>
          <a:p>
            <a:pPr algn="l">
              <a:lnSpc>
                <a:spcPts val="3052"/>
              </a:lnSpc>
            </a:pPr>
            <a:r>
              <a:rPr lang="en-US" sz="2400" b="true">
                <a:solidFill>
                  <a:srgbClr val="E8A33D"/>
                </a:solidFill>
                <a:latin typeface="Calibri (MS) Bold"/>
                <a:ea typeface="Calibri (MS) Bold"/>
                <a:cs typeface="Calibri (MS) Bold"/>
                <a:sym typeface="Calibri (MS) Bold"/>
              </a:rPr>
              <a:t>03  </a:t>
            </a:r>
            <a:r>
              <a:rPr lang="en-US" sz="2400">
                <a:solidFill>
                  <a:srgbClr val="FFFFFF"/>
                </a:solidFill>
                <a:latin typeface="Calibri (MS)"/>
                <a:ea typeface="Calibri (MS)"/>
                <a:cs typeface="Calibri (MS)"/>
                <a:sym typeface="Calibri (MS)"/>
              </a:rPr>
              <a:t>Làm trong giới hạn nào, đo bằng gì</a:t>
            </a:r>
          </a:p>
          <a:p>
            <a:pPr algn="l">
              <a:lnSpc>
                <a:spcPts val="3052"/>
              </a:lnSpc>
            </a:pPr>
            <a:r>
              <a:rPr lang="en-US" sz="2400" b="true">
                <a:solidFill>
                  <a:srgbClr val="E8A33D"/>
                </a:solidFill>
                <a:latin typeface="Calibri (MS) Bold"/>
                <a:ea typeface="Calibri (MS) Bold"/>
                <a:cs typeface="Calibri (MS) Bold"/>
                <a:sym typeface="Calibri (MS) Bold"/>
              </a:rPr>
              <a:t>04  </a:t>
            </a:r>
            <a:r>
              <a:rPr lang="en-US" sz="2400">
                <a:solidFill>
                  <a:srgbClr val="FFFFFF"/>
                </a:solidFill>
                <a:latin typeface="Calibri (MS)"/>
                <a:ea typeface="Calibri (MS)"/>
                <a:cs typeface="Calibri (MS)"/>
                <a:sym typeface="Calibri (MS)"/>
              </a:rPr>
              <a:t>Kế hoạch thực hiện</a:t>
            </a:r>
          </a:p>
        </p:txBody>
      </p:sp>
      <p:grpSp>
        <p:nvGrpSpPr>
          <p:cNvPr name="Group 11" id="11"/>
          <p:cNvGrpSpPr/>
          <p:nvPr/>
        </p:nvGrpSpPr>
        <p:grpSpPr>
          <a:xfrm rot="0">
            <a:off x="9326880" y="1325880"/>
            <a:ext cx="8229600" cy="6565182"/>
            <a:chOff x="0" y="0"/>
            <a:chExt cx="10972800" cy="8753577"/>
          </a:xfrm>
        </p:grpSpPr>
        <p:sp>
          <p:nvSpPr>
            <p:cNvPr name="Freeform 12" id="12" descr="r1_mosaic.png"/>
            <p:cNvSpPr/>
            <p:nvPr/>
          </p:nvSpPr>
          <p:spPr>
            <a:xfrm flipH="false" flipV="false" rot="0">
              <a:off x="0" y="0"/>
              <a:ext cx="10972800" cy="8753602"/>
            </a:xfrm>
            <a:custGeom>
              <a:avLst/>
              <a:gdLst/>
              <a:ahLst/>
              <a:cxnLst/>
              <a:rect r="r" b="b" t="t" l="l"/>
              <a:pathLst>
                <a:path h="8753602" w="10972800">
                  <a:moveTo>
                    <a:pt x="0" y="0"/>
                  </a:moveTo>
                  <a:lnTo>
                    <a:pt x="10972800" y="0"/>
                  </a:lnTo>
                  <a:lnTo>
                    <a:pt x="10972800" y="8753602"/>
                  </a:lnTo>
                  <a:lnTo>
                    <a:pt x="0" y="8753602"/>
                  </a:lnTo>
                  <a:lnTo>
                    <a:pt x="0" y="0"/>
                  </a:lnTo>
                  <a:close/>
                </a:path>
              </a:pathLst>
            </a:custGeom>
            <a:blipFill>
              <a:blip r:embed="rId4"/>
              <a:stretch>
                <a:fillRect l="0" t="0" r="0" b="0"/>
              </a:stretch>
            </a:blipFill>
          </p:spPr>
          <p:txBody>
            <a:body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0100" y="1885950"/>
            <a:ext cx="16687800" cy="1114425"/>
            <a:chOff x="0" y="0"/>
            <a:chExt cx="22250400" cy="1485900"/>
          </a:xfrm>
        </p:grpSpPr>
        <p:sp>
          <p:nvSpPr>
            <p:cNvPr name="Freeform 3" id="3"/>
            <p:cNvSpPr/>
            <p:nvPr/>
          </p:nvSpPr>
          <p:spPr>
            <a:xfrm flipH="false" flipV="false" rot="0">
              <a:off x="0" y="0"/>
              <a:ext cx="22250400" cy="1485900"/>
            </a:xfrm>
            <a:custGeom>
              <a:avLst/>
              <a:gdLst/>
              <a:ahLst/>
              <a:cxnLst/>
              <a:rect r="r" b="b" t="t" l="l"/>
              <a:pathLst>
                <a:path h="1485900" w="22250400">
                  <a:moveTo>
                    <a:pt x="0" y="190500"/>
                  </a:moveTo>
                  <a:cubicBezTo>
                    <a:pt x="0" y="85344"/>
                    <a:pt x="85344" y="0"/>
                    <a:pt x="190500" y="0"/>
                  </a:cubicBezTo>
                  <a:lnTo>
                    <a:pt x="22059900" y="0"/>
                  </a:lnTo>
                  <a:cubicBezTo>
                    <a:pt x="22165056" y="0"/>
                    <a:pt x="22250400" y="85344"/>
                    <a:pt x="22250400" y="190500"/>
                  </a:cubicBezTo>
                  <a:lnTo>
                    <a:pt x="22250400" y="1295400"/>
                  </a:lnTo>
                  <a:cubicBezTo>
                    <a:pt x="22250400" y="1400556"/>
                    <a:pt x="22165056" y="1485900"/>
                    <a:pt x="22059900" y="1485900"/>
                  </a:cubicBezTo>
                  <a:lnTo>
                    <a:pt x="190500" y="1485900"/>
                  </a:lnTo>
                  <a:cubicBezTo>
                    <a:pt x="85344" y="1485900"/>
                    <a:pt x="0" y="1400556"/>
                    <a:pt x="0" y="1295400"/>
                  </a:cubicBezTo>
                  <a:close/>
                </a:path>
              </a:pathLst>
            </a:custGeom>
            <a:solidFill>
              <a:srgbClr val="E9F1F5"/>
            </a:solidFill>
          </p:spPr>
          <p:txBody>
            <a:bodyPr/>
            <a:p/>
          </p:txBody>
        </p:sp>
      </p:grpSp>
      <p:sp>
        <p:nvSpPr>
          <p:cNvPr name="Freeform 4" id="4"/>
          <p:cNvSpPr/>
          <p:nvPr/>
        </p:nvSpPr>
        <p:spPr>
          <a:xfrm flipH="false" flipV="false" rot="0">
            <a:off x="9017194" y="3752250"/>
            <a:ext cx="3568303" cy="5997178"/>
          </a:xfrm>
          <a:custGeom>
            <a:avLst/>
            <a:gdLst/>
            <a:ahLst/>
            <a:cxnLst/>
            <a:rect r="r" b="b" t="t" l="l"/>
            <a:pathLst>
              <a:path h="5997178" w="3568303">
                <a:moveTo>
                  <a:pt x="0" y="0"/>
                </a:moveTo>
                <a:lnTo>
                  <a:pt x="3568303" y="0"/>
                </a:lnTo>
                <a:lnTo>
                  <a:pt x="3568303" y="5997178"/>
                </a:lnTo>
                <a:lnTo>
                  <a:pt x="0" y="5997178"/>
                </a:lnTo>
                <a:lnTo>
                  <a:pt x="0" y="0"/>
                </a:lnTo>
                <a:close/>
              </a:path>
            </a:pathLst>
          </a:custGeom>
          <a:blipFill>
            <a:blip r:embed="rId2">
              <a:extLst>
                <a:ext uri="{96DAC541-7B7A-43D3-8B79-37D633B846F1}">
                  <asvg:svgBlip xmlns:asvg="http://schemas.microsoft.com/office/drawing/2016/SVG/main" r:embed="rId3"/>
                </a:ext>
              </a:extLst>
            </a:blip>
            <a:stretch>
              <a:fillRect l="-20" t="0" r="-20" b="0"/>
            </a:stretch>
          </a:blipFill>
        </p:spPr>
        <p:txBody>
          <a:bodyPr/>
          <a:p/>
        </p:txBody>
      </p:sp>
      <p:sp>
        <p:nvSpPr>
          <p:cNvPr name="Freeform 5" id="5"/>
          <p:cNvSpPr/>
          <p:nvPr/>
        </p:nvSpPr>
        <p:spPr>
          <a:xfrm flipH="false" flipV="false" rot="0">
            <a:off x="787594" y="3752250"/>
            <a:ext cx="7454503" cy="2882503"/>
          </a:xfrm>
          <a:custGeom>
            <a:avLst/>
            <a:gdLst/>
            <a:ahLst/>
            <a:cxnLst/>
            <a:rect r="r" b="b" t="t" l="l"/>
            <a:pathLst>
              <a:path h="2882503" w="7454503">
                <a:moveTo>
                  <a:pt x="0" y="0"/>
                </a:moveTo>
                <a:lnTo>
                  <a:pt x="7454503" y="0"/>
                </a:lnTo>
                <a:lnTo>
                  <a:pt x="7454503" y="2882503"/>
                </a:lnTo>
                <a:lnTo>
                  <a:pt x="0" y="2882503"/>
                </a:lnTo>
                <a:lnTo>
                  <a:pt x="0" y="0"/>
                </a:lnTo>
                <a:close/>
              </a:path>
            </a:pathLst>
          </a:custGeom>
          <a:blipFill>
            <a:blip r:embed="rId4">
              <a:extLst>
                <a:ext uri="{96DAC541-7B7A-43D3-8B79-37D633B846F1}">
                  <asvg:svgBlip xmlns:asvg="http://schemas.microsoft.com/office/drawing/2016/SVG/main" r:embed="rId5"/>
                </a:ext>
              </a:extLst>
            </a:blip>
            <a:stretch>
              <a:fillRect l="0" t="-38" r="0" b="-38"/>
            </a:stretch>
          </a:blipFill>
        </p:spPr>
        <p:txBody>
          <a:bodyPr/>
          <a:p/>
        </p:txBody>
      </p:sp>
      <p:sp>
        <p:nvSpPr>
          <p:cNvPr name="Freeform 6" id="6"/>
          <p:cNvSpPr/>
          <p:nvPr/>
        </p:nvSpPr>
        <p:spPr>
          <a:xfrm flipH="false" flipV="false" rot="0">
            <a:off x="787594" y="6866934"/>
            <a:ext cx="7454503" cy="2882503"/>
          </a:xfrm>
          <a:custGeom>
            <a:avLst/>
            <a:gdLst/>
            <a:ahLst/>
            <a:cxnLst/>
            <a:rect r="r" b="b" t="t" l="l"/>
            <a:pathLst>
              <a:path h="2882503" w="7454503">
                <a:moveTo>
                  <a:pt x="0" y="0"/>
                </a:moveTo>
                <a:lnTo>
                  <a:pt x="7454503" y="0"/>
                </a:lnTo>
                <a:lnTo>
                  <a:pt x="7454503" y="2882504"/>
                </a:lnTo>
                <a:lnTo>
                  <a:pt x="0" y="2882504"/>
                </a:lnTo>
                <a:lnTo>
                  <a:pt x="0" y="0"/>
                </a:lnTo>
                <a:close/>
              </a:path>
            </a:pathLst>
          </a:custGeom>
          <a:blipFill>
            <a:blip r:embed="rId4">
              <a:extLst>
                <a:ext uri="{96DAC541-7B7A-43D3-8B79-37D633B846F1}">
                  <asvg:svgBlip xmlns:asvg="http://schemas.microsoft.com/office/drawing/2016/SVG/main" r:embed="rId5"/>
                </a:ext>
              </a:extLst>
            </a:blip>
            <a:stretch>
              <a:fillRect l="0" t="-38" r="0" b="-38"/>
            </a:stretch>
          </a:blipFill>
        </p:spPr>
        <p:txBody>
          <a:bodyPr/>
          <a:p/>
        </p:txBody>
      </p:sp>
      <p:sp>
        <p:nvSpPr>
          <p:cNvPr name="Freeform 7" id="7"/>
          <p:cNvSpPr/>
          <p:nvPr/>
        </p:nvSpPr>
        <p:spPr>
          <a:xfrm flipH="false" flipV="false" rot="0">
            <a:off x="13360594" y="3752250"/>
            <a:ext cx="4139803" cy="2882503"/>
          </a:xfrm>
          <a:custGeom>
            <a:avLst/>
            <a:gdLst/>
            <a:ahLst/>
            <a:cxnLst/>
            <a:rect r="r" b="b" t="t" l="l"/>
            <a:pathLst>
              <a:path h="2882503" w="4139803">
                <a:moveTo>
                  <a:pt x="0" y="0"/>
                </a:moveTo>
                <a:lnTo>
                  <a:pt x="4139803" y="0"/>
                </a:lnTo>
                <a:lnTo>
                  <a:pt x="4139803" y="2882503"/>
                </a:lnTo>
                <a:lnTo>
                  <a:pt x="0" y="2882503"/>
                </a:lnTo>
                <a:lnTo>
                  <a:pt x="0" y="0"/>
                </a:lnTo>
                <a:close/>
              </a:path>
            </a:pathLst>
          </a:custGeom>
          <a:blipFill>
            <a:blip r:embed="rId6">
              <a:extLst>
                <a:ext uri="{96DAC541-7B7A-43D3-8B79-37D633B846F1}">
                  <asvg:svgBlip xmlns:asvg="http://schemas.microsoft.com/office/drawing/2016/SVG/main" r:embed="rId7"/>
                </a:ext>
              </a:extLst>
            </a:blip>
            <a:stretch>
              <a:fillRect l="0" t="-18" r="0" b="-18"/>
            </a:stretch>
          </a:blipFill>
        </p:spPr>
        <p:txBody>
          <a:bodyPr/>
          <a:p/>
        </p:txBody>
      </p:sp>
      <p:sp>
        <p:nvSpPr>
          <p:cNvPr name="Freeform 8" id="8"/>
          <p:cNvSpPr/>
          <p:nvPr/>
        </p:nvSpPr>
        <p:spPr>
          <a:xfrm flipH="false" flipV="false" rot="0">
            <a:off x="13360594" y="6866934"/>
            <a:ext cx="4139803" cy="2882503"/>
          </a:xfrm>
          <a:custGeom>
            <a:avLst/>
            <a:gdLst/>
            <a:ahLst/>
            <a:cxnLst/>
            <a:rect r="r" b="b" t="t" l="l"/>
            <a:pathLst>
              <a:path h="2882503" w="4139803">
                <a:moveTo>
                  <a:pt x="0" y="0"/>
                </a:moveTo>
                <a:lnTo>
                  <a:pt x="4139803" y="0"/>
                </a:lnTo>
                <a:lnTo>
                  <a:pt x="4139803" y="2882504"/>
                </a:lnTo>
                <a:lnTo>
                  <a:pt x="0" y="2882504"/>
                </a:lnTo>
                <a:lnTo>
                  <a:pt x="0" y="0"/>
                </a:lnTo>
                <a:close/>
              </a:path>
            </a:pathLst>
          </a:custGeom>
          <a:blipFill>
            <a:blip r:embed="rId6">
              <a:extLst>
                <a:ext uri="{96DAC541-7B7A-43D3-8B79-37D633B846F1}">
                  <asvg:svgBlip xmlns:asvg="http://schemas.microsoft.com/office/drawing/2016/SVG/main" r:embed="rId7"/>
                </a:ext>
              </a:extLst>
            </a:blip>
            <a:stretch>
              <a:fillRect l="0" t="-18" r="0" b="-18"/>
            </a:stretch>
          </a:blipFill>
        </p:spPr>
        <p:txBody>
          <a:bodyPr/>
          <a:p/>
        </p:txBody>
      </p:sp>
      <p:grpSp>
        <p:nvGrpSpPr>
          <p:cNvPr name="Group 9" id="9"/>
          <p:cNvGrpSpPr/>
          <p:nvPr/>
        </p:nvGrpSpPr>
        <p:grpSpPr>
          <a:xfrm rot="0">
            <a:off x="8451056" y="5057775"/>
            <a:ext cx="357188" cy="400050"/>
            <a:chOff x="0" y="0"/>
            <a:chExt cx="476250" cy="533400"/>
          </a:xfrm>
        </p:grpSpPr>
        <p:sp>
          <p:nvSpPr>
            <p:cNvPr name="Freeform 10" id="10" descr="image.png"/>
            <p:cNvSpPr/>
            <p:nvPr/>
          </p:nvSpPr>
          <p:spPr>
            <a:xfrm flipH="false" flipV="false" rot="0">
              <a:off x="0" y="0"/>
              <a:ext cx="476250" cy="533400"/>
            </a:xfrm>
            <a:custGeom>
              <a:avLst/>
              <a:gdLst/>
              <a:ahLst/>
              <a:cxnLst/>
              <a:rect r="r" b="b" t="t" l="l"/>
              <a:pathLst>
                <a:path h="533400" w="476250">
                  <a:moveTo>
                    <a:pt x="0" y="0"/>
                  </a:moveTo>
                  <a:lnTo>
                    <a:pt x="476250" y="0"/>
                  </a:lnTo>
                  <a:lnTo>
                    <a:pt x="476250" y="533400"/>
                  </a:lnTo>
                  <a:lnTo>
                    <a:pt x="0" y="533400"/>
                  </a:lnTo>
                  <a:lnTo>
                    <a:pt x="0" y="0"/>
                  </a:lnTo>
                  <a:close/>
                </a:path>
              </a:pathLst>
            </a:custGeom>
            <a:blipFill>
              <a:blip r:embed="rId8"/>
              <a:stretch>
                <a:fillRect l="-2000" t="0" r="-2000" b="0"/>
              </a:stretch>
            </a:blipFill>
          </p:spPr>
          <p:txBody>
            <a:bodyPr/>
            <a:p/>
          </p:txBody>
        </p:sp>
      </p:grpSp>
      <p:grpSp>
        <p:nvGrpSpPr>
          <p:cNvPr name="Group 11" id="11"/>
          <p:cNvGrpSpPr/>
          <p:nvPr/>
        </p:nvGrpSpPr>
        <p:grpSpPr>
          <a:xfrm rot="0">
            <a:off x="8451056" y="8043862"/>
            <a:ext cx="357188" cy="400050"/>
            <a:chOff x="0" y="0"/>
            <a:chExt cx="476250" cy="533400"/>
          </a:xfrm>
        </p:grpSpPr>
        <p:sp>
          <p:nvSpPr>
            <p:cNvPr name="Freeform 12" id="12" descr="image.png"/>
            <p:cNvSpPr/>
            <p:nvPr/>
          </p:nvSpPr>
          <p:spPr>
            <a:xfrm flipH="false" flipV="false" rot="0">
              <a:off x="0" y="0"/>
              <a:ext cx="476250" cy="533400"/>
            </a:xfrm>
            <a:custGeom>
              <a:avLst/>
              <a:gdLst/>
              <a:ahLst/>
              <a:cxnLst/>
              <a:rect r="r" b="b" t="t" l="l"/>
              <a:pathLst>
                <a:path h="533400" w="476250">
                  <a:moveTo>
                    <a:pt x="0" y="0"/>
                  </a:moveTo>
                  <a:lnTo>
                    <a:pt x="476250" y="0"/>
                  </a:lnTo>
                  <a:lnTo>
                    <a:pt x="476250" y="533400"/>
                  </a:lnTo>
                  <a:lnTo>
                    <a:pt x="0" y="533400"/>
                  </a:lnTo>
                  <a:lnTo>
                    <a:pt x="0" y="0"/>
                  </a:lnTo>
                  <a:close/>
                </a:path>
              </a:pathLst>
            </a:custGeom>
            <a:blipFill>
              <a:blip r:embed="rId8"/>
              <a:stretch>
                <a:fillRect l="-2000" t="0" r="-2000" b="0"/>
              </a:stretch>
            </a:blipFill>
          </p:spPr>
          <p:txBody>
            <a:bodyPr/>
            <a:p/>
          </p:txBody>
        </p:sp>
      </p:grpSp>
      <p:grpSp>
        <p:nvGrpSpPr>
          <p:cNvPr name="Group 13" id="13"/>
          <p:cNvGrpSpPr/>
          <p:nvPr/>
        </p:nvGrpSpPr>
        <p:grpSpPr>
          <a:xfrm rot="0">
            <a:off x="12794456" y="5057775"/>
            <a:ext cx="357188" cy="400050"/>
            <a:chOff x="0" y="0"/>
            <a:chExt cx="476250" cy="533400"/>
          </a:xfrm>
        </p:grpSpPr>
        <p:sp>
          <p:nvSpPr>
            <p:cNvPr name="Freeform 14" id="14" descr="image.png"/>
            <p:cNvSpPr/>
            <p:nvPr/>
          </p:nvSpPr>
          <p:spPr>
            <a:xfrm flipH="false" flipV="false" rot="0">
              <a:off x="0" y="0"/>
              <a:ext cx="476250" cy="533400"/>
            </a:xfrm>
            <a:custGeom>
              <a:avLst/>
              <a:gdLst/>
              <a:ahLst/>
              <a:cxnLst/>
              <a:rect r="r" b="b" t="t" l="l"/>
              <a:pathLst>
                <a:path h="533400" w="476250">
                  <a:moveTo>
                    <a:pt x="0" y="0"/>
                  </a:moveTo>
                  <a:lnTo>
                    <a:pt x="476250" y="0"/>
                  </a:lnTo>
                  <a:lnTo>
                    <a:pt x="476250" y="533400"/>
                  </a:lnTo>
                  <a:lnTo>
                    <a:pt x="0" y="533400"/>
                  </a:lnTo>
                  <a:lnTo>
                    <a:pt x="0" y="0"/>
                  </a:lnTo>
                  <a:close/>
                </a:path>
              </a:pathLst>
            </a:custGeom>
            <a:blipFill>
              <a:blip r:embed="rId8"/>
              <a:stretch>
                <a:fillRect l="-2000" t="0" r="-2000" b="0"/>
              </a:stretch>
            </a:blipFill>
          </p:spPr>
          <p:txBody>
            <a:bodyPr/>
            <a:p/>
          </p:txBody>
        </p:sp>
      </p:grpSp>
      <p:grpSp>
        <p:nvGrpSpPr>
          <p:cNvPr name="Group 15" id="15"/>
          <p:cNvGrpSpPr/>
          <p:nvPr/>
        </p:nvGrpSpPr>
        <p:grpSpPr>
          <a:xfrm rot="0">
            <a:off x="12794456" y="8043862"/>
            <a:ext cx="357188" cy="400050"/>
            <a:chOff x="0" y="0"/>
            <a:chExt cx="476250" cy="533400"/>
          </a:xfrm>
        </p:grpSpPr>
        <p:sp>
          <p:nvSpPr>
            <p:cNvPr name="Freeform 16" id="16" descr="image.png"/>
            <p:cNvSpPr/>
            <p:nvPr/>
          </p:nvSpPr>
          <p:spPr>
            <a:xfrm flipH="false" flipV="false" rot="0">
              <a:off x="0" y="0"/>
              <a:ext cx="476250" cy="533400"/>
            </a:xfrm>
            <a:custGeom>
              <a:avLst/>
              <a:gdLst/>
              <a:ahLst/>
              <a:cxnLst/>
              <a:rect r="r" b="b" t="t" l="l"/>
              <a:pathLst>
                <a:path h="533400" w="476250">
                  <a:moveTo>
                    <a:pt x="0" y="0"/>
                  </a:moveTo>
                  <a:lnTo>
                    <a:pt x="476250" y="0"/>
                  </a:lnTo>
                  <a:lnTo>
                    <a:pt x="476250" y="533400"/>
                  </a:lnTo>
                  <a:lnTo>
                    <a:pt x="0" y="533400"/>
                  </a:lnTo>
                  <a:lnTo>
                    <a:pt x="0" y="0"/>
                  </a:lnTo>
                  <a:close/>
                </a:path>
              </a:pathLst>
            </a:custGeom>
            <a:blipFill>
              <a:blip r:embed="rId8"/>
              <a:stretch>
                <a:fillRect l="-2000" t="0" r="-2000" b="0"/>
              </a:stretch>
            </a:blipFill>
          </p:spPr>
          <p:txBody>
            <a:bodyPr/>
            <a:p/>
          </p:txBody>
        </p:sp>
      </p:grpSp>
      <p:grpSp>
        <p:nvGrpSpPr>
          <p:cNvPr name="Group 17" id="17"/>
          <p:cNvGrpSpPr/>
          <p:nvPr/>
        </p:nvGrpSpPr>
        <p:grpSpPr>
          <a:xfrm rot="0">
            <a:off x="1014412" y="3979069"/>
            <a:ext cx="3429000" cy="2428875"/>
            <a:chOff x="0" y="0"/>
            <a:chExt cx="4572000" cy="3238500"/>
          </a:xfrm>
        </p:grpSpPr>
        <p:sp>
          <p:nvSpPr>
            <p:cNvPr name="Freeform 18" id="18" descr="image.png"/>
            <p:cNvSpPr/>
            <p:nvPr/>
          </p:nvSpPr>
          <p:spPr>
            <a:xfrm flipH="false" flipV="false" rot="0">
              <a:off x="0" y="0"/>
              <a:ext cx="4572000" cy="3238500"/>
            </a:xfrm>
            <a:custGeom>
              <a:avLst/>
              <a:gdLst/>
              <a:ahLst/>
              <a:cxnLst/>
              <a:rect r="r" b="b" t="t" l="l"/>
              <a:pathLst>
                <a:path h="3238500" w="4572000">
                  <a:moveTo>
                    <a:pt x="0" y="0"/>
                  </a:moveTo>
                  <a:lnTo>
                    <a:pt x="4572000" y="0"/>
                  </a:lnTo>
                  <a:lnTo>
                    <a:pt x="4572000" y="3238500"/>
                  </a:lnTo>
                  <a:lnTo>
                    <a:pt x="0" y="3238500"/>
                  </a:lnTo>
                  <a:lnTo>
                    <a:pt x="0" y="0"/>
                  </a:lnTo>
                  <a:close/>
                </a:path>
              </a:pathLst>
            </a:custGeom>
            <a:blipFill>
              <a:blip r:embed="rId9"/>
              <a:stretch>
                <a:fillRect l="0" t="-294" r="0" b="-294"/>
              </a:stretch>
            </a:blipFill>
          </p:spPr>
          <p:txBody>
            <a:bodyPr/>
            <a:p/>
          </p:txBody>
        </p:sp>
      </p:grpSp>
      <p:grpSp>
        <p:nvGrpSpPr>
          <p:cNvPr name="Group 19" id="19"/>
          <p:cNvGrpSpPr/>
          <p:nvPr/>
        </p:nvGrpSpPr>
        <p:grpSpPr>
          <a:xfrm rot="0">
            <a:off x="1014412" y="7093744"/>
            <a:ext cx="3429000" cy="2428875"/>
            <a:chOff x="0" y="0"/>
            <a:chExt cx="4572000" cy="3238500"/>
          </a:xfrm>
        </p:grpSpPr>
        <p:sp>
          <p:nvSpPr>
            <p:cNvPr name="Freeform 20" id="20" descr="image.png"/>
            <p:cNvSpPr/>
            <p:nvPr/>
          </p:nvSpPr>
          <p:spPr>
            <a:xfrm flipH="false" flipV="false" rot="0">
              <a:off x="0" y="0"/>
              <a:ext cx="4572000" cy="3238500"/>
            </a:xfrm>
            <a:custGeom>
              <a:avLst/>
              <a:gdLst/>
              <a:ahLst/>
              <a:cxnLst/>
              <a:rect r="r" b="b" t="t" l="l"/>
              <a:pathLst>
                <a:path h="3238500" w="4572000">
                  <a:moveTo>
                    <a:pt x="0" y="0"/>
                  </a:moveTo>
                  <a:lnTo>
                    <a:pt x="4572000" y="0"/>
                  </a:lnTo>
                  <a:lnTo>
                    <a:pt x="4572000" y="3238500"/>
                  </a:lnTo>
                  <a:lnTo>
                    <a:pt x="0" y="3238500"/>
                  </a:lnTo>
                  <a:lnTo>
                    <a:pt x="0" y="0"/>
                  </a:lnTo>
                  <a:close/>
                </a:path>
              </a:pathLst>
            </a:custGeom>
            <a:blipFill>
              <a:blip r:embed="rId9"/>
              <a:stretch>
                <a:fillRect l="0" t="-294" r="0" b="-294"/>
              </a:stretch>
            </a:blipFill>
          </p:spPr>
          <p:txBody>
            <a:bodyPr/>
            <a:p/>
          </p:txBody>
        </p:sp>
      </p:grpSp>
      <p:grpSp>
        <p:nvGrpSpPr>
          <p:cNvPr name="Group 21" id="21"/>
          <p:cNvGrpSpPr/>
          <p:nvPr/>
        </p:nvGrpSpPr>
        <p:grpSpPr>
          <a:xfrm rot="0">
            <a:off x="1014412" y="3979069"/>
            <a:ext cx="3429000" cy="2428875"/>
            <a:chOff x="0" y="0"/>
            <a:chExt cx="4572000" cy="3238500"/>
          </a:xfrm>
        </p:grpSpPr>
        <p:sp>
          <p:nvSpPr>
            <p:cNvPr name="Freeform 22" id="22" descr="image.png"/>
            <p:cNvSpPr/>
            <p:nvPr/>
          </p:nvSpPr>
          <p:spPr>
            <a:xfrm flipH="false" flipV="false" rot="0">
              <a:off x="0" y="0"/>
              <a:ext cx="4572000" cy="3238500"/>
            </a:xfrm>
            <a:custGeom>
              <a:avLst/>
              <a:gdLst/>
              <a:ahLst/>
              <a:cxnLst/>
              <a:rect r="r" b="b" t="t" l="l"/>
              <a:pathLst>
                <a:path h="3238500" w="4572000">
                  <a:moveTo>
                    <a:pt x="0" y="0"/>
                  </a:moveTo>
                  <a:lnTo>
                    <a:pt x="4572000" y="0"/>
                  </a:lnTo>
                  <a:lnTo>
                    <a:pt x="4572000" y="3238500"/>
                  </a:lnTo>
                  <a:lnTo>
                    <a:pt x="0" y="3238500"/>
                  </a:lnTo>
                  <a:lnTo>
                    <a:pt x="0" y="0"/>
                  </a:lnTo>
                  <a:close/>
                </a:path>
              </a:pathLst>
            </a:custGeom>
            <a:blipFill>
              <a:blip r:embed="rId10"/>
              <a:stretch>
                <a:fillRect l="0" t="-294" r="0" b="-294"/>
              </a:stretch>
            </a:blipFill>
          </p:spPr>
          <p:txBody>
            <a:bodyPr/>
            <a:p/>
          </p:txBody>
        </p:sp>
      </p:grpSp>
      <p:grpSp>
        <p:nvGrpSpPr>
          <p:cNvPr name="Group 23" id="23"/>
          <p:cNvGrpSpPr/>
          <p:nvPr/>
        </p:nvGrpSpPr>
        <p:grpSpPr>
          <a:xfrm rot="0">
            <a:off x="1014412" y="7093744"/>
            <a:ext cx="3429000" cy="2428875"/>
            <a:chOff x="0" y="0"/>
            <a:chExt cx="4572000" cy="3238500"/>
          </a:xfrm>
        </p:grpSpPr>
        <p:sp>
          <p:nvSpPr>
            <p:cNvPr name="Freeform 24" id="24" descr="image.png"/>
            <p:cNvSpPr/>
            <p:nvPr/>
          </p:nvSpPr>
          <p:spPr>
            <a:xfrm flipH="false" flipV="false" rot="0">
              <a:off x="0" y="0"/>
              <a:ext cx="4572000" cy="3238500"/>
            </a:xfrm>
            <a:custGeom>
              <a:avLst/>
              <a:gdLst/>
              <a:ahLst/>
              <a:cxnLst/>
              <a:rect r="r" b="b" t="t" l="l"/>
              <a:pathLst>
                <a:path h="3238500" w="4572000">
                  <a:moveTo>
                    <a:pt x="0" y="0"/>
                  </a:moveTo>
                  <a:lnTo>
                    <a:pt x="4572000" y="0"/>
                  </a:lnTo>
                  <a:lnTo>
                    <a:pt x="4572000" y="3238500"/>
                  </a:lnTo>
                  <a:lnTo>
                    <a:pt x="0" y="3238500"/>
                  </a:lnTo>
                  <a:lnTo>
                    <a:pt x="0" y="0"/>
                  </a:lnTo>
                  <a:close/>
                </a:path>
              </a:pathLst>
            </a:custGeom>
            <a:blipFill>
              <a:blip r:embed="rId11"/>
              <a:stretch>
                <a:fillRect l="0" t="-294" r="0" b="-294"/>
              </a:stretch>
            </a:blipFill>
          </p:spPr>
          <p:txBody>
            <a:bodyPr/>
            <a:p/>
          </p:txBody>
        </p:sp>
      </p:grpSp>
      <p:sp>
        <p:nvSpPr>
          <p:cNvPr name="TextBox 25" id="25"/>
          <p:cNvSpPr txBox="true"/>
          <p:nvPr/>
        </p:nvSpPr>
        <p:spPr>
          <a:xfrm rot="0">
            <a:off x="800100" y="514350"/>
            <a:ext cx="17487900" cy="242888"/>
          </a:xfrm>
          <a:prstGeom prst="rect">
            <a:avLst/>
          </a:prstGeom>
        </p:spPr>
        <p:txBody>
          <a:bodyPr anchor="t" rtlCol="false" tIns="0" lIns="0" bIns="0" rIns="0">
            <a:spAutoFit/>
          </a:bodyPr>
          <a:lstStyle/>
          <a:p>
            <a:pPr algn="l">
              <a:lnSpc>
                <a:spcPts val="1889"/>
              </a:lnSpc>
            </a:pPr>
            <a:r>
              <a:rPr lang="en-US" sz="1575" b="true">
                <a:solidFill>
                  <a:srgbClr val="1D638C"/>
                </a:solidFill>
                <a:latin typeface="Inter Bold"/>
                <a:ea typeface="Inter Bold"/>
                <a:cs typeface="Inter Bold"/>
                <a:sym typeface="Inter Bold"/>
              </a:rPr>
              <a:t>REVIEW 1 · PHẠM VI · 01 · BÀI TOÁN</a:t>
            </a:r>
          </a:p>
        </p:txBody>
      </p:sp>
      <p:sp>
        <p:nvSpPr>
          <p:cNvPr name="TextBox 26" id="26"/>
          <p:cNvSpPr txBox="true"/>
          <p:nvPr/>
        </p:nvSpPr>
        <p:spPr>
          <a:xfrm rot="0">
            <a:off x="800100" y="871538"/>
            <a:ext cx="17487900" cy="728662"/>
          </a:xfrm>
          <a:prstGeom prst="rect">
            <a:avLst/>
          </a:prstGeom>
        </p:spPr>
        <p:txBody>
          <a:bodyPr anchor="t" rtlCol="false" tIns="0" lIns="0" bIns="0" rIns="0">
            <a:spAutoFit/>
          </a:bodyPr>
          <a:lstStyle/>
          <a:p>
            <a:pPr algn="l">
              <a:lnSpc>
                <a:spcPts val="5400"/>
              </a:lnSpc>
            </a:pPr>
            <a:r>
              <a:rPr lang="en-US" sz="4500" b="true">
                <a:solidFill>
                  <a:srgbClr val="0F2B46"/>
                </a:solidFill>
                <a:latin typeface="Lora Bold"/>
                <a:ea typeface="Lora Bold"/>
                <a:cs typeface="Lora Bold"/>
                <a:sym typeface="Lora Bold"/>
              </a:rPr>
              <a:t>Phát biểu bài toán: input → mô hình → output</a:t>
            </a:r>
          </a:p>
        </p:txBody>
      </p:sp>
      <p:sp>
        <p:nvSpPr>
          <p:cNvPr name="TextBox 27" id="27"/>
          <p:cNvSpPr txBox="true"/>
          <p:nvPr/>
        </p:nvSpPr>
        <p:spPr>
          <a:xfrm rot="0">
            <a:off x="1143000" y="2105025"/>
            <a:ext cx="16144875" cy="638175"/>
          </a:xfrm>
          <a:prstGeom prst="rect">
            <a:avLst/>
          </a:prstGeom>
        </p:spPr>
        <p:txBody>
          <a:bodyPr anchor="t" rtlCol="false" tIns="0" lIns="0" bIns="0" rIns="0">
            <a:spAutoFit/>
          </a:bodyPr>
          <a:lstStyle/>
          <a:p>
            <a:pPr algn="l">
              <a:lnSpc>
                <a:spcPts val="2430"/>
              </a:lnSpc>
            </a:pPr>
            <a:r>
              <a:rPr lang="en-US" sz="2025" b="true">
                <a:solidFill>
                  <a:srgbClr val="1E293B"/>
                </a:solidFill>
                <a:latin typeface="Inter Bold"/>
                <a:ea typeface="Inter Bold"/>
                <a:cs typeface="Inter Bold"/>
                <a:sym typeface="Inter Bold"/>
              </a:rPr>
              <a:t>Bài toán</a:t>
            </a:r>
            <a:r>
              <a:rPr lang="en-US" sz="2025">
                <a:solidFill>
                  <a:srgbClr val="1E293B"/>
                </a:solidFill>
                <a:latin typeface="Inter"/>
                <a:ea typeface="Inter"/>
                <a:cs typeface="Inter"/>
                <a:sym typeface="Inter"/>
              </a:rPr>
              <a:t>  Cho một ảnh và một câu hỏi tiếng Việt về ảnh, sinh câu trả lời tiếng Việt ngắn, đúng nội dung ảnh và đúng chính tả có dấu — bằng cách thích nghi một VLM mở (Qwen2.5-VL-3B) chỉ với PEFT (QLoRA), trên một GPU Colab.</a:t>
            </a:r>
          </a:p>
        </p:txBody>
      </p:sp>
      <p:sp>
        <p:nvSpPr>
          <p:cNvPr name="TextBox 28" id="28"/>
          <p:cNvSpPr txBox="true"/>
          <p:nvPr/>
        </p:nvSpPr>
        <p:spPr>
          <a:xfrm rot="0">
            <a:off x="800100" y="3314700"/>
            <a:ext cx="9286875" cy="271462"/>
          </a:xfrm>
          <a:prstGeom prst="rect">
            <a:avLst/>
          </a:prstGeom>
        </p:spPr>
        <p:txBody>
          <a:bodyPr anchor="t" rtlCol="false" tIns="0" lIns="0" bIns="0" rIns="0">
            <a:spAutoFit/>
          </a:bodyPr>
          <a:lstStyle/>
          <a:p>
            <a:pPr algn="l">
              <a:lnSpc>
                <a:spcPts val="2025"/>
              </a:lnSpc>
            </a:pPr>
            <a:r>
              <a:rPr lang="en-US" sz="1685" b="true">
                <a:solidFill>
                  <a:srgbClr val="1D638C"/>
                </a:solidFill>
                <a:latin typeface="Inter Bold"/>
                <a:ea typeface="Inter Bold"/>
                <a:cs typeface="Inter Bold"/>
                <a:sym typeface="Inter Bold"/>
              </a:rPr>
              <a:t>INPUT · ảnh + câu hỏi tiếng Việt</a:t>
            </a:r>
          </a:p>
        </p:txBody>
      </p:sp>
      <p:sp>
        <p:nvSpPr>
          <p:cNvPr name="TextBox 29" id="29"/>
          <p:cNvSpPr txBox="true"/>
          <p:nvPr/>
        </p:nvSpPr>
        <p:spPr>
          <a:xfrm rot="0">
            <a:off x="8586788" y="3314700"/>
            <a:ext cx="4429125" cy="271462"/>
          </a:xfrm>
          <a:prstGeom prst="rect">
            <a:avLst/>
          </a:prstGeom>
        </p:spPr>
        <p:txBody>
          <a:bodyPr anchor="t" rtlCol="false" tIns="0" lIns="0" bIns="0" rIns="0">
            <a:spAutoFit/>
          </a:bodyPr>
          <a:lstStyle/>
          <a:p>
            <a:pPr algn="ctr">
              <a:lnSpc>
                <a:spcPts val="2025"/>
              </a:lnSpc>
            </a:pPr>
            <a:r>
              <a:rPr lang="en-US" sz="1685" b="true">
                <a:solidFill>
                  <a:srgbClr val="1D638C"/>
                </a:solidFill>
                <a:latin typeface="Inter Bold"/>
                <a:ea typeface="Inter Bold"/>
                <a:cs typeface="Inter Bold"/>
                <a:sym typeface="Inter Bold"/>
              </a:rPr>
              <a:t>MÔ HÌNH</a:t>
            </a:r>
          </a:p>
        </p:txBody>
      </p:sp>
      <p:sp>
        <p:nvSpPr>
          <p:cNvPr name="TextBox 30" id="30"/>
          <p:cNvSpPr txBox="true"/>
          <p:nvPr/>
        </p:nvSpPr>
        <p:spPr>
          <a:xfrm rot="0">
            <a:off x="13373100" y="3314700"/>
            <a:ext cx="4914900" cy="271462"/>
          </a:xfrm>
          <a:prstGeom prst="rect">
            <a:avLst/>
          </a:prstGeom>
        </p:spPr>
        <p:txBody>
          <a:bodyPr anchor="t" rtlCol="false" tIns="0" lIns="0" bIns="0" rIns="0">
            <a:spAutoFit/>
          </a:bodyPr>
          <a:lstStyle/>
          <a:p>
            <a:pPr algn="l">
              <a:lnSpc>
                <a:spcPts val="2025"/>
              </a:lnSpc>
            </a:pPr>
            <a:r>
              <a:rPr lang="en-US" sz="1685" b="true">
                <a:solidFill>
                  <a:srgbClr val="1D638C"/>
                </a:solidFill>
                <a:latin typeface="Inter Bold"/>
                <a:ea typeface="Inter Bold"/>
                <a:cs typeface="Inter Bold"/>
                <a:sym typeface="Inter Bold"/>
              </a:rPr>
              <a:t>OUTPUT · câu trả lời ngắn</a:t>
            </a:r>
          </a:p>
        </p:txBody>
      </p:sp>
      <p:sp>
        <p:nvSpPr>
          <p:cNvPr name="TextBox 31" id="31"/>
          <p:cNvSpPr txBox="true"/>
          <p:nvPr/>
        </p:nvSpPr>
        <p:spPr>
          <a:xfrm rot="0">
            <a:off x="9179271" y="5726906"/>
            <a:ext cx="3244158" cy="409575"/>
          </a:xfrm>
          <a:prstGeom prst="rect">
            <a:avLst/>
          </a:prstGeom>
        </p:spPr>
        <p:txBody>
          <a:bodyPr anchor="t" rtlCol="false" tIns="0" lIns="0" bIns="0" rIns="0">
            <a:spAutoFit/>
          </a:bodyPr>
          <a:lstStyle/>
          <a:p>
            <a:pPr algn="ctr">
              <a:lnSpc>
                <a:spcPts val="2970"/>
              </a:lnSpc>
            </a:pPr>
            <a:r>
              <a:rPr lang="en-US" sz="2475" b="true">
                <a:solidFill>
                  <a:srgbClr val="0F2B46"/>
                </a:solidFill>
                <a:latin typeface="Inter Bold"/>
                <a:ea typeface="Inter Bold"/>
                <a:cs typeface="Inter Bold"/>
                <a:sym typeface="Inter Bold"/>
              </a:rPr>
              <a:t>Qwen2.5-VL-3B</a:t>
            </a:r>
          </a:p>
        </p:txBody>
      </p:sp>
      <p:sp>
        <p:nvSpPr>
          <p:cNvPr name="TextBox 32" id="32"/>
          <p:cNvSpPr txBox="true"/>
          <p:nvPr/>
        </p:nvSpPr>
        <p:spPr>
          <a:xfrm rot="0">
            <a:off x="10001250" y="6250781"/>
            <a:ext cx="1600200" cy="271462"/>
          </a:xfrm>
          <a:prstGeom prst="rect">
            <a:avLst/>
          </a:prstGeom>
        </p:spPr>
        <p:txBody>
          <a:bodyPr anchor="t" rtlCol="false" tIns="0" lIns="0" bIns="0" rIns="0">
            <a:spAutoFit/>
          </a:bodyPr>
          <a:lstStyle/>
          <a:p>
            <a:pPr algn="ctr">
              <a:lnSpc>
                <a:spcPts val="2025"/>
              </a:lnSpc>
            </a:pPr>
            <a:r>
              <a:rPr lang="en-US" sz="1685">
                <a:solidFill>
                  <a:srgbClr val="334155"/>
                </a:solidFill>
                <a:latin typeface="Inter"/>
                <a:ea typeface="Inter"/>
                <a:cs typeface="Inter"/>
                <a:sym typeface="Inter"/>
              </a:rPr>
              <a:t>3 tỉ tham số</a:t>
            </a:r>
          </a:p>
        </p:txBody>
      </p:sp>
      <p:sp>
        <p:nvSpPr>
          <p:cNvPr name="TextBox 33" id="33"/>
          <p:cNvSpPr txBox="true"/>
          <p:nvPr/>
        </p:nvSpPr>
        <p:spPr>
          <a:xfrm rot="0">
            <a:off x="8926116" y="6579394"/>
            <a:ext cx="3750469" cy="271462"/>
          </a:xfrm>
          <a:prstGeom prst="rect">
            <a:avLst/>
          </a:prstGeom>
        </p:spPr>
        <p:txBody>
          <a:bodyPr anchor="t" rtlCol="false" tIns="0" lIns="0" bIns="0" rIns="0">
            <a:spAutoFit/>
          </a:bodyPr>
          <a:lstStyle/>
          <a:p>
            <a:pPr algn="ctr">
              <a:lnSpc>
                <a:spcPts val="2025"/>
              </a:lnSpc>
            </a:pPr>
            <a:r>
              <a:rPr lang="en-US" sz="1685">
                <a:solidFill>
                  <a:srgbClr val="334155"/>
                </a:solidFill>
                <a:latin typeface="Inter"/>
                <a:ea typeface="Inter"/>
                <a:cs typeface="Inter"/>
                <a:sym typeface="Inter"/>
              </a:rPr>
              <a:t>lượng tử hoá 4-bit, đóng băng</a:t>
            </a:r>
          </a:p>
        </p:txBody>
      </p:sp>
      <p:sp>
        <p:nvSpPr>
          <p:cNvPr name="TextBox 34" id="34"/>
          <p:cNvSpPr txBox="true"/>
          <p:nvPr/>
        </p:nvSpPr>
        <p:spPr>
          <a:xfrm rot="0">
            <a:off x="9488681" y="7069931"/>
            <a:ext cx="2625328" cy="338137"/>
          </a:xfrm>
          <a:prstGeom prst="rect">
            <a:avLst/>
          </a:prstGeom>
        </p:spPr>
        <p:txBody>
          <a:bodyPr anchor="t" rtlCol="false" tIns="0" lIns="0" bIns="0" rIns="0">
            <a:spAutoFit/>
          </a:bodyPr>
          <a:lstStyle/>
          <a:p>
            <a:pPr algn="ctr">
              <a:lnSpc>
                <a:spcPts val="2430"/>
              </a:lnSpc>
            </a:pPr>
            <a:r>
              <a:rPr lang="en-US" sz="2025" b="true">
                <a:solidFill>
                  <a:srgbClr val="B45309"/>
                </a:solidFill>
                <a:latin typeface="Inter Bold"/>
                <a:ea typeface="Inter Bold"/>
                <a:cs typeface="Inter Bold"/>
                <a:sym typeface="Inter Bold"/>
              </a:rPr>
              <a:t>+ adapter QLoRA</a:t>
            </a:r>
          </a:p>
        </p:txBody>
      </p:sp>
      <p:sp>
        <p:nvSpPr>
          <p:cNvPr name="TextBox 35" id="35"/>
          <p:cNvSpPr txBox="true"/>
          <p:nvPr/>
        </p:nvSpPr>
        <p:spPr>
          <a:xfrm rot="0">
            <a:off x="9256509" y="7465219"/>
            <a:ext cx="3089672" cy="271462"/>
          </a:xfrm>
          <a:prstGeom prst="rect">
            <a:avLst/>
          </a:prstGeom>
        </p:spPr>
        <p:txBody>
          <a:bodyPr anchor="t" rtlCol="false" tIns="0" lIns="0" bIns="0" rIns="0">
            <a:spAutoFit/>
          </a:bodyPr>
          <a:lstStyle/>
          <a:p>
            <a:pPr algn="ctr">
              <a:lnSpc>
                <a:spcPts val="2025"/>
              </a:lnSpc>
            </a:pPr>
            <a:r>
              <a:rPr lang="en-US" sz="1685">
                <a:solidFill>
                  <a:srgbClr val="334155"/>
                </a:solidFill>
                <a:latin typeface="Inter"/>
                <a:ea typeface="Inter"/>
                <a:cs typeface="Inter"/>
                <a:sym typeface="Inter"/>
              </a:rPr>
              <a:t>chỉ train 0,196% tham số</a:t>
            </a:r>
          </a:p>
        </p:txBody>
      </p:sp>
      <p:sp>
        <p:nvSpPr>
          <p:cNvPr name="TextBox 36" id="36"/>
          <p:cNvSpPr txBox="true"/>
          <p:nvPr/>
        </p:nvSpPr>
        <p:spPr>
          <a:xfrm rot="0">
            <a:off x="13701712" y="4464844"/>
            <a:ext cx="4321969" cy="242888"/>
          </a:xfrm>
          <a:prstGeom prst="rect">
            <a:avLst/>
          </a:prstGeom>
        </p:spPr>
        <p:txBody>
          <a:bodyPr anchor="t" rtlCol="false" tIns="0" lIns="0" bIns="0" rIns="0">
            <a:spAutoFit/>
          </a:bodyPr>
          <a:lstStyle/>
          <a:p>
            <a:pPr algn="l">
              <a:lnSpc>
                <a:spcPts val="1889"/>
              </a:lnSpc>
            </a:pPr>
            <a:r>
              <a:rPr lang="en-US" sz="1575">
                <a:solidFill>
                  <a:srgbClr val="64748B"/>
                </a:solidFill>
                <a:latin typeface="Inter"/>
                <a:ea typeface="Inter"/>
                <a:cs typeface="Inter"/>
                <a:sym typeface="Inter"/>
              </a:rPr>
              <a:t>Đáp án chuẩn</a:t>
            </a:r>
          </a:p>
        </p:txBody>
      </p:sp>
      <p:sp>
        <p:nvSpPr>
          <p:cNvPr name="TextBox 37" id="37"/>
          <p:cNvSpPr txBox="true"/>
          <p:nvPr/>
        </p:nvSpPr>
        <p:spPr>
          <a:xfrm rot="0">
            <a:off x="13701712" y="4793456"/>
            <a:ext cx="4538062" cy="414338"/>
          </a:xfrm>
          <a:prstGeom prst="rect">
            <a:avLst/>
          </a:prstGeom>
        </p:spPr>
        <p:txBody>
          <a:bodyPr anchor="t" rtlCol="false" tIns="0" lIns="0" bIns="0" rIns="0">
            <a:spAutoFit/>
          </a:bodyPr>
          <a:lstStyle/>
          <a:p>
            <a:pPr algn="l">
              <a:lnSpc>
                <a:spcPts val="3240"/>
              </a:lnSpc>
            </a:pPr>
            <a:r>
              <a:rPr lang="en-US" sz="2700" b="true">
                <a:solidFill>
                  <a:srgbClr val="0F2B46"/>
                </a:solidFill>
                <a:latin typeface="Inter Bold"/>
                <a:ea typeface="Inter Bold"/>
                <a:cs typeface="Inter Bold"/>
                <a:sym typeface="Inter Bold"/>
              </a:rPr>
              <a:t>màu đỏ</a:t>
            </a:r>
          </a:p>
        </p:txBody>
      </p:sp>
      <p:sp>
        <p:nvSpPr>
          <p:cNvPr name="TextBox 38" id="38"/>
          <p:cNvSpPr txBox="true"/>
          <p:nvPr/>
        </p:nvSpPr>
        <p:spPr>
          <a:xfrm rot="0">
            <a:off x="13701712" y="5322094"/>
            <a:ext cx="4321969" cy="242888"/>
          </a:xfrm>
          <a:prstGeom prst="rect">
            <a:avLst/>
          </a:prstGeom>
        </p:spPr>
        <p:txBody>
          <a:bodyPr anchor="t" rtlCol="false" tIns="0" lIns="0" bIns="0" rIns="0">
            <a:spAutoFit/>
          </a:bodyPr>
          <a:lstStyle/>
          <a:p>
            <a:pPr algn="l">
              <a:lnSpc>
                <a:spcPts val="1889"/>
              </a:lnSpc>
            </a:pPr>
            <a:r>
              <a:rPr lang="en-US" sz="1575">
                <a:solidFill>
                  <a:srgbClr val="475569"/>
                </a:solidFill>
                <a:latin typeface="Inter"/>
                <a:ea typeface="Inter"/>
                <a:cs typeface="Inter"/>
                <a:sym typeface="Inter"/>
              </a:rPr>
              <a:t>99,83% đáp án ≤ 3 từ</a:t>
            </a:r>
          </a:p>
        </p:txBody>
      </p:sp>
      <p:sp>
        <p:nvSpPr>
          <p:cNvPr name="TextBox 39" id="39"/>
          <p:cNvSpPr txBox="true"/>
          <p:nvPr/>
        </p:nvSpPr>
        <p:spPr>
          <a:xfrm rot="0">
            <a:off x="13701712" y="5650706"/>
            <a:ext cx="4321969" cy="271462"/>
          </a:xfrm>
          <a:prstGeom prst="rect">
            <a:avLst/>
          </a:prstGeom>
        </p:spPr>
        <p:txBody>
          <a:bodyPr anchor="t" rtlCol="false" tIns="0" lIns="0" bIns="0" rIns="0">
            <a:spAutoFit/>
          </a:bodyPr>
          <a:lstStyle/>
          <a:p>
            <a:pPr algn="l">
              <a:lnSpc>
                <a:spcPts val="2025"/>
              </a:lnSpc>
            </a:pPr>
            <a:r>
              <a:rPr lang="en-US" sz="1685" b="true">
                <a:solidFill>
                  <a:srgbClr val="1D638C"/>
                </a:solidFill>
                <a:latin typeface="Inter Bold"/>
                <a:ea typeface="Inter Bold"/>
                <a:cs typeface="Inter Bold"/>
                <a:sym typeface="Inter Bold"/>
              </a:rPr>
              <a:t>→ chấm EM · VQA-Acc</a:t>
            </a:r>
          </a:p>
        </p:txBody>
      </p:sp>
      <p:sp>
        <p:nvSpPr>
          <p:cNvPr name="TextBox 40" id="40"/>
          <p:cNvSpPr txBox="true"/>
          <p:nvPr/>
        </p:nvSpPr>
        <p:spPr>
          <a:xfrm rot="0">
            <a:off x="13701712" y="7372350"/>
            <a:ext cx="4321969" cy="242888"/>
          </a:xfrm>
          <a:prstGeom prst="rect">
            <a:avLst/>
          </a:prstGeom>
        </p:spPr>
        <p:txBody>
          <a:bodyPr anchor="t" rtlCol="false" tIns="0" lIns="0" bIns="0" rIns="0">
            <a:spAutoFit/>
          </a:bodyPr>
          <a:lstStyle/>
          <a:p>
            <a:pPr algn="l">
              <a:lnSpc>
                <a:spcPts val="1889"/>
              </a:lnSpc>
            </a:pPr>
            <a:r>
              <a:rPr lang="en-US" sz="1575">
                <a:solidFill>
                  <a:srgbClr val="64748B"/>
                </a:solidFill>
                <a:latin typeface="Inter"/>
                <a:ea typeface="Inter"/>
                <a:cs typeface="Inter"/>
                <a:sym typeface="Inter"/>
              </a:rPr>
              <a:t>Đáp án chuẩn</a:t>
            </a:r>
          </a:p>
        </p:txBody>
      </p:sp>
      <p:sp>
        <p:nvSpPr>
          <p:cNvPr name="TextBox 41" id="41"/>
          <p:cNvSpPr txBox="true"/>
          <p:nvPr/>
        </p:nvSpPr>
        <p:spPr>
          <a:xfrm rot="0">
            <a:off x="13701712" y="7700962"/>
            <a:ext cx="3780472" cy="828675"/>
          </a:xfrm>
          <a:prstGeom prst="rect">
            <a:avLst/>
          </a:prstGeom>
        </p:spPr>
        <p:txBody>
          <a:bodyPr anchor="t" rtlCol="false" tIns="0" lIns="0" bIns="0" rIns="0">
            <a:spAutoFit/>
          </a:bodyPr>
          <a:lstStyle/>
          <a:p>
            <a:pPr algn="l">
              <a:lnSpc>
                <a:spcPts val="3240"/>
              </a:lnSpc>
            </a:pPr>
            <a:r>
              <a:rPr lang="en-US" sz="2700" b="true">
                <a:solidFill>
                  <a:srgbClr val="0F2B46"/>
                </a:solidFill>
                <a:latin typeface="Inter Bold"/>
                <a:ea typeface="Inter Bold"/>
                <a:cs typeface="Inter Bold"/>
                <a:sym typeface="Inter Bold"/>
              </a:rPr>
              <a:t>đại lý xổ số miền bắc</a:t>
            </a:r>
          </a:p>
        </p:txBody>
      </p:sp>
      <p:sp>
        <p:nvSpPr>
          <p:cNvPr name="TextBox 42" id="42"/>
          <p:cNvSpPr txBox="true"/>
          <p:nvPr/>
        </p:nvSpPr>
        <p:spPr>
          <a:xfrm rot="0">
            <a:off x="13701712" y="8643938"/>
            <a:ext cx="4321969" cy="242888"/>
          </a:xfrm>
          <a:prstGeom prst="rect">
            <a:avLst/>
          </a:prstGeom>
        </p:spPr>
        <p:txBody>
          <a:bodyPr anchor="t" rtlCol="false" tIns="0" lIns="0" bIns="0" rIns="0">
            <a:spAutoFit/>
          </a:bodyPr>
          <a:lstStyle/>
          <a:p>
            <a:pPr algn="l">
              <a:lnSpc>
                <a:spcPts val="1889"/>
              </a:lnSpc>
            </a:pPr>
            <a:r>
              <a:rPr lang="en-US" sz="1575">
                <a:solidFill>
                  <a:srgbClr val="475569"/>
                </a:solidFill>
                <a:latin typeface="Inter"/>
                <a:ea typeface="Inter"/>
                <a:cs typeface="Inter"/>
                <a:sym typeface="Inter"/>
              </a:rPr>
              <a:t>đáp án là chữ trong ảnh (TB 4,18 từ)</a:t>
            </a:r>
          </a:p>
        </p:txBody>
      </p:sp>
      <p:sp>
        <p:nvSpPr>
          <p:cNvPr name="TextBox 43" id="43"/>
          <p:cNvSpPr txBox="true"/>
          <p:nvPr/>
        </p:nvSpPr>
        <p:spPr>
          <a:xfrm rot="0">
            <a:off x="13701712" y="8972550"/>
            <a:ext cx="4321969" cy="271462"/>
          </a:xfrm>
          <a:prstGeom prst="rect">
            <a:avLst/>
          </a:prstGeom>
        </p:spPr>
        <p:txBody>
          <a:bodyPr anchor="t" rtlCol="false" tIns="0" lIns="0" bIns="0" rIns="0">
            <a:spAutoFit/>
          </a:bodyPr>
          <a:lstStyle/>
          <a:p>
            <a:pPr algn="l">
              <a:lnSpc>
                <a:spcPts val="2025"/>
              </a:lnSpc>
            </a:pPr>
            <a:r>
              <a:rPr lang="en-US" sz="1685" b="true">
                <a:solidFill>
                  <a:srgbClr val="1D638C"/>
                </a:solidFill>
                <a:latin typeface="Inter Bold"/>
                <a:ea typeface="Inter Bold"/>
                <a:cs typeface="Inter Bold"/>
                <a:sym typeface="Inter Bold"/>
              </a:rPr>
              <a:t>→ chấm ANLS · EM</a:t>
            </a:r>
          </a:p>
        </p:txBody>
      </p:sp>
      <p:sp>
        <p:nvSpPr>
          <p:cNvPr name="TextBox 44" id="44"/>
          <p:cNvSpPr txBox="true"/>
          <p:nvPr/>
        </p:nvSpPr>
        <p:spPr>
          <a:xfrm rot="0">
            <a:off x="4672012" y="4455319"/>
            <a:ext cx="3394177" cy="338137"/>
          </a:xfrm>
          <a:prstGeom prst="rect">
            <a:avLst/>
          </a:prstGeom>
        </p:spPr>
        <p:txBody>
          <a:bodyPr anchor="t" rtlCol="false" tIns="0" lIns="0" bIns="0" rIns="0">
            <a:spAutoFit/>
          </a:bodyPr>
          <a:lstStyle/>
          <a:p>
            <a:pPr algn="l">
              <a:lnSpc>
                <a:spcPts val="2430"/>
              </a:lnSpc>
            </a:pPr>
            <a:r>
              <a:rPr lang="en-US" sz="2025" b="true">
                <a:solidFill>
                  <a:srgbClr val="0F2B46"/>
                </a:solidFill>
                <a:latin typeface="Inter Bold"/>
                <a:ea typeface="Inter Bold"/>
                <a:cs typeface="Inter Bold"/>
                <a:sym typeface="Inter Bold"/>
              </a:rPr>
              <a:t>ViVQA</a:t>
            </a:r>
          </a:p>
        </p:txBody>
      </p:sp>
      <p:sp>
        <p:nvSpPr>
          <p:cNvPr name="TextBox 45" id="45"/>
          <p:cNvSpPr txBox="true"/>
          <p:nvPr/>
        </p:nvSpPr>
        <p:spPr>
          <a:xfrm rot="0">
            <a:off x="4672012" y="4850606"/>
            <a:ext cx="3232547" cy="242888"/>
          </a:xfrm>
          <a:prstGeom prst="rect">
            <a:avLst/>
          </a:prstGeom>
        </p:spPr>
        <p:txBody>
          <a:bodyPr anchor="t" rtlCol="false" tIns="0" lIns="0" bIns="0" rIns="0">
            <a:spAutoFit/>
          </a:bodyPr>
          <a:lstStyle/>
          <a:p>
            <a:pPr algn="l">
              <a:lnSpc>
                <a:spcPts val="1889"/>
              </a:lnSpc>
            </a:pPr>
            <a:r>
              <a:rPr lang="en-US" sz="1575">
                <a:solidFill>
                  <a:srgbClr val="64748B"/>
                </a:solidFill>
                <a:latin typeface="Inter"/>
                <a:ea typeface="Inter"/>
                <a:cs typeface="Inter"/>
                <a:sym typeface="Inter"/>
              </a:rPr>
              <a:t>ảnh đời thường (MS COCO)</a:t>
            </a:r>
          </a:p>
        </p:txBody>
      </p:sp>
      <p:sp>
        <p:nvSpPr>
          <p:cNvPr name="TextBox 46" id="46"/>
          <p:cNvSpPr txBox="true"/>
          <p:nvPr/>
        </p:nvSpPr>
        <p:spPr>
          <a:xfrm rot="0">
            <a:off x="4672012" y="5264944"/>
            <a:ext cx="3232547" cy="285750"/>
          </a:xfrm>
          <a:prstGeom prst="rect">
            <a:avLst/>
          </a:prstGeom>
        </p:spPr>
        <p:txBody>
          <a:bodyPr anchor="t" rtlCol="false" tIns="0" lIns="0" bIns="0" rIns="0">
            <a:spAutoFit/>
          </a:bodyPr>
          <a:lstStyle/>
          <a:p>
            <a:pPr algn="l">
              <a:lnSpc>
                <a:spcPts val="2160"/>
              </a:lnSpc>
            </a:pPr>
            <a:r>
              <a:rPr lang="en-US" sz="1800" b="true">
                <a:solidFill>
                  <a:srgbClr val="0F2B46"/>
                </a:solidFill>
                <a:latin typeface="Inter Bold"/>
                <a:ea typeface="Inter Bold"/>
                <a:cs typeface="Inter Bold"/>
                <a:sym typeface="Inter Bold"/>
              </a:rPr>
              <a:t>Câu hỏi:</a:t>
            </a:r>
          </a:p>
        </p:txBody>
      </p:sp>
      <p:sp>
        <p:nvSpPr>
          <p:cNvPr name="TextBox 47" id="47"/>
          <p:cNvSpPr txBox="true"/>
          <p:nvPr/>
        </p:nvSpPr>
        <p:spPr>
          <a:xfrm rot="0">
            <a:off x="4672012" y="5607844"/>
            <a:ext cx="3232547" cy="285750"/>
          </a:xfrm>
          <a:prstGeom prst="rect">
            <a:avLst/>
          </a:prstGeom>
        </p:spPr>
        <p:txBody>
          <a:bodyPr anchor="t" rtlCol="false" tIns="0" lIns="0" bIns="0" rIns="0">
            <a:spAutoFit/>
          </a:bodyPr>
          <a:lstStyle/>
          <a:p>
            <a:pPr algn="l">
              <a:lnSpc>
                <a:spcPts val="2160"/>
              </a:lnSpc>
            </a:pPr>
            <a:r>
              <a:rPr lang="en-US" sz="1800">
                <a:solidFill>
                  <a:srgbClr val="1E293B"/>
                </a:solidFill>
                <a:latin typeface="Inter"/>
                <a:ea typeface="Inter"/>
                <a:cs typeface="Inter"/>
                <a:sym typeface="Inter"/>
              </a:rPr>
              <a:t>màu của xe đạp là gì?</a:t>
            </a:r>
          </a:p>
        </p:txBody>
      </p:sp>
      <p:sp>
        <p:nvSpPr>
          <p:cNvPr name="TextBox 48" id="48"/>
          <p:cNvSpPr txBox="true"/>
          <p:nvPr/>
        </p:nvSpPr>
        <p:spPr>
          <a:xfrm rot="0">
            <a:off x="4672012" y="7427119"/>
            <a:ext cx="4388044" cy="338137"/>
          </a:xfrm>
          <a:prstGeom prst="rect">
            <a:avLst/>
          </a:prstGeom>
        </p:spPr>
        <p:txBody>
          <a:bodyPr anchor="t" rtlCol="false" tIns="0" lIns="0" bIns="0" rIns="0">
            <a:spAutoFit/>
          </a:bodyPr>
          <a:lstStyle/>
          <a:p>
            <a:pPr algn="l">
              <a:lnSpc>
                <a:spcPts val="2430"/>
              </a:lnSpc>
            </a:pPr>
            <a:r>
              <a:rPr lang="en-US" sz="2025" b="true">
                <a:solidFill>
                  <a:srgbClr val="0F2B46"/>
                </a:solidFill>
                <a:latin typeface="Inter Bold"/>
                <a:ea typeface="Inter Bold"/>
                <a:cs typeface="Inter Bold"/>
                <a:sym typeface="Inter Bold"/>
              </a:rPr>
              <a:t>ViTextVQA</a:t>
            </a:r>
          </a:p>
        </p:txBody>
      </p:sp>
      <p:sp>
        <p:nvSpPr>
          <p:cNvPr name="TextBox 49" id="49"/>
          <p:cNvSpPr txBox="true"/>
          <p:nvPr/>
        </p:nvSpPr>
        <p:spPr>
          <a:xfrm rot="0">
            <a:off x="4672012" y="7822406"/>
            <a:ext cx="4179094" cy="242888"/>
          </a:xfrm>
          <a:prstGeom prst="rect">
            <a:avLst/>
          </a:prstGeom>
        </p:spPr>
        <p:txBody>
          <a:bodyPr anchor="t" rtlCol="false" tIns="0" lIns="0" bIns="0" rIns="0">
            <a:spAutoFit/>
          </a:bodyPr>
          <a:lstStyle/>
          <a:p>
            <a:pPr algn="l">
              <a:lnSpc>
                <a:spcPts val="1889"/>
              </a:lnSpc>
            </a:pPr>
            <a:r>
              <a:rPr lang="en-US" sz="1575">
                <a:solidFill>
                  <a:srgbClr val="64748B"/>
                </a:solidFill>
                <a:latin typeface="Inter"/>
                <a:ea typeface="Inter"/>
                <a:cs typeface="Inter"/>
                <a:sym typeface="Inter"/>
              </a:rPr>
              <a:t>ảnh có chữ tiếng Việt</a:t>
            </a:r>
          </a:p>
        </p:txBody>
      </p:sp>
      <p:sp>
        <p:nvSpPr>
          <p:cNvPr name="TextBox 50" id="50"/>
          <p:cNvSpPr txBox="true"/>
          <p:nvPr/>
        </p:nvSpPr>
        <p:spPr>
          <a:xfrm rot="0">
            <a:off x="4672012" y="8236744"/>
            <a:ext cx="4179094" cy="285750"/>
          </a:xfrm>
          <a:prstGeom prst="rect">
            <a:avLst/>
          </a:prstGeom>
        </p:spPr>
        <p:txBody>
          <a:bodyPr anchor="t" rtlCol="false" tIns="0" lIns="0" bIns="0" rIns="0">
            <a:spAutoFit/>
          </a:bodyPr>
          <a:lstStyle/>
          <a:p>
            <a:pPr algn="l">
              <a:lnSpc>
                <a:spcPts val="2160"/>
              </a:lnSpc>
            </a:pPr>
            <a:r>
              <a:rPr lang="en-US" sz="1800" b="true">
                <a:solidFill>
                  <a:srgbClr val="0F2B46"/>
                </a:solidFill>
                <a:latin typeface="Inter Bold"/>
                <a:ea typeface="Inter Bold"/>
                <a:cs typeface="Inter Bold"/>
                <a:sym typeface="Inter Bold"/>
              </a:rPr>
              <a:t>Câu hỏi:</a:t>
            </a:r>
          </a:p>
        </p:txBody>
      </p:sp>
      <p:sp>
        <p:nvSpPr>
          <p:cNvPr name="TextBox 51" id="51"/>
          <p:cNvSpPr txBox="true"/>
          <p:nvPr/>
        </p:nvSpPr>
        <p:spPr>
          <a:xfrm rot="0">
            <a:off x="4672012" y="8579644"/>
            <a:ext cx="3486150" cy="571500"/>
          </a:xfrm>
          <a:prstGeom prst="rect">
            <a:avLst/>
          </a:prstGeom>
        </p:spPr>
        <p:txBody>
          <a:bodyPr anchor="t" rtlCol="false" tIns="0" lIns="0" bIns="0" rIns="0">
            <a:spAutoFit/>
          </a:bodyPr>
          <a:lstStyle/>
          <a:p>
            <a:pPr algn="l">
              <a:lnSpc>
                <a:spcPts val="2160"/>
              </a:lnSpc>
            </a:pPr>
            <a:r>
              <a:rPr lang="en-US" sz="1800">
                <a:solidFill>
                  <a:srgbClr val="1E293B"/>
                </a:solidFill>
                <a:latin typeface="Inter"/>
                <a:ea typeface="Inter"/>
                <a:cs typeface="Inter"/>
                <a:sym typeface="Inter"/>
              </a:rPr>
              <a:t>cửa hàng có biển màu vàng là nơi nào?</a:t>
            </a:r>
          </a:p>
        </p:txBody>
      </p:sp>
      <p:grpSp>
        <p:nvGrpSpPr>
          <p:cNvPr name="Group 52" id="52"/>
          <p:cNvGrpSpPr/>
          <p:nvPr/>
        </p:nvGrpSpPr>
        <p:grpSpPr>
          <a:xfrm rot="0">
            <a:off x="15458732" y="0"/>
            <a:ext cx="2829306" cy="1184338"/>
            <a:chOff x="0" y="0"/>
            <a:chExt cx="3772408" cy="1579118"/>
          </a:xfrm>
        </p:grpSpPr>
        <p:sp>
          <p:nvSpPr>
            <p:cNvPr name="Freeform 53" id="53"/>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12"/>
              <a:stretch>
                <a:fillRect l="0" t="0" r="0" b="0"/>
              </a:stretch>
            </a:blipFill>
          </p:spPr>
          <p:txBody>
            <a:bodyPr/>
            <a:p/>
          </p:txBody>
        </p:sp>
      </p:grpSp>
      <p:grpSp>
        <p:nvGrpSpPr>
          <p:cNvPr name="Group 54" id="54"/>
          <p:cNvGrpSpPr/>
          <p:nvPr/>
        </p:nvGrpSpPr>
        <p:grpSpPr>
          <a:xfrm rot="0">
            <a:off x="822960" y="9655969"/>
            <a:ext cx="13716000" cy="360331"/>
            <a:chOff x="0" y="0"/>
            <a:chExt cx="18288000" cy="480441"/>
          </a:xfrm>
        </p:grpSpPr>
        <p:sp>
          <p:nvSpPr>
            <p:cNvPr name="Freeform 55" id="55"/>
            <p:cNvSpPr/>
            <p:nvPr/>
          </p:nvSpPr>
          <p:spPr>
            <a:xfrm flipH="false" flipV="false" rot="0">
              <a:off x="0" y="0"/>
              <a:ext cx="18288000" cy="480441"/>
            </a:xfrm>
            <a:custGeom>
              <a:avLst/>
              <a:gdLst/>
              <a:ahLst/>
              <a:cxnLst/>
              <a:rect r="r" b="b" t="t" l="l"/>
              <a:pathLst>
                <a:path h="480441" w="18288000">
                  <a:moveTo>
                    <a:pt x="0" y="0"/>
                  </a:moveTo>
                  <a:lnTo>
                    <a:pt x="18288000" y="0"/>
                  </a:lnTo>
                  <a:lnTo>
                    <a:pt x="18288000" y="480441"/>
                  </a:lnTo>
                  <a:lnTo>
                    <a:pt x="0" y="480441"/>
                  </a:lnTo>
                  <a:close/>
                </a:path>
              </a:pathLst>
            </a:custGeom>
            <a:blipFill>
              <a:blip r:embed="rId13">
                <a:alphaModFix amt="0"/>
              </a:blip>
              <a:stretch>
                <a:fillRect l="0" t="-691181" r="0" b="-691184"/>
              </a:stretch>
            </a:blipFill>
          </p:spPr>
          <p:txBody>
            <a:bodyPr/>
            <a:p/>
          </p:txBody>
        </p:sp>
      </p:grpSp>
      <p:grpSp>
        <p:nvGrpSpPr>
          <p:cNvPr name="Group 56" id="56"/>
          <p:cNvGrpSpPr/>
          <p:nvPr/>
        </p:nvGrpSpPr>
        <p:grpSpPr>
          <a:xfrm rot="0">
            <a:off x="822960" y="9627394"/>
            <a:ext cx="13716000" cy="388896"/>
            <a:chOff x="0" y="0"/>
            <a:chExt cx="18288000" cy="518528"/>
          </a:xfrm>
        </p:grpSpPr>
        <p:sp>
          <p:nvSpPr>
            <p:cNvPr name="Freeform 57" id="57"/>
            <p:cNvSpPr/>
            <p:nvPr/>
          </p:nvSpPr>
          <p:spPr>
            <a:xfrm flipH="false" flipV="false" rot="0">
              <a:off x="0" y="0"/>
              <a:ext cx="18288000" cy="518541"/>
            </a:xfrm>
            <a:custGeom>
              <a:avLst/>
              <a:gdLst/>
              <a:ahLst/>
              <a:cxnLst/>
              <a:rect r="r" b="b" t="t" l="l"/>
              <a:pathLst>
                <a:path h="518541" w="18288000">
                  <a:moveTo>
                    <a:pt x="0" y="0"/>
                  </a:moveTo>
                  <a:lnTo>
                    <a:pt x="18288000" y="0"/>
                  </a:lnTo>
                  <a:lnTo>
                    <a:pt x="18288000" y="518541"/>
                  </a:lnTo>
                  <a:lnTo>
                    <a:pt x="0" y="518541"/>
                  </a:lnTo>
                  <a:close/>
                </a:path>
              </a:pathLst>
            </a:custGeom>
            <a:blipFill>
              <a:blip r:embed="rId14">
                <a:alphaModFix amt="0"/>
              </a:blip>
              <a:stretch>
                <a:fillRect l="0" t="-636725" r="0" b="-636722"/>
              </a:stretch>
            </a:blipFill>
          </p:spPr>
          <p:txBody>
            <a:bodyPr/>
            <a:p/>
          </p:txBody>
        </p:sp>
      </p:grpSp>
      <p:grpSp>
        <p:nvGrpSpPr>
          <p:cNvPr name="Group 58" id="58"/>
          <p:cNvGrpSpPr/>
          <p:nvPr/>
        </p:nvGrpSpPr>
        <p:grpSpPr>
          <a:xfrm rot="0">
            <a:off x="787594" y="9869529"/>
            <a:ext cx="13716000" cy="417471"/>
            <a:chOff x="0" y="0"/>
            <a:chExt cx="18288000" cy="556628"/>
          </a:xfrm>
        </p:grpSpPr>
        <p:sp>
          <p:nvSpPr>
            <p:cNvPr name="Freeform 59" id="59"/>
            <p:cNvSpPr/>
            <p:nvPr/>
          </p:nvSpPr>
          <p:spPr>
            <a:xfrm flipH="false" flipV="false" rot="0">
              <a:off x="0" y="0"/>
              <a:ext cx="18288000" cy="556628"/>
            </a:xfrm>
            <a:custGeom>
              <a:avLst/>
              <a:gdLst/>
              <a:ahLst/>
              <a:cxnLst/>
              <a:rect r="r" b="b" t="t" l="l"/>
              <a:pathLst>
                <a:path h="556628" w="18288000">
                  <a:moveTo>
                    <a:pt x="0" y="0"/>
                  </a:moveTo>
                  <a:lnTo>
                    <a:pt x="18288000" y="0"/>
                  </a:lnTo>
                  <a:lnTo>
                    <a:pt x="18288000" y="556628"/>
                  </a:lnTo>
                  <a:lnTo>
                    <a:pt x="0" y="556628"/>
                  </a:lnTo>
                  <a:close/>
                </a:path>
              </a:pathLst>
            </a:custGeom>
            <a:blipFill>
              <a:blip r:embed="rId15">
                <a:alphaModFix amt="0"/>
              </a:blip>
              <a:stretch>
                <a:fillRect l="0" t="-590180" r="0" b="-590180"/>
              </a:stretch>
            </a:blipFill>
          </p:spPr>
          <p:txBody>
            <a:bodyPr/>
            <a:p/>
          </p:txBody>
        </p:sp>
        <p:sp>
          <p:nvSpPr>
            <p:cNvPr name="TextBox 60" id="60"/>
            <p:cNvSpPr txBox="true"/>
            <p:nvPr/>
          </p:nvSpPr>
          <p:spPr>
            <a:xfrm>
              <a:off x="0" y="-38100"/>
              <a:ext cx="18288000" cy="594728"/>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GFA26AI35 · Đại học FPT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grpSp>
        <p:nvGrpSpPr>
          <p:cNvPr name="Group 4" id="4"/>
          <p:cNvGrpSpPr/>
          <p:nvPr/>
        </p:nvGrpSpPr>
        <p:grpSpPr>
          <a:xfrm rot="0">
            <a:off x="822960" y="9641205"/>
            <a:ext cx="13716000" cy="440055"/>
            <a:chOff x="0" y="0"/>
            <a:chExt cx="18288000" cy="586740"/>
          </a:xfrm>
        </p:grpSpPr>
        <p:sp>
          <p:nvSpPr>
            <p:cNvPr name="Freeform 5" id="5"/>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3">
                <a:alphaModFix amt="0"/>
              </a:blip>
              <a:stretch>
                <a:fillRect l="0" t="-556902" r="0" b="-556904"/>
              </a:stretch>
            </a:blipFill>
          </p:spPr>
          <p:txBody>
            <a:bodyPr/>
            <a:p/>
          </p:txBody>
        </p:sp>
      </p:grpSp>
      <p:sp>
        <p:nvSpPr>
          <p:cNvPr name="TextBox 6" id="6"/>
          <p:cNvSpPr txBox="true"/>
          <p:nvPr/>
        </p:nvSpPr>
        <p:spPr>
          <a:xfrm rot="0">
            <a:off x="822960" y="296037"/>
            <a:ext cx="16641623" cy="554355"/>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1 · PHẠM VI · 02 · TIẾNG VIỆT KHÁC Ở ĐÂU</a:t>
            </a:r>
          </a:p>
        </p:txBody>
      </p:sp>
      <p:sp>
        <p:nvSpPr>
          <p:cNvPr name="TextBox 7" id="7"/>
          <p:cNvSpPr txBox="true"/>
          <p:nvPr/>
        </p:nvSpPr>
        <p:spPr>
          <a:xfrm rot="0">
            <a:off x="822960" y="802767"/>
            <a:ext cx="16641623" cy="1007745"/>
          </a:xfrm>
          <a:prstGeom prst="rect">
            <a:avLst/>
          </a:prstGeom>
        </p:spPr>
        <p:txBody>
          <a:bodyPr anchor="t" rtlCol="false" tIns="0" lIns="0" bIns="0" rIns="0">
            <a:spAutoFit/>
          </a:bodyPr>
          <a:lstStyle/>
          <a:p>
            <a:pPr algn="l">
              <a:lnSpc>
                <a:spcPts val="5755"/>
              </a:lnSpc>
            </a:pPr>
            <a:r>
              <a:rPr lang="en-US" sz="4800" b="true">
                <a:solidFill>
                  <a:srgbClr val="13294B"/>
                </a:solidFill>
                <a:latin typeface="Cambria Bold"/>
                <a:ea typeface="Cambria Bold"/>
                <a:cs typeface="Cambria Bold"/>
                <a:sym typeface="Cambria Bold"/>
              </a:rPr>
              <a:t>Bốn vấn đề riêng của tiếng Việt (V1–V4)</a:t>
            </a:r>
          </a:p>
        </p:txBody>
      </p:sp>
      <p:grpSp>
        <p:nvGrpSpPr>
          <p:cNvPr name="Group 8" id="8"/>
          <p:cNvGrpSpPr/>
          <p:nvPr/>
        </p:nvGrpSpPr>
        <p:grpSpPr>
          <a:xfrm rot="0">
            <a:off x="804672" y="2039112"/>
            <a:ext cx="3886200" cy="7360920"/>
            <a:chOff x="0" y="0"/>
            <a:chExt cx="5181600" cy="9814560"/>
          </a:xfrm>
        </p:grpSpPr>
        <p:sp>
          <p:nvSpPr>
            <p:cNvPr name="Freeform 9" id="9"/>
            <p:cNvSpPr/>
            <p:nvPr/>
          </p:nvSpPr>
          <p:spPr>
            <a:xfrm flipH="false" flipV="false" rot="0">
              <a:off x="0" y="0"/>
              <a:ext cx="5181600" cy="9814560"/>
            </a:xfrm>
            <a:custGeom>
              <a:avLst/>
              <a:gdLst/>
              <a:ahLst/>
              <a:cxnLst/>
              <a:rect r="r" b="b" t="t" l="l"/>
              <a:pathLst>
                <a:path h="9814560" w="5181600">
                  <a:moveTo>
                    <a:pt x="0" y="207264"/>
                  </a:moveTo>
                  <a:cubicBezTo>
                    <a:pt x="0" y="92837"/>
                    <a:pt x="92837" y="0"/>
                    <a:pt x="207264" y="0"/>
                  </a:cubicBezTo>
                  <a:lnTo>
                    <a:pt x="4974336" y="0"/>
                  </a:lnTo>
                  <a:cubicBezTo>
                    <a:pt x="5088763" y="0"/>
                    <a:pt x="5181600" y="92837"/>
                    <a:pt x="5181600" y="207264"/>
                  </a:cubicBezTo>
                  <a:lnTo>
                    <a:pt x="5181600" y="9607296"/>
                  </a:lnTo>
                  <a:cubicBezTo>
                    <a:pt x="5181600" y="9721723"/>
                    <a:pt x="5088763" y="9814560"/>
                    <a:pt x="4974336" y="9814560"/>
                  </a:cubicBezTo>
                  <a:lnTo>
                    <a:pt x="207264" y="9814560"/>
                  </a:lnTo>
                  <a:cubicBezTo>
                    <a:pt x="92837" y="9814560"/>
                    <a:pt x="0" y="9721723"/>
                    <a:pt x="0" y="9607296"/>
                  </a:cubicBezTo>
                  <a:close/>
                </a:path>
              </a:pathLst>
            </a:custGeom>
            <a:solidFill>
              <a:srgbClr val="FBF0DA"/>
            </a:solidFill>
          </p:spPr>
          <p:txBody>
            <a:bodyPr/>
            <a:p/>
          </p:txBody>
        </p:sp>
      </p:grpSp>
      <p:sp>
        <p:nvSpPr>
          <p:cNvPr name="TextBox 10" id="10"/>
          <p:cNvSpPr txBox="true"/>
          <p:nvPr/>
        </p:nvSpPr>
        <p:spPr>
          <a:xfrm rot="0">
            <a:off x="1165860" y="2167890"/>
            <a:ext cx="1371600" cy="781050"/>
          </a:xfrm>
          <a:prstGeom prst="rect">
            <a:avLst/>
          </a:prstGeom>
        </p:spPr>
        <p:txBody>
          <a:bodyPr anchor="t" rtlCol="false" tIns="0" lIns="0" bIns="0" rIns="0">
            <a:spAutoFit/>
          </a:bodyPr>
          <a:lstStyle/>
          <a:p>
            <a:pPr algn="l">
              <a:lnSpc>
                <a:spcPts val="4320"/>
              </a:lnSpc>
            </a:pPr>
            <a:r>
              <a:rPr lang="en-US" sz="3600" b="true">
                <a:solidFill>
                  <a:srgbClr val="E8A33D"/>
                </a:solidFill>
                <a:latin typeface="Cambria Bold"/>
                <a:ea typeface="Cambria Bold"/>
                <a:cs typeface="Cambria Bold"/>
                <a:sym typeface="Cambria Bold"/>
              </a:rPr>
              <a:t>V1</a:t>
            </a:r>
          </a:p>
        </p:txBody>
      </p:sp>
      <p:sp>
        <p:nvSpPr>
          <p:cNvPr name="TextBox 11" id="11"/>
          <p:cNvSpPr txBox="true"/>
          <p:nvPr/>
        </p:nvSpPr>
        <p:spPr>
          <a:xfrm rot="0">
            <a:off x="1165860" y="2710815"/>
            <a:ext cx="3165996" cy="1129665"/>
          </a:xfrm>
          <a:prstGeom prst="rect">
            <a:avLst/>
          </a:prstGeom>
        </p:spPr>
        <p:txBody>
          <a:bodyPr anchor="t" rtlCol="false" tIns="0" lIns="0" bIns="0" rIns="0">
            <a:spAutoFit/>
          </a:bodyPr>
          <a:lstStyle/>
          <a:p>
            <a:pPr algn="l">
              <a:lnSpc>
                <a:spcPts val="2520"/>
              </a:lnSpc>
            </a:pPr>
            <a:r>
              <a:rPr lang="en-US" sz="2100" b="true">
                <a:solidFill>
                  <a:srgbClr val="13294B"/>
                </a:solidFill>
                <a:latin typeface="Calibri (MS) Bold"/>
                <a:ea typeface="Calibri (MS) Bold"/>
                <a:cs typeface="Calibri (MS) Bold"/>
                <a:sym typeface="Calibri (MS) Bold"/>
              </a:rPr>
              <a:t>Đọc chữ có dấu trong ảnh</a:t>
            </a:r>
          </a:p>
        </p:txBody>
      </p:sp>
      <p:grpSp>
        <p:nvGrpSpPr>
          <p:cNvPr name="Group 12" id="12"/>
          <p:cNvGrpSpPr/>
          <p:nvPr/>
        </p:nvGrpSpPr>
        <p:grpSpPr>
          <a:xfrm rot="0">
            <a:off x="5065776" y="2039112"/>
            <a:ext cx="3886200" cy="7360920"/>
            <a:chOff x="0" y="0"/>
            <a:chExt cx="5181600" cy="9814560"/>
          </a:xfrm>
        </p:grpSpPr>
        <p:sp>
          <p:nvSpPr>
            <p:cNvPr name="Freeform 13" id="13"/>
            <p:cNvSpPr/>
            <p:nvPr/>
          </p:nvSpPr>
          <p:spPr>
            <a:xfrm flipH="false" flipV="false" rot="0">
              <a:off x="0" y="0"/>
              <a:ext cx="5181600" cy="9814560"/>
            </a:xfrm>
            <a:custGeom>
              <a:avLst/>
              <a:gdLst/>
              <a:ahLst/>
              <a:cxnLst/>
              <a:rect r="r" b="b" t="t" l="l"/>
              <a:pathLst>
                <a:path h="9814560" w="5181600">
                  <a:moveTo>
                    <a:pt x="0" y="207264"/>
                  </a:moveTo>
                  <a:cubicBezTo>
                    <a:pt x="0" y="92837"/>
                    <a:pt x="92837" y="0"/>
                    <a:pt x="207264" y="0"/>
                  </a:cubicBezTo>
                  <a:lnTo>
                    <a:pt x="4974336" y="0"/>
                  </a:lnTo>
                  <a:cubicBezTo>
                    <a:pt x="5088763" y="0"/>
                    <a:pt x="5181600" y="92837"/>
                    <a:pt x="5181600" y="207264"/>
                  </a:cubicBezTo>
                  <a:lnTo>
                    <a:pt x="5181600" y="9607296"/>
                  </a:lnTo>
                  <a:cubicBezTo>
                    <a:pt x="5181600" y="9721723"/>
                    <a:pt x="5088763" y="9814560"/>
                    <a:pt x="4974336" y="9814560"/>
                  </a:cubicBezTo>
                  <a:lnTo>
                    <a:pt x="207264" y="9814560"/>
                  </a:lnTo>
                  <a:cubicBezTo>
                    <a:pt x="92837" y="9814560"/>
                    <a:pt x="0" y="9721723"/>
                    <a:pt x="0" y="9607296"/>
                  </a:cubicBezTo>
                  <a:close/>
                </a:path>
              </a:pathLst>
            </a:custGeom>
            <a:solidFill>
              <a:srgbClr val="F3F5F8"/>
            </a:solidFill>
          </p:spPr>
          <p:txBody>
            <a:bodyPr/>
            <a:p/>
          </p:txBody>
        </p:sp>
      </p:grpSp>
      <p:sp>
        <p:nvSpPr>
          <p:cNvPr name="TextBox 14" id="14"/>
          <p:cNvSpPr txBox="true"/>
          <p:nvPr/>
        </p:nvSpPr>
        <p:spPr>
          <a:xfrm rot="0">
            <a:off x="5429136" y="2167890"/>
            <a:ext cx="1371600" cy="781050"/>
          </a:xfrm>
          <a:prstGeom prst="rect">
            <a:avLst/>
          </a:prstGeom>
        </p:spPr>
        <p:txBody>
          <a:bodyPr anchor="t" rtlCol="false" tIns="0" lIns="0" bIns="0" rIns="0">
            <a:spAutoFit/>
          </a:bodyPr>
          <a:lstStyle/>
          <a:p>
            <a:pPr algn="l">
              <a:lnSpc>
                <a:spcPts val="4320"/>
              </a:lnSpc>
            </a:pPr>
            <a:r>
              <a:rPr lang="en-US" sz="3600" b="true">
                <a:solidFill>
                  <a:srgbClr val="1C7293"/>
                </a:solidFill>
                <a:latin typeface="Cambria Bold"/>
                <a:ea typeface="Cambria Bold"/>
                <a:cs typeface="Cambria Bold"/>
                <a:sym typeface="Cambria Bold"/>
              </a:rPr>
              <a:t>V2</a:t>
            </a:r>
          </a:p>
        </p:txBody>
      </p:sp>
      <p:sp>
        <p:nvSpPr>
          <p:cNvPr name="TextBox 15" id="15"/>
          <p:cNvSpPr txBox="true"/>
          <p:nvPr/>
        </p:nvSpPr>
        <p:spPr>
          <a:xfrm rot="0">
            <a:off x="5429136" y="2710815"/>
            <a:ext cx="3165996" cy="1129665"/>
          </a:xfrm>
          <a:prstGeom prst="rect">
            <a:avLst/>
          </a:prstGeom>
        </p:spPr>
        <p:txBody>
          <a:bodyPr anchor="t" rtlCol="false" tIns="0" lIns="0" bIns="0" rIns="0">
            <a:spAutoFit/>
          </a:bodyPr>
          <a:lstStyle/>
          <a:p>
            <a:pPr algn="l">
              <a:lnSpc>
                <a:spcPts val="2520"/>
              </a:lnSpc>
            </a:pPr>
            <a:r>
              <a:rPr lang="en-US" sz="2100" b="true">
                <a:solidFill>
                  <a:srgbClr val="13294B"/>
                </a:solidFill>
                <a:latin typeface="Calibri (MS) Bold"/>
                <a:ea typeface="Calibri (MS) Bold"/>
                <a:cs typeface="Calibri (MS) Bold"/>
                <a:sym typeface="Calibri (MS) Bold"/>
              </a:rPr>
              <a:t>Sai ngôn ngữ hoặc sai định dạng</a:t>
            </a:r>
          </a:p>
        </p:txBody>
      </p:sp>
      <p:grpSp>
        <p:nvGrpSpPr>
          <p:cNvPr name="Group 16" id="16"/>
          <p:cNvGrpSpPr/>
          <p:nvPr/>
        </p:nvGrpSpPr>
        <p:grpSpPr>
          <a:xfrm rot="0">
            <a:off x="9336024" y="2039112"/>
            <a:ext cx="3886200" cy="7360920"/>
            <a:chOff x="0" y="0"/>
            <a:chExt cx="5181600" cy="9814560"/>
          </a:xfrm>
        </p:grpSpPr>
        <p:sp>
          <p:nvSpPr>
            <p:cNvPr name="Freeform 17" id="17"/>
            <p:cNvSpPr/>
            <p:nvPr/>
          </p:nvSpPr>
          <p:spPr>
            <a:xfrm flipH="false" flipV="false" rot="0">
              <a:off x="0" y="0"/>
              <a:ext cx="5181600" cy="9814560"/>
            </a:xfrm>
            <a:custGeom>
              <a:avLst/>
              <a:gdLst/>
              <a:ahLst/>
              <a:cxnLst/>
              <a:rect r="r" b="b" t="t" l="l"/>
              <a:pathLst>
                <a:path h="9814560" w="5181600">
                  <a:moveTo>
                    <a:pt x="0" y="207264"/>
                  </a:moveTo>
                  <a:cubicBezTo>
                    <a:pt x="0" y="92837"/>
                    <a:pt x="92837" y="0"/>
                    <a:pt x="207264" y="0"/>
                  </a:cubicBezTo>
                  <a:lnTo>
                    <a:pt x="4974336" y="0"/>
                  </a:lnTo>
                  <a:cubicBezTo>
                    <a:pt x="5088763" y="0"/>
                    <a:pt x="5181600" y="92837"/>
                    <a:pt x="5181600" y="207264"/>
                  </a:cubicBezTo>
                  <a:lnTo>
                    <a:pt x="5181600" y="9607296"/>
                  </a:lnTo>
                  <a:cubicBezTo>
                    <a:pt x="5181600" y="9721723"/>
                    <a:pt x="5088763" y="9814560"/>
                    <a:pt x="4974336" y="9814560"/>
                  </a:cubicBezTo>
                  <a:lnTo>
                    <a:pt x="207264" y="9814560"/>
                  </a:lnTo>
                  <a:cubicBezTo>
                    <a:pt x="92837" y="9814560"/>
                    <a:pt x="0" y="9721723"/>
                    <a:pt x="0" y="9607296"/>
                  </a:cubicBezTo>
                  <a:close/>
                </a:path>
              </a:pathLst>
            </a:custGeom>
            <a:solidFill>
              <a:srgbClr val="F3F5F8"/>
            </a:solidFill>
          </p:spPr>
          <p:txBody>
            <a:bodyPr/>
            <a:p/>
          </p:txBody>
        </p:sp>
      </p:grpSp>
      <p:sp>
        <p:nvSpPr>
          <p:cNvPr name="TextBox 18" id="18"/>
          <p:cNvSpPr txBox="true"/>
          <p:nvPr/>
        </p:nvSpPr>
        <p:spPr>
          <a:xfrm rot="0">
            <a:off x="9692411" y="2167890"/>
            <a:ext cx="1371600" cy="781050"/>
          </a:xfrm>
          <a:prstGeom prst="rect">
            <a:avLst/>
          </a:prstGeom>
        </p:spPr>
        <p:txBody>
          <a:bodyPr anchor="t" rtlCol="false" tIns="0" lIns="0" bIns="0" rIns="0">
            <a:spAutoFit/>
          </a:bodyPr>
          <a:lstStyle/>
          <a:p>
            <a:pPr algn="l">
              <a:lnSpc>
                <a:spcPts val="4320"/>
              </a:lnSpc>
            </a:pPr>
            <a:r>
              <a:rPr lang="en-US" sz="3600" b="true">
                <a:solidFill>
                  <a:srgbClr val="1C7293"/>
                </a:solidFill>
                <a:latin typeface="Cambria Bold"/>
                <a:ea typeface="Cambria Bold"/>
                <a:cs typeface="Cambria Bold"/>
                <a:sym typeface="Cambria Bold"/>
              </a:rPr>
              <a:t>V3</a:t>
            </a:r>
          </a:p>
        </p:txBody>
      </p:sp>
      <p:sp>
        <p:nvSpPr>
          <p:cNvPr name="TextBox 19" id="19"/>
          <p:cNvSpPr txBox="true"/>
          <p:nvPr/>
        </p:nvSpPr>
        <p:spPr>
          <a:xfrm rot="0">
            <a:off x="9692411" y="2710815"/>
            <a:ext cx="3165996" cy="1129665"/>
          </a:xfrm>
          <a:prstGeom prst="rect">
            <a:avLst/>
          </a:prstGeom>
        </p:spPr>
        <p:txBody>
          <a:bodyPr anchor="t" rtlCol="false" tIns="0" lIns="0" bIns="0" rIns="0">
            <a:spAutoFit/>
          </a:bodyPr>
          <a:lstStyle/>
          <a:p>
            <a:pPr algn="l">
              <a:lnSpc>
                <a:spcPts val="2520"/>
              </a:lnSpc>
            </a:pPr>
            <a:r>
              <a:rPr lang="en-US" sz="2100" b="true">
                <a:solidFill>
                  <a:srgbClr val="13294B"/>
                </a:solidFill>
                <a:latin typeface="Calibri (MS) Bold"/>
                <a:ea typeface="Calibri (MS) Bold"/>
                <a:cs typeface="Calibri (MS) Bold"/>
                <a:sym typeface="Calibri (MS) Bold"/>
              </a:rPr>
              <a:t>Thứ tự chữ và ranh giới từ</a:t>
            </a:r>
          </a:p>
        </p:txBody>
      </p:sp>
      <p:grpSp>
        <p:nvGrpSpPr>
          <p:cNvPr name="Group 20" id="20"/>
          <p:cNvGrpSpPr/>
          <p:nvPr/>
        </p:nvGrpSpPr>
        <p:grpSpPr>
          <a:xfrm rot="0">
            <a:off x="13597128" y="2039112"/>
            <a:ext cx="3886200" cy="7360920"/>
            <a:chOff x="0" y="0"/>
            <a:chExt cx="5181600" cy="9814560"/>
          </a:xfrm>
        </p:grpSpPr>
        <p:sp>
          <p:nvSpPr>
            <p:cNvPr name="Freeform 21" id="21"/>
            <p:cNvSpPr/>
            <p:nvPr/>
          </p:nvSpPr>
          <p:spPr>
            <a:xfrm flipH="false" flipV="false" rot="0">
              <a:off x="0" y="0"/>
              <a:ext cx="5181600" cy="9814560"/>
            </a:xfrm>
            <a:custGeom>
              <a:avLst/>
              <a:gdLst/>
              <a:ahLst/>
              <a:cxnLst/>
              <a:rect r="r" b="b" t="t" l="l"/>
              <a:pathLst>
                <a:path h="9814560" w="5181600">
                  <a:moveTo>
                    <a:pt x="0" y="207264"/>
                  </a:moveTo>
                  <a:cubicBezTo>
                    <a:pt x="0" y="92837"/>
                    <a:pt x="92837" y="0"/>
                    <a:pt x="207264" y="0"/>
                  </a:cubicBezTo>
                  <a:lnTo>
                    <a:pt x="4974336" y="0"/>
                  </a:lnTo>
                  <a:cubicBezTo>
                    <a:pt x="5088763" y="0"/>
                    <a:pt x="5181600" y="92837"/>
                    <a:pt x="5181600" y="207264"/>
                  </a:cubicBezTo>
                  <a:lnTo>
                    <a:pt x="5181600" y="9607296"/>
                  </a:lnTo>
                  <a:cubicBezTo>
                    <a:pt x="5181600" y="9721723"/>
                    <a:pt x="5088763" y="9814560"/>
                    <a:pt x="4974336" y="9814560"/>
                  </a:cubicBezTo>
                  <a:lnTo>
                    <a:pt x="207264" y="9814560"/>
                  </a:lnTo>
                  <a:cubicBezTo>
                    <a:pt x="92837" y="9814560"/>
                    <a:pt x="0" y="9721723"/>
                    <a:pt x="0" y="9607296"/>
                  </a:cubicBezTo>
                  <a:close/>
                </a:path>
              </a:pathLst>
            </a:custGeom>
            <a:solidFill>
              <a:srgbClr val="F3F5F8"/>
            </a:solidFill>
          </p:spPr>
          <p:txBody>
            <a:bodyPr/>
            <a:p/>
          </p:txBody>
        </p:sp>
      </p:grpSp>
      <p:sp>
        <p:nvSpPr>
          <p:cNvPr name="TextBox 22" id="22"/>
          <p:cNvSpPr txBox="true"/>
          <p:nvPr/>
        </p:nvSpPr>
        <p:spPr>
          <a:xfrm rot="0">
            <a:off x="13955687" y="2167890"/>
            <a:ext cx="1371600" cy="781050"/>
          </a:xfrm>
          <a:prstGeom prst="rect">
            <a:avLst/>
          </a:prstGeom>
        </p:spPr>
        <p:txBody>
          <a:bodyPr anchor="t" rtlCol="false" tIns="0" lIns="0" bIns="0" rIns="0">
            <a:spAutoFit/>
          </a:bodyPr>
          <a:lstStyle/>
          <a:p>
            <a:pPr algn="l">
              <a:lnSpc>
                <a:spcPts val="4320"/>
              </a:lnSpc>
            </a:pPr>
            <a:r>
              <a:rPr lang="en-US" sz="3600" b="true">
                <a:solidFill>
                  <a:srgbClr val="1C7293"/>
                </a:solidFill>
                <a:latin typeface="Cambria Bold"/>
                <a:ea typeface="Cambria Bold"/>
                <a:cs typeface="Cambria Bold"/>
                <a:sym typeface="Cambria Bold"/>
              </a:rPr>
              <a:t>V4</a:t>
            </a:r>
          </a:p>
        </p:txBody>
      </p:sp>
      <p:sp>
        <p:nvSpPr>
          <p:cNvPr name="TextBox 23" id="23"/>
          <p:cNvSpPr txBox="true"/>
          <p:nvPr/>
        </p:nvSpPr>
        <p:spPr>
          <a:xfrm rot="0">
            <a:off x="13955687" y="2710815"/>
            <a:ext cx="3165996" cy="1129665"/>
          </a:xfrm>
          <a:prstGeom prst="rect">
            <a:avLst/>
          </a:prstGeom>
        </p:spPr>
        <p:txBody>
          <a:bodyPr anchor="t" rtlCol="false" tIns="0" lIns="0" bIns="0" rIns="0">
            <a:spAutoFit/>
          </a:bodyPr>
          <a:lstStyle/>
          <a:p>
            <a:pPr algn="l">
              <a:lnSpc>
                <a:spcPts val="2520"/>
              </a:lnSpc>
            </a:pPr>
            <a:r>
              <a:rPr lang="en-US" sz="2100" b="true">
                <a:solidFill>
                  <a:srgbClr val="13294B"/>
                </a:solidFill>
                <a:latin typeface="Calibri (MS) Bold"/>
                <a:ea typeface="Calibri (MS) Bold"/>
                <a:cs typeface="Calibri (MS) Bold"/>
                <a:sym typeface="Calibri (MS) Bold"/>
              </a:rPr>
              <a:t>Hallucination</a:t>
            </a:r>
          </a:p>
        </p:txBody>
      </p:sp>
      <p:grpSp>
        <p:nvGrpSpPr>
          <p:cNvPr name="Group 24" id="24"/>
          <p:cNvGrpSpPr/>
          <p:nvPr/>
        </p:nvGrpSpPr>
        <p:grpSpPr>
          <a:xfrm rot="0">
            <a:off x="15458732" y="0"/>
            <a:ext cx="2829306" cy="1184338"/>
            <a:chOff x="0" y="0"/>
            <a:chExt cx="3772408" cy="1579118"/>
          </a:xfrm>
        </p:grpSpPr>
        <p:sp>
          <p:nvSpPr>
            <p:cNvPr name="Freeform 25" id="25"/>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4"/>
              <a:stretch>
                <a:fillRect l="0" t="0" r="0" b="0"/>
              </a:stretch>
            </a:blipFill>
          </p:spPr>
          <p:txBody>
            <a:bodyPr/>
            <a:p/>
          </p:txBody>
        </p:sp>
      </p:grpSp>
      <p:grpSp>
        <p:nvGrpSpPr>
          <p:cNvPr name="Group 26" id="26"/>
          <p:cNvGrpSpPr/>
          <p:nvPr/>
        </p:nvGrpSpPr>
        <p:grpSpPr>
          <a:xfrm rot="0">
            <a:off x="1005840" y="3794760"/>
            <a:ext cx="3483864" cy="2276094"/>
            <a:chOff x="0" y="0"/>
            <a:chExt cx="4645152" cy="3034792"/>
          </a:xfrm>
        </p:grpSpPr>
        <p:sp>
          <p:nvSpPr>
            <p:cNvPr name="Freeform 27" id="27" descr="V1.png"/>
            <p:cNvSpPr/>
            <p:nvPr/>
          </p:nvSpPr>
          <p:spPr>
            <a:xfrm flipH="false" flipV="false" rot="0">
              <a:off x="0" y="0"/>
              <a:ext cx="4645152" cy="3034792"/>
            </a:xfrm>
            <a:custGeom>
              <a:avLst/>
              <a:gdLst/>
              <a:ahLst/>
              <a:cxnLst/>
              <a:rect r="r" b="b" t="t" l="l"/>
              <a:pathLst>
                <a:path h="3034792" w="4645152">
                  <a:moveTo>
                    <a:pt x="0" y="0"/>
                  </a:moveTo>
                  <a:lnTo>
                    <a:pt x="4645152" y="0"/>
                  </a:lnTo>
                  <a:lnTo>
                    <a:pt x="4645152" y="3034792"/>
                  </a:lnTo>
                  <a:lnTo>
                    <a:pt x="0" y="3034792"/>
                  </a:lnTo>
                  <a:lnTo>
                    <a:pt x="0" y="0"/>
                  </a:lnTo>
                  <a:close/>
                </a:path>
              </a:pathLst>
            </a:custGeom>
            <a:blipFill>
              <a:blip r:embed="rId5"/>
              <a:stretch>
                <a:fillRect l="-3" t="0" r="-3" b="0"/>
              </a:stretch>
            </a:blipFill>
          </p:spPr>
          <p:txBody>
            <a:bodyPr/>
            <a:p/>
          </p:txBody>
        </p:sp>
      </p:grpSp>
      <p:sp>
        <p:nvSpPr>
          <p:cNvPr name="TextBox 28" id="28"/>
          <p:cNvSpPr txBox="true"/>
          <p:nvPr/>
        </p:nvSpPr>
        <p:spPr>
          <a:xfrm rot="0">
            <a:off x="1133856" y="6082313"/>
            <a:ext cx="3282696" cy="1360170"/>
          </a:xfrm>
          <a:prstGeom prst="rect">
            <a:avLst/>
          </a:prstGeom>
        </p:spPr>
        <p:txBody>
          <a:bodyPr anchor="t" rtlCol="false" tIns="0" lIns="0" bIns="0" rIns="0">
            <a:spAutoFit/>
          </a:bodyPr>
          <a:lstStyle/>
          <a:p>
            <a:pPr algn="l">
              <a:lnSpc>
                <a:spcPts val="2329"/>
              </a:lnSpc>
            </a:pPr>
            <a:r>
              <a:rPr lang="en-US" sz="1800">
                <a:solidFill>
                  <a:srgbClr val="243044"/>
                </a:solidFill>
                <a:latin typeface="Calibri (MS)"/>
                <a:ea typeface="Calibri (MS)"/>
                <a:cs typeface="Calibri (MS)"/>
                <a:sym typeface="Calibri (MS)"/>
              </a:rPr>
              <a:t>Dấu thanh là nét rất nhỏ; đọc sai một dấu là đổi nghĩa.</a:t>
            </a:r>
          </a:p>
        </p:txBody>
      </p:sp>
      <p:sp>
        <p:nvSpPr>
          <p:cNvPr name="Freeform 29" id="29"/>
          <p:cNvSpPr/>
          <p:nvPr/>
        </p:nvSpPr>
        <p:spPr>
          <a:xfrm flipH="false" flipV="false" rot="0">
            <a:off x="991953" y="7529913"/>
            <a:ext cx="3511582" cy="1692021"/>
          </a:xfrm>
          <a:custGeom>
            <a:avLst/>
            <a:gdLst/>
            <a:ahLst/>
            <a:cxnLst/>
            <a:rect r="r" b="b" t="t" l="l"/>
            <a:pathLst>
              <a:path h="1692021" w="3511582">
                <a:moveTo>
                  <a:pt x="0" y="0"/>
                </a:moveTo>
                <a:lnTo>
                  <a:pt x="3511581" y="0"/>
                </a:lnTo>
                <a:lnTo>
                  <a:pt x="3511581" y="1692021"/>
                </a:lnTo>
                <a:lnTo>
                  <a:pt x="0" y="1692021"/>
                </a:lnTo>
                <a:lnTo>
                  <a:pt x="0" y="0"/>
                </a:lnTo>
                <a:close/>
              </a:path>
            </a:pathLst>
          </a:custGeom>
          <a:blipFill>
            <a:blip r:embed="rId6">
              <a:extLst>
                <a:ext uri="{96DAC541-7B7A-43D3-8B79-37D633B846F1}">
                  <asvg:svgBlip xmlns:asvg="http://schemas.microsoft.com/office/drawing/2016/SVG/main" r:embed="rId7"/>
                </a:ext>
              </a:extLst>
            </a:blip>
            <a:stretch>
              <a:fillRect l="0" t="-56" r="0" b="-56"/>
            </a:stretch>
          </a:blipFill>
        </p:spPr>
        <p:txBody>
          <a:bodyPr/>
          <a:p/>
        </p:txBody>
      </p:sp>
      <p:sp>
        <p:nvSpPr>
          <p:cNvPr name="TextBox 30" id="30"/>
          <p:cNvSpPr txBox="true"/>
          <p:nvPr/>
        </p:nvSpPr>
        <p:spPr>
          <a:xfrm rot="0">
            <a:off x="1188720" y="7519797"/>
            <a:ext cx="3118104" cy="1605915"/>
          </a:xfrm>
          <a:prstGeom prst="rect">
            <a:avLst/>
          </a:prstGeom>
        </p:spPr>
        <p:txBody>
          <a:bodyPr anchor="t" rtlCol="false" tIns="0" lIns="0" bIns="0" rIns="0">
            <a:spAutoFit/>
          </a:bodyPr>
          <a:lstStyle/>
          <a:p>
            <a:pPr algn="l">
              <a:lnSpc>
                <a:spcPts val="1879"/>
              </a:lnSpc>
            </a:pPr>
            <a:r>
              <a:rPr lang="en-US" sz="1449" b="true">
                <a:solidFill>
                  <a:srgbClr val="B86E0E"/>
                </a:solidFill>
                <a:latin typeface="Calibri (MS) Bold"/>
                <a:ea typeface="Calibri (MS) Bold"/>
                <a:cs typeface="Calibri (MS) Bold"/>
                <a:sym typeface="Calibri (MS) Bold"/>
              </a:rPr>
              <a:t>Ví dụ</a:t>
            </a:r>
          </a:p>
          <a:p>
            <a:pPr algn="l">
              <a:lnSpc>
                <a:spcPts val="2200"/>
              </a:lnSpc>
            </a:pPr>
            <a:r>
              <a:rPr lang="en-US" sz="1700">
                <a:solidFill>
                  <a:srgbClr val="243044"/>
                </a:solidFill>
                <a:latin typeface="Calibri (MS)"/>
                <a:ea typeface="Calibri (MS)"/>
                <a:cs typeface="Calibri (MS)"/>
                <a:sym typeface="Calibri (MS)"/>
              </a:rPr>
              <a:t>Biển “BÁNH MÌ” đọc thành “banh mi” → sai đáp án.</a:t>
            </a:r>
          </a:p>
        </p:txBody>
      </p:sp>
      <p:grpSp>
        <p:nvGrpSpPr>
          <p:cNvPr name="Group 31" id="31"/>
          <p:cNvGrpSpPr/>
          <p:nvPr/>
        </p:nvGrpSpPr>
        <p:grpSpPr>
          <a:xfrm rot="0">
            <a:off x="5266944" y="3794760"/>
            <a:ext cx="3483864" cy="2276094"/>
            <a:chOff x="0" y="0"/>
            <a:chExt cx="4645152" cy="3034792"/>
          </a:xfrm>
        </p:grpSpPr>
        <p:sp>
          <p:nvSpPr>
            <p:cNvPr name="Freeform 32" id="32" descr="V2.png"/>
            <p:cNvSpPr/>
            <p:nvPr/>
          </p:nvSpPr>
          <p:spPr>
            <a:xfrm flipH="false" flipV="false" rot="0">
              <a:off x="0" y="0"/>
              <a:ext cx="4645152" cy="3034792"/>
            </a:xfrm>
            <a:custGeom>
              <a:avLst/>
              <a:gdLst/>
              <a:ahLst/>
              <a:cxnLst/>
              <a:rect r="r" b="b" t="t" l="l"/>
              <a:pathLst>
                <a:path h="3034792" w="4645152">
                  <a:moveTo>
                    <a:pt x="0" y="0"/>
                  </a:moveTo>
                  <a:lnTo>
                    <a:pt x="4645152" y="0"/>
                  </a:lnTo>
                  <a:lnTo>
                    <a:pt x="4645152" y="3034792"/>
                  </a:lnTo>
                  <a:lnTo>
                    <a:pt x="0" y="3034792"/>
                  </a:lnTo>
                  <a:lnTo>
                    <a:pt x="0" y="0"/>
                  </a:lnTo>
                  <a:close/>
                </a:path>
              </a:pathLst>
            </a:custGeom>
            <a:blipFill>
              <a:blip r:embed="rId8"/>
              <a:stretch>
                <a:fillRect l="-3" t="0" r="-3" b="0"/>
              </a:stretch>
            </a:blipFill>
          </p:spPr>
          <p:txBody>
            <a:bodyPr/>
            <a:p/>
          </p:txBody>
        </p:sp>
      </p:grpSp>
      <p:sp>
        <p:nvSpPr>
          <p:cNvPr name="TextBox 33" id="33"/>
          <p:cNvSpPr txBox="true"/>
          <p:nvPr/>
        </p:nvSpPr>
        <p:spPr>
          <a:xfrm rot="0">
            <a:off x="5394960" y="6082313"/>
            <a:ext cx="3282696" cy="1360170"/>
          </a:xfrm>
          <a:prstGeom prst="rect">
            <a:avLst/>
          </a:prstGeom>
        </p:spPr>
        <p:txBody>
          <a:bodyPr anchor="t" rtlCol="false" tIns="0" lIns="0" bIns="0" rIns="0">
            <a:spAutoFit/>
          </a:bodyPr>
          <a:lstStyle/>
          <a:p>
            <a:pPr algn="l">
              <a:lnSpc>
                <a:spcPts val="2329"/>
              </a:lnSpc>
            </a:pPr>
            <a:r>
              <a:rPr lang="en-US" sz="1800">
                <a:solidFill>
                  <a:srgbClr val="243044"/>
                </a:solidFill>
                <a:latin typeface="Calibri (MS)"/>
                <a:ea typeface="Calibri (MS)"/>
                <a:cs typeface="Calibri (MS)"/>
                <a:sym typeface="Calibri (MS)"/>
              </a:rPr>
              <a:t>VLM học chủ yếu tiếng Anh/Trung nên hay trả lời tiếng Anh hoặc dài dòng.</a:t>
            </a:r>
          </a:p>
        </p:txBody>
      </p:sp>
      <p:sp>
        <p:nvSpPr>
          <p:cNvPr name="Freeform 34" id="34"/>
          <p:cNvSpPr/>
          <p:nvPr/>
        </p:nvSpPr>
        <p:spPr>
          <a:xfrm flipH="false" flipV="false" rot="0">
            <a:off x="5253057" y="7529913"/>
            <a:ext cx="3511582" cy="1692021"/>
          </a:xfrm>
          <a:custGeom>
            <a:avLst/>
            <a:gdLst/>
            <a:ahLst/>
            <a:cxnLst/>
            <a:rect r="r" b="b" t="t" l="l"/>
            <a:pathLst>
              <a:path h="1692021" w="3511582">
                <a:moveTo>
                  <a:pt x="0" y="0"/>
                </a:moveTo>
                <a:lnTo>
                  <a:pt x="3511581" y="0"/>
                </a:lnTo>
                <a:lnTo>
                  <a:pt x="3511581" y="1692021"/>
                </a:lnTo>
                <a:lnTo>
                  <a:pt x="0" y="1692021"/>
                </a:lnTo>
                <a:lnTo>
                  <a:pt x="0" y="0"/>
                </a:lnTo>
                <a:close/>
              </a:path>
            </a:pathLst>
          </a:custGeom>
          <a:blipFill>
            <a:blip r:embed="rId6">
              <a:extLst>
                <a:ext uri="{96DAC541-7B7A-43D3-8B79-37D633B846F1}">
                  <asvg:svgBlip xmlns:asvg="http://schemas.microsoft.com/office/drawing/2016/SVG/main" r:embed="rId7"/>
                </a:ext>
              </a:extLst>
            </a:blip>
            <a:stretch>
              <a:fillRect l="0" t="-56" r="0" b="-56"/>
            </a:stretch>
          </a:blipFill>
        </p:spPr>
        <p:txBody>
          <a:bodyPr/>
          <a:p/>
        </p:txBody>
      </p:sp>
      <p:sp>
        <p:nvSpPr>
          <p:cNvPr name="TextBox 35" id="35"/>
          <p:cNvSpPr txBox="true"/>
          <p:nvPr/>
        </p:nvSpPr>
        <p:spPr>
          <a:xfrm rot="0">
            <a:off x="5449824" y="7519797"/>
            <a:ext cx="3118104" cy="1605915"/>
          </a:xfrm>
          <a:prstGeom prst="rect">
            <a:avLst/>
          </a:prstGeom>
        </p:spPr>
        <p:txBody>
          <a:bodyPr anchor="t" rtlCol="false" tIns="0" lIns="0" bIns="0" rIns="0">
            <a:spAutoFit/>
          </a:bodyPr>
          <a:lstStyle/>
          <a:p>
            <a:pPr algn="l">
              <a:lnSpc>
                <a:spcPts val="1879"/>
              </a:lnSpc>
            </a:pPr>
            <a:r>
              <a:rPr lang="en-US" sz="1449" b="true">
                <a:solidFill>
                  <a:srgbClr val="1C7293"/>
                </a:solidFill>
                <a:latin typeface="Calibri (MS) Bold"/>
                <a:ea typeface="Calibri (MS) Bold"/>
                <a:cs typeface="Calibri (MS) Bold"/>
                <a:sym typeface="Calibri (MS) Bold"/>
              </a:rPr>
              <a:t>Ví dụ minh hoạ</a:t>
            </a:r>
          </a:p>
          <a:p>
            <a:pPr algn="l">
              <a:lnSpc>
                <a:spcPts val="2200"/>
              </a:lnSpc>
            </a:pPr>
            <a:r>
              <a:rPr lang="en-US" sz="1700">
                <a:solidFill>
                  <a:srgbClr val="243044"/>
                </a:solidFill>
                <a:latin typeface="Calibri (MS)"/>
                <a:ea typeface="Calibri (MS)"/>
                <a:cs typeface="Calibri (MS)"/>
                <a:sym typeface="Calibri (MS)"/>
              </a:rPr>
              <a:t>Hiểu đúng ý nhưng sai ngôn ngữ → EM = 0.</a:t>
            </a:r>
          </a:p>
        </p:txBody>
      </p:sp>
      <p:grpSp>
        <p:nvGrpSpPr>
          <p:cNvPr name="Group 36" id="36"/>
          <p:cNvGrpSpPr/>
          <p:nvPr/>
        </p:nvGrpSpPr>
        <p:grpSpPr>
          <a:xfrm rot="0">
            <a:off x="9537192" y="3794760"/>
            <a:ext cx="3483864" cy="2276094"/>
            <a:chOff x="0" y="0"/>
            <a:chExt cx="4645152" cy="3034792"/>
          </a:xfrm>
        </p:grpSpPr>
        <p:sp>
          <p:nvSpPr>
            <p:cNvPr name="Freeform 37" id="37" descr="V3.png"/>
            <p:cNvSpPr/>
            <p:nvPr/>
          </p:nvSpPr>
          <p:spPr>
            <a:xfrm flipH="false" flipV="false" rot="0">
              <a:off x="0" y="0"/>
              <a:ext cx="4645152" cy="3034792"/>
            </a:xfrm>
            <a:custGeom>
              <a:avLst/>
              <a:gdLst/>
              <a:ahLst/>
              <a:cxnLst/>
              <a:rect r="r" b="b" t="t" l="l"/>
              <a:pathLst>
                <a:path h="3034792" w="4645152">
                  <a:moveTo>
                    <a:pt x="0" y="0"/>
                  </a:moveTo>
                  <a:lnTo>
                    <a:pt x="4645152" y="0"/>
                  </a:lnTo>
                  <a:lnTo>
                    <a:pt x="4645152" y="3034792"/>
                  </a:lnTo>
                  <a:lnTo>
                    <a:pt x="0" y="3034792"/>
                  </a:lnTo>
                  <a:lnTo>
                    <a:pt x="0" y="0"/>
                  </a:lnTo>
                  <a:close/>
                </a:path>
              </a:pathLst>
            </a:custGeom>
            <a:blipFill>
              <a:blip r:embed="rId9"/>
              <a:stretch>
                <a:fillRect l="-3" t="0" r="-3" b="0"/>
              </a:stretch>
            </a:blipFill>
          </p:spPr>
          <p:txBody>
            <a:bodyPr/>
            <a:p/>
          </p:txBody>
        </p:sp>
      </p:grpSp>
      <p:sp>
        <p:nvSpPr>
          <p:cNvPr name="TextBox 38" id="38"/>
          <p:cNvSpPr txBox="true"/>
          <p:nvPr/>
        </p:nvSpPr>
        <p:spPr>
          <a:xfrm rot="0">
            <a:off x="9665208" y="6082313"/>
            <a:ext cx="3282696" cy="1360170"/>
          </a:xfrm>
          <a:prstGeom prst="rect">
            <a:avLst/>
          </a:prstGeom>
        </p:spPr>
        <p:txBody>
          <a:bodyPr anchor="t" rtlCol="false" tIns="0" lIns="0" bIns="0" rIns="0">
            <a:spAutoFit/>
          </a:bodyPr>
          <a:lstStyle/>
          <a:p>
            <a:pPr algn="l">
              <a:lnSpc>
                <a:spcPts val="2329"/>
              </a:lnSpc>
            </a:pPr>
            <a:r>
              <a:rPr lang="en-US" sz="1800">
                <a:solidFill>
                  <a:srgbClr val="243044"/>
                </a:solidFill>
                <a:latin typeface="Calibri (MS)"/>
                <a:ea typeface="Calibri (MS)"/>
                <a:cs typeface="Calibri (MS)"/>
                <a:sym typeface="Calibri (MS)"/>
              </a:rPr>
              <a:t>Khoảng trắng tách âm tiết, không tách từ; đọc sai thứ tự là vỡ từ.</a:t>
            </a:r>
          </a:p>
        </p:txBody>
      </p:sp>
      <p:sp>
        <p:nvSpPr>
          <p:cNvPr name="Freeform 39" id="39"/>
          <p:cNvSpPr/>
          <p:nvPr/>
        </p:nvSpPr>
        <p:spPr>
          <a:xfrm flipH="false" flipV="false" rot="0">
            <a:off x="9523305" y="7529913"/>
            <a:ext cx="3511582" cy="1692021"/>
          </a:xfrm>
          <a:custGeom>
            <a:avLst/>
            <a:gdLst/>
            <a:ahLst/>
            <a:cxnLst/>
            <a:rect r="r" b="b" t="t" l="l"/>
            <a:pathLst>
              <a:path h="1692021" w="3511582">
                <a:moveTo>
                  <a:pt x="0" y="0"/>
                </a:moveTo>
                <a:lnTo>
                  <a:pt x="3511581" y="0"/>
                </a:lnTo>
                <a:lnTo>
                  <a:pt x="3511581" y="1692021"/>
                </a:lnTo>
                <a:lnTo>
                  <a:pt x="0" y="1692021"/>
                </a:lnTo>
                <a:lnTo>
                  <a:pt x="0" y="0"/>
                </a:lnTo>
                <a:close/>
              </a:path>
            </a:pathLst>
          </a:custGeom>
          <a:blipFill>
            <a:blip r:embed="rId6">
              <a:extLst>
                <a:ext uri="{96DAC541-7B7A-43D3-8B79-37D633B846F1}">
                  <asvg:svgBlip xmlns:asvg="http://schemas.microsoft.com/office/drawing/2016/SVG/main" r:embed="rId7"/>
                </a:ext>
              </a:extLst>
            </a:blip>
            <a:stretch>
              <a:fillRect l="0" t="-56" r="0" b="-56"/>
            </a:stretch>
          </a:blipFill>
        </p:spPr>
        <p:txBody>
          <a:bodyPr/>
          <a:p/>
        </p:txBody>
      </p:sp>
      <p:sp>
        <p:nvSpPr>
          <p:cNvPr name="TextBox 40" id="40"/>
          <p:cNvSpPr txBox="true"/>
          <p:nvPr/>
        </p:nvSpPr>
        <p:spPr>
          <a:xfrm rot="0">
            <a:off x="9720072" y="7519797"/>
            <a:ext cx="3118104" cy="1605915"/>
          </a:xfrm>
          <a:prstGeom prst="rect">
            <a:avLst/>
          </a:prstGeom>
        </p:spPr>
        <p:txBody>
          <a:bodyPr anchor="t" rtlCol="false" tIns="0" lIns="0" bIns="0" rIns="0">
            <a:spAutoFit/>
          </a:bodyPr>
          <a:lstStyle/>
          <a:p>
            <a:pPr algn="l">
              <a:lnSpc>
                <a:spcPts val="1879"/>
              </a:lnSpc>
            </a:pPr>
            <a:r>
              <a:rPr lang="en-US" sz="1449" b="true">
                <a:solidFill>
                  <a:srgbClr val="1C7293"/>
                </a:solidFill>
                <a:latin typeface="Calibri (MS) Bold"/>
                <a:ea typeface="Calibri (MS) Bold"/>
                <a:cs typeface="Calibri (MS) Bold"/>
                <a:sym typeface="Calibri (MS) Bold"/>
              </a:rPr>
              <a:t>Ví dụ</a:t>
            </a:r>
          </a:p>
          <a:p>
            <a:pPr algn="l">
              <a:lnSpc>
                <a:spcPts val="2200"/>
              </a:lnSpc>
            </a:pPr>
            <a:r>
              <a:rPr lang="en-US" sz="1700">
                <a:solidFill>
                  <a:srgbClr val="243044"/>
                </a:solidFill>
                <a:latin typeface="Calibri (MS)"/>
                <a:ea typeface="Calibri (MS)"/>
                <a:cs typeface="Calibri (MS)"/>
                <a:sym typeface="Calibri (MS)"/>
              </a:rPr>
              <a:t>Đúng: cửa hàng điện thoại</a:t>
            </a:r>
          </a:p>
          <a:p>
            <a:pPr algn="l">
              <a:lnSpc>
                <a:spcPts val="2200"/>
              </a:lnSpc>
            </a:pPr>
            <a:r>
              <a:rPr lang="en-US" sz="1700">
                <a:solidFill>
                  <a:srgbClr val="243044"/>
                </a:solidFill>
                <a:latin typeface="Calibri (MS)"/>
                <a:ea typeface="Calibri (MS)"/>
                <a:cs typeface="Calibri (MS)"/>
                <a:sym typeface="Calibri (MS)"/>
              </a:rPr>
              <a:t>Sai: cửa điện hàng thoại</a:t>
            </a:r>
          </a:p>
        </p:txBody>
      </p:sp>
      <p:grpSp>
        <p:nvGrpSpPr>
          <p:cNvPr name="Group 41" id="41"/>
          <p:cNvGrpSpPr/>
          <p:nvPr/>
        </p:nvGrpSpPr>
        <p:grpSpPr>
          <a:xfrm rot="0">
            <a:off x="13798296" y="3794760"/>
            <a:ext cx="3483864" cy="2276094"/>
            <a:chOff x="0" y="0"/>
            <a:chExt cx="4645152" cy="3034792"/>
          </a:xfrm>
        </p:grpSpPr>
        <p:sp>
          <p:nvSpPr>
            <p:cNvPr name="Freeform 42" id="42" descr="V4.png"/>
            <p:cNvSpPr/>
            <p:nvPr/>
          </p:nvSpPr>
          <p:spPr>
            <a:xfrm flipH="false" flipV="false" rot="0">
              <a:off x="0" y="0"/>
              <a:ext cx="4645152" cy="3034792"/>
            </a:xfrm>
            <a:custGeom>
              <a:avLst/>
              <a:gdLst/>
              <a:ahLst/>
              <a:cxnLst/>
              <a:rect r="r" b="b" t="t" l="l"/>
              <a:pathLst>
                <a:path h="3034792" w="4645152">
                  <a:moveTo>
                    <a:pt x="0" y="0"/>
                  </a:moveTo>
                  <a:lnTo>
                    <a:pt x="4645152" y="0"/>
                  </a:lnTo>
                  <a:lnTo>
                    <a:pt x="4645152" y="3034792"/>
                  </a:lnTo>
                  <a:lnTo>
                    <a:pt x="0" y="3034792"/>
                  </a:lnTo>
                  <a:lnTo>
                    <a:pt x="0" y="0"/>
                  </a:lnTo>
                  <a:close/>
                </a:path>
              </a:pathLst>
            </a:custGeom>
            <a:blipFill>
              <a:blip r:embed="rId10"/>
              <a:stretch>
                <a:fillRect l="-3" t="0" r="-3" b="0"/>
              </a:stretch>
            </a:blipFill>
          </p:spPr>
          <p:txBody>
            <a:bodyPr/>
            <a:p/>
          </p:txBody>
        </p:sp>
      </p:grpSp>
      <p:sp>
        <p:nvSpPr>
          <p:cNvPr name="TextBox 43" id="43"/>
          <p:cNvSpPr txBox="true"/>
          <p:nvPr/>
        </p:nvSpPr>
        <p:spPr>
          <a:xfrm rot="0">
            <a:off x="13926312" y="6082313"/>
            <a:ext cx="3282696" cy="1360170"/>
          </a:xfrm>
          <a:prstGeom prst="rect">
            <a:avLst/>
          </a:prstGeom>
        </p:spPr>
        <p:txBody>
          <a:bodyPr anchor="t" rtlCol="false" tIns="0" lIns="0" bIns="0" rIns="0">
            <a:spAutoFit/>
          </a:bodyPr>
          <a:lstStyle/>
          <a:p>
            <a:pPr algn="l">
              <a:lnSpc>
                <a:spcPts val="2329"/>
              </a:lnSpc>
            </a:pPr>
            <a:r>
              <a:rPr lang="en-US" sz="1800">
                <a:solidFill>
                  <a:srgbClr val="243044"/>
                </a:solidFill>
                <a:latin typeface="Calibri (MS)"/>
                <a:ea typeface="Calibri (MS)"/>
                <a:cs typeface="Calibri (MS)"/>
                <a:sym typeface="Calibri (MS)"/>
              </a:rPr>
              <a:t>Trả lời trôi chảy nhưng nội dung không có trong ảnh.</a:t>
            </a:r>
          </a:p>
        </p:txBody>
      </p:sp>
      <p:sp>
        <p:nvSpPr>
          <p:cNvPr name="Freeform 44" id="44"/>
          <p:cNvSpPr/>
          <p:nvPr/>
        </p:nvSpPr>
        <p:spPr>
          <a:xfrm flipH="false" flipV="false" rot="0">
            <a:off x="13784409" y="7529913"/>
            <a:ext cx="3511582" cy="1692021"/>
          </a:xfrm>
          <a:custGeom>
            <a:avLst/>
            <a:gdLst/>
            <a:ahLst/>
            <a:cxnLst/>
            <a:rect r="r" b="b" t="t" l="l"/>
            <a:pathLst>
              <a:path h="1692021" w="3511582">
                <a:moveTo>
                  <a:pt x="0" y="0"/>
                </a:moveTo>
                <a:lnTo>
                  <a:pt x="3511581" y="0"/>
                </a:lnTo>
                <a:lnTo>
                  <a:pt x="3511581" y="1692021"/>
                </a:lnTo>
                <a:lnTo>
                  <a:pt x="0" y="1692021"/>
                </a:lnTo>
                <a:lnTo>
                  <a:pt x="0" y="0"/>
                </a:lnTo>
                <a:close/>
              </a:path>
            </a:pathLst>
          </a:custGeom>
          <a:blipFill>
            <a:blip r:embed="rId6">
              <a:extLst>
                <a:ext uri="{96DAC541-7B7A-43D3-8B79-37D633B846F1}">
                  <asvg:svgBlip xmlns:asvg="http://schemas.microsoft.com/office/drawing/2016/SVG/main" r:embed="rId7"/>
                </a:ext>
              </a:extLst>
            </a:blip>
            <a:stretch>
              <a:fillRect l="0" t="-56" r="0" b="-56"/>
            </a:stretch>
          </a:blipFill>
        </p:spPr>
        <p:txBody>
          <a:bodyPr/>
          <a:p/>
        </p:txBody>
      </p:sp>
      <p:sp>
        <p:nvSpPr>
          <p:cNvPr name="TextBox 45" id="45"/>
          <p:cNvSpPr txBox="true"/>
          <p:nvPr/>
        </p:nvSpPr>
        <p:spPr>
          <a:xfrm rot="0">
            <a:off x="13981176" y="7519797"/>
            <a:ext cx="3118104" cy="1605915"/>
          </a:xfrm>
          <a:prstGeom prst="rect">
            <a:avLst/>
          </a:prstGeom>
        </p:spPr>
        <p:txBody>
          <a:bodyPr anchor="t" rtlCol="false" tIns="0" lIns="0" bIns="0" rIns="0">
            <a:spAutoFit/>
          </a:bodyPr>
          <a:lstStyle/>
          <a:p>
            <a:pPr algn="l">
              <a:lnSpc>
                <a:spcPts val="1879"/>
              </a:lnSpc>
            </a:pPr>
            <a:r>
              <a:rPr lang="en-US" sz="1449" b="true">
                <a:solidFill>
                  <a:srgbClr val="1C7293"/>
                </a:solidFill>
                <a:latin typeface="Calibri (MS) Bold"/>
                <a:ea typeface="Calibri (MS) Bold"/>
                <a:cs typeface="Calibri (MS) Bold"/>
                <a:sym typeface="Calibri (MS) Bold"/>
              </a:rPr>
              <a:t>Ví dụ minh hoạ</a:t>
            </a:r>
          </a:p>
          <a:p>
            <a:pPr algn="l">
              <a:lnSpc>
                <a:spcPts val="2200"/>
              </a:lnSpc>
            </a:pPr>
            <a:r>
              <a:rPr lang="en-US" sz="1700">
                <a:solidFill>
                  <a:srgbClr val="243044"/>
                </a:solidFill>
                <a:latin typeface="Calibri (MS)"/>
                <a:ea typeface="Calibri (MS)"/>
                <a:cs typeface="Calibri (MS)"/>
                <a:sym typeface="Calibri (MS)"/>
              </a:rPr>
              <a:t>Hỏi “Người đạp xe mặc áo màu gì?” → “áo xanh” ✗</a:t>
            </a:r>
          </a:p>
        </p:txBody>
      </p:sp>
      <p:grpSp>
        <p:nvGrpSpPr>
          <p:cNvPr name="Group 46" id="46"/>
          <p:cNvGrpSpPr/>
          <p:nvPr/>
        </p:nvGrpSpPr>
        <p:grpSpPr>
          <a:xfrm rot="0">
            <a:off x="822960" y="9655969"/>
            <a:ext cx="13716000" cy="360331"/>
            <a:chOff x="0" y="0"/>
            <a:chExt cx="18288000" cy="480441"/>
          </a:xfrm>
        </p:grpSpPr>
        <p:sp>
          <p:nvSpPr>
            <p:cNvPr name="Freeform 47" id="47"/>
            <p:cNvSpPr/>
            <p:nvPr/>
          </p:nvSpPr>
          <p:spPr>
            <a:xfrm flipH="false" flipV="false" rot="0">
              <a:off x="0" y="0"/>
              <a:ext cx="18288000" cy="480441"/>
            </a:xfrm>
            <a:custGeom>
              <a:avLst/>
              <a:gdLst/>
              <a:ahLst/>
              <a:cxnLst/>
              <a:rect r="r" b="b" t="t" l="l"/>
              <a:pathLst>
                <a:path h="480441" w="18288000">
                  <a:moveTo>
                    <a:pt x="0" y="0"/>
                  </a:moveTo>
                  <a:lnTo>
                    <a:pt x="18288000" y="0"/>
                  </a:lnTo>
                  <a:lnTo>
                    <a:pt x="18288000" y="480441"/>
                  </a:lnTo>
                  <a:lnTo>
                    <a:pt x="0" y="480441"/>
                  </a:lnTo>
                  <a:close/>
                </a:path>
              </a:pathLst>
            </a:custGeom>
            <a:blipFill>
              <a:blip r:embed="rId11">
                <a:alphaModFix amt="0"/>
              </a:blip>
              <a:stretch>
                <a:fillRect l="0" t="-691181" r="0" b="-691184"/>
              </a:stretch>
            </a:blipFill>
          </p:spPr>
          <p:txBody>
            <a:bodyPr/>
            <a:p/>
          </p:txBody>
        </p:sp>
      </p:grpSp>
      <p:grpSp>
        <p:nvGrpSpPr>
          <p:cNvPr name="Group 48" id="48"/>
          <p:cNvGrpSpPr/>
          <p:nvPr/>
        </p:nvGrpSpPr>
        <p:grpSpPr>
          <a:xfrm rot="0">
            <a:off x="822960" y="9627394"/>
            <a:ext cx="13716000" cy="388896"/>
            <a:chOff x="0" y="0"/>
            <a:chExt cx="18288000" cy="518528"/>
          </a:xfrm>
        </p:grpSpPr>
        <p:sp>
          <p:nvSpPr>
            <p:cNvPr name="Freeform 49" id="49"/>
            <p:cNvSpPr/>
            <p:nvPr/>
          </p:nvSpPr>
          <p:spPr>
            <a:xfrm flipH="false" flipV="false" rot="0">
              <a:off x="0" y="0"/>
              <a:ext cx="18288000" cy="518541"/>
            </a:xfrm>
            <a:custGeom>
              <a:avLst/>
              <a:gdLst/>
              <a:ahLst/>
              <a:cxnLst/>
              <a:rect r="r" b="b" t="t" l="l"/>
              <a:pathLst>
                <a:path h="518541" w="18288000">
                  <a:moveTo>
                    <a:pt x="0" y="0"/>
                  </a:moveTo>
                  <a:lnTo>
                    <a:pt x="18288000" y="0"/>
                  </a:lnTo>
                  <a:lnTo>
                    <a:pt x="18288000" y="518541"/>
                  </a:lnTo>
                  <a:lnTo>
                    <a:pt x="0" y="518541"/>
                  </a:lnTo>
                  <a:close/>
                </a:path>
              </a:pathLst>
            </a:custGeom>
            <a:blipFill>
              <a:blip r:embed="rId12">
                <a:alphaModFix amt="0"/>
              </a:blip>
              <a:stretch>
                <a:fillRect l="0" t="-636725" r="0" b="-636722"/>
              </a:stretch>
            </a:blipFill>
          </p:spPr>
          <p:txBody>
            <a:bodyPr/>
            <a:p/>
          </p:txBody>
        </p:sp>
      </p:grpSp>
      <p:grpSp>
        <p:nvGrpSpPr>
          <p:cNvPr name="Group 50" id="50"/>
          <p:cNvGrpSpPr/>
          <p:nvPr/>
        </p:nvGrpSpPr>
        <p:grpSpPr>
          <a:xfrm rot="0">
            <a:off x="822960" y="9598819"/>
            <a:ext cx="13716000" cy="417471"/>
            <a:chOff x="0" y="0"/>
            <a:chExt cx="18288000" cy="556628"/>
          </a:xfrm>
        </p:grpSpPr>
        <p:sp>
          <p:nvSpPr>
            <p:cNvPr name="Freeform 51" id="51"/>
            <p:cNvSpPr/>
            <p:nvPr/>
          </p:nvSpPr>
          <p:spPr>
            <a:xfrm flipH="false" flipV="false" rot="0">
              <a:off x="0" y="0"/>
              <a:ext cx="18288000" cy="556628"/>
            </a:xfrm>
            <a:custGeom>
              <a:avLst/>
              <a:gdLst/>
              <a:ahLst/>
              <a:cxnLst/>
              <a:rect r="r" b="b" t="t" l="l"/>
              <a:pathLst>
                <a:path h="556628" w="18288000">
                  <a:moveTo>
                    <a:pt x="0" y="0"/>
                  </a:moveTo>
                  <a:lnTo>
                    <a:pt x="18288000" y="0"/>
                  </a:lnTo>
                  <a:lnTo>
                    <a:pt x="18288000" y="556628"/>
                  </a:lnTo>
                  <a:lnTo>
                    <a:pt x="0" y="556628"/>
                  </a:lnTo>
                  <a:close/>
                </a:path>
              </a:pathLst>
            </a:custGeom>
            <a:blipFill>
              <a:blip r:embed="rId13">
                <a:alphaModFix amt="0"/>
              </a:blip>
              <a:stretch>
                <a:fillRect l="0" t="-590180" r="0" b="-590180"/>
              </a:stretch>
            </a:blipFill>
          </p:spPr>
          <p:txBody>
            <a:bodyPr/>
            <a:p/>
          </p:txBody>
        </p:sp>
        <p:sp>
          <p:nvSpPr>
            <p:cNvPr name="TextBox 52" id="52"/>
            <p:cNvSpPr txBox="true"/>
            <p:nvPr/>
          </p:nvSpPr>
          <p:spPr>
            <a:xfrm>
              <a:off x="0" y="-38100"/>
              <a:ext cx="18288000" cy="594728"/>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GFA26AI35 · Đại học FPT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1 · PHẠM VI · 03 · KHOẢNG TRỐNG NGHIÊN CỨU</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Bốn khoảng trống — G3 là trọng tâm</a:t>
            </a:r>
          </a:p>
        </p:txBody>
      </p:sp>
      <p:sp>
        <p:nvSpPr>
          <p:cNvPr name="Freeform 6" id="6"/>
          <p:cNvSpPr/>
          <p:nvPr/>
        </p:nvSpPr>
        <p:spPr>
          <a:xfrm flipH="false" flipV="false" rot="0">
            <a:off x="806291" y="2040731"/>
            <a:ext cx="3885152" cy="6342697"/>
          </a:xfrm>
          <a:custGeom>
            <a:avLst/>
            <a:gdLst/>
            <a:ahLst/>
            <a:cxnLst/>
            <a:rect r="r" b="b" t="t" l="l"/>
            <a:pathLst>
              <a:path h="6342697" w="3885152">
                <a:moveTo>
                  <a:pt x="0" y="0"/>
                </a:moveTo>
                <a:lnTo>
                  <a:pt x="3885153" y="0"/>
                </a:lnTo>
                <a:lnTo>
                  <a:pt x="3885153" y="6342698"/>
                </a:lnTo>
                <a:lnTo>
                  <a:pt x="0" y="6342698"/>
                </a:lnTo>
                <a:lnTo>
                  <a:pt x="0" y="0"/>
                </a:lnTo>
                <a:close/>
              </a:path>
            </a:pathLst>
          </a:custGeom>
          <a:blipFill>
            <a:blip r:embed="rId3">
              <a:extLst>
                <a:ext uri="{96DAC541-7B7A-43D3-8B79-37D633B846F1}">
                  <asvg:svgBlip xmlns:asvg="http://schemas.microsoft.com/office/drawing/2016/SVG/main" r:embed="rId4"/>
                </a:ext>
              </a:extLst>
            </a:blip>
            <a:stretch>
              <a:fillRect l="-5" t="0" r="-6" b="0"/>
            </a:stretch>
          </a:blipFill>
        </p:spPr>
        <p:txBody>
          <a:bodyPr/>
          <a:p/>
        </p:txBody>
      </p:sp>
      <p:sp>
        <p:nvSpPr>
          <p:cNvPr name="TextBox 7" id="7"/>
          <p:cNvSpPr txBox="true"/>
          <p:nvPr/>
        </p:nvSpPr>
        <p:spPr>
          <a:xfrm rot="0">
            <a:off x="1165860" y="2194560"/>
            <a:ext cx="3165996" cy="723900"/>
          </a:xfrm>
          <a:prstGeom prst="rect">
            <a:avLst/>
          </a:prstGeom>
        </p:spPr>
        <p:txBody>
          <a:bodyPr anchor="t" rtlCol="false" tIns="0" lIns="0" bIns="0" rIns="0">
            <a:spAutoFit/>
          </a:bodyPr>
          <a:lstStyle/>
          <a:p>
            <a:pPr algn="l">
              <a:lnSpc>
                <a:spcPts val="3960"/>
              </a:lnSpc>
            </a:pPr>
            <a:r>
              <a:rPr lang="en-US" sz="3300" b="true">
                <a:solidFill>
                  <a:srgbClr val="1C7293"/>
                </a:solidFill>
                <a:latin typeface="Cambria Bold"/>
                <a:ea typeface="Cambria Bold"/>
                <a:cs typeface="Cambria Bold"/>
                <a:sym typeface="Cambria Bold"/>
              </a:rPr>
              <a:t>G1</a:t>
            </a:r>
          </a:p>
        </p:txBody>
      </p:sp>
      <p:sp>
        <p:nvSpPr>
          <p:cNvPr name="TextBox 8" id="8"/>
          <p:cNvSpPr txBox="true"/>
          <p:nvPr/>
        </p:nvSpPr>
        <p:spPr>
          <a:xfrm rot="0">
            <a:off x="1165860" y="2724912"/>
            <a:ext cx="3165996" cy="868680"/>
          </a:xfrm>
          <a:prstGeom prst="rect">
            <a:avLst/>
          </a:prstGeom>
        </p:spPr>
        <p:txBody>
          <a:bodyPr anchor="t" rtlCol="false" tIns="0" lIns="0" bIns="0" rIns="0">
            <a:spAutoFit/>
          </a:bodyPr>
          <a:lstStyle/>
          <a:p>
            <a:pPr algn="l">
              <a:lnSpc>
                <a:spcPts val="2700"/>
              </a:lnSpc>
            </a:pPr>
            <a:r>
              <a:rPr lang="en-US" sz="2250" b="true">
                <a:solidFill>
                  <a:srgbClr val="13294B"/>
                </a:solidFill>
                <a:latin typeface="Calibri (MS) Bold"/>
                <a:ea typeface="Calibri (MS) Bold"/>
                <a:cs typeface="Calibri (MS) Bold"/>
                <a:sym typeface="Calibri (MS) Bold"/>
              </a:rPr>
              <a:t>Tiền huấn luyện thiên lệch tiếng Anh</a:t>
            </a:r>
          </a:p>
        </p:txBody>
      </p:sp>
      <p:sp>
        <p:nvSpPr>
          <p:cNvPr name="TextBox 9" id="9"/>
          <p:cNvSpPr txBox="true"/>
          <p:nvPr/>
        </p:nvSpPr>
        <p:spPr>
          <a:xfrm rot="0">
            <a:off x="1165860" y="6382512"/>
            <a:ext cx="3165996" cy="1005840"/>
          </a:xfrm>
          <a:prstGeom prst="rect">
            <a:avLst/>
          </a:prstGeom>
        </p:spPr>
        <p:txBody>
          <a:bodyPr anchor="t" rtlCol="false" tIns="0" lIns="0" bIns="0" rIns="0">
            <a:spAutoFit/>
          </a:bodyPr>
          <a:lstStyle/>
          <a:p>
            <a:pPr algn="l">
              <a:lnSpc>
                <a:spcPts val="2610"/>
              </a:lnSpc>
            </a:pPr>
            <a:r>
              <a:rPr lang="en-US" sz="1700" b="1">
                <a:solidFill>
                  <a:srgbClr val="243044"/>
                </a:solidFill>
                <a:latin typeface="Calibri (MS) Bold"/>
                <a:ea typeface="Calibri (MS)"/>
                <a:cs typeface="Calibri (MS)"/>
                <a:sym typeface="Calibri (MS)"/>
              </a:rPr>
              <a:t>Zero-shot trả lời lẫn tiếng Anh, sai ngôn ngữ</a:t>
            </a:r>
          </a:p>
        </p:txBody>
      </p:sp>
      <p:grpSp>
        <p:nvGrpSpPr>
          <p:cNvPr name="Group 10" id="10"/>
          <p:cNvGrpSpPr/>
          <p:nvPr/>
        </p:nvGrpSpPr>
        <p:grpSpPr>
          <a:xfrm rot="0">
            <a:off x="1165860" y="7475220"/>
            <a:ext cx="3166015" cy="685800"/>
            <a:chOff x="0" y="0"/>
            <a:chExt cx="4221353" cy="914400"/>
          </a:xfrm>
        </p:grpSpPr>
        <p:sp>
          <p:nvSpPr>
            <p:cNvPr name="Freeform 11" id="11"/>
            <p:cNvSpPr/>
            <p:nvPr/>
          </p:nvSpPr>
          <p:spPr>
            <a:xfrm flipH="false" flipV="false" rot="0">
              <a:off x="0" y="0"/>
              <a:ext cx="4221353" cy="914400"/>
            </a:xfrm>
            <a:custGeom>
              <a:avLst/>
              <a:gdLst/>
              <a:ahLst/>
              <a:cxnLst/>
              <a:rect r="r" b="b" t="t" l="l"/>
              <a:pathLst>
                <a:path h="914400" w="4221353">
                  <a:moveTo>
                    <a:pt x="0" y="0"/>
                  </a:moveTo>
                  <a:lnTo>
                    <a:pt x="4221353" y="0"/>
                  </a:lnTo>
                  <a:lnTo>
                    <a:pt x="4221353" y="914400"/>
                  </a:lnTo>
                  <a:lnTo>
                    <a:pt x="0" y="914400"/>
                  </a:lnTo>
                  <a:close/>
                </a:path>
              </a:pathLst>
            </a:custGeom>
            <a:blipFill>
              <a:blip r:embed="rId2">
                <a:alphaModFix amt="0"/>
              </a:blip>
              <a:stretch>
                <a:fillRect l="0" t="-39890" r="0" b="-39891"/>
              </a:stretch>
            </a:blipFill>
          </p:spPr>
          <p:txBody>
            <a:bodyPr/>
            <a:p/>
          </p:txBody>
        </p:sp>
      </p:grpSp>
      <p:grpSp>
        <p:nvGrpSpPr>
          <p:cNvPr name="Group 12" id="12"/>
          <p:cNvGrpSpPr/>
          <p:nvPr/>
        </p:nvGrpSpPr>
        <p:grpSpPr>
          <a:xfrm rot="0">
            <a:off x="1165860" y="7460932"/>
            <a:ext cx="3166015" cy="700088"/>
            <a:chOff x="0" y="0"/>
            <a:chExt cx="4221353" cy="933450"/>
          </a:xfrm>
        </p:grpSpPr>
        <p:sp>
          <p:nvSpPr>
            <p:cNvPr name="Freeform 13" id="13"/>
            <p:cNvSpPr/>
            <p:nvPr/>
          </p:nvSpPr>
          <p:spPr>
            <a:xfrm flipH="false" flipV="false" rot="0">
              <a:off x="0" y="0"/>
              <a:ext cx="4221353" cy="933450"/>
            </a:xfrm>
            <a:custGeom>
              <a:avLst/>
              <a:gdLst/>
              <a:ahLst/>
              <a:cxnLst/>
              <a:rect r="r" b="b" t="t" l="l"/>
              <a:pathLst>
                <a:path h="933450" w="4221353">
                  <a:moveTo>
                    <a:pt x="0" y="0"/>
                  </a:moveTo>
                  <a:lnTo>
                    <a:pt x="4221353" y="0"/>
                  </a:lnTo>
                  <a:lnTo>
                    <a:pt x="4221353" y="933450"/>
                  </a:lnTo>
                  <a:lnTo>
                    <a:pt x="0" y="933450"/>
                  </a:lnTo>
                  <a:close/>
                </a:path>
              </a:pathLst>
            </a:custGeom>
            <a:blipFill>
              <a:blip r:embed="rId5">
                <a:alphaModFix amt="0"/>
              </a:blip>
              <a:stretch>
                <a:fillRect l="0" t="-38055" r="0" b="-38057"/>
              </a:stretch>
            </a:blipFill>
          </p:spPr>
          <p:txBody>
            <a:bodyPr/>
            <a:p/>
          </p:txBody>
        </p:sp>
      </p:grpSp>
      <p:grpSp>
        <p:nvGrpSpPr>
          <p:cNvPr name="Group 14" id="14"/>
          <p:cNvGrpSpPr/>
          <p:nvPr/>
        </p:nvGrpSpPr>
        <p:grpSpPr>
          <a:xfrm rot="0">
            <a:off x="1165860" y="7446645"/>
            <a:ext cx="3165996" cy="714375"/>
            <a:chOff x="0" y="0"/>
            <a:chExt cx="4221328" cy="952500"/>
          </a:xfrm>
        </p:grpSpPr>
        <p:sp>
          <p:nvSpPr>
            <p:cNvPr name="Freeform 15" id="15"/>
            <p:cNvSpPr/>
            <p:nvPr/>
          </p:nvSpPr>
          <p:spPr>
            <a:xfrm flipH="false" flipV="false" rot="0">
              <a:off x="0" y="0"/>
              <a:ext cx="4221353" cy="952500"/>
            </a:xfrm>
            <a:custGeom>
              <a:avLst/>
              <a:gdLst/>
              <a:ahLst/>
              <a:cxnLst/>
              <a:rect r="r" b="b" t="t" l="l"/>
              <a:pathLst>
                <a:path h="952500" w="4221353">
                  <a:moveTo>
                    <a:pt x="0" y="0"/>
                  </a:moveTo>
                  <a:lnTo>
                    <a:pt x="4221353" y="0"/>
                  </a:lnTo>
                  <a:lnTo>
                    <a:pt x="4221353" y="952500"/>
                  </a:lnTo>
                  <a:lnTo>
                    <a:pt x="0" y="952500"/>
                  </a:lnTo>
                  <a:close/>
                </a:path>
              </a:pathLst>
            </a:custGeom>
            <a:blipFill>
              <a:blip r:embed="rId6">
                <a:alphaModFix amt="0"/>
              </a:blip>
              <a:stretch>
                <a:fillRect l="0" t="-36294" r="0" b="-36294"/>
              </a:stretch>
            </a:blipFill>
          </p:spPr>
          <p:txBody>
            <a:bodyPr/>
            <a:p/>
          </p:txBody>
        </p:sp>
      </p:grpSp>
      <p:grpSp>
        <p:nvGrpSpPr>
          <p:cNvPr name="Group 16" id="16"/>
          <p:cNvGrpSpPr/>
          <p:nvPr/>
        </p:nvGrpSpPr>
        <p:grpSpPr>
          <a:xfrm rot="0">
            <a:off x="1165860" y="7432357"/>
            <a:ext cx="3165996" cy="728662"/>
            <a:chOff x="0" y="0"/>
            <a:chExt cx="4221328" cy="971550"/>
          </a:xfrm>
        </p:grpSpPr>
        <p:sp>
          <p:nvSpPr>
            <p:cNvPr name="Freeform 17" id="17"/>
            <p:cNvSpPr/>
            <p:nvPr/>
          </p:nvSpPr>
          <p:spPr>
            <a:xfrm flipH="false" flipV="false" rot="0">
              <a:off x="0" y="0"/>
              <a:ext cx="4221328" cy="971550"/>
            </a:xfrm>
            <a:custGeom>
              <a:avLst/>
              <a:gdLst/>
              <a:ahLst/>
              <a:cxnLst/>
              <a:rect r="r" b="b" t="t" l="l"/>
              <a:pathLst>
                <a:path h="971550" w="4221328">
                  <a:moveTo>
                    <a:pt x="0" y="0"/>
                  </a:moveTo>
                  <a:lnTo>
                    <a:pt x="4221328" y="0"/>
                  </a:lnTo>
                  <a:lnTo>
                    <a:pt x="4221328" y="971550"/>
                  </a:lnTo>
                  <a:lnTo>
                    <a:pt x="0" y="971550"/>
                  </a:lnTo>
                  <a:close/>
                </a:path>
              </a:pathLst>
            </a:custGeom>
            <a:blipFill>
              <a:blip r:embed="rId7">
                <a:alphaModFix amt="0"/>
              </a:blip>
              <a:stretch>
                <a:fillRect l="0" t="-34661" r="0" b="-34661"/>
              </a:stretch>
            </a:blipFill>
          </p:spPr>
          <p:txBody>
            <a:bodyPr/>
            <a:p/>
          </p:txBody>
        </p:sp>
        <p:sp>
          <p:nvSpPr>
            <p:cNvPr name="TextBox 18" id="18"/>
            <p:cNvSpPr txBox="true"/>
            <p:nvPr/>
          </p:nvSpPr>
          <p:spPr>
            <a:xfrm>
              <a:off x="0" y="-19050"/>
              <a:ext cx="4221328" cy="990600"/>
            </a:xfrm>
            <a:prstGeom prst="rect">
              <a:avLst/>
            </a:prstGeom>
          </p:spPr>
          <p:txBody>
            <a:bodyPr anchor="b" rtlCol="false" tIns="0" lIns="0" bIns="0" rIns="0"/>
            <a:lstStyle/>
            <a:p>
              <a:pPr algn="l">
                <a:lnSpc>
                  <a:spcPts val="1889"/>
                </a:lnSpc>
              </a:pPr>
              <a:r>
                <a:rPr lang="en-US" sz="1575" i="true" u="sng">
                  <a:solidFill>
                    <a:srgbClr val="0000FF"/>
                  </a:solidFill>
                  <a:latin typeface="Calibri (MS) Italics"/>
                  <a:ea typeface="Calibri (MS) Italics"/>
                  <a:cs typeface="Calibri (MS) Italics"/>
                  <a:sym typeface="Calibri (MS) Italics"/>
                  <a:hlinkClick r:id="rId8" tooltip="https://arxiv.org/pdf/2509.23661"/>
                </a:rPr>
                <a:t>LLaVA-1.5 (Liu et al., CVPR 2024)</a:t>
              </a:r>
            </a:p>
          </p:txBody>
        </p:sp>
      </p:grpSp>
      <p:sp>
        <p:nvSpPr>
          <p:cNvPr name="Freeform 19" id="19"/>
          <p:cNvSpPr/>
          <p:nvPr/>
        </p:nvSpPr>
        <p:spPr>
          <a:xfrm flipH="false" flipV="false" rot="0">
            <a:off x="5069567" y="2040731"/>
            <a:ext cx="3885152" cy="6342697"/>
          </a:xfrm>
          <a:custGeom>
            <a:avLst/>
            <a:gdLst/>
            <a:ahLst/>
            <a:cxnLst/>
            <a:rect r="r" b="b" t="t" l="l"/>
            <a:pathLst>
              <a:path h="6342697" w="3885152">
                <a:moveTo>
                  <a:pt x="0" y="0"/>
                </a:moveTo>
                <a:lnTo>
                  <a:pt x="3885152" y="0"/>
                </a:lnTo>
                <a:lnTo>
                  <a:pt x="3885152" y="6342698"/>
                </a:lnTo>
                <a:lnTo>
                  <a:pt x="0" y="6342698"/>
                </a:lnTo>
                <a:lnTo>
                  <a:pt x="0" y="0"/>
                </a:lnTo>
                <a:close/>
              </a:path>
            </a:pathLst>
          </a:custGeom>
          <a:blipFill>
            <a:blip r:embed="rId3">
              <a:extLst>
                <a:ext uri="{96DAC541-7B7A-43D3-8B79-37D633B846F1}">
                  <asvg:svgBlip xmlns:asvg="http://schemas.microsoft.com/office/drawing/2016/SVG/main" r:embed="rId4"/>
                </a:ext>
              </a:extLst>
            </a:blip>
            <a:stretch>
              <a:fillRect l="-5" t="0" r="-6" b="0"/>
            </a:stretch>
          </a:blipFill>
        </p:spPr>
        <p:txBody>
          <a:bodyPr/>
          <a:p/>
        </p:txBody>
      </p:sp>
      <p:sp>
        <p:nvSpPr>
          <p:cNvPr name="TextBox 20" id="20"/>
          <p:cNvSpPr txBox="true"/>
          <p:nvPr/>
        </p:nvSpPr>
        <p:spPr>
          <a:xfrm rot="0">
            <a:off x="5429136" y="2194560"/>
            <a:ext cx="3165996" cy="723900"/>
          </a:xfrm>
          <a:prstGeom prst="rect">
            <a:avLst/>
          </a:prstGeom>
        </p:spPr>
        <p:txBody>
          <a:bodyPr anchor="t" rtlCol="false" tIns="0" lIns="0" bIns="0" rIns="0">
            <a:spAutoFit/>
          </a:bodyPr>
          <a:lstStyle/>
          <a:p>
            <a:pPr algn="l">
              <a:lnSpc>
                <a:spcPts val="3960"/>
              </a:lnSpc>
            </a:pPr>
            <a:r>
              <a:rPr lang="en-US" sz="3300" b="true">
                <a:solidFill>
                  <a:srgbClr val="1C7293"/>
                </a:solidFill>
                <a:latin typeface="Cambria Bold"/>
                <a:ea typeface="Cambria Bold"/>
                <a:cs typeface="Cambria Bold"/>
                <a:sym typeface="Cambria Bold"/>
              </a:rPr>
              <a:t>G2</a:t>
            </a:r>
          </a:p>
        </p:txBody>
      </p:sp>
      <p:sp>
        <p:nvSpPr>
          <p:cNvPr name="TextBox 21" id="21"/>
          <p:cNvSpPr txBox="true"/>
          <p:nvPr/>
        </p:nvSpPr>
        <p:spPr>
          <a:xfrm rot="0">
            <a:off x="5429136" y="2724912"/>
            <a:ext cx="3165996" cy="868680"/>
          </a:xfrm>
          <a:prstGeom prst="rect">
            <a:avLst/>
          </a:prstGeom>
        </p:spPr>
        <p:txBody>
          <a:bodyPr anchor="t" rtlCol="false" tIns="0" lIns="0" bIns="0" rIns="0">
            <a:spAutoFit/>
          </a:bodyPr>
          <a:lstStyle/>
          <a:p>
            <a:pPr algn="l">
              <a:lnSpc>
                <a:spcPts val="2700"/>
              </a:lnSpc>
            </a:pPr>
            <a:r>
              <a:rPr lang="en-US" sz="2250" b="true">
                <a:solidFill>
                  <a:srgbClr val="13294B"/>
                </a:solidFill>
                <a:latin typeface="Calibri (MS) Bold"/>
                <a:ea typeface="Calibri (MS) Bold"/>
                <a:cs typeface="Calibri (MS) Bold"/>
                <a:sym typeface="Calibri (MS) Bold"/>
              </a:rPr>
              <a:t>VQA tiếng Việt yếu, nhất là scene-text</a:t>
            </a:r>
          </a:p>
        </p:txBody>
      </p:sp>
      <p:sp>
        <p:nvSpPr>
          <p:cNvPr name="TextBox 22" id="22"/>
          <p:cNvSpPr txBox="true"/>
          <p:nvPr/>
        </p:nvSpPr>
        <p:spPr>
          <a:xfrm rot="0">
            <a:off x="5429136" y="6382512"/>
            <a:ext cx="3165996" cy="1005840"/>
          </a:xfrm>
          <a:prstGeom prst="rect">
            <a:avLst/>
          </a:prstGeom>
        </p:spPr>
        <p:txBody>
          <a:bodyPr anchor="t" rtlCol="false" tIns="0" lIns="0" bIns="0" rIns="0">
            <a:spAutoFit/>
          </a:bodyPr>
          <a:lstStyle/>
          <a:p>
            <a:pPr algn="l">
              <a:lnSpc>
                <a:spcPts val="2610"/>
              </a:lnSpc>
            </a:pPr>
            <a:r>
              <a:rPr lang="en-US" sz="1700" b="1">
                <a:solidFill>
                  <a:srgbClr val="243044"/>
                </a:solidFill>
                <a:latin typeface="Calibri (MS) Bold"/>
                <a:ea typeface="Calibri (MS)"/>
                <a:cs typeface="Calibri (MS)"/>
                <a:sym typeface="Calibri (MS)"/>
              </a:rPr>
              <a:t>SOTA chỉ 25,48 EM — người đạt 88,00</a:t>
            </a:r>
          </a:p>
        </p:txBody>
      </p:sp>
      <p:grpSp>
        <p:nvGrpSpPr>
          <p:cNvPr name="Group 23" id="23"/>
          <p:cNvGrpSpPr/>
          <p:nvPr/>
        </p:nvGrpSpPr>
        <p:grpSpPr>
          <a:xfrm rot="0">
            <a:off x="5429136" y="7475220"/>
            <a:ext cx="3166015" cy="685800"/>
            <a:chOff x="0" y="0"/>
            <a:chExt cx="4221353" cy="914400"/>
          </a:xfrm>
        </p:grpSpPr>
        <p:sp>
          <p:nvSpPr>
            <p:cNvPr name="Freeform 24" id="24"/>
            <p:cNvSpPr/>
            <p:nvPr/>
          </p:nvSpPr>
          <p:spPr>
            <a:xfrm flipH="false" flipV="false" rot="0">
              <a:off x="0" y="0"/>
              <a:ext cx="4221353" cy="914400"/>
            </a:xfrm>
            <a:custGeom>
              <a:avLst/>
              <a:gdLst/>
              <a:ahLst/>
              <a:cxnLst/>
              <a:rect r="r" b="b" t="t" l="l"/>
              <a:pathLst>
                <a:path h="914400" w="4221353">
                  <a:moveTo>
                    <a:pt x="0" y="0"/>
                  </a:moveTo>
                  <a:lnTo>
                    <a:pt x="4221353" y="0"/>
                  </a:lnTo>
                  <a:lnTo>
                    <a:pt x="4221353" y="914400"/>
                  </a:lnTo>
                  <a:lnTo>
                    <a:pt x="0" y="914400"/>
                  </a:lnTo>
                  <a:close/>
                </a:path>
              </a:pathLst>
            </a:custGeom>
            <a:blipFill>
              <a:blip r:embed="rId2">
                <a:alphaModFix amt="0"/>
              </a:blip>
              <a:stretch>
                <a:fillRect l="0" t="-39890" r="0" b="-39891"/>
              </a:stretch>
            </a:blipFill>
          </p:spPr>
          <p:txBody>
            <a:bodyPr/>
            <a:p/>
          </p:txBody>
        </p:sp>
      </p:grpSp>
      <p:grpSp>
        <p:nvGrpSpPr>
          <p:cNvPr name="Group 25" id="25"/>
          <p:cNvGrpSpPr/>
          <p:nvPr/>
        </p:nvGrpSpPr>
        <p:grpSpPr>
          <a:xfrm rot="0">
            <a:off x="5429136" y="7460932"/>
            <a:ext cx="3166015" cy="700088"/>
            <a:chOff x="0" y="0"/>
            <a:chExt cx="4221353" cy="933450"/>
          </a:xfrm>
        </p:grpSpPr>
        <p:sp>
          <p:nvSpPr>
            <p:cNvPr name="Freeform 26" id="26"/>
            <p:cNvSpPr/>
            <p:nvPr/>
          </p:nvSpPr>
          <p:spPr>
            <a:xfrm flipH="false" flipV="false" rot="0">
              <a:off x="0" y="0"/>
              <a:ext cx="4221353" cy="933450"/>
            </a:xfrm>
            <a:custGeom>
              <a:avLst/>
              <a:gdLst/>
              <a:ahLst/>
              <a:cxnLst/>
              <a:rect r="r" b="b" t="t" l="l"/>
              <a:pathLst>
                <a:path h="933450" w="4221353">
                  <a:moveTo>
                    <a:pt x="0" y="0"/>
                  </a:moveTo>
                  <a:lnTo>
                    <a:pt x="4221353" y="0"/>
                  </a:lnTo>
                  <a:lnTo>
                    <a:pt x="4221353" y="933450"/>
                  </a:lnTo>
                  <a:lnTo>
                    <a:pt x="0" y="933450"/>
                  </a:lnTo>
                  <a:close/>
                </a:path>
              </a:pathLst>
            </a:custGeom>
            <a:blipFill>
              <a:blip r:embed="rId5">
                <a:alphaModFix amt="0"/>
              </a:blip>
              <a:stretch>
                <a:fillRect l="0" t="-38055" r="0" b="-38057"/>
              </a:stretch>
            </a:blipFill>
          </p:spPr>
          <p:txBody>
            <a:bodyPr/>
            <a:p/>
          </p:txBody>
        </p:sp>
      </p:grpSp>
      <p:grpSp>
        <p:nvGrpSpPr>
          <p:cNvPr name="Group 27" id="27"/>
          <p:cNvGrpSpPr/>
          <p:nvPr/>
        </p:nvGrpSpPr>
        <p:grpSpPr>
          <a:xfrm rot="0">
            <a:off x="5429136" y="7446645"/>
            <a:ext cx="3165996" cy="714375"/>
            <a:chOff x="0" y="0"/>
            <a:chExt cx="4221328" cy="952500"/>
          </a:xfrm>
        </p:grpSpPr>
        <p:sp>
          <p:nvSpPr>
            <p:cNvPr name="Freeform 28" id="28"/>
            <p:cNvSpPr/>
            <p:nvPr/>
          </p:nvSpPr>
          <p:spPr>
            <a:xfrm flipH="false" flipV="false" rot="0">
              <a:off x="0" y="0"/>
              <a:ext cx="4221353" cy="952500"/>
            </a:xfrm>
            <a:custGeom>
              <a:avLst/>
              <a:gdLst/>
              <a:ahLst/>
              <a:cxnLst/>
              <a:rect r="r" b="b" t="t" l="l"/>
              <a:pathLst>
                <a:path h="952500" w="4221353">
                  <a:moveTo>
                    <a:pt x="0" y="0"/>
                  </a:moveTo>
                  <a:lnTo>
                    <a:pt x="4221353" y="0"/>
                  </a:lnTo>
                  <a:lnTo>
                    <a:pt x="4221353" y="952500"/>
                  </a:lnTo>
                  <a:lnTo>
                    <a:pt x="0" y="952500"/>
                  </a:lnTo>
                  <a:close/>
                </a:path>
              </a:pathLst>
            </a:custGeom>
            <a:blipFill>
              <a:blip r:embed="rId6">
                <a:alphaModFix amt="0"/>
              </a:blip>
              <a:stretch>
                <a:fillRect l="0" t="-36294" r="0" b="-36294"/>
              </a:stretch>
            </a:blipFill>
          </p:spPr>
          <p:txBody>
            <a:bodyPr/>
            <a:p/>
          </p:txBody>
        </p:sp>
      </p:grpSp>
      <p:grpSp>
        <p:nvGrpSpPr>
          <p:cNvPr name="Group 29" id="29"/>
          <p:cNvGrpSpPr/>
          <p:nvPr/>
        </p:nvGrpSpPr>
        <p:grpSpPr>
          <a:xfrm rot="0">
            <a:off x="5429136" y="7432357"/>
            <a:ext cx="3165996" cy="728662"/>
            <a:chOff x="0" y="0"/>
            <a:chExt cx="4221328" cy="971550"/>
          </a:xfrm>
        </p:grpSpPr>
        <p:sp>
          <p:nvSpPr>
            <p:cNvPr name="Freeform 30" id="30"/>
            <p:cNvSpPr/>
            <p:nvPr/>
          </p:nvSpPr>
          <p:spPr>
            <a:xfrm flipH="false" flipV="false" rot="0">
              <a:off x="0" y="0"/>
              <a:ext cx="4221328" cy="971550"/>
            </a:xfrm>
            <a:custGeom>
              <a:avLst/>
              <a:gdLst/>
              <a:ahLst/>
              <a:cxnLst/>
              <a:rect r="r" b="b" t="t" l="l"/>
              <a:pathLst>
                <a:path h="971550" w="4221328">
                  <a:moveTo>
                    <a:pt x="0" y="0"/>
                  </a:moveTo>
                  <a:lnTo>
                    <a:pt x="4221328" y="0"/>
                  </a:lnTo>
                  <a:lnTo>
                    <a:pt x="4221328" y="971550"/>
                  </a:lnTo>
                  <a:lnTo>
                    <a:pt x="0" y="971550"/>
                  </a:lnTo>
                  <a:close/>
                </a:path>
              </a:pathLst>
            </a:custGeom>
            <a:blipFill>
              <a:blip r:embed="rId7">
                <a:alphaModFix amt="0"/>
              </a:blip>
              <a:stretch>
                <a:fillRect l="0" t="-34661" r="0" b="-34661"/>
              </a:stretch>
            </a:blipFill>
          </p:spPr>
          <p:txBody>
            <a:bodyPr/>
            <a:p/>
          </p:txBody>
        </p:sp>
        <p:sp>
          <p:nvSpPr>
            <p:cNvPr name="TextBox 31" id="31"/>
            <p:cNvSpPr txBox="true"/>
            <p:nvPr/>
          </p:nvSpPr>
          <p:spPr>
            <a:xfrm>
              <a:off x="0" y="-19050"/>
              <a:ext cx="4221328" cy="990600"/>
            </a:xfrm>
            <a:prstGeom prst="rect">
              <a:avLst/>
            </a:prstGeom>
          </p:spPr>
          <p:txBody>
            <a:bodyPr anchor="b" rtlCol="false" tIns="0" lIns="0" bIns="0" rIns="0"/>
            <a:lstStyle/>
            <a:p>
              <a:pPr algn="l">
                <a:lnSpc>
                  <a:spcPts val="1889"/>
                </a:lnSpc>
              </a:pPr>
              <a:r>
                <a:rPr lang="en-US" sz="1575" i="true" u="sng">
                  <a:solidFill>
                    <a:srgbClr val="0000FF"/>
                  </a:solidFill>
                  <a:latin typeface="Calibri (MS) Italics"/>
                  <a:ea typeface="Calibri (MS) Italics"/>
                  <a:cs typeface="Calibri (MS) Italics"/>
                  <a:sym typeface="Calibri (MS) Italics"/>
                  <a:hlinkClick r:id="rId9" tooltip="https://arxiv.org/pdf/2404.10652"/>
                </a:rPr>
                <a:t>ViTextVQA (Nguyen et al., 2024)</a:t>
              </a:r>
            </a:p>
          </p:txBody>
        </p:sp>
      </p:grpSp>
      <p:sp>
        <p:nvSpPr>
          <p:cNvPr name="Freeform 32" id="32"/>
          <p:cNvSpPr/>
          <p:nvPr/>
        </p:nvSpPr>
        <p:spPr>
          <a:xfrm flipH="false" flipV="false" rot="0">
            <a:off x="9332843" y="2040731"/>
            <a:ext cx="3885152" cy="6342697"/>
          </a:xfrm>
          <a:custGeom>
            <a:avLst/>
            <a:gdLst/>
            <a:ahLst/>
            <a:cxnLst/>
            <a:rect r="r" b="b" t="t" l="l"/>
            <a:pathLst>
              <a:path h="6342697" w="3885152">
                <a:moveTo>
                  <a:pt x="0" y="0"/>
                </a:moveTo>
                <a:lnTo>
                  <a:pt x="3885152" y="0"/>
                </a:lnTo>
                <a:lnTo>
                  <a:pt x="3885152" y="6342698"/>
                </a:lnTo>
                <a:lnTo>
                  <a:pt x="0" y="6342698"/>
                </a:lnTo>
                <a:lnTo>
                  <a:pt x="0" y="0"/>
                </a:lnTo>
                <a:close/>
              </a:path>
            </a:pathLst>
          </a:custGeom>
          <a:blipFill>
            <a:blip r:embed="rId10">
              <a:extLst>
                <a:ext uri="{96DAC541-7B7A-43D3-8B79-37D633B846F1}">
                  <asvg:svgBlip xmlns:asvg="http://schemas.microsoft.com/office/drawing/2016/SVG/main" r:embed="rId11"/>
                </a:ext>
              </a:extLst>
            </a:blip>
            <a:stretch>
              <a:fillRect l="-5" t="0" r="-6" b="0"/>
            </a:stretch>
          </a:blipFill>
        </p:spPr>
        <p:txBody>
          <a:bodyPr/>
          <a:p/>
        </p:txBody>
      </p:sp>
      <p:sp>
        <p:nvSpPr>
          <p:cNvPr name="TextBox 33" id="33"/>
          <p:cNvSpPr txBox="true"/>
          <p:nvPr/>
        </p:nvSpPr>
        <p:spPr>
          <a:xfrm rot="0">
            <a:off x="9692411" y="2194560"/>
            <a:ext cx="3165996" cy="723900"/>
          </a:xfrm>
          <a:prstGeom prst="rect">
            <a:avLst/>
          </a:prstGeom>
        </p:spPr>
        <p:txBody>
          <a:bodyPr anchor="t" rtlCol="false" tIns="0" lIns="0" bIns="0" rIns="0">
            <a:spAutoFit/>
          </a:bodyPr>
          <a:lstStyle/>
          <a:p>
            <a:pPr algn="l">
              <a:lnSpc>
                <a:spcPts val="3960"/>
              </a:lnSpc>
            </a:pPr>
            <a:r>
              <a:rPr lang="en-US" sz="3300" b="true">
                <a:solidFill>
                  <a:srgbClr val="E8A33D"/>
                </a:solidFill>
                <a:latin typeface="Cambria Bold"/>
                <a:ea typeface="Cambria Bold"/>
                <a:cs typeface="Cambria Bold"/>
                <a:sym typeface="Cambria Bold"/>
              </a:rPr>
              <a:t>G3</a:t>
            </a:r>
          </a:p>
        </p:txBody>
      </p:sp>
      <p:sp>
        <p:nvSpPr>
          <p:cNvPr name="TextBox 34" id="34"/>
          <p:cNvSpPr txBox="true"/>
          <p:nvPr/>
        </p:nvSpPr>
        <p:spPr>
          <a:xfrm rot="0">
            <a:off x="9692411" y="2724912"/>
            <a:ext cx="3165996" cy="868680"/>
          </a:xfrm>
          <a:prstGeom prst="rect">
            <a:avLst/>
          </a:prstGeom>
        </p:spPr>
        <p:txBody>
          <a:bodyPr anchor="t" rtlCol="false" tIns="0" lIns="0" bIns="0" rIns="0">
            <a:spAutoFit/>
          </a:bodyPr>
          <a:lstStyle/>
          <a:p>
            <a:pPr algn="l">
              <a:lnSpc>
                <a:spcPts val="2700"/>
              </a:lnSpc>
            </a:pPr>
            <a:r>
              <a:rPr lang="en-US" sz="2250" b="true">
                <a:solidFill>
                  <a:srgbClr val="13294B"/>
                </a:solidFill>
                <a:latin typeface="Calibri (MS) Bold"/>
                <a:ea typeface="Calibri (MS) Bold"/>
                <a:cs typeface="Calibri (MS) Bold"/>
                <a:sym typeface="Calibri (MS) Bold"/>
              </a:rPr>
              <a:t>PEFT cho VQA tiếng Việt chưa được thử</a:t>
            </a:r>
          </a:p>
        </p:txBody>
      </p:sp>
      <p:sp>
        <p:nvSpPr>
          <p:cNvPr name="TextBox 35" id="35"/>
          <p:cNvSpPr txBox="true"/>
          <p:nvPr/>
        </p:nvSpPr>
        <p:spPr>
          <a:xfrm rot="0">
            <a:off x="9692411" y="6382512"/>
            <a:ext cx="3165996" cy="1005840"/>
          </a:xfrm>
          <a:prstGeom prst="rect">
            <a:avLst/>
          </a:prstGeom>
        </p:spPr>
        <p:txBody>
          <a:bodyPr anchor="t" rtlCol="false" tIns="0" lIns="0" bIns="0" rIns="0">
            <a:spAutoFit/>
          </a:bodyPr>
          <a:lstStyle/>
          <a:p>
            <a:pPr algn="l">
              <a:lnSpc>
                <a:spcPts val="2610"/>
              </a:lnSpc>
            </a:pPr>
            <a:r>
              <a:rPr lang="en-US" sz="1700" b="1">
                <a:solidFill>
                  <a:srgbClr val="243044"/>
                </a:solidFill>
                <a:latin typeface="Calibri (MS) Bold"/>
                <a:ea typeface="Calibri (MS)"/>
                <a:cs typeface="Calibri (MS)"/>
                <a:sym typeface="Calibri (MS)"/>
              </a:rPr>
              <a:t>Paper VQA tiếng Việt khảo sát đều không dùng PEFT</a:t>
            </a:r>
          </a:p>
        </p:txBody>
      </p:sp>
      <p:grpSp>
        <p:nvGrpSpPr>
          <p:cNvPr name="Group 36" id="36"/>
          <p:cNvGrpSpPr/>
          <p:nvPr/>
        </p:nvGrpSpPr>
        <p:grpSpPr>
          <a:xfrm rot="0">
            <a:off x="9692411" y="7475220"/>
            <a:ext cx="3166015" cy="685800"/>
            <a:chOff x="0" y="0"/>
            <a:chExt cx="4221353" cy="914400"/>
          </a:xfrm>
        </p:grpSpPr>
        <p:sp>
          <p:nvSpPr>
            <p:cNvPr name="Freeform 37" id="37"/>
            <p:cNvSpPr/>
            <p:nvPr/>
          </p:nvSpPr>
          <p:spPr>
            <a:xfrm flipH="false" flipV="false" rot="0">
              <a:off x="0" y="0"/>
              <a:ext cx="4221353" cy="914400"/>
            </a:xfrm>
            <a:custGeom>
              <a:avLst/>
              <a:gdLst/>
              <a:ahLst/>
              <a:cxnLst/>
              <a:rect r="r" b="b" t="t" l="l"/>
              <a:pathLst>
                <a:path h="914400" w="4221353">
                  <a:moveTo>
                    <a:pt x="0" y="0"/>
                  </a:moveTo>
                  <a:lnTo>
                    <a:pt x="4221353" y="0"/>
                  </a:lnTo>
                  <a:lnTo>
                    <a:pt x="4221353" y="914400"/>
                  </a:lnTo>
                  <a:lnTo>
                    <a:pt x="0" y="914400"/>
                  </a:lnTo>
                  <a:close/>
                </a:path>
              </a:pathLst>
            </a:custGeom>
            <a:blipFill>
              <a:blip r:embed="rId2">
                <a:alphaModFix amt="0"/>
              </a:blip>
              <a:stretch>
                <a:fillRect l="0" t="-39890" r="0" b="-39891"/>
              </a:stretch>
            </a:blipFill>
          </p:spPr>
          <p:txBody>
            <a:bodyPr/>
            <a:p/>
          </p:txBody>
        </p:sp>
      </p:grpSp>
      <p:grpSp>
        <p:nvGrpSpPr>
          <p:cNvPr name="Group 38" id="38"/>
          <p:cNvGrpSpPr/>
          <p:nvPr/>
        </p:nvGrpSpPr>
        <p:grpSpPr>
          <a:xfrm rot="0">
            <a:off x="9692411" y="7460932"/>
            <a:ext cx="3166015" cy="700088"/>
            <a:chOff x="0" y="0"/>
            <a:chExt cx="4221353" cy="933450"/>
          </a:xfrm>
        </p:grpSpPr>
        <p:sp>
          <p:nvSpPr>
            <p:cNvPr name="Freeform 39" id="39"/>
            <p:cNvSpPr/>
            <p:nvPr/>
          </p:nvSpPr>
          <p:spPr>
            <a:xfrm flipH="false" flipV="false" rot="0">
              <a:off x="0" y="0"/>
              <a:ext cx="4221353" cy="933450"/>
            </a:xfrm>
            <a:custGeom>
              <a:avLst/>
              <a:gdLst/>
              <a:ahLst/>
              <a:cxnLst/>
              <a:rect r="r" b="b" t="t" l="l"/>
              <a:pathLst>
                <a:path h="933450" w="4221353">
                  <a:moveTo>
                    <a:pt x="0" y="0"/>
                  </a:moveTo>
                  <a:lnTo>
                    <a:pt x="4221353" y="0"/>
                  </a:lnTo>
                  <a:lnTo>
                    <a:pt x="4221353" y="933450"/>
                  </a:lnTo>
                  <a:lnTo>
                    <a:pt x="0" y="933450"/>
                  </a:lnTo>
                  <a:close/>
                </a:path>
              </a:pathLst>
            </a:custGeom>
            <a:blipFill>
              <a:blip r:embed="rId5">
                <a:alphaModFix amt="0"/>
              </a:blip>
              <a:stretch>
                <a:fillRect l="0" t="-38055" r="0" b="-38057"/>
              </a:stretch>
            </a:blipFill>
          </p:spPr>
          <p:txBody>
            <a:bodyPr/>
            <a:p/>
          </p:txBody>
        </p:sp>
      </p:grpSp>
      <p:sp>
        <p:nvSpPr>
          <p:cNvPr name="Freeform 40" id="40"/>
          <p:cNvSpPr/>
          <p:nvPr/>
        </p:nvSpPr>
        <p:spPr>
          <a:xfrm flipH="false" flipV="false" rot="0">
            <a:off x="13596118" y="2040731"/>
            <a:ext cx="3885152" cy="6342697"/>
          </a:xfrm>
          <a:custGeom>
            <a:avLst/>
            <a:gdLst/>
            <a:ahLst/>
            <a:cxnLst/>
            <a:rect r="r" b="b" t="t" l="l"/>
            <a:pathLst>
              <a:path h="6342697" w="3885152">
                <a:moveTo>
                  <a:pt x="0" y="0"/>
                </a:moveTo>
                <a:lnTo>
                  <a:pt x="3885153" y="0"/>
                </a:lnTo>
                <a:lnTo>
                  <a:pt x="3885153" y="6342698"/>
                </a:lnTo>
                <a:lnTo>
                  <a:pt x="0" y="6342698"/>
                </a:lnTo>
                <a:lnTo>
                  <a:pt x="0" y="0"/>
                </a:lnTo>
                <a:close/>
              </a:path>
            </a:pathLst>
          </a:custGeom>
          <a:blipFill>
            <a:blip r:embed="rId3">
              <a:extLst>
                <a:ext uri="{96DAC541-7B7A-43D3-8B79-37D633B846F1}">
                  <asvg:svgBlip xmlns:asvg="http://schemas.microsoft.com/office/drawing/2016/SVG/main" r:embed="rId4"/>
                </a:ext>
              </a:extLst>
            </a:blip>
            <a:stretch>
              <a:fillRect l="-5" t="0" r="-6" b="0"/>
            </a:stretch>
          </a:blipFill>
        </p:spPr>
        <p:txBody>
          <a:bodyPr/>
          <a:p/>
        </p:txBody>
      </p:sp>
      <p:sp>
        <p:nvSpPr>
          <p:cNvPr name="TextBox 41" id="41"/>
          <p:cNvSpPr txBox="true"/>
          <p:nvPr/>
        </p:nvSpPr>
        <p:spPr>
          <a:xfrm rot="0">
            <a:off x="13955687" y="2194560"/>
            <a:ext cx="3165996" cy="723900"/>
          </a:xfrm>
          <a:prstGeom prst="rect">
            <a:avLst/>
          </a:prstGeom>
        </p:spPr>
        <p:txBody>
          <a:bodyPr anchor="t" rtlCol="false" tIns="0" lIns="0" bIns="0" rIns="0">
            <a:spAutoFit/>
          </a:bodyPr>
          <a:lstStyle/>
          <a:p>
            <a:pPr algn="l">
              <a:lnSpc>
                <a:spcPts val="3960"/>
              </a:lnSpc>
            </a:pPr>
            <a:r>
              <a:rPr lang="en-US" sz="3300" b="true">
                <a:solidFill>
                  <a:srgbClr val="1C7293"/>
                </a:solidFill>
                <a:latin typeface="Cambria Bold"/>
                <a:ea typeface="Cambria Bold"/>
                <a:cs typeface="Cambria Bold"/>
                <a:sym typeface="Cambria Bold"/>
              </a:rPr>
              <a:t>G4</a:t>
            </a:r>
          </a:p>
        </p:txBody>
      </p:sp>
      <p:sp>
        <p:nvSpPr>
          <p:cNvPr name="TextBox 42" id="42"/>
          <p:cNvSpPr txBox="true"/>
          <p:nvPr/>
        </p:nvSpPr>
        <p:spPr>
          <a:xfrm rot="0">
            <a:off x="13955687" y="2724912"/>
            <a:ext cx="3165996" cy="868680"/>
          </a:xfrm>
          <a:prstGeom prst="rect">
            <a:avLst/>
          </a:prstGeom>
        </p:spPr>
        <p:txBody>
          <a:bodyPr anchor="t" rtlCol="false" tIns="0" lIns="0" bIns="0" rIns="0">
            <a:spAutoFit/>
          </a:bodyPr>
          <a:lstStyle/>
          <a:p>
            <a:pPr algn="l">
              <a:lnSpc>
                <a:spcPts val="2700"/>
              </a:lnSpc>
            </a:pPr>
            <a:r>
              <a:rPr lang="en-US" sz="2250" b="true">
                <a:solidFill>
                  <a:srgbClr val="13294B"/>
                </a:solidFill>
                <a:latin typeface="Calibri (MS) Bold"/>
                <a:ea typeface="Calibri (MS) Bold"/>
                <a:cs typeface="Calibri (MS) Bold"/>
                <a:sym typeface="Calibri (MS) Bold"/>
              </a:rPr>
              <a:t>Chưa đo hallucination cho tiếng Việt</a:t>
            </a:r>
          </a:p>
        </p:txBody>
      </p:sp>
      <p:sp>
        <p:nvSpPr>
          <p:cNvPr name="TextBox 43" id="43"/>
          <p:cNvSpPr txBox="true"/>
          <p:nvPr/>
        </p:nvSpPr>
        <p:spPr>
          <a:xfrm rot="0">
            <a:off x="13955687" y="6382512"/>
            <a:ext cx="3165996" cy="1005840"/>
          </a:xfrm>
          <a:prstGeom prst="rect">
            <a:avLst/>
          </a:prstGeom>
        </p:spPr>
        <p:txBody>
          <a:bodyPr anchor="t" rtlCol="false" tIns="0" lIns="0" bIns="0" rIns="0">
            <a:spAutoFit/>
          </a:bodyPr>
          <a:lstStyle/>
          <a:p>
            <a:pPr algn="l">
              <a:lnSpc>
                <a:spcPts val="2610"/>
              </a:lnSpc>
            </a:pPr>
            <a:r>
              <a:rPr lang="en-US" sz="1700" b="1">
                <a:solidFill>
                  <a:srgbClr val="243044"/>
                </a:solidFill>
                <a:latin typeface="Calibri (MS) Bold"/>
                <a:ea typeface="Calibri (MS)"/>
                <a:cs typeface="Calibri (MS)"/>
                <a:sym typeface="Calibri (MS)"/>
              </a:rPr>
              <a:t>Chưa có benchmark kiểu POPE cho tiếng Việt</a:t>
            </a:r>
          </a:p>
        </p:txBody>
      </p:sp>
      <p:grpSp>
        <p:nvGrpSpPr>
          <p:cNvPr name="Group 44" id="44"/>
          <p:cNvGrpSpPr/>
          <p:nvPr/>
        </p:nvGrpSpPr>
        <p:grpSpPr>
          <a:xfrm rot="0">
            <a:off x="13955687" y="7475220"/>
            <a:ext cx="3166015" cy="685800"/>
            <a:chOff x="0" y="0"/>
            <a:chExt cx="4221353" cy="914400"/>
          </a:xfrm>
        </p:grpSpPr>
        <p:sp>
          <p:nvSpPr>
            <p:cNvPr name="Freeform 45" id="45"/>
            <p:cNvSpPr/>
            <p:nvPr/>
          </p:nvSpPr>
          <p:spPr>
            <a:xfrm flipH="false" flipV="false" rot="0">
              <a:off x="0" y="0"/>
              <a:ext cx="4221353" cy="914400"/>
            </a:xfrm>
            <a:custGeom>
              <a:avLst/>
              <a:gdLst/>
              <a:ahLst/>
              <a:cxnLst/>
              <a:rect r="r" b="b" t="t" l="l"/>
              <a:pathLst>
                <a:path h="914400" w="4221353">
                  <a:moveTo>
                    <a:pt x="0" y="0"/>
                  </a:moveTo>
                  <a:lnTo>
                    <a:pt x="4221353" y="0"/>
                  </a:lnTo>
                  <a:lnTo>
                    <a:pt x="4221353" y="914400"/>
                  </a:lnTo>
                  <a:lnTo>
                    <a:pt x="0" y="914400"/>
                  </a:lnTo>
                  <a:close/>
                </a:path>
              </a:pathLst>
            </a:custGeom>
            <a:blipFill>
              <a:blip r:embed="rId2">
                <a:alphaModFix amt="0"/>
              </a:blip>
              <a:stretch>
                <a:fillRect l="0" t="-39890" r="0" b="-39891"/>
              </a:stretch>
            </a:blipFill>
          </p:spPr>
          <p:txBody>
            <a:bodyPr/>
            <a:p/>
          </p:txBody>
        </p:sp>
      </p:grpSp>
      <p:grpSp>
        <p:nvGrpSpPr>
          <p:cNvPr name="Group 46" id="46"/>
          <p:cNvGrpSpPr/>
          <p:nvPr/>
        </p:nvGrpSpPr>
        <p:grpSpPr>
          <a:xfrm rot="0">
            <a:off x="13955687" y="7460932"/>
            <a:ext cx="3166015" cy="700088"/>
            <a:chOff x="0" y="0"/>
            <a:chExt cx="4221353" cy="933450"/>
          </a:xfrm>
        </p:grpSpPr>
        <p:sp>
          <p:nvSpPr>
            <p:cNvPr name="Freeform 47" id="47"/>
            <p:cNvSpPr/>
            <p:nvPr/>
          </p:nvSpPr>
          <p:spPr>
            <a:xfrm flipH="false" flipV="false" rot="0">
              <a:off x="0" y="0"/>
              <a:ext cx="4221353" cy="933450"/>
            </a:xfrm>
            <a:custGeom>
              <a:avLst/>
              <a:gdLst/>
              <a:ahLst/>
              <a:cxnLst/>
              <a:rect r="r" b="b" t="t" l="l"/>
              <a:pathLst>
                <a:path h="933450" w="4221353">
                  <a:moveTo>
                    <a:pt x="0" y="0"/>
                  </a:moveTo>
                  <a:lnTo>
                    <a:pt x="4221353" y="0"/>
                  </a:lnTo>
                  <a:lnTo>
                    <a:pt x="4221353" y="933450"/>
                  </a:lnTo>
                  <a:lnTo>
                    <a:pt x="0" y="933450"/>
                  </a:lnTo>
                  <a:close/>
                </a:path>
              </a:pathLst>
            </a:custGeom>
            <a:blipFill>
              <a:blip r:embed="rId5">
                <a:alphaModFix amt="0"/>
              </a:blip>
              <a:stretch>
                <a:fillRect l="0" t="-38055" r="0" b="-38057"/>
              </a:stretch>
            </a:blipFill>
          </p:spPr>
          <p:txBody>
            <a:bodyPr/>
            <a:p/>
          </p:txBody>
        </p:sp>
      </p:grpSp>
      <p:grpSp>
        <p:nvGrpSpPr>
          <p:cNvPr name="Group 48" id="48"/>
          <p:cNvGrpSpPr/>
          <p:nvPr/>
        </p:nvGrpSpPr>
        <p:grpSpPr>
          <a:xfrm rot="0">
            <a:off x="13955687" y="7446645"/>
            <a:ext cx="3165996" cy="714375"/>
            <a:chOff x="0" y="0"/>
            <a:chExt cx="4221328" cy="952500"/>
          </a:xfrm>
        </p:grpSpPr>
        <p:sp>
          <p:nvSpPr>
            <p:cNvPr name="Freeform 49" id="49"/>
            <p:cNvSpPr/>
            <p:nvPr/>
          </p:nvSpPr>
          <p:spPr>
            <a:xfrm flipH="false" flipV="false" rot="0">
              <a:off x="0" y="0"/>
              <a:ext cx="4221353" cy="952500"/>
            </a:xfrm>
            <a:custGeom>
              <a:avLst/>
              <a:gdLst/>
              <a:ahLst/>
              <a:cxnLst/>
              <a:rect r="r" b="b" t="t" l="l"/>
              <a:pathLst>
                <a:path h="952500" w="4221353">
                  <a:moveTo>
                    <a:pt x="0" y="0"/>
                  </a:moveTo>
                  <a:lnTo>
                    <a:pt x="4221353" y="0"/>
                  </a:lnTo>
                  <a:lnTo>
                    <a:pt x="4221353" y="952500"/>
                  </a:lnTo>
                  <a:lnTo>
                    <a:pt x="0" y="952500"/>
                  </a:lnTo>
                  <a:close/>
                </a:path>
              </a:pathLst>
            </a:custGeom>
            <a:blipFill>
              <a:blip r:embed="rId6">
                <a:alphaModFix amt="0"/>
              </a:blip>
              <a:stretch>
                <a:fillRect l="0" t="-36294" r="0" b="-36294"/>
              </a:stretch>
            </a:blipFill>
          </p:spPr>
          <p:txBody>
            <a:bodyPr/>
            <a:p/>
          </p:txBody>
        </p:sp>
      </p:grpSp>
      <p:grpSp>
        <p:nvGrpSpPr>
          <p:cNvPr name="Group 50" id="50"/>
          <p:cNvGrpSpPr/>
          <p:nvPr/>
        </p:nvGrpSpPr>
        <p:grpSpPr>
          <a:xfrm rot="0">
            <a:off x="13955687" y="7432357"/>
            <a:ext cx="3165996" cy="728662"/>
            <a:chOff x="0" y="0"/>
            <a:chExt cx="4221328" cy="971550"/>
          </a:xfrm>
        </p:grpSpPr>
        <p:sp>
          <p:nvSpPr>
            <p:cNvPr name="Freeform 51" id="51"/>
            <p:cNvSpPr/>
            <p:nvPr/>
          </p:nvSpPr>
          <p:spPr>
            <a:xfrm flipH="false" flipV="false" rot="0">
              <a:off x="0" y="0"/>
              <a:ext cx="4221328" cy="971550"/>
            </a:xfrm>
            <a:custGeom>
              <a:avLst/>
              <a:gdLst/>
              <a:ahLst/>
              <a:cxnLst/>
              <a:rect r="r" b="b" t="t" l="l"/>
              <a:pathLst>
                <a:path h="971550" w="4221328">
                  <a:moveTo>
                    <a:pt x="0" y="0"/>
                  </a:moveTo>
                  <a:lnTo>
                    <a:pt x="4221328" y="0"/>
                  </a:lnTo>
                  <a:lnTo>
                    <a:pt x="4221328" y="971550"/>
                  </a:lnTo>
                  <a:lnTo>
                    <a:pt x="0" y="971550"/>
                  </a:lnTo>
                  <a:close/>
                </a:path>
              </a:pathLst>
            </a:custGeom>
            <a:blipFill>
              <a:blip r:embed="rId7">
                <a:alphaModFix amt="0"/>
              </a:blip>
              <a:stretch>
                <a:fillRect l="0" t="-34661" r="0" b="-34661"/>
              </a:stretch>
            </a:blipFill>
          </p:spPr>
          <p:txBody>
            <a:bodyPr/>
            <a:p/>
          </p:txBody>
        </p:sp>
        <p:sp>
          <p:nvSpPr>
            <p:cNvPr name="TextBox 52" id="52"/>
            <p:cNvSpPr txBox="true"/>
            <p:nvPr/>
          </p:nvSpPr>
          <p:spPr>
            <a:xfrm>
              <a:off x="0" y="-19050"/>
              <a:ext cx="4221328" cy="990600"/>
            </a:xfrm>
            <a:prstGeom prst="rect">
              <a:avLst/>
            </a:prstGeom>
          </p:spPr>
          <p:txBody>
            <a:bodyPr anchor="b" rtlCol="false" tIns="0" lIns="0" bIns="0" rIns="0"/>
            <a:lstStyle/>
            <a:p>
              <a:pPr algn="l">
                <a:lnSpc>
                  <a:spcPts val="1889"/>
                </a:lnSpc>
              </a:pPr>
              <a:r>
                <a:rPr lang="en-US" sz="1575" i="true" u="sng">
                  <a:solidFill>
                    <a:srgbClr val="0000FF"/>
                  </a:solidFill>
                  <a:latin typeface="Calibri (MS) Italics"/>
                  <a:ea typeface="Calibri (MS) Italics"/>
                  <a:cs typeface="Calibri (MS) Italics"/>
                  <a:sym typeface="Calibri (MS) Italics"/>
                  <a:hlinkClick r:id="rId12" tooltip="https://arxiv.org/pdf/2305.10355"/>
                </a:rPr>
                <a:t>POPE (Li et al., EMNLP 2023)</a:t>
              </a:r>
            </a:p>
          </p:txBody>
        </p:sp>
      </p:grpSp>
      <p:grpSp>
        <p:nvGrpSpPr>
          <p:cNvPr name="Group 53" id="53"/>
          <p:cNvGrpSpPr/>
          <p:nvPr/>
        </p:nvGrpSpPr>
        <p:grpSpPr>
          <a:xfrm rot="0">
            <a:off x="15458732" y="0"/>
            <a:ext cx="2829306" cy="1184338"/>
            <a:chOff x="0" y="0"/>
            <a:chExt cx="3772408" cy="1579118"/>
          </a:xfrm>
        </p:grpSpPr>
        <p:sp>
          <p:nvSpPr>
            <p:cNvPr name="Freeform 54" id="54"/>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13"/>
              <a:stretch>
                <a:fillRect l="0" t="0" r="0" b="0"/>
              </a:stretch>
            </a:blipFill>
          </p:spPr>
          <p:txBody>
            <a:bodyPr/>
            <a:p/>
          </p:txBody>
        </p:sp>
      </p:grpSp>
      <p:grpSp>
        <p:nvGrpSpPr>
          <p:cNvPr name="Group 55" id="55"/>
          <p:cNvGrpSpPr/>
          <p:nvPr/>
        </p:nvGrpSpPr>
        <p:grpSpPr>
          <a:xfrm rot="0">
            <a:off x="822960" y="9655969"/>
            <a:ext cx="13716000" cy="360331"/>
            <a:chOff x="0" y="0"/>
            <a:chExt cx="18288000" cy="480441"/>
          </a:xfrm>
        </p:grpSpPr>
        <p:sp>
          <p:nvSpPr>
            <p:cNvPr name="Freeform 56" id="56"/>
            <p:cNvSpPr/>
            <p:nvPr/>
          </p:nvSpPr>
          <p:spPr>
            <a:xfrm flipH="false" flipV="false" rot="0">
              <a:off x="0" y="0"/>
              <a:ext cx="18288000" cy="480441"/>
            </a:xfrm>
            <a:custGeom>
              <a:avLst/>
              <a:gdLst/>
              <a:ahLst/>
              <a:cxnLst/>
              <a:rect r="r" b="b" t="t" l="l"/>
              <a:pathLst>
                <a:path h="480441" w="18288000">
                  <a:moveTo>
                    <a:pt x="0" y="0"/>
                  </a:moveTo>
                  <a:lnTo>
                    <a:pt x="18288000" y="0"/>
                  </a:lnTo>
                  <a:lnTo>
                    <a:pt x="18288000" y="480441"/>
                  </a:lnTo>
                  <a:lnTo>
                    <a:pt x="0" y="480441"/>
                  </a:lnTo>
                  <a:close/>
                </a:path>
              </a:pathLst>
            </a:custGeom>
            <a:blipFill>
              <a:blip r:embed="rId5">
                <a:alphaModFix amt="0"/>
              </a:blip>
              <a:stretch>
                <a:fillRect l="0" t="-691181" r="0" b="-691184"/>
              </a:stretch>
            </a:blipFill>
          </p:spPr>
          <p:txBody>
            <a:bodyPr/>
            <a:p/>
          </p:txBody>
        </p:sp>
      </p:grpSp>
      <p:grpSp>
        <p:nvGrpSpPr>
          <p:cNvPr name="Group 57" id="57"/>
          <p:cNvGrpSpPr/>
          <p:nvPr/>
        </p:nvGrpSpPr>
        <p:grpSpPr>
          <a:xfrm rot="0">
            <a:off x="822960" y="9627394"/>
            <a:ext cx="13716000" cy="388896"/>
            <a:chOff x="0" y="0"/>
            <a:chExt cx="18288000" cy="518528"/>
          </a:xfrm>
        </p:grpSpPr>
        <p:sp>
          <p:nvSpPr>
            <p:cNvPr name="Freeform 58" id="58"/>
            <p:cNvSpPr/>
            <p:nvPr/>
          </p:nvSpPr>
          <p:spPr>
            <a:xfrm flipH="false" flipV="false" rot="0">
              <a:off x="0" y="0"/>
              <a:ext cx="18288000" cy="518541"/>
            </a:xfrm>
            <a:custGeom>
              <a:avLst/>
              <a:gdLst/>
              <a:ahLst/>
              <a:cxnLst/>
              <a:rect r="r" b="b" t="t" l="l"/>
              <a:pathLst>
                <a:path h="518541" w="18288000">
                  <a:moveTo>
                    <a:pt x="0" y="0"/>
                  </a:moveTo>
                  <a:lnTo>
                    <a:pt x="18288000" y="0"/>
                  </a:lnTo>
                  <a:lnTo>
                    <a:pt x="18288000" y="518541"/>
                  </a:lnTo>
                  <a:lnTo>
                    <a:pt x="0" y="518541"/>
                  </a:lnTo>
                  <a:close/>
                </a:path>
              </a:pathLst>
            </a:custGeom>
            <a:blipFill>
              <a:blip r:embed="rId6">
                <a:alphaModFix amt="0"/>
              </a:blip>
              <a:stretch>
                <a:fillRect l="0" t="-636725" r="0" b="-636722"/>
              </a:stretch>
            </a:blipFill>
          </p:spPr>
          <p:txBody>
            <a:bodyPr/>
            <a:p/>
          </p:txBody>
        </p:sp>
      </p:grpSp>
      <p:grpSp>
        <p:nvGrpSpPr>
          <p:cNvPr name="Group 59" id="59"/>
          <p:cNvGrpSpPr/>
          <p:nvPr/>
        </p:nvGrpSpPr>
        <p:grpSpPr>
          <a:xfrm rot="0">
            <a:off x="822960" y="9598819"/>
            <a:ext cx="13716000" cy="417471"/>
            <a:chOff x="0" y="0"/>
            <a:chExt cx="18288000" cy="556628"/>
          </a:xfrm>
        </p:grpSpPr>
        <p:sp>
          <p:nvSpPr>
            <p:cNvPr name="Freeform 60" id="60"/>
            <p:cNvSpPr/>
            <p:nvPr/>
          </p:nvSpPr>
          <p:spPr>
            <a:xfrm flipH="false" flipV="false" rot="0">
              <a:off x="0" y="0"/>
              <a:ext cx="18288000" cy="556628"/>
            </a:xfrm>
            <a:custGeom>
              <a:avLst/>
              <a:gdLst/>
              <a:ahLst/>
              <a:cxnLst/>
              <a:rect r="r" b="b" t="t" l="l"/>
              <a:pathLst>
                <a:path h="556628" w="18288000">
                  <a:moveTo>
                    <a:pt x="0" y="0"/>
                  </a:moveTo>
                  <a:lnTo>
                    <a:pt x="18288000" y="0"/>
                  </a:lnTo>
                  <a:lnTo>
                    <a:pt x="18288000" y="556628"/>
                  </a:lnTo>
                  <a:lnTo>
                    <a:pt x="0" y="556628"/>
                  </a:lnTo>
                  <a:close/>
                </a:path>
              </a:pathLst>
            </a:custGeom>
            <a:blipFill>
              <a:blip r:embed="rId7">
                <a:alphaModFix amt="0"/>
              </a:blip>
              <a:stretch>
                <a:fillRect l="0" t="-590180" r="0" b="-590180"/>
              </a:stretch>
            </a:blipFill>
          </p:spPr>
          <p:txBody>
            <a:bodyPr/>
            <a:p/>
          </p:txBody>
        </p:sp>
        <p:sp>
          <p:nvSpPr>
            <p:cNvPr name="TextBox 61" id="61"/>
            <p:cNvSpPr txBox="true"/>
            <p:nvPr/>
          </p:nvSpPr>
          <p:spPr>
            <a:xfrm>
              <a:off x="0" y="-38100"/>
              <a:ext cx="18288000" cy="594728"/>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GFA26AI35 · Đại học FPT</a:t>
              </a:r>
            </a:p>
          </p:txBody>
        </p:sp>
      </p:grpSp>
      <p:pic>
        <p:nvPicPr>
          <p:cNvPr id="62" name="Picture 61" descr="g1.png"/>
          <p:cNvPicPr>
            <a:picLocks noChangeAspect="1"/>
          </p:cNvPicPr>
          <p:nvPr/>
        </p:nvPicPr>
        <p:blipFill>
          <a:blip r:embed="rId14"/>
          <a:stretch>
            <a:fillRect/>
          </a:stretch>
        </p:blipFill>
        <p:spPr>
          <a:xfrm>
            <a:off x="987552" y="3639312"/>
            <a:ext cx="3520440" cy="2602064"/>
          </a:xfrm>
          <a:prstGeom prst="rect">
            <a:avLst/>
          </a:prstGeom>
        </p:spPr>
      </p:pic>
      <p:pic>
        <p:nvPicPr>
          <p:cNvPr id="63" name="Picture 62" descr="g2.png"/>
          <p:cNvPicPr>
            <a:picLocks noChangeAspect="1"/>
          </p:cNvPicPr>
          <p:nvPr/>
        </p:nvPicPr>
        <p:blipFill>
          <a:blip r:embed="rId15"/>
          <a:stretch>
            <a:fillRect/>
          </a:stretch>
        </p:blipFill>
        <p:spPr>
          <a:xfrm>
            <a:off x="5248656" y="3639312"/>
            <a:ext cx="3520440" cy="2602064"/>
          </a:xfrm>
          <a:prstGeom prst="rect">
            <a:avLst/>
          </a:prstGeom>
        </p:spPr>
      </p:pic>
      <p:pic>
        <p:nvPicPr>
          <p:cNvPr id="64" name="Picture 63" descr="g3.png"/>
          <p:cNvPicPr>
            <a:picLocks noChangeAspect="1"/>
          </p:cNvPicPr>
          <p:nvPr/>
        </p:nvPicPr>
        <p:blipFill>
          <a:blip r:embed="rId16"/>
          <a:stretch>
            <a:fillRect/>
          </a:stretch>
        </p:blipFill>
        <p:spPr>
          <a:xfrm>
            <a:off x="9518904" y="3639312"/>
            <a:ext cx="3520440" cy="2602064"/>
          </a:xfrm>
          <a:prstGeom prst="rect">
            <a:avLst/>
          </a:prstGeom>
        </p:spPr>
      </p:pic>
      <p:pic>
        <p:nvPicPr>
          <p:cNvPr id="65" name="Picture 64" descr="g4.png"/>
          <p:cNvPicPr>
            <a:picLocks noChangeAspect="1"/>
          </p:cNvPicPr>
          <p:nvPr/>
        </p:nvPicPr>
        <p:blipFill>
          <a:blip r:embed="rId17"/>
          <a:stretch>
            <a:fillRect/>
          </a:stretch>
        </p:blipFill>
        <p:spPr>
          <a:xfrm>
            <a:off x="13780007" y="3639312"/>
            <a:ext cx="3520440" cy="2602064"/>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7" name="Rounded Rectangle 36"/>
          <p:cNvSpPr/>
          <p:nvPr/>
        </p:nvSpPr>
        <p:spPr>
          <a:xfrm>
            <a:off x="804672" y="6217920"/>
            <a:ext cx="16678655" cy="3246120"/>
          </a:xfrm>
          <a:prstGeom prst="roundRect">
            <a:avLst>
              <a:gd name="adj" fmla="val 5000"/>
            </a:avLst>
          </a:prstGeom>
          <a:solidFill>
            <a:srgbClr val="F3F5F8"/>
          </a:solidFill>
          <a:ln>
            <a:noFill/>
          </a:ln>
        </p:spPr>
        <p:txBody>
          <a:bodyPr rtlCol="0" anchor="ctr"/>
          <a:lstStyle/>
          <a:p>
            <a:pPr algn="ctr"/>
          </a:p>
        </p:txBody>
      </p:sp>
      <p:sp>
        <p:nvSpPr>
          <p:cNvPr id="36" name="Rounded Rectangle 35"/>
          <p:cNvSpPr/>
          <p:nvPr/>
        </p:nvSpPr>
        <p:spPr>
          <a:xfrm>
            <a:off x="12216384" y="2039112"/>
            <a:ext cx="5257800" cy="3977639"/>
          </a:xfrm>
          <a:prstGeom prst="roundRect">
            <a:avLst>
              <a:gd name="adj" fmla="val 6000"/>
            </a:avLst>
          </a:prstGeom>
          <a:solidFill>
            <a:srgbClr val="F3F5F8"/>
          </a:solidFill>
          <a:ln>
            <a:noFill/>
          </a:ln>
        </p:spPr>
        <p:txBody>
          <a:bodyPr rtlCol="0" anchor="ctr"/>
          <a:lstStyle/>
          <a:p>
            <a:pPr algn="ctr"/>
          </a:p>
        </p:txBody>
      </p:sp>
      <p:sp>
        <p:nvSpPr>
          <p:cNvPr id="35" name="Rounded Rectangle 34"/>
          <p:cNvSpPr/>
          <p:nvPr/>
        </p:nvSpPr>
        <p:spPr>
          <a:xfrm>
            <a:off x="6510528" y="2039112"/>
            <a:ext cx="5257800" cy="3977639"/>
          </a:xfrm>
          <a:prstGeom prst="roundRect">
            <a:avLst>
              <a:gd name="adj" fmla="val 6000"/>
            </a:avLst>
          </a:prstGeom>
          <a:solidFill>
            <a:srgbClr val="F3F5F8"/>
          </a:solidFill>
          <a:ln>
            <a:noFill/>
          </a:ln>
        </p:spPr>
        <p:txBody>
          <a:bodyPr rtlCol="0" anchor="ctr"/>
          <a:lstStyle/>
          <a:p>
            <a:pPr algn="ctr"/>
          </a:p>
        </p:txBody>
      </p:sp>
      <p:sp>
        <p:nvSpPr>
          <p:cNvPr id="34" name="Rounded Rectangle 33"/>
          <p:cNvSpPr/>
          <p:nvPr/>
        </p:nvSpPr>
        <p:spPr>
          <a:xfrm>
            <a:off x="804672" y="2039112"/>
            <a:ext cx="5257800" cy="3977639"/>
          </a:xfrm>
          <a:prstGeom prst="roundRect">
            <a:avLst>
              <a:gd name="adj" fmla="val 6000"/>
            </a:avLst>
          </a:prstGeom>
          <a:solidFill>
            <a:srgbClr val="FBF0DA"/>
          </a:solidFill>
          <a:ln>
            <a:noFill/>
          </a:ln>
        </p:spPr>
        <p:txBody>
          <a:bodyPr rtlCol="0" anchor="ctr"/>
          <a:lstStyle/>
          <a:p>
            <a:pPr algn="ctr"/>
          </a:p>
        </p:txBody>
      </p:sp>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grpSp>
        <p:nvGrpSpPr>
          <p:cNvPr name="Group 4" id="4"/>
          <p:cNvGrpSpPr/>
          <p:nvPr/>
        </p:nvGrpSpPr>
        <p:grpSpPr>
          <a:xfrm rot="0">
            <a:off x="822960" y="9641205"/>
            <a:ext cx="13716000" cy="440055"/>
            <a:chOff x="0" y="0"/>
            <a:chExt cx="18288000" cy="586740"/>
          </a:xfrm>
        </p:grpSpPr>
        <p:sp>
          <p:nvSpPr>
            <p:cNvPr name="Freeform 5" id="5"/>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3">
                <a:alphaModFix amt="0"/>
              </a:blip>
              <a:stretch>
                <a:fillRect l="0" t="-556902" r="0" b="-556904"/>
              </a:stretch>
            </a:blipFill>
          </p:spPr>
          <p:txBody>
            <a:bodyPr/>
            <a:p/>
          </p:txBody>
        </p:sp>
      </p:grpSp>
      <p:sp>
        <p:nvSpPr>
          <p:cNvPr name="TextBox 6" id="6"/>
          <p:cNvSpPr txBox="true"/>
          <p:nvPr/>
        </p:nvSpPr>
        <p:spPr>
          <a:xfrm rot="0">
            <a:off x="822960" y="296037"/>
            <a:ext cx="16641623" cy="554355"/>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1 · PHẠM VI · 04 · TRONG VÀ NGOÀI PHẠM VI</a:t>
            </a:r>
          </a:p>
        </p:txBody>
      </p:sp>
      <p:sp>
        <p:nvSpPr>
          <p:cNvPr name="TextBox 7" id="7"/>
          <p:cNvSpPr txBox="true"/>
          <p:nvPr/>
        </p:nvSpPr>
        <p:spPr>
          <a:xfrm rot="0">
            <a:off x="822960" y="802767"/>
            <a:ext cx="16641623" cy="1007745"/>
          </a:xfrm>
          <a:prstGeom prst="rect">
            <a:avLst/>
          </a:prstGeom>
        </p:spPr>
        <p:txBody>
          <a:bodyPr anchor="t" rtlCol="false" tIns="0" lIns="0" bIns="0" rIns="0">
            <a:spAutoFit/>
          </a:bodyPr>
          <a:lstStyle/>
          <a:p>
            <a:pPr algn="l">
              <a:lnSpc>
                <a:spcPts val="5755"/>
              </a:lnSpc>
            </a:pPr>
            <a:r>
              <a:rPr lang="en-US" sz="4800" b="true">
                <a:solidFill>
                  <a:srgbClr val="13294B"/>
                </a:solidFill>
                <a:latin typeface="Cambria Bold"/>
                <a:ea typeface="Cambria Bold"/>
                <a:cs typeface="Cambria Bold"/>
                <a:sym typeface="Cambria Bold"/>
              </a:rPr>
              <a:t>Trong và ngoài phạm vi đề tài</a:t>
            </a:r>
          </a:p>
        </p:txBody>
      </p:sp>
      <p:sp>
        <p:nvSpPr>
          <p:cNvPr name="TextBox 10" id="10"/>
          <p:cNvSpPr txBox="true"/>
          <p:nvPr/>
        </p:nvSpPr>
        <p:spPr>
          <a:xfrm rot="0">
            <a:off x="1165860" y="2125980"/>
            <a:ext cx="4541368" cy="826770"/>
          </a:xfrm>
          <a:prstGeom prst="rect">
            <a:avLst/>
          </a:prstGeom>
        </p:spPr>
        <p:txBody>
          <a:bodyPr anchor="t" rtlCol="false" tIns="0" lIns="0" bIns="0" rIns="0">
            <a:spAutoFit/>
          </a:bodyPr>
          <a:lstStyle/>
          <a:p>
            <a:pPr algn="l">
              <a:lnSpc>
                <a:spcPts val="3059"/>
              </a:lnSpc>
            </a:pPr>
            <a:r>
              <a:rPr lang="en-US" sz="2700" b="true">
                <a:solidFill>
                  <a:srgbClr val="13294B"/>
                </a:solidFill>
                <a:latin typeface="Calibri (MS) Bold"/>
                <a:ea typeface="Calibri (MS) Bold"/>
                <a:cs typeface="Calibri (MS) Bold"/>
                <a:sym typeface="Calibri (MS) Bold"/>
              </a:rPr>
              <a:t>Dữ liệu</a:t>
            </a:r>
          </a:p>
        </p:txBody>
      </p:sp>
      <p:sp>
        <p:nvSpPr>
          <p:cNvPr name="TextBox 11" id="11"/>
          <p:cNvSpPr txBox="true"/>
          <p:nvPr/>
        </p:nvSpPr>
        <p:spPr>
          <a:xfrm rot="0">
            <a:off x="1165860" y="2852928"/>
            <a:ext cx="4541368" cy="960120"/>
          </a:xfrm>
          <a:prstGeom prst="rect">
            <a:avLst/>
          </a:prstGeom>
        </p:spPr>
        <p:txBody>
          <a:bodyPr anchor="t" rtlCol="false" tIns="0" lIns="0" bIns="0" rIns="0">
            <a:spAutoFit/>
          </a:bodyPr>
          <a:lstStyle/>
          <a:p>
            <a:pPr algn="l">
              <a:lnSpc>
                <a:spcPts val="2699"/>
              </a:lnSpc>
            </a:pPr>
            <a:r>
              <a:rPr lang="en-US" sz="2499">
                <a:solidFill>
                  <a:srgbClr val="243044"/>
                </a:solidFill>
                <a:latin typeface="Calibri (MS)"/>
                <a:ea typeface="Calibri (MS)"/>
                <a:cs typeface="Calibri (MS)"/>
                <a:sym typeface="Calibri (MS)"/>
              </a:rPr>
              <a:t>ViVQA (ảnh đời thường) + ViTextVQA (ảnh có chữ tiếng Việt); split cố định</a:t>
            </a:r>
          </a:p>
        </p:txBody>
      </p:sp>
      <p:sp>
        <p:nvSpPr>
          <p:cNvPr name="TextBox 14" id="14"/>
          <p:cNvSpPr txBox="true"/>
          <p:nvPr/>
        </p:nvSpPr>
        <p:spPr>
          <a:xfrm rot="0">
            <a:off x="6873088" y="2125980"/>
            <a:ext cx="4541368" cy="826770"/>
          </a:xfrm>
          <a:prstGeom prst="rect">
            <a:avLst/>
          </a:prstGeom>
        </p:spPr>
        <p:txBody>
          <a:bodyPr anchor="t" rtlCol="false" tIns="0" lIns="0" bIns="0" rIns="0">
            <a:spAutoFit/>
          </a:bodyPr>
          <a:lstStyle/>
          <a:p>
            <a:pPr algn="l">
              <a:lnSpc>
                <a:spcPts val="3059"/>
              </a:lnSpc>
            </a:pPr>
            <a:r>
              <a:rPr lang="en-US" sz="2700" b="true">
                <a:solidFill>
                  <a:srgbClr val="13294B"/>
                </a:solidFill>
                <a:latin typeface="Calibri (MS) Bold"/>
                <a:ea typeface="Calibri (MS) Bold"/>
                <a:cs typeface="Calibri (MS) Bold"/>
                <a:sym typeface="Calibri (MS) Bold"/>
              </a:rPr>
              <a:t>Mô hình &amp; cách thích nghi</a:t>
            </a:r>
          </a:p>
        </p:txBody>
      </p:sp>
      <p:sp>
        <p:nvSpPr>
          <p:cNvPr name="TextBox 15" id="15"/>
          <p:cNvSpPr txBox="true"/>
          <p:nvPr/>
        </p:nvSpPr>
        <p:spPr>
          <a:xfrm rot="0">
            <a:off x="6873088" y="2852928"/>
            <a:ext cx="4541368" cy="960120"/>
          </a:xfrm>
          <a:prstGeom prst="rect">
            <a:avLst/>
          </a:prstGeom>
        </p:spPr>
        <p:txBody>
          <a:bodyPr anchor="t" rtlCol="false" tIns="0" lIns="0" bIns="0" rIns="0">
            <a:spAutoFit/>
          </a:bodyPr>
          <a:lstStyle/>
          <a:p>
            <a:pPr algn="l">
              <a:lnSpc>
                <a:spcPts val="2699"/>
              </a:lnSpc>
            </a:pPr>
            <a:r>
              <a:rPr lang="en-US" sz="2499">
                <a:solidFill>
                  <a:srgbClr val="243044"/>
                </a:solidFill>
                <a:latin typeface="Calibri (MS)"/>
                <a:ea typeface="Calibri (MS)"/>
                <a:cs typeface="Calibri (MS)"/>
                <a:sym typeface="Calibri (MS)"/>
              </a:rPr>
              <a:t>Một baseline Qwen2.5-VL-3B; chỉ PEFT (QLoRA 4-bit); chữ OCR làm đầu vào phụ</a:t>
            </a:r>
          </a:p>
        </p:txBody>
      </p:sp>
      <p:sp>
        <p:nvSpPr>
          <p:cNvPr name="TextBox 18" id="18"/>
          <p:cNvSpPr txBox="true"/>
          <p:nvPr/>
        </p:nvSpPr>
        <p:spPr>
          <a:xfrm rot="0">
            <a:off x="12580315" y="2125980"/>
            <a:ext cx="4541368" cy="826770"/>
          </a:xfrm>
          <a:prstGeom prst="rect">
            <a:avLst/>
          </a:prstGeom>
        </p:spPr>
        <p:txBody>
          <a:bodyPr anchor="t" rtlCol="false" tIns="0" lIns="0" bIns="0" rIns="0">
            <a:spAutoFit/>
          </a:bodyPr>
          <a:lstStyle/>
          <a:p>
            <a:pPr algn="l">
              <a:lnSpc>
                <a:spcPts val="3059"/>
              </a:lnSpc>
            </a:pPr>
            <a:r>
              <a:rPr lang="en-US" sz="2700" b="true">
                <a:solidFill>
                  <a:srgbClr val="13294B"/>
                </a:solidFill>
                <a:latin typeface="Calibri (MS) Bold"/>
                <a:ea typeface="Calibri (MS) Bold"/>
                <a:cs typeface="Calibri (MS) Bold"/>
                <a:sym typeface="Calibri (MS) Bold"/>
              </a:rPr>
              <a:t>Đánh giá &amp; tài nguyên</a:t>
            </a:r>
          </a:p>
        </p:txBody>
      </p:sp>
      <p:sp>
        <p:nvSpPr>
          <p:cNvPr name="TextBox 19" id="19"/>
          <p:cNvSpPr txBox="true"/>
          <p:nvPr/>
        </p:nvSpPr>
        <p:spPr>
          <a:xfrm rot="0">
            <a:off x="12580315" y="2852928"/>
            <a:ext cx="4541368" cy="960120"/>
          </a:xfrm>
          <a:prstGeom prst="rect">
            <a:avLst/>
          </a:prstGeom>
        </p:spPr>
        <p:txBody>
          <a:bodyPr anchor="t" rtlCol="false" tIns="0" lIns="0" bIns="0" rIns="0">
            <a:spAutoFit/>
          </a:bodyPr>
          <a:lstStyle/>
          <a:p>
            <a:pPr algn="l">
              <a:lnSpc>
                <a:spcPts val="2699"/>
              </a:lnSpc>
            </a:pPr>
            <a:r>
              <a:rPr lang="en-US" sz="2499">
                <a:solidFill>
                  <a:srgbClr val="243044"/>
                </a:solidFill>
                <a:latin typeface="Calibri (MS)"/>
                <a:ea typeface="Calibri (MS)"/>
                <a:cs typeface="Calibri (MS)"/>
                <a:sym typeface="Calibri (MS)"/>
              </a:rPr>
              <a:t>EM, VQA-Acc, ANLS (+F1); ablation, lỗi, hallucination; một GPU Colab</a:t>
            </a:r>
          </a:p>
        </p:txBody>
      </p:sp>
      <p:sp>
        <p:nvSpPr>
          <p:cNvPr name="TextBox 22" id="22"/>
          <p:cNvSpPr txBox="true"/>
          <p:nvPr/>
        </p:nvSpPr>
        <p:spPr>
          <a:xfrm rot="0">
            <a:off x="1165860" y="6309360"/>
            <a:ext cx="15910560" cy="758190"/>
          </a:xfrm>
          <a:prstGeom prst="rect">
            <a:avLst/>
          </a:prstGeom>
        </p:spPr>
        <p:txBody>
          <a:bodyPr anchor="t" rtlCol="false" tIns="0" lIns="0" bIns="0" rIns="0">
            <a:spAutoFit/>
          </a:bodyPr>
          <a:lstStyle/>
          <a:p>
            <a:pPr algn="l">
              <a:lnSpc>
                <a:spcPts val="3059"/>
              </a:lnSpc>
            </a:pPr>
            <a:r>
              <a:rPr lang="en-US" sz="2700" b="true">
                <a:solidFill>
                  <a:srgbClr val="13294B"/>
                </a:solidFill>
                <a:latin typeface="Calibri (MS) Bold"/>
                <a:ea typeface="Calibri (MS) Bold"/>
                <a:cs typeface="Calibri (MS) Bold"/>
                <a:sym typeface="Calibri (MS) Bold"/>
              </a:rPr>
              <a:t>Ngoài phạm vi</a:t>
            </a:r>
          </a:p>
        </p:txBody>
      </p:sp>
      <p:grpSp>
        <p:nvGrpSpPr>
          <p:cNvPr name="Group 25" id="25"/>
          <p:cNvGrpSpPr/>
          <p:nvPr/>
        </p:nvGrpSpPr>
        <p:grpSpPr>
          <a:xfrm rot="0">
            <a:off x="15458732" y="0"/>
            <a:ext cx="2829306" cy="1184338"/>
            <a:chOff x="0" y="0"/>
            <a:chExt cx="3772408" cy="1579118"/>
          </a:xfrm>
        </p:grpSpPr>
        <p:sp>
          <p:nvSpPr>
            <p:cNvPr name="Freeform 26" id="26"/>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4"/>
              <a:stretch>
                <a:fillRect l="0" t="0" r="0" b="0"/>
              </a:stretch>
            </a:blipFill>
          </p:spPr>
          <p:txBody>
            <a:bodyPr/>
            <a:p/>
          </p:txBody>
        </p:sp>
      </p:grpSp>
      <p:grpSp>
        <p:nvGrpSpPr>
          <p:cNvPr name="Group 27" id="27"/>
          <p:cNvGrpSpPr/>
          <p:nvPr/>
        </p:nvGrpSpPr>
        <p:grpSpPr>
          <a:xfrm rot="0">
            <a:off x="822960" y="9655969"/>
            <a:ext cx="13716000" cy="360331"/>
            <a:chOff x="0" y="0"/>
            <a:chExt cx="18288000" cy="480441"/>
          </a:xfrm>
        </p:grpSpPr>
        <p:sp>
          <p:nvSpPr>
            <p:cNvPr name="Freeform 28" id="28"/>
            <p:cNvSpPr/>
            <p:nvPr/>
          </p:nvSpPr>
          <p:spPr>
            <a:xfrm flipH="false" flipV="false" rot="0">
              <a:off x="0" y="0"/>
              <a:ext cx="18288000" cy="480441"/>
            </a:xfrm>
            <a:custGeom>
              <a:avLst/>
              <a:gdLst/>
              <a:ahLst/>
              <a:cxnLst/>
              <a:rect r="r" b="b" t="t" l="l"/>
              <a:pathLst>
                <a:path h="480441" w="18288000">
                  <a:moveTo>
                    <a:pt x="0" y="0"/>
                  </a:moveTo>
                  <a:lnTo>
                    <a:pt x="18288000" y="0"/>
                  </a:lnTo>
                  <a:lnTo>
                    <a:pt x="18288000" y="480441"/>
                  </a:lnTo>
                  <a:lnTo>
                    <a:pt x="0" y="480441"/>
                  </a:lnTo>
                  <a:close/>
                </a:path>
              </a:pathLst>
            </a:custGeom>
            <a:blipFill>
              <a:blip r:embed="rId5">
                <a:alphaModFix amt="0"/>
              </a:blip>
              <a:stretch>
                <a:fillRect l="0" t="-691181" r="0" b="-691184"/>
              </a:stretch>
            </a:blipFill>
          </p:spPr>
          <p:txBody>
            <a:bodyPr/>
            <a:p/>
          </p:txBody>
        </p:sp>
      </p:grpSp>
      <p:grpSp>
        <p:nvGrpSpPr>
          <p:cNvPr name="Group 29" id="29"/>
          <p:cNvGrpSpPr/>
          <p:nvPr/>
        </p:nvGrpSpPr>
        <p:grpSpPr>
          <a:xfrm rot="0">
            <a:off x="822960" y="9627394"/>
            <a:ext cx="13716000" cy="388896"/>
            <a:chOff x="0" y="0"/>
            <a:chExt cx="18288000" cy="518528"/>
          </a:xfrm>
        </p:grpSpPr>
        <p:sp>
          <p:nvSpPr>
            <p:cNvPr name="Freeform 30" id="30"/>
            <p:cNvSpPr/>
            <p:nvPr/>
          </p:nvSpPr>
          <p:spPr>
            <a:xfrm flipH="false" flipV="false" rot="0">
              <a:off x="0" y="0"/>
              <a:ext cx="18288000" cy="518541"/>
            </a:xfrm>
            <a:custGeom>
              <a:avLst/>
              <a:gdLst/>
              <a:ahLst/>
              <a:cxnLst/>
              <a:rect r="r" b="b" t="t" l="l"/>
              <a:pathLst>
                <a:path h="518541" w="18288000">
                  <a:moveTo>
                    <a:pt x="0" y="0"/>
                  </a:moveTo>
                  <a:lnTo>
                    <a:pt x="18288000" y="0"/>
                  </a:lnTo>
                  <a:lnTo>
                    <a:pt x="18288000" y="518541"/>
                  </a:lnTo>
                  <a:lnTo>
                    <a:pt x="0" y="518541"/>
                  </a:lnTo>
                  <a:close/>
                </a:path>
              </a:pathLst>
            </a:custGeom>
            <a:blipFill>
              <a:blip r:embed="rId6">
                <a:alphaModFix amt="0"/>
              </a:blip>
              <a:stretch>
                <a:fillRect l="0" t="-636725" r="0" b="-636722"/>
              </a:stretch>
            </a:blipFill>
          </p:spPr>
          <p:txBody>
            <a:bodyPr/>
            <a:p/>
          </p:txBody>
        </p:sp>
      </p:grpSp>
      <p:grpSp>
        <p:nvGrpSpPr>
          <p:cNvPr name="Group 31" id="31"/>
          <p:cNvGrpSpPr/>
          <p:nvPr/>
        </p:nvGrpSpPr>
        <p:grpSpPr>
          <a:xfrm rot="0">
            <a:off x="822960" y="9598819"/>
            <a:ext cx="13716000" cy="417471"/>
            <a:chOff x="0" y="0"/>
            <a:chExt cx="18288000" cy="556628"/>
          </a:xfrm>
        </p:grpSpPr>
        <p:sp>
          <p:nvSpPr>
            <p:cNvPr name="Freeform 32" id="32"/>
            <p:cNvSpPr/>
            <p:nvPr/>
          </p:nvSpPr>
          <p:spPr>
            <a:xfrm flipH="false" flipV="false" rot="0">
              <a:off x="0" y="0"/>
              <a:ext cx="18288000" cy="556628"/>
            </a:xfrm>
            <a:custGeom>
              <a:avLst/>
              <a:gdLst/>
              <a:ahLst/>
              <a:cxnLst/>
              <a:rect r="r" b="b" t="t" l="l"/>
              <a:pathLst>
                <a:path h="556628" w="18288000">
                  <a:moveTo>
                    <a:pt x="0" y="0"/>
                  </a:moveTo>
                  <a:lnTo>
                    <a:pt x="18288000" y="0"/>
                  </a:lnTo>
                  <a:lnTo>
                    <a:pt x="18288000" y="556628"/>
                  </a:lnTo>
                  <a:lnTo>
                    <a:pt x="0" y="556628"/>
                  </a:lnTo>
                  <a:close/>
                </a:path>
              </a:pathLst>
            </a:custGeom>
            <a:blipFill>
              <a:blip r:embed="rId7">
                <a:alphaModFix amt="0"/>
              </a:blip>
              <a:stretch>
                <a:fillRect l="0" t="-590180" r="0" b="-590180"/>
              </a:stretch>
            </a:blipFill>
          </p:spPr>
          <p:txBody>
            <a:bodyPr/>
            <a:p/>
          </p:txBody>
        </p:sp>
        <p:sp>
          <p:nvSpPr>
            <p:cNvPr name="TextBox 33" id="33"/>
            <p:cNvSpPr txBox="true"/>
            <p:nvPr/>
          </p:nvSpPr>
          <p:spPr>
            <a:xfrm>
              <a:off x="0" y="-38100"/>
              <a:ext cx="18288000" cy="594728"/>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GFA26AI35 · Đại học FPT</a:t>
              </a:r>
            </a:p>
          </p:txBody>
        </p:sp>
      </p:grpSp>
      <p:pic>
        <p:nvPicPr>
          <p:cNvPr id="38" name="Picture 37" descr="sc_data.png"/>
          <p:cNvPicPr>
            <a:picLocks noChangeAspect="1"/>
          </p:cNvPicPr>
          <p:nvPr/>
        </p:nvPicPr>
        <p:blipFill>
          <a:blip r:embed="rId8"/>
          <a:stretch>
            <a:fillRect/>
          </a:stretch>
        </p:blipFill>
        <p:spPr>
          <a:xfrm>
            <a:off x="1161288" y="4023360"/>
            <a:ext cx="4544568" cy="1792224"/>
          </a:xfrm>
          <a:prstGeom prst="rect">
            <a:avLst/>
          </a:prstGeom>
        </p:spPr>
      </p:pic>
      <p:pic>
        <p:nvPicPr>
          <p:cNvPr id="39" name="Picture 38" descr="step_B2.png"/>
          <p:cNvPicPr>
            <a:picLocks noChangeAspect="1"/>
          </p:cNvPicPr>
          <p:nvPr/>
        </p:nvPicPr>
        <p:blipFill>
          <a:blip r:embed="rId9"/>
          <a:stretch>
            <a:fillRect/>
          </a:stretch>
        </p:blipFill>
        <p:spPr>
          <a:xfrm>
            <a:off x="7566659" y="4023360"/>
            <a:ext cx="3163824" cy="1792833"/>
          </a:xfrm>
          <a:prstGeom prst="rect">
            <a:avLst/>
          </a:prstGeom>
        </p:spPr>
      </p:pic>
      <p:pic>
        <p:nvPicPr>
          <p:cNvPr id="40" name="Picture 39" descr="sc_eval.png"/>
          <p:cNvPicPr>
            <a:picLocks noChangeAspect="1"/>
          </p:cNvPicPr>
          <p:nvPr/>
        </p:nvPicPr>
        <p:blipFill>
          <a:blip r:embed="rId10"/>
          <a:stretch>
            <a:fillRect/>
          </a:stretch>
        </p:blipFill>
        <p:spPr>
          <a:xfrm>
            <a:off x="12582144" y="4023360"/>
            <a:ext cx="4544568" cy="1792224"/>
          </a:xfrm>
          <a:prstGeom prst="rect">
            <a:avLst/>
          </a:prstGeom>
        </p:spPr>
      </p:pic>
      <p:pic>
        <p:nvPicPr>
          <p:cNvPr id="41" name="Picture 40" descr="out_tiles.png"/>
          <p:cNvPicPr>
            <a:picLocks noChangeAspect="1"/>
          </p:cNvPicPr>
          <p:nvPr/>
        </p:nvPicPr>
        <p:blipFill>
          <a:blip r:embed="rId11"/>
          <a:stretch>
            <a:fillRect/>
          </a:stretch>
        </p:blipFill>
        <p:spPr>
          <a:xfrm>
            <a:off x="1161288" y="6967728"/>
            <a:ext cx="15956280" cy="2017460"/>
          </a:xfrm>
          <a:prstGeom prst="rect">
            <a:avLst/>
          </a:prstGeom>
        </p:spPr>
      </p:pic>
      <p:sp>
        <p:nvSpPr>
          <p:cNvPr id="42" name="TextBox 41"/>
          <p:cNvSpPr txBox="1"/>
          <p:nvPr/>
        </p:nvSpPr>
        <p:spPr>
          <a:xfrm>
            <a:off x="1161288" y="9070848"/>
            <a:ext cx="15910559" cy="320040"/>
          </a:xfrm>
          <a:prstGeom prst="rect">
            <a:avLst/>
          </a:prstGeom>
          <a:noFill/>
        </p:spPr>
        <p:txBody>
          <a:bodyPr wrap="square" anchor="t" lIns="0" rIns="0" tIns="0" bIns="0">
            <a:spAutoFit/>
          </a:bodyPr>
          <a:lstStyle/>
          <a:p>
            <a:pPr algn="l">
              <a:lnSpc>
                <a:spcPct val="106000"/>
              </a:lnSpc>
              <a:spcAft>
                <a:spcPts val="0"/>
              </a:spcAft>
            </a:pPr>
            <a:r>
              <a:rPr sz="1300" b="0">
                <a:solidFill>
                  <a:srgbClr val="5B677A"/>
                </a:solidFill>
                <a:latin typeface="Calibri (MS)"/>
              </a:rPr>
              <a:t>* RAG tri thức ngoài chỉ làm nếu phân tích lỗi đòi hỏi.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1 · PHẠM VI · 05 · CÂU HỎI NGHIÊN CỨU</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Bốn câu hỏi nghiên cứu — RQ2 là trung tâm</a:t>
            </a:r>
          </a:p>
        </p:txBody>
      </p:sp>
      <p:sp>
        <p:nvSpPr>
          <p:cNvPr name="Freeform 6" id="6"/>
          <p:cNvSpPr/>
          <p:nvPr/>
        </p:nvSpPr>
        <p:spPr>
          <a:xfrm flipH="false" flipV="false" rot="0">
            <a:off x="806291" y="2040731"/>
            <a:ext cx="8079867" cy="3325178"/>
          </a:xfrm>
          <a:custGeom>
            <a:avLst/>
            <a:gdLst/>
            <a:ahLst/>
            <a:cxnLst/>
            <a:rect r="r" b="b" t="t" l="l"/>
            <a:pathLst>
              <a:path h="3325178" w="8079867">
                <a:moveTo>
                  <a:pt x="0" y="0"/>
                </a:moveTo>
                <a:lnTo>
                  <a:pt x="8079867" y="0"/>
                </a:lnTo>
                <a:lnTo>
                  <a:pt x="8079867" y="3325178"/>
                </a:lnTo>
                <a:lnTo>
                  <a:pt x="0" y="3325178"/>
                </a:lnTo>
                <a:lnTo>
                  <a:pt x="0" y="0"/>
                </a:lnTo>
                <a:close/>
              </a:path>
            </a:pathLst>
          </a:custGeom>
          <a:blipFill>
            <a:blip r:embed="rId3">
              <a:extLst>
                <a:ext uri="{96DAC541-7B7A-43D3-8B79-37D633B846F1}">
                  <asvg:svgBlip xmlns:asvg="http://schemas.microsoft.com/office/drawing/2016/SVG/main" r:embed="rId4"/>
                </a:ext>
              </a:extLst>
            </a:blip>
            <a:stretch>
              <a:fillRect l="0" t="-86" r="0" b="-86"/>
            </a:stretch>
          </a:blipFill>
        </p:spPr>
        <p:txBody>
          <a:bodyPr/>
          <a:p/>
        </p:txBody>
      </p:sp>
      <p:sp>
        <p:nvSpPr>
          <p:cNvPr name="TextBox 7" id="7"/>
          <p:cNvSpPr txBox="true"/>
          <p:nvPr/>
        </p:nvSpPr>
        <p:spPr>
          <a:xfrm rot="0">
            <a:off x="1234440" y="2331720"/>
            <a:ext cx="1783080" cy="754380"/>
          </a:xfrm>
          <a:prstGeom prst="rect">
            <a:avLst/>
          </a:prstGeom>
        </p:spPr>
        <p:txBody>
          <a:bodyPr anchor="t" rtlCol="false" tIns="0" lIns="0" bIns="0" rIns="0">
            <a:spAutoFit/>
          </a:bodyPr>
          <a:lstStyle/>
          <a:p>
            <a:pPr algn="l">
              <a:lnSpc>
                <a:spcPts val="4680"/>
              </a:lnSpc>
            </a:pPr>
            <a:r>
              <a:rPr lang="en-US" sz="3900" b="true">
                <a:solidFill>
                  <a:srgbClr val="1C7293"/>
                </a:solidFill>
                <a:latin typeface="Cambria Bold"/>
                <a:ea typeface="Cambria Bold"/>
                <a:cs typeface="Cambria Bold"/>
                <a:sym typeface="Cambria Bold"/>
              </a:rPr>
              <a:t>RQ1</a:t>
            </a:r>
          </a:p>
        </p:txBody>
      </p:sp>
      <p:grpSp>
        <p:nvGrpSpPr>
          <p:cNvPr name="Group 8" id="8"/>
          <p:cNvGrpSpPr/>
          <p:nvPr/>
        </p:nvGrpSpPr>
        <p:grpSpPr>
          <a:xfrm rot="0">
            <a:off x="3017520" y="2400300"/>
            <a:ext cx="5440490" cy="685800"/>
            <a:chOff x="0" y="0"/>
            <a:chExt cx="7253986" cy="914400"/>
          </a:xfrm>
        </p:grpSpPr>
        <p:sp>
          <p:nvSpPr>
            <p:cNvPr name="Freeform 9" id="9"/>
            <p:cNvSpPr/>
            <p:nvPr/>
          </p:nvSpPr>
          <p:spPr>
            <a:xfrm flipH="false" flipV="false" rot="0">
              <a:off x="0" y="0"/>
              <a:ext cx="7253986" cy="914400"/>
            </a:xfrm>
            <a:custGeom>
              <a:avLst/>
              <a:gdLst/>
              <a:ahLst/>
              <a:cxnLst/>
              <a:rect r="r" b="b" t="t" l="l"/>
              <a:pathLst>
                <a:path h="914400" w="7253986">
                  <a:moveTo>
                    <a:pt x="0" y="0"/>
                  </a:moveTo>
                  <a:lnTo>
                    <a:pt x="7253986" y="0"/>
                  </a:lnTo>
                  <a:lnTo>
                    <a:pt x="7253986" y="914400"/>
                  </a:lnTo>
                  <a:lnTo>
                    <a:pt x="0" y="914400"/>
                  </a:lnTo>
                  <a:close/>
                </a:path>
              </a:pathLst>
            </a:custGeom>
            <a:blipFill>
              <a:blip r:embed="rId2">
                <a:alphaModFix amt="0"/>
              </a:blip>
              <a:stretch>
                <a:fillRect l="0" t="-104468" r="0" b="-104469"/>
              </a:stretch>
            </a:blipFill>
          </p:spPr>
          <p:txBody>
            <a:bodyPr/>
            <a:p/>
          </p:txBody>
        </p:sp>
      </p:grpSp>
      <p:grpSp>
        <p:nvGrpSpPr>
          <p:cNvPr name="Group 10" id="10"/>
          <p:cNvGrpSpPr/>
          <p:nvPr/>
        </p:nvGrpSpPr>
        <p:grpSpPr>
          <a:xfrm rot="0">
            <a:off x="3017520" y="2371725"/>
            <a:ext cx="5440490" cy="714375"/>
            <a:chOff x="0" y="0"/>
            <a:chExt cx="7253986" cy="952500"/>
          </a:xfrm>
        </p:grpSpPr>
        <p:sp>
          <p:nvSpPr>
            <p:cNvPr name="Freeform 11" id="11"/>
            <p:cNvSpPr/>
            <p:nvPr/>
          </p:nvSpPr>
          <p:spPr>
            <a:xfrm flipH="false" flipV="false" rot="0">
              <a:off x="0" y="0"/>
              <a:ext cx="7253986" cy="952500"/>
            </a:xfrm>
            <a:custGeom>
              <a:avLst/>
              <a:gdLst/>
              <a:ahLst/>
              <a:cxnLst/>
              <a:rect r="r" b="b" t="t" l="l"/>
              <a:pathLst>
                <a:path h="952500" w="7253986">
                  <a:moveTo>
                    <a:pt x="0" y="0"/>
                  </a:moveTo>
                  <a:lnTo>
                    <a:pt x="7253986" y="0"/>
                  </a:lnTo>
                  <a:lnTo>
                    <a:pt x="7253986" y="952500"/>
                  </a:lnTo>
                  <a:lnTo>
                    <a:pt x="0" y="952500"/>
                  </a:lnTo>
                  <a:close/>
                </a:path>
              </a:pathLst>
            </a:custGeom>
            <a:blipFill>
              <a:blip r:embed="rId5">
                <a:alphaModFix amt="0"/>
              </a:blip>
              <a:stretch>
                <a:fillRect l="0" t="-98289" r="0" b="-98289"/>
              </a:stretch>
            </a:blipFill>
          </p:spPr>
          <p:txBody>
            <a:bodyPr/>
            <a:p/>
          </p:txBody>
        </p:sp>
      </p:grpSp>
      <p:grpSp>
        <p:nvGrpSpPr>
          <p:cNvPr name="Group 12" id="12"/>
          <p:cNvGrpSpPr/>
          <p:nvPr/>
        </p:nvGrpSpPr>
        <p:grpSpPr>
          <a:xfrm rot="0">
            <a:off x="3017520" y="2343150"/>
            <a:ext cx="5440451" cy="742950"/>
            <a:chOff x="0" y="0"/>
            <a:chExt cx="7253935" cy="990600"/>
          </a:xfrm>
        </p:grpSpPr>
        <p:sp>
          <p:nvSpPr>
            <p:cNvPr name="Freeform 13" id="13"/>
            <p:cNvSpPr/>
            <p:nvPr/>
          </p:nvSpPr>
          <p:spPr>
            <a:xfrm flipH="false" flipV="false" rot="0">
              <a:off x="0" y="0"/>
              <a:ext cx="7253986" cy="990600"/>
            </a:xfrm>
            <a:custGeom>
              <a:avLst/>
              <a:gdLst/>
              <a:ahLst/>
              <a:cxnLst/>
              <a:rect r="r" b="b" t="t" l="l"/>
              <a:pathLst>
                <a:path h="990600" w="7253986">
                  <a:moveTo>
                    <a:pt x="0" y="0"/>
                  </a:moveTo>
                  <a:lnTo>
                    <a:pt x="7253986" y="0"/>
                  </a:lnTo>
                  <a:lnTo>
                    <a:pt x="7253986" y="990600"/>
                  </a:lnTo>
                  <a:lnTo>
                    <a:pt x="0" y="990600"/>
                  </a:lnTo>
                  <a:close/>
                </a:path>
              </a:pathLst>
            </a:custGeom>
            <a:blipFill>
              <a:blip r:embed="rId6">
                <a:alphaModFix amt="0"/>
              </a:blip>
              <a:stretch>
                <a:fillRect l="0" t="-92584" r="0" b="-92585"/>
              </a:stretch>
            </a:blipFill>
          </p:spPr>
          <p:txBody>
            <a:bodyPr/>
            <a:p/>
          </p:txBody>
        </p:sp>
      </p:grpSp>
      <p:grpSp>
        <p:nvGrpSpPr>
          <p:cNvPr name="Group 14" id="14"/>
          <p:cNvGrpSpPr/>
          <p:nvPr/>
        </p:nvGrpSpPr>
        <p:grpSpPr>
          <a:xfrm rot="0">
            <a:off x="3017520" y="2314575"/>
            <a:ext cx="5440451" cy="771525"/>
            <a:chOff x="0" y="0"/>
            <a:chExt cx="7253935" cy="1028700"/>
          </a:xfrm>
        </p:grpSpPr>
        <p:sp>
          <p:nvSpPr>
            <p:cNvPr name="Freeform 15" id="15"/>
            <p:cNvSpPr/>
            <p:nvPr/>
          </p:nvSpPr>
          <p:spPr>
            <a:xfrm flipH="false" flipV="false" rot="0">
              <a:off x="0" y="0"/>
              <a:ext cx="7253935" cy="1028700"/>
            </a:xfrm>
            <a:custGeom>
              <a:avLst/>
              <a:gdLst/>
              <a:ahLst/>
              <a:cxnLst/>
              <a:rect r="r" b="b" t="t" l="l"/>
              <a:pathLst>
                <a:path h="1028700" w="7253935">
                  <a:moveTo>
                    <a:pt x="0" y="0"/>
                  </a:moveTo>
                  <a:lnTo>
                    <a:pt x="7253935" y="0"/>
                  </a:lnTo>
                  <a:lnTo>
                    <a:pt x="7253935" y="1028700"/>
                  </a:lnTo>
                  <a:lnTo>
                    <a:pt x="0" y="1028700"/>
                  </a:lnTo>
                  <a:close/>
                </a:path>
              </a:pathLst>
            </a:custGeom>
            <a:blipFill>
              <a:blip r:embed="rId7">
                <a:alphaModFix amt="0"/>
              </a:blip>
              <a:stretch>
                <a:fillRect l="0" t="-87399" r="0" b="-87399"/>
              </a:stretch>
            </a:blipFill>
          </p:spPr>
          <p:txBody>
            <a:bodyPr/>
            <a:p/>
          </p:txBody>
        </p:sp>
        <p:sp>
          <p:nvSpPr>
            <p:cNvPr name="TextBox 16" id="16"/>
            <p:cNvSpPr txBox="true"/>
            <p:nvPr/>
          </p:nvSpPr>
          <p:spPr>
            <a:xfrm>
              <a:off x="0" y="-38100"/>
              <a:ext cx="7253935" cy="1066800"/>
            </a:xfrm>
            <a:prstGeom prst="rect">
              <a:avLst/>
            </a:prstGeom>
          </p:spPr>
          <p:txBody>
            <a:bodyPr anchor="ctr" rtlCol="false" tIns="0" lIns="0" bIns="0" rIns="0"/>
            <a:lstStyle/>
            <a:p>
              <a:pPr algn="l">
                <a:lnSpc>
                  <a:spcPts val="2879"/>
                </a:lnSpc>
              </a:pPr>
              <a:r>
                <a:rPr lang="en-US" sz="2400" b="true">
                  <a:solidFill>
                    <a:srgbClr val="13294B"/>
                  </a:solidFill>
                  <a:latin typeface="Calibri (MS) Bold"/>
                  <a:ea typeface="Calibri (MS) Bold"/>
                  <a:cs typeface="Calibri (MS) Bold"/>
                  <a:sym typeface="Calibri (MS) Bold"/>
                </a:rPr>
                <a:t>Zero-shot &amp; prompting</a:t>
              </a:r>
            </a:p>
          </p:txBody>
        </p:sp>
      </p:grpSp>
      <p:sp>
        <p:nvSpPr>
          <p:cNvPr name="TextBox 17" id="17"/>
          <p:cNvSpPr txBox="true"/>
          <p:nvPr/>
        </p:nvSpPr>
        <p:spPr>
          <a:xfrm rot="0">
            <a:off x="1234440" y="3101340"/>
            <a:ext cx="5120640" cy="156210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Zero-shot đạt bao nhiêu trên ViVQA / ViTextVQA? Lỗi tiếng Việt nào chiếm ưu thế?</a:t>
            </a:r>
          </a:p>
        </p:txBody>
      </p:sp>
      <p:sp>
        <p:nvSpPr>
          <p:cNvPr name="TextBox 18" id="18"/>
          <p:cNvSpPr txBox="true"/>
          <p:nvPr/>
        </p:nvSpPr>
        <p:spPr>
          <a:xfrm rot="0">
            <a:off x="1234440" y="4511040"/>
            <a:ext cx="5120640" cy="632460"/>
          </a:xfrm>
          <a:prstGeom prst="rect">
            <a:avLst/>
          </a:prstGeom>
        </p:spPr>
        <p:txBody>
          <a:bodyPr anchor="t" rtlCol="false" tIns="0" lIns="0" bIns="0" rIns="0">
            <a:spAutoFit/>
          </a:bodyPr>
          <a:lstStyle/>
          <a:p>
            <a:pPr algn="l">
              <a:lnSpc>
                <a:spcPts val="2160"/>
              </a:lnSpc>
            </a:pPr>
            <a:r>
              <a:rPr lang="en-US" sz="1800" i="true">
                <a:solidFill>
                  <a:srgbClr val="6B7280"/>
                </a:solidFill>
                <a:latin typeface="Calibri (MS) Italics"/>
                <a:ea typeface="Calibri (MS) Italics"/>
                <a:cs typeface="Calibri (MS) Italics"/>
                <a:sym typeface="Calibri (MS) Italics"/>
              </a:rPr>
              <a:t>Đo bằng: EM · VQA-Acc · ANLS</a:t>
            </a:r>
          </a:p>
        </p:txBody>
      </p:sp>
      <p:sp>
        <p:nvSpPr>
          <p:cNvPr name="Freeform 19" id="19"/>
          <p:cNvSpPr/>
          <p:nvPr/>
        </p:nvSpPr>
        <p:spPr>
          <a:xfrm flipH="false" flipV="false" rot="0">
            <a:off x="9401423" y="2040731"/>
            <a:ext cx="8079867" cy="3325178"/>
          </a:xfrm>
          <a:custGeom>
            <a:avLst/>
            <a:gdLst/>
            <a:ahLst/>
            <a:cxnLst/>
            <a:rect r="r" b="b" t="t" l="l"/>
            <a:pathLst>
              <a:path h="3325178" w="8079867">
                <a:moveTo>
                  <a:pt x="0" y="0"/>
                </a:moveTo>
                <a:lnTo>
                  <a:pt x="8079867" y="0"/>
                </a:lnTo>
                <a:lnTo>
                  <a:pt x="8079867" y="3325178"/>
                </a:lnTo>
                <a:lnTo>
                  <a:pt x="0" y="3325178"/>
                </a:lnTo>
                <a:lnTo>
                  <a:pt x="0" y="0"/>
                </a:lnTo>
                <a:close/>
              </a:path>
            </a:pathLst>
          </a:custGeom>
          <a:blipFill>
            <a:blip r:embed="rId8">
              <a:extLst>
                <a:ext uri="{96DAC541-7B7A-43D3-8B79-37D633B846F1}">
                  <asvg:svgBlip xmlns:asvg="http://schemas.microsoft.com/office/drawing/2016/SVG/main" r:embed="rId9"/>
                </a:ext>
              </a:extLst>
            </a:blip>
            <a:stretch>
              <a:fillRect l="0" t="-86" r="0" b="-86"/>
            </a:stretch>
          </a:blipFill>
        </p:spPr>
        <p:txBody>
          <a:bodyPr/>
          <a:p/>
        </p:txBody>
      </p:sp>
      <p:sp>
        <p:nvSpPr>
          <p:cNvPr name="TextBox 20" id="20"/>
          <p:cNvSpPr txBox="true"/>
          <p:nvPr/>
        </p:nvSpPr>
        <p:spPr>
          <a:xfrm rot="0">
            <a:off x="9829571" y="2331720"/>
            <a:ext cx="1783080" cy="754380"/>
          </a:xfrm>
          <a:prstGeom prst="rect">
            <a:avLst/>
          </a:prstGeom>
        </p:spPr>
        <p:txBody>
          <a:bodyPr anchor="t" rtlCol="false" tIns="0" lIns="0" bIns="0" rIns="0">
            <a:spAutoFit/>
          </a:bodyPr>
          <a:lstStyle/>
          <a:p>
            <a:pPr algn="l">
              <a:lnSpc>
                <a:spcPts val="4680"/>
              </a:lnSpc>
            </a:pPr>
            <a:r>
              <a:rPr lang="en-US" sz="3900" b="true">
                <a:solidFill>
                  <a:srgbClr val="E8A33D"/>
                </a:solidFill>
                <a:latin typeface="Cambria Bold"/>
                <a:ea typeface="Cambria Bold"/>
                <a:cs typeface="Cambria Bold"/>
                <a:sym typeface="Cambria Bold"/>
              </a:rPr>
              <a:t>RQ2</a:t>
            </a:r>
          </a:p>
        </p:txBody>
      </p:sp>
      <p:grpSp>
        <p:nvGrpSpPr>
          <p:cNvPr name="Group 21" id="21"/>
          <p:cNvGrpSpPr/>
          <p:nvPr/>
        </p:nvGrpSpPr>
        <p:grpSpPr>
          <a:xfrm rot="0">
            <a:off x="11612651" y="2400300"/>
            <a:ext cx="5440490" cy="685800"/>
            <a:chOff x="0" y="0"/>
            <a:chExt cx="7253986" cy="914400"/>
          </a:xfrm>
        </p:grpSpPr>
        <p:sp>
          <p:nvSpPr>
            <p:cNvPr name="Freeform 22" id="22"/>
            <p:cNvSpPr/>
            <p:nvPr/>
          </p:nvSpPr>
          <p:spPr>
            <a:xfrm flipH="false" flipV="false" rot="0">
              <a:off x="0" y="0"/>
              <a:ext cx="7253986" cy="914400"/>
            </a:xfrm>
            <a:custGeom>
              <a:avLst/>
              <a:gdLst/>
              <a:ahLst/>
              <a:cxnLst/>
              <a:rect r="r" b="b" t="t" l="l"/>
              <a:pathLst>
                <a:path h="914400" w="7253986">
                  <a:moveTo>
                    <a:pt x="0" y="0"/>
                  </a:moveTo>
                  <a:lnTo>
                    <a:pt x="7253986" y="0"/>
                  </a:lnTo>
                  <a:lnTo>
                    <a:pt x="7253986" y="914400"/>
                  </a:lnTo>
                  <a:lnTo>
                    <a:pt x="0" y="914400"/>
                  </a:lnTo>
                  <a:close/>
                </a:path>
              </a:pathLst>
            </a:custGeom>
            <a:blipFill>
              <a:blip r:embed="rId2">
                <a:alphaModFix amt="0"/>
              </a:blip>
              <a:stretch>
                <a:fillRect l="0" t="-104468" r="0" b="-104469"/>
              </a:stretch>
            </a:blipFill>
          </p:spPr>
          <p:txBody>
            <a:bodyPr/>
            <a:p/>
          </p:txBody>
        </p:sp>
      </p:grpSp>
      <p:grpSp>
        <p:nvGrpSpPr>
          <p:cNvPr name="Group 23" id="23"/>
          <p:cNvGrpSpPr/>
          <p:nvPr/>
        </p:nvGrpSpPr>
        <p:grpSpPr>
          <a:xfrm rot="0">
            <a:off x="11612651" y="2371725"/>
            <a:ext cx="5440490" cy="714375"/>
            <a:chOff x="0" y="0"/>
            <a:chExt cx="7253986" cy="952500"/>
          </a:xfrm>
        </p:grpSpPr>
        <p:sp>
          <p:nvSpPr>
            <p:cNvPr name="Freeform 24" id="24"/>
            <p:cNvSpPr/>
            <p:nvPr/>
          </p:nvSpPr>
          <p:spPr>
            <a:xfrm flipH="false" flipV="false" rot="0">
              <a:off x="0" y="0"/>
              <a:ext cx="7253986" cy="952500"/>
            </a:xfrm>
            <a:custGeom>
              <a:avLst/>
              <a:gdLst/>
              <a:ahLst/>
              <a:cxnLst/>
              <a:rect r="r" b="b" t="t" l="l"/>
              <a:pathLst>
                <a:path h="952500" w="7253986">
                  <a:moveTo>
                    <a:pt x="0" y="0"/>
                  </a:moveTo>
                  <a:lnTo>
                    <a:pt x="7253986" y="0"/>
                  </a:lnTo>
                  <a:lnTo>
                    <a:pt x="7253986" y="952500"/>
                  </a:lnTo>
                  <a:lnTo>
                    <a:pt x="0" y="952500"/>
                  </a:lnTo>
                  <a:close/>
                </a:path>
              </a:pathLst>
            </a:custGeom>
            <a:blipFill>
              <a:blip r:embed="rId5">
                <a:alphaModFix amt="0"/>
              </a:blip>
              <a:stretch>
                <a:fillRect l="0" t="-98289" r="0" b="-98289"/>
              </a:stretch>
            </a:blipFill>
          </p:spPr>
          <p:txBody>
            <a:bodyPr/>
            <a:p/>
          </p:txBody>
        </p:sp>
      </p:grpSp>
      <p:grpSp>
        <p:nvGrpSpPr>
          <p:cNvPr name="Group 25" id="25"/>
          <p:cNvGrpSpPr/>
          <p:nvPr/>
        </p:nvGrpSpPr>
        <p:grpSpPr>
          <a:xfrm rot="0">
            <a:off x="11612651" y="2343150"/>
            <a:ext cx="5440451" cy="742950"/>
            <a:chOff x="0" y="0"/>
            <a:chExt cx="7253935" cy="990600"/>
          </a:xfrm>
        </p:grpSpPr>
        <p:sp>
          <p:nvSpPr>
            <p:cNvPr name="Freeform 26" id="26"/>
            <p:cNvSpPr/>
            <p:nvPr/>
          </p:nvSpPr>
          <p:spPr>
            <a:xfrm flipH="false" flipV="false" rot="0">
              <a:off x="0" y="0"/>
              <a:ext cx="7253986" cy="990600"/>
            </a:xfrm>
            <a:custGeom>
              <a:avLst/>
              <a:gdLst/>
              <a:ahLst/>
              <a:cxnLst/>
              <a:rect r="r" b="b" t="t" l="l"/>
              <a:pathLst>
                <a:path h="990600" w="7253986">
                  <a:moveTo>
                    <a:pt x="0" y="0"/>
                  </a:moveTo>
                  <a:lnTo>
                    <a:pt x="7253986" y="0"/>
                  </a:lnTo>
                  <a:lnTo>
                    <a:pt x="7253986" y="990600"/>
                  </a:lnTo>
                  <a:lnTo>
                    <a:pt x="0" y="990600"/>
                  </a:lnTo>
                  <a:close/>
                </a:path>
              </a:pathLst>
            </a:custGeom>
            <a:blipFill>
              <a:blip r:embed="rId6">
                <a:alphaModFix amt="0"/>
              </a:blip>
              <a:stretch>
                <a:fillRect l="0" t="-92584" r="0" b="-92585"/>
              </a:stretch>
            </a:blipFill>
          </p:spPr>
          <p:txBody>
            <a:bodyPr/>
            <a:p/>
          </p:txBody>
        </p:sp>
      </p:grpSp>
      <p:grpSp>
        <p:nvGrpSpPr>
          <p:cNvPr name="Group 27" id="27"/>
          <p:cNvGrpSpPr/>
          <p:nvPr/>
        </p:nvGrpSpPr>
        <p:grpSpPr>
          <a:xfrm rot="0">
            <a:off x="11612651" y="2314575"/>
            <a:ext cx="5440451" cy="771525"/>
            <a:chOff x="0" y="0"/>
            <a:chExt cx="7253935" cy="1028700"/>
          </a:xfrm>
        </p:grpSpPr>
        <p:sp>
          <p:nvSpPr>
            <p:cNvPr name="Freeform 28" id="28"/>
            <p:cNvSpPr/>
            <p:nvPr/>
          </p:nvSpPr>
          <p:spPr>
            <a:xfrm flipH="false" flipV="false" rot="0">
              <a:off x="0" y="0"/>
              <a:ext cx="7253935" cy="1028700"/>
            </a:xfrm>
            <a:custGeom>
              <a:avLst/>
              <a:gdLst/>
              <a:ahLst/>
              <a:cxnLst/>
              <a:rect r="r" b="b" t="t" l="l"/>
              <a:pathLst>
                <a:path h="1028700" w="7253935">
                  <a:moveTo>
                    <a:pt x="0" y="0"/>
                  </a:moveTo>
                  <a:lnTo>
                    <a:pt x="7253935" y="0"/>
                  </a:lnTo>
                  <a:lnTo>
                    <a:pt x="7253935" y="1028700"/>
                  </a:lnTo>
                  <a:lnTo>
                    <a:pt x="0" y="1028700"/>
                  </a:lnTo>
                  <a:close/>
                </a:path>
              </a:pathLst>
            </a:custGeom>
            <a:blipFill>
              <a:blip r:embed="rId7">
                <a:alphaModFix amt="0"/>
              </a:blip>
              <a:stretch>
                <a:fillRect l="0" t="-87399" r="0" b="-87399"/>
              </a:stretch>
            </a:blipFill>
          </p:spPr>
          <p:txBody>
            <a:bodyPr/>
            <a:p/>
          </p:txBody>
        </p:sp>
        <p:sp>
          <p:nvSpPr>
            <p:cNvPr name="TextBox 29" id="29"/>
            <p:cNvSpPr txBox="true"/>
            <p:nvPr/>
          </p:nvSpPr>
          <p:spPr>
            <a:xfrm>
              <a:off x="0" y="-38100"/>
              <a:ext cx="7253935" cy="1066800"/>
            </a:xfrm>
            <a:prstGeom prst="rect">
              <a:avLst/>
            </a:prstGeom>
          </p:spPr>
          <p:txBody>
            <a:bodyPr anchor="ctr" rtlCol="false" tIns="0" lIns="0" bIns="0" rIns="0"/>
            <a:lstStyle/>
            <a:p>
              <a:pPr algn="l">
                <a:lnSpc>
                  <a:spcPts val="2879"/>
                </a:lnSpc>
              </a:pPr>
              <a:r>
                <a:rPr lang="en-US" sz="2400" b="true">
                  <a:solidFill>
                    <a:srgbClr val="13294B"/>
                  </a:solidFill>
                  <a:latin typeface="Calibri (MS) Bold"/>
                  <a:ea typeface="Calibri (MS) Bold"/>
                  <a:cs typeface="Calibri (MS) Bold"/>
                  <a:sym typeface="Calibri (MS) Bold"/>
                </a:rPr>
                <a:t>PEFT (QLoRA) so với zero-shot — trung tâm</a:t>
              </a:r>
            </a:p>
          </p:txBody>
        </p:sp>
      </p:grpSp>
      <p:sp>
        <p:nvSpPr>
          <p:cNvPr name="TextBox 30" id="30"/>
          <p:cNvSpPr txBox="true"/>
          <p:nvPr/>
        </p:nvSpPr>
        <p:spPr>
          <a:xfrm rot="0">
            <a:off x="9829571" y="3101340"/>
            <a:ext cx="5120640" cy="156210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QLoRA cải thiện bao nhiêu so với zero-shot, không cần full fine-tuning?</a:t>
            </a:r>
          </a:p>
        </p:txBody>
      </p:sp>
      <p:sp>
        <p:nvSpPr>
          <p:cNvPr name="TextBox 31" id="31"/>
          <p:cNvSpPr txBox="true"/>
          <p:nvPr/>
        </p:nvSpPr>
        <p:spPr>
          <a:xfrm rot="0">
            <a:off x="9829571" y="4511040"/>
            <a:ext cx="5120640" cy="632460"/>
          </a:xfrm>
          <a:prstGeom prst="rect">
            <a:avLst/>
          </a:prstGeom>
        </p:spPr>
        <p:txBody>
          <a:bodyPr anchor="t" rtlCol="false" tIns="0" lIns="0" bIns="0" rIns="0">
            <a:spAutoFit/>
          </a:bodyPr>
          <a:lstStyle/>
          <a:p>
            <a:pPr algn="l">
              <a:lnSpc>
                <a:spcPts val="2160"/>
              </a:lnSpc>
            </a:pPr>
            <a:r>
              <a:rPr lang="en-US" sz="1800" i="true">
                <a:solidFill>
                  <a:srgbClr val="6B7280"/>
                </a:solidFill>
                <a:latin typeface="Calibri (MS) Italics"/>
                <a:ea typeface="Calibri (MS) Italics"/>
                <a:cs typeface="Calibri (MS) Italics"/>
                <a:sym typeface="Calibri (MS) Italics"/>
              </a:rPr>
              <a:t>Đo bằng: EM · VQA-Acc · ANLS</a:t>
            </a:r>
          </a:p>
        </p:txBody>
      </p:sp>
      <p:sp>
        <p:nvSpPr>
          <p:cNvPr name="Freeform 32" id="32"/>
          <p:cNvSpPr/>
          <p:nvPr/>
        </p:nvSpPr>
        <p:spPr>
          <a:xfrm flipH="false" flipV="false" rot="0">
            <a:off x="806291" y="5744051"/>
            <a:ext cx="8079867" cy="3325178"/>
          </a:xfrm>
          <a:custGeom>
            <a:avLst/>
            <a:gdLst/>
            <a:ahLst/>
            <a:cxnLst/>
            <a:rect r="r" b="b" t="t" l="l"/>
            <a:pathLst>
              <a:path h="3325178" w="8079867">
                <a:moveTo>
                  <a:pt x="0" y="0"/>
                </a:moveTo>
                <a:lnTo>
                  <a:pt x="8079867" y="0"/>
                </a:lnTo>
                <a:lnTo>
                  <a:pt x="8079867" y="3325178"/>
                </a:lnTo>
                <a:lnTo>
                  <a:pt x="0" y="3325178"/>
                </a:lnTo>
                <a:lnTo>
                  <a:pt x="0" y="0"/>
                </a:lnTo>
                <a:close/>
              </a:path>
            </a:pathLst>
          </a:custGeom>
          <a:blipFill>
            <a:blip r:embed="rId3">
              <a:extLst>
                <a:ext uri="{96DAC541-7B7A-43D3-8B79-37D633B846F1}">
                  <asvg:svgBlip xmlns:asvg="http://schemas.microsoft.com/office/drawing/2016/SVG/main" r:embed="rId4"/>
                </a:ext>
              </a:extLst>
            </a:blip>
            <a:stretch>
              <a:fillRect l="0" t="-86" r="0" b="-86"/>
            </a:stretch>
          </a:blipFill>
        </p:spPr>
        <p:txBody>
          <a:bodyPr/>
          <a:p/>
        </p:txBody>
      </p:sp>
      <p:sp>
        <p:nvSpPr>
          <p:cNvPr name="TextBox 33" id="33"/>
          <p:cNvSpPr txBox="true"/>
          <p:nvPr/>
        </p:nvSpPr>
        <p:spPr>
          <a:xfrm rot="0">
            <a:off x="1234440" y="6035040"/>
            <a:ext cx="1783080" cy="754380"/>
          </a:xfrm>
          <a:prstGeom prst="rect">
            <a:avLst/>
          </a:prstGeom>
        </p:spPr>
        <p:txBody>
          <a:bodyPr anchor="t" rtlCol="false" tIns="0" lIns="0" bIns="0" rIns="0">
            <a:spAutoFit/>
          </a:bodyPr>
          <a:lstStyle/>
          <a:p>
            <a:pPr algn="l">
              <a:lnSpc>
                <a:spcPts val="4680"/>
              </a:lnSpc>
            </a:pPr>
            <a:r>
              <a:rPr lang="en-US" sz="3900" b="true">
                <a:solidFill>
                  <a:srgbClr val="1C7293"/>
                </a:solidFill>
                <a:latin typeface="Cambria Bold"/>
                <a:ea typeface="Cambria Bold"/>
                <a:cs typeface="Cambria Bold"/>
                <a:sym typeface="Cambria Bold"/>
              </a:rPr>
              <a:t>RQ3</a:t>
            </a:r>
          </a:p>
        </p:txBody>
      </p:sp>
      <p:grpSp>
        <p:nvGrpSpPr>
          <p:cNvPr name="Group 34" id="34"/>
          <p:cNvGrpSpPr/>
          <p:nvPr/>
        </p:nvGrpSpPr>
        <p:grpSpPr>
          <a:xfrm rot="0">
            <a:off x="3017520" y="6103620"/>
            <a:ext cx="5440490" cy="685800"/>
            <a:chOff x="0" y="0"/>
            <a:chExt cx="7253986" cy="914400"/>
          </a:xfrm>
        </p:grpSpPr>
        <p:sp>
          <p:nvSpPr>
            <p:cNvPr name="Freeform 35" id="35"/>
            <p:cNvSpPr/>
            <p:nvPr/>
          </p:nvSpPr>
          <p:spPr>
            <a:xfrm flipH="false" flipV="false" rot="0">
              <a:off x="0" y="0"/>
              <a:ext cx="7253986" cy="914400"/>
            </a:xfrm>
            <a:custGeom>
              <a:avLst/>
              <a:gdLst/>
              <a:ahLst/>
              <a:cxnLst/>
              <a:rect r="r" b="b" t="t" l="l"/>
              <a:pathLst>
                <a:path h="914400" w="7253986">
                  <a:moveTo>
                    <a:pt x="0" y="0"/>
                  </a:moveTo>
                  <a:lnTo>
                    <a:pt x="7253986" y="0"/>
                  </a:lnTo>
                  <a:lnTo>
                    <a:pt x="7253986" y="914400"/>
                  </a:lnTo>
                  <a:lnTo>
                    <a:pt x="0" y="914400"/>
                  </a:lnTo>
                  <a:close/>
                </a:path>
              </a:pathLst>
            </a:custGeom>
            <a:blipFill>
              <a:blip r:embed="rId2">
                <a:alphaModFix amt="0"/>
              </a:blip>
              <a:stretch>
                <a:fillRect l="0" t="-104468" r="0" b="-104469"/>
              </a:stretch>
            </a:blipFill>
          </p:spPr>
          <p:txBody>
            <a:bodyPr/>
            <a:p/>
          </p:txBody>
        </p:sp>
      </p:grpSp>
      <p:grpSp>
        <p:nvGrpSpPr>
          <p:cNvPr name="Group 36" id="36"/>
          <p:cNvGrpSpPr/>
          <p:nvPr/>
        </p:nvGrpSpPr>
        <p:grpSpPr>
          <a:xfrm rot="0">
            <a:off x="3017520" y="6075045"/>
            <a:ext cx="5440490" cy="714375"/>
            <a:chOff x="0" y="0"/>
            <a:chExt cx="7253986" cy="952500"/>
          </a:xfrm>
        </p:grpSpPr>
        <p:sp>
          <p:nvSpPr>
            <p:cNvPr name="Freeform 37" id="37"/>
            <p:cNvSpPr/>
            <p:nvPr/>
          </p:nvSpPr>
          <p:spPr>
            <a:xfrm flipH="false" flipV="false" rot="0">
              <a:off x="0" y="0"/>
              <a:ext cx="7253986" cy="952500"/>
            </a:xfrm>
            <a:custGeom>
              <a:avLst/>
              <a:gdLst/>
              <a:ahLst/>
              <a:cxnLst/>
              <a:rect r="r" b="b" t="t" l="l"/>
              <a:pathLst>
                <a:path h="952500" w="7253986">
                  <a:moveTo>
                    <a:pt x="0" y="0"/>
                  </a:moveTo>
                  <a:lnTo>
                    <a:pt x="7253986" y="0"/>
                  </a:lnTo>
                  <a:lnTo>
                    <a:pt x="7253986" y="952500"/>
                  </a:lnTo>
                  <a:lnTo>
                    <a:pt x="0" y="952500"/>
                  </a:lnTo>
                  <a:close/>
                </a:path>
              </a:pathLst>
            </a:custGeom>
            <a:blipFill>
              <a:blip r:embed="rId5">
                <a:alphaModFix amt="0"/>
              </a:blip>
              <a:stretch>
                <a:fillRect l="0" t="-98289" r="0" b="-98289"/>
              </a:stretch>
            </a:blipFill>
          </p:spPr>
          <p:txBody>
            <a:bodyPr/>
            <a:p/>
          </p:txBody>
        </p:sp>
      </p:grpSp>
      <p:grpSp>
        <p:nvGrpSpPr>
          <p:cNvPr name="Group 38" id="38"/>
          <p:cNvGrpSpPr/>
          <p:nvPr/>
        </p:nvGrpSpPr>
        <p:grpSpPr>
          <a:xfrm rot="0">
            <a:off x="3017520" y="6046470"/>
            <a:ext cx="5440451" cy="742950"/>
            <a:chOff x="0" y="0"/>
            <a:chExt cx="7253935" cy="990600"/>
          </a:xfrm>
        </p:grpSpPr>
        <p:sp>
          <p:nvSpPr>
            <p:cNvPr name="Freeform 39" id="39"/>
            <p:cNvSpPr/>
            <p:nvPr/>
          </p:nvSpPr>
          <p:spPr>
            <a:xfrm flipH="false" flipV="false" rot="0">
              <a:off x="0" y="0"/>
              <a:ext cx="7253986" cy="990600"/>
            </a:xfrm>
            <a:custGeom>
              <a:avLst/>
              <a:gdLst/>
              <a:ahLst/>
              <a:cxnLst/>
              <a:rect r="r" b="b" t="t" l="l"/>
              <a:pathLst>
                <a:path h="990600" w="7253986">
                  <a:moveTo>
                    <a:pt x="0" y="0"/>
                  </a:moveTo>
                  <a:lnTo>
                    <a:pt x="7253986" y="0"/>
                  </a:lnTo>
                  <a:lnTo>
                    <a:pt x="7253986" y="990600"/>
                  </a:lnTo>
                  <a:lnTo>
                    <a:pt x="0" y="990600"/>
                  </a:lnTo>
                  <a:close/>
                </a:path>
              </a:pathLst>
            </a:custGeom>
            <a:blipFill>
              <a:blip r:embed="rId6">
                <a:alphaModFix amt="0"/>
              </a:blip>
              <a:stretch>
                <a:fillRect l="0" t="-92584" r="0" b="-92585"/>
              </a:stretch>
            </a:blipFill>
          </p:spPr>
          <p:txBody>
            <a:bodyPr/>
            <a:p/>
          </p:txBody>
        </p:sp>
      </p:grpSp>
      <p:grpSp>
        <p:nvGrpSpPr>
          <p:cNvPr name="Group 40" id="40"/>
          <p:cNvGrpSpPr/>
          <p:nvPr/>
        </p:nvGrpSpPr>
        <p:grpSpPr>
          <a:xfrm rot="0">
            <a:off x="3017520" y="6017895"/>
            <a:ext cx="5440451" cy="771525"/>
            <a:chOff x="0" y="0"/>
            <a:chExt cx="7253935" cy="1028700"/>
          </a:xfrm>
        </p:grpSpPr>
        <p:sp>
          <p:nvSpPr>
            <p:cNvPr name="Freeform 41" id="41"/>
            <p:cNvSpPr/>
            <p:nvPr/>
          </p:nvSpPr>
          <p:spPr>
            <a:xfrm flipH="false" flipV="false" rot="0">
              <a:off x="0" y="0"/>
              <a:ext cx="7253935" cy="1028700"/>
            </a:xfrm>
            <a:custGeom>
              <a:avLst/>
              <a:gdLst/>
              <a:ahLst/>
              <a:cxnLst/>
              <a:rect r="r" b="b" t="t" l="l"/>
              <a:pathLst>
                <a:path h="1028700" w="7253935">
                  <a:moveTo>
                    <a:pt x="0" y="0"/>
                  </a:moveTo>
                  <a:lnTo>
                    <a:pt x="7253935" y="0"/>
                  </a:lnTo>
                  <a:lnTo>
                    <a:pt x="7253935" y="1028700"/>
                  </a:lnTo>
                  <a:lnTo>
                    <a:pt x="0" y="1028700"/>
                  </a:lnTo>
                  <a:close/>
                </a:path>
              </a:pathLst>
            </a:custGeom>
            <a:blipFill>
              <a:blip r:embed="rId7">
                <a:alphaModFix amt="0"/>
              </a:blip>
              <a:stretch>
                <a:fillRect l="0" t="-87399" r="0" b="-87399"/>
              </a:stretch>
            </a:blipFill>
          </p:spPr>
          <p:txBody>
            <a:bodyPr/>
            <a:p/>
          </p:txBody>
        </p:sp>
        <p:sp>
          <p:nvSpPr>
            <p:cNvPr name="TextBox 42" id="42"/>
            <p:cNvSpPr txBox="true"/>
            <p:nvPr/>
          </p:nvSpPr>
          <p:spPr>
            <a:xfrm>
              <a:off x="0" y="-38100"/>
              <a:ext cx="7253935" cy="1066800"/>
            </a:xfrm>
            <a:prstGeom prst="rect">
              <a:avLst/>
            </a:prstGeom>
          </p:spPr>
          <p:txBody>
            <a:bodyPr anchor="ctr" rtlCol="false" tIns="0" lIns="0" bIns="0" rIns="0"/>
            <a:lstStyle/>
            <a:p>
              <a:pPr algn="l">
                <a:lnSpc>
                  <a:spcPts val="2879"/>
                </a:lnSpc>
              </a:pPr>
              <a:r>
                <a:rPr lang="en-US" sz="2400" b="true">
                  <a:solidFill>
                    <a:srgbClr val="13294B"/>
                  </a:solidFill>
                  <a:latin typeface="Calibri (MS) Bold"/>
                  <a:ea typeface="Calibri (MS) Bold"/>
                  <a:cs typeface="Calibri (MS) Bold"/>
                  <a:sym typeface="Calibri (MS) Bold"/>
                </a:rPr>
                <a:t>OCR tiếng Việt × QLoRA trên ViTextVQA</a:t>
              </a:r>
            </a:p>
          </p:txBody>
        </p:sp>
      </p:grpSp>
      <p:sp>
        <p:nvSpPr>
          <p:cNvPr name="TextBox 43" id="43"/>
          <p:cNvSpPr txBox="true"/>
          <p:nvPr/>
        </p:nvSpPr>
        <p:spPr>
          <a:xfrm rot="0">
            <a:off x="1234440" y="6804660"/>
            <a:ext cx="5120640" cy="156210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Chữ OCR có dấu, đúng thứ tự đọc, có giúp model đọc chữ trong ảnh không — và có cộng hưởng với QLoRA?</a:t>
            </a:r>
          </a:p>
        </p:txBody>
      </p:sp>
      <p:sp>
        <p:nvSpPr>
          <p:cNvPr name="TextBox 44" id="44"/>
          <p:cNvSpPr txBox="true"/>
          <p:nvPr/>
        </p:nvSpPr>
        <p:spPr>
          <a:xfrm rot="0">
            <a:off x="1234440" y="8214360"/>
            <a:ext cx="5120640" cy="632460"/>
          </a:xfrm>
          <a:prstGeom prst="rect">
            <a:avLst/>
          </a:prstGeom>
        </p:spPr>
        <p:txBody>
          <a:bodyPr anchor="t" rtlCol="false" tIns="0" lIns="0" bIns="0" rIns="0">
            <a:spAutoFit/>
          </a:bodyPr>
          <a:lstStyle/>
          <a:p>
            <a:pPr algn="l">
              <a:lnSpc>
                <a:spcPts val="2160"/>
              </a:lnSpc>
            </a:pPr>
            <a:r>
              <a:rPr lang="en-US" sz="1800" i="true">
                <a:solidFill>
                  <a:srgbClr val="6B7280"/>
                </a:solidFill>
                <a:latin typeface="Calibri (MS) Italics"/>
                <a:ea typeface="Calibri (MS) Italics"/>
                <a:cs typeface="Calibri (MS) Italics"/>
                <a:sym typeface="Calibri (MS) Italics"/>
              </a:rPr>
              <a:t>Đo bằng: ANLS · EM</a:t>
            </a:r>
          </a:p>
        </p:txBody>
      </p:sp>
      <p:sp>
        <p:nvSpPr>
          <p:cNvPr name="Freeform 45" id="45"/>
          <p:cNvSpPr/>
          <p:nvPr/>
        </p:nvSpPr>
        <p:spPr>
          <a:xfrm flipH="false" flipV="false" rot="0">
            <a:off x="9401423" y="5744051"/>
            <a:ext cx="8079867" cy="3325178"/>
          </a:xfrm>
          <a:custGeom>
            <a:avLst/>
            <a:gdLst/>
            <a:ahLst/>
            <a:cxnLst/>
            <a:rect r="r" b="b" t="t" l="l"/>
            <a:pathLst>
              <a:path h="3325178" w="8079867">
                <a:moveTo>
                  <a:pt x="0" y="0"/>
                </a:moveTo>
                <a:lnTo>
                  <a:pt x="8079867" y="0"/>
                </a:lnTo>
                <a:lnTo>
                  <a:pt x="8079867" y="3325178"/>
                </a:lnTo>
                <a:lnTo>
                  <a:pt x="0" y="3325178"/>
                </a:lnTo>
                <a:lnTo>
                  <a:pt x="0" y="0"/>
                </a:lnTo>
                <a:close/>
              </a:path>
            </a:pathLst>
          </a:custGeom>
          <a:blipFill>
            <a:blip r:embed="rId3">
              <a:extLst>
                <a:ext uri="{96DAC541-7B7A-43D3-8B79-37D633B846F1}">
                  <asvg:svgBlip xmlns:asvg="http://schemas.microsoft.com/office/drawing/2016/SVG/main" r:embed="rId4"/>
                </a:ext>
              </a:extLst>
            </a:blip>
            <a:stretch>
              <a:fillRect l="0" t="-86" r="0" b="-86"/>
            </a:stretch>
          </a:blipFill>
        </p:spPr>
        <p:txBody>
          <a:bodyPr/>
          <a:p/>
        </p:txBody>
      </p:sp>
      <p:sp>
        <p:nvSpPr>
          <p:cNvPr name="TextBox 46" id="46"/>
          <p:cNvSpPr txBox="true"/>
          <p:nvPr/>
        </p:nvSpPr>
        <p:spPr>
          <a:xfrm rot="0">
            <a:off x="9829571" y="6035040"/>
            <a:ext cx="1783080" cy="754380"/>
          </a:xfrm>
          <a:prstGeom prst="rect">
            <a:avLst/>
          </a:prstGeom>
        </p:spPr>
        <p:txBody>
          <a:bodyPr anchor="t" rtlCol="false" tIns="0" lIns="0" bIns="0" rIns="0">
            <a:spAutoFit/>
          </a:bodyPr>
          <a:lstStyle/>
          <a:p>
            <a:pPr algn="l">
              <a:lnSpc>
                <a:spcPts val="4680"/>
              </a:lnSpc>
            </a:pPr>
            <a:r>
              <a:rPr lang="en-US" sz="3900" b="true">
                <a:solidFill>
                  <a:srgbClr val="1C7293"/>
                </a:solidFill>
                <a:latin typeface="Cambria Bold"/>
                <a:ea typeface="Cambria Bold"/>
                <a:cs typeface="Cambria Bold"/>
                <a:sym typeface="Cambria Bold"/>
              </a:rPr>
              <a:t>RQ4</a:t>
            </a:r>
          </a:p>
        </p:txBody>
      </p:sp>
      <p:grpSp>
        <p:nvGrpSpPr>
          <p:cNvPr name="Group 47" id="47"/>
          <p:cNvGrpSpPr/>
          <p:nvPr/>
        </p:nvGrpSpPr>
        <p:grpSpPr>
          <a:xfrm rot="0">
            <a:off x="11612651" y="6103620"/>
            <a:ext cx="5440490" cy="685800"/>
            <a:chOff x="0" y="0"/>
            <a:chExt cx="7253986" cy="914400"/>
          </a:xfrm>
        </p:grpSpPr>
        <p:sp>
          <p:nvSpPr>
            <p:cNvPr name="Freeform 48" id="48"/>
            <p:cNvSpPr/>
            <p:nvPr/>
          </p:nvSpPr>
          <p:spPr>
            <a:xfrm flipH="false" flipV="false" rot="0">
              <a:off x="0" y="0"/>
              <a:ext cx="7253986" cy="914400"/>
            </a:xfrm>
            <a:custGeom>
              <a:avLst/>
              <a:gdLst/>
              <a:ahLst/>
              <a:cxnLst/>
              <a:rect r="r" b="b" t="t" l="l"/>
              <a:pathLst>
                <a:path h="914400" w="7253986">
                  <a:moveTo>
                    <a:pt x="0" y="0"/>
                  </a:moveTo>
                  <a:lnTo>
                    <a:pt x="7253986" y="0"/>
                  </a:lnTo>
                  <a:lnTo>
                    <a:pt x="7253986" y="914400"/>
                  </a:lnTo>
                  <a:lnTo>
                    <a:pt x="0" y="914400"/>
                  </a:lnTo>
                  <a:close/>
                </a:path>
              </a:pathLst>
            </a:custGeom>
            <a:blipFill>
              <a:blip r:embed="rId2">
                <a:alphaModFix amt="0"/>
              </a:blip>
              <a:stretch>
                <a:fillRect l="0" t="-104468" r="0" b="-104469"/>
              </a:stretch>
            </a:blipFill>
          </p:spPr>
          <p:txBody>
            <a:bodyPr/>
            <a:p/>
          </p:txBody>
        </p:sp>
      </p:grpSp>
      <p:grpSp>
        <p:nvGrpSpPr>
          <p:cNvPr name="Group 49" id="49"/>
          <p:cNvGrpSpPr/>
          <p:nvPr/>
        </p:nvGrpSpPr>
        <p:grpSpPr>
          <a:xfrm rot="0">
            <a:off x="11612651" y="6075045"/>
            <a:ext cx="5440490" cy="714375"/>
            <a:chOff x="0" y="0"/>
            <a:chExt cx="7253986" cy="952500"/>
          </a:xfrm>
        </p:grpSpPr>
        <p:sp>
          <p:nvSpPr>
            <p:cNvPr name="Freeform 50" id="50"/>
            <p:cNvSpPr/>
            <p:nvPr/>
          </p:nvSpPr>
          <p:spPr>
            <a:xfrm flipH="false" flipV="false" rot="0">
              <a:off x="0" y="0"/>
              <a:ext cx="7253986" cy="952500"/>
            </a:xfrm>
            <a:custGeom>
              <a:avLst/>
              <a:gdLst/>
              <a:ahLst/>
              <a:cxnLst/>
              <a:rect r="r" b="b" t="t" l="l"/>
              <a:pathLst>
                <a:path h="952500" w="7253986">
                  <a:moveTo>
                    <a:pt x="0" y="0"/>
                  </a:moveTo>
                  <a:lnTo>
                    <a:pt x="7253986" y="0"/>
                  </a:lnTo>
                  <a:lnTo>
                    <a:pt x="7253986" y="952500"/>
                  </a:lnTo>
                  <a:lnTo>
                    <a:pt x="0" y="952500"/>
                  </a:lnTo>
                  <a:close/>
                </a:path>
              </a:pathLst>
            </a:custGeom>
            <a:blipFill>
              <a:blip r:embed="rId5">
                <a:alphaModFix amt="0"/>
              </a:blip>
              <a:stretch>
                <a:fillRect l="0" t="-98289" r="0" b="-98289"/>
              </a:stretch>
            </a:blipFill>
          </p:spPr>
          <p:txBody>
            <a:bodyPr/>
            <a:p/>
          </p:txBody>
        </p:sp>
      </p:grpSp>
      <p:grpSp>
        <p:nvGrpSpPr>
          <p:cNvPr name="Group 51" id="51"/>
          <p:cNvGrpSpPr/>
          <p:nvPr/>
        </p:nvGrpSpPr>
        <p:grpSpPr>
          <a:xfrm rot="0">
            <a:off x="11612651" y="6046470"/>
            <a:ext cx="5440451" cy="742950"/>
            <a:chOff x="0" y="0"/>
            <a:chExt cx="7253935" cy="990600"/>
          </a:xfrm>
        </p:grpSpPr>
        <p:sp>
          <p:nvSpPr>
            <p:cNvPr name="Freeform 52" id="52"/>
            <p:cNvSpPr/>
            <p:nvPr/>
          </p:nvSpPr>
          <p:spPr>
            <a:xfrm flipH="false" flipV="false" rot="0">
              <a:off x="0" y="0"/>
              <a:ext cx="7253986" cy="990600"/>
            </a:xfrm>
            <a:custGeom>
              <a:avLst/>
              <a:gdLst/>
              <a:ahLst/>
              <a:cxnLst/>
              <a:rect r="r" b="b" t="t" l="l"/>
              <a:pathLst>
                <a:path h="990600" w="7253986">
                  <a:moveTo>
                    <a:pt x="0" y="0"/>
                  </a:moveTo>
                  <a:lnTo>
                    <a:pt x="7253986" y="0"/>
                  </a:lnTo>
                  <a:lnTo>
                    <a:pt x="7253986" y="990600"/>
                  </a:lnTo>
                  <a:lnTo>
                    <a:pt x="0" y="990600"/>
                  </a:lnTo>
                  <a:close/>
                </a:path>
              </a:pathLst>
            </a:custGeom>
            <a:blipFill>
              <a:blip r:embed="rId6">
                <a:alphaModFix amt="0"/>
              </a:blip>
              <a:stretch>
                <a:fillRect l="0" t="-92584" r="0" b="-92585"/>
              </a:stretch>
            </a:blipFill>
          </p:spPr>
          <p:txBody>
            <a:bodyPr/>
            <a:p/>
          </p:txBody>
        </p:sp>
      </p:grpSp>
      <p:grpSp>
        <p:nvGrpSpPr>
          <p:cNvPr name="Group 53" id="53"/>
          <p:cNvGrpSpPr/>
          <p:nvPr/>
        </p:nvGrpSpPr>
        <p:grpSpPr>
          <a:xfrm rot="0">
            <a:off x="11612651" y="6017895"/>
            <a:ext cx="5440451" cy="771525"/>
            <a:chOff x="0" y="0"/>
            <a:chExt cx="7253935" cy="1028700"/>
          </a:xfrm>
        </p:grpSpPr>
        <p:sp>
          <p:nvSpPr>
            <p:cNvPr name="Freeform 54" id="54"/>
            <p:cNvSpPr/>
            <p:nvPr/>
          </p:nvSpPr>
          <p:spPr>
            <a:xfrm flipH="false" flipV="false" rot="0">
              <a:off x="0" y="0"/>
              <a:ext cx="7253935" cy="1028700"/>
            </a:xfrm>
            <a:custGeom>
              <a:avLst/>
              <a:gdLst/>
              <a:ahLst/>
              <a:cxnLst/>
              <a:rect r="r" b="b" t="t" l="l"/>
              <a:pathLst>
                <a:path h="1028700" w="7253935">
                  <a:moveTo>
                    <a:pt x="0" y="0"/>
                  </a:moveTo>
                  <a:lnTo>
                    <a:pt x="7253935" y="0"/>
                  </a:lnTo>
                  <a:lnTo>
                    <a:pt x="7253935" y="1028700"/>
                  </a:lnTo>
                  <a:lnTo>
                    <a:pt x="0" y="1028700"/>
                  </a:lnTo>
                  <a:close/>
                </a:path>
              </a:pathLst>
            </a:custGeom>
            <a:blipFill>
              <a:blip r:embed="rId7">
                <a:alphaModFix amt="0"/>
              </a:blip>
              <a:stretch>
                <a:fillRect l="0" t="-87399" r="0" b="-87399"/>
              </a:stretch>
            </a:blipFill>
          </p:spPr>
          <p:txBody>
            <a:bodyPr/>
            <a:p/>
          </p:txBody>
        </p:sp>
        <p:sp>
          <p:nvSpPr>
            <p:cNvPr name="TextBox 55" id="55"/>
            <p:cNvSpPr txBox="true"/>
            <p:nvPr/>
          </p:nvSpPr>
          <p:spPr>
            <a:xfrm>
              <a:off x="0" y="-38100"/>
              <a:ext cx="7253935" cy="1066800"/>
            </a:xfrm>
            <a:prstGeom prst="rect">
              <a:avLst/>
            </a:prstGeom>
          </p:spPr>
          <p:txBody>
            <a:bodyPr anchor="ctr" rtlCol="false" tIns="0" lIns="0" bIns="0" rIns="0"/>
            <a:lstStyle/>
            <a:p>
              <a:pPr algn="l">
                <a:lnSpc>
                  <a:spcPts val="2879"/>
                </a:lnSpc>
              </a:pPr>
              <a:r>
                <a:rPr lang="en-US" sz="2400" b="true">
                  <a:solidFill>
                    <a:srgbClr val="13294B"/>
                  </a:solidFill>
                  <a:latin typeface="Calibri (MS) Bold"/>
                  <a:ea typeface="Calibri (MS) Bold"/>
                  <a:cs typeface="Calibri (MS) Bold"/>
                  <a:sym typeface="Calibri (MS) Bold"/>
                </a:rPr>
                <a:t>QLoRA và hallucination</a:t>
              </a:r>
            </a:p>
          </p:txBody>
        </p:sp>
      </p:grpSp>
      <p:sp>
        <p:nvSpPr>
          <p:cNvPr name="TextBox 56" id="56"/>
          <p:cNvSpPr txBox="true"/>
          <p:nvPr/>
        </p:nvSpPr>
        <p:spPr>
          <a:xfrm rot="0">
            <a:off x="9829571" y="6804660"/>
            <a:ext cx="5120640" cy="156210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Sau khi thích nghi bằng QLoRA, model bịa nội dung nhiều hơn hay ít hơn?</a:t>
            </a:r>
          </a:p>
        </p:txBody>
      </p:sp>
      <p:sp>
        <p:nvSpPr>
          <p:cNvPr name="TextBox 57" id="57"/>
          <p:cNvSpPr txBox="true"/>
          <p:nvPr/>
        </p:nvSpPr>
        <p:spPr>
          <a:xfrm rot="0">
            <a:off x="9829571" y="8214360"/>
            <a:ext cx="5120640" cy="632460"/>
          </a:xfrm>
          <a:prstGeom prst="rect">
            <a:avLst/>
          </a:prstGeom>
        </p:spPr>
        <p:txBody>
          <a:bodyPr anchor="t" rtlCol="false" tIns="0" lIns="0" bIns="0" rIns="0">
            <a:spAutoFit/>
          </a:bodyPr>
          <a:lstStyle/>
          <a:p>
            <a:pPr algn="l">
              <a:lnSpc>
                <a:spcPts val="2160"/>
              </a:lnSpc>
            </a:pPr>
            <a:r>
              <a:rPr lang="en-US" sz="1800" i="true">
                <a:solidFill>
                  <a:srgbClr val="6B7280"/>
                </a:solidFill>
                <a:latin typeface="Calibri (MS) Italics"/>
                <a:ea typeface="Calibri (MS) Italics"/>
                <a:cs typeface="Calibri (MS) Italics"/>
                <a:sym typeface="Calibri (MS) Italics"/>
              </a:rPr>
              <a:t>Đo bằng: Kiểu POPE (vi) + duyệt tay</a:t>
            </a:r>
          </a:p>
        </p:txBody>
      </p:sp>
      <p:grpSp>
        <p:nvGrpSpPr>
          <p:cNvPr name="Group 58" id="58"/>
          <p:cNvGrpSpPr/>
          <p:nvPr/>
        </p:nvGrpSpPr>
        <p:grpSpPr>
          <a:xfrm rot="0">
            <a:off x="15458732" y="0"/>
            <a:ext cx="2829306" cy="1184338"/>
            <a:chOff x="0" y="0"/>
            <a:chExt cx="3772408" cy="1579118"/>
          </a:xfrm>
        </p:grpSpPr>
        <p:sp>
          <p:nvSpPr>
            <p:cNvPr name="Freeform 59" id="59"/>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10"/>
              <a:stretch>
                <a:fillRect l="0" t="0" r="0" b="0"/>
              </a:stretch>
            </a:blipFill>
          </p:spPr>
          <p:txBody>
            <a:bodyPr/>
            <a:p/>
          </p:txBody>
        </p:sp>
      </p:grpSp>
      <p:grpSp>
        <p:nvGrpSpPr>
          <p:cNvPr name="Group 60" id="60"/>
          <p:cNvGrpSpPr/>
          <p:nvPr/>
        </p:nvGrpSpPr>
        <p:grpSpPr>
          <a:xfrm rot="0">
            <a:off x="822960" y="9655969"/>
            <a:ext cx="13716000" cy="360331"/>
            <a:chOff x="0" y="0"/>
            <a:chExt cx="18288000" cy="480441"/>
          </a:xfrm>
        </p:grpSpPr>
        <p:sp>
          <p:nvSpPr>
            <p:cNvPr name="Freeform 61" id="61"/>
            <p:cNvSpPr/>
            <p:nvPr/>
          </p:nvSpPr>
          <p:spPr>
            <a:xfrm flipH="false" flipV="false" rot="0">
              <a:off x="0" y="0"/>
              <a:ext cx="18288000" cy="480441"/>
            </a:xfrm>
            <a:custGeom>
              <a:avLst/>
              <a:gdLst/>
              <a:ahLst/>
              <a:cxnLst/>
              <a:rect r="r" b="b" t="t" l="l"/>
              <a:pathLst>
                <a:path h="480441" w="18288000">
                  <a:moveTo>
                    <a:pt x="0" y="0"/>
                  </a:moveTo>
                  <a:lnTo>
                    <a:pt x="18288000" y="0"/>
                  </a:lnTo>
                  <a:lnTo>
                    <a:pt x="18288000" y="480441"/>
                  </a:lnTo>
                  <a:lnTo>
                    <a:pt x="0" y="480441"/>
                  </a:lnTo>
                  <a:close/>
                </a:path>
              </a:pathLst>
            </a:custGeom>
            <a:blipFill>
              <a:blip r:embed="rId5">
                <a:alphaModFix amt="0"/>
              </a:blip>
              <a:stretch>
                <a:fillRect l="0" t="-691181" r="0" b="-691184"/>
              </a:stretch>
            </a:blipFill>
          </p:spPr>
          <p:txBody>
            <a:bodyPr/>
            <a:p/>
          </p:txBody>
        </p:sp>
      </p:grpSp>
      <p:grpSp>
        <p:nvGrpSpPr>
          <p:cNvPr name="Group 62" id="62"/>
          <p:cNvGrpSpPr/>
          <p:nvPr/>
        </p:nvGrpSpPr>
        <p:grpSpPr>
          <a:xfrm rot="0">
            <a:off x="822960" y="9627394"/>
            <a:ext cx="13716000" cy="388896"/>
            <a:chOff x="0" y="0"/>
            <a:chExt cx="18288000" cy="518528"/>
          </a:xfrm>
        </p:grpSpPr>
        <p:sp>
          <p:nvSpPr>
            <p:cNvPr name="Freeform 63" id="63"/>
            <p:cNvSpPr/>
            <p:nvPr/>
          </p:nvSpPr>
          <p:spPr>
            <a:xfrm flipH="false" flipV="false" rot="0">
              <a:off x="0" y="0"/>
              <a:ext cx="18288000" cy="518541"/>
            </a:xfrm>
            <a:custGeom>
              <a:avLst/>
              <a:gdLst/>
              <a:ahLst/>
              <a:cxnLst/>
              <a:rect r="r" b="b" t="t" l="l"/>
              <a:pathLst>
                <a:path h="518541" w="18288000">
                  <a:moveTo>
                    <a:pt x="0" y="0"/>
                  </a:moveTo>
                  <a:lnTo>
                    <a:pt x="18288000" y="0"/>
                  </a:lnTo>
                  <a:lnTo>
                    <a:pt x="18288000" y="518541"/>
                  </a:lnTo>
                  <a:lnTo>
                    <a:pt x="0" y="518541"/>
                  </a:lnTo>
                  <a:close/>
                </a:path>
              </a:pathLst>
            </a:custGeom>
            <a:blipFill>
              <a:blip r:embed="rId6">
                <a:alphaModFix amt="0"/>
              </a:blip>
              <a:stretch>
                <a:fillRect l="0" t="-636725" r="0" b="-636722"/>
              </a:stretch>
            </a:blipFill>
          </p:spPr>
          <p:txBody>
            <a:bodyPr/>
            <a:p/>
          </p:txBody>
        </p:sp>
      </p:grpSp>
      <p:grpSp>
        <p:nvGrpSpPr>
          <p:cNvPr name="Group 64" id="64"/>
          <p:cNvGrpSpPr/>
          <p:nvPr/>
        </p:nvGrpSpPr>
        <p:grpSpPr>
          <a:xfrm rot="0">
            <a:off x="822960" y="9598819"/>
            <a:ext cx="13716000" cy="417471"/>
            <a:chOff x="0" y="0"/>
            <a:chExt cx="18288000" cy="556628"/>
          </a:xfrm>
        </p:grpSpPr>
        <p:sp>
          <p:nvSpPr>
            <p:cNvPr name="Freeform 65" id="65"/>
            <p:cNvSpPr/>
            <p:nvPr/>
          </p:nvSpPr>
          <p:spPr>
            <a:xfrm flipH="false" flipV="false" rot="0">
              <a:off x="0" y="0"/>
              <a:ext cx="18288000" cy="556628"/>
            </a:xfrm>
            <a:custGeom>
              <a:avLst/>
              <a:gdLst/>
              <a:ahLst/>
              <a:cxnLst/>
              <a:rect r="r" b="b" t="t" l="l"/>
              <a:pathLst>
                <a:path h="556628" w="18288000">
                  <a:moveTo>
                    <a:pt x="0" y="0"/>
                  </a:moveTo>
                  <a:lnTo>
                    <a:pt x="18288000" y="0"/>
                  </a:lnTo>
                  <a:lnTo>
                    <a:pt x="18288000" y="556628"/>
                  </a:lnTo>
                  <a:lnTo>
                    <a:pt x="0" y="556628"/>
                  </a:lnTo>
                  <a:close/>
                </a:path>
              </a:pathLst>
            </a:custGeom>
            <a:blipFill>
              <a:blip r:embed="rId7">
                <a:alphaModFix amt="0"/>
              </a:blip>
              <a:stretch>
                <a:fillRect l="0" t="-590180" r="0" b="-590180"/>
              </a:stretch>
            </a:blipFill>
          </p:spPr>
          <p:txBody>
            <a:bodyPr/>
            <a:p/>
          </p:txBody>
        </p:sp>
        <p:sp>
          <p:nvSpPr>
            <p:cNvPr name="TextBox 66" id="66"/>
            <p:cNvSpPr txBox="true"/>
            <p:nvPr/>
          </p:nvSpPr>
          <p:spPr>
            <a:xfrm>
              <a:off x="0" y="-38100"/>
              <a:ext cx="18288000" cy="594728"/>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GFA26AI35 · Đại học FPT</a:t>
              </a:r>
            </a:p>
          </p:txBody>
        </p:sp>
      </p:grpSp>
      <p:pic>
        <p:nvPicPr>
          <p:cNvPr id="67" name="Picture 66" descr="ic_fmt.png"/>
          <p:cNvPicPr>
            <a:picLocks noChangeAspect="1"/>
          </p:cNvPicPr>
          <p:nvPr/>
        </p:nvPicPr>
        <p:blipFill>
          <a:blip r:embed="rId11"/>
          <a:stretch>
            <a:fillRect/>
          </a:stretch>
        </p:blipFill>
        <p:spPr>
          <a:xfrm>
            <a:off x="6565392" y="3026664"/>
            <a:ext cx="2103120" cy="2103120"/>
          </a:xfrm>
          <a:prstGeom prst="rect">
            <a:avLst/>
          </a:prstGeom>
        </p:spPr>
      </p:pic>
      <p:pic>
        <p:nvPicPr>
          <p:cNvPr id="68" name="Picture 67" descr="ic_lora.png"/>
          <p:cNvPicPr>
            <a:picLocks noChangeAspect="1"/>
          </p:cNvPicPr>
          <p:nvPr/>
        </p:nvPicPr>
        <p:blipFill>
          <a:blip r:embed="rId12"/>
          <a:stretch>
            <a:fillRect/>
          </a:stretch>
        </p:blipFill>
        <p:spPr>
          <a:xfrm>
            <a:off x="15160751" y="3026664"/>
            <a:ext cx="2103120" cy="2103120"/>
          </a:xfrm>
          <a:prstGeom prst="rect">
            <a:avLst/>
          </a:prstGeom>
        </p:spPr>
      </p:pic>
      <p:pic>
        <p:nvPicPr>
          <p:cNvPr id="69" name="Picture 68" descr="ic_ocr.png"/>
          <p:cNvPicPr>
            <a:picLocks noChangeAspect="1"/>
          </p:cNvPicPr>
          <p:nvPr/>
        </p:nvPicPr>
        <p:blipFill>
          <a:blip r:embed="rId13"/>
          <a:stretch>
            <a:fillRect/>
          </a:stretch>
        </p:blipFill>
        <p:spPr>
          <a:xfrm>
            <a:off x="6565392" y="6729984"/>
            <a:ext cx="2103120" cy="2103120"/>
          </a:xfrm>
          <a:prstGeom prst="rect">
            <a:avLst/>
          </a:prstGeom>
        </p:spPr>
      </p:pic>
      <p:pic>
        <p:nvPicPr>
          <p:cNvPr id="70" name="Picture 69" descr="ic_hal.png"/>
          <p:cNvPicPr>
            <a:picLocks noChangeAspect="1"/>
          </p:cNvPicPr>
          <p:nvPr/>
        </p:nvPicPr>
        <p:blipFill>
          <a:blip r:embed="rId14"/>
          <a:stretch>
            <a:fillRect/>
          </a:stretch>
        </p:blipFill>
        <p:spPr>
          <a:xfrm>
            <a:off x="15160751" y="6729984"/>
            <a:ext cx="2103120" cy="210312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grpSp>
        <p:nvGrpSpPr>
          <p:cNvPr name="Group 4" id="4"/>
          <p:cNvGrpSpPr/>
          <p:nvPr/>
        </p:nvGrpSpPr>
        <p:grpSpPr>
          <a:xfrm rot="0">
            <a:off x="822960" y="9641205"/>
            <a:ext cx="13716000" cy="440055"/>
            <a:chOff x="0" y="0"/>
            <a:chExt cx="18288000" cy="586740"/>
          </a:xfrm>
        </p:grpSpPr>
        <p:sp>
          <p:nvSpPr>
            <p:cNvPr name="Freeform 5" id="5"/>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3">
                <a:alphaModFix amt="0"/>
              </a:blip>
              <a:stretch>
                <a:fillRect l="0" t="-556902" r="0" b="-556904"/>
              </a:stretch>
            </a:blipFill>
          </p:spPr>
          <p:txBody>
            <a:bodyPr/>
            <a:p/>
          </p:txBody>
        </p:sp>
      </p:grpSp>
      <p:sp>
        <p:nvSpPr>
          <p:cNvPr name="TextBox 6" id="6"/>
          <p:cNvSpPr txBox="true"/>
          <p:nvPr/>
        </p:nvSpPr>
        <p:spPr>
          <a:xfrm rot="0">
            <a:off x="822960" y="296037"/>
            <a:ext cx="16641623" cy="554355"/>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1 · PHẠM VI · 06 · GIẢ THUYẾT</a:t>
            </a:r>
          </a:p>
        </p:txBody>
      </p:sp>
      <p:grpSp>
        <p:nvGrpSpPr>
          <p:cNvPr name="Group 7" id="7"/>
          <p:cNvGrpSpPr/>
          <p:nvPr/>
        </p:nvGrpSpPr>
        <p:grpSpPr>
          <a:xfrm rot="0">
            <a:off x="16075562" y="0"/>
            <a:ext cx="2212467" cy="926116"/>
            <a:chOff x="0" y="0"/>
            <a:chExt cx="2949956" cy="1234821"/>
          </a:xfrm>
        </p:grpSpPr>
        <p:sp>
          <p:nvSpPr>
            <p:cNvPr name="Freeform 8" id="8"/>
            <p:cNvSpPr/>
            <p:nvPr/>
          </p:nvSpPr>
          <p:spPr>
            <a:xfrm flipH="false" flipV="false" rot="0">
              <a:off x="0" y="0"/>
              <a:ext cx="2949956" cy="1234821"/>
            </a:xfrm>
            <a:custGeom>
              <a:avLst/>
              <a:gdLst/>
              <a:ahLst/>
              <a:cxnLst/>
              <a:rect r="r" b="b" t="t" l="l"/>
              <a:pathLst>
                <a:path h="1234821" w="2949956">
                  <a:moveTo>
                    <a:pt x="0" y="0"/>
                  </a:moveTo>
                  <a:lnTo>
                    <a:pt x="2949956" y="0"/>
                  </a:lnTo>
                  <a:lnTo>
                    <a:pt x="2949956" y="1234821"/>
                  </a:lnTo>
                  <a:lnTo>
                    <a:pt x="0" y="1234821"/>
                  </a:lnTo>
                  <a:lnTo>
                    <a:pt x="0" y="0"/>
                  </a:lnTo>
                  <a:close/>
                </a:path>
              </a:pathLst>
            </a:custGeom>
            <a:blipFill>
              <a:blip r:embed="rId4"/>
              <a:stretch>
                <a:fillRect l="0" t="-2" r="0" b="-1"/>
              </a:stretch>
            </a:blipFill>
          </p:spPr>
          <p:txBody>
            <a:bodyPr/>
            <a:p/>
          </p:txBody>
        </p:sp>
      </p:grpSp>
      <p:sp>
        <p:nvSpPr>
          <p:cNvPr name="TextBox 9" id="9"/>
          <p:cNvSpPr txBox="true"/>
          <p:nvPr/>
        </p:nvSpPr>
        <p:spPr>
          <a:xfrm rot="0">
            <a:off x="822960" y="802767"/>
            <a:ext cx="16641623" cy="762000"/>
          </a:xfrm>
          <a:prstGeom prst="rect">
            <a:avLst/>
          </a:prstGeom>
        </p:spPr>
        <p:txBody>
          <a:bodyPr anchor="t" rtlCol="false" tIns="0" lIns="0" bIns="0" rIns="0">
            <a:spAutoFit/>
          </a:bodyPr>
          <a:lstStyle/>
          <a:p>
            <a:pPr algn="l">
              <a:lnSpc>
                <a:spcPts val="5755"/>
              </a:lnSpc>
            </a:pPr>
            <a:r>
              <a:rPr lang="en-US" sz="4800" b="true">
                <a:solidFill>
                  <a:srgbClr val="13294B"/>
                </a:solidFill>
                <a:latin typeface="Cambria Bold"/>
                <a:ea typeface="Cambria Bold"/>
                <a:cs typeface="Cambria Bold"/>
                <a:sym typeface="Cambria Bold"/>
              </a:rPr>
              <a:t>Bốn giả thuyết, mỗi giả thuyết gắn một vấn đề tiếng Việt</a:t>
            </a:r>
          </a:p>
        </p:txBody>
      </p:sp>
      <p:graphicFrame>
        <p:nvGraphicFramePr>
          <p:cNvPr name="Table 10" id="10"/>
          <p:cNvGraphicFramePr>
            <a:graphicFrameLocks noGrp="true"/>
          </p:cNvGraphicFramePr>
          <p:nvPr/>
        </p:nvGraphicFramePr>
        <p:xfrm>
          <a:off x="2542032" y="2057400"/>
          <a:ext cx="14831567" cy="7061200"/>
        </p:xfrm>
        <a:graphic>
          <a:graphicData uri="http://schemas.openxmlformats.org/drawingml/2006/table">
            <a:tbl>
              <a:tblPr/>
              <a:tblGrid>
                <a:gridCol w="1052404"/>
                <a:gridCol w="11286960"/>
                <a:gridCol w="2492201"/>
              </a:tblGrid>
              <a:tr h="916155">
                <a:tc>
                  <a:txBody>
                    <a:bodyPr anchor="t" rtlCol="false"/>
                    <a:lstStyle/>
                    <a:p>
                      <a:pPr algn="l">
                        <a:lnSpc>
                          <a:spcPts val="2340"/>
                        </a:lnSpc>
                        <a:defRPr/>
                      </a:pPr>
                      <a:r>
                        <a:rPr lang="en-US" sz="2199" b="true">
                          <a:solidFill>
                            <a:srgbClr val="FFFFFF"/>
                          </a:solidFill>
                          <a:latin typeface="Calibri (MS) Bold"/>
                          <a:ea typeface="Calibri (MS) Bold"/>
                          <a:cs typeface="Calibri (MS) Bold"/>
                          <a:sym typeface="Calibri (MS) Bold"/>
                        </a:rPr>
                        <a:t>ID</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2199" b="true">
                          <a:solidFill>
                            <a:srgbClr val="FFFFFF"/>
                          </a:solidFill>
                          <a:latin typeface="Calibri (MS) Bold"/>
                          <a:ea typeface="Calibri (MS) Bold"/>
                          <a:cs typeface="Calibri (MS) Bold"/>
                          <a:sym typeface="Calibri (MS) Bold"/>
                        </a:rPr>
                        <a:t>Giả thuyết</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2199" b="true">
                          <a:solidFill>
                            <a:srgbClr val="FFFFFF"/>
                          </a:solidFill>
                          <a:latin typeface="Calibri (MS) Bold"/>
                          <a:ea typeface="Calibri (MS) Bold"/>
                          <a:cs typeface="Calibri (MS) Bold"/>
                          <a:sym typeface="Calibri (MS) Bold"/>
                        </a:rPr>
                        <a:t>Trả lời</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r>
              <a:tr h="1536261">
                <a:tc>
                  <a:txBody>
                    <a:bodyPr anchor="t" rtlCol="false"/>
                    <a:lstStyle/>
                    <a:p>
                      <a:pPr algn="l">
                        <a:lnSpc>
                          <a:spcPts val="2429"/>
                        </a:lnSpc>
                        <a:defRPr/>
                      </a:pPr>
                      <a:r>
                        <a:rPr lang="en-US" sz="2300" b="true">
                          <a:solidFill>
                            <a:srgbClr val="1C7293"/>
                          </a:solidFill>
                          <a:latin typeface="Calibri (MS) Bold"/>
                          <a:ea typeface="Calibri (MS) Bold"/>
                          <a:cs typeface="Calibri (MS) Bold"/>
                          <a:sym typeface="Calibri (MS) Bold"/>
                        </a:rPr>
                        <a:t>H1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429"/>
                        </a:lnSpc>
                        <a:defRPr/>
                      </a:pPr>
                      <a:r>
                        <a:rPr lang="en-US" sz="2300">
                          <a:solidFill>
                            <a:srgbClr val="243044"/>
                          </a:solidFill>
                          <a:latin typeface="Calibri (MS)"/>
                          <a:ea typeface="Calibri (MS)"/>
                          <a:cs typeface="Calibri (MS)"/>
                          <a:sym typeface="Calibri (MS)"/>
                        </a:rPr>
                        <a:t>QLoRA trên Qwen2.5-VL-3B tăng EM ≥ +5 so với chính model đó zero-shot</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429"/>
                        </a:lnSpc>
                        <a:defRPr/>
                      </a:pPr>
                      <a:r>
                        <a:rPr lang="en-US" sz="2300">
                          <a:solidFill>
                            <a:srgbClr val="243044"/>
                          </a:solidFill>
                          <a:latin typeface="Calibri (MS)"/>
                          <a:ea typeface="Calibri (MS)"/>
                          <a:cs typeface="Calibri (MS)"/>
                          <a:sym typeface="Calibri (MS)"/>
                        </a:rPr>
                        <a:t>RQ2 · V1–V3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1536261">
                <a:tc>
                  <a:txBody>
                    <a:bodyPr anchor="t" rtlCol="false"/>
                    <a:lstStyle/>
                    <a:p>
                      <a:pPr algn="l">
                        <a:lnSpc>
                          <a:spcPts val="2429"/>
                        </a:lnSpc>
                        <a:defRPr/>
                      </a:pPr>
                      <a:r>
                        <a:rPr lang="en-US" sz="2300" b="true">
                          <a:solidFill>
                            <a:srgbClr val="1C7293"/>
                          </a:solidFill>
                          <a:latin typeface="Calibri (MS) Bold"/>
                          <a:ea typeface="Calibri (MS) Bold"/>
                          <a:cs typeface="Calibri (MS) Bold"/>
                          <a:sym typeface="Calibri (MS) Bold"/>
                        </a:rPr>
                        <a:t>H2</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429"/>
                        </a:lnSpc>
                        <a:defRPr/>
                      </a:pPr>
                      <a:r>
                        <a:rPr lang="en-US" sz="2300">
                          <a:solidFill>
                            <a:srgbClr val="243044"/>
                          </a:solidFill>
                          <a:latin typeface="Calibri (MS)"/>
                          <a:ea typeface="Calibri (MS)"/>
                          <a:cs typeface="Calibri (MS)"/>
                          <a:sym typeface="Calibri (MS)"/>
                        </a:rPr>
                        <a:t>Chữ OCR có dấu (trái-trên → phải-dưới) trong prompt tăng ≥ +3 ANLS trên ViTextVQA; kết hợp QLoRA cho kết quả cao nhất</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429"/>
                        </a:lnSpc>
                        <a:defRPr/>
                      </a:pPr>
                      <a:r>
                        <a:rPr lang="en-US" sz="2300">
                          <a:solidFill>
                            <a:srgbClr val="243044"/>
                          </a:solidFill>
                          <a:latin typeface="Calibri (MS)"/>
                          <a:ea typeface="Calibri (MS)"/>
                          <a:cs typeface="Calibri (MS)"/>
                          <a:sym typeface="Calibri (MS)"/>
                        </a:rPr>
                        <a:t>RQ3 · V1, V3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1536261">
                <a:tc>
                  <a:txBody>
                    <a:bodyPr anchor="t" rtlCol="false"/>
                    <a:lstStyle/>
                    <a:p>
                      <a:pPr algn="l">
                        <a:lnSpc>
                          <a:spcPts val="2429"/>
                        </a:lnSpc>
                        <a:defRPr/>
                      </a:pPr>
                      <a:r>
                        <a:rPr lang="en-US" sz="2300" b="true">
                          <a:solidFill>
                            <a:srgbClr val="1C7293"/>
                          </a:solidFill>
                          <a:latin typeface="Calibri (MS) Bold"/>
                          <a:ea typeface="Calibri (MS) Bold"/>
                          <a:cs typeface="Calibri (MS) Bold"/>
                          <a:sym typeface="Calibri (MS) Bold"/>
                        </a:rPr>
                        <a:t>H3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429"/>
                        </a:lnSpc>
                        <a:defRPr/>
                      </a:pPr>
                      <a:r>
                        <a:rPr lang="en-US" sz="2300">
                          <a:solidFill>
                            <a:srgbClr val="243044"/>
                          </a:solidFill>
                          <a:latin typeface="Calibri (MS)"/>
                          <a:ea typeface="Calibri (MS)"/>
                          <a:cs typeface="Calibri (MS)"/>
                          <a:sym typeface="Calibri (MS)"/>
                        </a:rPr>
                        <a:t>Prompt định dạng tiếng Việt (trả lời ngắn, có dấu) tăng ≥ +3 EM và giảm câu trả lời sai ngôn ngữ / mất dấu</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429"/>
                        </a:lnSpc>
                        <a:defRPr/>
                      </a:pPr>
                      <a:r>
                        <a:rPr lang="en-US" sz="2300">
                          <a:solidFill>
                            <a:srgbClr val="243044"/>
                          </a:solidFill>
                          <a:latin typeface="Calibri (MS)"/>
                          <a:ea typeface="Calibri (MS)"/>
                          <a:cs typeface="Calibri (MS)"/>
                          <a:sym typeface="Calibri (MS)"/>
                        </a:rPr>
                        <a:t>RQ1 · V2</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1536261">
                <a:tc>
                  <a:txBody>
                    <a:bodyPr anchor="t" rtlCol="false"/>
                    <a:lstStyle/>
                    <a:p>
                      <a:pPr algn="l">
                        <a:lnSpc>
                          <a:spcPts val="2429"/>
                        </a:lnSpc>
                        <a:defRPr/>
                      </a:pPr>
                      <a:r>
                        <a:rPr lang="en-US" sz="2300" b="true">
                          <a:solidFill>
                            <a:srgbClr val="1C7293"/>
                          </a:solidFill>
                          <a:latin typeface="Calibri (MS) Bold"/>
                          <a:ea typeface="Calibri (MS) Bold"/>
                          <a:cs typeface="Calibri (MS) Bold"/>
                          <a:sym typeface="Calibri (MS) Bold"/>
                        </a:rPr>
                        <a:t>H4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429"/>
                        </a:lnSpc>
                        <a:defRPr/>
                      </a:pPr>
                      <a:r>
                        <a:rPr lang="en-US" sz="2300">
                          <a:solidFill>
                            <a:srgbClr val="243044"/>
                          </a:solidFill>
                          <a:latin typeface="Calibri (MS)"/>
                          <a:ea typeface="Calibri (MS)"/>
                          <a:cs typeface="Calibri (MS)"/>
                          <a:sym typeface="Calibri (MS)"/>
                        </a:rPr>
                        <a:t>QLoRA không làm tăng tỉ lệ hallucination so với zero-shot</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429"/>
                        </a:lnSpc>
                        <a:defRPr/>
                      </a:pPr>
                      <a:r>
                        <a:rPr lang="en-US" sz="2300">
                          <a:solidFill>
                            <a:srgbClr val="243044"/>
                          </a:solidFill>
                          <a:latin typeface="Calibri (MS)"/>
                          <a:ea typeface="Calibri (MS)"/>
                          <a:cs typeface="Calibri (MS)"/>
                          <a:sym typeface="Calibri (MS)"/>
                        </a:rPr>
                        <a:t>RQ4 · V4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bl>
          </a:graphicData>
        </a:graphic>
      </p:graphicFrame>
      <p:grpSp>
        <p:nvGrpSpPr>
          <p:cNvPr name="Group 11" id="11"/>
          <p:cNvGrpSpPr/>
          <p:nvPr/>
        </p:nvGrpSpPr>
        <p:grpSpPr>
          <a:xfrm rot="0">
            <a:off x="822960" y="9655969"/>
            <a:ext cx="13716000" cy="360331"/>
            <a:chOff x="0" y="0"/>
            <a:chExt cx="18288000" cy="480441"/>
          </a:xfrm>
        </p:grpSpPr>
        <p:sp>
          <p:nvSpPr>
            <p:cNvPr name="Freeform 12" id="12"/>
            <p:cNvSpPr/>
            <p:nvPr/>
          </p:nvSpPr>
          <p:spPr>
            <a:xfrm flipH="false" flipV="false" rot="0">
              <a:off x="0" y="0"/>
              <a:ext cx="18288000" cy="480441"/>
            </a:xfrm>
            <a:custGeom>
              <a:avLst/>
              <a:gdLst/>
              <a:ahLst/>
              <a:cxnLst/>
              <a:rect r="r" b="b" t="t" l="l"/>
              <a:pathLst>
                <a:path h="480441" w="18288000">
                  <a:moveTo>
                    <a:pt x="0" y="0"/>
                  </a:moveTo>
                  <a:lnTo>
                    <a:pt x="18288000" y="0"/>
                  </a:lnTo>
                  <a:lnTo>
                    <a:pt x="18288000" y="480441"/>
                  </a:lnTo>
                  <a:lnTo>
                    <a:pt x="0" y="480441"/>
                  </a:lnTo>
                  <a:close/>
                </a:path>
              </a:pathLst>
            </a:custGeom>
            <a:blipFill>
              <a:blip r:embed="rId5">
                <a:alphaModFix amt="0"/>
              </a:blip>
              <a:stretch>
                <a:fillRect l="0" t="-691181" r="0" b="-691184"/>
              </a:stretch>
            </a:blipFill>
          </p:spPr>
          <p:txBody>
            <a:bodyPr/>
            <a:p/>
          </p:txBody>
        </p:sp>
      </p:grpSp>
      <p:grpSp>
        <p:nvGrpSpPr>
          <p:cNvPr name="Group 13" id="13"/>
          <p:cNvGrpSpPr/>
          <p:nvPr/>
        </p:nvGrpSpPr>
        <p:grpSpPr>
          <a:xfrm rot="0">
            <a:off x="822960" y="9627394"/>
            <a:ext cx="13716000" cy="388896"/>
            <a:chOff x="0" y="0"/>
            <a:chExt cx="18288000" cy="518528"/>
          </a:xfrm>
        </p:grpSpPr>
        <p:sp>
          <p:nvSpPr>
            <p:cNvPr name="Freeform 14" id="14"/>
            <p:cNvSpPr/>
            <p:nvPr/>
          </p:nvSpPr>
          <p:spPr>
            <a:xfrm flipH="false" flipV="false" rot="0">
              <a:off x="0" y="0"/>
              <a:ext cx="18288000" cy="518541"/>
            </a:xfrm>
            <a:custGeom>
              <a:avLst/>
              <a:gdLst/>
              <a:ahLst/>
              <a:cxnLst/>
              <a:rect r="r" b="b" t="t" l="l"/>
              <a:pathLst>
                <a:path h="518541" w="18288000">
                  <a:moveTo>
                    <a:pt x="0" y="0"/>
                  </a:moveTo>
                  <a:lnTo>
                    <a:pt x="18288000" y="0"/>
                  </a:lnTo>
                  <a:lnTo>
                    <a:pt x="18288000" y="518541"/>
                  </a:lnTo>
                  <a:lnTo>
                    <a:pt x="0" y="518541"/>
                  </a:lnTo>
                  <a:close/>
                </a:path>
              </a:pathLst>
            </a:custGeom>
            <a:blipFill>
              <a:blip r:embed="rId6">
                <a:alphaModFix amt="0"/>
              </a:blip>
              <a:stretch>
                <a:fillRect l="0" t="-636725" r="0" b="-636722"/>
              </a:stretch>
            </a:blipFill>
          </p:spPr>
          <p:txBody>
            <a:bodyPr/>
            <a:p/>
          </p:txBody>
        </p:sp>
      </p:grpSp>
      <p:grpSp>
        <p:nvGrpSpPr>
          <p:cNvPr name="Group 15" id="15"/>
          <p:cNvGrpSpPr/>
          <p:nvPr/>
        </p:nvGrpSpPr>
        <p:grpSpPr>
          <a:xfrm rot="0">
            <a:off x="822960" y="9598819"/>
            <a:ext cx="13716000" cy="417471"/>
            <a:chOff x="0" y="0"/>
            <a:chExt cx="18288000" cy="556628"/>
          </a:xfrm>
        </p:grpSpPr>
        <p:sp>
          <p:nvSpPr>
            <p:cNvPr name="Freeform 16" id="16"/>
            <p:cNvSpPr/>
            <p:nvPr/>
          </p:nvSpPr>
          <p:spPr>
            <a:xfrm flipH="false" flipV="false" rot="0">
              <a:off x="0" y="0"/>
              <a:ext cx="18288000" cy="556628"/>
            </a:xfrm>
            <a:custGeom>
              <a:avLst/>
              <a:gdLst/>
              <a:ahLst/>
              <a:cxnLst/>
              <a:rect r="r" b="b" t="t" l="l"/>
              <a:pathLst>
                <a:path h="556628" w="18288000">
                  <a:moveTo>
                    <a:pt x="0" y="0"/>
                  </a:moveTo>
                  <a:lnTo>
                    <a:pt x="18288000" y="0"/>
                  </a:lnTo>
                  <a:lnTo>
                    <a:pt x="18288000" y="556628"/>
                  </a:lnTo>
                  <a:lnTo>
                    <a:pt x="0" y="556628"/>
                  </a:lnTo>
                  <a:close/>
                </a:path>
              </a:pathLst>
            </a:custGeom>
            <a:blipFill>
              <a:blip r:embed="rId7">
                <a:alphaModFix amt="0"/>
              </a:blip>
              <a:stretch>
                <a:fillRect l="0" t="-590180" r="0" b="-590180"/>
              </a:stretch>
            </a:blipFill>
          </p:spPr>
          <p:txBody>
            <a:bodyPr/>
            <a:p/>
          </p:txBody>
        </p:sp>
        <p:sp>
          <p:nvSpPr>
            <p:cNvPr name="TextBox 17" id="17"/>
            <p:cNvSpPr txBox="true"/>
            <p:nvPr/>
          </p:nvSpPr>
          <p:spPr>
            <a:xfrm>
              <a:off x="0" y="-38100"/>
              <a:ext cx="18288000" cy="594728"/>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GFA26AI35 · Đại học FPT</a:t>
              </a:r>
            </a:p>
          </p:txBody>
        </p:sp>
      </p:grpSp>
      <p:pic>
        <p:nvPicPr>
          <p:cNvPr id="18" name="Picture 17" descr="ic_lora.png"/>
          <p:cNvPicPr>
            <a:picLocks noChangeAspect="1"/>
          </p:cNvPicPr>
          <p:nvPr/>
        </p:nvPicPr>
        <p:blipFill>
          <a:blip r:embed="rId8"/>
          <a:stretch>
            <a:fillRect/>
          </a:stretch>
        </p:blipFill>
        <p:spPr>
          <a:xfrm>
            <a:off x="896112" y="3037563"/>
            <a:ext cx="1408244" cy="1408245"/>
          </a:xfrm>
          <a:prstGeom prst="rect">
            <a:avLst/>
          </a:prstGeom>
        </p:spPr>
      </p:pic>
      <p:pic>
        <p:nvPicPr>
          <p:cNvPr id="19" name="Picture 18" descr="ic_ocr.png"/>
          <p:cNvPicPr>
            <a:picLocks noChangeAspect="1"/>
          </p:cNvPicPr>
          <p:nvPr/>
        </p:nvPicPr>
        <p:blipFill>
          <a:blip r:embed="rId9"/>
          <a:stretch>
            <a:fillRect/>
          </a:stretch>
        </p:blipFill>
        <p:spPr>
          <a:xfrm>
            <a:off x="896112" y="4573824"/>
            <a:ext cx="1408244" cy="1408245"/>
          </a:xfrm>
          <a:prstGeom prst="rect">
            <a:avLst/>
          </a:prstGeom>
        </p:spPr>
      </p:pic>
      <p:pic>
        <p:nvPicPr>
          <p:cNvPr id="20" name="Picture 19" descr="ic_fmt.png"/>
          <p:cNvPicPr>
            <a:picLocks noChangeAspect="1"/>
          </p:cNvPicPr>
          <p:nvPr/>
        </p:nvPicPr>
        <p:blipFill>
          <a:blip r:embed="rId10"/>
          <a:stretch>
            <a:fillRect/>
          </a:stretch>
        </p:blipFill>
        <p:spPr>
          <a:xfrm>
            <a:off x="896112" y="6110085"/>
            <a:ext cx="1408244" cy="1408245"/>
          </a:xfrm>
          <a:prstGeom prst="rect">
            <a:avLst/>
          </a:prstGeom>
        </p:spPr>
      </p:pic>
      <p:pic>
        <p:nvPicPr>
          <p:cNvPr id="21" name="Picture 20" descr="ic_hal.png"/>
          <p:cNvPicPr>
            <a:picLocks noChangeAspect="1"/>
          </p:cNvPicPr>
          <p:nvPr/>
        </p:nvPicPr>
        <p:blipFill>
          <a:blip r:embed="rId11"/>
          <a:stretch>
            <a:fillRect/>
          </a:stretch>
        </p:blipFill>
        <p:spPr>
          <a:xfrm>
            <a:off x="896112" y="7646346"/>
            <a:ext cx="1408244" cy="1408245"/>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1 · PHẠM VI · 07 · DỮ LIỆU</a:t>
            </a:r>
          </a:p>
        </p:txBody>
      </p:sp>
      <p:grpSp>
        <p:nvGrpSpPr>
          <p:cNvPr name="Group 3" id="3"/>
          <p:cNvGrpSpPr/>
          <p:nvPr/>
        </p:nvGrpSpPr>
        <p:grpSpPr>
          <a:xfrm rot="0">
            <a:off x="15458732" y="0"/>
            <a:ext cx="2829306" cy="1184338"/>
            <a:chOff x="0" y="0"/>
            <a:chExt cx="3772408" cy="1579118"/>
          </a:xfrm>
        </p:grpSpPr>
        <p:sp>
          <p:nvSpPr>
            <p:cNvPr name="Freeform 4" id="4"/>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2"/>
              <a:stretch>
                <a:fillRect l="0" t="0" r="0" b="0"/>
              </a:stretch>
            </a:blipFill>
          </p:spPr>
          <p:txBody>
            <a:bodyPr/>
            <a:p/>
          </p:txBody>
        </p:sp>
      </p:gr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Hai bộ benchmark, split cố định, tiền xử lý trước khi chia</a:t>
            </a:r>
          </a:p>
        </p:txBody>
      </p:sp>
      <p:sp>
        <p:nvSpPr>
          <p:cNvPr name="Freeform 6" id="6"/>
          <p:cNvSpPr/>
          <p:nvPr/>
        </p:nvSpPr>
        <p:spPr>
          <a:xfrm flipH="false" flipV="false" rot="0">
            <a:off x="806291" y="2040731"/>
            <a:ext cx="8079867" cy="5176838"/>
          </a:xfrm>
          <a:custGeom>
            <a:avLst/>
            <a:gdLst/>
            <a:ahLst/>
            <a:cxnLst/>
            <a:rect r="r" b="b" t="t" l="l"/>
            <a:pathLst>
              <a:path h="5176838" w="8079867">
                <a:moveTo>
                  <a:pt x="0" y="0"/>
                </a:moveTo>
                <a:lnTo>
                  <a:pt x="8079867" y="0"/>
                </a:lnTo>
                <a:lnTo>
                  <a:pt x="8079867" y="5176838"/>
                </a:lnTo>
                <a:lnTo>
                  <a:pt x="0" y="5176838"/>
                </a:lnTo>
                <a:lnTo>
                  <a:pt x="0" y="0"/>
                </a:lnTo>
                <a:close/>
              </a:path>
            </a:pathLst>
          </a:custGeom>
          <a:blipFill>
            <a:blip r:embed="rId3">
              <a:extLst>
                <a:ext uri="{96DAC541-7B7A-43D3-8B79-37D633B846F1}">
                  <asvg:svgBlip xmlns:asvg="http://schemas.microsoft.com/office/drawing/2016/SVG/main" r:embed="rId4"/>
                </a:ext>
              </a:extLst>
            </a:blip>
            <a:stretch>
              <a:fillRect l="0" t="-3" r="0" b="-3"/>
            </a:stretch>
          </a:blipFill>
        </p:spPr>
        <p:txBody>
          <a:bodyPr/>
          <a:p/>
        </p:txBody>
      </p:sp>
      <p:sp>
        <p:nvSpPr>
          <p:cNvPr name="TextBox 7" id="7"/>
          <p:cNvSpPr txBox="true"/>
          <p:nvPr/>
        </p:nvSpPr>
        <p:spPr>
          <a:xfrm rot="0">
            <a:off x="1234440" y="2225040"/>
            <a:ext cx="7223531" cy="723900"/>
          </a:xfrm>
          <a:prstGeom prst="rect">
            <a:avLst/>
          </a:prstGeom>
        </p:spPr>
        <p:txBody>
          <a:bodyPr anchor="t" rtlCol="false" tIns="0" lIns="0" bIns="0" rIns="0">
            <a:spAutoFit/>
          </a:bodyPr>
          <a:lstStyle/>
          <a:p>
            <a:pPr algn="l">
              <a:lnSpc>
                <a:spcPts val="3960"/>
              </a:lnSpc>
            </a:pPr>
            <a:r>
              <a:rPr lang="en-US" sz="3300" b="true">
                <a:solidFill>
                  <a:srgbClr val="13294B"/>
                </a:solidFill>
                <a:latin typeface="Cambria Bold"/>
                <a:ea typeface="Cambria Bold"/>
                <a:cs typeface="Cambria Bold"/>
                <a:sym typeface="Cambria Bold"/>
              </a:rPr>
              <a:t>ViVQA</a:t>
            </a:r>
          </a:p>
        </p:txBody>
      </p:sp>
      <p:sp>
        <p:nvSpPr>
          <p:cNvPr name="TextBox 8" id="8"/>
          <p:cNvSpPr txBox="true"/>
          <p:nvPr/>
        </p:nvSpPr>
        <p:spPr>
          <a:xfrm rot="0">
            <a:off x="1234440" y="2769108"/>
            <a:ext cx="7223531" cy="563880"/>
          </a:xfrm>
          <a:prstGeom prst="rect">
            <a:avLst/>
          </a:prstGeom>
        </p:spPr>
        <p:txBody>
          <a:bodyPr anchor="t" rtlCol="false" tIns="0" lIns="0" bIns="0" rIns="0">
            <a:spAutoFit/>
          </a:bodyPr>
          <a:lstStyle/>
          <a:p>
            <a:pPr algn="l">
              <a:lnSpc>
                <a:spcPts val="2160"/>
              </a:lnSpc>
            </a:pPr>
            <a:r>
              <a:rPr lang="en-US" sz="1800" u="sng">
                <a:solidFill>
                  <a:srgbClr val="0000FF"/>
                </a:solidFill>
                <a:latin typeface="Calibri (MS)"/>
                <a:ea typeface="Calibri (MS)"/>
                <a:cs typeface="Calibri (MS)"/>
                <a:sym typeface="Calibri (MS)"/>
                <a:hlinkClick r:id="rId5" tooltip="https://aclanthology.org/2021.paclic-1.72/"/>
              </a:rPr>
              <a:t>Paper: ViVQA (Tran et al., PACLIC 2021) ↗</a:t>
            </a:r>
          </a:p>
        </p:txBody>
      </p:sp>
      <p:sp>
        <p:nvSpPr>
          <p:cNvPr name="TextBox 9" id="9"/>
          <p:cNvSpPr txBox="true"/>
          <p:nvPr/>
        </p:nvSpPr>
        <p:spPr>
          <a:xfrm rot="0">
            <a:off x="1234440" y="3421380"/>
            <a:ext cx="3474606" cy="1173480"/>
          </a:xfrm>
          <a:prstGeom prst="rect">
            <a:avLst/>
          </a:prstGeom>
        </p:spPr>
        <p:txBody>
          <a:bodyPr anchor="t" rtlCol="false" tIns="0" lIns="0" bIns="0" rIns="0">
            <a:spAutoFit/>
          </a:bodyPr>
          <a:lstStyle/>
          <a:p>
            <a:pPr algn="l">
              <a:lnSpc>
                <a:spcPts val="5400"/>
              </a:lnSpc>
            </a:pPr>
            <a:r>
              <a:rPr lang="en-US" sz="4500" b="true">
                <a:solidFill>
                  <a:srgbClr val="13294B"/>
                </a:solidFill>
                <a:latin typeface="Cambria Bold"/>
                <a:ea typeface="Cambria Bold"/>
                <a:cs typeface="Cambria Bold"/>
                <a:sym typeface="Cambria Bold"/>
              </a:rPr>
              <a:t>15.000</a:t>
            </a:r>
          </a:p>
        </p:txBody>
      </p:sp>
      <p:sp>
        <p:nvSpPr>
          <p:cNvPr name="TextBox 10" id="10"/>
          <p:cNvSpPr txBox="true"/>
          <p:nvPr/>
        </p:nvSpPr>
        <p:spPr>
          <a:xfrm rot="0">
            <a:off x="1234440" y="4335780"/>
            <a:ext cx="3474606" cy="67056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cặp hỏi–đáp</a:t>
            </a:r>
          </a:p>
        </p:txBody>
      </p:sp>
      <p:sp>
        <p:nvSpPr>
          <p:cNvPr name="TextBox 11" id="11"/>
          <p:cNvSpPr txBox="true"/>
          <p:nvPr/>
        </p:nvSpPr>
        <p:spPr>
          <a:xfrm rot="0">
            <a:off x="4846206" y="3421380"/>
            <a:ext cx="3474606" cy="1173480"/>
          </a:xfrm>
          <a:prstGeom prst="rect">
            <a:avLst/>
          </a:prstGeom>
        </p:spPr>
        <p:txBody>
          <a:bodyPr anchor="t" rtlCol="false" tIns="0" lIns="0" bIns="0" rIns="0">
            <a:spAutoFit/>
          </a:bodyPr>
          <a:lstStyle/>
          <a:p>
            <a:pPr algn="l">
              <a:lnSpc>
                <a:spcPts val="5400"/>
              </a:lnSpc>
            </a:pPr>
            <a:r>
              <a:rPr lang="en-US" sz="4500" b="true">
                <a:solidFill>
                  <a:srgbClr val="13294B"/>
                </a:solidFill>
                <a:latin typeface="Cambria Bold"/>
                <a:ea typeface="Cambria Bold"/>
                <a:cs typeface="Cambria Bold"/>
                <a:sym typeface="Cambria Bold"/>
              </a:rPr>
              <a:t>10.328</a:t>
            </a:r>
          </a:p>
        </p:txBody>
      </p:sp>
      <p:sp>
        <p:nvSpPr>
          <p:cNvPr name="TextBox 12" id="12"/>
          <p:cNvSpPr txBox="true"/>
          <p:nvPr/>
        </p:nvSpPr>
        <p:spPr>
          <a:xfrm rot="0">
            <a:off x="4846206" y="4335780"/>
            <a:ext cx="3474606" cy="67056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ảnh (MS COCO)</a:t>
            </a:r>
          </a:p>
        </p:txBody>
      </p:sp>
      <p:sp>
        <p:nvSpPr>
          <p:cNvPr name="TextBox 13" id="13"/>
          <p:cNvSpPr txBox="true"/>
          <p:nvPr/>
        </p:nvSpPr>
        <p:spPr>
          <a:xfrm rot="0">
            <a:off x="1234440" y="4953000"/>
            <a:ext cx="7223531" cy="807720"/>
          </a:xfrm>
          <a:prstGeom prst="rect">
            <a:avLst/>
          </a:prstGeom>
        </p:spPr>
        <p:txBody>
          <a:bodyPr anchor="t" rtlCol="false" tIns="0" lIns="0" bIns="0" rIns="0">
            <a:spAutoFit/>
          </a:bodyPr>
          <a:lstStyle/>
          <a:p>
            <a:pPr algn="l">
              <a:lnSpc>
                <a:spcPts val="2340"/>
              </a:lnSpc>
            </a:pPr>
            <a:r>
              <a:rPr lang="en-US" sz="1950" b="true">
                <a:solidFill>
                  <a:srgbClr val="13294B"/>
                </a:solidFill>
                <a:latin typeface="Calibri (MS) Bold"/>
                <a:ea typeface="Calibri (MS) Bold"/>
                <a:cs typeface="Calibri (MS) Bold"/>
                <a:sym typeface="Calibri (MS) Bold"/>
              </a:rPr>
              <a:t>Split: train 10.799</a:t>
            </a:r>
            <a:r>
              <a:rPr lang="en-US" sz="1950">
                <a:solidFill>
                  <a:srgbClr val="5B677A"/>
                </a:solidFill>
                <a:latin typeface="Calibri (MS)"/>
                <a:ea typeface="Calibri (MS)"/>
                <a:cs typeface="Calibri (MS)"/>
                <a:sym typeface="Calibri (MS)"/>
              </a:rPr>
              <a:t>  ·  </a:t>
            </a:r>
            <a:r>
              <a:rPr lang="en-US" sz="1950" b="true">
                <a:solidFill>
                  <a:srgbClr val="13294B"/>
                </a:solidFill>
                <a:latin typeface="Calibri (MS) Bold"/>
                <a:ea typeface="Calibri (MS) Bold"/>
                <a:cs typeface="Calibri (MS) Bold"/>
                <a:sym typeface="Calibri (MS) Bold"/>
              </a:rPr>
              <a:t>val 1.200</a:t>
            </a:r>
            <a:r>
              <a:rPr lang="en-US" sz="1950">
                <a:solidFill>
                  <a:srgbClr val="5B677A"/>
                </a:solidFill>
                <a:latin typeface="Calibri (MS)"/>
                <a:ea typeface="Calibri (MS)"/>
                <a:cs typeface="Calibri (MS)"/>
                <a:sym typeface="Calibri (MS)"/>
              </a:rPr>
              <a:t>  ·  </a:t>
            </a:r>
            <a:r>
              <a:rPr lang="en-US" sz="1950" b="true">
                <a:solidFill>
                  <a:srgbClr val="13294B"/>
                </a:solidFill>
                <a:latin typeface="Calibri (MS) Bold"/>
                <a:ea typeface="Calibri (MS) Bold"/>
                <a:cs typeface="Calibri (MS) Bold"/>
                <a:sym typeface="Calibri (MS) Bold"/>
              </a:rPr>
              <a:t>test 3.001</a:t>
            </a:r>
          </a:p>
          <a:p>
            <a:pPr algn="l">
              <a:lnSpc>
                <a:spcPts val="1980"/>
              </a:lnSpc>
            </a:pPr>
            <a:r>
              <a:rPr lang="en-US" sz="1650">
                <a:solidFill>
                  <a:srgbClr val="5B677A"/>
                </a:solidFill>
                <a:latin typeface="Calibri (MS)"/>
                <a:ea typeface="Calibri (MS)"/>
                <a:cs typeface="Calibri (MS)"/>
                <a:sym typeface="Calibri (MS)"/>
              </a:rPr>
              <a:t>val tách từ train (seed 42); bản gốc chỉ có train/test</a:t>
            </a:r>
          </a:p>
        </p:txBody>
      </p:sp>
      <p:sp>
        <p:nvSpPr>
          <p:cNvPr name="TextBox 14" id="14"/>
          <p:cNvSpPr txBox="true"/>
          <p:nvPr/>
        </p:nvSpPr>
        <p:spPr>
          <a:xfrm rot="0">
            <a:off x="1234440" y="6283452"/>
            <a:ext cx="7223531" cy="807720"/>
          </a:xfrm>
          <a:prstGeom prst="rect">
            <a:avLst/>
          </a:prstGeom>
        </p:spPr>
        <p:txBody>
          <a:bodyPr anchor="t" rtlCol="false" tIns="0" lIns="0" bIns="0" rIns="0">
            <a:spAutoFit/>
          </a:bodyPr>
          <a:lstStyle/>
          <a:p>
            <a:pPr algn="l">
              <a:lnSpc>
                <a:spcPts val="2340"/>
              </a:lnSpc>
            </a:pPr>
            <a:r>
              <a:rPr lang="en-US" sz="1950">
                <a:solidFill>
                  <a:srgbClr val="243044"/>
                </a:solidFill>
                <a:latin typeface="Calibri (MS)"/>
                <a:ea typeface="Calibri (MS)"/>
                <a:cs typeface="Calibri (MS)"/>
                <a:sym typeface="Calibri (MS)"/>
              </a:rPr>
              <a:t>99,83% đáp án ≤ 3 từ → EM / VQA-Acc</a:t>
            </a:r>
          </a:p>
        </p:txBody>
      </p:sp>
      <p:sp>
        <p:nvSpPr>
          <p:cNvPr name="Freeform 15" id="15"/>
          <p:cNvSpPr/>
          <p:nvPr/>
        </p:nvSpPr>
        <p:spPr>
          <a:xfrm flipH="false" flipV="false" rot="0">
            <a:off x="9401423" y="2040731"/>
            <a:ext cx="8079867" cy="5176838"/>
          </a:xfrm>
          <a:custGeom>
            <a:avLst/>
            <a:gdLst/>
            <a:ahLst/>
            <a:cxnLst/>
            <a:rect r="r" b="b" t="t" l="l"/>
            <a:pathLst>
              <a:path h="5176838" w="8079867">
                <a:moveTo>
                  <a:pt x="0" y="0"/>
                </a:moveTo>
                <a:lnTo>
                  <a:pt x="8079867" y="0"/>
                </a:lnTo>
                <a:lnTo>
                  <a:pt x="8079867" y="5176838"/>
                </a:lnTo>
                <a:lnTo>
                  <a:pt x="0" y="5176838"/>
                </a:lnTo>
                <a:lnTo>
                  <a:pt x="0" y="0"/>
                </a:lnTo>
                <a:close/>
              </a:path>
            </a:pathLst>
          </a:custGeom>
          <a:blipFill>
            <a:blip r:embed="rId6">
              <a:extLst>
                <a:ext uri="{96DAC541-7B7A-43D3-8B79-37D633B846F1}">
                  <asvg:svgBlip xmlns:asvg="http://schemas.microsoft.com/office/drawing/2016/SVG/main" r:embed="rId7"/>
                </a:ext>
              </a:extLst>
            </a:blip>
            <a:stretch>
              <a:fillRect l="0" t="-3" r="0" b="-3"/>
            </a:stretch>
          </a:blipFill>
        </p:spPr>
        <p:txBody>
          <a:bodyPr/>
          <a:p/>
        </p:txBody>
      </p:sp>
      <p:sp>
        <p:nvSpPr>
          <p:cNvPr name="TextBox 16" id="16"/>
          <p:cNvSpPr txBox="true"/>
          <p:nvPr/>
        </p:nvSpPr>
        <p:spPr>
          <a:xfrm rot="0">
            <a:off x="9829571" y="2225040"/>
            <a:ext cx="7223531" cy="723900"/>
          </a:xfrm>
          <a:prstGeom prst="rect">
            <a:avLst/>
          </a:prstGeom>
        </p:spPr>
        <p:txBody>
          <a:bodyPr anchor="t" rtlCol="false" tIns="0" lIns="0" bIns="0" rIns="0">
            <a:spAutoFit/>
          </a:bodyPr>
          <a:lstStyle/>
          <a:p>
            <a:pPr algn="l">
              <a:lnSpc>
                <a:spcPts val="3960"/>
              </a:lnSpc>
            </a:pPr>
            <a:r>
              <a:rPr lang="en-US" sz="3300" b="true">
                <a:solidFill>
                  <a:srgbClr val="13294B"/>
                </a:solidFill>
                <a:latin typeface="Cambria Bold"/>
                <a:ea typeface="Cambria Bold"/>
                <a:cs typeface="Cambria Bold"/>
                <a:sym typeface="Cambria Bold"/>
              </a:rPr>
              <a:t>ViTextVQA</a:t>
            </a:r>
          </a:p>
        </p:txBody>
      </p:sp>
      <p:sp>
        <p:nvSpPr>
          <p:cNvPr name="TextBox 17" id="17"/>
          <p:cNvSpPr txBox="true"/>
          <p:nvPr/>
        </p:nvSpPr>
        <p:spPr>
          <a:xfrm rot="0">
            <a:off x="9829571" y="2769108"/>
            <a:ext cx="7223531" cy="563880"/>
          </a:xfrm>
          <a:prstGeom prst="rect">
            <a:avLst/>
          </a:prstGeom>
        </p:spPr>
        <p:txBody>
          <a:bodyPr anchor="t" rtlCol="false" tIns="0" lIns="0" bIns="0" rIns="0">
            <a:spAutoFit/>
          </a:bodyPr>
          <a:lstStyle/>
          <a:p>
            <a:pPr algn="l">
              <a:lnSpc>
                <a:spcPts val="2160"/>
              </a:lnSpc>
            </a:pPr>
            <a:r>
              <a:rPr lang="en-US" sz="1800" u="sng">
                <a:solidFill>
                  <a:srgbClr val="0000FF"/>
                </a:solidFill>
                <a:latin typeface="Calibri (MS)"/>
                <a:ea typeface="Calibri (MS)"/>
                <a:cs typeface="Calibri (MS)"/>
                <a:sym typeface="Calibri (MS)"/>
                <a:hlinkClick r:id="rId8" tooltip="https://arxiv.org/abs/2404.10652"/>
              </a:rPr>
              <a:t>Paper: ViTextVQA (Nguyen et al., 2024 · arXiv 2404.10652) ↗</a:t>
            </a:r>
          </a:p>
        </p:txBody>
      </p:sp>
      <p:sp>
        <p:nvSpPr>
          <p:cNvPr name="TextBox 18" id="18"/>
          <p:cNvSpPr txBox="true"/>
          <p:nvPr/>
        </p:nvSpPr>
        <p:spPr>
          <a:xfrm rot="0">
            <a:off x="9829571" y="3421380"/>
            <a:ext cx="3474606" cy="1173480"/>
          </a:xfrm>
          <a:prstGeom prst="rect">
            <a:avLst/>
          </a:prstGeom>
        </p:spPr>
        <p:txBody>
          <a:bodyPr anchor="t" rtlCol="false" tIns="0" lIns="0" bIns="0" rIns="0">
            <a:spAutoFit/>
          </a:bodyPr>
          <a:lstStyle/>
          <a:p>
            <a:pPr algn="l">
              <a:lnSpc>
                <a:spcPts val="5400"/>
              </a:lnSpc>
            </a:pPr>
            <a:r>
              <a:rPr lang="en-US" sz="4500" b="true">
                <a:solidFill>
                  <a:srgbClr val="13294B"/>
                </a:solidFill>
                <a:latin typeface="Cambria Bold"/>
                <a:ea typeface="Cambria Bold"/>
                <a:cs typeface="Cambria Bold"/>
                <a:sym typeface="Cambria Bold"/>
              </a:rPr>
              <a:t>50.342</a:t>
            </a:r>
          </a:p>
        </p:txBody>
      </p:sp>
      <p:sp>
        <p:nvSpPr>
          <p:cNvPr name="TextBox 19" id="19"/>
          <p:cNvSpPr txBox="true"/>
          <p:nvPr/>
        </p:nvSpPr>
        <p:spPr>
          <a:xfrm rot="0">
            <a:off x="9829571" y="4335780"/>
            <a:ext cx="3474606" cy="67056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cặp hỏi–đáp</a:t>
            </a:r>
          </a:p>
        </p:txBody>
      </p:sp>
      <p:sp>
        <p:nvSpPr>
          <p:cNvPr name="TextBox 20" id="20"/>
          <p:cNvSpPr txBox="true"/>
          <p:nvPr/>
        </p:nvSpPr>
        <p:spPr>
          <a:xfrm rot="0">
            <a:off x="13441337" y="3421380"/>
            <a:ext cx="3474606" cy="1173480"/>
          </a:xfrm>
          <a:prstGeom prst="rect">
            <a:avLst/>
          </a:prstGeom>
        </p:spPr>
        <p:txBody>
          <a:bodyPr anchor="t" rtlCol="false" tIns="0" lIns="0" bIns="0" rIns="0">
            <a:spAutoFit/>
          </a:bodyPr>
          <a:lstStyle/>
          <a:p>
            <a:pPr algn="l">
              <a:lnSpc>
                <a:spcPts val="5400"/>
              </a:lnSpc>
            </a:pPr>
            <a:r>
              <a:rPr lang="en-US" sz="4500" b="true">
                <a:solidFill>
                  <a:srgbClr val="13294B"/>
                </a:solidFill>
                <a:latin typeface="Cambria Bold"/>
                <a:ea typeface="Cambria Bold"/>
                <a:cs typeface="Cambria Bold"/>
                <a:sym typeface="Cambria Bold"/>
              </a:rPr>
              <a:t>16.762</a:t>
            </a:r>
          </a:p>
        </p:txBody>
      </p:sp>
      <p:sp>
        <p:nvSpPr>
          <p:cNvPr name="TextBox 21" id="21"/>
          <p:cNvSpPr txBox="true"/>
          <p:nvPr/>
        </p:nvSpPr>
        <p:spPr>
          <a:xfrm rot="0">
            <a:off x="13441337" y="4335780"/>
            <a:ext cx="3474606" cy="67056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ảnh có chữ tiếng Việt</a:t>
            </a:r>
          </a:p>
        </p:txBody>
      </p:sp>
      <p:sp>
        <p:nvSpPr>
          <p:cNvPr name="TextBox 22" id="22"/>
          <p:cNvSpPr txBox="true"/>
          <p:nvPr/>
        </p:nvSpPr>
        <p:spPr>
          <a:xfrm rot="0">
            <a:off x="9829571" y="4953000"/>
            <a:ext cx="7223531" cy="807720"/>
          </a:xfrm>
          <a:prstGeom prst="rect">
            <a:avLst/>
          </a:prstGeom>
        </p:spPr>
        <p:txBody>
          <a:bodyPr anchor="t" rtlCol="false" tIns="0" lIns="0" bIns="0" rIns="0">
            <a:spAutoFit/>
          </a:bodyPr>
          <a:lstStyle/>
          <a:p>
            <a:pPr algn="l">
              <a:lnSpc>
                <a:spcPts val="2340"/>
              </a:lnSpc>
            </a:pPr>
            <a:r>
              <a:rPr lang="en-US" sz="1950" b="true">
                <a:solidFill>
                  <a:srgbClr val="13294B"/>
                </a:solidFill>
                <a:latin typeface="Calibri (MS) Bold"/>
                <a:ea typeface="Calibri (MS) Bold"/>
                <a:cs typeface="Calibri (MS) Bold"/>
                <a:sym typeface="Calibri (MS) Bold"/>
              </a:rPr>
              <a:t>Split: train 35.159</a:t>
            </a:r>
            <a:r>
              <a:rPr lang="en-US" sz="1950">
                <a:solidFill>
                  <a:srgbClr val="5B677A"/>
                </a:solidFill>
                <a:latin typeface="Calibri (MS)"/>
                <a:ea typeface="Calibri (MS)"/>
                <a:cs typeface="Calibri (MS)"/>
                <a:sym typeface="Calibri (MS)"/>
              </a:rPr>
              <a:t>  ·  </a:t>
            </a:r>
            <a:r>
              <a:rPr lang="en-US" sz="1950" b="true">
                <a:solidFill>
                  <a:srgbClr val="13294B"/>
                </a:solidFill>
                <a:latin typeface="Calibri (MS) Bold"/>
                <a:ea typeface="Calibri (MS) Bold"/>
                <a:cs typeface="Calibri (MS) Bold"/>
                <a:sym typeface="Calibri (MS) Bold"/>
              </a:rPr>
              <a:t>dev 5.155</a:t>
            </a:r>
            <a:r>
              <a:rPr lang="en-US" sz="1950">
                <a:solidFill>
                  <a:srgbClr val="5B677A"/>
                </a:solidFill>
                <a:latin typeface="Calibri (MS)"/>
                <a:ea typeface="Calibri (MS)"/>
                <a:cs typeface="Calibri (MS)"/>
                <a:sym typeface="Calibri (MS)"/>
              </a:rPr>
              <a:t>  ·  </a:t>
            </a:r>
            <a:r>
              <a:rPr lang="en-US" sz="1950" b="true">
                <a:solidFill>
                  <a:srgbClr val="13294B"/>
                </a:solidFill>
                <a:latin typeface="Calibri (MS) Bold"/>
                <a:ea typeface="Calibri (MS) Bold"/>
                <a:cs typeface="Calibri (MS) Bold"/>
                <a:sym typeface="Calibri (MS) Bold"/>
              </a:rPr>
              <a:t>test 10.028</a:t>
            </a:r>
          </a:p>
          <a:p>
            <a:pPr algn="l">
              <a:lnSpc>
                <a:spcPts val="1980"/>
              </a:lnSpc>
            </a:pPr>
            <a:r>
              <a:rPr lang="en-US" sz="1650">
                <a:solidFill>
                  <a:srgbClr val="5B677A"/>
                </a:solidFill>
                <a:latin typeface="Calibri (MS)"/>
                <a:ea typeface="Calibri (MS)"/>
                <a:cs typeface="Calibri (MS)"/>
                <a:sym typeface="Calibri (MS)"/>
              </a:rPr>
              <a:t>split chính thức của tác giả; dev = tập validation</a:t>
            </a:r>
          </a:p>
        </p:txBody>
      </p:sp>
      <p:sp>
        <p:nvSpPr>
          <p:cNvPr name="TextBox 23" id="23"/>
          <p:cNvSpPr txBox="true"/>
          <p:nvPr/>
        </p:nvSpPr>
        <p:spPr>
          <a:xfrm rot="0">
            <a:off x="9829571" y="6283452"/>
            <a:ext cx="7223531" cy="807720"/>
          </a:xfrm>
          <a:prstGeom prst="rect">
            <a:avLst/>
          </a:prstGeom>
        </p:spPr>
        <p:txBody>
          <a:bodyPr anchor="t" rtlCol="false" tIns="0" lIns="0" bIns="0" rIns="0">
            <a:spAutoFit/>
          </a:bodyPr>
          <a:lstStyle/>
          <a:p>
            <a:pPr algn="l">
              <a:lnSpc>
                <a:spcPts val="2340"/>
              </a:lnSpc>
            </a:pPr>
            <a:r>
              <a:rPr lang="en-US" sz="1950">
                <a:solidFill>
                  <a:srgbClr val="243044"/>
                </a:solidFill>
                <a:latin typeface="Calibri (MS)"/>
                <a:ea typeface="Calibri (MS)"/>
                <a:cs typeface="Calibri (MS)"/>
                <a:sym typeface="Calibri (MS)"/>
              </a:rPr>
              <a:t>Đáp án trung bình 4,18 từ, đọc từ ảnh → ANLS (chịu lỗi ký tự)</a:t>
            </a:r>
          </a:p>
        </p:txBody>
      </p:sp>
      <p:sp>
        <p:nvSpPr>
          <p:cNvPr name="Freeform 24" id="24"/>
          <p:cNvSpPr/>
          <p:nvPr/>
        </p:nvSpPr>
        <p:spPr>
          <a:xfrm flipH="false" flipV="false" rot="0">
            <a:off x="806291" y="7527131"/>
            <a:ext cx="3627977" cy="1199197"/>
          </a:xfrm>
          <a:custGeom>
            <a:avLst/>
            <a:gdLst/>
            <a:ahLst/>
            <a:cxnLst/>
            <a:rect r="r" b="b" t="t" l="l"/>
            <a:pathLst>
              <a:path h="1199197" w="3627977">
                <a:moveTo>
                  <a:pt x="0" y="0"/>
                </a:moveTo>
                <a:lnTo>
                  <a:pt x="3627977" y="0"/>
                </a:lnTo>
                <a:lnTo>
                  <a:pt x="3627977" y="1199198"/>
                </a:lnTo>
                <a:lnTo>
                  <a:pt x="0" y="1199198"/>
                </a:lnTo>
                <a:lnTo>
                  <a:pt x="0" y="0"/>
                </a:lnTo>
                <a:close/>
              </a:path>
            </a:pathLst>
          </a:custGeom>
          <a:blipFill>
            <a:blip r:embed="rId9">
              <a:extLst>
                <a:ext uri="{96DAC541-7B7A-43D3-8B79-37D633B846F1}">
                  <asvg:svgBlip xmlns:asvg="http://schemas.microsoft.com/office/drawing/2016/SVG/main" r:embed="rId10"/>
                </a:ext>
              </a:extLst>
            </a:blip>
            <a:stretch>
              <a:fillRect l="0" t="-25" r="0" b="-25"/>
            </a:stretch>
          </a:blipFill>
        </p:spPr>
        <p:txBody>
          <a:bodyPr/>
          <a:p/>
        </p:txBody>
      </p:sp>
      <p:grpSp>
        <p:nvGrpSpPr>
          <p:cNvPr name="Group 25" id="25"/>
          <p:cNvGrpSpPr/>
          <p:nvPr/>
        </p:nvGrpSpPr>
        <p:grpSpPr>
          <a:xfrm rot="0">
            <a:off x="918972" y="7543800"/>
            <a:ext cx="3402616" cy="1165860"/>
            <a:chOff x="0" y="0"/>
            <a:chExt cx="4536821" cy="1554480"/>
          </a:xfrm>
        </p:grpSpPr>
        <p:sp>
          <p:nvSpPr>
            <p:cNvPr name="Freeform 26" id="26"/>
            <p:cNvSpPr/>
            <p:nvPr/>
          </p:nvSpPr>
          <p:spPr>
            <a:xfrm flipH="false" flipV="false" rot="0">
              <a:off x="0" y="0"/>
              <a:ext cx="4536821" cy="1554480"/>
            </a:xfrm>
            <a:custGeom>
              <a:avLst/>
              <a:gdLst/>
              <a:ahLst/>
              <a:cxnLst/>
              <a:rect r="r" b="b" t="t" l="l"/>
              <a:pathLst>
                <a:path h="1554480" w="4536821">
                  <a:moveTo>
                    <a:pt x="0" y="0"/>
                  </a:moveTo>
                  <a:lnTo>
                    <a:pt x="4536821" y="0"/>
                  </a:lnTo>
                  <a:lnTo>
                    <a:pt x="4536821" y="1554480"/>
                  </a:lnTo>
                  <a:lnTo>
                    <a:pt x="0" y="1554480"/>
                  </a:lnTo>
                  <a:close/>
                </a:path>
              </a:pathLst>
            </a:custGeom>
            <a:blipFill>
              <a:blip r:embed="rId11">
                <a:alphaModFix amt="0"/>
              </a:blip>
              <a:stretch>
                <a:fillRect l="0" t="-6828" r="0" b="-6828"/>
              </a:stretch>
            </a:blipFill>
          </p:spPr>
          <p:txBody>
            <a:bodyPr/>
            <a:p/>
          </p:txBody>
        </p:sp>
      </p:grpSp>
      <p:grpSp>
        <p:nvGrpSpPr>
          <p:cNvPr name="Group 27" id="27"/>
          <p:cNvGrpSpPr/>
          <p:nvPr/>
        </p:nvGrpSpPr>
        <p:grpSpPr>
          <a:xfrm rot="0">
            <a:off x="918972" y="7508081"/>
            <a:ext cx="3402616" cy="1201579"/>
            <a:chOff x="0" y="0"/>
            <a:chExt cx="4536821" cy="1602105"/>
          </a:xfrm>
        </p:grpSpPr>
        <p:sp>
          <p:nvSpPr>
            <p:cNvPr name="Freeform 28" id="28"/>
            <p:cNvSpPr/>
            <p:nvPr/>
          </p:nvSpPr>
          <p:spPr>
            <a:xfrm flipH="false" flipV="false" rot="0">
              <a:off x="0" y="0"/>
              <a:ext cx="4536821" cy="1602105"/>
            </a:xfrm>
            <a:custGeom>
              <a:avLst/>
              <a:gdLst/>
              <a:ahLst/>
              <a:cxnLst/>
              <a:rect r="r" b="b" t="t" l="l"/>
              <a:pathLst>
                <a:path h="1602105" w="4536821">
                  <a:moveTo>
                    <a:pt x="0" y="0"/>
                  </a:moveTo>
                  <a:lnTo>
                    <a:pt x="4536821" y="0"/>
                  </a:lnTo>
                  <a:lnTo>
                    <a:pt x="4536821" y="1602105"/>
                  </a:lnTo>
                  <a:lnTo>
                    <a:pt x="0" y="1602105"/>
                  </a:lnTo>
                  <a:close/>
                </a:path>
              </a:pathLst>
            </a:custGeom>
            <a:blipFill>
              <a:blip r:embed="rId12">
                <a:alphaModFix amt="0"/>
              </a:blip>
              <a:stretch>
                <a:fillRect l="0" t="-5139" r="0" b="-5139"/>
              </a:stretch>
            </a:blipFill>
          </p:spPr>
          <p:txBody>
            <a:bodyPr/>
            <a:p/>
          </p:txBody>
        </p:sp>
      </p:grpSp>
      <p:grpSp>
        <p:nvGrpSpPr>
          <p:cNvPr name="Group 29" id="29"/>
          <p:cNvGrpSpPr/>
          <p:nvPr/>
        </p:nvGrpSpPr>
        <p:grpSpPr>
          <a:xfrm rot="0">
            <a:off x="918972" y="7472362"/>
            <a:ext cx="3402597" cy="1237298"/>
            <a:chOff x="0" y="0"/>
            <a:chExt cx="4536796" cy="1649730"/>
          </a:xfrm>
        </p:grpSpPr>
        <p:sp>
          <p:nvSpPr>
            <p:cNvPr name="Freeform 30" id="30"/>
            <p:cNvSpPr/>
            <p:nvPr/>
          </p:nvSpPr>
          <p:spPr>
            <a:xfrm flipH="false" flipV="false" rot="0">
              <a:off x="0" y="0"/>
              <a:ext cx="4536821" cy="1649730"/>
            </a:xfrm>
            <a:custGeom>
              <a:avLst/>
              <a:gdLst/>
              <a:ahLst/>
              <a:cxnLst/>
              <a:rect r="r" b="b" t="t" l="l"/>
              <a:pathLst>
                <a:path h="1649730" w="4536821">
                  <a:moveTo>
                    <a:pt x="0" y="0"/>
                  </a:moveTo>
                  <a:lnTo>
                    <a:pt x="4536821" y="0"/>
                  </a:lnTo>
                  <a:lnTo>
                    <a:pt x="4536821" y="1649730"/>
                  </a:lnTo>
                  <a:lnTo>
                    <a:pt x="0" y="1649730"/>
                  </a:lnTo>
                  <a:close/>
                </a:path>
              </a:pathLst>
            </a:custGeom>
            <a:blipFill>
              <a:blip r:embed="rId13">
                <a:alphaModFix amt="0"/>
              </a:blip>
              <a:stretch>
                <a:fillRect l="0" t="-3547" r="0" b="-3546"/>
              </a:stretch>
            </a:blipFill>
          </p:spPr>
          <p:txBody>
            <a:bodyPr/>
            <a:p/>
          </p:txBody>
        </p:sp>
      </p:grpSp>
      <p:grpSp>
        <p:nvGrpSpPr>
          <p:cNvPr name="Group 31" id="31"/>
          <p:cNvGrpSpPr/>
          <p:nvPr/>
        </p:nvGrpSpPr>
        <p:grpSpPr>
          <a:xfrm rot="0">
            <a:off x="918972" y="7436644"/>
            <a:ext cx="3402597" cy="1273016"/>
            <a:chOff x="0" y="0"/>
            <a:chExt cx="4536796" cy="1697355"/>
          </a:xfrm>
        </p:grpSpPr>
        <p:sp>
          <p:nvSpPr>
            <p:cNvPr name="Freeform 32" id="32"/>
            <p:cNvSpPr/>
            <p:nvPr/>
          </p:nvSpPr>
          <p:spPr>
            <a:xfrm flipH="false" flipV="false" rot="0">
              <a:off x="0" y="0"/>
              <a:ext cx="4536796" cy="1697356"/>
            </a:xfrm>
            <a:custGeom>
              <a:avLst/>
              <a:gdLst/>
              <a:ahLst/>
              <a:cxnLst/>
              <a:rect r="r" b="b" t="t" l="l"/>
              <a:pathLst>
                <a:path h="1697356" w="4536796">
                  <a:moveTo>
                    <a:pt x="0" y="0"/>
                  </a:moveTo>
                  <a:lnTo>
                    <a:pt x="4536796" y="0"/>
                  </a:lnTo>
                  <a:lnTo>
                    <a:pt x="4536796" y="1697356"/>
                  </a:lnTo>
                  <a:lnTo>
                    <a:pt x="0" y="1697356"/>
                  </a:lnTo>
                  <a:close/>
                </a:path>
              </a:pathLst>
            </a:custGeom>
            <a:blipFill>
              <a:blip r:embed="rId14">
                <a:alphaModFix amt="0"/>
              </a:blip>
              <a:stretch>
                <a:fillRect l="0" t="-2080" r="0" b="-2080"/>
              </a:stretch>
            </a:blipFill>
          </p:spPr>
          <p:txBody>
            <a:bodyPr/>
            <a:p/>
          </p:txBody>
        </p:sp>
        <p:sp>
          <p:nvSpPr>
            <p:cNvPr name="TextBox 33" id="33"/>
            <p:cNvSpPr txBox="true"/>
            <p:nvPr/>
          </p:nvSpPr>
          <p:spPr>
            <a:xfrm>
              <a:off x="0" y="-47625"/>
              <a:ext cx="4536796" cy="1744980"/>
            </a:xfrm>
            <a:prstGeom prst="rect">
              <a:avLst/>
            </a:prstGeom>
          </p:spPr>
          <p:txBody>
            <a:bodyPr anchor="ctr" rtlCol="false" tIns="0" lIns="0" bIns="0" rIns="0"/>
            <a:lstStyle/>
            <a:p>
              <a:pPr algn="ctr">
                <a:lnSpc>
                  <a:spcPts val="2340"/>
                </a:lnSpc>
              </a:pPr>
              <a:r>
                <a:rPr lang="en-US" sz="1950" b="true">
                  <a:solidFill>
                    <a:srgbClr val="13294B"/>
                  </a:solidFill>
                  <a:latin typeface="Calibri (MS) Bold"/>
                  <a:ea typeface="Calibri (MS) Bold"/>
                  <a:cs typeface="Calibri (MS) Bold"/>
                  <a:sym typeface="Calibri (MS) Bold"/>
                </a:rPr>
                <a:t>1 · Tiền xử lý</a:t>
              </a:r>
            </a:p>
            <a:p>
              <a:pPr algn="ctr">
                <a:lnSpc>
                  <a:spcPts val="1889"/>
                </a:lnSpc>
              </a:pPr>
              <a:r>
                <a:rPr lang="en-US" sz="1575">
                  <a:solidFill>
                    <a:srgbClr val="5B677A"/>
                  </a:solidFill>
                  <a:latin typeface="Calibri (MS)"/>
                  <a:ea typeface="Calibri (MS)"/>
                  <a:cs typeface="Calibri (MS)"/>
                  <a:sym typeface="Calibri (MS)"/>
                </a:rPr>
                <a:t>chữ: NFC, chữ thường · ảnh: RGB, resize</a:t>
              </a:r>
            </a:p>
          </p:txBody>
        </p:sp>
      </p:grpSp>
      <p:sp>
        <p:nvSpPr>
          <p:cNvPr name="Freeform 34" id="34"/>
          <p:cNvSpPr/>
          <p:nvPr/>
        </p:nvSpPr>
        <p:spPr>
          <a:xfrm flipH="false" flipV="false" rot="0">
            <a:off x="4538072" y="7911179"/>
            <a:ext cx="513398" cy="444817"/>
          </a:xfrm>
          <a:custGeom>
            <a:avLst/>
            <a:gdLst/>
            <a:ahLst/>
            <a:cxnLst/>
            <a:rect r="r" b="b" t="t" l="l"/>
            <a:pathLst>
              <a:path h="444817" w="513398">
                <a:moveTo>
                  <a:pt x="0" y="0"/>
                </a:moveTo>
                <a:lnTo>
                  <a:pt x="513397" y="0"/>
                </a:lnTo>
                <a:lnTo>
                  <a:pt x="513397" y="444818"/>
                </a:lnTo>
                <a:lnTo>
                  <a:pt x="0" y="444818"/>
                </a:lnTo>
                <a:lnTo>
                  <a:pt x="0" y="0"/>
                </a:lnTo>
                <a:close/>
              </a:path>
            </a:pathLst>
          </a:custGeom>
          <a:blipFill>
            <a:blip r:embed="rId15">
              <a:extLst>
                <a:ext uri="{96DAC541-7B7A-43D3-8B79-37D633B846F1}">
                  <asvg:svgBlip xmlns:asvg="http://schemas.microsoft.com/office/drawing/2016/SVG/main" r:embed="rId16"/>
                </a:ext>
              </a:extLst>
            </a:blip>
            <a:stretch>
              <a:fillRect l="0" t="-229" r="0" b="-226"/>
            </a:stretch>
          </a:blipFill>
        </p:spPr>
        <p:txBody>
          <a:bodyPr/>
          <a:p/>
        </p:txBody>
      </p:sp>
      <p:sp>
        <p:nvSpPr>
          <p:cNvPr name="Freeform 35" id="35"/>
          <p:cNvSpPr/>
          <p:nvPr/>
        </p:nvSpPr>
        <p:spPr>
          <a:xfrm flipH="false" flipV="false" rot="0">
            <a:off x="5155292" y="7527131"/>
            <a:ext cx="3627977" cy="1199197"/>
          </a:xfrm>
          <a:custGeom>
            <a:avLst/>
            <a:gdLst/>
            <a:ahLst/>
            <a:cxnLst/>
            <a:rect r="r" b="b" t="t" l="l"/>
            <a:pathLst>
              <a:path h="1199197" w="3627977">
                <a:moveTo>
                  <a:pt x="0" y="0"/>
                </a:moveTo>
                <a:lnTo>
                  <a:pt x="3627977" y="0"/>
                </a:lnTo>
                <a:lnTo>
                  <a:pt x="3627977" y="1199198"/>
                </a:lnTo>
                <a:lnTo>
                  <a:pt x="0" y="1199198"/>
                </a:lnTo>
                <a:lnTo>
                  <a:pt x="0" y="0"/>
                </a:lnTo>
                <a:close/>
              </a:path>
            </a:pathLst>
          </a:custGeom>
          <a:blipFill>
            <a:blip r:embed="rId9">
              <a:extLst>
                <a:ext uri="{96DAC541-7B7A-43D3-8B79-37D633B846F1}">
                  <asvg:svgBlip xmlns:asvg="http://schemas.microsoft.com/office/drawing/2016/SVG/main" r:embed="rId10"/>
                </a:ext>
              </a:extLst>
            </a:blip>
            <a:stretch>
              <a:fillRect l="0" t="-25" r="0" b="-25"/>
            </a:stretch>
          </a:blipFill>
        </p:spPr>
        <p:txBody>
          <a:bodyPr/>
          <a:p/>
        </p:txBody>
      </p:sp>
      <p:grpSp>
        <p:nvGrpSpPr>
          <p:cNvPr name="Group 36" id="36"/>
          <p:cNvGrpSpPr/>
          <p:nvPr/>
        </p:nvGrpSpPr>
        <p:grpSpPr>
          <a:xfrm rot="0">
            <a:off x="5267973" y="7543800"/>
            <a:ext cx="3402616" cy="1165860"/>
            <a:chOff x="0" y="0"/>
            <a:chExt cx="4536821" cy="1554480"/>
          </a:xfrm>
        </p:grpSpPr>
        <p:sp>
          <p:nvSpPr>
            <p:cNvPr name="Freeform 37" id="37"/>
            <p:cNvSpPr/>
            <p:nvPr/>
          </p:nvSpPr>
          <p:spPr>
            <a:xfrm flipH="false" flipV="false" rot="0">
              <a:off x="0" y="0"/>
              <a:ext cx="4536821" cy="1554480"/>
            </a:xfrm>
            <a:custGeom>
              <a:avLst/>
              <a:gdLst/>
              <a:ahLst/>
              <a:cxnLst/>
              <a:rect r="r" b="b" t="t" l="l"/>
              <a:pathLst>
                <a:path h="1554480" w="4536821">
                  <a:moveTo>
                    <a:pt x="0" y="0"/>
                  </a:moveTo>
                  <a:lnTo>
                    <a:pt x="4536821" y="0"/>
                  </a:lnTo>
                  <a:lnTo>
                    <a:pt x="4536821" y="1554480"/>
                  </a:lnTo>
                  <a:lnTo>
                    <a:pt x="0" y="1554480"/>
                  </a:lnTo>
                  <a:close/>
                </a:path>
              </a:pathLst>
            </a:custGeom>
            <a:blipFill>
              <a:blip r:embed="rId11">
                <a:alphaModFix amt="0"/>
              </a:blip>
              <a:stretch>
                <a:fillRect l="0" t="-6828" r="0" b="-6828"/>
              </a:stretch>
            </a:blipFill>
          </p:spPr>
          <p:txBody>
            <a:bodyPr/>
            <a:p/>
          </p:txBody>
        </p:sp>
      </p:grpSp>
      <p:grpSp>
        <p:nvGrpSpPr>
          <p:cNvPr name="Group 38" id="38"/>
          <p:cNvGrpSpPr/>
          <p:nvPr/>
        </p:nvGrpSpPr>
        <p:grpSpPr>
          <a:xfrm rot="0">
            <a:off x="5267973" y="7508081"/>
            <a:ext cx="3402616" cy="1201579"/>
            <a:chOff x="0" y="0"/>
            <a:chExt cx="4536821" cy="1602105"/>
          </a:xfrm>
        </p:grpSpPr>
        <p:sp>
          <p:nvSpPr>
            <p:cNvPr name="Freeform 39" id="39"/>
            <p:cNvSpPr/>
            <p:nvPr/>
          </p:nvSpPr>
          <p:spPr>
            <a:xfrm flipH="false" flipV="false" rot="0">
              <a:off x="0" y="0"/>
              <a:ext cx="4536821" cy="1602105"/>
            </a:xfrm>
            <a:custGeom>
              <a:avLst/>
              <a:gdLst/>
              <a:ahLst/>
              <a:cxnLst/>
              <a:rect r="r" b="b" t="t" l="l"/>
              <a:pathLst>
                <a:path h="1602105" w="4536821">
                  <a:moveTo>
                    <a:pt x="0" y="0"/>
                  </a:moveTo>
                  <a:lnTo>
                    <a:pt x="4536821" y="0"/>
                  </a:lnTo>
                  <a:lnTo>
                    <a:pt x="4536821" y="1602105"/>
                  </a:lnTo>
                  <a:lnTo>
                    <a:pt x="0" y="1602105"/>
                  </a:lnTo>
                  <a:close/>
                </a:path>
              </a:pathLst>
            </a:custGeom>
            <a:blipFill>
              <a:blip r:embed="rId12">
                <a:alphaModFix amt="0"/>
              </a:blip>
              <a:stretch>
                <a:fillRect l="0" t="-5139" r="0" b="-5139"/>
              </a:stretch>
            </a:blipFill>
          </p:spPr>
          <p:txBody>
            <a:bodyPr/>
            <a:p/>
          </p:txBody>
        </p:sp>
      </p:grpSp>
      <p:grpSp>
        <p:nvGrpSpPr>
          <p:cNvPr name="Group 40" id="40"/>
          <p:cNvGrpSpPr/>
          <p:nvPr/>
        </p:nvGrpSpPr>
        <p:grpSpPr>
          <a:xfrm rot="0">
            <a:off x="5267973" y="7472362"/>
            <a:ext cx="3402597" cy="1237298"/>
            <a:chOff x="0" y="0"/>
            <a:chExt cx="4536796" cy="1649730"/>
          </a:xfrm>
        </p:grpSpPr>
        <p:sp>
          <p:nvSpPr>
            <p:cNvPr name="Freeform 41" id="41"/>
            <p:cNvSpPr/>
            <p:nvPr/>
          </p:nvSpPr>
          <p:spPr>
            <a:xfrm flipH="false" flipV="false" rot="0">
              <a:off x="0" y="0"/>
              <a:ext cx="4536821" cy="1649730"/>
            </a:xfrm>
            <a:custGeom>
              <a:avLst/>
              <a:gdLst/>
              <a:ahLst/>
              <a:cxnLst/>
              <a:rect r="r" b="b" t="t" l="l"/>
              <a:pathLst>
                <a:path h="1649730" w="4536821">
                  <a:moveTo>
                    <a:pt x="0" y="0"/>
                  </a:moveTo>
                  <a:lnTo>
                    <a:pt x="4536821" y="0"/>
                  </a:lnTo>
                  <a:lnTo>
                    <a:pt x="4536821" y="1649730"/>
                  </a:lnTo>
                  <a:lnTo>
                    <a:pt x="0" y="1649730"/>
                  </a:lnTo>
                  <a:close/>
                </a:path>
              </a:pathLst>
            </a:custGeom>
            <a:blipFill>
              <a:blip r:embed="rId13">
                <a:alphaModFix amt="0"/>
              </a:blip>
              <a:stretch>
                <a:fillRect l="0" t="-3547" r="0" b="-3546"/>
              </a:stretch>
            </a:blipFill>
          </p:spPr>
          <p:txBody>
            <a:bodyPr/>
            <a:p/>
          </p:txBody>
        </p:sp>
      </p:grpSp>
      <p:grpSp>
        <p:nvGrpSpPr>
          <p:cNvPr name="Group 42" id="42"/>
          <p:cNvGrpSpPr/>
          <p:nvPr/>
        </p:nvGrpSpPr>
        <p:grpSpPr>
          <a:xfrm rot="0">
            <a:off x="5267973" y="7436644"/>
            <a:ext cx="3402597" cy="1273016"/>
            <a:chOff x="0" y="0"/>
            <a:chExt cx="4536796" cy="1697355"/>
          </a:xfrm>
        </p:grpSpPr>
        <p:sp>
          <p:nvSpPr>
            <p:cNvPr name="Freeform 43" id="43"/>
            <p:cNvSpPr/>
            <p:nvPr/>
          </p:nvSpPr>
          <p:spPr>
            <a:xfrm flipH="false" flipV="false" rot="0">
              <a:off x="0" y="0"/>
              <a:ext cx="4536796" cy="1697356"/>
            </a:xfrm>
            <a:custGeom>
              <a:avLst/>
              <a:gdLst/>
              <a:ahLst/>
              <a:cxnLst/>
              <a:rect r="r" b="b" t="t" l="l"/>
              <a:pathLst>
                <a:path h="1697356" w="4536796">
                  <a:moveTo>
                    <a:pt x="0" y="0"/>
                  </a:moveTo>
                  <a:lnTo>
                    <a:pt x="4536796" y="0"/>
                  </a:lnTo>
                  <a:lnTo>
                    <a:pt x="4536796" y="1697356"/>
                  </a:lnTo>
                  <a:lnTo>
                    <a:pt x="0" y="1697356"/>
                  </a:lnTo>
                  <a:close/>
                </a:path>
              </a:pathLst>
            </a:custGeom>
            <a:blipFill>
              <a:blip r:embed="rId14">
                <a:alphaModFix amt="0"/>
              </a:blip>
              <a:stretch>
                <a:fillRect l="0" t="-2080" r="0" b="-2080"/>
              </a:stretch>
            </a:blipFill>
          </p:spPr>
          <p:txBody>
            <a:bodyPr/>
            <a:p/>
          </p:txBody>
        </p:sp>
        <p:sp>
          <p:nvSpPr>
            <p:cNvPr name="TextBox 44" id="44"/>
            <p:cNvSpPr txBox="true"/>
            <p:nvPr/>
          </p:nvSpPr>
          <p:spPr>
            <a:xfrm>
              <a:off x="0" y="-47625"/>
              <a:ext cx="4536796" cy="1744980"/>
            </a:xfrm>
            <a:prstGeom prst="rect">
              <a:avLst/>
            </a:prstGeom>
          </p:spPr>
          <p:txBody>
            <a:bodyPr anchor="ctr" rtlCol="false" tIns="0" lIns="0" bIns="0" rIns="0"/>
            <a:lstStyle/>
            <a:p>
              <a:pPr algn="ctr">
                <a:lnSpc>
                  <a:spcPts val="2340"/>
                </a:lnSpc>
              </a:pPr>
              <a:r>
                <a:rPr lang="en-US" sz="1950" b="true">
                  <a:solidFill>
                    <a:srgbClr val="13294B"/>
                  </a:solidFill>
                  <a:latin typeface="Calibri (MS) Bold"/>
                  <a:ea typeface="Calibri (MS) Bold"/>
                  <a:cs typeface="Calibri (MS) Bold"/>
                  <a:sym typeface="Calibri (MS) Bold"/>
                </a:rPr>
                <a:t>2 · Cố định split</a:t>
              </a:r>
            </a:p>
            <a:p>
              <a:pPr algn="ctr">
                <a:lnSpc>
                  <a:spcPts val="1889"/>
                </a:lnSpc>
              </a:pPr>
              <a:r>
                <a:rPr lang="en-US" sz="1575">
                  <a:solidFill>
                    <a:srgbClr val="5B677A"/>
                  </a:solidFill>
                  <a:latin typeface="Calibri (MS)"/>
                  <a:ea typeface="Calibri (MS)"/>
                  <a:cs typeface="Calibri (MS)"/>
                  <a:sym typeface="Calibri (MS)"/>
                </a:rPr>
                <a:t>seed 42 / split chính thức</a:t>
              </a:r>
            </a:p>
          </p:txBody>
        </p:sp>
      </p:grpSp>
      <p:sp>
        <p:nvSpPr>
          <p:cNvPr name="Freeform 45" id="45"/>
          <p:cNvSpPr/>
          <p:nvPr/>
        </p:nvSpPr>
        <p:spPr>
          <a:xfrm flipH="false" flipV="false" rot="0">
            <a:off x="8887073" y="7911179"/>
            <a:ext cx="513397" cy="444817"/>
          </a:xfrm>
          <a:custGeom>
            <a:avLst/>
            <a:gdLst/>
            <a:ahLst/>
            <a:cxnLst/>
            <a:rect r="r" b="b" t="t" l="l"/>
            <a:pathLst>
              <a:path h="444817" w="513397">
                <a:moveTo>
                  <a:pt x="0" y="0"/>
                </a:moveTo>
                <a:lnTo>
                  <a:pt x="513397" y="0"/>
                </a:lnTo>
                <a:lnTo>
                  <a:pt x="513397" y="444818"/>
                </a:lnTo>
                <a:lnTo>
                  <a:pt x="0" y="444818"/>
                </a:lnTo>
                <a:lnTo>
                  <a:pt x="0" y="0"/>
                </a:lnTo>
                <a:close/>
              </a:path>
            </a:pathLst>
          </a:custGeom>
          <a:blipFill>
            <a:blip r:embed="rId15">
              <a:extLst>
                <a:ext uri="{96DAC541-7B7A-43D3-8B79-37D633B846F1}">
                  <asvg:svgBlip xmlns:asvg="http://schemas.microsoft.com/office/drawing/2016/SVG/main" r:embed="rId16"/>
                </a:ext>
              </a:extLst>
            </a:blip>
            <a:stretch>
              <a:fillRect l="0" t="-226" r="0" b="-229"/>
            </a:stretch>
          </a:blipFill>
        </p:spPr>
        <p:txBody>
          <a:bodyPr/>
          <a:p/>
        </p:txBody>
      </p:sp>
      <p:sp>
        <p:nvSpPr>
          <p:cNvPr name="Freeform 46" id="46"/>
          <p:cNvSpPr/>
          <p:nvPr/>
        </p:nvSpPr>
        <p:spPr>
          <a:xfrm flipH="false" flipV="false" rot="0">
            <a:off x="9504293" y="7527131"/>
            <a:ext cx="3627977" cy="1199197"/>
          </a:xfrm>
          <a:custGeom>
            <a:avLst/>
            <a:gdLst/>
            <a:ahLst/>
            <a:cxnLst/>
            <a:rect r="r" b="b" t="t" l="l"/>
            <a:pathLst>
              <a:path h="1199197" w="3627977">
                <a:moveTo>
                  <a:pt x="0" y="0"/>
                </a:moveTo>
                <a:lnTo>
                  <a:pt x="3627977" y="0"/>
                </a:lnTo>
                <a:lnTo>
                  <a:pt x="3627977" y="1199198"/>
                </a:lnTo>
                <a:lnTo>
                  <a:pt x="0" y="1199198"/>
                </a:lnTo>
                <a:lnTo>
                  <a:pt x="0" y="0"/>
                </a:lnTo>
                <a:close/>
              </a:path>
            </a:pathLst>
          </a:custGeom>
          <a:blipFill>
            <a:blip r:embed="rId9">
              <a:extLst>
                <a:ext uri="{96DAC541-7B7A-43D3-8B79-37D633B846F1}">
                  <asvg:svgBlip xmlns:asvg="http://schemas.microsoft.com/office/drawing/2016/SVG/main" r:embed="rId10"/>
                </a:ext>
              </a:extLst>
            </a:blip>
            <a:stretch>
              <a:fillRect l="0" t="-25" r="0" b="-25"/>
            </a:stretch>
          </a:blipFill>
        </p:spPr>
        <p:txBody>
          <a:bodyPr/>
          <a:p/>
        </p:txBody>
      </p:sp>
      <p:grpSp>
        <p:nvGrpSpPr>
          <p:cNvPr name="Group 47" id="47"/>
          <p:cNvGrpSpPr/>
          <p:nvPr/>
        </p:nvGrpSpPr>
        <p:grpSpPr>
          <a:xfrm rot="0">
            <a:off x="9616973" y="7543800"/>
            <a:ext cx="3402616" cy="1165860"/>
            <a:chOff x="0" y="0"/>
            <a:chExt cx="4536821" cy="1554480"/>
          </a:xfrm>
        </p:grpSpPr>
        <p:sp>
          <p:nvSpPr>
            <p:cNvPr name="Freeform 48" id="48"/>
            <p:cNvSpPr/>
            <p:nvPr/>
          </p:nvSpPr>
          <p:spPr>
            <a:xfrm flipH="false" flipV="false" rot="0">
              <a:off x="0" y="0"/>
              <a:ext cx="4536821" cy="1554480"/>
            </a:xfrm>
            <a:custGeom>
              <a:avLst/>
              <a:gdLst/>
              <a:ahLst/>
              <a:cxnLst/>
              <a:rect r="r" b="b" t="t" l="l"/>
              <a:pathLst>
                <a:path h="1554480" w="4536821">
                  <a:moveTo>
                    <a:pt x="0" y="0"/>
                  </a:moveTo>
                  <a:lnTo>
                    <a:pt x="4536821" y="0"/>
                  </a:lnTo>
                  <a:lnTo>
                    <a:pt x="4536821" y="1554480"/>
                  </a:lnTo>
                  <a:lnTo>
                    <a:pt x="0" y="1554480"/>
                  </a:lnTo>
                  <a:close/>
                </a:path>
              </a:pathLst>
            </a:custGeom>
            <a:blipFill>
              <a:blip r:embed="rId11">
                <a:alphaModFix amt="0"/>
              </a:blip>
              <a:stretch>
                <a:fillRect l="0" t="-6828" r="0" b="-6828"/>
              </a:stretch>
            </a:blipFill>
          </p:spPr>
          <p:txBody>
            <a:bodyPr/>
            <a:p/>
          </p:txBody>
        </p:sp>
      </p:grpSp>
      <p:grpSp>
        <p:nvGrpSpPr>
          <p:cNvPr name="Group 49" id="49"/>
          <p:cNvGrpSpPr/>
          <p:nvPr/>
        </p:nvGrpSpPr>
        <p:grpSpPr>
          <a:xfrm rot="0">
            <a:off x="9616973" y="7508081"/>
            <a:ext cx="3402616" cy="1201579"/>
            <a:chOff x="0" y="0"/>
            <a:chExt cx="4536821" cy="1602105"/>
          </a:xfrm>
        </p:grpSpPr>
        <p:sp>
          <p:nvSpPr>
            <p:cNvPr name="Freeform 50" id="50"/>
            <p:cNvSpPr/>
            <p:nvPr/>
          </p:nvSpPr>
          <p:spPr>
            <a:xfrm flipH="false" flipV="false" rot="0">
              <a:off x="0" y="0"/>
              <a:ext cx="4536821" cy="1602105"/>
            </a:xfrm>
            <a:custGeom>
              <a:avLst/>
              <a:gdLst/>
              <a:ahLst/>
              <a:cxnLst/>
              <a:rect r="r" b="b" t="t" l="l"/>
              <a:pathLst>
                <a:path h="1602105" w="4536821">
                  <a:moveTo>
                    <a:pt x="0" y="0"/>
                  </a:moveTo>
                  <a:lnTo>
                    <a:pt x="4536821" y="0"/>
                  </a:lnTo>
                  <a:lnTo>
                    <a:pt x="4536821" y="1602105"/>
                  </a:lnTo>
                  <a:lnTo>
                    <a:pt x="0" y="1602105"/>
                  </a:lnTo>
                  <a:close/>
                </a:path>
              </a:pathLst>
            </a:custGeom>
            <a:blipFill>
              <a:blip r:embed="rId12">
                <a:alphaModFix amt="0"/>
              </a:blip>
              <a:stretch>
                <a:fillRect l="0" t="-5139" r="0" b="-5139"/>
              </a:stretch>
            </a:blipFill>
          </p:spPr>
          <p:txBody>
            <a:bodyPr/>
            <a:p/>
          </p:txBody>
        </p:sp>
      </p:grpSp>
      <p:grpSp>
        <p:nvGrpSpPr>
          <p:cNvPr name="Group 51" id="51"/>
          <p:cNvGrpSpPr/>
          <p:nvPr/>
        </p:nvGrpSpPr>
        <p:grpSpPr>
          <a:xfrm rot="0">
            <a:off x="9616973" y="7472362"/>
            <a:ext cx="3402597" cy="1237298"/>
            <a:chOff x="0" y="0"/>
            <a:chExt cx="4536796" cy="1649730"/>
          </a:xfrm>
        </p:grpSpPr>
        <p:sp>
          <p:nvSpPr>
            <p:cNvPr name="Freeform 52" id="52"/>
            <p:cNvSpPr/>
            <p:nvPr/>
          </p:nvSpPr>
          <p:spPr>
            <a:xfrm flipH="false" flipV="false" rot="0">
              <a:off x="0" y="0"/>
              <a:ext cx="4536821" cy="1649730"/>
            </a:xfrm>
            <a:custGeom>
              <a:avLst/>
              <a:gdLst/>
              <a:ahLst/>
              <a:cxnLst/>
              <a:rect r="r" b="b" t="t" l="l"/>
              <a:pathLst>
                <a:path h="1649730" w="4536821">
                  <a:moveTo>
                    <a:pt x="0" y="0"/>
                  </a:moveTo>
                  <a:lnTo>
                    <a:pt x="4536821" y="0"/>
                  </a:lnTo>
                  <a:lnTo>
                    <a:pt x="4536821" y="1649730"/>
                  </a:lnTo>
                  <a:lnTo>
                    <a:pt x="0" y="1649730"/>
                  </a:lnTo>
                  <a:close/>
                </a:path>
              </a:pathLst>
            </a:custGeom>
            <a:blipFill>
              <a:blip r:embed="rId13">
                <a:alphaModFix amt="0"/>
              </a:blip>
              <a:stretch>
                <a:fillRect l="0" t="-3547" r="0" b="-3546"/>
              </a:stretch>
            </a:blipFill>
          </p:spPr>
          <p:txBody>
            <a:bodyPr/>
            <a:p/>
          </p:txBody>
        </p:sp>
      </p:grpSp>
      <p:grpSp>
        <p:nvGrpSpPr>
          <p:cNvPr name="Group 53" id="53"/>
          <p:cNvGrpSpPr/>
          <p:nvPr/>
        </p:nvGrpSpPr>
        <p:grpSpPr>
          <a:xfrm rot="0">
            <a:off x="9616973" y="7436644"/>
            <a:ext cx="3402597" cy="1273016"/>
            <a:chOff x="0" y="0"/>
            <a:chExt cx="4536796" cy="1697355"/>
          </a:xfrm>
        </p:grpSpPr>
        <p:sp>
          <p:nvSpPr>
            <p:cNvPr name="Freeform 54" id="54"/>
            <p:cNvSpPr/>
            <p:nvPr/>
          </p:nvSpPr>
          <p:spPr>
            <a:xfrm flipH="false" flipV="false" rot="0">
              <a:off x="0" y="0"/>
              <a:ext cx="4536796" cy="1697356"/>
            </a:xfrm>
            <a:custGeom>
              <a:avLst/>
              <a:gdLst/>
              <a:ahLst/>
              <a:cxnLst/>
              <a:rect r="r" b="b" t="t" l="l"/>
              <a:pathLst>
                <a:path h="1697356" w="4536796">
                  <a:moveTo>
                    <a:pt x="0" y="0"/>
                  </a:moveTo>
                  <a:lnTo>
                    <a:pt x="4536796" y="0"/>
                  </a:lnTo>
                  <a:lnTo>
                    <a:pt x="4536796" y="1697356"/>
                  </a:lnTo>
                  <a:lnTo>
                    <a:pt x="0" y="1697356"/>
                  </a:lnTo>
                  <a:close/>
                </a:path>
              </a:pathLst>
            </a:custGeom>
            <a:blipFill>
              <a:blip r:embed="rId14">
                <a:alphaModFix amt="0"/>
              </a:blip>
              <a:stretch>
                <a:fillRect l="0" t="-2080" r="0" b="-2080"/>
              </a:stretch>
            </a:blipFill>
          </p:spPr>
          <p:txBody>
            <a:bodyPr/>
            <a:p/>
          </p:txBody>
        </p:sp>
        <p:sp>
          <p:nvSpPr>
            <p:cNvPr name="TextBox 55" id="55"/>
            <p:cNvSpPr txBox="true"/>
            <p:nvPr/>
          </p:nvSpPr>
          <p:spPr>
            <a:xfrm>
              <a:off x="0" y="-47625"/>
              <a:ext cx="4536796" cy="1744980"/>
            </a:xfrm>
            <a:prstGeom prst="rect">
              <a:avLst/>
            </a:prstGeom>
          </p:spPr>
          <p:txBody>
            <a:bodyPr anchor="ctr" rtlCol="false" tIns="0" lIns="0" bIns="0" rIns="0"/>
            <a:lstStyle/>
            <a:p>
              <a:pPr algn="ctr">
                <a:lnSpc>
                  <a:spcPts val="2340"/>
                </a:lnSpc>
              </a:pPr>
              <a:r>
                <a:rPr lang="en-US" sz="1950" b="true">
                  <a:solidFill>
                    <a:srgbClr val="13294B"/>
                  </a:solidFill>
                  <a:latin typeface="Calibri (MS) Bold"/>
                  <a:ea typeface="Calibri (MS) Bold"/>
                  <a:cs typeface="Calibri (MS) Bold"/>
                  <a:sym typeface="Calibri (MS) Bold"/>
                </a:rPr>
                <a:t>3 · Chọn cấu hình</a:t>
              </a:r>
            </a:p>
            <a:p>
              <a:pPr algn="ctr">
                <a:lnSpc>
                  <a:spcPts val="1889"/>
                </a:lnSpc>
              </a:pPr>
              <a:r>
                <a:rPr lang="en-US" sz="1575">
                  <a:solidFill>
                    <a:srgbClr val="5B677A"/>
                  </a:solidFill>
                  <a:latin typeface="Calibri (MS)"/>
                  <a:ea typeface="Calibri (MS)"/>
                  <a:cs typeface="Calibri (MS)"/>
                  <a:sym typeface="Calibri (MS)"/>
                </a:rPr>
                <a:t>trên val / dev (vd: epoch, cấu hình OCR)</a:t>
              </a:r>
            </a:p>
          </p:txBody>
        </p:sp>
      </p:grpSp>
      <p:sp>
        <p:nvSpPr>
          <p:cNvPr name="Freeform 56" id="56"/>
          <p:cNvSpPr/>
          <p:nvPr/>
        </p:nvSpPr>
        <p:spPr>
          <a:xfrm flipH="false" flipV="false" rot="0">
            <a:off x="13236073" y="7911179"/>
            <a:ext cx="513397" cy="444817"/>
          </a:xfrm>
          <a:custGeom>
            <a:avLst/>
            <a:gdLst/>
            <a:ahLst/>
            <a:cxnLst/>
            <a:rect r="r" b="b" t="t" l="l"/>
            <a:pathLst>
              <a:path h="444817" w="513397">
                <a:moveTo>
                  <a:pt x="0" y="0"/>
                </a:moveTo>
                <a:lnTo>
                  <a:pt x="513398" y="0"/>
                </a:lnTo>
                <a:lnTo>
                  <a:pt x="513398" y="444818"/>
                </a:lnTo>
                <a:lnTo>
                  <a:pt x="0" y="444818"/>
                </a:lnTo>
                <a:lnTo>
                  <a:pt x="0" y="0"/>
                </a:lnTo>
                <a:close/>
              </a:path>
            </a:pathLst>
          </a:custGeom>
          <a:blipFill>
            <a:blip r:embed="rId15">
              <a:extLst>
                <a:ext uri="{96DAC541-7B7A-43D3-8B79-37D633B846F1}">
                  <asvg:svgBlip xmlns:asvg="http://schemas.microsoft.com/office/drawing/2016/SVG/main" r:embed="rId16"/>
                </a:ext>
              </a:extLst>
            </a:blip>
            <a:stretch>
              <a:fillRect l="0" t="-226" r="0" b="-229"/>
            </a:stretch>
          </a:blipFill>
        </p:spPr>
        <p:txBody>
          <a:bodyPr/>
          <a:p/>
        </p:txBody>
      </p:sp>
      <p:sp>
        <p:nvSpPr>
          <p:cNvPr name="Freeform 57" id="57"/>
          <p:cNvSpPr/>
          <p:nvPr/>
        </p:nvSpPr>
        <p:spPr>
          <a:xfrm flipH="false" flipV="false" rot="0">
            <a:off x="13853293" y="7527131"/>
            <a:ext cx="3627977" cy="1199197"/>
          </a:xfrm>
          <a:custGeom>
            <a:avLst/>
            <a:gdLst/>
            <a:ahLst/>
            <a:cxnLst/>
            <a:rect r="r" b="b" t="t" l="l"/>
            <a:pathLst>
              <a:path h="1199197" w="3627977">
                <a:moveTo>
                  <a:pt x="0" y="0"/>
                </a:moveTo>
                <a:lnTo>
                  <a:pt x="3627978" y="0"/>
                </a:lnTo>
                <a:lnTo>
                  <a:pt x="3627978" y="1199198"/>
                </a:lnTo>
                <a:lnTo>
                  <a:pt x="0" y="1199198"/>
                </a:lnTo>
                <a:lnTo>
                  <a:pt x="0" y="0"/>
                </a:lnTo>
                <a:close/>
              </a:path>
            </a:pathLst>
          </a:custGeom>
          <a:blipFill>
            <a:blip r:embed="rId17">
              <a:extLst>
                <a:ext uri="{96DAC541-7B7A-43D3-8B79-37D633B846F1}">
                  <asvg:svgBlip xmlns:asvg="http://schemas.microsoft.com/office/drawing/2016/SVG/main" r:embed="rId18"/>
                </a:ext>
              </a:extLst>
            </a:blip>
            <a:stretch>
              <a:fillRect l="0" t="-25" r="0" b="-25"/>
            </a:stretch>
          </a:blipFill>
        </p:spPr>
        <p:txBody>
          <a:bodyPr/>
          <a:p/>
        </p:txBody>
      </p:sp>
      <p:grpSp>
        <p:nvGrpSpPr>
          <p:cNvPr name="Group 58" id="58"/>
          <p:cNvGrpSpPr/>
          <p:nvPr/>
        </p:nvGrpSpPr>
        <p:grpSpPr>
          <a:xfrm rot="0">
            <a:off x="13965974" y="7543800"/>
            <a:ext cx="3402616" cy="1165860"/>
            <a:chOff x="0" y="0"/>
            <a:chExt cx="4536821" cy="1554480"/>
          </a:xfrm>
        </p:grpSpPr>
        <p:sp>
          <p:nvSpPr>
            <p:cNvPr name="Freeform 59" id="59"/>
            <p:cNvSpPr/>
            <p:nvPr/>
          </p:nvSpPr>
          <p:spPr>
            <a:xfrm flipH="false" flipV="false" rot="0">
              <a:off x="0" y="0"/>
              <a:ext cx="4536821" cy="1554480"/>
            </a:xfrm>
            <a:custGeom>
              <a:avLst/>
              <a:gdLst/>
              <a:ahLst/>
              <a:cxnLst/>
              <a:rect r="r" b="b" t="t" l="l"/>
              <a:pathLst>
                <a:path h="1554480" w="4536821">
                  <a:moveTo>
                    <a:pt x="0" y="0"/>
                  </a:moveTo>
                  <a:lnTo>
                    <a:pt x="4536821" y="0"/>
                  </a:lnTo>
                  <a:lnTo>
                    <a:pt x="4536821" y="1554480"/>
                  </a:lnTo>
                  <a:lnTo>
                    <a:pt x="0" y="1554480"/>
                  </a:lnTo>
                  <a:close/>
                </a:path>
              </a:pathLst>
            </a:custGeom>
            <a:blipFill>
              <a:blip r:embed="rId11">
                <a:alphaModFix amt="0"/>
              </a:blip>
              <a:stretch>
                <a:fillRect l="0" t="-6828" r="0" b="-6828"/>
              </a:stretch>
            </a:blipFill>
          </p:spPr>
          <p:txBody>
            <a:bodyPr/>
            <a:p/>
          </p:txBody>
        </p:sp>
      </p:grpSp>
      <p:grpSp>
        <p:nvGrpSpPr>
          <p:cNvPr name="Group 60" id="60"/>
          <p:cNvGrpSpPr/>
          <p:nvPr/>
        </p:nvGrpSpPr>
        <p:grpSpPr>
          <a:xfrm rot="0">
            <a:off x="13965974" y="7508081"/>
            <a:ext cx="3402616" cy="1201579"/>
            <a:chOff x="0" y="0"/>
            <a:chExt cx="4536821" cy="1602105"/>
          </a:xfrm>
        </p:grpSpPr>
        <p:sp>
          <p:nvSpPr>
            <p:cNvPr name="Freeform 61" id="61"/>
            <p:cNvSpPr/>
            <p:nvPr/>
          </p:nvSpPr>
          <p:spPr>
            <a:xfrm flipH="false" flipV="false" rot="0">
              <a:off x="0" y="0"/>
              <a:ext cx="4536821" cy="1602105"/>
            </a:xfrm>
            <a:custGeom>
              <a:avLst/>
              <a:gdLst/>
              <a:ahLst/>
              <a:cxnLst/>
              <a:rect r="r" b="b" t="t" l="l"/>
              <a:pathLst>
                <a:path h="1602105" w="4536821">
                  <a:moveTo>
                    <a:pt x="0" y="0"/>
                  </a:moveTo>
                  <a:lnTo>
                    <a:pt x="4536821" y="0"/>
                  </a:lnTo>
                  <a:lnTo>
                    <a:pt x="4536821" y="1602105"/>
                  </a:lnTo>
                  <a:lnTo>
                    <a:pt x="0" y="1602105"/>
                  </a:lnTo>
                  <a:close/>
                </a:path>
              </a:pathLst>
            </a:custGeom>
            <a:blipFill>
              <a:blip r:embed="rId12">
                <a:alphaModFix amt="0"/>
              </a:blip>
              <a:stretch>
                <a:fillRect l="0" t="-5139" r="0" b="-5139"/>
              </a:stretch>
            </a:blipFill>
          </p:spPr>
          <p:txBody>
            <a:bodyPr/>
            <a:p/>
          </p:txBody>
        </p:sp>
      </p:grpSp>
      <p:grpSp>
        <p:nvGrpSpPr>
          <p:cNvPr name="Group 62" id="62"/>
          <p:cNvGrpSpPr/>
          <p:nvPr/>
        </p:nvGrpSpPr>
        <p:grpSpPr>
          <a:xfrm rot="0">
            <a:off x="13965974" y="7472362"/>
            <a:ext cx="3402597" cy="1237298"/>
            <a:chOff x="0" y="0"/>
            <a:chExt cx="4536796" cy="1649730"/>
          </a:xfrm>
        </p:grpSpPr>
        <p:sp>
          <p:nvSpPr>
            <p:cNvPr name="Freeform 63" id="63"/>
            <p:cNvSpPr/>
            <p:nvPr/>
          </p:nvSpPr>
          <p:spPr>
            <a:xfrm flipH="false" flipV="false" rot="0">
              <a:off x="0" y="0"/>
              <a:ext cx="4536821" cy="1649730"/>
            </a:xfrm>
            <a:custGeom>
              <a:avLst/>
              <a:gdLst/>
              <a:ahLst/>
              <a:cxnLst/>
              <a:rect r="r" b="b" t="t" l="l"/>
              <a:pathLst>
                <a:path h="1649730" w="4536821">
                  <a:moveTo>
                    <a:pt x="0" y="0"/>
                  </a:moveTo>
                  <a:lnTo>
                    <a:pt x="4536821" y="0"/>
                  </a:lnTo>
                  <a:lnTo>
                    <a:pt x="4536821" y="1649730"/>
                  </a:lnTo>
                  <a:lnTo>
                    <a:pt x="0" y="1649730"/>
                  </a:lnTo>
                  <a:close/>
                </a:path>
              </a:pathLst>
            </a:custGeom>
            <a:blipFill>
              <a:blip r:embed="rId13">
                <a:alphaModFix amt="0"/>
              </a:blip>
              <a:stretch>
                <a:fillRect l="0" t="-3547" r="0" b="-3546"/>
              </a:stretch>
            </a:blipFill>
          </p:spPr>
          <p:txBody>
            <a:bodyPr/>
            <a:p/>
          </p:txBody>
        </p:sp>
      </p:grpSp>
      <p:grpSp>
        <p:nvGrpSpPr>
          <p:cNvPr name="Group 64" id="64"/>
          <p:cNvGrpSpPr/>
          <p:nvPr/>
        </p:nvGrpSpPr>
        <p:grpSpPr>
          <a:xfrm rot="0">
            <a:off x="13965974" y="7436644"/>
            <a:ext cx="3402597" cy="1273016"/>
            <a:chOff x="0" y="0"/>
            <a:chExt cx="4536796" cy="1697355"/>
          </a:xfrm>
        </p:grpSpPr>
        <p:sp>
          <p:nvSpPr>
            <p:cNvPr name="Freeform 65" id="65"/>
            <p:cNvSpPr/>
            <p:nvPr/>
          </p:nvSpPr>
          <p:spPr>
            <a:xfrm flipH="false" flipV="false" rot="0">
              <a:off x="0" y="0"/>
              <a:ext cx="4536796" cy="1697356"/>
            </a:xfrm>
            <a:custGeom>
              <a:avLst/>
              <a:gdLst/>
              <a:ahLst/>
              <a:cxnLst/>
              <a:rect r="r" b="b" t="t" l="l"/>
              <a:pathLst>
                <a:path h="1697356" w="4536796">
                  <a:moveTo>
                    <a:pt x="0" y="0"/>
                  </a:moveTo>
                  <a:lnTo>
                    <a:pt x="4536796" y="0"/>
                  </a:lnTo>
                  <a:lnTo>
                    <a:pt x="4536796" y="1697356"/>
                  </a:lnTo>
                  <a:lnTo>
                    <a:pt x="0" y="1697356"/>
                  </a:lnTo>
                  <a:close/>
                </a:path>
              </a:pathLst>
            </a:custGeom>
            <a:blipFill>
              <a:blip r:embed="rId14">
                <a:alphaModFix amt="0"/>
              </a:blip>
              <a:stretch>
                <a:fillRect l="0" t="-2080" r="0" b="-2080"/>
              </a:stretch>
            </a:blipFill>
          </p:spPr>
          <p:txBody>
            <a:bodyPr/>
            <a:p/>
          </p:txBody>
        </p:sp>
        <p:sp>
          <p:nvSpPr>
            <p:cNvPr name="TextBox 66" id="66"/>
            <p:cNvSpPr txBox="true"/>
            <p:nvPr/>
          </p:nvSpPr>
          <p:spPr>
            <a:xfrm>
              <a:off x="0" y="-47625"/>
              <a:ext cx="4536796" cy="1744980"/>
            </a:xfrm>
            <a:prstGeom prst="rect">
              <a:avLst/>
            </a:prstGeom>
          </p:spPr>
          <p:txBody>
            <a:bodyPr anchor="ctr" rtlCol="false" tIns="0" lIns="0" bIns="0" rIns="0"/>
            <a:lstStyle/>
            <a:p>
              <a:pPr algn="ctr">
                <a:lnSpc>
                  <a:spcPts val="2340"/>
                </a:lnSpc>
              </a:pPr>
              <a:r>
                <a:rPr lang="en-US" sz="1950" b="true">
                  <a:solidFill>
                    <a:srgbClr val="13294B"/>
                  </a:solidFill>
                  <a:latin typeface="Calibri (MS) Bold"/>
                  <a:ea typeface="Calibri (MS) Bold"/>
                  <a:cs typeface="Calibri (MS) Bold"/>
                  <a:sym typeface="Calibri (MS) Bold"/>
                </a:rPr>
                <a:t>4 · Báo cáo</a:t>
              </a:r>
            </a:p>
            <a:p>
              <a:pPr algn="ctr">
                <a:lnSpc>
                  <a:spcPts val="1889"/>
                </a:lnSpc>
              </a:pPr>
              <a:r>
                <a:rPr lang="en-US" sz="1575">
                  <a:solidFill>
                    <a:srgbClr val="5B677A"/>
                  </a:solidFill>
                  <a:latin typeface="Calibri (MS)"/>
                  <a:ea typeface="Calibri (MS)"/>
                  <a:cs typeface="Calibri (MS)"/>
                  <a:sym typeface="Calibri (MS)"/>
                </a:rPr>
                <a:t>trên test — không dùng để chọn</a:t>
              </a:r>
            </a:p>
          </p:txBody>
        </p:sp>
      </p:grpSp>
      <p:grpSp>
        <p:nvGrpSpPr>
          <p:cNvPr name="Group 67" id="67"/>
          <p:cNvGrpSpPr/>
          <p:nvPr/>
        </p:nvGrpSpPr>
        <p:grpSpPr>
          <a:xfrm rot="0">
            <a:off x="1188006" y="5810298"/>
            <a:ext cx="5296757" cy="531781"/>
            <a:chOff x="0" y="0"/>
            <a:chExt cx="7062343" cy="709041"/>
          </a:xfrm>
        </p:grpSpPr>
        <p:sp>
          <p:nvSpPr>
            <p:cNvPr name="Freeform 68" id="68"/>
            <p:cNvSpPr/>
            <p:nvPr/>
          </p:nvSpPr>
          <p:spPr>
            <a:xfrm flipH="false" flipV="false" rot="0">
              <a:off x="0" y="0"/>
              <a:ext cx="7062343" cy="709041"/>
            </a:xfrm>
            <a:custGeom>
              <a:avLst/>
              <a:gdLst/>
              <a:ahLst/>
              <a:cxnLst/>
              <a:rect r="r" b="b" t="t" l="l"/>
              <a:pathLst>
                <a:path h="709041" w="7062343">
                  <a:moveTo>
                    <a:pt x="0" y="0"/>
                  </a:moveTo>
                  <a:lnTo>
                    <a:pt x="7062343" y="0"/>
                  </a:lnTo>
                  <a:lnTo>
                    <a:pt x="7062343" y="709041"/>
                  </a:lnTo>
                  <a:lnTo>
                    <a:pt x="0" y="709041"/>
                  </a:lnTo>
                  <a:close/>
                </a:path>
              </a:pathLst>
            </a:custGeom>
            <a:solidFill>
              <a:srgbClr val="13294B"/>
            </a:solidFill>
            <a:ln w="28575" cap="sq">
              <a:solidFill>
                <a:srgbClr val="FFFFFF"/>
              </a:solidFill>
              <a:prstDash val="solid"/>
              <a:miter/>
            </a:ln>
          </p:spPr>
          <p:txBody>
            <a:bodyPr/>
            <a:p/>
          </p:txBody>
        </p:sp>
      </p:grpSp>
      <p:grpSp>
        <p:nvGrpSpPr>
          <p:cNvPr name="Group 69" id="69"/>
          <p:cNvGrpSpPr/>
          <p:nvPr/>
        </p:nvGrpSpPr>
        <p:grpSpPr>
          <a:xfrm rot="0">
            <a:off x="1220152" y="5821013"/>
            <a:ext cx="5232464" cy="488918"/>
            <a:chOff x="0" y="0"/>
            <a:chExt cx="6976618" cy="651891"/>
          </a:xfrm>
        </p:grpSpPr>
        <p:sp>
          <p:nvSpPr>
            <p:cNvPr name="Freeform 70" id="70"/>
            <p:cNvSpPr/>
            <p:nvPr/>
          </p:nvSpPr>
          <p:spPr>
            <a:xfrm flipH="false" flipV="false" rot="0">
              <a:off x="0" y="0"/>
              <a:ext cx="6976618" cy="651891"/>
            </a:xfrm>
            <a:custGeom>
              <a:avLst/>
              <a:gdLst/>
              <a:ahLst/>
              <a:cxnLst/>
              <a:rect r="r" b="b" t="t" l="l"/>
              <a:pathLst>
                <a:path h="651891" w="6976618">
                  <a:moveTo>
                    <a:pt x="0" y="0"/>
                  </a:moveTo>
                  <a:lnTo>
                    <a:pt x="6976618" y="0"/>
                  </a:lnTo>
                  <a:lnTo>
                    <a:pt x="6976618" y="651891"/>
                  </a:lnTo>
                  <a:lnTo>
                    <a:pt x="0" y="651891"/>
                  </a:lnTo>
                  <a:close/>
                </a:path>
              </a:pathLst>
            </a:custGeom>
            <a:blipFill>
              <a:blip r:embed="rId12">
                <a:alphaModFix amt="0"/>
              </a:blip>
              <a:stretch>
                <a:fillRect l="0" t="-158386" r="0" b="-158384"/>
              </a:stretch>
            </a:blipFill>
          </p:spPr>
          <p:txBody>
            <a:bodyPr/>
            <a:p/>
          </p:txBody>
        </p:sp>
      </p:grpSp>
      <p:grpSp>
        <p:nvGrpSpPr>
          <p:cNvPr name="Group 71" id="71"/>
          <p:cNvGrpSpPr/>
          <p:nvPr/>
        </p:nvGrpSpPr>
        <p:grpSpPr>
          <a:xfrm rot="0">
            <a:off x="1220152" y="5799582"/>
            <a:ext cx="5232492" cy="510350"/>
            <a:chOff x="0" y="0"/>
            <a:chExt cx="6976656" cy="680466"/>
          </a:xfrm>
        </p:grpSpPr>
        <p:sp>
          <p:nvSpPr>
            <p:cNvPr name="Freeform 72" id="72"/>
            <p:cNvSpPr/>
            <p:nvPr/>
          </p:nvSpPr>
          <p:spPr>
            <a:xfrm flipH="false" flipV="false" rot="0">
              <a:off x="0" y="0"/>
              <a:ext cx="6976618" cy="680466"/>
            </a:xfrm>
            <a:custGeom>
              <a:avLst/>
              <a:gdLst/>
              <a:ahLst/>
              <a:cxnLst/>
              <a:rect r="r" b="b" t="t" l="l"/>
              <a:pathLst>
                <a:path h="680466" w="6976618">
                  <a:moveTo>
                    <a:pt x="0" y="0"/>
                  </a:moveTo>
                  <a:lnTo>
                    <a:pt x="6976618" y="0"/>
                  </a:lnTo>
                  <a:lnTo>
                    <a:pt x="6976618" y="680466"/>
                  </a:lnTo>
                  <a:lnTo>
                    <a:pt x="0" y="680466"/>
                  </a:lnTo>
                  <a:close/>
                </a:path>
              </a:pathLst>
            </a:custGeom>
            <a:blipFill>
              <a:blip r:embed="rId13">
                <a:alphaModFix amt="0"/>
              </a:blip>
              <a:stretch>
                <a:fillRect l="0" t="-149636" r="0" b="-149637"/>
              </a:stretch>
            </a:blipFill>
          </p:spPr>
          <p:txBody>
            <a:bodyPr/>
            <a:p/>
          </p:txBody>
        </p:sp>
      </p:grpSp>
      <p:grpSp>
        <p:nvGrpSpPr>
          <p:cNvPr name="Group 73" id="73"/>
          <p:cNvGrpSpPr/>
          <p:nvPr/>
        </p:nvGrpSpPr>
        <p:grpSpPr>
          <a:xfrm rot="0">
            <a:off x="1220152" y="5778151"/>
            <a:ext cx="5232492" cy="531781"/>
            <a:chOff x="0" y="0"/>
            <a:chExt cx="6976656" cy="709041"/>
          </a:xfrm>
        </p:grpSpPr>
        <p:sp>
          <p:nvSpPr>
            <p:cNvPr name="Freeform 74" id="74"/>
            <p:cNvSpPr/>
            <p:nvPr/>
          </p:nvSpPr>
          <p:spPr>
            <a:xfrm flipH="false" flipV="false" rot="0">
              <a:off x="0" y="0"/>
              <a:ext cx="6976656" cy="709042"/>
            </a:xfrm>
            <a:custGeom>
              <a:avLst/>
              <a:gdLst/>
              <a:ahLst/>
              <a:cxnLst/>
              <a:rect r="r" b="b" t="t" l="l"/>
              <a:pathLst>
                <a:path h="709042" w="6976656">
                  <a:moveTo>
                    <a:pt x="0" y="0"/>
                  </a:moveTo>
                  <a:lnTo>
                    <a:pt x="6976656" y="0"/>
                  </a:lnTo>
                  <a:lnTo>
                    <a:pt x="6976656" y="709042"/>
                  </a:lnTo>
                  <a:lnTo>
                    <a:pt x="0" y="709042"/>
                  </a:lnTo>
                  <a:close/>
                </a:path>
              </a:pathLst>
            </a:custGeom>
            <a:blipFill>
              <a:blip r:embed="rId14">
                <a:alphaModFix amt="0"/>
              </a:blip>
              <a:stretch>
                <a:fillRect l="0" t="-141724" r="0" b="-141724"/>
              </a:stretch>
            </a:blipFill>
          </p:spPr>
          <p:txBody>
            <a:bodyPr/>
            <a:p/>
          </p:txBody>
        </p:sp>
        <p:sp>
          <p:nvSpPr>
            <p:cNvPr name="TextBox 75" id="75"/>
            <p:cNvSpPr txBox="true"/>
            <p:nvPr/>
          </p:nvSpPr>
          <p:spPr>
            <a:xfrm>
              <a:off x="0" y="-28575"/>
              <a:ext cx="6976656" cy="737616"/>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train 72%</a:t>
              </a:r>
            </a:p>
          </p:txBody>
        </p:sp>
      </p:grpSp>
      <p:grpSp>
        <p:nvGrpSpPr>
          <p:cNvPr name="Group 76" id="76"/>
          <p:cNvGrpSpPr/>
          <p:nvPr/>
        </p:nvGrpSpPr>
        <p:grpSpPr>
          <a:xfrm rot="0">
            <a:off x="6391923" y="5810298"/>
            <a:ext cx="671132" cy="531781"/>
            <a:chOff x="0" y="0"/>
            <a:chExt cx="894842" cy="709041"/>
          </a:xfrm>
        </p:grpSpPr>
        <p:sp>
          <p:nvSpPr>
            <p:cNvPr name="Freeform 77" id="77"/>
            <p:cNvSpPr/>
            <p:nvPr/>
          </p:nvSpPr>
          <p:spPr>
            <a:xfrm flipH="false" flipV="false" rot="0">
              <a:off x="0" y="0"/>
              <a:ext cx="894842" cy="709041"/>
            </a:xfrm>
            <a:custGeom>
              <a:avLst/>
              <a:gdLst/>
              <a:ahLst/>
              <a:cxnLst/>
              <a:rect r="r" b="b" t="t" l="l"/>
              <a:pathLst>
                <a:path h="709041" w="894842">
                  <a:moveTo>
                    <a:pt x="0" y="0"/>
                  </a:moveTo>
                  <a:lnTo>
                    <a:pt x="894842" y="0"/>
                  </a:lnTo>
                  <a:lnTo>
                    <a:pt x="894842" y="709041"/>
                  </a:lnTo>
                  <a:lnTo>
                    <a:pt x="0" y="709041"/>
                  </a:lnTo>
                  <a:close/>
                </a:path>
              </a:pathLst>
            </a:custGeom>
            <a:solidFill>
              <a:srgbClr val="E8A33D"/>
            </a:solidFill>
            <a:ln w="28575" cap="sq">
              <a:solidFill>
                <a:srgbClr val="FFFFFF"/>
              </a:solidFill>
              <a:prstDash val="solid"/>
              <a:miter/>
            </a:ln>
          </p:spPr>
          <p:txBody>
            <a:bodyPr/>
            <a:p/>
          </p:txBody>
        </p:sp>
      </p:grpSp>
      <p:grpSp>
        <p:nvGrpSpPr>
          <p:cNvPr name="Group 78" id="78"/>
          <p:cNvGrpSpPr/>
          <p:nvPr/>
        </p:nvGrpSpPr>
        <p:grpSpPr>
          <a:xfrm rot="0">
            <a:off x="6424070" y="5821013"/>
            <a:ext cx="606838" cy="488918"/>
            <a:chOff x="0" y="0"/>
            <a:chExt cx="809117" cy="651891"/>
          </a:xfrm>
        </p:grpSpPr>
        <p:sp>
          <p:nvSpPr>
            <p:cNvPr name="Freeform 79" id="79"/>
            <p:cNvSpPr/>
            <p:nvPr/>
          </p:nvSpPr>
          <p:spPr>
            <a:xfrm flipH="false" flipV="false" rot="0">
              <a:off x="0" y="0"/>
              <a:ext cx="809117" cy="651891"/>
            </a:xfrm>
            <a:custGeom>
              <a:avLst/>
              <a:gdLst/>
              <a:ahLst/>
              <a:cxnLst/>
              <a:rect r="r" b="b" t="t" l="l"/>
              <a:pathLst>
                <a:path h="651891" w="809117">
                  <a:moveTo>
                    <a:pt x="0" y="0"/>
                  </a:moveTo>
                  <a:lnTo>
                    <a:pt x="809117" y="0"/>
                  </a:lnTo>
                  <a:lnTo>
                    <a:pt x="809117" y="651891"/>
                  </a:lnTo>
                  <a:lnTo>
                    <a:pt x="0" y="651891"/>
                  </a:lnTo>
                  <a:close/>
                </a:path>
              </a:pathLst>
            </a:custGeom>
            <a:blipFill>
              <a:blip r:embed="rId12">
                <a:alphaModFix amt="0"/>
              </a:blip>
              <a:stretch>
                <a:fillRect l="-53443" t="0" r="-53443" b="0"/>
              </a:stretch>
            </a:blipFill>
          </p:spPr>
          <p:txBody>
            <a:bodyPr/>
            <a:p/>
          </p:txBody>
        </p:sp>
      </p:grpSp>
      <p:grpSp>
        <p:nvGrpSpPr>
          <p:cNvPr name="Group 80" id="80"/>
          <p:cNvGrpSpPr/>
          <p:nvPr/>
        </p:nvGrpSpPr>
        <p:grpSpPr>
          <a:xfrm rot="0">
            <a:off x="6424070" y="5799582"/>
            <a:ext cx="606838" cy="510350"/>
            <a:chOff x="0" y="0"/>
            <a:chExt cx="809117" cy="680466"/>
          </a:xfrm>
        </p:grpSpPr>
        <p:sp>
          <p:nvSpPr>
            <p:cNvPr name="Freeform 81" id="81"/>
            <p:cNvSpPr/>
            <p:nvPr/>
          </p:nvSpPr>
          <p:spPr>
            <a:xfrm flipH="false" flipV="false" rot="0">
              <a:off x="0" y="0"/>
              <a:ext cx="809117" cy="680466"/>
            </a:xfrm>
            <a:custGeom>
              <a:avLst/>
              <a:gdLst/>
              <a:ahLst/>
              <a:cxnLst/>
              <a:rect r="r" b="b" t="t" l="l"/>
              <a:pathLst>
                <a:path h="680466" w="809117">
                  <a:moveTo>
                    <a:pt x="0" y="0"/>
                  </a:moveTo>
                  <a:lnTo>
                    <a:pt x="809117" y="0"/>
                  </a:lnTo>
                  <a:lnTo>
                    <a:pt x="809117" y="680466"/>
                  </a:lnTo>
                  <a:lnTo>
                    <a:pt x="0" y="680466"/>
                  </a:lnTo>
                  <a:close/>
                </a:path>
              </a:pathLst>
            </a:custGeom>
            <a:blipFill>
              <a:blip r:embed="rId13">
                <a:alphaModFix amt="0"/>
              </a:blip>
              <a:stretch>
                <a:fillRect l="-57978" t="0" r="-57978" b="0"/>
              </a:stretch>
            </a:blipFill>
          </p:spPr>
          <p:txBody>
            <a:bodyPr/>
            <a:p/>
          </p:txBody>
        </p:sp>
      </p:grpSp>
      <p:grpSp>
        <p:nvGrpSpPr>
          <p:cNvPr name="Group 82" id="82"/>
          <p:cNvGrpSpPr/>
          <p:nvPr/>
        </p:nvGrpSpPr>
        <p:grpSpPr>
          <a:xfrm rot="0">
            <a:off x="6424070" y="5778151"/>
            <a:ext cx="606838" cy="531781"/>
            <a:chOff x="0" y="0"/>
            <a:chExt cx="809117" cy="709041"/>
          </a:xfrm>
        </p:grpSpPr>
        <p:sp>
          <p:nvSpPr>
            <p:cNvPr name="Freeform 83" id="83"/>
            <p:cNvSpPr/>
            <p:nvPr/>
          </p:nvSpPr>
          <p:spPr>
            <a:xfrm flipH="false" flipV="false" rot="0">
              <a:off x="0" y="0"/>
              <a:ext cx="809117" cy="709042"/>
            </a:xfrm>
            <a:custGeom>
              <a:avLst/>
              <a:gdLst/>
              <a:ahLst/>
              <a:cxnLst/>
              <a:rect r="r" b="b" t="t" l="l"/>
              <a:pathLst>
                <a:path h="709042" w="809117">
                  <a:moveTo>
                    <a:pt x="0" y="0"/>
                  </a:moveTo>
                  <a:lnTo>
                    <a:pt x="809117" y="0"/>
                  </a:lnTo>
                  <a:lnTo>
                    <a:pt x="809117" y="709042"/>
                  </a:lnTo>
                  <a:lnTo>
                    <a:pt x="0" y="709042"/>
                  </a:lnTo>
                  <a:close/>
                </a:path>
              </a:pathLst>
            </a:custGeom>
            <a:blipFill>
              <a:blip r:embed="rId14">
                <a:alphaModFix amt="0"/>
              </a:blip>
              <a:stretch>
                <a:fillRect l="-62434" t="0" r="-62434" b="0"/>
              </a:stretch>
            </a:blipFill>
          </p:spPr>
          <p:txBody>
            <a:bodyPr/>
            <a:p/>
          </p:txBody>
        </p:sp>
        <p:sp>
          <p:nvSpPr>
            <p:cNvPr name="TextBox 84" id="84"/>
            <p:cNvSpPr txBox="true"/>
            <p:nvPr/>
          </p:nvSpPr>
          <p:spPr>
            <a:xfrm>
              <a:off x="0" y="-28575"/>
              <a:ext cx="809117" cy="737616"/>
            </a:xfrm>
            <a:prstGeom prst="rect">
              <a:avLst/>
            </a:prstGeom>
          </p:spPr>
          <p:txBody>
            <a:bodyPr anchor="ctr" rtlCol="false" tIns="0" lIns="0" bIns="0" rIns="0"/>
            <a:lstStyle/>
            <a:p>
              <a:pPr algn="ctr">
                <a:lnSpc>
                  <a:spcPts val="1620"/>
                </a:lnSpc>
              </a:pPr>
              <a:r>
                <a:rPr lang="en-US" sz="1350" b="true">
                  <a:solidFill>
                    <a:srgbClr val="FFFFFF"/>
                  </a:solidFill>
                  <a:latin typeface="Calibri (MS) Bold"/>
                  <a:ea typeface="Calibri (MS) Bold"/>
                  <a:cs typeface="Calibri (MS) Bold"/>
                  <a:sym typeface="Calibri (MS) Bold"/>
                </a:rPr>
                <a:t>val 8%</a:t>
              </a:r>
            </a:p>
          </p:txBody>
        </p:sp>
      </p:grpSp>
      <p:grpSp>
        <p:nvGrpSpPr>
          <p:cNvPr name="Group 85" id="85"/>
          <p:cNvGrpSpPr/>
          <p:nvPr/>
        </p:nvGrpSpPr>
        <p:grpSpPr>
          <a:xfrm rot="0">
            <a:off x="6970185" y="5810298"/>
            <a:ext cx="1539050" cy="531781"/>
            <a:chOff x="0" y="0"/>
            <a:chExt cx="2052066" cy="709041"/>
          </a:xfrm>
        </p:grpSpPr>
        <p:sp>
          <p:nvSpPr>
            <p:cNvPr name="Freeform 86" id="86"/>
            <p:cNvSpPr/>
            <p:nvPr/>
          </p:nvSpPr>
          <p:spPr>
            <a:xfrm flipH="false" flipV="false" rot="0">
              <a:off x="0" y="0"/>
              <a:ext cx="2052066" cy="709041"/>
            </a:xfrm>
            <a:custGeom>
              <a:avLst/>
              <a:gdLst/>
              <a:ahLst/>
              <a:cxnLst/>
              <a:rect r="r" b="b" t="t" l="l"/>
              <a:pathLst>
                <a:path h="709041" w="2052066">
                  <a:moveTo>
                    <a:pt x="0" y="0"/>
                  </a:moveTo>
                  <a:lnTo>
                    <a:pt x="2052066" y="0"/>
                  </a:lnTo>
                  <a:lnTo>
                    <a:pt x="2052066" y="709041"/>
                  </a:lnTo>
                  <a:lnTo>
                    <a:pt x="0" y="709041"/>
                  </a:lnTo>
                  <a:close/>
                </a:path>
              </a:pathLst>
            </a:custGeom>
            <a:solidFill>
              <a:srgbClr val="1C7293"/>
            </a:solidFill>
            <a:ln w="28575" cap="sq">
              <a:solidFill>
                <a:srgbClr val="FFFFFF"/>
              </a:solidFill>
              <a:prstDash val="solid"/>
              <a:miter/>
            </a:ln>
          </p:spPr>
          <p:txBody>
            <a:bodyPr/>
            <a:p/>
          </p:txBody>
        </p:sp>
      </p:grpSp>
      <p:grpSp>
        <p:nvGrpSpPr>
          <p:cNvPr name="Group 87" id="87"/>
          <p:cNvGrpSpPr/>
          <p:nvPr/>
        </p:nvGrpSpPr>
        <p:grpSpPr>
          <a:xfrm rot="0">
            <a:off x="7002332" y="5821013"/>
            <a:ext cx="1474756" cy="488918"/>
            <a:chOff x="0" y="0"/>
            <a:chExt cx="1966341" cy="651891"/>
          </a:xfrm>
        </p:grpSpPr>
        <p:sp>
          <p:nvSpPr>
            <p:cNvPr name="Freeform 88" id="88"/>
            <p:cNvSpPr/>
            <p:nvPr/>
          </p:nvSpPr>
          <p:spPr>
            <a:xfrm flipH="false" flipV="false" rot="0">
              <a:off x="0" y="0"/>
              <a:ext cx="1966341" cy="651891"/>
            </a:xfrm>
            <a:custGeom>
              <a:avLst/>
              <a:gdLst/>
              <a:ahLst/>
              <a:cxnLst/>
              <a:rect r="r" b="b" t="t" l="l"/>
              <a:pathLst>
                <a:path h="651891" w="1966341">
                  <a:moveTo>
                    <a:pt x="0" y="0"/>
                  </a:moveTo>
                  <a:lnTo>
                    <a:pt x="1966341" y="0"/>
                  </a:lnTo>
                  <a:lnTo>
                    <a:pt x="1966341" y="651891"/>
                  </a:lnTo>
                  <a:lnTo>
                    <a:pt x="0" y="651891"/>
                  </a:lnTo>
                  <a:close/>
                </a:path>
              </a:pathLst>
            </a:custGeom>
            <a:blipFill>
              <a:blip r:embed="rId12">
                <a:alphaModFix amt="0"/>
              </a:blip>
              <a:stretch>
                <a:fillRect l="0" t="-8733" r="0" b="-8731"/>
              </a:stretch>
            </a:blipFill>
          </p:spPr>
          <p:txBody>
            <a:bodyPr/>
            <a:p/>
          </p:txBody>
        </p:sp>
      </p:grpSp>
      <p:grpSp>
        <p:nvGrpSpPr>
          <p:cNvPr name="Group 89" id="89"/>
          <p:cNvGrpSpPr/>
          <p:nvPr/>
        </p:nvGrpSpPr>
        <p:grpSpPr>
          <a:xfrm rot="0">
            <a:off x="7002332" y="5799582"/>
            <a:ext cx="1474718" cy="510350"/>
            <a:chOff x="0" y="0"/>
            <a:chExt cx="1966290" cy="680466"/>
          </a:xfrm>
        </p:grpSpPr>
        <p:sp>
          <p:nvSpPr>
            <p:cNvPr name="Freeform 90" id="90"/>
            <p:cNvSpPr/>
            <p:nvPr/>
          </p:nvSpPr>
          <p:spPr>
            <a:xfrm flipH="false" flipV="false" rot="0">
              <a:off x="0" y="0"/>
              <a:ext cx="1966341" cy="680466"/>
            </a:xfrm>
            <a:custGeom>
              <a:avLst/>
              <a:gdLst/>
              <a:ahLst/>
              <a:cxnLst/>
              <a:rect r="r" b="b" t="t" l="l"/>
              <a:pathLst>
                <a:path h="680466" w="1966341">
                  <a:moveTo>
                    <a:pt x="0" y="0"/>
                  </a:moveTo>
                  <a:lnTo>
                    <a:pt x="1966341" y="0"/>
                  </a:lnTo>
                  <a:lnTo>
                    <a:pt x="1966341" y="680466"/>
                  </a:lnTo>
                  <a:lnTo>
                    <a:pt x="0" y="680466"/>
                  </a:lnTo>
                  <a:close/>
                </a:path>
              </a:pathLst>
            </a:custGeom>
            <a:blipFill>
              <a:blip r:embed="rId13">
                <a:alphaModFix amt="0"/>
              </a:blip>
              <a:stretch>
                <a:fillRect l="0" t="-6265" r="2" b="-6265"/>
              </a:stretch>
            </a:blipFill>
          </p:spPr>
          <p:txBody>
            <a:bodyPr/>
            <a:p/>
          </p:txBody>
        </p:sp>
      </p:grpSp>
      <p:grpSp>
        <p:nvGrpSpPr>
          <p:cNvPr name="Group 91" id="91"/>
          <p:cNvGrpSpPr/>
          <p:nvPr/>
        </p:nvGrpSpPr>
        <p:grpSpPr>
          <a:xfrm rot="0">
            <a:off x="7002332" y="5778151"/>
            <a:ext cx="1474718" cy="531781"/>
            <a:chOff x="0" y="0"/>
            <a:chExt cx="1966290" cy="709041"/>
          </a:xfrm>
        </p:grpSpPr>
        <p:sp>
          <p:nvSpPr>
            <p:cNvPr name="Freeform 92" id="92"/>
            <p:cNvSpPr/>
            <p:nvPr/>
          </p:nvSpPr>
          <p:spPr>
            <a:xfrm flipH="false" flipV="false" rot="0">
              <a:off x="0" y="0"/>
              <a:ext cx="1966291" cy="709042"/>
            </a:xfrm>
            <a:custGeom>
              <a:avLst/>
              <a:gdLst/>
              <a:ahLst/>
              <a:cxnLst/>
              <a:rect r="r" b="b" t="t" l="l"/>
              <a:pathLst>
                <a:path h="709042" w="1966291">
                  <a:moveTo>
                    <a:pt x="0" y="0"/>
                  </a:moveTo>
                  <a:lnTo>
                    <a:pt x="1966291" y="0"/>
                  </a:lnTo>
                  <a:lnTo>
                    <a:pt x="1966291" y="709042"/>
                  </a:lnTo>
                  <a:lnTo>
                    <a:pt x="0" y="709042"/>
                  </a:lnTo>
                  <a:close/>
                </a:path>
              </a:pathLst>
            </a:custGeom>
            <a:blipFill>
              <a:blip r:embed="rId14">
                <a:alphaModFix amt="0"/>
              </a:blip>
              <a:stretch>
                <a:fillRect l="0" t="-4035" r="0" b="-4035"/>
              </a:stretch>
            </a:blipFill>
          </p:spPr>
          <p:txBody>
            <a:bodyPr/>
            <a:p/>
          </p:txBody>
        </p:sp>
        <p:sp>
          <p:nvSpPr>
            <p:cNvPr name="TextBox 93" id="93"/>
            <p:cNvSpPr txBox="true"/>
            <p:nvPr/>
          </p:nvSpPr>
          <p:spPr>
            <a:xfrm>
              <a:off x="0" y="-28575"/>
              <a:ext cx="1966290" cy="737616"/>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test 20%</a:t>
              </a:r>
            </a:p>
          </p:txBody>
        </p:sp>
      </p:grpSp>
      <p:grpSp>
        <p:nvGrpSpPr>
          <p:cNvPr name="Group 94" id="94"/>
          <p:cNvGrpSpPr/>
          <p:nvPr/>
        </p:nvGrpSpPr>
        <p:grpSpPr>
          <a:xfrm rot="0">
            <a:off x="9787938" y="5810298"/>
            <a:ext cx="5141119" cy="531781"/>
            <a:chOff x="0" y="0"/>
            <a:chExt cx="6854825" cy="709041"/>
          </a:xfrm>
        </p:grpSpPr>
        <p:sp>
          <p:nvSpPr>
            <p:cNvPr name="Freeform 95" id="95"/>
            <p:cNvSpPr/>
            <p:nvPr/>
          </p:nvSpPr>
          <p:spPr>
            <a:xfrm flipH="false" flipV="false" rot="0">
              <a:off x="0" y="0"/>
              <a:ext cx="6854825" cy="709041"/>
            </a:xfrm>
            <a:custGeom>
              <a:avLst/>
              <a:gdLst/>
              <a:ahLst/>
              <a:cxnLst/>
              <a:rect r="r" b="b" t="t" l="l"/>
              <a:pathLst>
                <a:path h="709041" w="6854825">
                  <a:moveTo>
                    <a:pt x="0" y="0"/>
                  </a:moveTo>
                  <a:lnTo>
                    <a:pt x="6854825" y="0"/>
                  </a:lnTo>
                  <a:lnTo>
                    <a:pt x="6854825" y="709041"/>
                  </a:lnTo>
                  <a:lnTo>
                    <a:pt x="0" y="709041"/>
                  </a:lnTo>
                  <a:close/>
                </a:path>
              </a:pathLst>
            </a:custGeom>
            <a:solidFill>
              <a:srgbClr val="13294B"/>
            </a:solidFill>
            <a:ln w="28575" cap="sq">
              <a:solidFill>
                <a:srgbClr val="FFFFFF"/>
              </a:solidFill>
              <a:prstDash val="solid"/>
              <a:miter/>
            </a:ln>
          </p:spPr>
          <p:txBody>
            <a:bodyPr/>
            <a:p/>
          </p:txBody>
        </p:sp>
      </p:grpSp>
      <p:grpSp>
        <p:nvGrpSpPr>
          <p:cNvPr name="Group 96" id="96"/>
          <p:cNvGrpSpPr/>
          <p:nvPr/>
        </p:nvGrpSpPr>
        <p:grpSpPr>
          <a:xfrm rot="0">
            <a:off x="9820084" y="5821013"/>
            <a:ext cx="5076825" cy="488918"/>
            <a:chOff x="0" y="0"/>
            <a:chExt cx="6769100" cy="651891"/>
          </a:xfrm>
        </p:grpSpPr>
        <p:sp>
          <p:nvSpPr>
            <p:cNvPr name="Freeform 97" id="97"/>
            <p:cNvSpPr/>
            <p:nvPr/>
          </p:nvSpPr>
          <p:spPr>
            <a:xfrm flipH="false" flipV="false" rot="0">
              <a:off x="0" y="0"/>
              <a:ext cx="6769100" cy="651891"/>
            </a:xfrm>
            <a:custGeom>
              <a:avLst/>
              <a:gdLst/>
              <a:ahLst/>
              <a:cxnLst/>
              <a:rect r="r" b="b" t="t" l="l"/>
              <a:pathLst>
                <a:path h="651891" w="6769100">
                  <a:moveTo>
                    <a:pt x="0" y="0"/>
                  </a:moveTo>
                  <a:lnTo>
                    <a:pt x="6769100" y="0"/>
                  </a:lnTo>
                  <a:lnTo>
                    <a:pt x="6769100" y="651891"/>
                  </a:lnTo>
                  <a:lnTo>
                    <a:pt x="0" y="651891"/>
                  </a:lnTo>
                  <a:close/>
                </a:path>
              </a:pathLst>
            </a:custGeom>
            <a:blipFill>
              <a:blip r:embed="rId12">
                <a:alphaModFix amt="0"/>
              </a:blip>
              <a:stretch>
                <a:fillRect l="0" t="-152187" r="0" b="-152187"/>
              </a:stretch>
            </a:blipFill>
          </p:spPr>
          <p:txBody>
            <a:bodyPr/>
            <a:p/>
          </p:txBody>
        </p:sp>
      </p:grpSp>
      <p:grpSp>
        <p:nvGrpSpPr>
          <p:cNvPr name="Group 98" id="98"/>
          <p:cNvGrpSpPr/>
          <p:nvPr/>
        </p:nvGrpSpPr>
        <p:grpSpPr>
          <a:xfrm rot="0">
            <a:off x="9820084" y="5799582"/>
            <a:ext cx="5076863" cy="510350"/>
            <a:chOff x="0" y="0"/>
            <a:chExt cx="6769151" cy="680466"/>
          </a:xfrm>
        </p:grpSpPr>
        <p:sp>
          <p:nvSpPr>
            <p:cNvPr name="Freeform 99" id="99"/>
            <p:cNvSpPr/>
            <p:nvPr/>
          </p:nvSpPr>
          <p:spPr>
            <a:xfrm flipH="false" flipV="false" rot="0">
              <a:off x="0" y="0"/>
              <a:ext cx="6769100" cy="680466"/>
            </a:xfrm>
            <a:custGeom>
              <a:avLst/>
              <a:gdLst/>
              <a:ahLst/>
              <a:cxnLst/>
              <a:rect r="r" b="b" t="t" l="l"/>
              <a:pathLst>
                <a:path h="680466" w="6769100">
                  <a:moveTo>
                    <a:pt x="0" y="0"/>
                  </a:moveTo>
                  <a:lnTo>
                    <a:pt x="6769100" y="0"/>
                  </a:lnTo>
                  <a:lnTo>
                    <a:pt x="6769100" y="680466"/>
                  </a:lnTo>
                  <a:lnTo>
                    <a:pt x="0" y="680466"/>
                  </a:lnTo>
                  <a:close/>
                </a:path>
              </a:pathLst>
            </a:custGeom>
            <a:blipFill>
              <a:blip r:embed="rId13">
                <a:alphaModFix amt="0"/>
              </a:blip>
              <a:stretch>
                <a:fillRect l="0" t="-143699" r="0" b="-143699"/>
              </a:stretch>
            </a:blipFill>
          </p:spPr>
          <p:txBody>
            <a:bodyPr/>
            <a:p/>
          </p:txBody>
        </p:sp>
      </p:grpSp>
      <p:grpSp>
        <p:nvGrpSpPr>
          <p:cNvPr name="Group 100" id="100"/>
          <p:cNvGrpSpPr/>
          <p:nvPr/>
        </p:nvGrpSpPr>
        <p:grpSpPr>
          <a:xfrm rot="0">
            <a:off x="9820084" y="5778151"/>
            <a:ext cx="5076863" cy="531781"/>
            <a:chOff x="0" y="0"/>
            <a:chExt cx="6769151" cy="709041"/>
          </a:xfrm>
        </p:grpSpPr>
        <p:sp>
          <p:nvSpPr>
            <p:cNvPr name="Freeform 101" id="101"/>
            <p:cNvSpPr/>
            <p:nvPr/>
          </p:nvSpPr>
          <p:spPr>
            <a:xfrm flipH="false" flipV="false" rot="0">
              <a:off x="0" y="0"/>
              <a:ext cx="6769150" cy="709042"/>
            </a:xfrm>
            <a:custGeom>
              <a:avLst/>
              <a:gdLst/>
              <a:ahLst/>
              <a:cxnLst/>
              <a:rect r="r" b="b" t="t" l="l"/>
              <a:pathLst>
                <a:path h="709042" w="6769150">
                  <a:moveTo>
                    <a:pt x="0" y="0"/>
                  </a:moveTo>
                  <a:lnTo>
                    <a:pt x="6769150" y="0"/>
                  </a:lnTo>
                  <a:lnTo>
                    <a:pt x="6769150" y="709042"/>
                  </a:lnTo>
                  <a:lnTo>
                    <a:pt x="0" y="709042"/>
                  </a:lnTo>
                  <a:close/>
                </a:path>
              </a:pathLst>
            </a:custGeom>
            <a:blipFill>
              <a:blip r:embed="rId14">
                <a:alphaModFix amt="0"/>
              </a:blip>
              <a:stretch>
                <a:fillRect l="0" t="-136021" r="0" b="-136021"/>
              </a:stretch>
            </a:blipFill>
          </p:spPr>
          <p:txBody>
            <a:bodyPr/>
            <a:p/>
          </p:txBody>
        </p:sp>
        <p:sp>
          <p:nvSpPr>
            <p:cNvPr name="TextBox 102" id="102"/>
            <p:cNvSpPr txBox="true"/>
            <p:nvPr/>
          </p:nvSpPr>
          <p:spPr>
            <a:xfrm>
              <a:off x="0" y="-28575"/>
              <a:ext cx="6769151" cy="737616"/>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train 70%</a:t>
              </a:r>
            </a:p>
          </p:txBody>
        </p:sp>
      </p:grpSp>
      <p:grpSp>
        <p:nvGrpSpPr>
          <p:cNvPr name="Group 103" id="103"/>
          <p:cNvGrpSpPr/>
          <p:nvPr/>
        </p:nvGrpSpPr>
        <p:grpSpPr>
          <a:xfrm rot="0">
            <a:off x="14836226" y="5810298"/>
            <a:ext cx="833056" cy="531781"/>
            <a:chOff x="0" y="0"/>
            <a:chExt cx="1110742" cy="709041"/>
          </a:xfrm>
        </p:grpSpPr>
        <p:sp>
          <p:nvSpPr>
            <p:cNvPr name="Freeform 104" id="104"/>
            <p:cNvSpPr/>
            <p:nvPr/>
          </p:nvSpPr>
          <p:spPr>
            <a:xfrm flipH="false" flipV="false" rot="0">
              <a:off x="0" y="0"/>
              <a:ext cx="1110742" cy="709041"/>
            </a:xfrm>
            <a:custGeom>
              <a:avLst/>
              <a:gdLst/>
              <a:ahLst/>
              <a:cxnLst/>
              <a:rect r="r" b="b" t="t" l="l"/>
              <a:pathLst>
                <a:path h="709041" w="1110742">
                  <a:moveTo>
                    <a:pt x="0" y="0"/>
                  </a:moveTo>
                  <a:lnTo>
                    <a:pt x="1110742" y="0"/>
                  </a:lnTo>
                  <a:lnTo>
                    <a:pt x="1110742" y="709041"/>
                  </a:lnTo>
                  <a:lnTo>
                    <a:pt x="0" y="709041"/>
                  </a:lnTo>
                  <a:close/>
                </a:path>
              </a:pathLst>
            </a:custGeom>
            <a:solidFill>
              <a:srgbClr val="E8A33D"/>
            </a:solidFill>
            <a:ln w="28575" cap="sq">
              <a:solidFill>
                <a:srgbClr val="FFFFFF"/>
              </a:solidFill>
              <a:prstDash val="solid"/>
              <a:miter/>
            </a:ln>
          </p:spPr>
          <p:txBody>
            <a:bodyPr/>
            <a:p/>
          </p:txBody>
        </p:sp>
      </p:grpSp>
      <p:grpSp>
        <p:nvGrpSpPr>
          <p:cNvPr name="Group 105" id="105"/>
          <p:cNvGrpSpPr/>
          <p:nvPr/>
        </p:nvGrpSpPr>
        <p:grpSpPr>
          <a:xfrm rot="0">
            <a:off x="14868373" y="5821013"/>
            <a:ext cx="768763" cy="488918"/>
            <a:chOff x="0" y="0"/>
            <a:chExt cx="1025017" cy="651891"/>
          </a:xfrm>
        </p:grpSpPr>
        <p:sp>
          <p:nvSpPr>
            <p:cNvPr name="Freeform 106" id="106"/>
            <p:cNvSpPr/>
            <p:nvPr/>
          </p:nvSpPr>
          <p:spPr>
            <a:xfrm flipH="false" flipV="false" rot="0">
              <a:off x="0" y="0"/>
              <a:ext cx="1025017" cy="651891"/>
            </a:xfrm>
            <a:custGeom>
              <a:avLst/>
              <a:gdLst/>
              <a:ahLst/>
              <a:cxnLst/>
              <a:rect r="r" b="b" t="t" l="l"/>
              <a:pathLst>
                <a:path h="651891" w="1025017">
                  <a:moveTo>
                    <a:pt x="0" y="0"/>
                  </a:moveTo>
                  <a:lnTo>
                    <a:pt x="1025017" y="0"/>
                  </a:lnTo>
                  <a:lnTo>
                    <a:pt x="1025017" y="651891"/>
                  </a:lnTo>
                  <a:lnTo>
                    <a:pt x="0" y="651891"/>
                  </a:lnTo>
                  <a:close/>
                </a:path>
              </a:pathLst>
            </a:custGeom>
            <a:blipFill>
              <a:blip r:embed="rId12">
                <a:alphaModFix amt="0"/>
              </a:blip>
              <a:stretch>
                <a:fillRect l="-31655" t="0" r="-31655" b="0"/>
              </a:stretch>
            </a:blipFill>
          </p:spPr>
          <p:txBody>
            <a:bodyPr/>
            <a:p/>
          </p:txBody>
        </p:sp>
      </p:grpSp>
      <p:grpSp>
        <p:nvGrpSpPr>
          <p:cNvPr name="Group 107" id="107"/>
          <p:cNvGrpSpPr/>
          <p:nvPr/>
        </p:nvGrpSpPr>
        <p:grpSpPr>
          <a:xfrm rot="0">
            <a:off x="14868373" y="5799582"/>
            <a:ext cx="768753" cy="510350"/>
            <a:chOff x="0" y="0"/>
            <a:chExt cx="1025004" cy="680466"/>
          </a:xfrm>
        </p:grpSpPr>
        <p:sp>
          <p:nvSpPr>
            <p:cNvPr name="Freeform 108" id="108"/>
            <p:cNvSpPr/>
            <p:nvPr/>
          </p:nvSpPr>
          <p:spPr>
            <a:xfrm flipH="false" flipV="false" rot="0">
              <a:off x="0" y="0"/>
              <a:ext cx="1025017" cy="680466"/>
            </a:xfrm>
            <a:custGeom>
              <a:avLst/>
              <a:gdLst/>
              <a:ahLst/>
              <a:cxnLst/>
              <a:rect r="r" b="b" t="t" l="l"/>
              <a:pathLst>
                <a:path h="680466" w="1025017">
                  <a:moveTo>
                    <a:pt x="0" y="0"/>
                  </a:moveTo>
                  <a:lnTo>
                    <a:pt x="1025017" y="0"/>
                  </a:lnTo>
                  <a:lnTo>
                    <a:pt x="1025017" y="680466"/>
                  </a:lnTo>
                  <a:lnTo>
                    <a:pt x="0" y="680466"/>
                  </a:lnTo>
                  <a:close/>
                </a:path>
              </a:pathLst>
            </a:custGeom>
            <a:blipFill>
              <a:blip r:embed="rId13">
                <a:alphaModFix amt="0"/>
              </a:blip>
              <a:stretch>
                <a:fillRect l="-35234" t="0" r="-35234" b="0"/>
              </a:stretch>
            </a:blipFill>
          </p:spPr>
          <p:txBody>
            <a:bodyPr/>
            <a:p/>
          </p:txBody>
        </p:sp>
      </p:grpSp>
      <p:grpSp>
        <p:nvGrpSpPr>
          <p:cNvPr name="Group 109" id="109"/>
          <p:cNvGrpSpPr/>
          <p:nvPr/>
        </p:nvGrpSpPr>
        <p:grpSpPr>
          <a:xfrm rot="0">
            <a:off x="14868373" y="5778151"/>
            <a:ext cx="768753" cy="531781"/>
            <a:chOff x="0" y="0"/>
            <a:chExt cx="1025004" cy="709041"/>
          </a:xfrm>
        </p:grpSpPr>
        <p:sp>
          <p:nvSpPr>
            <p:cNvPr name="Freeform 110" id="110"/>
            <p:cNvSpPr/>
            <p:nvPr/>
          </p:nvSpPr>
          <p:spPr>
            <a:xfrm flipH="false" flipV="false" rot="0">
              <a:off x="0" y="0"/>
              <a:ext cx="1025004" cy="709042"/>
            </a:xfrm>
            <a:custGeom>
              <a:avLst/>
              <a:gdLst/>
              <a:ahLst/>
              <a:cxnLst/>
              <a:rect r="r" b="b" t="t" l="l"/>
              <a:pathLst>
                <a:path h="709042" w="1025004">
                  <a:moveTo>
                    <a:pt x="0" y="0"/>
                  </a:moveTo>
                  <a:lnTo>
                    <a:pt x="1025004" y="0"/>
                  </a:lnTo>
                  <a:lnTo>
                    <a:pt x="1025004" y="709042"/>
                  </a:lnTo>
                  <a:lnTo>
                    <a:pt x="0" y="709042"/>
                  </a:lnTo>
                  <a:close/>
                </a:path>
              </a:pathLst>
            </a:custGeom>
            <a:blipFill>
              <a:blip r:embed="rId14">
                <a:alphaModFix amt="0"/>
              </a:blip>
              <a:stretch>
                <a:fillRect l="-38753" t="0" r="-38753" b="0"/>
              </a:stretch>
            </a:blipFill>
          </p:spPr>
          <p:txBody>
            <a:bodyPr/>
            <a:p/>
          </p:txBody>
        </p:sp>
        <p:sp>
          <p:nvSpPr>
            <p:cNvPr name="TextBox 111" id="111"/>
            <p:cNvSpPr txBox="true"/>
            <p:nvPr/>
          </p:nvSpPr>
          <p:spPr>
            <a:xfrm>
              <a:off x="0" y="-28575"/>
              <a:ext cx="1025004" cy="737616"/>
            </a:xfrm>
            <a:prstGeom prst="rect">
              <a:avLst/>
            </a:prstGeom>
          </p:spPr>
          <p:txBody>
            <a:bodyPr anchor="ctr" rtlCol="false" tIns="0" lIns="0" bIns="0" rIns="0"/>
            <a:lstStyle/>
            <a:p>
              <a:pPr algn="ctr">
                <a:lnSpc>
                  <a:spcPts val="1620"/>
                </a:lnSpc>
              </a:pPr>
              <a:r>
                <a:rPr lang="en-US" sz="1350" b="true">
                  <a:solidFill>
                    <a:srgbClr val="FFFFFF"/>
                  </a:solidFill>
                  <a:latin typeface="Calibri (MS) Bold"/>
                  <a:ea typeface="Calibri (MS) Bold"/>
                  <a:cs typeface="Calibri (MS) Bold"/>
                  <a:sym typeface="Calibri (MS) Bold"/>
                </a:rPr>
                <a:t>dev 10%</a:t>
              </a:r>
            </a:p>
          </p:txBody>
        </p:sp>
      </p:grpSp>
      <p:grpSp>
        <p:nvGrpSpPr>
          <p:cNvPr name="Group 112" id="112"/>
          <p:cNvGrpSpPr/>
          <p:nvPr/>
        </p:nvGrpSpPr>
        <p:grpSpPr>
          <a:xfrm rot="0">
            <a:off x="15576404" y="5810298"/>
            <a:ext cx="1532763" cy="531781"/>
            <a:chOff x="0" y="0"/>
            <a:chExt cx="2043684" cy="709041"/>
          </a:xfrm>
        </p:grpSpPr>
        <p:sp>
          <p:nvSpPr>
            <p:cNvPr name="Freeform 113" id="113"/>
            <p:cNvSpPr/>
            <p:nvPr/>
          </p:nvSpPr>
          <p:spPr>
            <a:xfrm flipH="false" flipV="false" rot="0">
              <a:off x="0" y="0"/>
              <a:ext cx="2043684" cy="709041"/>
            </a:xfrm>
            <a:custGeom>
              <a:avLst/>
              <a:gdLst/>
              <a:ahLst/>
              <a:cxnLst/>
              <a:rect r="r" b="b" t="t" l="l"/>
              <a:pathLst>
                <a:path h="709041" w="2043684">
                  <a:moveTo>
                    <a:pt x="0" y="0"/>
                  </a:moveTo>
                  <a:lnTo>
                    <a:pt x="2043684" y="0"/>
                  </a:lnTo>
                  <a:lnTo>
                    <a:pt x="2043684" y="709041"/>
                  </a:lnTo>
                  <a:lnTo>
                    <a:pt x="0" y="709041"/>
                  </a:lnTo>
                  <a:close/>
                </a:path>
              </a:pathLst>
            </a:custGeom>
            <a:solidFill>
              <a:srgbClr val="1C7293"/>
            </a:solidFill>
            <a:ln w="28575" cap="sq">
              <a:solidFill>
                <a:srgbClr val="FFFFFF"/>
              </a:solidFill>
              <a:prstDash val="solid"/>
              <a:miter/>
            </a:ln>
          </p:spPr>
          <p:txBody>
            <a:bodyPr/>
            <a:p/>
          </p:txBody>
        </p:sp>
      </p:grpSp>
      <p:grpSp>
        <p:nvGrpSpPr>
          <p:cNvPr name="Group 114" id="114"/>
          <p:cNvGrpSpPr/>
          <p:nvPr/>
        </p:nvGrpSpPr>
        <p:grpSpPr>
          <a:xfrm rot="0">
            <a:off x="15608551" y="5821013"/>
            <a:ext cx="1468469" cy="488918"/>
            <a:chOff x="0" y="0"/>
            <a:chExt cx="1957959" cy="651891"/>
          </a:xfrm>
        </p:grpSpPr>
        <p:sp>
          <p:nvSpPr>
            <p:cNvPr name="Freeform 115" id="115"/>
            <p:cNvSpPr/>
            <p:nvPr/>
          </p:nvSpPr>
          <p:spPr>
            <a:xfrm flipH="false" flipV="false" rot="0">
              <a:off x="0" y="0"/>
              <a:ext cx="1957959" cy="651891"/>
            </a:xfrm>
            <a:custGeom>
              <a:avLst/>
              <a:gdLst/>
              <a:ahLst/>
              <a:cxnLst/>
              <a:rect r="r" b="b" t="t" l="l"/>
              <a:pathLst>
                <a:path h="651891" w="1957959">
                  <a:moveTo>
                    <a:pt x="0" y="0"/>
                  </a:moveTo>
                  <a:lnTo>
                    <a:pt x="1957959" y="0"/>
                  </a:lnTo>
                  <a:lnTo>
                    <a:pt x="1957959" y="651891"/>
                  </a:lnTo>
                  <a:lnTo>
                    <a:pt x="0" y="651891"/>
                  </a:lnTo>
                  <a:close/>
                </a:path>
              </a:pathLst>
            </a:custGeom>
            <a:blipFill>
              <a:blip r:embed="rId12">
                <a:alphaModFix amt="0"/>
              </a:blip>
              <a:stretch>
                <a:fillRect l="0" t="-8482" r="0" b="-8482"/>
              </a:stretch>
            </a:blipFill>
          </p:spPr>
          <p:txBody>
            <a:bodyPr/>
            <a:p/>
          </p:txBody>
        </p:sp>
      </p:grpSp>
      <p:grpSp>
        <p:nvGrpSpPr>
          <p:cNvPr name="Group 116" id="116"/>
          <p:cNvGrpSpPr/>
          <p:nvPr/>
        </p:nvGrpSpPr>
        <p:grpSpPr>
          <a:xfrm rot="0">
            <a:off x="15608551" y="5799582"/>
            <a:ext cx="1468441" cy="510350"/>
            <a:chOff x="0" y="0"/>
            <a:chExt cx="1957921" cy="680466"/>
          </a:xfrm>
        </p:grpSpPr>
        <p:sp>
          <p:nvSpPr>
            <p:cNvPr name="Freeform 117" id="117"/>
            <p:cNvSpPr/>
            <p:nvPr/>
          </p:nvSpPr>
          <p:spPr>
            <a:xfrm flipH="false" flipV="false" rot="0">
              <a:off x="0" y="0"/>
              <a:ext cx="1957959" cy="680466"/>
            </a:xfrm>
            <a:custGeom>
              <a:avLst/>
              <a:gdLst/>
              <a:ahLst/>
              <a:cxnLst/>
              <a:rect r="r" b="b" t="t" l="l"/>
              <a:pathLst>
                <a:path h="680466" w="1957959">
                  <a:moveTo>
                    <a:pt x="0" y="0"/>
                  </a:moveTo>
                  <a:lnTo>
                    <a:pt x="1957959" y="0"/>
                  </a:lnTo>
                  <a:lnTo>
                    <a:pt x="1957959" y="680466"/>
                  </a:lnTo>
                  <a:lnTo>
                    <a:pt x="0" y="680466"/>
                  </a:lnTo>
                  <a:close/>
                </a:path>
              </a:pathLst>
            </a:custGeom>
            <a:blipFill>
              <a:blip r:embed="rId13">
                <a:alphaModFix amt="0"/>
              </a:blip>
              <a:stretch>
                <a:fillRect l="0" t="-6026" r="1" b="-6024"/>
              </a:stretch>
            </a:blipFill>
          </p:spPr>
          <p:txBody>
            <a:bodyPr/>
            <a:p/>
          </p:txBody>
        </p:sp>
      </p:grpSp>
      <p:grpSp>
        <p:nvGrpSpPr>
          <p:cNvPr name="Group 118" id="118"/>
          <p:cNvGrpSpPr/>
          <p:nvPr/>
        </p:nvGrpSpPr>
        <p:grpSpPr>
          <a:xfrm rot="0">
            <a:off x="15608551" y="5778151"/>
            <a:ext cx="1468441" cy="531781"/>
            <a:chOff x="0" y="0"/>
            <a:chExt cx="1957921" cy="709041"/>
          </a:xfrm>
        </p:grpSpPr>
        <p:sp>
          <p:nvSpPr>
            <p:cNvPr name="Freeform 119" id="119"/>
            <p:cNvSpPr/>
            <p:nvPr/>
          </p:nvSpPr>
          <p:spPr>
            <a:xfrm flipH="false" flipV="false" rot="0">
              <a:off x="0" y="0"/>
              <a:ext cx="1957921" cy="709042"/>
            </a:xfrm>
            <a:custGeom>
              <a:avLst/>
              <a:gdLst/>
              <a:ahLst/>
              <a:cxnLst/>
              <a:rect r="r" b="b" t="t" l="l"/>
              <a:pathLst>
                <a:path h="709042" w="1957921">
                  <a:moveTo>
                    <a:pt x="0" y="0"/>
                  </a:moveTo>
                  <a:lnTo>
                    <a:pt x="1957921" y="0"/>
                  </a:lnTo>
                  <a:lnTo>
                    <a:pt x="1957921" y="709042"/>
                  </a:lnTo>
                  <a:lnTo>
                    <a:pt x="0" y="709042"/>
                  </a:lnTo>
                  <a:close/>
                </a:path>
              </a:pathLst>
            </a:custGeom>
            <a:blipFill>
              <a:blip r:embed="rId14">
                <a:alphaModFix amt="0"/>
              </a:blip>
              <a:stretch>
                <a:fillRect l="0" t="-3805" r="0" b="-3805"/>
              </a:stretch>
            </a:blipFill>
          </p:spPr>
          <p:txBody>
            <a:bodyPr/>
            <a:p/>
          </p:txBody>
        </p:sp>
        <p:sp>
          <p:nvSpPr>
            <p:cNvPr name="TextBox 120" id="120"/>
            <p:cNvSpPr txBox="true"/>
            <p:nvPr/>
          </p:nvSpPr>
          <p:spPr>
            <a:xfrm>
              <a:off x="0" y="-28575"/>
              <a:ext cx="1957921" cy="737616"/>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test 20%</a:t>
              </a:r>
            </a:p>
          </p:txBody>
        </p:sp>
      </p:grpSp>
      <p:grpSp>
        <p:nvGrpSpPr>
          <p:cNvPr name="Group 121" id="121"/>
          <p:cNvGrpSpPr/>
          <p:nvPr/>
        </p:nvGrpSpPr>
        <p:grpSpPr>
          <a:xfrm rot="0">
            <a:off x="822960" y="9655969"/>
            <a:ext cx="13716000" cy="360331"/>
            <a:chOff x="0" y="0"/>
            <a:chExt cx="18288000" cy="480441"/>
          </a:xfrm>
        </p:grpSpPr>
        <p:sp>
          <p:nvSpPr>
            <p:cNvPr name="Freeform 122" id="122"/>
            <p:cNvSpPr/>
            <p:nvPr/>
          </p:nvSpPr>
          <p:spPr>
            <a:xfrm flipH="false" flipV="false" rot="0">
              <a:off x="0" y="0"/>
              <a:ext cx="18288000" cy="480441"/>
            </a:xfrm>
            <a:custGeom>
              <a:avLst/>
              <a:gdLst/>
              <a:ahLst/>
              <a:cxnLst/>
              <a:rect r="r" b="b" t="t" l="l"/>
              <a:pathLst>
                <a:path h="480441" w="18288000">
                  <a:moveTo>
                    <a:pt x="0" y="0"/>
                  </a:moveTo>
                  <a:lnTo>
                    <a:pt x="18288000" y="0"/>
                  </a:lnTo>
                  <a:lnTo>
                    <a:pt x="18288000" y="480441"/>
                  </a:lnTo>
                  <a:lnTo>
                    <a:pt x="0" y="480441"/>
                  </a:lnTo>
                  <a:close/>
                </a:path>
              </a:pathLst>
            </a:custGeom>
            <a:blipFill>
              <a:blip r:embed="rId12">
                <a:alphaModFix amt="0"/>
              </a:blip>
              <a:stretch>
                <a:fillRect l="0" t="-691181" r="0" b="-691184"/>
              </a:stretch>
            </a:blipFill>
          </p:spPr>
          <p:txBody>
            <a:bodyPr/>
            <a:p/>
          </p:txBody>
        </p:sp>
      </p:grpSp>
      <p:grpSp>
        <p:nvGrpSpPr>
          <p:cNvPr name="Group 123" id="123"/>
          <p:cNvGrpSpPr/>
          <p:nvPr/>
        </p:nvGrpSpPr>
        <p:grpSpPr>
          <a:xfrm rot="0">
            <a:off x="822960" y="9627394"/>
            <a:ext cx="13716000" cy="388896"/>
            <a:chOff x="0" y="0"/>
            <a:chExt cx="18288000" cy="518528"/>
          </a:xfrm>
        </p:grpSpPr>
        <p:sp>
          <p:nvSpPr>
            <p:cNvPr name="Freeform 124" id="124"/>
            <p:cNvSpPr/>
            <p:nvPr/>
          </p:nvSpPr>
          <p:spPr>
            <a:xfrm flipH="false" flipV="false" rot="0">
              <a:off x="0" y="0"/>
              <a:ext cx="18288000" cy="518541"/>
            </a:xfrm>
            <a:custGeom>
              <a:avLst/>
              <a:gdLst/>
              <a:ahLst/>
              <a:cxnLst/>
              <a:rect r="r" b="b" t="t" l="l"/>
              <a:pathLst>
                <a:path h="518541" w="18288000">
                  <a:moveTo>
                    <a:pt x="0" y="0"/>
                  </a:moveTo>
                  <a:lnTo>
                    <a:pt x="18288000" y="0"/>
                  </a:lnTo>
                  <a:lnTo>
                    <a:pt x="18288000" y="518541"/>
                  </a:lnTo>
                  <a:lnTo>
                    <a:pt x="0" y="518541"/>
                  </a:lnTo>
                  <a:close/>
                </a:path>
              </a:pathLst>
            </a:custGeom>
            <a:blipFill>
              <a:blip r:embed="rId13">
                <a:alphaModFix amt="0"/>
              </a:blip>
              <a:stretch>
                <a:fillRect l="0" t="-636725" r="0" b="-636722"/>
              </a:stretch>
            </a:blipFill>
          </p:spPr>
          <p:txBody>
            <a:bodyPr/>
            <a:p/>
          </p:txBody>
        </p:sp>
      </p:grpSp>
      <p:grpSp>
        <p:nvGrpSpPr>
          <p:cNvPr name="Group 125" id="125"/>
          <p:cNvGrpSpPr/>
          <p:nvPr/>
        </p:nvGrpSpPr>
        <p:grpSpPr>
          <a:xfrm rot="0">
            <a:off x="822960" y="9598819"/>
            <a:ext cx="13716000" cy="417471"/>
            <a:chOff x="0" y="0"/>
            <a:chExt cx="18288000" cy="556628"/>
          </a:xfrm>
        </p:grpSpPr>
        <p:sp>
          <p:nvSpPr>
            <p:cNvPr name="Freeform 126" id="126"/>
            <p:cNvSpPr/>
            <p:nvPr/>
          </p:nvSpPr>
          <p:spPr>
            <a:xfrm flipH="false" flipV="false" rot="0">
              <a:off x="0" y="0"/>
              <a:ext cx="18288000" cy="556628"/>
            </a:xfrm>
            <a:custGeom>
              <a:avLst/>
              <a:gdLst/>
              <a:ahLst/>
              <a:cxnLst/>
              <a:rect r="r" b="b" t="t" l="l"/>
              <a:pathLst>
                <a:path h="556628" w="18288000">
                  <a:moveTo>
                    <a:pt x="0" y="0"/>
                  </a:moveTo>
                  <a:lnTo>
                    <a:pt x="18288000" y="0"/>
                  </a:lnTo>
                  <a:lnTo>
                    <a:pt x="18288000" y="556628"/>
                  </a:lnTo>
                  <a:lnTo>
                    <a:pt x="0" y="556628"/>
                  </a:lnTo>
                  <a:close/>
                </a:path>
              </a:pathLst>
            </a:custGeom>
            <a:blipFill>
              <a:blip r:embed="rId14">
                <a:alphaModFix amt="0"/>
              </a:blip>
              <a:stretch>
                <a:fillRect l="0" t="-590180" r="0" b="-590180"/>
              </a:stretch>
            </a:blipFill>
          </p:spPr>
          <p:txBody>
            <a:bodyPr/>
            <a:p/>
          </p:txBody>
        </p:sp>
        <p:sp>
          <p:nvSpPr>
            <p:cNvPr name="TextBox 127" id="127"/>
            <p:cNvSpPr txBox="true"/>
            <p:nvPr/>
          </p:nvSpPr>
          <p:spPr>
            <a:xfrm>
              <a:off x="0" y="-38100"/>
              <a:ext cx="18288000" cy="594728"/>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GFA26AI35 · Đại học FPT</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1 · PHẠM VI · 08 · PHƯƠNG PHÁP ĐỀ XUẤT</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Một phương pháp đề xuất, pipeline 8 bước</a:t>
            </a:r>
          </a:p>
        </p:txBody>
      </p:sp>
      <p:sp>
        <p:nvSpPr>
          <p:cNvPr name="Freeform 6" id="6"/>
          <p:cNvSpPr/>
          <p:nvPr/>
        </p:nvSpPr>
        <p:spPr>
          <a:xfrm flipH="false" flipV="false" rot="0">
            <a:off x="806291" y="1876139"/>
            <a:ext cx="16670846" cy="938594"/>
          </a:xfrm>
          <a:custGeom>
            <a:avLst/>
            <a:gdLst/>
            <a:ahLst/>
            <a:cxnLst/>
            <a:rect r="r" b="b" t="t" l="l"/>
            <a:pathLst>
              <a:path h="938594" w="16670846">
                <a:moveTo>
                  <a:pt x="0" y="0"/>
                </a:moveTo>
                <a:lnTo>
                  <a:pt x="16670846" y="0"/>
                </a:lnTo>
                <a:lnTo>
                  <a:pt x="16670846" y="938594"/>
                </a:lnTo>
                <a:lnTo>
                  <a:pt x="0" y="938594"/>
                </a:lnTo>
                <a:lnTo>
                  <a:pt x="0" y="0"/>
                </a:lnTo>
                <a:close/>
              </a:path>
            </a:pathLst>
          </a:custGeom>
          <a:blipFill>
            <a:blip r:embed="rId3">
              <a:extLst>
                <a:ext uri="{96DAC541-7B7A-43D3-8B79-37D633B846F1}">
                  <asvg:svgBlip xmlns:asvg="http://schemas.microsoft.com/office/drawing/2016/SVG/main" r:embed="rId4"/>
                </a:ext>
              </a:extLst>
            </a:blip>
            <a:stretch>
              <a:fillRect l="0" t="-211" r="0" b="-211"/>
            </a:stretch>
          </a:blipFill>
        </p:spPr>
        <p:txBody>
          <a:bodyPr/>
          <a:p/>
        </p:txBody>
      </p:sp>
      <p:grpSp>
        <p:nvGrpSpPr>
          <p:cNvPr name="Group 7" id="7"/>
          <p:cNvGrpSpPr/>
          <p:nvPr/>
        </p:nvGrpSpPr>
        <p:grpSpPr>
          <a:xfrm rot="0">
            <a:off x="1165860" y="1892808"/>
            <a:ext cx="16047720" cy="905256"/>
            <a:chOff x="0" y="0"/>
            <a:chExt cx="21396960" cy="1207008"/>
          </a:xfrm>
        </p:grpSpPr>
        <p:sp>
          <p:nvSpPr>
            <p:cNvPr name="Freeform 8" id="8"/>
            <p:cNvSpPr/>
            <p:nvPr/>
          </p:nvSpPr>
          <p:spPr>
            <a:xfrm flipH="false" flipV="false" rot="0">
              <a:off x="0" y="0"/>
              <a:ext cx="21396961" cy="1207008"/>
            </a:xfrm>
            <a:custGeom>
              <a:avLst/>
              <a:gdLst/>
              <a:ahLst/>
              <a:cxnLst/>
              <a:rect r="r" b="b" t="t" l="l"/>
              <a:pathLst>
                <a:path h="1207008" w="21396961">
                  <a:moveTo>
                    <a:pt x="0" y="0"/>
                  </a:moveTo>
                  <a:lnTo>
                    <a:pt x="21396961" y="0"/>
                  </a:lnTo>
                  <a:lnTo>
                    <a:pt x="21396961" y="1207008"/>
                  </a:lnTo>
                  <a:lnTo>
                    <a:pt x="0" y="1207008"/>
                  </a:lnTo>
                  <a:close/>
                </a:path>
              </a:pathLst>
            </a:custGeom>
            <a:blipFill>
              <a:blip r:embed="rId2">
                <a:alphaModFix amt="0"/>
              </a:blip>
              <a:stretch>
                <a:fillRect l="0" t="-295176" r="0" b="-295175"/>
              </a:stretch>
            </a:blipFill>
          </p:spPr>
          <p:txBody>
            <a:bodyPr/>
            <a:p/>
          </p:txBody>
        </p:sp>
      </p:grpSp>
      <p:grpSp>
        <p:nvGrpSpPr>
          <p:cNvPr name="Group 9" id="9"/>
          <p:cNvGrpSpPr/>
          <p:nvPr/>
        </p:nvGrpSpPr>
        <p:grpSpPr>
          <a:xfrm rot="0">
            <a:off x="1165860" y="1857089"/>
            <a:ext cx="16047720" cy="940975"/>
            <a:chOff x="0" y="0"/>
            <a:chExt cx="21396960" cy="1254633"/>
          </a:xfrm>
        </p:grpSpPr>
        <p:sp>
          <p:nvSpPr>
            <p:cNvPr name="Freeform 10" id="10"/>
            <p:cNvSpPr/>
            <p:nvPr/>
          </p:nvSpPr>
          <p:spPr>
            <a:xfrm flipH="false" flipV="false" rot="0">
              <a:off x="0" y="0"/>
              <a:ext cx="21396961" cy="1254633"/>
            </a:xfrm>
            <a:custGeom>
              <a:avLst/>
              <a:gdLst/>
              <a:ahLst/>
              <a:cxnLst/>
              <a:rect r="r" b="b" t="t" l="l"/>
              <a:pathLst>
                <a:path h="1254633" w="21396961">
                  <a:moveTo>
                    <a:pt x="0" y="0"/>
                  </a:moveTo>
                  <a:lnTo>
                    <a:pt x="21396961" y="0"/>
                  </a:lnTo>
                  <a:lnTo>
                    <a:pt x="21396961" y="1254633"/>
                  </a:lnTo>
                  <a:lnTo>
                    <a:pt x="0" y="1254633"/>
                  </a:lnTo>
                  <a:close/>
                </a:path>
              </a:pathLst>
            </a:custGeom>
            <a:blipFill>
              <a:blip r:embed="rId5">
                <a:alphaModFix amt="0"/>
              </a:blip>
              <a:stretch>
                <a:fillRect l="0" t="-282074" r="0" b="-282073"/>
              </a:stretch>
            </a:blipFill>
          </p:spPr>
          <p:txBody>
            <a:bodyPr/>
            <a:p/>
          </p:txBody>
        </p:sp>
      </p:grpSp>
      <p:grpSp>
        <p:nvGrpSpPr>
          <p:cNvPr name="Group 11" id="11"/>
          <p:cNvGrpSpPr/>
          <p:nvPr/>
        </p:nvGrpSpPr>
        <p:grpSpPr>
          <a:xfrm rot="0">
            <a:off x="1165860" y="1821370"/>
            <a:ext cx="16047720" cy="976694"/>
            <a:chOff x="0" y="0"/>
            <a:chExt cx="21396960" cy="1302258"/>
          </a:xfrm>
        </p:grpSpPr>
        <p:sp>
          <p:nvSpPr>
            <p:cNvPr name="Freeform 12" id="12"/>
            <p:cNvSpPr/>
            <p:nvPr/>
          </p:nvSpPr>
          <p:spPr>
            <a:xfrm flipH="false" flipV="false" rot="0">
              <a:off x="0" y="0"/>
              <a:ext cx="21396961" cy="1302258"/>
            </a:xfrm>
            <a:custGeom>
              <a:avLst/>
              <a:gdLst/>
              <a:ahLst/>
              <a:cxnLst/>
              <a:rect r="r" b="b" t="t" l="l"/>
              <a:pathLst>
                <a:path h="1302258" w="21396961">
                  <a:moveTo>
                    <a:pt x="0" y="0"/>
                  </a:moveTo>
                  <a:lnTo>
                    <a:pt x="21396961" y="0"/>
                  </a:lnTo>
                  <a:lnTo>
                    <a:pt x="21396961" y="1302258"/>
                  </a:lnTo>
                  <a:lnTo>
                    <a:pt x="0" y="1302258"/>
                  </a:lnTo>
                  <a:close/>
                </a:path>
              </a:pathLst>
            </a:custGeom>
            <a:blipFill>
              <a:blip r:embed="rId6">
                <a:alphaModFix amt="0"/>
              </a:blip>
              <a:stretch>
                <a:fillRect l="0" t="-269929" r="0" b="-269928"/>
              </a:stretch>
            </a:blipFill>
          </p:spPr>
          <p:txBody>
            <a:bodyPr/>
            <a:p/>
          </p:txBody>
        </p:sp>
      </p:grpSp>
      <p:grpSp>
        <p:nvGrpSpPr>
          <p:cNvPr name="Group 13" id="13"/>
          <p:cNvGrpSpPr/>
          <p:nvPr/>
        </p:nvGrpSpPr>
        <p:grpSpPr>
          <a:xfrm rot="0">
            <a:off x="1165860" y="1785652"/>
            <a:ext cx="16047720" cy="1012412"/>
            <a:chOff x="0" y="0"/>
            <a:chExt cx="21396960" cy="1349883"/>
          </a:xfrm>
        </p:grpSpPr>
        <p:sp>
          <p:nvSpPr>
            <p:cNvPr name="Freeform 14" id="14"/>
            <p:cNvSpPr/>
            <p:nvPr/>
          </p:nvSpPr>
          <p:spPr>
            <a:xfrm flipH="false" flipV="false" rot="0">
              <a:off x="0" y="0"/>
              <a:ext cx="21396961" cy="1349884"/>
            </a:xfrm>
            <a:custGeom>
              <a:avLst/>
              <a:gdLst/>
              <a:ahLst/>
              <a:cxnLst/>
              <a:rect r="r" b="b" t="t" l="l"/>
              <a:pathLst>
                <a:path h="1349884" w="21396961">
                  <a:moveTo>
                    <a:pt x="0" y="0"/>
                  </a:moveTo>
                  <a:lnTo>
                    <a:pt x="21396961" y="0"/>
                  </a:lnTo>
                  <a:lnTo>
                    <a:pt x="21396961" y="1349884"/>
                  </a:lnTo>
                  <a:lnTo>
                    <a:pt x="0" y="1349884"/>
                  </a:lnTo>
                  <a:close/>
                </a:path>
              </a:pathLst>
            </a:custGeom>
            <a:blipFill>
              <a:blip r:embed="rId7">
                <a:alphaModFix amt="0"/>
              </a:blip>
              <a:stretch>
                <a:fillRect l="0" t="-258856" r="0" b="-258856"/>
              </a:stretch>
            </a:blipFill>
          </p:spPr>
          <p:txBody>
            <a:bodyPr/>
            <a:p/>
          </p:txBody>
        </p:sp>
        <p:sp>
          <p:nvSpPr>
            <p:cNvPr name="TextBox 15" id="15"/>
            <p:cNvSpPr txBox="true"/>
            <p:nvPr/>
          </p:nvSpPr>
          <p:spPr>
            <a:xfrm>
              <a:off x="0" y="-47625"/>
              <a:ext cx="21396960" cy="1397508"/>
            </a:xfrm>
            <a:prstGeom prst="rect">
              <a:avLst/>
            </a:prstGeom>
          </p:spPr>
          <p:txBody>
            <a:bodyPr anchor="ctr" rtlCol="false" tIns="0" lIns="0" bIns="0" rIns="0"/>
            <a:lstStyle/>
            <a:p>
              <a:pPr algn="l">
                <a:lnSpc>
                  <a:spcPts val="2340"/>
                </a:lnSpc>
              </a:pPr>
              <a:r>
                <a:rPr lang="en-US" sz="1950" b="true">
                  <a:solidFill>
                    <a:srgbClr val="13294B"/>
                  </a:solidFill>
                  <a:latin typeface="Calibri (MS) Bold"/>
                  <a:ea typeface="Calibri (MS) Bold"/>
                  <a:cs typeface="Calibri (MS) Bold"/>
                  <a:sym typeface="Calibri (MS) Bold"/>
                </a:rPr>
                <a:t>Phương pháp đề xuất  QLoRA trên Qwen2.5-VL-3B-Instruct + prompt tiếng Việt có chữ OCR (ViTextVQA). Model gốc đóng băng 4-bit NF4; chỉ train adapter LoRA. Hiện thực thành QLoRA nhận biết OCR (B3) ở slide 23.</a:t>
              </a:r>
            </a:p>
          </p:txBody>
        </p:sp>
      </p:grpSp>
      <p:grpSp>
        <p:nvGrpSpPr>
          <p:cNvPr name="Group 16" id="16"/>
          <p:cNvGrpSpPr/>
          <p:nvPr/>
        </p:nvGrpSpPr>
        <p:grpSpPr>
          <a:xfrm rot="0">
            <a:off x="822960" y="3017520"/>
            <a:ext cx="5966460" cy="5952744"/>
            <a:chOff x="0" y="0"/>
            <a:chExt cx="7955280" cy="7936992"/>
          </a:xfrm>
        </p:grpSpPr>
        <p:sp>
          <p:nvSpPr>
            <p:cNvPr name="Freeform 17" id="17"/>
            <p:cNvSpPr/>
            <p:nvPr/>
          </p:nvSpPr>
          <p:spPr>
            <a:xfrm flipH="false" flipV="false" rot="0">
              <a:off x="0" y="0"/>
              <a:ext cx="7955280" cy="7936992"/>
            </a:xfrm>
            <a:custGeom>
              <a:avLst/>
              <a:gdLst/>
              <a:ahLst/>
              <a:cxnLst/>
              <a:rect r="r" b="b" t="t" l="l"/>
              <a:pathLst>
                <a:path h="7936992" w="7955280">
                  <a:moveTo>
                    <a:pt x="0" y="317500"/>
                  </a:moveTo>
                  <a:cubicBezTo>
                    <a:pt x="0" y="142113"/>
                    <a:pt x="142113" y="0"/>
                    <a:pt x="317500" y="0"/>
                  </a:cubicBezTo>
                  <a:lnTo>
                    <a:pt x="7637780" y="0"/>
                  </a:lnTo>
                  <a:cubicBezTo>
                    <a:pt x="7813167" y="0"/>
                    <a:pt x="7955280" y="142113"/>
                    <a:pt x="7955280" y="317500"/>
                  </a:cubicBezTo>
                  <a:lnTo>
                    <a:pt x="7955280" y="7619492"/>
                  </a:lnTo>
                  <a:cubicBezTo>
                    <a:pt x="7955280" y="7794879"/>
                    <a:pt x="7813167" y="7936992"/>
                    <a:pt x="7637780" y="7936992"/>
                  </a:cubicBezTo>
                  <a:lnTo>
                    <a:pt x="317500" y="7936992"/>
                  </a:lnTo>
                  <a:cubicBezTo>
                    <a:pt x="142113" y="7936992"/>
                    <a:pt x="0" y="7794879"/>
                    <a:pt x="0" y="7619492"/>
                  </a:cubicBezTo>
                  <a:close/>
                </a:path>
              </a:pathLst>
            </a:custGeom>
            <a:solidFill>
              <a:srgbClr val="F3F5F8"/>
            </a:solidFill>
          </p:spPr>
          <p:txBody>
            <a:bodyPr/>
            <a:p/>
          </p:txBody>
        </p:sp>
      </p:grpSp>
      <p:grpSp>
        <p:nvGrpSpPr>
          <p:cNvPr name="Group 18" id="18"/>
          <p:cNvGrpSpPr/>
          <p:nvPr/>
        </p:nvGrpSpPr>
        <p:grpSpPr>
          <a:xfrm rot="0">
            <a:off x="1069848" y="3113532"/>
            <a:ext cx="5554980" cy="411480"/>
            <a:chOff x="0" y="0"/>
            <a:chExt cx="7406640" cy="548640"/>
          </a:xfrm>
        </p:grpSpPr>
        <p:sp>
          <p:nvSpPr>
            <p:cNvPr name="Freeform 19" id="19"/>
            <p:cNvSpPr/>
            <p:nvPr/>
          </p:nvSpPr>
          <p:spPr>
            <a:xfrm flipH="false" flipV="false" rot="0">
              <a:off x="0" y="0"/>
              <a:ext cx="7406640" cy="548640"/>
            </a:xfrm>
            <a:custGeom>
              <a:avLst/>
              <a:gdLst/>
              <a:ahLst/>
              <a:cxnLst/>
              <a:rect r="r" b="b" t="t" l="l"/>
              <a:pathLst>
                <a:path h="548640" w="7406640">
                  <a:moveTo>
                    <a:pt x="0" y="0"/>
                  </a:moveTo>
                  <a:lnTo>
                    <a:pt x="7406640" y="0"/>
                  </a:lnTo>
                  <a:lnTo>
                    <a:pt x="7406640" y="548640"/>
                  </a:lnTo>
                  <a:lnTo>
                    <a:pt x="0" y="548640"/>
                  </a:lnTo>
                  <a:close/>
                </a:path>
              </a:pathLst>
            </a:custGeom>
            <a:blipFill>
              <a:blip r:embed="rId2">
                <a:alphaModFix amt="0"/>
              </a:blip>
              <a:stretch>
                <a:fillRect l="0" t="-212865" r="0" b="-212863"/>
              </a:stretch>
            </a:blipFill>
          </p:spPr>
          <p:txBody>
            <a:bodyPr/>
            <a:p/>
          </p:txBody>
        </p:sp>
      </p:grpSp>
      <p:grpSp>
        <p:nvGrpSpPr>
          <p:cNvPr name="Group 20" id="20"/>
          <p:cNvGrpSpPr/>
          <p:nvPr/>
        </p:nvGrpSpPr>
        <p:grpSpPr>
          <a:xfrm rot="0">
            <a:off x="1069848" y="3084957"/>
            <a:ext cx="5554980" cy="440055"/>
            <a:chOff x="0" y="0"/>
            <a:chExt cx="7406640" cy="586740"/>
          </a:xfrm>
        </p:grpSpPr>
        <p:sp>
          <p:nvSpPr>
            <p:cNvPr name="Freeform 21" id="21"/>
            <p:cNvSpPr/>
            <p:nvPr/>
          </p:nvSpPr>
          <p:spPr>
            <a:xfrm flipH="false" flipV="false" rot="0">
              <a:off x="0" y="0"/>
              <a:ext cx="7406640" cy="586740"/>
            </a:xfrm>
            <a:custGeom>
              <a:avLst/>
              <a:gdLst/>
              <a:ahLst/>
              <a:cxnLst/>
              <a:rect r="r" b="b" t="t" l="l"/>
              <a:pathLst>
                <a:path h="586740" w="7406640">
                  <a:moveTo>
                    <a:pt x="0" y="0"/>
                  </a:moveTo>
                  <a:lnTo>
                    <a:pt x="7406640" y="0"/>
                  </a:lnTo>
                  <a:lnTo>
                    <a:pt x="7406640" y="586740"/>
                  </a:lnTo>
                  <a:lnTo>
                    <a:pt x="0" y="586740"/>
                  </a:lnTo>
                  <a:close/>
                </a:path>
              </a:pathLst>
            </a:custGeom>
            <a:blipFill>
              <a:blip r:embed="rId5">
                <a:alphaModFix amt="0"/>
              </a:blip>
              <a:stretch>
                <a:fillRect l="0" t="-195796" r="0" b="-195794"/>
              </a:stretch>
            </a:blipFill>
          </p:spPr>
          <p:txBody>
            <a:bodyPr/>
            <a:p/>
          </p:txBody>
        </p:sp>
      </p:grpSp>
      <p:grpSp>
        <p:nvGrpSpPr>
          <p:cNvPr name="Group 22" id="22"/>
          <p:cNvGrpSpPr/>
          <p:nvPr/>
        </p:nvGrpSpPr>
        <p:grpSpPr>
          <a:xfrm rot="0">
            <a:off x="1069848" y="3056382"/>
            <a:ext cx="5554980" cy="468630"/>
            <a:chOff x="0" y="0"/>
            <a:chExt cx="7406640" cy="624840"/>
          </a:xfrm>
        </p:grpSpPr>
        <p:sp>
          <p:nvSpPr>
            <p:cNvPr name="Freeform 23" id="23"/>
            <p:cNvSpPr/>
            <p:nvPr/>
          </p:nvSpPr>
          <p:spPr>
            <a:xfrm flipH="false" flipV="false" rot="0">
              <a:off x="0" y="0"/>
              <a:ext cx="7406640" cy="624840"/>
            </a:xfrm>
            <a:custGeom>
              <a:avLst/>
              <a:gdLst/>
              <a:ahLst/>
              <a:cxnLst/>
              <a:rect r="r" b="b" t="t" l="l"/>
              <a:pathLst>
                <a:path h="624840" w="7406640">
                  <a:moveTo>
                    <a:pt x="0" y="0"/>
                  </a:moveTo>
                  <a:lnTo>
                    <a:pt x="7406640" y="0"/>
                  </a:lnTo>
                  <a:lnTo>
                    <a:pt x="7406640" y="624840"/>
                  </a:lnTo>
                  <a:lnTo>
                    <a:pt x="0" y="624840"/>
                  </a:lnTo>
                  <a:close/>
                </a:path>
              </a:pathLst>
            </a:custGeom>
            <a:blipFill>
              <a:blip r:embed="rId6">
                <a:alphaModFix amt="0"/>
              </a:blip>
              <a:stretch>
                <a:fillRect l="0" t="-180808" r="0" b="-180806"/>
              </a:stretch>
            </a:blipFill>
          </p:spPr>
          <p:txBody>
            <a:bodyPr/>
            <a:p/>
          </p:txBody>
        </p:sp>
      </p:grpSp>
      <p:grpSp>
        <p:nvGrpSpPr>
          <p:cNvPr name="Group 24" id="24"/>
          <p:cNvGrpSpPr/>
          <p:nvPr/>
        </p:nvGrpSpPr>
        <p:grpSpPr>
          <a:xfrm rot="0">
            <a:off x="1069848" y="3027807"/>
            <a:ext cx="5554980" cy="497205"/>
            <a:chOff x="0" y="0"/>
            <a:chExt cx="7406640" cy="662940"/>
          </a:xfrm>
        </p:grpSpPr>
        <p:sp>
          <p:nvSpPr>
            <p:cNvPr name="Freeform 25" id="25"/>
            <p:cNvSpPr/>
            <p:nvPr/>
          </p:nvSpPr>
          <p:spPr>
            <a:xfrm flipH="false" flipV="false" rot="0">
              <a:off x="0" y="0"/>
              <a:ext cx="7406640" cy="662940"/>
            </a:xfrm>
            <a:custGeom>
              <a:avLst/>
              <a:gdLst/>
              <a:ahLst/>
              <a:cxnLst/>
              <a:rect r="r" b="b" t="t" l="l"/>
              <a:pathLst>
                <a:path h="662940" w="7406640">
                  <a:moveTo>
                    <a:pt x="0" y="0"/>
                  </a:moveTo>
                  <a:lnTo>
                    <a:pt x="7406640" y="0"/>
                  </a:lnTo>
                  <a:lnTo>
                    <a:pt x="7406640" y="662940"/>
                  </a:lnTo>
                  <a:lnTo>
                    <a:pt x="0" y="662940"/>
                  </a:lnTo>
                  <a:close/>
                </a:path>
              </a:pathLst>
            </a:custGeom>
            <a:blipFill>
              <a:blip r:embed="rId7">
                <a:alphaModFix amt="0"/>
              </a:blip>
              <a:stretch>
                <a:fillRect l="0" t="-167694" r="0" b="-167694"/>
              </a:stretch>
            </a:blipFill>
          </p:spPr>
          <p:txBody>
            <a:bodyPr/>
            <a:p/>
          </p:txBody>
        </p:sp>
        <p:sp>
          <p:nvSpPr>
            <p:cNvPr name="TextBox 26" id="26"/>
            <p:cNvSpPr txBox="true"/>
            <p:nvPr/>
          </p:nvSpPr>
          <p:spPr>
            <a:xfrm>
              <a:off x="0" y="-38100"/>
              <a:ext cx="7406640" cy="701040"/>
            </a:xfrm>
            <a:prstGeom prst="rect">
              <a:avLst/>
            </a:prstGeom>
          </p:spPr>
          <p:txBody>
            <a:bodyPr anchor="ctr" rtlCol="false" tIns="0" lIns="0" bIns="0" rIns="0"/>
            <a:lstStyle/>
            <a:p>
              <a:pPr algn="l">
                <a:lnSpc>
                  <a:spcPts val="1800"/>
                </a:lnSpc>
              </a:pPr>
              <a:r>
                <a:rPr lang="en-US" sz="1500" b="true">
                  <a:solidFill>
                    <a:srgbClr val="1C7293"/>
                  </a:solidFill>
                  <a:latin typeface="Calibri (MS) Bold"/>
                  <a:ea typeface="Calibri (MS) Bold"/>
                  <a:cs typeface="Calibri (MS) Bold"/>
                  <a:sym typeface="Calibri (MS) Bold"/>
                </a:rPr>
                <a:t>A · CHUẨN BỊ DỮ LIỆU  —  chạy 1 lần, cache</a:t>
              </a:r>
            </a:p>
          </p:txBody>
        </p:sp>
      </p:grpSp>
      <p:sp>
        <p:nvSpPr>
          <p:cNvPr name="Freeform 27" id="27"/>
          <p:cNvSpPr/>
          <p:nvPr/>
        </p:nvSpPr>
        <p:spPr>
          <a:xfrm flipH="false" flipV="false" rot="0">
            <a:off x="1049017" y="3709921"/>
            <a:ext cx="3360944" cy="1385840"/>
          </a:xfrm>
          <a:custGeom>
            <a:avLst/>
            <a:gdLst/>
            <a:ahLst/>
            <a:cxnLst/>
            <a:rect r="r" b="b" t="t" l="l"/>
            <a:pathLst>
              <a:path h="1385840" w="3360944">
                <a:moveTo>
                  <a:pt x="0" y="0"/>
                </a:moveTo>
                <a:lnTo>
                  <a:pt x="3360944" y="0"/>
                </a:lnTo>
                <a:lnTo>
                  <a:pt x="3360944" y="1385840"/>
                </a:lnTo>
                <a:lnTo>
                  <a:pt x="0" y="1385840"/>
                </a:lnTo>
                <a:lnTo>
                  <a:pt x="0" y="0"/>
                </a:lnTo>
                <a:close/>
              </a:path>
            </a:pathLst>
          </a:custGeom>
          <a:blipFill>
            <a:blip r:embed="rId8">
              <a:extLst>
                <a:ext uri="{96DAC541-7B7A-43D3-8B79-37D633B846F1}">
                  <asvg:svgBlip xmlns:asvg="http://schemas.microsoft.com/office/drawing/2016/SVG/main" r:embed="rId9"/>
                </a:ext>
              </a:extLst>
            </a:blip>
            <a:stretch>
              <a:fillRect l="0" t="-153" r="0" b="-152"/>
            </a:stretch>
          </a:blipFill>
        </p:spPr>
        <p:txBody>
          <a:bodyPr/>
          <a:p/>
        </p:txBody>
      </p:sp>
      <p:sp>
        <p:nvSpPr>
          <p:cNvPr name="Freeform 28" id="28"/>
          <p:cNvSpPr/>
          <p:nvPr/>
        </p:nvSpPr>
        <p:spPr>
          <a:xfrm flipH="false" flipV="false" rot="0">
            <a:off x="1217771" y="3878675"/>
            <a:ext cx="499682" cy="499681"/>
          </a:xfrm>
          <a:custGeom>
            <a:avLst/>
            <a:gdLst/>
            <a:ahLst/>
            <a:cxnLst/>
            <a:rect r="r" b="b" t="t" l="l"/>
            <a:pathLst>
              <a:path h="499681" w="499682">
                <a:moveTo>
                  <a:pt x="0" y="0"/>
                </a:moveTo>
                <a:lnTo>
                  <a:pt x="499682" y="0"/>
                </a:lnTo>
                <a:lnTo>
                  <a:pt x="499682" y="499682"/>
                </a:lnTo>
                <a:lnTo>
                  <a:pt x="0" y="4996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grpSp>
        <p:nvGrpSpPr>
          <p:cNvPr name="Group 29" id="29"/>
          <p:cNvGrpSpPr/>
          <p:nvPr/>
        </p:nvGrpSpPr>
        <p:grpSpPr>
          <a:xfrm rot="0">
            <a:off x="1224915" y="3857244"/>
            <a:ext cx="485394" cy="513969"/>
            <a:chOff x="0" y="0"/>
            <a:chExt cx="647192" cy="685292"/>
          </a:xfrm>
        </p:grpSpPr>
        <p:sp>
          <p:nvSpPr>
            <p:cNvPr name="Freeform 30" id="30"/>
            <p:cNvSpPr/>
            <p:nvPr/>
          </p:nvSpPr>
          <p:spPr>
            <a:xfrm flipH="false" flipV="false" rot="0">
              <a:off x="0" y="0"/>
              <a:ext cx="647192" cy="685292"/>
            </a:xfrm>
            <a:custGeom>
              <a:avLst/>
              <a:gdLst/>
              <a:ahLst/>
              <a:cxnLst/>
              <a:rect r="r" b="b" t="t" l="l"/>
              <a:pathLst>
                <a:path h="685292" w="647192">
                  <a:moveTo>
                    <a:pt x="0" y="0"/>
                  </a:moveTo>
                  <a:lnTo>
                    <a:pt x="647192" y="0"/>
                  </a:lnTo>
                  <a:lnTo>
                    <a:pt x="647192" y="685292"/>
                  </a:lnTo>
                  <a:lnTo>
                    <a:pt x="0" y="685292"/>
                  </a:lnTo>
                  <a:close/>
                </a:path>
              </a:pathLst>
            </a:custGeom>
            <a:blipFill>
              <a:blip r:embed="rId5">
                <a:alphaModFix amt="0"/>
              </a:blip>
              <a:stretch>
                <a:fillRect l="-85951" t="0" r="-85951" b="0"/>
              </a:stretch>
            </a:blipFill>
          </p:spPr>
          <p:txBody>
            <a:bodyPr/>
            <a:p/>
          </p:txBody>
        </p:sp>
      </p:grpSp>
      <p:grpSp>
        <p:nvGrpSpPr>
          <p:cNvPr name="Group 31" id="31"/>
          <p:cNvGrpSpPr/>
          <p:nvPr/>
        </p:nvGrpSpPr>
        <p:grpSpPr>
          <a:xfrm rot="0">
            <a:off x="1224915" y="3828669"/>
            <a:ext cx="485394" cy="542544"/>
            <a:chOff x="0" y="0"/>
            <a:chExt cx="647192" cy="723392"/>
          </a:xfrm>
        </p:grpSpPr>
        <p:sp>
          <p:nvSpPr>
            <p:cNvPr name="Freeform 32" id="32"/>
            <p:cNvSpPr/>
            <p:nvPr/>
          </p:nvSpPr>
          <p:spPr>
            <a:xfrm flipH="false" flipV="false" rot="0">
              <a:off x="0" y="0"/>
              <a:ext cx="647192" cy="723392"/>
            </a:xfrm>
            <a:custGeom>
              <a:avLst/>
              <a:gdLst/>
              <a:ahLst/>
              <a:cxnLst/>
              <a:rect r="r" b="b" t="t" l="l"/>
              <a:pathLst>
                <a:path h="723392" w="647192">
                  <a:moveTo>
                    <a:pt x="0" y="0"/>
                  </a:moveTo>
                  <a:lnTo>
                    <a:pt x="647192" y="0"/>
                  </a:lnTo>
                  <a:lnTo>
                    <a:pt x="647192" y="723392"/>
                  </a:lnTo>
                  <a:lnTo>
                    <a:pt x="0" y="723392"/>
                  </a:lnTo>
                  <a:close/>
                </a:path>
              </a:pathLst>
            </a:custGeom>
            <a:blipFill>
              <a:blip r:embed="rId6">
                <a:alphaModFix amt="0"/>
              </a:blip>
              <a:stretch>
                <a:fillRect l="-93510" t="0" r="-93508" b="0"/>
              </a:stretch>
            </a:blipFill>
          </p:spPr>
          <p:txBody>
            <a:bodyPr/>
            <a:p/>
          </p:txBody>
        </p:sp>
      </p:grpSp>
      <p:grpSp>
        <p:nvGrpSpPr>
          <p:cNvPr name="Group 33" id="33"/>
          <p:cNvGrpSpPr/>
          <p:nvPr/>
        </p:nvGrpSpPr>
        <p:grpSpPr>
          <a:xfrm rot="0">
            <a:off x="1224915" y="3800094"/>
            <a:ext cx="485394" cy="571119"/>
            <a:chOff x="0" y="0"/>
            <a:chExt cx="647192" cy="761492"/>
          </a:xfrm>
        </p:grpSpPr>
        <p:sp>
          <p:nvSpPr>
            <p:cNvPr name="Freeform 34" id="34"/>
            <p:cNvSpPr/>
            <p:nvPr/>
          </p:nvSpPr>
          <p:spPr>
            <a:xfrm flipH="false" flipV="false" rot="0">
              <a:off x="0" y="0"/>
              <a:ext cx="647192" cy="761492"/>
            </a:xfrm>
            <a:custGeom>
              <a:avLst/>
              <a:gdLst/>
              <a:ahLst/>
              <a:cxnLst/>
              <a:rect r="r" b="b" t="t" l="l"/>
              <a:pathLst>
                <a:path h="761492" w="647192">
                  <a:moveTo>
                    <a:pt x="0" y="0"/>
                  </a:moveTo>
                  <a:lnTo>
                    <a:pt x="647192" y="0"/>
                  </a:lnTo>
                  <a:lnTo>
                    <a:pt x="647192" y="761492"/>
                  </a:lnTo>
                  <a:lnTo>
                    <a:pt x="0" y="761492"/>
                  </a:lnTo>
                  <a:close/>
                </a:path>
              </a:pathLst>
            </a:custGeom>
            <a:blipFill>
              <a:blip r:embed="rId7">
                <a:alphaModFix amt="0"/>
              </a:blip>
              <a:stretch>
                <a:fillRect l="-100963" t="0" r="-100963" b="0"/>
              </a:stretch>
            </a:blipFill>
          </p:spPr>
          <p:txBody>
            <a:bodyPr/>
            <a:p/>
          </p:txBody>
        </p:sp>
        <p:sp>
          <p:nvSpPr>
            <p:cNvPr name="TextBox 35" id="35"/>
            <p:cNvSpPr txBox="true"/>
            <p:nvPr/>
          </p:nvSpPr>
          <p:spPr>
            <a:xfrm>
              <a:off x="0" y="-38100"/>
              <a:ext cx="647192" cy="7995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1</a:t>
              </a:r>
            </a:p>
          </p:txBody>
        </p:sp>
      </p:grpSp>
      <p:grpSp>
        <p:nvGrpSpPr>
          <p:cNvPr name="Group 36" id="36"/>
          <p:cNvGrpSpPr/>
          <p:nvPr/>
        </p:nvGrpSpPr>
        <p:grpSpPr>
          <a:xfrm rot="0">
            <a:off x="1810512" y="3867912"/>
            <a:ext cx="2468880" cy="521208"/>
            <a:chOff x="0" y="0"/>
            <a:chExt cx="3291840" cy="694944"/>
          </a:xfrm>
        </p:grpSpPr>
        <p:sp>
          <p:nvSpPr>
            <p:cNvPr name="Freeform 37" id="37"/>
            <p:cNvSpPr/>
            <p:nvPr/>
          </p:nvSpPr>
          <p:spPr>
            <a:xfrm flipH="false" flipV="false" rot="0">
              <a:off x="0" y="0"/>
              <a:ext cx="3291840" cy="694944"/>
            </a:xfrm>
            <a:custGeom>
              <a:avLst/>
              <a:gdLst/>
              <a:ahLst/>
              <a:cxnLst/>
              <a:rect r="r" b="b" t="t" l="l"/>
              <a:pathLst>
                <a:path h="694944" w="3291840">
                  <a:moveTo>
                    <a:pt x="0" y="0"/>
                  </a:moveTo>
                  <a:lnTo>
                    <a:pt x="3291840" y="0"/>
                  </a:lnTo>
                  <a:lnTo>
                    <a:pt x="3291840" y="694944"/>
                  </a:lnTo>
                  <a:lnTo>
                    <a:pt x="0" y="694944"/>
                  </a:lnTo>
                  <a:close/>
                </a:path>
              </a:pathLst>
            </a:custGeom>
            <a:blipFill>
              <a:blip r:embed="rId2">
                <a:alphaModFix amt="0"/>
              </a:blip>
              <a:stretch>
                <a:fillRect l="0" t="-42233" r="0" b="-42233"/>
              </a:stretch>
            </a:blipFill>
          </p:spPr>
          <p:txBody>
            <a:bodyPr/>
            <a:p/>
          </p:txBody>
        </p:sp>
      </p:grpSp>
      <p:grpSp>
        <p:nvGrpSpPr>
          <p:cNvPr name="Group 38" id="38"/>
          <p:cNvGrpSpPr/>
          <p:nvPr/>
        </p:nvGrpSpPr>
        <p:grpSpPr>
          <a:xfrm rot="0">
            <a:off x="1810512" y="3832193"/>
            <a:ext cx="2468880" cy="556927"/>
            <a:chOff x="0" y="0"/>
            <a:chExt cx="3291840" cy="742569"/>
          </a:xfrm>
        </p:grpSpPr>
        <p:sp>
          <p:nvSpPr>
            <p:cNvPr name="Freeform 39" id="39"/>
            <p:cNvSpPr/>
            <p:nvPr/>
          </p:nvSpPr>
          <p:spPr>
            <a:xfrm flipH="false" flipV="false" rot="0">
              <a:off x="0" y="0"/>
              <a:ext cx="3291840" cy="742569"/>
            </a:xfrm>
            <a:custGeom>
              <a:avLst/>
              <a:gdLst/>
              <a:ahLst/>
              <a:cxnLst/>
              <a:rect r="r" b="b" t="t" l="l"/>
              <a:pathLst>
                <a:path h="742569" w="3291840">
                  <a:moveTo>
                    <a:pt x="0" y="0"/>
                  </a:moveTo>
                  <a:lnTo>
                    <a:pt x="3291840" y="0"/>
                  </a:lnTo>
                  <a:lnTo>
                    <a:pt x="3291840" y="742569"/>
                  </a:lnTo>
                  <a:lnTo>
                    <a:pt x="0" y="742569"/>
                  </a:lnTo>
                  <a:close/>
                </a:path>
              </a:pathLst>
            </a:custGeom>
            <a:blipFill>
              <a:blip r:embed="rId5">
                <a:alphaModFix amt="0"/>
              </a:blip>
              <a:stretch>
                <a:fillRect l="0" t="-36317" r="0" b="-36317"/>
              </a:stretch>
            </a:blipFill>
          </p:spPr>
          <p:txBody>
            <a:bodyPr/>
            <a:p/>
          </p:txBody>
        </p:sp>
      </p:grpSp>
      <p:grpSp>
        <p:nvGrpSpPr>
          <p:cNvPr name="Group 40" id="40"/>
          <p:cNvGrpSpPr/>
          <p:nvPr/>
        </p:nvGrpSpPr>
        <p:grpSpPr>
          <a:xfrm rot="0">
            <a:off x="1810512" y="3796474"/>
            <a:ext cx="2468880" cy="592646"/>
            <a:chOff x="0" y="0"/>
            <a:chExt cx="3291840" cy="790194"/>
          </a:xfrm>
        </p:grpSpPr>
        <p:sp>
          <p:nvSpPr>
            <p:cNvPr name="Freeform 41" id="41"/>
            <p:cNvSpPr/>
            <p:nvPr/>
          </p:nvSpPr>
          <p:spPr>
            <a:xfrm flipH="false" flipV="false" rot="0">
              <a:off x="0" y="0"/>
              <a:ext cx="3291840" cy="790194"/>
            </a:xfrm>
            <a:custGeom>
              <a:avLst/>
              <a:gdLst/>
              <a:ahLst/>
              <a:cxnLst/>
              <a:rect r="r" b="b" t="t" l="l"/>
              <a:pathLst>
                <a:path h="790194" w="3291840">
                  <a:moveTo>
                    <a:pt x="0" y="0"/>
                  </a:moveTo>
                  <a:lnTo>
                    <a:pt x="3291840" y="0"/>
                  </a:lnTo>
                  <a:lnTo>
                    <a:pt x="3291840" y="790194"/>
                  </a:lnTo>
                  <a:lnTo>
                    <a:pt x="0" y="790194"/>
                  </a:lnTo>
                  <a:close/>
                </a:path>
              </a:pathLst>
            </a:custGeom>
            <a:blipFill>
              <a:blip r:embed="rId6">
                <a:alphaModFix amt="0"/>
              </a:blip>
              <a:stretch>
                <a:fillRect l="0" t="-31115" r="0" b="-31115"/>
              </a:stretch>
            </a:blipFill>
          </p:spPr>
          <p:txBody>
            <a:bodyPr/>
            <a:p/>
          </p:txBody>
        </p:sp>
      </p:grpSp>
      <p:grpSp>
        <p:nvGrpSpPr>
          <p:cNvPr name="Group 42" id="42"/>
          <p:cNvGrpSpPr/>
          <p:nvPr/>
        </p:nvGrpSpPr>
        <p:grpSpPr>
          <a:xfrm rot="0">
            <a:off x="1810512" y="3760756"/>
            <a:ext cx="2468880" cy="628364"/>
            <a:chOff x="0" y="0"/>
            <a:chExt cx="3291840" cy="837819"/>
          </a:xfrm>
        </p:grpSpPr>
        <p:sp>
          <p:nvSpPr>
            <p:cNvPr name="Freeform 43" id="43"/>
            <p:cNvSpPr/>
            <p:nvPr/>
          </p:nvSpPr>
          <p:spPr>
            <a:xfrm flipH="false" flipV="false" rot="0">
              <a:off x="0" y="0"/>
              <a:ext cx="3291840" cy="837820"/>
            </a:xfrm>
            <a:custGeom>
              <a:avLst/>
              <a:gdLst/>
              <a:ahLst/>
              <a:cxnLst/>
              <a:rect r="r" b="b" t="t" l="l"/>
              <a:pathLst>
                <a:path h="837820" w="3291840">
                  <a:moveTo>
                    <a:pt x="0" y="0"/>
                  </a:moveTo>
                  <a:lnTo>
                    <a:pt x="3291840" y="0"/>
                  </a:lnTo>
                  <a:lnTo>
                    <a:pt x="3291840" y="837820"/>
                  </a:lnTo>
                  <a:lnTo>
                    <a:pt x="0" y="837820"/>
                  </a:lnTo>
                  <a:close/>
                </a:path>
              </a:pathLst>
            </a:custGeom>
            <a:blipFill>
              <a:blip r:embed="rId7">
                <a:alphaModFix amt="0"/>
              </a:blip>
              <a:stretch>
                <a:fillRect l="0" t="-26557" r="0" b="-26557"/>
              </a:stretch>
            </a:blipFill>
          </p:spPr>
          <p:txBody>
            <a:bodyPr/>
            <a:p/>
          </p:txBody>
        </p:sp>
        <p:sp>
          <p:nvSpPr>
            <p:cNvPr name="TextBox 44" id="44"/>
            <p:cNvSpPr txBox="true"/>
            <p:nvPr/>
          </p:nvSpPr>
          <p:spPr>
            <a:xfrm>
              <a:off x="0" y="-47625"/>
              <a:ext cx="3291840" cy="885444"/>
            </a:xfrm>
            <a:prstGeom prst="rect">
              <a:avLst/>
            </a:prstGeom>
          </p:spPr>
          <p:txBody>
            <a:bodyPr anchor="ctr" rtlCol="false" tIns="0" lIns="0" bIns="0" rIns="0"/>
            <a:lstStyle/>
            <a:p>
              <a:pPr algn="l">
                <a:lnSpc>
                  <a:spcPts val="2340"/>
                </a:lnSpc>
              </a:pPr>
              <a:r>
                <a:rPr lang="en-US" sz="1950" b="true">
                  <a:solidFill>
                    <a:srgbClr val="13294B"/>
                  </a:solidFill>
                  <a:latin typeface="Calibri (MS) Bold"/>
                  <a:ea typeface="Calibri (MS) Bold"/>
                  <a:cs typeface="Calibri (MS) Bold"/>
                  <a:sym typeface="Calibri (MS) Bold"/>
                </a:rPr>
                <a:t>Dữ liệu</a:t>
              </a:r>
            </a:p>
          </p:txBody>
        </p:sp>
      </p:grpSp>
      <p:sp>
        <p:nvSpPr>
          <p:cNvPr name="TextBox 45" id="45"/>
          <p:cNvSpPr txBox="true"/>
          <p:nvPr/>
        </p:nvSpPr>
        <p:spPr>
          <a:xfrm rot="0">
            <a:off x="1261872" y="4367784"/>
            <a:ext cx="2962656" cy="624840"/>
          </a:xfrm>
          <a:prstGeom prst="rect">
            <a:avLst/>
          </a:prstGeom>
        </p:spPr>
        <p:txBody>
          <a:bodyPr anchor="t" rtlCol="false" tIns="0" lIns="0" bIns="0" rIns="0">
            <a:spAutoFit/>
          </a:bodyPr>
          <a:lstStyle/>
          <a:p>
            <a:pPr algn="l">
              <a:lnSpc>
                <a:spcPts val="1889"/>
              </a:lnSpc>
            </a:pPr>
            <a:r>
              <a:rPr lang="en-US" sz="1575">
                <a:solidFill>
                  <a:srgbClr val="5B677A"/>
                </a:solidFill>
                <a:latin typeface="Calibri (MS)"/>
                <a:ea typeface="Calibri (MS)"/>
                <a:cs typeface="Calibri (MS)"/>
                <a:sym typeface="Calibri (MS)"/>
              </a:rPr>
              <a:t>ViVQA + ViTextVQA (bản chính thức)</a:t>
            </a:r>
          </a:p>
        </p:txBody>
      </p:sp>
      <p:sp>
        <p:nvSpPr>
          <p:cNvPr name="Freeform 46" id="46"/>
          <p:cNvSpPr/>
          <p:nvPr/>
        </p:nvSpPr>
        <p:spPr>
          <a:xfrm flipH="false" flipV="false" rot="0">
            <a:off x="1049017" y="5465569"/>
            <a:ext cx="3360944" cy="1385840"/>
          </a:xfrm>
          <a:custGeom>
            <a:avLst/>
            <a:gdLst/>
            <a:ahLst/>
            <a:cxnLst/>
            <a:rect r="r" b="b" t="t" l="l"/>
            <a:pathLst>
              <a:path h="1385840" w="3360944">
                <a:moveTo>
                  <a:pt x="0" y="0"/>
                </a:moveTo>
                <a:lnTo>
                  <a:pt x="3360944" y="0"/>
                </a:lnTo>
                <a:lnTo>
                  <a:pt x="3360944" y="1385840"/>
                </a:lnTo>
                <a:lnTo>
                  <a:pt x="0" y="1385840"/>
                </a:lnTo>
                <a:lnTo>
                  <a:pt x="0" y="0"/>
                </a:lnTo>
                <a:close/>
              </a:path>
            </a:pathLst>
          </a:custGeom>
          <a:blipFill>
            <a:blip r:embed="rId8">
              <a:extLst>
                <a:ext uri="{96DAC541-7B7A-43D3-8B79-37D633B846F1}">
                  <asvg:svgBlip xmlns:asvg="http://schemas.microsoft.com/office/drawing/2016/SVG/main" r:embed="rId9"/>
                </a:ext>
              </a:extLst>
            </a:blip>
            <a:stretch>
              <a:fillRect l="0" t="-153" r="0" b="-152"/>
            </a:stretch>
          </a:blipFill>
        </p:spPr>
        <p:txBody>
          <a:bodyPr/>
          <a:p/>
        </p:txBody>
      </p:sp>
      <p:sp>
        <p:nvSpPr>
          <p:cNvPr name="Freeform 47" id="47"/>
          <p:cNvSpPr/>
          <p:nvPr/>
        </p:nvSpPr>
        <p:spPr>
          <a:xfrm flipH="false" flipV="false" rot="0">
            <a:off x="1217771" y="5634323"/>
            <a:ext cx="499682" cy="499681"/>
          </a:xfrm>
          <a:custGeom>
            <a:avLst/>
            <a:gdLst/>
            <a:ahLst/>
            <a:cxnLst/>
            <a:rect r="r" b="b" t="t" l="l"/>
            <a:pathLst>
              <a:path h="499681" w="499682">
                <a:moveTo>
                  <a:pt x="0" y="0"/>
                </a:moveTo>
                <a:lnTo>
                  <a:pt x="499682" y="0"/>
                </a:lnTo>
                <a:lnTo>
                  <a:pt x="499682" y="499682"/>
                </a:lnTo>
                <a:lnTo>
                  <a:pt x="0" y="4996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grpSp>
        <p:nvGrpSpPr>
          <p:cNvPr name="Group 48" id="48"/>
          <p:cNvGrpSpPr/>
          <p:nvPr/>
        </p:nvGrpSpPr>
        <p:grpSpPr>
          <a:xfrm rot="0">
            <a:off x="1224915" y="5612892"/>
            <a:ext cx="485394" cy="513969"/>
            <a:chOff x="0" y="0"/>
            <a:chExt cx="647192" cy="685292"/>
          </a:xfrm>
        </p:grpSpPr>
        <p:sp>
          <p:nvSpPr>
            <p:cNvPr name="Freeform 49" id="49"/>
            <p:cNvSpPr/>
            <p:nvPr/>
          </p:nvSpPr>
          <p:spPr>
            <a:xfrm flipH="false" flipV="false" rot="0">
              <a:off x="0" y="0"/>
              <a:ext cx="647192" cy="685292"/>
            </a:xfrm>
            <a:custGeom>
              <a:avLst/>
              <a:gdLst/>
              <a:ahLst/>
              <a:cxnLst/>
              <a:rect r="r" b="b" t="t" l="l"/>
              <a:pathLst>
                <a:path h="685292" w="647192">
                  <a:moveTo>
                    <a:pt x="0" y="0"/>
                  </a:moveTo>
                  <a:lnTo>
                    <a:pt x="647192" y="0"/>
                  </a:lnTo>
                  <a:lnTo>
                    <a:pt x="647192" y="685292"/>
                  </a:lnTo>
                  <a:lnTo>
                    <a:pt x="0" y="685292"/>
                  </a:lnTo>
                  <a:close/>
                </a:path>
              </a:pathLst>
            </a:custGeom>
            <a:blipFill>
              <a:blip r:embed="rId5">
                <a:alphaModFix amt="0"/>
              </a:blip>
              <a:stretch>
                <a:fillRect l="-85951" t="0" r="-85951" b="0"/>
              </a:stretch>
            </a:blipFill>
          </p:spPr>
          <p:txBody>
            <a:bodyPr/>
            <a:p/>
          </p:txBody>
        </p:sp>
      </p:grpSp>
      <p:grpSp>
        <p:nvGrpSpPr>
          <p:cNvPr name="Group 50" id="50"/>
          <p:cNvGrpSpPr/>
          <p:nvPr/>
        </p:nvGrpSpPr>
        <p:grpSpPr>
          <a:xfrm rot="0">
            <a:off x="1224915" y="5584317"/>
            <a:ext cx="485394" cy="542544"/>
            <a:chOff x="0" y="0"/>
            <a:chExt cx="647192" cy="723392"/>
          </a:xfrm>
        </p:grpSpPr>
        <p:sp>
          <p:nvSpPr>
            <p:cNvPr name="Freeform 51" id="51"/>
            <p:cNvSpPr/>
            <p:nvPr/>
          </p:nvSpPr>
          <p:spPr>
            <a:xfrm flipH="false" flipV="false" rot="0">
              <a:off x="0" y="0"/>
              <a:ext cx="647192" cy="723392"/>
            </a:xfrm>
            <a:custGeom>
              <a:avLst/>
              <a:gdLst/>
              <a:ahLst/>
              <a:cxnLst/>
              <a:rect r="r" b="b" t="t" l="l"/>
              <a:pathLst>
                <a:path h="723392" w="647192">
                  <a:moveTo>
                    <a:pt x="0" y="0"/>
                  </a:moveTo>
                  <a:lnTo>
                    <a:pt x="647192" y="0"/>
                  </a:lnTo>
                  <a:lnTo>
                    <a:pt x="647192" y="723392"/>
                  </a:lnTo>
                  <a:lnTo>
                    <a:pt x="0" y="723392"/>
                  </a:lnTo>
                  <a:close/>
                </a:path>
              </a:pathLst>
            </a:custGeom>
            <a:blipFill>
              <a:blip r:embed="rId6">
                <a:alphaModFix amt="0"/>
              </a:blip>
              <a:stretch>
                <a:fillRect l="-93510" t="0" r="-93508" b="0"/>
              </a:stretch>
            </a:blipFill>
          </p:spPr>
          <p:txBody>
            <a:bodyPr/>
            <a:p/>
          </p:txBody>
        </p:sp>
      </p:grpSp>
      <p:grpSp>
        <p:nvGrpSpPr>
          <p:cNvPr name="Group 52" id="52"/>
          <p:cNvGrpSpPr/>
          <p:nvPr/>
        </p:nvGrpSpPr>
        <p:grpSpPr>
          <a:xfrm rot="0">
            <a:off x="1224915" y="5555742"/>
            <a:ext cx="485394" cy="571119"/>
            <a:chOff x="0" y="0"/>
            <a:chExt cx="647192" cy="761492"/>
          </a:xfrm>
        </p:grpSpPr>
        <p:sp>
          <p:nvSpPr>
            <p:cNvPr name="Freeform 53" id="53"/>
            <p:cNvSpPr/>
            <p:nvPr/>
          </p:nvSpPr>
          <p:spPr>
            <a:xfrm flipH="false" flipV="false" rot="0">
              <a:off x="0" y="0"/>
              <a:ext cx="647192" cy="761492"/>
            </a:xfrm>
            <a:custGeom>
              <a:avLst/>
              <a:gdLst/>
              <a:ahLst/>
              <a:cxnLst/>
              <a:rect r="r" b="b" t="t" l="l"/>
              <a:pathLst>
                <a:path h="761492" w="647192">
                  <a:moveTo>
                    <a:pt x="0" y="0"/>
                  </a:moveTo>
                  <a:lnTo>
                    <a:pt x="647192" y="0"/>
                  </a:lnTo>
                  <a:lnTo>
                    <a:pt x="647192" y="761492"/>
                  </a:lnTo>
                  <a:lnTo>
                    <a:pt x="0" y="761492"/>
                  </a:lnTo>
                  <a:close/>
                </a:path>
              </a:pathLst>
            </a:custGeom>
            <a:blipFill>
              <a:blip r:embed="rId7">
                <a:alphaModFix amt="0"/>
              </a:blip>
              <a:stretch>
                <a:fillRect l="-100963" t="0" r="-100963" b="0"/>
              </a:stretch>
            </a:blipFill>
          </p:spPr>
          <p:txBody>
            <a:bodyPr/>
            <a:p/>
          </p:txBody>
        </p:sp>
        <p:sp>
          <p:nvSpPr>
            <p:cNvPr name="TextBox 54" id="54"/>
            <p:cNvSpPr txBox="true"/>
            <p:nvPr/>
          </p:nvSpPr>
          <p:spPr>
            <a:xfrm>
              <a:off x="0" y="-38100"/>
              <a:ext cx="647192" cy="7995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2</a:t>
              </a:r>
            </a:p>
          </p:txBody>
        </p:sp>
      </p:grpSp>
      <p:grpSp>
        <p:nvGrpSpPr>
          <p:cNvPr name="Group 55" id="55"/>
          <p:cNvGrpSpPr/>
          <p:nvPr/>
        </p:nvGrpSpPr>
        <p:grpSpPr>
          <a:xfrm rot="0">
            <a:off x="1810512" y="5623560"/>
            <a:ext cx="2468880" cy="521208"/>
            <a:chOff x="0" y="0"/>
            <a:chExt cx="3291840" cy="694944"/>
          </a:xfrm>
        </p:grpSpPr>
        <p:sp>
          <p:nvSpPr>
            <p:cNvPr name="Freeform 56" id="56"/>
            <p:cNvSpPr/>
            <p:nvPr/>
          </p:nvSpPr>
          <p:spPr>
            <a:xfrm flipH="false" flipV="false" rot="0">
              <a:off x="0" y="0"/>
              <a:ext cx="3291840" cy="694944"/>
            </a:xfrm>
            <a:custGeom>
              <a:avLst/>
              <a:gdLst/>
              <a:ahLst/>
              <a:cxnLst/>
              <a:rect r="r" b="b" t="t" l="l"/>
              <a:pathLst>
                <a:path h="694944" w="3291840">
                  <a:moveTo>
                    <a:pt x="0" y="0"/>
                  </a:moveTo>
                  <a:lnTo>
                    <a:pt x="3291840" y="0"/>
                  </a:lnTo>
                  <a:lnTo>
                    <a:pt x="3291840" y="694944"/>
                  </a:lnTo>
                  <a:lnTo>
                    <a:pt x="0" y="694944"/>
                  </a:lnTo>
                  <a:close/>
                </a:path>
              </a:pathLst>
            </a:custGeom>
            <a:blipFill>
              <a:blip r:embed="rId2">
                <a:alphaModFix amt="0"/>
              </a:blip>
              <a:stretch>
                <a:fillRect l="0" t="-42233" r="0" b="-42233"/>
              </a:stretch>
            </a:blipFill>
          </p:spPr>
          <p:txBody>
            <a:bodyPr/>
            <a:p/>
          </p:txBody>
        </p:sp>
      </p:grpSp>
      <p:grpSp>
        <p:nvGrpSpPr>
          <p:cNvPr name="Group 57" id="57"/>
          <p:cNvGrpSpPr/>
          <p:nvPr/>
        </p:nvGrpSpPr>
        <p:grpSpPr>
          <a:xfrm rot="0">
            <a:off x="1810512" y="5587841"/>
            <a:ext cx="2468880" cy="556927"/>
            <a:chOff x="0" y="0"/>
            <a:chExt cx="3291840" cy="742569"/>
          </a:xfrm>
        </p:grpSpPr>
        <p:sp>
          <p:nvSpPr>
            <p:cNvPr name="Freeform 58" id="58"/>
            <p:cNvSpPr/>
            <p:nvPr/>
          </p:nvSpPr>
          <p:spPr>
            <a:xfrm flipH="false" flipV="false" rot="0">
              <a:off x="0" y="0"/>
              <a:ext cx="3291840" cy="742569"/>
            </a:xfrm>
            <a:custGeom>
              <a:avLst/>
              <a:gdLst/>
              <a:ahLst/>
              <a:cxnLst/>
              <a:rect r="r" b="b" t="t" l="l"/>
              <a:pathLst>
                <a:path h="742569" w="3291840">
                  <a:moveTo>
                    <a:pt x="0" y="0"/>
                  </a:moveTo>
                  <a:lnTo>
                    <a:pt x="3291840" y="0"/>
                  </a:lnTo>
                  <a:lnTo>
                    <a:pt x="3291840" y="742569"/>
                  </a:lnTo>
                  <a:lnTo>
                    <a:pt x="0" y="742569"/>
                  </a:lnTo>
                  <a:close/>
                </a:path>
              </a:pathLst>
            </a:custGeom>
            <a:blipFill>
              <a:blip r:embed="rId5">
                <a:alphaModFix amt="0"/>
              </a:blip>
              <a:stretch>
                <a:fillRect l="0" t="-36317" r="0" b="-36317"/>
              </a:stretch>
            </a:blipFill>
          </p:spPr>
          <p:txBody>
            <a:bodyPr/>
            <a:p/>
          </p:txBody>
        </p:sp>
      </p:grpSp>
      <p:grpSp>
        <p:nvGrpSpPr>
          <p:cNvPr name="Group 59" id="59"/>
          <p:cNvGrpSpPr/>
          <p:nvPr/>
        </p:nvGrpSpPr>
        <p:grpSpPr>
          <a:xfrm rot="0">
            <a:off x="1810512" y="5552122"/>
            <a:ext cx="2468880" cy="592646"/>
            <a:chOff x="0" y="0"/>
            <a:chExt cx="3291840" cy="790194"/>
          </a:xfrm>
        </p:grpSpPr>
        <p:sp>
          <p:nvSpPr>
            <p:cNvPr name="Freeform 60" id="60"/>
            <p:cNvSpPr/>
            <p:nvPr/>
          </p:nvSpPr>
          <p:spPr>
            <a:xfrm flipH="false" flipV="false" rot="0">
              <a:off x="0" y="0"/>
              <a:ext cx="3291840" cy="790194"/>
            </a:xfrm>
            <a:custGeom>
              <a:avLst/>
              <a:gdLst/>
              <a:ahLst/>
              <a:cxnLst/>
              <a:rect r="r" b="b" t="t" l="l"/>
              <a:pathLst>
                <a:path h="790194" w="3291840">
                  <a:moveTo>
                    <a:pt x="0" y="0"/>
                  </a:moveTo>
                  <a:lnTo>
                    <a:pt x="3291840" y="0"/>
                  </a:lnTo>
                  <a:lnTo>
                    <a:pt x="3291840" y="790194"/>
                  </a:lnTo>
                  <a:lnTo>
                    <a:pt x="0" y="790194"/>
                  </a:lnTo>
                  <a:close/>
                </a:path>
              </a:pathLst>
            </a:custGeom>
            <a:blipFill>
              <a:blip r:embed="rId6">
                <a:alphaModFix amt="0"/>
              </a:blip>
              <a:stretch>
                <a:fillRect l="0" t="-31115" r="0" b="-31115"/>
              </a:stretch>
            </a:blipFill>
          </p:spPr>
          <p:txBody>
            <a:bodyPr/>
            <a:p/>
          </p:txBody>
        </p:sp>
      </p:grpSp>
      <p:grpSp>
        <p:nvGrpSpPr>
          <p:cNvPr name="Group 61" id="61"/>
          <p:cNvGrpSpPr/>
          <p:nvPr/>
        </p:nvGrpSpPr>
        <p:grpSpPr>
          <a:xfrm rot="0">
            <a:off x="1810512" y="5516404"/>
            <a:ext cx="2468880" cy="628364"/>
            <a:chOff x="0" y="0"/>
            <a:chExt cx="3291840" cy="837819"/>
          </a:xfrm>
        </p:grpSpPr>
        <p:sp>
          <p:nvSpPr>
            <p:cNvPr name="Freeform 62" id="62"/>
            <p:cNvSpPr/>
            <p:nvPr/>
          </p:nvSpPr>
          <p:spPr>
            <a:xfrm flipH="false" flipV="false" rot="0">
              <a:off x="0" y="0"/>
              <a:ext cx="3291840" cy="837820"/>
            </a:xfrm>
            <a:custGeom>
              <a:avLst/>
              <a:gdLst/>
              <a:ahLst/>
              <a:cxnLst/>
              <a:rect r="r" b="b" t="t" l="l"/>
              <a:pathLst>
                <a:path h="837820" w="3291840">
                  <a:moveTo>
                    <a:pt x="0" y="0"/>
                  </a:moveTo>
                  <a:lnTo>
                    <a:pt x="3291840" y="0"/>
                  </a:lnTo>
                  <a:lnTo>
                    <a:pt x="3291840" y="837820"/>
                  </a:lnTo>
                  <a:lnTo>
                    <a:pt x="0" y="837820"/>
                  </a:lnTo>
                  <a:close/>
                </a:path>
              </a:pathLst>
            </a:custGeom>
            <a:blipFill>
              <a:blip r:embed="rId7">
                <a:alphaModFix amt="0"/>
              </a:blip>
              <a:stretch>
                <a:fillRect l="0" t="-26557" r="0" b="-26557"/>
              </a:stretch>
            </a:blipFill>
          </p:spPr>
          <p:txBody>
            <a:bodyPr/>
            <a:p/>
          </p:txBody>
        </p:sp>
        <p:sp>
          <p:nvSpPr>
            <p:cNvPr name="TextBox 63" id="63"/>
            <p:cNvSpPr txBox="true"/>
            <p:nvPr/>
          </p:nvSpPr>
          <p:spPr>
            <a:xfrm>
              <a:off x="0" y="-47625"/>
              <a:ext cx="3291840" cy="885444"/>
            </a:xfrm>
            <a:prstGeom prst="rect">
              <a:avLst/>
            </a:prstGeom>
          </p:spPr>
          <p:txBody>
            <a:bodyPr anchor="ctr" rtlCol="false" tIns="0" lIns="0" bIns="0" rIns="0"/>
            <a:lstStyle/>
            <a:p>
              <a:pPr algn="l">
                <a:lnSpc>
                  <a:spcPts val="2340"/>
                </a:lnSpc>
              </a:pPr>
              <a:r>
                <a:rPr lang="en-US" sz="1950" b="true">
                  <a:solidFill>
                    <a:srgbClr val="13294B"/>
                  </a:solidFill>
                  <a:latin typeface="Calibri (MS) Bold"/>
                  <a:ea typeface="Calibri (MS) Bold"/>
                  <a:cs typeface="Calibri (MS) Bold"/>
                  <a:sym typeface="Calibri (MS) Bold"/>
                </a:rPr>
                <a:t>Tiền xử lý</a:t>
              </a:r>
            </a:p>
          </p:txBody>
        </p:sp>
      </p:grpSp>
      <p:sp>
        <p:nvSpPr>
          <p:cNvPr name="TextBox 64" id="64"/>
          <p:cNvSpPr txBox="true"/>
          <p:nvPr/>
        </p:nvSpPr>
        <p:spPr>
          <a:xfrm rot="0">
            <a:off x="1261872" y="6123432"/>
            <a:ext cx="2962656" cy="624840"/>
          </a:xfrm>
          <a:prstGeom prst="rect">
            <a:avLst/>
          </a:prstGeom>
        </p:spPr>
        <p:txBody>
          <a:bodyPr anchor="t" rtlCol="false" tIns="0" lIns="0" bIns="0" rIns="0">
            <a:spAutoFit/>
          </a:bodyPr>
          <a:lstStyle/>
          <a:p>
            <a:pPr algn="l">
              <a:lnSpc>
                <a:spcPts val="1889"/>
              </a:lnSpc>
            </a:pPr>
            <a:r>
              <a:rPr lang="en-US" sz="1575">
                <a:solidFill>
                  <a:srgbClr val="5B677A"/>
                </a:solidFill>
                <a:latin typeface="Calibri (MS)"/>
                <a:ea typeface="Calibri (MS)"/>
                <a:cs typeface="Calibri (MS)"/>
                <a:sym typeface="Calibri (MS)"/>
              </a:rPr>
              <a:t>chữ: NFC, chữ thường · ảnh: RGB, resize ≤ 512 token</a:t>
            </a:r>
          </a:p>
        </p:txBody>
      </p:sp>
      <p:sp>
        <p:nvSpPr>
          <p:cNvPr name="Freeform 65" id="65"/>
          <p:cNvSpPr/>
          <p:nvPr/>
        </p:nvSpPr>
        <p:spPr>
          <a:xfrm flipH="false" flipV="false" rot="0">
            <a:off x="4670041" y="5465569"/>
            <a:ext cx="1934480" cy="1385840"/>
          </a:xfrm>
          <a:custGeom>
            <a:avLst/>
            <a:gdLst/>
            <a:ahLst/>
            <a:cxnLst/>
            <a:rect r="r" b="b" t="t" l="l"/>
            <a:pathLst>
              <a:path h="1385840" w="1934480">
                <a:moveTo>
                  <a:pt x="0" y="0"/>
                </a:moveTo>
                <a:lnTo>
                  <a:pt x="1934480" y="0"/>
                </a:lnTo>
                <a:lnTo>
                  <a:pt x="1934480" y="1385840"/>
                </a:lnTo>
                <a:lnTo>
                  <a:pt x="0" y="1385840"/>
                </a:lnTo>
                <a:lnTo>
                  <a:pt x="0" y="0"/>
                </a:lnTo>
                <a:close/>
              </a:path>
            </a:pathLst>
          </a:custGeom>
          <a:blipFill>
            <a:blip r:embed="rId12">
              <a:extLst>
                <a:ext uri="{96DAC541-7B7A-43D3-8B79-37D633B846F1}">
                  <asvg:svgBlip xmlns:asvg="http://schemas.microsoft.com/office/drawing/2016/SVG/main" r:embed="rId13"/>
                </a:ext>
              </a:extLst>
            </a:blip>
            <a:stretch>
              <a:fillRect l="-49" t="0" r="-48" b="0"/>
            </a:stretch>
          </a:blipFill>
        </p:spPr>
        <p:txBody>
          <a:bodyPr/>
          <a:p/>
        </p:txBody>
      </p:sp>
      <p:sp>
        <p:nvSpPr>
          <p:cNvPr name="Freeform 66" id="66"/>
          <p:cNvSpPr/>
          <p:nvPr/>
        </p:nvSpPr>
        <p:spPr>
          <a:xfrm flipH="false" flipV="false" rot="0">
            <a:off x="4838795" y="5634323"/>
            <a:ext cx="499681" cy="499681"/>
          </a:xfrm>
          <a:custGeom>
            <a:avLst/>
            <a:gdLst/>
            <a:ahLst/>
            <a:cxnLst/>
            <a:rect r="r" b="b" t="t" l="l"/>
            <a:pathLst>
              <a:path h="499681" w="499681">
                <a:moveTo>
                  <a:pt x="0" y="0"/>
                </a:moveTo>
                <a:lnTo>
                  <a:pt x="499682" y="0"/>
                </a:lnTo>
                <a:lnTo>
                  <a:pt x="499682" y="499682"/>
                </a:lnTo>
                <a:lnTo>
                  <a:pt x="0" y="49968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txBody>
          <a:bodyPr/>
          <a:p/>
        </p:txBody>
      </p:sp>
      <p:grpSp>
        <p:nvGrpSpPr>
          <p:cNvPr name="Group 67" id="67"/>
          <p:cNvGrpSpPr/>
          <p:nvPr/>
        </p:nvGrpSpPr>
        <p:grpSpPr>
          <a:xfrm rot="0">
            <a:off x="4845939" y="5612892"/>
            <a:ext cx="485394" cy="513969"/>
            <a:chOff x="0" y="0"/>
            <a:chExt cx="647192" cy="685292"/>
          </a:xfrm>
        </p:grpSpPr>
        <p:sp>
          <p:nvSpPr>
            <p:cNvPr name="Freeform 68" id="68"/>
            <p:cNvSpPr/>
            <p:nvPr/>
          </p:nvSpPr>
          <p:spPr>
            <a:xfrm flipH="false" flipV="false" rot="0">
              <a:off x="0" y="0"/>
              <a:ext cx="647192" cy="685292"/>
            </a:xfrm>
            <a:custGeom>
              <a:avLst/>
              <a:gdLst/>
              <a:ahLst/>
              <a:cxnLst/>
              <a:rect r="r" b="b" t="t" l="l"/>
              <a:pathLst>
                <a:path h="685292" w="647192">
                  <a:moveTo>
                    <a:pt x="0" y="0"/>
                  </a:moveTo>
                  <a:lnTo>
                    <a:pt x="647192" y="0"/>
                  </a:lnTo>
                  <a:lnTo>
                    <a:pt x="647192" y="685292"/>
                  </a:lnTo>
                  <a:lnTo>
                    <a:pt x="0" y="685292"/>
                  </a:lnTo>
                  <a:close/>
                </a:path>
              </a:pathLst>
            </a:custGeom>
            <a:blipFill>
              <a:blip r:embed="rId5">
                <a:alphaModFix amt="0"/>
              </a:blip>
              <a:stretch>
                <a:fillRect l="-85951" t="0" r="-85951" b="0"/>
              </a:stretch>
            </a:blipFill>
          </p:spPr>
          <p:txBody>
            <a:bodyPr/>
            <a:p/>
          </p:txBody>
        </p:sp>
      </p:grpSp>
      <p:grpSp>
        <p:nvGrpSpPr>
          <p:cNvPr name="Group 69" id="69"/>
          <p:cNvGrpSpPr/>
          <p:nvPr/>
        </p:nvGrpSpPr>
        <p:grpSpPr>
          <a:xfrm rot="0">
            <a:off x="4845939" y="5584317"/>
            <a:ext cx="485394" cy="542544"/>
            <a:chOff x="0" y="0"/>
            <a:chExt cx="647192" cy="723392"/>
          </a:xfrm>
        </p:grpSpPr>
        <p:sp>
          <p:nvSpPr>
            <p:cNvPr name="Freeform 70" id="70"/>
            <p:cNvSpPr/>
            <p:nvPr/>
          </p:nvSpPr>
          <p:spPr>
            <a:xfrm flipH="false" flipV="false" rot="0">
              <a:off x="0" y="0"/>
              <a:ext cx="647192" cy="723392"/>
            </a:xfrm>
            <a:custGeom>
              <a:avLst/>
              <a:gdLst/>
              <a:ahLst/>
              <a:cxnLst/>
              <a:rect r="r" b="b" t="t" l="l"/>
              <a:pathLst>
                <a:path h="723392" w="647192">
                  <a:moveTo>
                    <a:pt x="0" y="0"/>
                  </a:moveTo>
                  <a:lnTo>
                    <a:pt x="647192" y="0"/>
                  </a:lnTo>
                  <a:lnTo>
                    <a:pt x="647192" y="723392"/>
                  </a:lnTo>
                  <a:lnTo>
                    <a:pt x="0" y="723392"/>
                  </a:lnTo>
                  <a:close/>
                </a:path>
              </a:pathLst>
            </a:custGeom>
            <a:blipFill>
              <a:blip r:embed="rId6">
                <a:alphaModFix amt="0"/>
              </a:blip>
              <a:stretch>
                <a:fillRect l="-93510" t="0" r="-93508" b="0"/>
              </a:stretch>
            </a:blipFill>
          </p:spPr>
          <p:txBody>
            <a:bodyPr/>
            <a:p/>
          </p:txBody>
        </p:sp>
      </p:grpSp>
      <p:grpSp>
        <p:nvGrpSpPr>
          <p:cNvPr name="Group 71" id="71"/>
          <p:cNvGrpSpPr/>
          <p:nvPr/>
        </p:nvGrpSpPr>
        <p:grpSpPr>
          <a:xfrm rot="0">
            <a:off x="4845939" y="5555742"/>
            <a:ext cx="485394" cy="571119"/>
            <a:chOff x="0" y="0"/>
            <a:chExt cx="647192" cy="761492"/>
          </a:xfrm>
        </p:grpSpPr>
        <p:sp>
          <p:nvSpPr>
            <p:cNvPr name="Freeform 72" id="72"/>
            <p:cNvSpPr/>
            <p:nvPr/>
          </p:nvSpPr>
          <p:spPr>
            <a:xfrm flipH="false" flipV="false" rot="0">
              <a:off x="0" y="0"/>
              <a:ext cx="647192" cy="761492"/>
            </a:xfrm>
            <a:custGeom>
              <a:avLst/>
              <a:gdLst/>
              <a:ahLst/>
              <a:cxnLst/>
              <a:rect r="r" b="b" t="t" l="l"/>
              <a:pathLst>
                <a:path h="761492" w="647192">
                  <a:moveTo>
                    <a:pt x="0" y="0"/>
                  </a:moveTo>
                  <a:lnTo>
                    <a:pt x="647192" y="0"/>
                  </a:lnTo>
                  <a:lnTo>
                    <a:pt x="647192" y="761492"/>
                  </a:lnTo>
                  <a:lnTo>
                    <a:pt x="0" y="761492"/>
                  </a:lnTo>
                  <a:close/>
                </a:path>
              </a:pathLst>
            </a:custGeom>
            <a:blipFill>
              <a:blip r:embed="rId7">
                <a:alphaModFix amt="0"/>
              </a:blip>
              <a:stretch>
                <a:fillRect l="-100963" t="0" r="-100963" b="0"/>
              </a:stretch>
            </a:blipFill>
          </p:spPr>
          <p:txBody>
            <a:bodyPr/>
            <a:p/>
          </p:txBody>
        </p:sp>
        <p:sp>
          <p:nvSpPr>
            <p:cNvPr name="TextBox 73" id="73"/>
            <p:cNvSpPr txBox="true"/>
            <p:nvPr/>
          </p:nvSpPr>
          <p:spPr>
            <a:xfrm>
              <a:off x="0" y="-38100"/>
              <a:ext cx="647192" cy="7995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3</a:t>
              </a:r>
            </a:p>
          </p:txBody>
        </p:sp>
      </p:grpSp>
      <p:grpSp>
        <p:nvGrpSpPr>
          <p:cNvPr name="Group 74" id="74"/>
          <p:cNvGrpSpPr/>
          <p:nvPr/>
        </p:nvGrpSpPr>
        <p:grpSpPr>
          <a:xfrm rot="0">
            <a:off x="5431536" y="5623560"/>
            <a:ext cx="1042416" cy="521208"/>
            <a:chOff x="0" y="0"/>
            <a:chExt cx="1389888" cy="694944"/>
          </a:xfrm>
        </p:grpSpPr>
        <p:sp>
          <p:nvSpPr>
            <p:cNvPr name="Freeform 75" id="75"/>
            <p:cNvSpPr/>
            <p:nvPr/>
          </p:nvSpPr>
          <p:spPr>
            <a:xfrm flipH="false" flipV="false" rot="0">
              <a:off x="0" y="0"/>
              <a:ext cx="1389888" cy="694944"/>
            </a:xfrm>
            <a:custGeom>
              <a:avLst/>
              <a:gdLst/>
              <a:ahLst/>
              <a:cxnLst/>
              <a:rect r="r" b="b" t="t" l="l"/>
              <a:pathLst>
                <a:path h="694944" w="1389888">
                  <a:moveTo>
                    <a:pt x="0" y="0"/>
                  </a:moveTo>
                  <a:lnTo>
                    <a:pt x="1389888" y="0"/>
                  </a:lnTo>
                  <a:lnTo>
                    <a:pt x="1389888" y="694944"/>
                  </a:lnTo>
                  <a:lnTo>
                    <a:pt x="0" y="694944"/>
                  </a:lnTo>
                  <a:close/>
                </a:path>
              </a:pathLst>
            </a:custGeom>
            <a:blipFill>
              <a:blip r:embed="rId2">
                <a:alphaModFix amt="0"/>
              </a:blip>
              <a:stretch>
                <a:fillRect l="-14196" t="0" r="-14195" b="0"/>
              </a:stretch>
            </a:blipFill>
          </p:spPr>
          <p:txBody>
            <a:bodyPr/>
            <a:p/>
          </p:txBody>
        </p:sp>
      </p:grpSp>
      <p:grpSp>
        <p:nvGrpSpPr>
          <p:cNvPr name="Group 76" id="76"/>
          <p:cNvGrpSpPr/>
          <p:nvPr/>
        </p:nvGrpSpPr>
        <p:grpSpPr>
          <a:xfrm rot="0">
            <a:off x="5431536" y="5587841"/>
            <a:ext cx="1042416" cy="556927"/>
            <a:chOff x="0" y="0"/>
            <a:chExt cx="1389888" cy="742569"/>
          </a:xfrm>
        </p:grpSpPr>
        <p:sp>
          <p:nvSpPr>
            <p:cNvPr name="Freeform 77" id="77"/>
            <p:cNvSpPr/>
            <p:nvPr/>
          </p:nvSpPr>
          <p:spPr>
            <a:xfrm flipH="false" flipV="false" rot="0">
              <a:off x="0" y="0"/>
              <a:ext cx="1389888" cy="742569"/>
            </a:xfrm>
            <a:custGeom>
              <a:avLst/>
              <a:gdLst/>
              <a:ahLst/>
              <a:cxnLst/>
              <a:rect r="r" b="b" t="t" l="l"/>
              <a:pathLst>
                <a:path h="742569" w="1389888">
                  <a:moveTo>
                    <a:pt x="0" y="0"/>
                  </a:moveTo>
                  <a:lnTo>
                    <a:pt x="1389888" y="0"/>
                  </a:lnTo>
                  <a:lnTo>
                    <a:pt x="1389888" y="742569"/>
                  </a:lnTo>
                  <a:lnTo>
                    <a:pt x="0" y="742569"/>
                  </a:lnTo>
                  <a:close/>
                </a:path>
              </a:pathLst>
            </a:custGeom>
            <a:blipFill>
              <a:blip r:embed="rId5">
                <a:alphaModFix amt="0"/>
              </a:blip>
              <a:stretch>
                <a:fillRect l="-18595" t="0" r="-18596" b="0"/>
              </a:stretch>
            </a:blipFill>
          </p:spPr>
          <p:txBody>
            <a:bodyPr/>
            <a:p/>
          </p:txBody>
        </p:sp>
      </p:grpSp>
      <p:grpSp>
        <p:nvGrpSpPr>
          <p:cNvPr name="Group 78" id="78"/>
          <p:cNvGrpSpPr/>
          <p:nvPr/>
        </p:nvGrpSpPr>
        <p:grpSpPr>
          <a:xfrm rot="0">
            <a:off x="5431536" y="5552122"/>
            <a:ext cx="1042416" cy="592646"/>
            <a:chOff x="0" y="0"/>
            <a:chExt cx="1389888" cy="790194"/>
          </a:xfrm>
        </p:grpSpPr>
        <p:sp>
          <p:nvSpPr>
            <p:cNvPr name="Freeform 79" id="79"/>
            <p:cNvSpPr/>
            <p:nvPr/>
          </p:nvSpPr>
          <p:spPr>
            <a:xfrm flipH="false" flipV="false" rot="0">
              <a:off x="0" y="0"/>
              <a:ext cx="1389888" cy="790194"/>
            </a:xfrm>
            <a:custGeom>
              <a:avLst/>
              <a:gdLst/>
              <a:ahLst/>
              <a:cxnLst/>
              <a:rect r="r" b="b" t="t" l="l"/>
              <a:pathLst>
                <a:path h="790194" w="1389888">
                  <a:moveTo>
                    <a:pt x="0" y="0"/>
                  </a:moveTo>
                  <a:lnTo>
                    <a:pt x="1389888" y="0"/>
                  </a:lnTo>
                  <a:lnTo>
                    <a:pt x="1389888" y="790194"/>
                  </a:lnTo>
                  <a:lnTo>
                    <a:pt x="0" y="790194"/>
                  </a:lnTo>
                  <a:close/>
                </a:path>
              </a:pathLst>
            </a:custGeom>
            <a:blipFill>
              <a:blip r:embed="rId6">
                <a:alphaModFix amt="0"/>
              </a:blip>
              <a:stretch>
                <a:fillRect l="-22995" t="0" r="-22995" b="0"/>
              </a:stretch>
            </a:blipFill>
          </p:spPr>
          <p:txBody>
            <a:bodyPr/>
            <a:p/>
          </p:txBody>
        </p:sp>
      </p:grpSp>
      <p:grpSp>
        <p:nvGrpSpPr>
          <p:cNvPr name="Group 80" id="80"/>
          <p:cNvGrpSpPr/>
          <p:nvPr/>
        </p:nvGrpSpPr>
        <p:grpSpPr>
          <a:xfrm rot="0">
            <a:off x="5431536" y="5516404"/>
            <a:ext cx="1042416" cy="628364"/>
            <a:chOff x="0" y="0"/>
            <a:chExt cx="1389888" cy="837819"/>
          </a:xfrm>
        </p:grpSpPr>
        <p:sp>
          <p:nvSpPr>
            <p:cNvPr name="Freeform 81" id="81"/>
            <p:cNvSpPr/>
            <p:nvPr/>
          </p:nvSpPr>
          <p:spPr>
            <a:xfrm flipH="false" flipV="false" rot="0">
              <a:off x="0" y="0"/>
              <a:ext cx="1389888" cy="837820"/>
            </a:xfrm>
            <a:custGeom>
              <a:avLst/>
              <a:gdLst/>
              <a:ahLst/>
              <a:cxnLst/>
              <a:rect r="r" b="b" t="t" l="l"/>
              <a:pathLst>
                <a:path h="837820" w="1389888">
                  <a:moveTo>
                    <a:pt x="0" y="0"/>
                  </a:moveTo>
                  <a:lnTo>
                    <a:pt x="1389888" y="0"/>
                  </a:lnTo>
                  <a:lnTo>
                    <a:pt x="1389888" y="837820"/>
                  </a:lnTo>
                  <a:lnTo>
                    <a:pt x="0" y="837820"/>
                  </a:lnTo>
                  <a:close/>
                </a:path>
              </a:pathLst>
            </a:custGeom>
            <a:blipFill>
              <a:blip r:embed="rId7">
                <a:alphaModFix amt="0"/>
              </a:blip>
              <a:stretch>
                <a:fillRect l="-27340" t="0" r="-27340" b="0"/>
              </a:stretch>
            </a:blipFill>
          </p:spPr>
          <p:txBody>
            <a:bodyPr/>
            <a:p/>
          </p:txBody>
        </p:sp>
        <p:sp>
          <p:nvSpPr>
            <p:cNvPr name="TextBox 82" id="82"/>
            <p:cNvSpPr txBox="true"/>
            <p:nvPr/>
          </p:nvSpPr>
          <p:spPr>
            <a:xfrm>
              <a:off x="0" y="-47625"/>
              <a:ext cx="1389888" cy="885444"/>
            </a:xfrm>
            <a:prstGeom prst="rect">
              <a:avLst/>
            </a:prstGeom>
          </p:spPr>
          <p:txBody>
            <a:bodyPr anchor="ctr" rtlCol="false" tIns="0" lIns="0" bIns="0" rIns="0"/>
            <a:lstStyle/>
            <a:p>
              <a:pPr algn="l">
                <a:lnSpc>
                  <a:spcPts val="2340"/>
                </a:lnSpc>
              </a:pPr>
              <a:r>
                <a:rPr lang="en-US" sz="1950" b="true">
                  <a:solidFill>
                    <a:srgbClr val="13294B"/>
                  </a:solidFill>
                  <a:latin typeface="Calibri (MS) Bold"/>
                  <a:ea typeface="Calibri (MS) Bold"/>
                  <a:cs typeface="Calibri (MS) Bold"/>
                  <a:sym typeface="Calibri (MS) Bold"/>
                </a:rPr>
                <a:t>OCR</a:t>
              </a:r>
            </a:p>
          </p:txBody>
        </p:sp>
      </p:grpSp>
      <p:sp>
        <p:nvSpPr>
          <p:cNvPr name="Freeform 83" id="83"/>
          <p:cNvSpPr/>
          <p:nvPr/>
        </p:nvSpPr>
        <p:spPr>
          <a:xfrm flipH="false" flipV="false" rot="0">
            <a:off x="5030819" y="5291423"/>
            <a:ext cx="1432369" cy="376238"/>
          </a:xfrm>
          <a:custGeom>
            <a:avLst/>
            <a:gdLst/>
            <a:ahLst/>
            <a:cxnLst/>
            <a:rect r="r" b="b" t="t" l="l"/>
            <a:pathLst>
              <a:path h="376238" w="1432369">
                <a:moveTo>
                  <a:pt x="0" y="0"/>
                </a:moveTo>
                <a:lnTo>
                  <a:pt x="1432370" y="0"/>
                </a:lnTo>
                <a:lnTo>
                  <a:pt x="1432370" y="376238"/>
                </a:lnTo>
                <a:lnTo>
                  <a:pt x="0" y="376238"/>
                </a:lnTo>
                <a:lnTo>
                  <a:pt x="0" y="0"/>
                </a:lnTo>
                <a:close/>
              </a:path>
            </a:pathLst>
          </a:custGeom>
          <a:blipFill>
            <a:blip r:embed="rId16">
              <a:extLst>
                <a:ext uri="{96DAC541-7B7A-43D3-8B79-37D633B846F1}">
                  <asvg:svgBlip xmlns:asvg="http://schemas.microsoft.com/office/drawing/2016/SVG/main" r:embed="rId17"/>
                </a:ext>
              </a:extLst>
            </a:blip>
            <a:stretch>
              <a:fillRect l="0" t="-425" r="0" b="-425"/>
            </a:stretch>
          </a:blipFill>
        </p:spPr>
        <p:txBody>
          <a:bodyPr/>
          <a:p/>
        </p:txBody>
      </p:sp>
      <p:grpSp>
        <p:nvGrpSpPr>
          <p:cNvPr name="Group 84" id="84"/>
          <p:cNvGrpSpPr/>
          <p:nvPr/>
        </p:nvGrpSpPr>
        <p:grpSpPr>
          <a:xfrm rot="0">
            <a:off x="5037963" y="5277136"/>
            <a:ext cx="1418082" cy="383381"/>
            <a:chOff x="0" y="0"/>
            <a:chExt cx="1890776" cy="511175"/>
          </a:xfrm>
        </p:grpSpPr>
        <p:sp>
          <p:nvSpPr>
            <p:cNvPr name="Freeform 85" id="85"/>
            <p:cNvSpPr/>
            <p:nvPr/>
          </p:nvSpPr>
          <p:spPr>
            <a:xfrm flipH="false" flipV="false" rot="0">
              <a:off x="0" y="0"/>
              <a:ext cx="1890776" cy="511175"/>
            </a:xfrm>
            <a:custGeom>
              <a:avLst/>
              <a:gdLst/>
              <a:ahLst/>
              <a:cxnLst/>
              <a:rect r="r" b="b" t="t" l="l"/>
              <a:pathLst>
                <a:path h="511175" w="1890776">
                  <a:moveTo>
                    <a:pt x="0" y="0"/>
                  </a:moveTo>
                  <a:lnTo>
                    <a:pt x="1890776" y="0"/>
                  </a:lnTo>
                  <a:lnTo>
                    <a:pt x="1890776" y="511175"/>
                  </a:lnTo>
                  <a:lnTo>
                    <a:pt x="0" y="511175"/>
                  </a:lnTo>
                  <a:close/>
                </a:path>
              </a:pathLst>
            </a:custGeom>
            <a:blipFill>
              <a:blip r:embed="rId5">
                <a:alphaModFix amt="0"/>
              </a:blip>
              <a:stretch>
                <a:fillRect l="0" t="-22022" r="0" b="-22022"/>
              </a:stretch>
            </a:blipFill>
          </p:spPr>
          <p:txBody>
            <a:bodyPr/>
            <a:p/>
          </p:txBody>
        </p:sp>
      </p:grpSp>
      <p:grpSp>
        <p:nvGrpSpPr>
          <p:cNvPr name="Group 86" id="86"/>
          <p:cNvGrpSpPr/>
          <p:nvPr/>
        </p:nvGrpSpPr>
        <p:grpSpPr>
          <a:xfrm rot="0">
            <a:off x="5037963" y="5255704"/>
            <a:ext cx="1418082" cy="404812"/>
            <a:chOff x="0" y="0"/>
            <a:chExt cx="1890776" cy="539750"/>
          </a:xfrm>
        </p:grpSpPr>
        <p:sp>
          <p:nvSpPr>
            <p:cNvPr name="Freeform 87" id="87"/>
            <p:cNvSpPr/>
            <p:nvPr/>
          </p:nvSpPr>
          <p:spPr>
            <a:xfrm flipH="false" flipV="false" rot="0">
              <a:off x="0" y="0"/>
              <a:ext cx="1890776" cy="539750"/>
            </a:xfrm>
            <a:custGeom>
              <a:avLst/>
              <a:gdLst/>
              <a:ahLst/>
              <a:cxnLst/>
              <a:rect r="r" b="b" t="t" l="l"/>
              <a:pathLst>
                <a:path h="539750" w="1890776">
                  <a:moveTo>
                    <a:pt x="0" y="0"/>
                  </a:moveTo>
                  <a:lnTo>
                    <a:pt x="1890776" y="0"/>
                  </a:lnTo>
                  <a:lnTo>
                    <a:pt x="1890776" y="539750"/>
                  </a:lnTo>
                  <a:lnTo>
                    <a:pt x="0" y="539750"/>
                  </a:lnTo>
                  <a:close/>
                </a:path>
              </a:pathLst>
            </a:custGeom>
            <a:blipFill>
              <a:blip r:embed="rId6">
                <a:alphaModFix amt="0"/>
              </a:blip>
              <a:stretch>
                <a:fillRect l="0" t="-18209" r="0" b="-18209"/>
              </a:stretch>
            </a:blipFill>
          </p:spPr>
          <p:txBody>
            <a:bodyPr/>
            <a:p/>
          </p:txBody>
        </p:sp>
      </p:grpSp>
      <p:grpSp>
        <p:nvGrpSpPr>
          <p:cNvPr name="Group 88" id="88"/>
          <p:cNvGrpSpPr/>
          <p:nvPr/>
        </p:nvGrpSpPr>
        <p:grpSpPr>
          <a:xfrm rot="0">
            <a:off x="5037963" y="5234273"/>
            <a:ext cx="1418082" cy="426244"/>
            <a:chOff x="0" y="0"/>
            <a:chExt cx="1890776" cy="568325"/>
          </a:xfrm>
        </p:grpSpPr>
        <p:sp>
          <p:nvSpPr>
            <p:cNvPr name="Freeform 89" id="89"/>
            <p:cNvSpPr/>
            <p:nvPr/>
          </p:nvSpPr>
          <p:spPr>
            <a:xfrm flipH="false" flipV="false" rot="0">
              <a:off x="0" y="0"/>
              <a:ext cx="1890776" cy="568324"/>
            </a:xfrm>
            <a:custGeom>
              <a:avLst/>
              <a:gdLst/>
              <a:ahLst/>
              <a:cxnLst/>
              <a:rect r="r" b="b" t="t" l="l"/>
              <a:pathLst>
                <a:path h="568324" w="1890776">
                  <a:moveTo>
                    <a:pt x="0" y="0"/>
                  </a:moveTo>
                  <a:lnTo>
                    <a:pt x="1890776" y="0"/>
                  </a:lnTo>
                  <a:lnTo>
                    <a:pt x="1890776" y="568324"/>
                  </a:lnTo>
                  <a:lnTo>
                    <a:pt x="0" y="568324"/>
                  </a:lnTo>
                  <a:close/>
                </a:path>
              </a:pathLst>
            </a:custGeom>
            <a:blipFill>
              <a:blip r:embed="rId7">
                <a:alphaModFix amt="0"/>
              </a:blip>
              <a:stretch>
                <a:fillRect l="0" t="-14825" r="0" b="-14825"/>
              </a:stretch>
            </a:blipFill>
          </p:spPr>
          <p:txBody>
            <a:bodyPr/>
            <a:p/>
          </p:txBody>
        </p:sp>
        <p:sp>
          <p:nvSpPr>
            <p:cNvPr name="TextBox 90" id="90"/>
            <p:cNvSpPr txBox="true"/>
            <p:nvPr/>
          </p:nvSpPr>
          <p:spPr>
            <a:xfrm>
              <a:off x="0" y="-28575"/>
              <a:ext cx="1890776" cy="596900"/>
            </a:xfrm>
            <a:prstGeom prst="rect">
              <a:avLst/>
            </a:prstGeom>
          </p:spPr>
          <p:txBody>
            <a:bodyPr anchor="ctr" rtlCol="false" tIns="0" lIns="0" bIns="0" rIns="0"/>
            <a:lstStyle/>
            <a:p>
              <a:pPr algn="ctr">
                <a:lnSpc>
                  <a:spcPts val="1620"/>
                </a:lnSpc>
              </a:pPr>
              <a:r>
                <a:rPr lang="en-US" sz="1350" b="true">
                  <a:solidFill>
                    <a:srgbClr val="FFFFFF"/>
                  </a:solidFill>
                  <a:latin typeface="Calibri (MS) Bold"/>
                  <a:ea typeface="Calibri (MS) Bold"/>
                  <a:cs typeface="Calibri (MS) Bold"/>
                  <a:sym typeface="Calibri (MS) Bold"/>
                </a:rPr>
                <a:t>chỉ ViTextVQA</a:t>
              </a:r>
            </a:p>
          </p:txBody>
        </p:sp>
      </p:grpSp>
      <p:sp>
        <p:nvSpPr>
          <p:cNvPr name="TextBox 91" id="91"/>
          <p:cNvSpPr txBox="true"/>
          <p:nvPr/>
        </p:nvSpPr>
        <p:spPr>
          <a:xfrm rot="0">
            <a:off x="4882896" y="6123432"/>
            <a:ext cx="1536192" cy="624840"/>
          </a:xfrm>
          <a:prstGeom prst="rect">
            <a:avLst/>
          </a:prstGeom>
        </p:spPr>
        <p:txBody>
          <a:bodyPr anchor="t" rtlCol="false" tIns="0" lIns="0" bIns="0" rIns="0">
            <a:spAutoFit/>
          </a:bodyPr>
          <a:lstStyle/>
          <a:p>
            <a:pPr algn="l">
              <a:lnSpc>
                <a:spcPts val="1889"/>
              </a:lnSpc>
            </a:pPr>
            <a:r>
              <a:rPr lang="en-US" sz="1575">
                <a:solidFill>
                  <a:srgbClr val="5B677A"/>
                </a:solidFill>
                <a:latin typeface="Calibri (MS)"/>
                <a:ea typeface="Calibri (MS)"/>
                <a:cs typeface="Calibri (MS)"/>
                <a:sym typeface="Calibri (MS)"/>
              </a:rPr>
              <a:t>VietOCR; sắp trái-trên → phải-dưới</a:t>
            </a:r>
          </a:p>
        </p:txBody>
      </p:sp>
      <p:sp>
        <p:nvSpPr>
          <p:cNvPr name="Freeform 92" id="92"/>
          <p:cNvSpPr/>
          <p:nvPr/>
        </p:nvSpPr>
        <p:spPr>
          <a:xfrm flipH="false" flipV="false" rot="0">
            <a:off x="1049017" y="7221217"/>
            <a:ext cx="3360944" cy="1385840"/>
          </a:xfrm>
          <a:custGeom>
            <a:avLst/>
            <a:gdLst/>
            <a:ahLst/>
            <a:cxnLst/>
            <a:rect r="r" b="b" t="t" l="l"/>
            <a:pathLst>
              <a:path h="1385840" w="3360944">
                <a:moveTo>
                  <a:pt x="0" y="0"/>
                </a:moveTo>
                <a:lnTo>
                  <a:pt x="3360944" y="0"/>
                </a:lnTo>
                <a:lnTo>
                  <a:pt x="3360944" y="1385840"/>
                </a:lnTo>
                <a:lnTo>
                  <a:pt x="0" y="1385840"/>
                </a:lnTo>
                <a:lnTo>
                  <a:pt x="0" y="0"/>
                </a:lnTo>
                <a:close/>
              </a:path>
            </a:pathLst>
          </a:custGeom>
          <a:blipFill>
            <a:blip r:embed="rId8">
              <a:extLst>
                <a:ext uri="{96DAC541-7B7A-43D3-8B79-37D633B846F1}">
                  <asvg:svgBlip xmlns:asvg="http://schemas.microsoft.com/office/drawing/2016/SVG/main" r:embed="rId9"/>
                </a:ext>
              </a:extLst>
            </a:blip>
            <a:stretch>
              <a:fillRect l="0" t="-153" r="0" b="-152"/>
            </a:stretch>
          </a:blipFill>
        </p:spPr>
        <p:txBody>
          <a:bodyPr/>
          <a:p/>
        </p:txBody>
      </p:sp>
      <p:sp>
        <p:nvSpPr>
          <p:cNvPr name="Freeform 93" id="93"/>
          <p:cNvSpPr/>
          <p:nvPr/>
        </p:nvSpPr>
        <p:spPr>
          <a:xfrm flipH="false" flipV="false" rot="0">
            <a:off x="1217771" y="7389971"/>
            <a:ext cx="499682" cy="499682"/>
          </a:xfrm>
          <a:custGeom>
            <a:avLst/>
            <a:gdLst/>
            <a:ahLst/>
            <a:cxnLst/>
            <a:rect r="r" b="b" t="t" l="l"/>
            <a:pathLst>
              <a:path h="499682" w="499682">
                <a:moveTo>
                  <a:pt x="0" y="0"/>
                </a:moveTo>
                <a:lnTo>
                  <a:pt x="499682" y="0"/>
                </a:lnTo>
                <a:lnTo>
                  <a:pt x="499682" y="499682"/>
                </a:lnTo>
                <a:lnTo>
                  <a:pt x="0" y="4996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grpSp>
        <p:nvGrpSpPr>
          <p:cNvPr name="Group 94" id="94"/>
          <p:cNvGrpSpPr/>
          <p:nvPr/>
        </p:nvGrpSpPr>
        <p:grpSpPr>
          <a:xfrm rot="0">
            <a:off x="1224915" y="7368540"/>
            <a:ext cx="485394" cy="513969"/>
            <a:chOff x="0" y="0"/>
            <a:chExt cx="647192" cy="685292"/>
          </a:xfrm>
        </p:grpSpPr>
        <p:sp>
          <p:nvSpPr>
            <p:cNvPr name="Freeform 95" id="95"/>
            <p:cNvSpPr/>
            <p:nvPr/>
          </p:nvSpPr>
          <p:spPr>
            <a:xfrm flipH="false" flipV="false" rot="0">
              <a:off x="0" y="0"/>
              <a:ext cx="647192" cy="685292"/>
            </a:xfrm>
            <a:custGeom>
              <a:avLst/>
              <a:gdLst/>
              <a:ahLst/>
              <a:cxnLst/>
              <a:rect r="r" b="b" t="t" l="l"/>
              <a:pathLst>
                <a:path h="685292" w="647192">
                  <a:moveTo>
                    <a:pt x="0" y="0"/>
                  </a:moveTo>
                  <a:lnTo>
                    <a:pt x="647192" y="0"/>
                  </a:lnTo>
                  <a:lnTo>
                    <a:pt x="647192" y="685292"/>
                  </a:lnTo>
                  <a:lnTo>
                    <a:pt x="0" y="685292"/>
                  </a:lnTo>
                  <a:close/>
                </a:path>
              </a:pathLst>
            </a:custGeom>
            <a:blipFill>
              <a:blip r:embed="rId5">
                <a:alphaModFix amt="0"/>
              </a:blip>
              <a:stretch>
                <a:fillRect l="-85951" t="0" r="-85951" b="0"/>
              </a:stretch>
            </a:blipFill>
          </p:spPr>
          <p:txBody>
            <a:bodyPr/>
            <a:p/>
          </p:txBody>
        </p:sp>
      </p:grpSp>
      <p:grpSp>
        <p:nvGrpSpPr>
          <p:cNvPr name="Group 96" id="96"/>
          <p:cNvGrpSpPr/>
          <p:nvPr/>
        </p:nvGrpSpPr>
        <p:grpSpPr>
          <a:xfrm rot="0">
            <a:off x="1224915" y="7339965"/>
            <a:ext cx="485394" cy="542544"/>
            <a:chOff x="0" y="0"/>
            <a:chExt cx="647192" cy="723392"/>
          </a:xfrm>
        </p:grpSpPr>
        <p:sp>
          <p:nvSpPr>
            <p:cNvPr name="Freeform 97" id="97"/>
            <p:cNvSpPr/>
            <p:nvPr/>
          </p:nvSpPr>
          <p:spPr>
            <a:xfrm flipH="false" flipV="false" rot="0">
              <a:off x="0" y="0"/>
              <a:ext cx="647192" cy="723392"/>
            </a:xfrm>
            <a:custGeom>
              <a:avLst/>
              <a:gdLst/>
              <a:ahLst/>
              <a:cxnLst/>
              <a:rect r="r" b="b" t="t" l="l"/>
              <a:pathLst>
                <a:path h="723392" w="647192">
                  <a:moveTo>
                    <a:pt x="0" y="0"/>
                  </a:moveTo>
                  <a:lnTo>
                    <a:pt x="647192" y="0"/>
                  </a:lnTo>
                  <a:lnTo>
                    <a:pt x="647192" y="723392"/>
                  </a:lnTo>
                  <a:lnTo>
                    <a:pt x="0" y="723392"/>
                  </a:lnTo>
                  <a:close/>
                </a:path>
              </a:pathLst>
            </a:custGeom>
            <a:blipFill>
              <a:blip r:embed="rId6">
                <a:alphaModFix amt="0"/>
              </a:blip>
              <a:stretch>
                <a:fillRect l="-93510" t="0" r="-93508" b="0"/>
              </a:stretch>
            </a:blipFill>
          </p:spPr>
          <p:txBody>
            <a:bodyPr/>
            <a:p/>
          </p:txBody>
        </p:sp>
      </p:grpSp>
      <p:grpSp>
        <p:nvGrpSpPr>
          <p:cNvPr name="Group 98" id="98"/>
          <p:cNvGrpSpPr/>
          <p:nvPr/>
        </p:nvGrpSpPr>
        <p:grpSpPr>
          <a:xfrm rot="0">
            <a:off x="1224915" y="7311390"/>
            <a:ext cx="485394" cy="571119"/>
            <a:chOff x="0" y="0"/>
            <a:chExt cx="647192" cy="761492"/>
          </a:xfrm>
        </p:grpSpPr>
        <p:sp>
          <p:nvSpPr>
            <p:cNvPr name="Freeform 99" id="99"/>
            <p:cNvSpPr/>
            <p:nvPr/>
          </p:nvSpPr>
          <p:spPr>
            <a:xfrm flipH="false" flipV="false" rot="0">
              <a:off x="0" y="0"/>
              <a:ext cx="647192" cy="761492"/>
            </a:xfrm>
            <a:custGeom>
              <a:avLst/>
              <a:gdLst/>
              <a:ahLst/>
              <a:cxnLst/>
              <a:rect r="r" b="b" t="t" l="l"/>
              <a:pathLst>
                <a:path h="761492" w="647192">
                  <a:moveTo>
                    <a:pt x="0" y="0"/>
                  </a:moveTo>
                  <a:lnTo>
                    <a:pt x="647192" y="0"/>
                  </a:lnTo>
                  <a:lnTo>
                    <a:pt x="647192" y="761492"/>
                  </a:lnTo>
                  <a:lnTo>
                    <a:pt x="0" y="761492"/>
                  </a:lnTo>
                  <a:close/>
                </a:path>
              </a:pathLst>
            </a:custGeom>
            <a:blipFill>
              <a:blip r:embed="rId7">
                <a:alphaModFix amt="0"/>
              </a:blip>
              <a:stretch>
                <a:fillRect l="-100963" t="0" r="-100963" b="0"/>
              </a:stretch>
            </a:blipFill>
          </p:spPr>
          <p:txBody>
            <a:bodyPr/>
            <a:p/>
          </p:txBody>
        </p:sp>
        <p:sp>
          <p:nvSpPr>
            <p:cNvPr name="TextBox 100" id="100"/>
            <p:cNvSpPr txBox="true"/>
            <p:nvPr/>
          </p:nvSpPr>
          <p:spPr>
            <a:xfrm>
              <a:off x="0" y="-38100"/>
              <a:ext cx="647192" cy="7995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4</a:t>
              </a:r>
            </a:p>
          </p:txBody>
        </p:sp>
      </p:grpSp>
      <p:grpSp>
        <p:nvGrpSpPr>
          <p:cNvPr name="Group 101" id="101"/>
          <p:cNvGrpSpPr/>
          <p:nvPr/>
        </p:nvGrpSpPr>
        <p:grpSpPr>
          <a:xfrm rot="0">
            <a:off x="1810512" y="7379208"/>
            <a:ext cx="2468880" cy="521208"/>
            <a:chOff x="0" y="0"/>
            <a:chExt cx="3291840" cy="694944"/>
          </a:xfrm>
        </p:grpSpPr>
        <p:sp>
          <p:nvSpPr>
            <p:cNvPr name="Freeform 102" id="102"/>
            <p:cNvSpPr/>
            <p:nvPr/>
          </p:nvSpPr>
          <p:spPr>
            <a:xfrm flipH="false" flipV="false" rot="0">
              <a:off x="0" y="0"/>
              <a:ext cx="3291840" cy="694944"/>
            </a:xfrm>
            <a:custGeom>
              <a:avLst/>
              <a:gdLst/>
              <a:ahLst/>
              <a:cxnLst/>
              <a:rect r="r" b="b" t="t" l="l"/>
              <a:pathLst>
                <a:path h="694944" w="3291840">
                  <a:moveTo>
                    <a:pt x="0" y="0"/>
                  </a:moveTo>
                  <a:lnTo>
                    <a:pt x="3291840" y="0"/>
                  </a:lnTo>
                  <a:lnTo>
                    <a:pt x="3291840" y="694944"/>
                  </a:lnTo>
                  <a:lnTo>
                    <a:pt x="0" y="694944"/>
                  </a:lnTo>
                  <a:close/>
                </a:path>
              </a:pathLst>
            </a:custGeom>
            <a:blipFill>
              <a:blip r:embed="rId2">
                <a:alphaModFix amt="0"/>
              </a:blip>
              <a:stretch>
                <a:fillRect l="0" t="-42233" r="0" b="-42233"/>
              </a:stretch>
            </a:blipFill>
          </p:spPr>
          <p:txBody>
            <a:bodyPr/>
            <a:p/>
          </p:txBody>
        </p:sp>
      </p:grpSp>
      <p:grpSp>
        <p:nvGrpSpPr>
          <p:cNvPr name="Group 103" id="103"/>
          <p:cNvGrpSpPr/>
          <p:nvPr/>
        </p:nvGrpSpPr>
        <p:grpSpPr>
          <a:xfrm rot="0">
            <a:off x="1810512" y="7343489"/>
            <a:ext cx="2468880" cy="556927"/>
            <a:chOff x="0" y="0"/>
            <a:chExt cx="3291840" cy="742569"/>
          </a:xfrm>
        </p:grpSpPr>
        <p:sp>
          <p:nvSpPr>
            <p:cNvPr name="Freeform 104" id="104"/>
            <p:cNvSpPr/>
            <p:nvPr/>
          </p:nvSpPr>
          <p:spPr>
            <a:xfrm flipH="false" flipV="false" rot="0">
              <a:off x="0" y="0"/>
              <a:ext cx="3291840" cy="742569"/>
            </a:xfrm>
            <a:custGeom>
              <a:avLst/>
              <a:gdLst/>
              <a:ahLst/>
              <a:cxnLst/>
              <a:rect r="r" b="b" t="t" l="l"/>
              <a:pathLst>
                <a:path h="742569" w="3291840">
                  <a:moveTo>
                    <a:pt x="0" y="0"/>
                  </a:moveTo>
                  <a:lnTo>
                    <a:pt x="3291840" y="0"/>
                  </a:lnTo>
                  <a:lnTo>
                    <a:pt x="3291840" y="742569"/>
                  </a:lnTo>
                  <a:lnTo>
                    <a:pt x="0" y="742569"/>
                  </a:lnTo>
                  <a:close/>
                </a:path>
              </a:pathLst>
            </a:custGeom>
            <a:blipFill>
              <a:blip r:embed="rId5">
                <a:alphaModFix amt="0"/>
              </a:blip>
              <a:stretch>
                <a:fillRect l="0" t="-36317" r="0" b="-36317"/>
              </a:stretch>
            </a:blipFill>
          </p:spPr>
          <p:txBody>
            <a:bodyPr/>
            <a:p/>
          </p:txBody>
        </p:sp>
      </p:grpSp>
      <p:grpSp>
        <p:nvGrpSpPr>
          <p:cNvPr name="Group 105" id="105"/>
          <p:cNvGrpSpPr/>
          <p:nvPr/>
        </p:nvGrpSpPr>
        <p:grpSpPr>
          <a:xfrm rot="0">
            <a:off x="1810512" y="7307770"/>
            <a:ext cx="2468880" cy="592646"/>
            <a:chOff x="0" y="0"/>
            <a:chExt cx="3291840" cy="790194"/>
          </a:xfrm>
        </p:grpSpPr>
        <p:sp>
          <p:nvSpPr>
            <p:cNvPr name="Freeform 106" id="106"/>
            <p:cNvSpPr/>
            <p:nvPr/>
          </p:nvSpPr>
          <p:spPr>
            <a:xfrm flipH="false" flipV="false" rot="0">
              <a:off x="0" y="0"/>
              <a:ext cx="3291840" cy="790194"/>
            </a:xfrm>
            <a:custGeom>
              <a:avLst/>
              <a:gdLst/>
              <a:ahLst/>
              <a:cxnLst/>
              <a:rect r="r" b="b" t="t" l="l"/>
              <a:pathLst>
                <a:path h="790194" w="3291840">
                  <a:moveTo>
                    <a:pt x="0" y="0"/>
                  </a:moveTo>
                  <a:lnTo>
                    <a:pt x="3291840" y="0"/>
                  </a:lnTo>
                  <a:lnTo>
                    <a:pt x="3291840" y="790194"/>
                  </a:lnTo>
                  <a:lnTo>
                    <a:pt x="0" y="790194"/>
                  </a:lnTo>
                  <a:close/>
                </a:path>
              </a:pathLst>
            </a:custGeom>
            <a:blipFill>
              <a:blip r:embed="rId6">
                <a:alphaModFix amt="0"/>
              </a:blip>
              <a:stretch>
                <a:fillRect l="0" t="-31115" r="0" b="-31115"/>
              </a:stretch>
            </a:blipFill>
          </p:spPr>
          <p:txBody>
            <a:bodyPr/>
            <a:p/>
          </p:txBody>
        </p:sp>
      </p:grpSp>
      <p:grpSp>
        <p:nvGrpSpPr>
          <p:cNvPr name="Group 107" id="107"/>
          <p:cNvGrpSpPr/>
          <p:nvPr/>
        </p:nvGrpSpPr>
        <p:grpSpPr>
          <a:xfrm rot="0">
            <a:off x="1810512" y="7272052"/>
            <a:ext cx="2468880" cy="628364"/>
            <a:chOff x="0" y="0"/>
            <a:chExt cx="3291840" cy="837819"/>
          </a:xfrm>
        </p:grpSpPr>
        <p:sp>
          <p:nvSpPr>
            <p:cNvPr name="Freeform 108" id="108"/>
            <p:cNvSpPr/>
            <p:nvPr/>
          </p:nvSpPr>
          <p:spPr>
            <a:xfrm flipH="false" flipV="false" rot="0">
              <a:off x="0" y="0"/>
              <a:ext cx="3291840" cy="837820"/>
            </a:xfrm>
            <a:custGeom>
              <a:avLst/>
              <a:gdLst/>
              <a:ahLst/>
              <a:cxnLst/>
              <a:rect r="r" b="b" t="t" l="l"/>
              <a:pathLst>
                <a:path h="837820" w="3291840">
                  <a:moveTo>
                    <a:pt x="0" y="0"/>
                  </a:moveTo>
                  <a:lnTo>
                    <a:pt x="3291840" y="0"/>
                  </a:lnTo>
                  <a:lnTo>
                    <a:pt x="3291840" y="837820"/>
                  </a:lnTo>
                  <a:lnTo>
                    <a:pt x="0" y="837820"/>
                  </a:lnTo>
                  <a:close/>
                </a:path>
              </a:pathLst>
            </a:custGeom>
            <a:blipFill>
              <a:blip r:embed="rId7">
                <a:alphaModFix amt="0"/>
              </a:blip>
              <a:stretch>
                <a:fillRect l="0" t="-26557" r="0" b="-26557"/>
              </a:stretch>
            </a:blipFill>
          </p:spPr>
          <p:txBody>
            <a:bodyPr/>
            <a:p/>
          </p:txBody>
        </p:sp>
        <p:sp>
          <p:nvSpPr>
            <p:cNvPr name="TextBox 109" id="109"/>
            <p:cNvSpPr txBox="true"/>
            <p:nvPr/>
          </p:nvSpPr>
          <p:spPr>
            <a:xfrm>
              <a:off x="0" y="-47625"/>
              <a:ext cx="3291840" cy="885444"/>
            </a:xfrm>
            <a:prstGeom prst="rect">
              <a:avLst/>
            </a:prstGeom>
          </p:spPr>
          <p:txBody>
            <a:bodyPr anchor="ctr" rtlCol="false" tIns="0" lIns="0" bIns="0" rIns="0"/>
            <a:lstStyle/>
            <a:p>
              <a:pPr algn="l">
                <a:lnSpc>
                  <a:spcPts val="2340"/>
                </a:lnSpc>
              </a:pPr>
              <a:r>
                <a:rPr lang="en-US" sz="1950" b="true">
                  <a:solidFill>
                    <a:srgbClr val="13294B"/>
                  </a:solidFill>
                  <a:latin typeface="Calibri (MS) Bold"/>
                  <a:ea typeface="Calibri (MS) Bold"/>
                  <a:cs typeface="Calibri (MS) Bold"/>
                  <a:sym typeface="Calibri (MS) Bold"/>
                </a:rPr>
                <a:t>Chia tập cố định</a:t>
              </a:r>
            </a:p>
          </p:txBody>
        </p:sp>
      </p:grpSp>
      <p:sp>
        <p:nvSpPr>
          <p:cNvPr name="TextBox 110" id="110"/>
          <p:cNvSpPr txBox="true"/>
          <p:nvPr/>
        </p:nvSpPr>
        <p:spPr>
          <a:xfrm rot="0">
            <a:off x="1261872" y="7879080"/>
            <a:ext cx="2962656" cy="624840"/>
          </a:xfrm>
          <a:prstGeom prst="rect">
            <a:avLst/>
          </a:prstGeom>
        </p:spPr>
        <p:txBody>
          <a:bodyPr anchor="t" rtlCol="false" tIns="0" lIns="0" bIns="0" rIns="0">
            <a:spAutoFit/>
          </a:bodyPr>
          <a:lstStyle/>
          <a:p>
            <a:pPr algn="l">
              <a:lnSpc>
                <a:spcPts val="1889"/>
              </a:lnSpc>
            </a:pPr>
            <a:r>
              <a:rPr lang="en-US" sz="1575">
                <a:solidFill>
                  <a:srgbClr val="5B677A"/>
                </a:solidFill>
                <a:latin typeface="Calibri (MS)"/>
                <a:ea typeface="Calibri (MS)"/>
                <a:cs typeface="Calibri (MS)"/>
                <a:sym typeface="Calibri (MS)"/>
              </a:rPr>
              <a:t>split chính thức; val ViVQA 1.200; seed 42</a:t>
            </a:r>
          </a:p>
        </p:txBody>
      </p:sp>
      <p:sp>
        <p:nvSpPr>
          <p:cNvPr name="TextBox 111" id="111"/>
          <p:cNvSpPr txBox="true"/>
          <p:nvPr/>
        </p:nvSpPr>
        <p:spPr>
          <a:xfrm rot="0">
            <a:off x="4416552" y="5673852"/>
            <a:ext cx="274320" cy="416052"/>
          </a:xfrm>
          <a:prstGeom prst="rect">
            <a:avLst/>
          </a:prstGeom>
        </p:spPr>
        <p:txBody>
          <a:bodyPr anchor="t" rtlCol="false" tIns="0" lIns="0" bIns="0" rIns="0">
            <a:spAutoFit/>
          </a:bodyPr>
          <a:lstStyle/>
          <a:p>
            <a:pPr algn="l">
              <a:lnSpc>
                <a:spcPts val="1530"/>
              </a:lnSpc>
            </a:pPr>
            <a:r>
              <a:rPr lang="en-US" sz="1275">
                <a:solidFill>
                  <a:srgbClr val="5B677A"/>
                </a:solidFill>
                <a:latin typeface="Calibri (MS)"/>
                <a:ea typeface="Calibri (MS)"/>
                <a:cs typeface="Calibri (MS)"/>
                <a:sym typeface="Calibri (MS)"/>
              </a:rPr>
              <a:t>ảnh</a:t>
            </a:r>
          </a:p>
        </p:txBody>
      </p:sp>
      <p:grpSp>
        <p:nvGrpSpPr>
          <p:cNvPr name="Group 112" id="112"/>
          <p:cNvGrpSpPr/>
          <p:nvPr/>
        </p:nvGrpSpPr>
        <p:grpSpPr>
          <a:xfrm rot="0">
            <a:off x="7063740" y="3017520"/>
            <a:ext cx="5417820" cy="5952744"/>
            <a:chOff x="0" y="0"/>
            <a:chExt cx="7223760" cy="7936992"/>
          </a:xfrm>
        </p:grpSpPr>
        <p:sp>
          <p:nvSpPr>
            <p:cNvPr name="Freeform 113" id="113"/>
            <p:cNvSpPr/>
            <p:nvPr/>
          </p:nvSpPr>
          <p:spPr>
            <a:xfrm flipH="false" flipV="false" rot="0">
              <a:off x="0" y="0"/>
              <a:ext cx="7223760" cy="7936992"/>
            </a:xfrm>
            <a:custGeom>
              <a:avLst/>
              <a:gdLst/>
              <a:ahLst/>
              <a:cxnLst/>
              <a:rect r="r" b="b" t="t" l="l"/>
              <a:pathLst>
                <a:path h="7936992" w="7223760">
                  <a:moveTo>
                    <a:pt x="0" y="288925"/>
                  </a:moveTo>
                  <a:cubicBezTo>
                    <a:pt x="0" y="129413"/>
                    <a:pt x="129413" y="0"/>
                    <a:pt x="288925" y="0"/>
                  </a:cubicBezTo>
                  <a:lnTo>
                    <a:pt x="6934835" y="0"/>
                  </a:lnTo>
                  <a:cubicBezTo>
                    <a:pt x="7094474" y="0"/>
                    <a:pt x="7223760" y="129413"/>
                    <a:pt x="7223760" y="288925"/>
                  </a:cubicBezTo>
                  <a:lnTo>
                    <a:pt x="7223760" y="7648067"/>
                  </a:lnTo>
                  <a:cubicBezTo>
                    <a:pt x="7223760" y="7807706"/>
                    <a:pt x="7094347" y="7936992"/>
                    <a:pt x="6934835" y="7936992"/>
                  </a:cubicBezTo>
                  <a:lnTo>
                    <a:pt x="288925" y="7936992"/>
                  </a:lnTo>
                  <a:cubicBezTo>
                    <a:pt x="129413" y="7936992"/>
                    <a:pt x="0" y="7807579"/>
                    <a:pt x="0" y="7648067"/>
                  </a:cubicBezTo>
                  <a:close/>
                </a:path>
              </a:pathLst>
            </a:custGeom>
            <a:solidFill>
              <a:srgbClr val="FDF8EE"/>
            </a:solidFill>
          </p:spPr>
          <p:txBody>
            <a:bodyPr/>
            <a:p/>
          </p:txBody>
        </p:sp>
      </p:grpSp>
      <p:grpSp>
        <p:nvGrpSpPr>
          <p:cNvPr name="Group 114" id="114"/>
          <p:cNvGrpSpPr/>
          <p:nvPr/>
        </p:nvGrpSpPr>
        <p:grpSpPr>
          <a:xfrm rot="0">
            <a:off x="7310628" y="3113532"/>
            <a:ext cx="5006340" cy="411480"/>
            <a:chOff x="0" y="0"/>
            <a:chExt cx="6675120" cy="548640"/>
          </a:xfrm>
        </p:grpSpPr>
        <p:sp>
          <p:nvSpPr>
            <p:cNvPr name="Freeform 115" id="115"/>
            <p:cNvSpPr/>
            <p:nvPr/>
          </p:nvSpPr>
          <p:spPr>
            <a:xfrm flipH="false" flipV="false" rot="0">
              <a:off x="0" y="0"/>
              <a:ext cx="6675120" cy="548640"/>
            </a:xfrm>
            <a:custGeom>
              <a:avLst/>
              <a:gdLst/>
              <a:ahLst/>
              <a:cxnLst/>
              <a:rect r="r" b="b" t="t" l="l"/>
              <a:pathLst>
                <a:path h="548640" w="6675120">
                  <a:moveTo>
                    <a:pt x="0" y="0"/>
                  </a:moveTo>
                  <a:lnTo>
                    <a:pt x="6675120" y="0"/>
                  </a:lnTo>
                  <a:lnTo>
                    <a:pt x="6675120" y="548640"/>
                  </a:lnTo>
                  <a:lnTo>
                    <a:pt x="0" y="548640"/>
                  </a:lnTo>
                  <a:close/>
                </a:path>
              </a:pathLst>
            </a:custGeom>
            <a:blipFill>
              <a:blip r:embed="rId2">
                <a:alphaModFix amt="0"/>
              </a:blip>
              <a:stretch>
                <a:fillRect l="0" t="-186902" r="0" b="-186902"/>
              </a:stretch>
            </a:blipFill>
          </p:spPr>
          <p:txBody>
            <a:bodyPr/>
            <a:p/>
          </p:txBody>
        </p:sp>
      </p:grpSp>
      <p:grpSp>
        <p:nvGrpSpPr>
          <p:cNvPr name="Group 116" id="116"/>
          <p:cNvGrpSpPr/>
          <p:nvPr/>
        </p:nvGrpSpPr>
        <p:grpSpPr>
          <a:xfrm rot="0">
            <a:off x="7310628" y="3084957"/>
            <a:ext cx="5006340" cy="440055"/>
            <a:chOff x="0" y="0"/>
            <a:chExt cx="6675120" cy="586740"/>
          </a:xfrm>
        </p:grpSpPr>
        <p:sp>
          <p:nvSpPr>
            <p:cNvPr name="Freeform 117" id="117"/>
            <p:cNvSpPr/>
            <p:nvPr/>
          </p:nvSpPr>
          <p:spPr>
            <a:xfrm flipH="false" flipV="false" rot="0">
              <a:off x="0" y="0"/>
              <a:ext cx="6675120" cy="586740"/>
            </a:xfrm>
            <a:custGeom>
              <a:avLst/>
              <a:gdLst/>
              <a:ahLst/>
              <a:cxnLst/>
              <a:rect r="r" b="b" t="t" l="l"/>
              <a:pathLst>
                <a:path h="586740" w="6675120">
                  <a:moveTo>
                    <a:pt x="0" y="0"/>
                  </a:moveTo>
                  <a:lnTo>
                    <a:pt x="6675120" y="0"/>
                  </a:lnTo>
                  <a:lnTo>
                    <a:pt x="6675120" y="586740"/>
                  </a:lnTo>
                  <a:lnTo>
                    <a:pt x="0" y="586740"/>
                  </a:lnTo>
                  <a:close/>
                </a:path>
              </a:pathLst>
            </a:custGeom>
            <a:blipFill>
              <a:blip r:embed="rId5">
                <a:alphaModFix amt="0"/>
              </a:blip>
              <a:stretch>
                <a:fillRect l="0" t="-171519" r="0" b="-171519"/>
              </a:stretch>
            </a:blipFill>
          </p:spPr>
          <p:txBody>
            <a:bodyPr/>
            <a:p/>
          </p:txBody>
        </p:sp>
      </p:grpSp>
      <p:grpSp>
        <p:nvGrpSpPr>
          <p:cNvPr name="Group 118" id="118"/>
          <p:cNvGrpSpPr/>
          <p:nvPr/>
        </p:nvGrpSpPr>
        <p:grpSpPr>
          <a:xfrm rot="0">
            <a:off x="7310628" y="3056382"/>
            <a:ext cx="5006340" cy="468630"/>
            <a:chOff x="0" y="0"/>
            <a:chExt cx="6675120" cy="624840"/>
          </a:xfrm>
        </p:grpSpPr>
        <p:sp>
          <p:nvSpPr>
            <p:cNvPr name="Freeform 119" id="119"/>
            <p:cNvSpPr/>
            <p:nvPr/>
          </p:nvSpPr>
          <p:spPr>
            <a:xfrm flipH="false" flipV="false" rot="0">
              <a:off x="0" y="0"/>
              <a:ext cx="6675120" cy="624840"/>
            </a:xfrm>
            <a:custGeom>
              <a:avLst/>
              <a:gdLst/>
              <a:ahLst/>
              <a:cxnLst/>
              <a:rect r="r" b="b" t="t" l="l"/>
              <a:pathLst>
                <a:path h="624840" w="6675120">
                  <a:moveTo>
                    <a:pt x="0" y="0"/>
                  </a:moveTo>
                  <a:lnTo>
                    <a:pt x="6675120" y="0"/>
                  </a:lnTo>
                  <a:lnTo>
                    <a:pt x="6675120" y="624840"/>
                  </a:lnTo>
                  <a:lnTo>
                    <a:pt x="0" y="624840"/>
                  </a:lnTo>
                  <a:close/>
                </a:path>
              </a:pathLst>
            </a:custGeom>
            <a:blipFill>
              <a:blip r:embed="rId6">
                <a:alphaModFix amt="0"/>
              </a:blip>
              <a:stretch>
                <a:fillRect l="0" t="-158012" r="0" b="-158012"/>
              </a:stretch>
            </a:blipFill>
          </p:spPr>
          <p:txBody>
            <a:bodyPr/>
            <a:p/>
          </p:txBody>
        </p:sp>
      </p:grpSp>
      <p:grpSp>
        <p:nvGrpSpPr>
          <p:cNvPr name="Group 120" id="120"/>
          <p:cNvGrpSpPr/>
          <p:nvPr/>
        </p:nvGrpSpPr>
        <p:grpSpPr>
          <a:xfrm rot="0">
            <a:off x="7310628" y="3027807"/>
            <a:ext cx="5006340" cy="497205"/>
            <a:chOff x="0" y="0"/>
            <a:chExt cx="6675120" cy="662940"/>
          </a:xfrm>
        </p:grpSpPr>
        <p:sp>
          <p:nvSpPr>
            <p:cNvPr name="Freeform 121" id="121"/>
            <p:cNvSpPr/>
            <p:nvPr/>
          </p:nvSpPr>
          <p:spPr>
            <a:xfrm flipH="false" flipV="false" rot="0">
              <a:off x="0" y="0"/>
              <a:ext cx="6675120" cy="662940"/>
            </a:xfrm>
            <a:custGeom>
              <a:avLst/>
              <a:gdLst/>
              <a:ahLst/>
              <a:cxnLst/>
              <a:rect r="r" b="b" t="t" l="l"/>
              <a:pathLst>
                <a:path h="662940" w="6675120">
                  <a:moveTo>
                    <a:pt x="0" y="0"/>
                  </a:moveTo>
                  <a:lnTo>
                    <a:pt x="6675120" y="0"/>
                  </a:lnTo>
                  <a:lnTo>
                    <a:pt x="6675120" y="662940"/>
                  </a:lnTo>
                  <a:lnTo>
                    <a:pt x="0" y="662940"/>
                  </a:lnTo>
                  <a:close/>
                </a:path>
              </a:pathLst>
            </a:custGeom>
            <a:blipFill>
              <a:blip r:embed="rId7">
                <a:alphaModFix amt="0"/>
              </a:blip>
              <a:stretch>
                <a:fillRect l="0" t="-146194" r="0" b="-146194"/>
              </a:stretch>
            </a:blipFill>
          </p:spPr>
          <p:txBody>
            <a:bodyPr/>
            <a:p/>
          </p:txBody>
        </p:sp>
        <p:sp>
          <p:nvSpPr>
            <p:cNvPr name="TextBox 122" id="122"/>
            <p:cNvSpPr txBox="true"/>
            <p:nvPr/>
          </p:nvSpPr>
          <p:spPr>
            <a:xfrm>
              <a:off x="0" y="-38100"/>
              <a:ext cx="6675120" cy="701040"/>
            </a:xfrm>
            <a:prstGeom prst="rect">
              <a:avLst/>
            </a:prstGeom>
          </p:spPr>
          <p:txBody>
            <a:bodyPr anchor="ctr" rtlCol="false" tIns="0" lIns="0" bIns="0" rIns="0"/>
            <a:lstStyle/>
            <a:p>
              <a:pPr algn="l">
                <a:lnSpc>
                  <a:spcPts val="1800"/>
                </a:lnSpc>
              </a:pPr>
              <a:r>
                <a:rPr lang="en-US" sz="1500" b="true">
                  <a:solidFill>
                    <a:srgbClr val="1C7293"/>
                  </a:solidFill>
                  <a:latin typeface="Calibri (MS) Bold"/>
                  <a:ea typeface="Calibri (MS) Bold"/>
                  <a:cs typeface="Calibri (MS) Bold"/>
                  <a:sym typeface="Calibri (MS) Bold"/>
                </a:rPr>
                <a:t>B · HUẤN LUYỆN &amp; SUY LUẬN  —  giống hệt mọi run</a:t>
              </a:r>
            </a:p>
          </p:txBody>
        </p:sp>
      </p:grpSp>
      <p:sp>
        <p:nvSpPr>
          <p:cNvPr name="Freeform 123" id="123"/>
          <p:cNvSpPr/>
          <p:nvPr/>
        </p:nvSpPr>
        <p:spPr>
          <a:xfrm flipH="false" flipV="false" rot="0">
            <a:off x="7248649" y="3709921"/>
            <a:ext cx="5048012" cy="1385840"/>
          </a:xfrm>
          <a:custGeom>
            <a:avLst/>
            <a:gdLst/>
            <a:ahLst/>
            <a:cxnLst/>
            <a:rect r="r" b="b" t="t" l="l"/>
            <a:pathLst>
              <a:path h="1385840" w="5048012">
                <a:moveTo>
                  <a:pt x="0" y="0"/>
                </a:moveTo>
                <a:lnTo>
                  <a:pt x="5048012" y="0"/>
                </a:lnTo>
                <a:lnTo>
                  <a:pt x="5048012" y="1385840"/>
                </a:lnTo>
                <a:lnTo>
                  <a:pt x="0" y="1385840"/>
                </a:lnTo>
                <a:lnTo>
                  <a:pt x="0" y="0"/>
                </a:lnTo>
                <a:close/>
              </a:path>
            </a:pathLst>
          </a:custGeom>
          <a:blipFill>
            <a:blip r:embed="rId18">
              <a:extLst>
                <a:ext uri="{96DAC541-7B7A-43D3-8B79-37D633B846F1}">
                  <asvg:svgBlip xmlns:asvg="http://schemas.microsoft.com/office/drawing/2016/SVG/main" r:embed="rId19"/>
                </a:ext>
              </a:extLst>
            </a:blip>
            <a:stretch>
              <a:fillRect l="0" t="-171" r="0" b="-171"/>
            </a:stretch>
          </a:blipFill>
        </p:spPr>
        <p:txBody>
          <a:bodyPr/>
          <a:p/>
        </p:txBody>
      </p:sp>
      <p:sp>
        <p:nvSpPr>
          <p:cNvPr name="Freeform 124" id="124"/>
          <p:cNvSpPr/>
          <p:nvPr/>
        </p:nvSpPr>
        <p:spPr>
          <a:xfrm flipH="false" flipV="false" rot="0">
            <a:off x="7417403" y="3878675"/>
            <a:ext cx="499682" cy="499681"/>
          </a:xfrm>
          <a:custGeom>
            <a:avLst/>
            <a:gdLst/>
            <a:ahLst/>
            <a:cxnLst/>
            <a:rect r="r" b="b" t="t" l="l"/>
            <a:pathLst>
              <a:path h="499681" w="499682">
                <a:moveTo>
                  <a:pt x="0" y="0"/>
                </a:moveTo>
                <a:lnTo>
                  <a:pt x="499682" y="0"/>
                </a:lnTo>
                <a:lnTo>
                  <a:pt x="499682" y="499682"/>
                </a:lnTo>
                <a:lnTo>
                  <a:pt x="0" y="4996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grpSp>
        <p:nvGrpSpPr>
          <p:cNvPr name="Group 125" id="125"/>
          <p:cNvGrpSpPr/>
          <p:nvPr/>
        </p:nvGrpSpPr>
        <p:grpSpPr>
          <a:xfrm rot="0">
            <a:off x="7424547" y="3857244"/>
            <a:ext cx="485394" cy="513969"/>
            <a:chOff x="0" y="0"/>
            <a:chExt cx="647192" cy="685292"/>
          </a:xfrm>
        </p:grpSpPr>
        <p:sp>
          <p:nvSpPr>
            <p:cNvPr name="Freeform 126" id="126"/>
            <p:cNvSpPr/>
            <p:nvPr/>
          </p:nvSpPr>
          <p:spPr>
            <a:xfrm flipH="false" flipV="false" rot="0">
              <a:off x="0" y="0"/>
              <a:ext cx="647192" cy="685292"/>
            </a:xfrm>
            <a:custGeom>
              <a:avLst/>
              <a:gdLst/>
              <a:ahLst/>
              <a:cxnLst/>
              <a:rect r="r" b="b" t="t" l="l"/>
              <a:pathLst>
                <a:path h="685292" w="647192">
                  <a:moveTo>
                    <a:pt x="0" y="0"/>
                  </a:moveTo>
                  <a:lnTo>
                    <a:pt x="647192" y="0"/>
                  </a:lnTo>
                  <a:lnTo>
                    <a:pt x="647192" y="685292"/>
                  </a:lnTo>
                  <a:lnTo>
                    <a:pt x="0" y="685292"/>
                  </a:lnTo>
                  <a:close/>
                </a:path>
              </a:pathLst>
            </a:custGeom>
            <a:blipFill>
              <a:blip r:embed="rId5">
                <a:alphaModFix amt="0"/>
              </a:blip>
              <a:stretch>
                <a:fillRect l="-85951" t="0" r="-85951" b="0"/>
              </a:stretch>
            </a:blipFill>
          </p:spPr>
          <p:txBody>
            <a:bodyPr/>
            <a:p/>
          </p:txBody>
        </p:sp>
      </p:grpSp>
      <p:grpSp>
        <p:nvGrpSpPr>
          <p:cNvPr name="Group 127" id="127"/>
          <p:cNvGrpSpPr/>
          <p:nvPr/>
        </p:nvGrpSpPr>
        <p:grpSpPr>
          <a:xfrm rot="0">
            <a:off x="7424547" y="3828669"/>
            <a:ext cx="485394" cy="542544"/>
            <a:chOff x="0" y="0"/>
            <a:chExt cx="647192" cy="723392"/>
          </a:xfrm>
        </p:grpSpPr>
        <p:sp>
          <p:nvSpPr>
            <p:cNvPr name="Freeform 128" id="128"/>
            <p:cNvSpPr/>
            <p:nvPr/>
          </p:nvSpPr>
          <p:spPr>
            <a:xfrm flipH="false" flipV="false" rot="0">
              <a:off x="0" y="0"/>
              <a:ext cx="647192" cy="723392"/>
            </a:xfrm>
            <a:custGeom>
              <a:avLst/>
              <a:gdLst/>
              <a:ahLst/>
              <a:cxnLst/>
              <a:rect r="r" b="b" t="t" l="l"/>
              <a:pathLst>
                <a:path h="723392" w="647192">
                  <a:moveTo>
                    <a:pt x="0" y="0"/>
                  </a:moveTo>
                  <a:lnTo>
                    <a:pt x="647192" y="0"/>
                  </a:lnTo>
                  <a:lnTo>
                    <a:pt x="647192" y="723392"/>
                  </a:lnTo>
                  <a:lnTo>
                    <a:pt x="0" y="723392"/>
                  </a:lnTo>
                  <a:close/>
                </a:path>
              </a:pathLst>
            </a:custGeom>
            <a:blipFill>
              <a:blip r:embed="rId6">
                <a:alphaModFix amt="0"/>
              </a:blip>
              <a:stretch>
                <a:fillRect l="-93510" t="0" r="-93508" b="0"/>
              </a:stretch>
            </a:blipFill>
          </p:spPr>
          <p:txBody>
            <a:bodyPr/>
            <a:p/>
          </p:txBody>
        </p:sp>
      </p:grpSp>
      <p:grpSp>
        <p:nvGrpSpPr>
          <p:cNvPr name="Group 129" id="129"/>
          <p:cNvGrpSpPr/>
          <p:nvPr/>
        </p:nvGrpSpPr>
        <p:grpSpPr>
          <a:xfrm rot="0">
            <a:off x="7424547" y="3800094"/>
            <a:ext cx="485394" cy="571119"/>
            <a:chOff x="0" y="0"/>
            <a:chExt cx="647192" cy="761492"/>
          </a:xfrm>
        </p:grpSpPr>
        <p:sp>
          <p:nvSpPr>
            <p:cNvPr name="Freeform 130" id="130"/>
            <p:cNvSpPr/>
            <p:nvPr/>
          </p:nvSpPr>
          <p:spPr>
            <a:xfrm flipH="false" flipV="false" rot="0">
              <a:off x="0" y="0"/>
              <a:ext cx="647192" cy="761492"/>
            </a:xfrm>
            <a:custGeom>
              <a:avLst/>
              <a:gdLst/>
              <a:ahLst/>
              <a:cxnLst/>
              <a:rect r="r" b="b" t="t" l="l"/>
              <a:pathLst>
                <a:path h="761492" w="647192">
                  <a:moveTo>
                    <a:pt x="0" y="0"/>
                  </a:moveTo>
                  <a:lnTo>
                    <a:pt x="647192" y="0"/>
                  </a:lnTo>
                  <a:lnTo>
                    <a:pt x="647192" y="761492"/>
                  </a:lnTo>
                  <a:lnTo>
                    <a:pt x="0" y="761492"/>
                  </a:lnTo>
                  <a:close/>
                </a:path>
              </a:pathLst>
            </a:custGeom>
            <a:blipFill>
              <a:blip r:embed="rId7">
                <a:alphaModFix amt="0"/>
              </a:blip>
              <a:stretch>
                <a:fillRect l="-100963" t="0" r="-100963" b="0"/>
              </a:stretch>
            </a:blipFill>
          </p:spPr>
          <p:txBody>
            <a:bodyPr/>
            <a:p/>
          </p:txBody>
        </p:sp>
        <p:sp>
          <p:nvSpPr>
            <p:cNvPr name="TextBox 131" id="131"/>
            <p:cNvSpPr txBox="true"/>
            <p:nvPr/>
          </p:nvSpPr>
          <p:spPr>
            <a:xfrm>
              <a:off x="0" y="-38100"/>
              <a:ext cx="647192" cy="7995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5</a:t>
              </a:r>
            </a:p>
          </p:txBody>
        </p:sp>
      </p:grpSp>
      <p:grpSp>
        <p:nvGrpSpPr>
          <p:cNvPr name="Group 132" id="132"/>
          <p:cNvGrpSpPr/>
          <p:nvPr/>
        </p:nvGrpSpPr>
        <p:grpSpPr>
          <a:xfrm rot="0">
            <a:off x="8010144" y="3867912"/>
            <a:ext cx="4155948" cy="521208"/>
            <a:chOff x="0" y="0"/>
            <a:chExt cx="5541264" cy="694944"/>
          </a:xfrm>
        </p:grpSpPr>
        <p:sp>
          <p:nvSpPr>
            <p:cNvPr name="Freeform 133" id="133"/>
            <p:cNvSpPr/>
            <p:nvPr/>
          </p:nvSpPr>
          <p:spPr>
            <a:xfrm flipH="false" flipV="false" rot="0">
              <a:off x="0" y="0"/>
              <a:ext cx="5541264" cy="694944"/>
            </a:xfrm>
            <a:custGeom>
              <a:avLst/>
              <a:gdLst/>
              <a:ahLst/>
              <a:cxnLst/>
              <a:rect r="r" b="b" t="t" l="l"/>
              <a:pathLst>
                <a:path h="694944" w="5541264">
                  <a:moveTo>
                    <a:pt x="0" y="0"/>
                  </a:moveTo>
                  <a:lnTo>
                    <a:pt x="5541264" y="0"/>
                  </a:lnTo>
                  <a:lnTo>
                    <a:pt x="5541264" y="694944"/>
                  </a:lnTo>
                  <a:lnTo>
                    <a:pt x="0" y="694944"/>
                  </a:lnTo>
                  <a:close/>
                </a:path>
              </a:pathLst>
            </a:custGeom>
            <a:blipFill>
              <a:blip r:embed="rId2">
                <a:alphaModFix amt="0"/>
              </a:blip>
              <a:stretch>
                <a:fillRect l="0" t="-105259" r="0" b="-105259"/>
              </a:stretch>
            </a:blipFill>
          </p:spPr>
          <p:txBody>
            <a:bodyPr/>
            <a:p/>
          </p:txBody>
        </p:sp>
      </p:grpSp>
      <p:grpSp>
        <p:nvGrpSpPr>
          <p:cNvPr name="Group 134" id="134"/>
          <p:cNvGrpSpPr/>
          <p:nvPr/>
        </p:nvGrpSpPr>
        <p:grpSpPr>
          <a:xfrm rot="0">
            <a:off x="8010144" y="3832193"/>
            <a:ext cx="4155948" cy="556927"/>
            <a:chOff x="0" y="0"/>
            <a:chExt cx="5541264" cy="742569"/>
          </a:xfrm>
        </p:grpSpPr>
        <p:sp>
          <p:nvSpPr>
            <p:cNvPr name="Freeform 135" id="135"/>
            <p:cNvSpPr/>
            <p:nvPr/>
          </p:nvSpPr>
          <p:spPr>
            <a:xfrm flipH="false" flipV="false" rot="0">
              <a:off x="0" y="0"/>
              <a:ext cx="5541264" cy="742569"/>
            </a:xfrm>
            <a:custGeom>
              <a:avLst/>
              <a:gdLst/>
              <a:ahLst/>
              <a:cxnLst/>
              <a:rect r="r" b="b" t="t" l="l"/>
              <a:pathLst>
                <a:path h="742569" w="5541264">
                  <a:moveTo>
                    <a:pt x="0" y="0"/>
                  </a:moveTo>
                  <a:lnTo>
                    <a:pt x="5541264" y="0"/>
                  </a:lnTo>
                  <a:lnTo>
                    <a:pt x="5541264" y="742569"/>
                  </a:lnTo>
                  <a:lnTo>
                    <a:pt x="0" y="742569"/>
                  </a:lnTo>
                  <a:close/>
                </a:path>
              </a:pathLst>
            </a:custGeom>
            <a:blipFill>
              <a:blip r:embed="rId5">
                <a:alphaModFix amt="0"/>
              </a:blip>
              <a:stretch>
                <a:fillRect l="0" t="-95301" r="0" b="-95301"/>
              </a:stretch>
            </a:blipFill>
          </p:spPr>
          <p:txBody>
            <a:bodyPr/>
            <a:p/>
          </p:txBody>
        </p:sp>
      </p:grpSp>
      <p:grpSp>
        <p:nvGrpSpPr>
          <p:cNvPr name="Group 136" id="136"/>
          <p:cNvGrpSpPr/>
          <p:nvPr/>
        </p:nvGrpSpPr>
        <p:grpSpPr>
          <a:xfrm rot="0">
            <a:off x="8010144" y="3796474"/>
            <a:ext cx="4155948" cy="592646"/>
            <a:chOff x="0" y="0"/>
            <a:chExt cx="5541264" cy="790194"/>
          </a:xfrm>
        </p:grpSpPr>
        <p:sp>
          <p:nvSpPr>
            <p:cNvPr name="Freeform 137" id="137"/>
            <p:cNvSpPr/>
            <p:nvPr/>
          </p:nvSpPr>
          <p:spPr>
            <a:xfrm flipH="false" flipV="false" rot="0">
              <a:off x="0" y="0"/>
              <a:ext cx="5541264" cy="790194"/>
            </a:xfrm>
            <a:custGeom>
              <a:avLst/>
              <a:gdLst/>
              <a:ahLst/>
              <a:cxnLst/>
              <a:rect r="r" b="b" t="t" l="l"/>
              <a:pathLst>
                <a:path h="790194" w="5541264">
                  <a:moveTo>
                    <a:pt x="0" y="0"/>
                  </a:moveTo>
                  <a:lnTo>
                    <a:pt x="5541264" y="0"/>
                  </a:lnTo>
                  <a:lnTo>
                    <a:pt x="5541264" y="790194"/>
                  </a:lnTo>
                  <a:lnTo>
                    <a:pt x="0" y="790194"/>
                  </a:lnTo>
                  <a:close/>
                </a:path>
              </a:pathLst>
            </a:custGeom>
            <a:blipFill>
              <a:blip r:embed="rId6">
                <a:alphaModFix amt="0"/>
              </a:blip>
              <a:stretch>
                <a:fillRect l="0" t="-86544" r="0" b="-86544"/>
              </a:stretch>
            </a:blipFill>
          </p:spPr>
          <p:txBody>
            <a:bodyPr/>
            <a:p/>
          </p:txBody>
        </p:sp>
      </p:grpSp>
      <p:grpSp>
        <p:nvGrpSpPr>
          <p:cNvPr name="Group 138" id="138"/>
          <p:cNvGrpSpPr/>
          <p:nvPr/>
        </p:nvGrpSpPr>
        <p:grpSpPr>
          <a:xfrm rot="0">
            <a:off x="8010144" y="3760756"/>
            <a:ext cx="4155948" cy="628364"/>
            <a:chOff x="0" y="0"/>
            <a:chExt cx="5541264" cy="837819"/>
          </a:xfrm>
        </p:grpSpPr>
        <p:sp>
          <p:nvSpPr>
            <p:cNvPr name="Freeform 139" id="139"/>
            <p:cNvSpPr/>
            <p:nvPr/>
          </p:nvSpPr>
          <p:spPr>
            <a:xfrm flipH="false" flipV="false" rot="0">
              <a:off x="0" y="0"/>
              <a:ext cx="5541264" cy="837820"/>
            </a:xfrm>
            <a:custGeom>
              <a:avLst/>
              <a:gdLst/>
              <a:ahLst/>
              <a:cxnLst/>
              <a:rect r="r" b="b" t="t" l="l"/>
              <a:pathLst>
                <a:path h="837820" w="5541264">
                  <a:moveTo>
                    <a:pt x="0" y="0"/>
                  </a:moveTo>
                  <a:lnTo>
                    <a:pt x="5541264" y="0"/>
                  </a:lnTo>
                  <a:lnTo>
                    <a:pt x="5541264" y="837820"/>
                  </a:lnTo>
                  <a:lnTo>
                    <a:pt x="0" y="837820"/>
                  </a:lnTo>
                  <a:close/>
                </a:path>
              </a:pathLst>
            </a:custGeom>
            <a:blipFill>
              <a:blip r:embed="rId7">
                <a:alphaModFix amt="0"/>
              </a:blip>
              <a:stretch>
                <a:fillRect l="0" t="-78872" r="0" b="-78872"/>
              </a:stretch>
            </a:blipFill>
          </p:spPr>
          <p:txBody>
            <a:bodyPr/>
            <a:p/>
          </p:txBody>
        </p:sp>
        <p:sp>
          <p:nvSpPr>
            <p:cNvPr name="TextBox 140" id="140"/>
            <p:cNvSpPr txBox="true"/>
            <p:nvPr/>
          </p:nvSpPr>
          <p:spPr>
            <a:xfrm>
              <a:off x="0" y="-47625"/>
              <a:ext cx="5541264" cy="885444"/>
            </a:xfrm>
            <a:prstGeom prst="rect">
              <a:avLst/>
            </a:prstGeom>
          </p:spPr>
          <p:txBody>
            <a:bodyPr anchor="ctr" rtlCol="false" tIns="0" lIns="0" bIns="0" rIns="0"/>
            <a:lstStyle/>
            <a:p>
              <a:pPr algn="l">
                <a:lnSpc>
                  <a:spcPts val="2340"/>
                </a:lnSpc>
              </a:pPr>
              <a:r>
                <a:rPr lang="en-US" sz="1950" b="true">
                  <a:solidFill>
                    <a:srgbClr val="13294B"/>
                  </a:solidFill>
                  <a:latin typeface="Calibri (MS) Bold"/>
                  <a:ea typeface="Calibri (MS) Bold"/>
                  <a:cs typeface="Calibri (MS) Bold"/>
                  <a:sym typeface="Calibri (MS) Bold"/>
                </a:rPr>
                <a:t>Ghép prompt</a:t>
              </a:r>
            </a:p>
          </p:txBody>
        </p:sp>
      </p:grpSp>
      <p:sp>
        <p:nvSpPr>
          <p:cNvPr name="TextBox 141" id="141"/>
          <p:cNvSpPr txBox="true"/>
          <p:nvPr/>
        </p:nvSpPr>
        <p:spPr>
          <a:xfrm rot="0">
            <a:off x="7461504" y="4367784"/>
            <a:ext cx="4649724" cy="624840"/>
          </a:xfrm>
          <a:prstGeom prst="rect">
            <a:avLst/>
          </a:prstGeom>
        </p:spPr>
        <p:txBody>
          <a:bodyPr anchor="t" rtlCol="false" tIns="0" lIns="0" bIns="0" rIns="0">
            <a:spAutoFit/>
          </a:bodyPr>
          <a:lstStyle/>
          <a:p>
            <a:pPr algn="l">
              <a:lnSpc>
                <a:spcPts val="1889"/>
              </a:lnSpc>
            </a:pPr>
            <a:r>
              <a:rPr lang="en-US" sz="1575">
                <a:solidFill>
                  <a:srgbClr val="5B677A"/>
                </a:solidFill>
                <a:latin typeface="Calibri (MS)"/>
                <a:ea typeface="Calibri (MS)"/>
                <a:cs typeface="Calibri (MS)"/>
                <a:sym typeface="Calibri (MS)"/>
              </a:rPr>
              <a:t>ảnh + câu hỏi tiếng Việt (+ một dòng chữ OCR)</a:t>
            </a:r>
          </a:p>
        </p:txBody>
      </p:sp>
      <p:sp>
        <p:nvSpPr>
          <p:cNvPr name="Freeform 142" id="142"/>
          <p:cNvSpPr/>
          <p:nvPr/>
        </p:nvSpPr>
        <p:spPr>
          <a:xfrm flipH="false" flipV="false" rot="0">
            <a:off x="7248649" y="5465569"/>
            <a:ext cx="5048012" cy="3141488"/>
          </a:xfrm>
          <a:custGeom>
            <a:avLst/>
            <a:gdLst/>
            <a:ahLst/>
            <a:cxnLst/>
            <a:rect r="r" b="b" t="t" l="l"/>
            <a:pathLst>
              <a:path h="3141488" w="5048012">
                <a:moveTo>
                  <a:pt x="0" y="0"/>
                </a:moveTo>
                <a:lnTo>
                  <a:pt x="5048012" y="0"/>
                </a:lnTo>
                <a:lnTo>
                  <a:pt x="5048012" y="3141488"/>
                </a:lnTo>
                <a:lnTo>
                  <a:pt x="0" y="3141488"/>
                </a:lnTo>
                <a:lnTo>
                  <a:pt x="0" y="0"/>
                </a:lnTo>
                <a:close/>
              </a:path>
            </a:pathLst>
          </a:custGeom>
          <a:blipFill>
            <a:blip r:embed="rId20">
              <a:extLst>
                <a:ext uri="{96DAC541-7B7A-43D3-8B79-37D633B846F1}">
                  <asvg:svgBlip xmlns:asvg="http://schemas.microsoft.com/office/drawing/2016/SVG/main" r:embed="rId21"/>
                </a:ext>
              </a:extLst>
            </a:blip>
            <a:stretch>
              <a:fillRect l="0" t="-25" r="0" b="-25"/>
            </a:stretch>
          </a:blipFill>
        </p:spPr>
        <p:txBody>
          <a:bodyPr/>
          <a:p/>
        </p:txBody>
      </p:sp>
      <p:sp>
        <p:nvSpPr>
          <p:cNvPr name="Freeform 143" id="143"/>
          <p:cNvSpPr/>
          <p:nvPr/>
        </p:nvSpPr>
        <p:spPr>
          <a:xfrm flipH="false" flipV="false" rot="0">
            <a:off x="7417403" y="5634323"/>
            <a:ext cx="499682" cy="499681"/>
          </a:xfrm>
          <a:custGeom>
            <a:avLst/>
            <a:gdLst/>
            <a:ahLst/>
            <a:cxnLst/>
            <a:rect r="r" b="b" t="t" l="l"/>
            <a:pathLst>
              <a:path h="499681" w="499682">
                <a:moveTo>
                  <a:pt x="0" y="0"/>
                </a:moveTo>
                <a:lnTo>
                  <a:pt x="499682" y="0"/>
                </a:lnTo>
                <a:lnTo>
                  <a:pt x="499682" y="499682"/>
                </a:lnTo>
                <a:lnTo>
                  <a:pt x="0" y="49968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txBody>
          <a:bodyPr/>
          <a:p/>
        </p:txBody>
      </p:sp>
      <p:grpSp>
        <p:nvGrpSpPr>
          <p:cNvPr name="Group 144" id="144"/>
          <p:cNvGrpSpPr/>
          <p:nvPr/>
        </p:nvGrpSpPr>
        <p:grpSpPr>
          <a:xfrm rot="0">
            <a:off x="7424547" y="5612892"/>
            <a:ext cx="485394" cy="513969"/>
            <a:chOff x="0" y="0"/>
            <a:chExt cx="647192" cy="685292"/>
          </a:xfrm>
        </p:grpSpPr>
        <p:sp>
          <p:nvSpPr>
            <p:cNvPr name="Freeform 145" id="145"/>
            <p:cNvSpPr/>
            <p:nvPr/>
          </p:nvSpPr>
          <p:spPr>
            <a:xfrm flipH="false" flipV="false" rot="0">
              <a:off x="0" y="0"/>
              <a:ext cx="647192" cy="685292"/>
            </a:xfrm>
            <a:custGeom>
              <a:avLst/>
              <a:gdLst/>
              <a:ahLst/>
              <a:cxnLst/>
              <a:rect r="r" b="b" t="t" l="l"/>
              <a:pathLst>
                <a:path h="685292" w="647192">
                  <a:moveTo>
                    <a:pt x="0" y="0"/>
                  </a:moveTo>
                  <a:lnTo>
                    <a:pt x="647192" y="0"/>
                  </a:lnTo>
                  <a:lnTo>
                    <a:pt x="647192" y="685292"/>
                  </a:lnTo>
                  <a:lnTo>
                    <a:pt x="0" y="685292"/>
                  </a:lnTo>
                  <a:close/>
                </a:path>
              </a:pathLst>
            </a:custGeom>
            <a:blipFill>
              <a:blip r:embed="rId5">
                <a:alphaModFix amt="0"/>
              </a:blip>
              <a:stretch>
                <a:fillRect l="-85951" t="0" r="-85951" b="0"/>
              </a:stretch>
            </a:blipFill>
          </p:spPr>
          <p:txBody>
            <a:bodyPr/>
            <a:p/>
          </p:txBody>
        </p:sp>
      </p:grpSp>
      <p:grpSp>
        <p:nvGrpSpPr>
          <p:cNvPr name="Group 146" id="146"/>
          <p:cNvGrpSpPr/>
          <p:nvPr/>
        </p:nvGrpSpPr>
        <p:grpSpPr>
          <a:xfrm rot="0">
            <a:off x="7424547" y="5584317"/>
            <a:ext cx="485394" cy="542544"/>
            <a:chOff x="0" y="0"/>
            <a:chExt cx="647192" cy="723392"/>
          </a:xfrm>
        </p:grpSpPr>
        <p:sp>
          <p:nvSpPr>
            <p:cNvPr name="Freeform 147" id="147"/>
            <p:cNvSpPr/>
            <p:nvPr/>
          </p:nvSpPr>
          <p:spPr>
            <a:xfrm flipH="false" flipV="false" rot="0">
              <a:off x="0" y="0"/>
              <a:ext cx="647192" cy="723392"/>
            </a:xfrm>
            <a:custGeom>
              <a:avLst/>
              <a:gdLst/>
              <a:ahLst/>
              <a:cxnLst/>
              <a:rect r="r" b="b" t="t" l="l"/>
              <a:pathLst>
                <a:path h="723392" w="647192">
                  <a:moveTo>
                    <a:pt x="0" y="0"/>
                  </a:moveTo>
                  <a:lnTo>
                    <a:pt x="647192" y="0"/>
                  </a:lnTo>
                  <a:lnTo>
                    <a:pt x="647192" y="723392"/>
                  </a:lnTo>
                  <a:lnTo>
                    <a:pt x="0" y="723392"/>
                  </a:lnTo>
                  <a:close/>
                </a:path>
              </a:pathLst>
            </a:custGeom>
            <a:blipFill>
              <a:blip r:embed="rId6">
                <a:alphaModFix amt="0"/>
              </a:blip>
              <a:stretch>
                <a:fillRect l="-93510" t="0" r="-93508" b="0"/>
              </a:stretch>
            </a:blipFill>
          </p:spPr>
          <p:txBody>
            <a:bodyPr/>
            <a:p/>
          </p:txBody>
        </p:sp>
      </p:grpSp>
      <p:grpSp>
        <p:nvGrpSpPr>
          <p:cNvPr name="Group 148" id="148"/>
          <p:cNvGrpSpPr/>
          <p:nvPr/>
        </p:nvGrpSpPr>
        <p:grpSpPr>
          <a:xfrm rot="0">
            <a:off x="7424547" y="5555742"/>
            <a:ext cx="485394" cy="571119"/>
            <a:chOff x="0" y="0"/>
            <a:chExt cx="647192" cy="761492"/>
          </a:xfrm>
        </p:grpSpPr>
        <p:sp>
          <p:nvSpPr>
            <p:cNvPr name="Freeform 149" id="149"/>
            <p:cNvSpPr/>
            <p:nvPr/>
          </p:nvSpPr>
          <p:spPr>
            <a:xfrm flipH="false" flipV="false" rot="0">
              <a:off x="0" y="0"/>
              <a:ext cx="647192" cy="761492"/>
            </a:xfrm>
            <a:custGeom>
              <a:avLst/>
              <a:gdLst/>
              <a:ahLst/>
              <a:cxnLst/>
              <a:rect r="r" b="b" t="t" l="l"/>
              <a:pathLst>
                <a:path h="761492" w="647192">
                  <a:moveTo>
                    <a:pt x="0" y="0"/>
                  </a:moveTo>
                  <a:lnTo>
                    <a:pt x="647192" y="0"/>
                  </a:lnTo>
                  <a:lnTo>
                    <a:pt x="647192" y="761492"/>
                  </a:lnTo>
                  <a:lnTo>
                    <a:pt x="0" y="761492"/>
                  </a:lnTo>
                  <a:close/>
                </a:path>
              </a:pathLst>
            </a:custGeom>
            <a:blipFill>
              <a:blip r:embed="rId7">
                <a:alphaModFix amt="0"/>
              </a:blip>
              <a:stretch>
                <a:fillRect l="-100963" t="0" r="-100963" b="0"/>
              </a:stretch>
            </a:blipFill>
          </p:spPr>
          <p:txBody>
            <a:bodyPr/>
            <a:p/>
          </p:txBody>
        </p:sp>
        <p:sp>
          <p:nvSpPr>
            <p:cNvPr name="TextBox 150" id="150"/>
            <p:cNvSpPr txBox="true"/>
            <p:nvPr/>
          </p:nvSpPr>
          <p:spPr>
            <a:xfrm>
              <a:off x="0" y="-38100"/>
              <a:ext cx="647192" cy="7995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6</a:t>
              </a:r>
            </a:p>
          </p:txBody>
        </p:sp>
      </p:grpSp>
      <p:grpSp>
        <p:nvGrpSpPr>
          <p:cNvPr name="Group 151" id="151"/>
          <p:cNvGrpSpPr/>
          <p:nvPr/>
        </p:nvGrpSpPr>
        <p:grpSpPr>
          <a:xfrm rot="0">
            <a:off x="8010144" y="5623560"/>
            <a:ext cx="4155948" cy="521208"/>
            <a:chOff x="0" y="0"/>
            <a:chExt cx="5541264" cy="694944"/>
          </a:xfrm>
        </p:grpSpPr>
        <p:sp>
          <p:nvSpPr>
            <p:cNvPr name="Freeform 152" id="152"/>
            <p:cNvSpPr/>
            <p:nvPr/>
          </p:nvSpPr>
          <p:spPr>
            <a:xfrm flipH="false" flipV="false" rot="0">
              <a:off x="0" y="0"/>
              <a:ext cx="5541264" cy="694944"/>
            </a:xfrm>
            <a:custGeom>
              <a:avLst/>
              <a:gdLst/>
              <a:ahLst/>
              <a:cxnLst/>
              <a:rect r="r" b="b" t="t" l="l"/>
              <a:pathLst>
                <a:path h="694944" w="5541264">
                  <a:moveTo>
                    <a:pt x="0" y="0"/>
                  </a:moveTo>
                  <a:lnTo>
                    <a:pt x="5541264" y="0"/>
                  </a:lnTo>
                  <a:lnTo>
                    <a:pt x="5541264" y="694944"/>
                  </a:lnTo>
                  <a:lnTo>
                    <a:pt x="0" y="694944"/>
                  </a:lnTo>
                  <a:close/>
                </a:path>
              </a:pathLst>
            </a:custGeom>
            <a:blipFill>
              <a:blip r:embed="rId2">
                <a:alphaModFix amt="0"/>
              </a:blip>
              <a:stretch>
                <a:fillRect l="0" t="-105259" r="0" b="-105259"/>
              </a:stretch>
            </a:blipFill>
          </p:spPr>
          <p:txBody>
            <a:bodyPr/>
            <a:p/>
          </p:txBody>
        </p:sp>
      </p:grpSp>
      <p:grpSp>
        <p:nvGrpSpPr>
          <p:cNvPr name="Group 153" id="153"/>
          <p:cNvGrpSpPr/>
          <p:nvPr/>
        </p:nvGrpSpPr>
        <p:grpSpPr>
          <a:xfrm rot="0">
            <a:off x="8010144" y="5587841"/>
            <a:ext cx="4155948" cy="556927"/>
            <a:chOff x="0" y="0"/>
            <a:chExt cx="5541264" cy="742569"/>
          </a:xfrm>
        </p:grpSpPr>
        <p:sp>
          <p:nvSpPr>
            <p:cNvPr name="Freeform 154" id="154"/>
            <p:cNvSpPr/>
            <p:nvPr/>
          </p:nvSpPr>
          <p:spPr>
            <a:xfrm flipH="false" flipV="false" rot="0">
              <a:off x="0" y="0"/>
              <a:ext cx="5541264" cy="742569"/>
            </a:xfrm>
            <a:custGeom>
              <a:avLst/>
              <a:gdLst/>
              <a:ahLst/>
              <a:cxnLst/>
              <a:rect r="r" b="b" t="t" l="l"/>
              <a:pathLst>
                <a:path h="742569" w="5541264">
                  <a:moveTo>
                    <a:pt x="0" y="0"/>
                  </a:moveTo>
                  <a:lnTo>
                    <a:pt x="5541264" y="0"/>
                  </a:lnTo>
                  <a:lnTo>
                    <a:pt x="5541264" y="742569"/>
                  </a:lnTo>
                  <a:lnTo>
                    <a:pt x="0" y="742569"/>
                  </a:lnTo>
                  <a:close/>
                </a:path>
              </a:pathLst>
            </a:custGeom>
            <a:blipFill>
              <a:blip r:embed="rId5">
                <a:alphaModFix amt="0"/>
              </a:blip>
              <a:stretch>
                <a:fillRect l="0" t="-95301" r="0" b="-95301"/>
              </a:stretch>
            </a:blipFill>
          </p:spPr>
          <p:txBody>
            <a:bodyPr/>
            <a:p/>
          </p:txBody>
        </p:sp>
      </p:grpSp>
      <p:grpSp>
        <p:nvGrpSpPr>
          <p:cNvPr name="Group 155" id="155"/>
          <p:cNvGrpSpPr/>
          <p:nvPr/>
        </p:nvGrpSpPr>
        <p:grpSpPr>
          <a:xfrm rot="0">
            <a:off x="8010144" y="5552122"/>
            <a:ext cx="4155948" cy="592646"/>
            <a:chOff x="0" y="0"/>
            <a:chExt cx="5541264" cy="790194"/>
          </a:xfrm>
        </p:grpSpPr>
        <p:sp>
          <p:nvSpPr>
            <p:cNvPr name="Freeform 156" id="156"/>
            <p:cNvSpPr/>
            <p:nvPr/>
          </p:nvSpPr>
          <p:spPr>
            <a:xfrm flipH="false" flipV="false" rot="0">
              <a:off x="0" y="0"/>
              <a:ext cx="5541264" cy="790194"/>
            </a:xfrm>
            <a:custGeom>
              <a:avLst/>
              <a:gdLst/>
              <a:ahLst/>
              <a:cxnLst/>
              <a:rect r="r" b="b" t="t" l="l"/>
              <a:pathLst>
                <a:path h="790194" w="5541264">
                  <a:moveTo>
                    <a:pt x="0" y="0"/>
                  </a:moveTo>
                  <a:lnTo>
                    <a:pt x="5541264" y="0"/>
                  </a:lnTo>
                  <a:lnTo>
                    <a:pt x="5541264" y="790194"/>
                  </a:lnTo>
                  <a:lnTo>
                    <a:pt x="0" y="790194"/>
                  </a:lnTo>
                  <a:close/>
                </a:path>
              </a:pathLst>
            </a:custGeom>
            <a:blipFill>
              <a:blip r:embed="rId6">
                <a:alphaModFix amt="0"/>
              </a:blip>
              <a:stretch>
                <a:fillRect l="0" t="-86544" r="0" b="-86544"/>
              </a:stretch>
            </a:blipFill>
          </p:spPr>
          <p:txBody>
            <a:bodyPr/>
            <a:p/>
          </p:txBody>
        </p:sp>
      </p:grpSp>
      <p:grpSp>
        <p:nvGrpSpPr>
          <p:cNvPr name="Group 157" id="157"/>
          <p:cNvGrpSpPr/>
          <p:nvPr/>
        </p:nvGrpSpPr>
        <p:grpSpPr>
          <a:xfrm rot="0">
            <a:off x="8010144" y="5516404"/>
            <a:ext cx="4155948" cy="628364"/>
            <a:chOff x="0" y="0"/>
            <a:chExt cx="5541264" cy="837819"/>
          </a:xfrm>
        </p:grpSpPr>
        <p:sp>
          <p:nvSpPr>
            <p:cNvPr name="Freeform 158" id="158"/>
            <p:cNvSpPr/>
            <p:nvPr/>
          </p:nvSpPr>
          <p:spPr>
            <a:xfrm flipH="false" flipV="false" rot="0">
              <a:off x="0" y="0"/>
              <a:ext cx="5541264" cy="837820"/>
            </a:xfrm>
            <a:custGeom>
              <a:avLst/>
              <a:gdLst/>
              <a:ahLst/>
              <a:cxnLst/>
              <a:rect r="r" b="b" t="t" l="l"/>
              <a:pathLst>
                <a:path h="837820" w="5541264">
                  <a:moveTo>
                    <a:pt x="0" y="0"/>
                  </a:moveTo>
                  <a:lnTo>
                    <a:pt x="5541264" y="0"/>
                  </a:lnTo>
                  <a:lnTo>
                    <a:pt x="5541264" y="837820"/>
                  </a:lnTo>
                  <a:lnTo>
                    <a:pt x="0" y="837820"/>
                  </a:lnTo>
                  <a:close/>
                </a:path>
              </a:pathLst>
            </a:custGeom>
            <a:blipFill>
              <a:blip r:embed="rId7">
                <a:alphaModFix amt="0"/>
              </a:blip>
              <a:stretch>
                <a:fillRect l="0" t="-78872" r="0" b="-78872"/>
              </a:stretch>
            </a:blipFill>
          </p:spPr>
          <p:txBody>
            <a:bodyPr/>
            <a:p/>
          </p:txBody>
        </p:sp>
        <p:sp>
          <p:nvSpPr>
            <p:cNvPr name="TextBox 159" id="159"/>
            <p:cNvSpPr txBox="true"/>
            <p:nvPr/>
          </p:nvSpPr>
          <p:spPr>
            <a:xfrm>
              <a:off x="0" y="-47625"/>
              <a:ext cx="5541264" cy="885444"/>
            </a:xfrm>
            <a:prstGeom prst="rect">
              <a:avLst/>
            </a:prstGeom>
          </p:spPr>
          <p:txBody>
            <a:bodyPr anchor="ctr" rtlCol="false" tIns="0" lIns="0" bIns="0" rIns="0"/>
            <a:lstStyle/>
            <a:p>
              <a:pPr algn="l">
                <a:lnSpc>
                  <a:spcPts val="2340"/>
                </a:lnSpc>
              </a:pPr>
              <a:r>
                <a:rPr lang="en-US" sz="1950" b="true">
                  <a:solidFill>
                    <a:srgbClr val="13294B"/>
                  </a:solidFill>
                  <a:latin typeface="Calibri (MS) Bold"/>
                  <a:ea typeface="Calibri (MS) Bold"/>
                  <a:cs typeface="Calibri (MS) Bold"/>
                  <a:sym typeface="Calibri (MS) Bold"/>
                </a:rPr>
                <a:t>Qwen2.5-VL-3B-Instruct</a:t>
              </a:r>
            </a:p>
          </p:txBody>
        </p:sp>
      </p:grpSp>
      <p:sp>
        <p:nvSpPr>
          <p:cNvPr name="Freeform 160" id="160"/>
          <p:cNvSpPr/>
          <p:nvPr/>
        </p:nvSpPr>
        <p:spPr>
          <a:xfrm flipH="false" flipV="false" rot="0">
            <a:off x="7472267" y="6237827"/>
            <a:ext cx="4600766" cy="609410"/>
          </a:xfrm>
          <a:custGeom>
            <a:avLst/>
            <a:gdLst/>
            <a:ahLst/>
            <a:cxnLst/>
            <a:rect r="r" b="b" t="t" l="l"/>
            <a:pathLst>
              <a:path h="609410" w="4600766">
                <a:moveTo>
                  <a:pt x="0" y="0"/>
                </a:moveTo>
                <a:lnTo>
                  <a:pt x="4600766" y="0"/>
                </a:lnTo>
                <a:lnTo>
                  <a:pt x="4600766" y="609410"/>
                </a:lnTo>
                <a:lnTo>
                  <a:pt x="0" y="609410"/>
                </a:lnTo>
                <a:lnTo>
                  <a:pt x="0" y="0"/>
                </a:lnTo>
                <a:close/>
              </a:path>
            </a:pathLst>
          </a:custGeom>
          <a:blipFill>
            <a:blip r:embed="rId22">
              <a:extLst>
                <a:ext uri="{96DAC541-7B7A-43D3-8B79-37D633B846F1}">
                  <asvg:svgBlip xmlns:asvg="http://schemas.microsoft.com/office/drawing/2016/SVG/main" r:embed="rId23"/>
                </a:ext>
              </a:extLst>
            </a:blip>
            <a:stretch>
              <a:fillRect l="-85" t="0" r="-85" b="0"/>
            </a:stretch>
          </a:blipFill>
        </p:spPr>
        <p:txBody>
          <a:bodyPr/>
          <a:p/>
        </p:txBody>
      </p:sp>
      <p:grpSp>
        <p:nvGrpSpPr>
          <p:cNvPr name="Group 161" id="161"/>
          <p:cNvGrpSpPr/>
          <p:nvPr/>
        </p:nvGrpSpPr>
        <p:grpSpPr>
          <a:xfrm rot="0">
            <a:off x="7479411" y="6230684"/>
            <a:ext cx="4586478" cy="609410"/>
            <a:chOff x="0" y="0"/>
            <a:chExt cx="6115304" cy="812546"/>
          </a:xfrm>
        </p:grpSpPr>
        <p:sp>
          <p:nvSpPr>
            <p:cNvPr name="Freeform 162" id="162"/>
            <p:cNvSpPr/>
            <p:nvPr/>
          </p:nvSpPr>
          <p:spPr>
            <a:xfrm flipH="false" flipV="false" rot="0">
              <a:off x="0" y="0"/>
              <a:ext cx="6115304" cy="812546"/>
            </a:xfrm>
            <a:custGeom>
              <a:avLst/>
              <a:gdLst/>
              <a:ahLst/>
              <a:cxnLst/>
              <a:rect r="r" b="b" t="t" l="l"/>
              <a:pathLst>
                <a:path h="812546" w="6115304">
                  <a:moveTo>
                    <a:pt x="0" y="0"/>
                  </a:moveTo>
                  <a:lnTo>
                    <a:pt x="6115304" y="0"/>
                  </a:lnTo>
                  <a:lnTo>
                    <a:pt x="6115304" y="812546"/>
                  </a:lnTo>
                  <a:lnTo>
                    <a:pt x="0" y="812546"/>
                  </a:lnTo>
                  <a:close/>
                </a:path>
              </a:pathLst>
            </a:custGeom>
            <a:blipFill>
              <a:blip r:embed="rId5">
                <a:alphaModFix amt="0"/>
              </a:blip>
              <a:stretch>
                <a:fillRect l="0" t="-96544" r="0" b="-96544"/>
              </a:stretch>
            </a:blipFill>
          </p:spPr>
          <p:txBody>
            <a:bodyPr/>
            <a:p/>
          </p:txBody>
        </p:sp>
      </p:grpSp>
      <p:grpSp>
        <p:nvGrpSpPr>
          <p:cNvPr name="Group 163" id="163"/>
          <p:cNvGrpSpPr/>
          <p:nvPr/>
        </p:nvGrpSpPr>
        <p:grpSpPr>
          <a:xfrm rot="0">
            <a:off x="7479411" y="6216396"/>
            <a:ext cx="4586478" cy="623697"/>
            <a:chOff x="0" y="0"/>
            <a:chExt cx="6115304" cy="831596"/>
          </a:xfrm>
        </p:grpSpPr>
        <p:sp>
          <p:nvSpPr>
            <p:cNvPr name="Freeform 164" id="164"/>
            <p:cNvSpPr/>
            <p:nvPr/>
          </p:nvSpPr>
          <p:spPr>
            <a:xfrm flipH="false" flipV="false" rot="0">
              <a:off x="0" y="0"/>
              <a:ext cx="6115304" cy="831596"/>
            </a:xfrm>
            <a:custGeom>
              <a:avLst/>
              <a:gdLst/>
              <a:ahLst/>
              <a:cxnLst/>
              <a:rect r="r" b="b" t="t" l="l"/>
              <a:pathLst>
                <a:path h="831596" w="6115304">
                  <a:moveTo>
                    <a:pt x="0" y="0"/>
                  </a:moveTo>
                  <a:lnTo>
                    <a:pt x="6115304" y="0"/>
                  </a:lnTo>
                  <a:lnTo>
                    <a:pt x="6115304" y="831596"/>
                  </a:lnTo>
                  <a:lnTo>
                    <a:pt x="0" y="831596"/>
                  </a:lnTo>
                  <a:close/>
                </a:path>
              </a:pathLst>
            </a:custGeom>
            <a:blipFill>
              <a:blip r:embed="rId6">
                <a:alphaModFix amt="0"/>
              </a:blip>
              <a:stretch>
                <a:fillRect l="0" t="-93187" r="0" b="-93187"/>
              </a:stretch>
            </a:blipFill>
          </p:spPr>
          <p:txBody>
            <a:bodyPr/>
            <a:p/>
          </p:txBody>
        </p:sp>
      </p:grpSp>
      <p:grpSp>
        <p:nvGrpSpPr>
          <p:cNvPr name="Group 165" id="165"/>
          <p:cNvGrpSpPr/>
          <p:nvPr/>
        </p:nvGrpSpPr>
        <p:grpSpPr>
          <a:xfrm rot="0">
            <a:off x="7479411" y="6202108"/>
            <a:ext cx="4586478" cy="637984"/>
            <a:chOff x="0" y="0"/>
            <a:chExt cx="6115304" cy="850646"/>
          </a:xfrm>
        </p:grpSpPr>
        <p:sp>
          <p:nvSpPr>
            <p:cNvPr name="Freeform 166" id="166"/>
            <p:cNvSpPr/>
            <p:nvPr/>
          </p:nvSpPr>
          <p:spPr>
            <a:xfrm flipH="false" flipV="false" rot="0">
              <a:off x="0" y="0"/>
              <a:ext cx="6115304" cy="850646"/>
            </a:xfrm>
            <a:custGeom>
              <a:avLst/>
              <a:gdLst/>
              <a:ahLst/>
              <a:cxnLst/>
              <a:rect r="r" b="b" t="t" l="l"/>
              <a:pathLst>
                <a:path h="850646" w="6115304">
                  <a:moveTo>
                    <a:pt x="0" y="0"/>
                  </a:moveTo>
                  <a:lnTo>
                    <a:pt x="6115304" y="0"/>
                  </a:lnTo>
                  <a:lnTo>
                    <a:pt x="6115304" y="850646"/>
                  </a:lnTo>
                  <a:lnTo>
                    <a:pt x="0" y="850646"/>
                  </a:lnTo>
                  <a:close/>
                </a:path>
              </a:pathLst>
            </a:custGeom>
            <a:blipFill>
              <a:blip r:embed="rId7">
                <a:alphaModFix amt="0"/>
              </a:blip>
              <a:stretch>
                <a:fillRect l="0" t="-90078" r="0" b="-90078"/>
              </a:stretch>
            </a:blipFill>
          </p:spPr>
          <p:txBody>
            <a:bodyPr/>
            <a:p/>
          </p:txBody>
        </p:sp>
        <p:sp>
          <p:nvSpPr>
            <p:cNvPr name="TextBox 167" id="167"/>
            <p:cNvSpPr txBox="true"/>
            <p:nvPr/>
          </p:nvSpPr>
          <p:spPr>
            <a:xfrm>
              <a:off x="0" y="-19050"/>
              <a:ext cx="6115304" cy="869696"/>
            </a:xfrm>
            <a:prstGeom prst="rect">
              <a:avLst/>
            </a:prstGeom>
          </p:spPr>
          <p:txBody>
            <a:bodyPr anchor="ctr" rtlCol="false" tIns="0" lIns="0" bIns="0" rIns="0"/>
            <a:lstStyle/>
            <a:p>
              <a:pPr algn="ctr">
                <a:lnSpc>
                  <a:spcPts val="1889"/>
                </a:lnSpc>
              </a:pPr>
              <a:r>
                <a:rPr lang="en-US" sz="1575">
                  <a:solidFill>
                    <a:srgbClr val="1F2A37"/>
                  </a:solidFill>
                  <a:latin typeface="Calibri (MS)"/>
                  <a:ea typeface="Calibri (MS)"/>
                  <a:cs typeface="Calibri (MS)"/>
                  <a:sym typeface="Calibri (MS)"/>
                </a:rPr>
                <a:t>Vision encoder (đóng băng)  ·  ảnh → token ảnh</a:t>
              </a:r>
            </a:p>
          </p:txBody>
        </p:sp>
      </p:grpSp>
      <p:sp>
        <p:nvSpPr>
          <p:cNvPr name="Freeform 168" id="168"/>
          <p:cNvSpPr/>
          <p:nvPr/>
        </p:nvSpPr>
        <p:spPr>
          <a:xfrm flipH="false" flipV="false" rot="0">
            <a:off x="7468105" y="7029193"/>
            <a:ext cx="4609100" cy="672608"/>
          </a:xfrm>
          <a:custGeom>
            <a:avLst/>
            <a:gdLst/>
            <a:ahLst/>
            <a:cxnLst/>
            <a:rect r="r" b="b" t="t" l="l"/>
            <a:pathLst>
              <a:path h="672608" w="4609100">
                <a:moveTo>
                  <a:pt x="0" y="0"/>
                </a:moveTo>
                <a:lnTo>
                  <a:pt x="4609100" y="0"/>
                </a:lnTo>
                <a:lnTo>
                  <a:pt x="4609100" y="672608"/>
                </a:lnTo>
                <a:lnTo>
                  <a:pt x="0" y="672608"/>
                </a:lnTo>
                <a:lnTo>
                  <a:pt x="0" y="0"/>
                </a:lnTo>
                <a:close/>
              </a:path>
            </a:pathLst>
          </a:custGeom>
          <a:blipFill>
            <a:blip r:embed="rId24">
              <a:extLst>
                <a:ext uri="{96DAC541-7B7A-43D3-8B79-37D633B846F1}">
                  <asvg:svgBlip xmlns:asvg="http://schemas.microsoft.com/office/drawing/2016/SVG/main" r:embed="rId25"/>
                </a:ext>
              </a:extLst>
            </a:blip>
            <a:stretch>
              <a:fillRect l="0" t="-261" r="0" b="-261"/>
            </a:stretch>
          </a:blipFill>
        </p:spPr>
        <p:txBody>
          <a:bodyPr/>
          <a:p/>
        </p:txBody>
      </p:sp>
      <p:grpSp>
        <p:nvGrpSpPr>
          <p:cNvPr name="Group 169" id="169"/>
          <p:cNvGrpSpPr/>
          <p:nvPr/>
        </p:nvGrpSpPr>
        <p:grpSpPr>
          <a:xfrm rot="0">
            <a:off x="7477030" y="7023830"/>
            <a:ext cx="4591240" cy="669036"/>
            <a:chOff x="0" y="0"/>
            <a:chExt cx="6121654" cy="892048"/>
          </a:xfrm>
        </p:grpSpPr>
        <p:sp>
          <p:nvSpPr>
            <p:cNvPr name="Freeform 170" id="170"/>
            <p:cNvSpPr/>
            <p:nvPr/>
          </p:nvSpPr>
          <p:spPr>
            <a:xfrm flipH="false" flipV="false" rot="0">
              <a:off x="0" y="0"/>
              <a:ext cx="6121654" cy="892048"/>
            </a:xfrm>
            <a:custGeom>
              <a:avLst/>
              <a:gdLst/>
              <a:ahLst/>
              <a:cxnLst/>
              <a:rect r="r" b="b" t="t" l="l"/>
              <a:pathLst>
                <a:path h="892048" w="6121654">
                  <a:moveTo>
                    <a:pt x="0" y="0"/>
                  </a:moveTo>
                  <a:lnTo>
                    <a:pt x="6121654" y="0"/>
                  </a:lnTo>
                  <a:lnTo>
                    <a:pt x="6121654" y="892048"/>
                  </a:lnTo>
                  <a:lnTo>
                    <a:pt x="0" y="892048"/>
                  </a:lnTo>
                  <a:close/>
                </a:path>
              </a:pathLst>
            </a:custGeom>
            <a:blipFill>
              <a:blip r:embed="rId5">
                <a:alphaModFix amt="0"/>
              </a:blip>
              <a:stretch>
                <a:fillRect l="0" t="-83621" r="0" b="-83623"/>
              </a:stretch>
            </a:blipFill>
          </p:spPr>
          <p:txBody>
            <a:bodyPr/>
            <a:p/>
          </p:txBody>
        </p:sp>
      </p:grpSp>
      <p:grpSp>
        <p:nvGrpSpPr>
          <p:cNvPr name="Group 171" id="171"/>
          <p:cNvGrpSpPr/>
          <p:nvPr/>
        </p:nvGrpSpPr>
        <p:grpSpPr>
          <a:xfrm rot="0">
            <a:off x="7477030" y="7009543"/>
            <a:ext cx="4591240" cy="683323"/>
            <a:chOff x="0" y="0"/>
            <a:chExt cx="6121654" cy="911098"/>
          </a:xfrm>
        </p:grpSpPr>
        <p:sp>
          <p:nvSpPr>
            <p:cNvPr name="Freeform 172" id="172"/>
            <p:cNvSpPr/>
            <p:nvPr/>
          </p:nvSpPr>
          <p:spPr>
            <a:xfrm flipH="false" flipV="false" rot="0">
              <a:off x="0" y="0"/>
              <a:ext cx="6121654" cy="911098"/>
            </a:xfrm>
            <a:custGeom>
              <a:avLst/>
              <a:gdLst/>
              <a:ahLst/>
              <a:cxnLst/>
              <a:rect r="r" b="b" t="t" l="l"/>
              <a:pathLst>
                <a:path h="911098" w="6121654">
                  <a:moveTo>
                    <a:pt x="0" y="0"/>
                  </a:moveTo>
                  <a:lnTo>
                    <a:pt x="6121654" y="0"/>
                  </a:lnTo>
                  <a:lnTo>
                    <a:pt x="6121654" y="911098"/>
                  </a:lnTo>
                  <a:lnTo>
                    <a:pt x="0" y="911098"/>
                  </a:lnTo>
                  <a:close/>
                </a:path>
              </a:pathLst>
            </a:custGeom>
            <a:blipFill>
              <a:blip r:embed="rId6">
                <a:alphaModFix amt="0"/>
              </a:blip>
              <a:stretch>
                <a:fillRect l="0" t="-80827" r="0" b="-80829"/>
              </a:stretch>
            </a:blipFill>
          </p:spPr>
          <p:txBody>
            <a:bodyPr/>
            <a:p/>
          </p:txBody>
        </p:sp>
      </p:grpSp>
      <p:grpSp>
        <p:nvGrpSpPr>
          <p:cNvPr name="Group 173" id="173"/>
          <p:cNvGrpSpPr/>
          <p:nvPr/>
        </p:nvGrpSpPr>
        <p:grpSpPr>
          <a:xfrm rot="0">
            <a:off x="7477030" y="6995255"/>
            <a:ext cx="4591240" cy="697611"/>
            <a:chOff x="0" y="0"/>
            <a:chExt cx="6121654" cy="930148"/>
          </a:xfrm>
        </p:grpSpPr>
        <p:sp>
          <p:nvSpPr>
            <p:cNvPr name="Freeform 174" id="174"/>
            <p:cNvSpPr/>
            <p:nvPr/>
          </p:nvSpPr>
          <p:spPr>
            <a:xfrm flipH="false" flipV="false" rot="0">
              <a:off x="0" y="0"/>
              <a:ext cx="6121653" cy="930147"/>
            </a:xfrm>
            <a:custGeom>
              <a:avLst/>
              <a:gdLst/>
              <a:ahLst/>
              <a:cxnLst/>
              <a:rect r="r" b="b" t="t" l="l"/>
              <a:pathLst>
                <a:path h="930147" w="6121653">
                  <a:moveTo>
                    <a:pt x="0" y="0"/>
                  </a:moveTo>
                  <a:lnTo>
                    <a:pt x="6121653" y="0"/>
                  </a:lnTo>
                  <a:lnTo>
                    <a:pt x="6121653" y="930147"/>
                  </a:lnTo>
                  <a:lnTo>
                    <a:pt x="0" y="930147"/>
                  </a:lnTo>
                  <a:close/>
                </a:path>
              </a:pathLst>
            </a:custGeom>
            <a:blipFill>
              <a:blip r:embed="rId7">
                <a:alphaModFix amt="0"/>
              </a:blip>
              <a:stretch>
                <a:fillRect l="0" t="-78238" r="0" b="-78238"/>
              </a:stretch>
            </a:blipFill>
          </p:spPr>
          <p:txBody>
            <a:bodyPr/>
            <a:p/>
          </p:txBody>
        </p:sp>
        <p:sp>
          <p:nvSpPr>
            <p:cNvPr name="TextBox 175" id="175"/>
            <p:cNvSpPr txBox="true"/>
            <p:nvPr/>
          </p:nvSpPr>
          <p:spPr>
            <a:xfrm>
              <a:off x="0" y="-19050"/>
              <a:ext cx="6121654" cy="949198"/>
            </a:xfrm>
            <a:prstGeom prst="rect">
              <a:avLst/>
            </a:prstGeom>
          </p:spPr>
          <p:txBody>
            <a:bodyPr anchor="ctr" rtlCol="false" tIns="0" lIns="0" bIns="0" rIns="0"/>
            <a:lstStyle/>
            <a:p>
              <a:pPr algn="ctr">
                <a:lnSpc>
                  <a:spcPts val="1889"/>
                </a:lnSpc>
              </a:pPr>
              <a:r>
                <a:rPr lang="en-US" sz="1575">
                  <a:solidFill>
                    <a:srgbClr val="1F2A37"/>
                  </a:solidFill>
                  <a:latin typeface="Calibri (MS)"/>
                  <a:ea typeface="Calibri (MS)"/>
                  <a:cs typeface="Calibri (MS)"/>
                  <a:sym typeface="Calibri (MS)"/>
                </a:rPr>
                <a:t>LLM 4-bit NF4 (đóng băng)  </a:t>
              </a:r>
              <a:r>
                <a:rPr lang="en-US" sz="1575" b="true">
                  <a:solidFill>
                    <a:srgbClr val="B86E0E"/>
                  </a:solidFill>
                  <a:latin typeface="Calibri (MS) Bold"/>
                  <a:ea typeface="Calibri (MS) Bold"/>
                  <a:cs typeface="Calibri (MS) Bold"/>
                  <a:sym typeface="Calibri (MS) Bold"/>
                </a:rPr>
                <a:t>+ LoRA r = 16 (train)</a:t>
              </a:r>
            </a:p>
          </p:txBody>
        </p:sp>
      </p:grpSp>
      <p:sp>
        <p:nvSpPr>
          <p:cNvPr name="TextBox 176" id="176"/>
          <p:cNvSpPr txBox="true"/>
          <p:nvPr/>
        </p:nvSpPr>
        <p:spPr>
          <a:xfrm rot="0">
            <a:off x="7516368" y="7714488"/>
            <a:ext cx="4512564" cy="830580"/>
          </a:xfrm>
          <a:prstGeom prst="rect">
            <a:avLst/>
          </a:prstGeom>
        </p:spPr>
        <p:txBody>
          <a:bodyPr anchor="t" rtlCol="false" tIns="0" lIns="0" bIns="0" rIns="0">
            <a:spAutoFit/>
          </a:bodyPr>
          <a:lstStyle/>
          <a:p>
            <a:pPr algn="l">
              <a:lnSpc>
                <a:spcPts val="1889"/>
              </a:lnSpc>
            </a:pPr>
            <a:r>
              <a:rPr lang="en-US" sz="1575" b="true">
                <a:solidFill>
                  <a:srgbClr val="13294B"/>
                </a:solidFill>
                <a:latin typeface="Calibri (MS) Bold"/>
                <a:ea typeface="Calibri (MS) Bold"/>
                <a:cs typeface="Calibri (MS) Bold"/>
                <a:sym typeface="Calibri (MS) Bold"/>
              </a:rPr>
              <a:t>Train: </a:t>
            </a:r>
            <a:r>
              <a:rPr lang="en-US" sz="1575">
                <a:solidFill>
                  <a:srgbClr val="5B677A"/>
                </a:solidFill>
                <a:latin typeface="Calibri (MS)"/>
                <a:ea typeface="Calibri (MS)"/>
                <a:cs typeface="Calibri (MS)"/>
                <a:sym typeface="Calibri (MS)"/>
              </a:rPr>
              <a:t>loss chỉ trên token đáp án</a:t>
            </a:r>
          </a:p>
          <a:p>
            <a:pPr algn="l">
              <a:lnSpc>
                <a:spcPts val="1889"/>
              </a:lnSpc>
            </a:pPr>
            <a:r>
              <a:rPr lang="en-US" sz="1575" b="true">
                <a:solidFill>
                  <a:srgbClr val="13294B"/>
                </a:solidFill>
                <a:latin typeface="Calibri (MS) Bold"/>
                <a:ea typeface="Calibri (MS) Bold"/>
                <a:cs typeface="Calibri (MS) Bold"/>
                <a:sym typeface="Calibri (MS) Bold"/>
              </a:rPr>
              <a:t>Suy luận: </a:t>
            </a:r>
            <a:r>
              <a:rPr lang="en-US" sz="1575">
                <a:solidFill>
                  <a:srgbClr val="5B677A"/>
                </a:solidFill>
                <a:latin typeface="Calibri (MS)"/>
                <a:ea typeface="Calibri (MS)"/>
                <a:cs typeface="Calibri (MS)"/>
                <a:sym typeface="Calibri (MS)"/>
              </a:rPr>
              <a:t>greedy, câu trả lời ngắn</a:t>
            </a:r>
          </a:p>
        </p:txBody>
      </p:sp>
      <p:grpSp>
        <p:nvGrpSpPr>
          <p:cNvPr name="Group 177" id="177"/>
          <p:cNvGrpSpPr/>
          <p:nvPr/>
        </p:nvGrpSpPr>
        <p:grpSpPr>
          <a:xfrm rot="0">
            <a:off x="4334942" y="4348658"/>
            <a:ext cx="2988802" cy="3619738"/>
            <a:chOff x="0" y="0"/>
            <a:chExt cx="3985070" cy="4826318"/>
          </a:xfrm>
        </p:grpSpPr>
        <p:sp>
          <p:nvSpPr>
            <p:cNvPr name="Freeform 178" id="178"/>
            <p:cNvSpPr/>
            <p:nvPr/>
          </p:nvSpPr>
          <p:spPr>
            <a:xfrm flipH="false" flipV="false" rot="0">
              <a:off x="0" y="0"/>
              <a:ext cx="3985133" cy="4826381"/>
            </a:xfrm>
            <a:custGeom>
              <a:avLst/>
              <a:gdLst/>
              <a:ahLst/>
              <a:cxnLst/>
              <a:rect r="r" b="b" t="t" l="l"/>
              <a:pathLst>
                <a:path h="4826381" w="3985133">
                  <a:moveTo>
                    <a:pt x="0" y="4826381"/>
                  </a:moveTo>
                  <a:lnTo>
                    <a:pt x="3472688" y="4826381"/>
                  </a:lnTo>
                  <a:lnTo>
                    <a:pt x="3472688" y="0"/>
                  </a:lnTo>
                  <a:lnTo>
                    <a:pt x="3985133" y="0"/>
                  </a:lnTo>
                </a:path>
              </a:pathLst>
            </a:custGeom>
            <a:blipFill>
              <a:blip r:embed="rId2">
                <a:alphaModFix amt="0"/>
              </a:blip>
              <a:stretch>
                <a:fillRect l="-105494" t="0" r="-105493" b="1"/>
              </a:stretch>
            </a:blipFill>
            <a:ln w="33338" cap="sq">
              <a:solidFill>
                <a:srgbClr val="1C7293"/>
              </a:solidFill>
              <a:prstDash val="solid"/>
              <a:miter/>
            </a:ln>
          </p:spPr>
          <p:txBody>
            <a:bodyPr/>
            <a:p/>
          </p:txBody>
        </p:sp>
      </p:grpSp>
      <p:sp>
        <p:nvSpPr>
          <p:cNvPr name="TextBox 179" id="179"/>
          <p:cNvSpPr txBox="true"/>
          <p:nvPr/>
        </p:nvSpPr>
        <p:spPr>
          <a:xfrm rot="0">
            <a:off x="4828032" y="6771132"/>
            <a:ext cx="2057400" cy="416052"/>
          </a:xfrm>
          <a:prstGeom prst="rect">
            <a:avLst/>
          </a:prstGeom>
        </p:spPr>
        <p:txBody>
          <a:bodyPr anchor="t" rtlCol="false" tIns="0" lIns="0" bIns="0" rIns="0">
            <a:spAutoFit/>
          </a:bodyPr>
          <a:lstStyle/>
          <a:p>
            <a:pPr algn="l">
              <a:lnSpc>
                <a:spcPts val="1530"/>
              </a:lnSpc>
            </a:pPr>
            <a:r>
              <a:rPr lang="en-US" sz="1275">
                <a:solidFill>
                  <a:srgbClr val="B86E0E"/>
                </a:solidFill>
                <a:latin typeface="Calibri (MS)"/>
                <a:ea typeface="Calibri (MS)"/>
                <a:cs typeface="Calibri (MS)"/>
                <a:sym typeface="Calibri (MS)"/>
              </a:rPr>
              <a:t>chữ OCR → prompt</a:t>
            </a:r>
          </a:p>
        </p:txBody>
      </p:sp>
      <p:grpSp>
        <p:nvGrpSpPr>
          <p:cNvPr name="Group 180" id="180"/>
          <p:cNvGrpSpPr/>
          <p:nvPr/>
        </p:nvGrpSpPr>
        <p:grpSpPr>
          <a:xfrm rot="0">
            <a:off x="12755880" y="3017520"/>
            <a:ext cx="4704588" cy="5952744"/>
            <a:chOff x="0" y="0"/>
            <a:chExt cx="6272784" cy="7936992"/>
          </a:xfrm>
        </p:grpSpPr>
        <p:sp>
          <p:nvSpPr>
            <p:cNvPr name="Freeform 181" id="181"/>
            <p:cNvSpPr/>
            <p:nvPr/>
          </p:nvSpPr>
          <p:spPr>
            <a:xfrm flipH="false" flipV="false" rot="0">
              <a:off x="0" y="0"/>
              <a:ext cx="6272784" cy="7936992"/>
            </a:xfrm>
            <a:custGeom>
              <a:avLst/>
              <a:gdLst/>
              <a:ahLst/>
              <a:cxnLst/>
              <a:rect r="r" b="b" t="t" l="l"/>
              <a:pathLst>
                <a:path h="7936992" w="6272784">
                  <a:moveTo>
                    <a:pt x="0" y="250952"/>
                  </a:moveTo>
                  <a:cubicBezTo>
                    <a:pt x="0" y="112395"/>
                    <a:pt x="112395" y="0"/>
                    <a:pt x="250952" y="0"/>
                  </a:cubicBezTo>
                  <a:lnTo>
                    <a:pt x="6021832" y="0"/>
                  </a:lnTo>
                  <a:cubicBezTo>
                    <a:pt x="6160389" y="0"/>
                    <a:pt x="6272784" y="112395"/>
                    <a:pt x="6272784" y="250952"/>
                  </a:cubicBezTo>
                  <a:lnTo>
                    <a:pt x="6272784" y="7686040"/>
                  </a:lnTo>
                  <a:cubicBezTo>
                    <a:pt x="6272784" y="7824597"/>
                    <a:pt x="6160389" y="7936992"/>
                    <a:pt x="6021832" y="7936992"/>
                  </a:cubicBezTo>
                  <a:lnTo>
                    <a:pt x="250952" y="7936992"/>
                  </a:lnTo>
                  <a:cubicBezTo>
                    <a:pt x="112395" y="7936992"/>
                    <a:pt x="0" y="7824597"/>
                    <a:pt x="0" y="7686040"/>
                  </a:cubicBezTo>
                  <a:close/>
                </a:path>
              </a:pathLst>
            </a:custGeom>
            <a:solidFill>
              <a:srgbClr val="E7F0F3"/>
            </a:solidFill>
          </p:spPr>
          <p:txBody>
            <a:bodyPr/>
            <a:p/>
          </p:txBody>
        </p:sp>
      </p:grpSp>
      <p:grpSp>
        <p:nvGrpSpPr>
          <p:cNvPr name="Group 182" id="182"/>
          <p:cNvGrpSpPr/>
          <p:nvPr/>
        </p:nvGrpSpPr>
        <p:grpSpPr>
          <a:xfrm rot="0">
            <a:off x="13002768" y="3113532"/>
            <a:ext cx="4293108" cy="411480"/>
            <a:chOff x="0" y="0"/>
            <a:chExt cx="5724144" cy="548640"/>
          </a:xfrm>
        </p:grpSpPr>
        <p:sp>
          <p:nvSpPr>
            <p:cNvPr name="Freeform 183" id="183"/>
            <p:cNvSpPr/>
            <p:nvPr/>
          </p:nvSpPr>
          <p:spPr>
            <a:xfrm flipH="false" flipV="false" rot="0">
              <a:off x="0" y="0"/>
              <a:ext cx="5724144" cy="548640"/>
            </a:xfrm>
            <a:custGeom>
              <a:avLst/>
              <a:gdLst/>
              <a:ahLst/>
              <a:cxnLst/>
              <a:rect r="r" b="b" t="t" l="l"/>
              <a:pathLst>
                <a:path h="548640" w="5724144">
                  <a:moveTo>
                    <a:pt x="0" y="0"/>
                  </a:moveTo>
                  <a:lnTo>
                    <a:pt x="5724144" y="0"/>
                  </a:lnTo>
                  <a:lnTo>
                    <a:pt x="5724144" y="548640"/>
                  </a:lnTo>
                  <a:lnTo>
                    <a:pt x="0" y="548640"/>
                  </a:lnTo>
                  <a:close/>
                </a:path>
              </a:pathLst>
            </a:custGeom>
            <a:blipFill>
              <a:blip r:embed="rId2">
                <a:alphaModFix amt="0"/>
              </a:blip>
              <a:stretch>
                <a:fillRect l="0" t="-153152" r="0" b="-153152"/>
              </a:stretch>
            </a:blipFill>
          </p:spPr>
          <p:txBody>
            <a:bodyPr/>
            <a:p/>
          </p:txBody>
        </p:sp>
      </p:grpSp>
      <p:grpSp>
        <p:nvGrpSpPr>
          <p:cNvPr name="Group 184" id="184"/>
          <p:cNvGrpSpPr/>
          <p:nvPr/>
        </p:nvGrpSpPr>
        <p:grpSpPr>
          <a:xfrm rot="0">
            <a:off x="13002768" y="3084957"/>
            <a:ext cx="4293108" cy="440055"/>
            <a:chOff x="0" y="0"/>
            <a:chExt cx="5724144" cy="586740"/>
          </a:xfrm>
        </p:grpSpPr>
        <p:sp>
          <p:nvSpPr>
            <p:cNvPr name="Freeform 185" id="185"/>
            <p:cNvSpPr/>
            <p:nvPr/>
          </p:nvSpPr>
          <p:spPr>
            <a:xfrm flipH="false" flipV="false" rot="0">
              <a:off x="0" y="0"/>
              <a:ext cx="5724144" cy="586740"/>
            </a:xfrm>
            <a:custGeom>
              <a:avLst/>
              <a:gdLst/>
              <a:ahLst/>
              <a:cxnLst/>
              <a:rect r="r" b="b" t="t" l="l"/>
              <a:pathLst>
                <a:path h="586740" w="5724144">
                  <a:moveTo>
                    <a:pt x="0" y="0"/>
                  </a:moveTo>
                  <a:lnTo>
                    <a:pt x="5724144" y="0"/>
                  </a:lnTo>
                  <a:lnTo>
                    <a:pt x="5724144" y="586740"/>
                  </a:lnTo>
                  <a:lnTo>
                    <a:pt x="0" y="586740"/>
                  </a:lnTo>
                  <a:close/>
                </a:path>
              </a:pathLst>
            </a:custGeom>
            <a:blipFill>
              <a:blip r:embed="rId5">
                <a:alphaModFix amt="0"/>
              </a:blip>
              <a:stretch>
                <a:fillRect l="0" t="-139961" r="0" b="-139961"/>
              </a:stretch>
            </a:blipFill>
          </p:spPr>
          <p:txBody>
            <a:bodyPr/>
            <a:p/>
          </p:txBody>
        </p:sp>
      </p:grpSp>
      <p:grpSp>
        <p:nvGrpSpPr>
          <p:cNvPr name="Group 186" id="186"/>
          <p:cNvGrpSpPr/>
          <p:nvPr/>
        </p:nvGrpSpPr>
        <p:grpSpPr>
          <a:xfrm rot="0">
            <a:off x="13002768" y="3056382"/>
            <a:ext cx="4293108" cy="468630"/>
            <a:chOff x="0" y="0"/>
            <a:chExt cx="5724144" cy="624840"/>
          </a:xfrm>
        </p:grpSpPr>
        <p:sp>
          <p:nvSpPr>
            <p:cNvPr name="Freeform 187" id="187"/>
            <p:cNvSpPr/>
            <p:nvPr/>
          </p:nvSpPr>
          <p:spPr>
            <a:xfrm flipH="false" flipV="false" rot="0">
              <a:off x="0" y="0"/>
              <a:ext cx="5724144" cy="624840"/>
            </a:xfrm>
            <a:custGeom>
              <a:avLst/>
              <a:gdLst/>
              <a:ahLst/>
              <a:cxnLst/>
              <a:rect r="r" b="b" t="t" l="l"/>
              <a:pathLst>
                <a:path h="624840" w="5724144">
                  <a:moveTo>
                    <a:pt x="0" y="0"/>
                  </a:moveTo>
                  <a:lnTo>
                    <a:pt x="5724144" y="0"/>
                  </a:lnTo>
                  <a:lnTo>
                    <a:pt x="5724144" y="624840"/>
                  </a:lnTo>
                  <a:lnTo>
                    <a:pt x="0" y="624840"/>
                  </a:lnTo>
                  <a:close/>
                </a:path>
              </a:pathLst>
            </a:custGeom>
            <a:blipFill>
              <a:blip r:embed="rId6">
                <a:alphaModFix amt="0"/>
              </a:blip>
              <a:stretch>
                <a:fillRect l="0" t="-128378" r="0" b="-128378"/>
              </a:stretch>
            </a:blipFill>
          </p:spPr>
          <p:txBody>
            <a:bodyPr/>
            <a:p/>
          </p:txBody>
        </p:sp>
      </p:grpSp>
      <p:grpSp>
        <p:nvGrpSpPr>
          <p:cNvPr name="Group 188" id="188"/>
          <p:cNvGrpSpPr/>
          <p:nvPr/>
        </p:nvGrpSpPr>
        <p:grpSpPr>
          <a:xfrm rot="0">
            <a:off x="13002768" y="3027807"/>
            <a:ext cx="4293108" cy="497205"/>
            <a:chOff x="0" y="0"/>
            <a:chExt cx="5724144" cy="662940"/>
          </a:xfrm>
        </p:grpSpPr>
        <p:sp>
          <p:nvSpPr>
            <p:cNvPr name="Freeform 189" id="189"/>
            <p:cNvSpPr/>
            <p:nvPr/>
          </p:nvSpPr>
          <p:spPr>
            <a:xfrm flipH="false" flipV="false" rot="0">
              <a:off x="0" y="0"/>
              <a:ext cx="5724144" cy="662940"/>
            </a:xfrm>
            <a:custGeom>
              <a:avLst/>
              <a:gdLst/>
              <a:ahLst/>
              <a:cxnLst/>
              <a:rect r="r" b="b" t="t" l="l"/>
              <a:pathLst>
                <a:path h="662940" w="5724144">
                  <a:moveTo>
                    <a:pt x="0" y="0"/>
                  </a:moveTo>
                  <a:lnTo>
                    <a:pt x="5724144" y="0"/>
                  </a:lnTo>
                  <a:lnTo>
                    <a:pt x="5724144" y="662940"/>
                  </a:lnTo>
                  <a:lnTo>
                    <a:pt x="0" y="662940"/>
                  </a:lnTo>
                  <a:close/>
                </a:path>
              </a:pathLst>
            </a:custGeom>
            <a:blipFill>
              <a:blip r:embed="rId7">
                <a:alphaModFix amt="0"/>
              </a:blip>
              <a:stretch>
                <a:fillRect l="0" t="-118243" r="0" b="-118243"/>
              </a:stretch>
            </a:blipFill>
          </p:spPr>
          <p:txBody>
            <a:bodyPr/>
            <a:p/>
          </p:txBody>
        </p:sp>
        <p:sp>
          <p:nvSpPr>
            <p:cNvPr name="TextBox 190" id="190"/>
            <p:cNvSpPr txBox="true"/>
            <p:nvPr/>
          </p:nvSpPr>
          <p:spPr>
            <a:xfrm>
              <a:off x="0" y="-38100"/>
              <a:ext cx="5724144" cy="701040"/>
            </a:xfrm>
            <a:prstGeom prst="rect">
              <a:avLst/>
            </a:prstGeom>
          </p:spPr>
          <p:txBody>
            <a:bodyPr anchor="ctr" rtlCol="false" tIns="0" lIns="0" bIns="0" rIns="0"/>
            <a:lstStyle/>
            <a:p>
              <a:pPr algn="l">
                <a:lnSpc>
                  <a:spcPts val="1800"/>
                </a:lnSpc>
              </a:pPr>
              <a:r>
                <a:rPr lang="en-US" sz="1500" b="true">
                  <a:solidFill>
                    <a:srgbClr val="1C7293"/>
                  </a:solidFill>
                  <a:latin typeface="Calibri (MS) Bold"/>
                  <a:ea typeface="Calibri (MS) Bold"/>
                  <a:cs typeface="Calibri (MS) Bold"/>
                  <a:sym typeface="Calibri (MS) Bold"/>
                </a:rPr>
                <a:t>C · ĐÁNH GIÁ &amp; SẢN PHẨM</a:t>
              </a:r>
            </a:p>
          </p:txBody>
        </p:sp>
      </p:grpSp>
      <p:sp>
        <p:nvSpPr>
          <p:cNvPr name="Freeform 191" id="191"/>
          <p:cNvSpPr/>
          <p:nvPr/>
        </p:nvSpPr>
        <p:spPr>
          <a:xfrm flipH="false" flipV="false" rot="0">
            <a:off x="12940789" y="3709921"/>
            <a:ext cx="4334780" cy="2647712"/>
          </a:xfrm>
          <a:custGeom>
            <a:avLst/>
            <a:gdLst/>
            <a:ahLst/>
            <a:cxnLst/>
            <a:rect r="r" b="b" t="t" l="l"/>
            <a:pathLst>
              <a:path h="2647712" w="4334780">
                <a:moveTo>
                  <a:pt x="0" y="0"/>
                </a:moveTo>
                <a:lnTo>
                  <a:pt x="4334780" y="0"/>
                </a:lnTo>
                <a:lnTo>
                  <a:pt x="4334780" y="2647712"/>
                </a:lnTo>
                <a:lnTo>
                  <a:pt x="0" y="2647712"/>
                </a:lnTo>
                <a:lnTo>
                  <a:pt x="0" y="0"/>
                </a:lnTo>
                <a:close/>
              </a:path>
            </a:pathLst>
          </a:custGeom>
          <a:blipFill>
            <a:blip r:embed="rId26">
              <a:extLst>
                <a:ext uri="{96DAC541-7B7A-43D3-8B79-37D633B846F1}">
                  <asvg:svgBlip xmlns:asvg="http://schemas.microsoft.com/office/drawing/2016/SVG/main" r:embed="rId27"/>
                </a:ext>
              </a:extLst>
            </a:blip>
            <a:stretch>
              <a:fillRect l="-94" t="0" r="-94" b="0"/>
            </a:stretch>
          </a:blipFill>
        </p:spPr>
        <p:txBody>
          <a:bodyPr/>
          <a:p/>
        </p:txBody>
      </p:sp>
      <p:sp>
        <p:nvSpPr>
          <p:cNvPr name="Freeform 192" id="192"/>
          <p:cNvSpPr/>
          <p:nvPr/>
        </p:nvSpPr>
        <p:spPr>
          <a:xfrm flipH="false" flipV="false" rot="0">
            <a:off x="13109543" y="3878675"/>
            <a:ext cx="499682" cy="499681"/>
          </a:xfrm>
          <a:custGeom>
            <a:avLst/>
            <a:gdLst/>
            <a:ahLst/>
            <a:cxnLst/>
            <a:rect r="r" b="b" t="t" l="l"/>
            <a:pathLst>
              <a:path h="499681" w="499682">
                <a:moveTo>
                  <a:pt x="0" y="0"/>
                </a:moveTo>
                <a:lnTo>
                  <a:pt x="499682" y="0"/>
                </a:lnTo>
                <a:lnTo>
                  <a:pt x="499682" y="499682"/>
                </a:lnTo>
                <a:lnTo>
                  <a:pt x="0" y="499682"/>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txBody>
          <a:bodyPr/>
          <a:p/>
        </p:txBody>
      </p:sp>
      <p:grpSp>
        <p:nvGrpSpPr>
          <p:cNvPr name="Group 193" id="193"/>
          <p:cNvGrpSpPr/>
          <p:nvPr/>
        </p:nvGrpSpPr>
        <p:grpSpPr>
          <a:xfrm rot="0">
            <a:off x="13116687" y="3857244"/>
            <a:ext cx="485394" cy="513969"/>
            <a:chOff x="0" y="0"/>
            <a:chExt cx="647192" cy="685292"/>
          </a:xfrm>
        </p:grpSpPr>
        <p:sp>
          <p:nvSpPr>
            <p:cNvPr name="Freeform 194" id="194"/>
            <p:cNvSpPr/>
            <p:nvPr/>
          </p:nvSpPr>
          <p:spPr>
            <a:xfrm flipH="false" flipV="false" rot="0">
              <a:off x="0" y="0"/>
              <a:ext cx="647192" cy="685292"/>
            </a:xfrm>
            <a:custGeom>
              <a:avLst/>
              <a:gdLst/>
              <a:ahLst/>
              <a:cxnLst/>
              <a:rect r="r" b="b" t="t" l="l"/>
              <a:pathLst>
                <a:path h="685292" w="647192">
                  <a:moveTo>
                    <a:pt x="0" y="0"/>
                  </a:moveTo>
                  <a:lnTo>
                    <a:pt x="647192" y="0"/>
                  </a:lnTo>
                  <a:lnTo>
                    <a:pt x="647192" y="685292"/>
                  </a:lnTo>
                  <a:lnTo>
                    <a:pt x="0" y="685292"/>
                  </a:lnTo>
                  <a:close/>
                </a:path>
              </a:pathLst>
            </a:custGeom>
            <a:blipFill>
              <a:blip r:embed="rId5">
                <a:alphaModFix amt="0"/>
              </a:blip>
              <a:stretch>
                <a:fillRect l="-85951" t="0" r="-85951" b="0"/>
              </a:stretch>
            </a:blipFill>
          </p:spPr>
          <p:txBody>
            <a:bodyPr/>
            <a:p/>
          </p:txBody>
        </p:sp>
      </p:grpSp>
      <p:grpSp>
        <p:nvGrpSpPr>
          <p:cNvPr name="Group 195" id="195"/>
          <p:cNvGrpSpPr/>
          <p:nvPr/>
        </p:nvGrpSpPr>
        <p:grpSpPr>
          <a:xfrm rot="0">
            <a:off x="13116687" y="3828669"/>
            <a:ext cx="485394" cy="542544"/>
            <a:chOff x="0" y="0"/>
            <a:chExt cx="647192" cy="723392"/>
          </a:xfrm>
        </p:grpSpPr>
        <p:sp>
          <p:nvSpPr>
            <p:cNvPr name="Freeform 196" id="196"/>
            <p:cNvSpPr/>
            <p:nvPr/>
          </p:nvSpPr>
          <p:spPr>
            <a:xfrm flipH="false" flipV="false" rot="0">
              <a:off x="0" y="0"/>
              <a:ext cx="647192" cy="723392"/>
            </a:xfrm>
            <a:custGeom>
              <a:avLst/>
              <a:gdLst/>
              <a:ahLst/>
              <a:cxnLst/>
              <a:rect r="r" b="b" t="t" l="l"/>
              <a:pathLst>
                <a:path h="723392" w="647192">
                  <a:moveTo>
                    <a:pt x="0" y="0"/>
                  </a:moveTo>
                  <a:lnTo>
                    <a:pt x="647192" y="0"/>
                  </a:lnTo>
                  <a:lnTo>
                    <a:pt x="647192" y="723392"/>
                  </a:lnTo>
                  <a:lnTo>
                    <a:pt x="0" y="723392"/>
                  </a:lnTo>
                  <a:close/>
                </a:path>
              </a:pathLst>
            </a:custGeom>
            <a:blipFill>
              <a:blip r:embed="rId6">
                <a:alphaModFix amt="0"/>
              </a:blip>
              <a:stretch>
                <a:fillRect l="-93510" t="0" r="-93508" b="0"/>
              </a:stretch>
            </a:blipFill>
          </p:spPr>
          <p:txBody>
            <a:bodyPr/>
            <a:p/>
          </p:txBody>
        </p:sp>
      </p:grpSp>
      <p:grpSp>
        <p:nvGrpSpPr>
          <p:cNvPr name="Group 197" id="197"/>
          <p:cNvGrpSpPr/>
          <p:nvPr/>
        </p:nvGrpSpPr>
        <p:grpSpPr>
          <a:xfrm rot="0">
            <a:off x="13116687" y="3800094"/>
            <a:ext cx="485394" cy="571119"/>
            <a:chOff x="0" y="0"/>
            <a:chExt cx="647192" cy="761492"/>
          </a:xfrm>
        </p:grpSpPr>
        <p:sp>
          <p:nvSpPr>
            <p:cNvPr name="Freeform 198" id="198"/>
            <p:cNvSpPr/>
            <p:nvPr/>
          </p:nvSpPr>
          <p:spPr>
            <a:xfrm flipH="false" flipV="false" rot="0">
              <a:off x="0" y="0"/>
              <a:ext cx="647192" cy="761492"/>
            </a:xfrm>
            <a:custGeom>
              <a:avLst/>
              <a:gdLst/>
              <a:ahLst/>
              <a:cxnLst/>
              <a:rect r="r" b="b" t="t" l="l"/>
              <a:pathLst>
                <a:path h="761492" w="647192">
                  <a:moveTo>
                    <a:pt x="0" y="0"/>
                  </a:moveTo>
                  <a:lnTo>
                    <a:pt x="647192" y="0"/>
                  </a:lnTo>
                  <a:lnTo>
                    <a:pt x="647192" y="761492"/>
                  </a:lnTo>
                  <a:lnTo>
                    <a:pt x="0" y="761492"/>
                  </a:lnTo>
                  <a:close/>
                </a:path>
              </a:pathLst>
            </a:custGeom>
            <a:blipFill>
              <a:blip r:embed="rId7">
                <a:alphaModFix amt="0"/>
              </a:blip>
              <a:stretch>
                <a:fillRect l="-100963" t="0" r="-100963" b="0"/>
              </a:stretch>
            </a:blipFill>
          </p:spPr>
          <p:txBody>
            <a:bodyPr/>
            <a:p/>
          </p:txBody>
        </p:sp>
        <p:sp>
          <p:nvSpPr>
            <p:cNvPr name="TextBox 199" id="199"/>
            <p:cNvSpPr txBox="true"/>
            <p:nvPr/>
          </p:nvSpPr>
          <p:spPr>
            <a:xfrm>
              <a:off x="0" y="-38100"/>
              <a:ext cx="647192" cy="7995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7</a:t>
              </a:r>
            </a:p>
          </p:txBody>
        </p:sp>
      </p:grpSp>
      <p:grpSp>
        <p:nvGrpSpPr>
          <p:cNvPr name="Group 200" id="200"/>
          <p:cNvGrpSpPr/>
          <p:nvPr/>
        </p:nvGrpSpPr>
        <p:grpSpPr>
          <a:xfrm rot="0">
            <a:off x="13702284" y="3867912"/>
            <a:ext cx="3442716" cy="521208"/>
            <a:chOff x="0" y="0"/>
            <a:chExt cx="4590288" cy="694944"/>
          </a:xfrm>
        </p:grpSpPr>
        <p:sp>
          <p:nvSpPr>
            <p:cNvPr name="Freeform 201" id="201"/>
            <p:cNvSpPr/>
            <p:nvPr/>
          </p:nvSpPr>
          <p:spPr>
            <a:xfrm flipH="false" flipV="false" rot="0">
              <a:off x="0" y="0"/>
              <a:ext cx="4590288" cy="694944"/>
            </a:xfrm>
            <a:custGeom>
              <a:avLst/>
              <a:gdLst/>
              <a:ahLst/>
              <a:cxnLst/>
              <a:rect r="r" b="b" t="t" l="l"/>
              <a:pathLst>
                <a:path h="694944" w="4590288">
                  <a:moveTo>
                    <a:pt x="0" y="0"/>
                  </a:moveTo>
                  <a:lnTo>
                    <a:pt x="4590288" y="0"/>
                  </a:lnTo>
                  <a:lnTo>
                    <a:pt x="4590288" y="694944"/>
                  </a:lnTo>
                  <a:lnTo>
                    <a:pt x="0" y="694944"/>
                  </a:lnTo>
                  <a:close/>
                </a:path>
              </a:pathLst>
            </a:custGeom>
            <a:blipFill>
              <a:blip r:embed="rId2">
                <a:alphaModFix amt="0"/>
              </a:blip>
              <a:stretch>
                <a:fillRect l="0" t="-78614" r="0" b="-78612"/>
              </a:stretch>
            </a:blipFill>
          </p:spPr>
          <p:txBody>
            <a:bodyPr/>
            <a:p/>
          </p:txBody>
        </p:sp>
      </p:grpSp>
      <p:grpSp>
        <p:nvGrpSpPr>
          <p:cNvPr name="Group 202" id="202"/>
          <p:cNvGrpSpPr/>
          <p:nvPr/>
        </p:nvGrpSpPr>
        <p:grpSpPr>
          <a:xfrm rot="0">
            <a:off x="13702284" y="3832193"/>
            <a:ext cx="3442716" cy="556927"/>
            <a:chOff x="0" y="0"/>
            <a:chExt cx="4590288" cy="742569"/>
          </a:xfrm>
        </p:grpSpPr>
        <p:sp>
          <p:nvSpPr>
            <p:cNvPr name="Freeform 203" id="203"/>
            <p:cNvSpPr/>
            <p:nvPr/>
          </p:nvSpPr>
          <p:spPr>
            <a:xfrm flipH="false" flipV="false" rot="0">
              <a:off x="0" y="0"/>
              <a:ext cx="4590288" cy="742569"/>
            </a:xfrm>
            <a:custGeom>
              <a:avLst/>
              <a:gdLst/>
              <a:ahLst/>
              <a:cxnLst/>
              <a:rect r="r" b="b" t="t" l="l"/>
              <a:pathLst>
                <a:path h="742569" w="4590288">
                  <a:moveTo>
                    <a:pt x="0" y="0"/>
                  </a:moveTo>
                  <a:lnTo>
                    <a:pt x="4590288" y="0"/>
                  </a:lnTo>
                  <a:lnTo>
                    <a:pt x="4590288" y="742569"/>
                  </a:lnTo>
                  <a:lnTo>
                    <a:pt x="0" y="742569"/>
                  </a:lnTo>
                  <a:close/>
                </a:path>
              </a:pathLst>
            </a:custGeom>
            <a:blipFill>
              <a:blip r:embed="rId5">
                <a:alphaModFix amt="0"/>
              </a:blip>
              <a:stretch>
                <a:fillRect l="0" t="-70365" r="0" b="-70364"/>
              </a:stretch>
            </a:blipFill>
          </p:spPr>
          <p:txBody>
            <a:bodyPr/>
            <a:p/>
          </p:txBody>
        </p:sp>
      </p:grpSp>
      <p:grpSp>
        <p:nvGrpSpPr>
          <p:cNvPr name="Group 204" id="204"/>
          <p:cNvGrpSpPr/>
          <p:nvPr/>
        </p:nvGrpSpPr>
        <p:grpSpPr>
          <a:xfrm rot="0">
            <a:off x="13702284" y="3796474"/>
            <a:ext cx="3442716" cy="592646"/>
            <a:chOff x="0" y="0"/>
            <a:chExt cx="4590288" cy="790194"/>
          </a:xfrm>
        </p:grpSpPr>
        <p:sp>
          <p:nvSpPr>
            <p:cNvPr name="Freeform 205" id="205"/>
            <p:cNvSpPr/>
            <p:nvPr/>
          </p:nvSpPr>
          <p:spPr>
            <a:xfrm flipH="false" flipV="false" rot="0">
              <a:off x="0" y="0"/>
              <a:ext cx="4590288" cy="790194"/>
            </a:xfrm>
            <a:custGeom>
              <a:avLst/>
              <a:gdLst/>
              <a:ahLst/>
              <a:cxnLst/>
              <a:rect r="r" b="b" t="t" l="l"/>
              <a:pathLst>
                <a:path h="790194" w="4590288">
                  <a:moveTo>
                    <a:pt x="0" y="0"/>
                  </a:moveTo>
                  <a:lnTo>
                    <a:pt x="4590288" y="0"/>
                  </a:lnTo>
                  <a:lnTo>
                    <a:pt x="4590288" y="790194"/>
                  </a:lnTo>
                  <a:lnTo>
                    <a:pt x="0" y="790194"/>
                  </a:lnTo>
                  <a:close/>
                </a:path>
              </a:pathLst>
            </a:custGeom>
            <a:blipFill>
              <a:blip r:embed="rId6">
                <a:alphaModFix amt="0"/>
              </a:blip>
              <a:stretch>
                <a:fillRect l="0" t="-63111" r="0" b="-63109"/>
              </a:stretch>
            </a:blipFill>
          </p:spPr>
          <p:txBody>
            <a:bodyPr/>
            <a:p/>
          </p:txBody>
        </p:sp>
      </p:grpSp>
      <p:grpSp>
        <p:nvGrpSpPr>
          <p:cNvPr name="Group 206" id="206"/>
          <p:cNvGrpSpPr/>
          <p:nvPr/>
        </p:nvGrpSpPr>
        <p:grpSpPr>
          <a:xfrm rot="0">
            <a:off x="13702284" y="3760756"/>
            <a:ext cx="3442716" cy="628364"/>
            <a:chOff x="0" y="0"/>
            <a:chExt cx="4590288" cy="837819"/>
          </a:xfrm>
        </p:grpSpPr>
        <p:sp>
          <p:nvSpPr>
            <p:cNvPr name="Freeform 207" id="207"/>
            <p:cNvSpPr/>
            <p:nvPr/>
          </p:nvSpPr>
          <p:spPr>
            <a:xfrm flipH="false" flipV="false" rot="0">
              <a:off x="0" y="0"/>
              <a:ext cx="4590288" cy="837820"/>
            </a:xfrm>
            <a:custGeom>
              <a:avLst/>
              <a:gdLst/>
              <a:ahLst/>
              <a:cxnLst/>
              <a:rect r="r" b="b" t="t" l="l"/>
              <a:pathLst>
                <a:path h="837820" w="4590288">
                  <a:moveTo>
                    <a:pt x="0" y="0"/>
                  </a:moveTo>
                  <a:lnTo>
                    <a:pt x="4590288" y="0"/>
                  </a:lnTo>
                  <a:lnTo>
                    <a:pt x="4590288" y="837820"/>
                  </a:lnTo>
                  <a:lnTo>
                    <a:pt x="0" y="837820"/>
                  </a:lnTo>
                  <a:close/>
                </a:path>
              </a:pathLst>
            </a:custGeom>
            <a:blipFill>
              <a:blip r:embed="rId7">
                <a:alphaModFix amt="0"/>
              </a:blip>
              <a:stretch>
                <a:fillRect l="0" t="-56755" r="0" b="-56755"/>
              </a:stretch>
            </a:blipFill>
          </p:spPr>
          <p:txBody>
            <a:bodyPr/>
            <a:p/>
          </p:txBody>
        </p:sp>
        <p:sp>
          <p:nvSpPr>
            <p:cNvPr name="TextBox 208" id="208"/>
            <p:cNvSpPr txBox="true"/>
            <p:nvPr/>
          </p:nvSpPr>
          <p:spPr>
            <a:xfrm>
              <a:off x="0" y="-47625"/>
              <a:ext cx="4590288" cy="885444"/>
            </a:xfrm>
            <a:prstGeom prst="rect">
              <a:avLst/>
            </a:prstGeom>
          </p:spPr>
          <p:txBody>
            <a:bodyPr anchor="ctr" rtlCol="false" tIns="0" lIns="0" bIns="0" rIns="0"/>
            <a:lstStyle/>
            <a:p>
              <a:pPr algn="l">
                <a:lnSpc>
                  <a:spcPts val="2340"/>
                </a:lnSpc>
              </a:pPr>
              <a:r>
                <a:rPr lang="en-US" sz="1950" b="true">
                  <a:solidFill>
                    <a:srgbClr val="13294B"/>
                  </a:solidFill>
                  <a:latin typeface="Calibri (MS) Bold"/>
                  <a:ea typeface="Calibri (MS) Bold"/>
                  <a:cs typeface="Calibri (MS) Bold"/>
                  <a:sym typeface="Calibri (MS) Bold"/>
                </a:rPr>
                <a:t>Chấm &amp; phân tích</a:t>
              </a:r>
            </a:p>
          </p:txBody>
        </p:sp>
      </p:grpSp>
      <p:sp>
        <p:nvSpPr>
          <p:cNvPr name="TextBox 209" id="209"/>
          <p:cNvSpPr txBox="true"/>
          <p:nvPr/>
        </p:nvSpPr>
        <p:spPr>
          <a:xfrm rot="0">
            <a:off x="13153644" y="4367784"/>
            <a:ext cx="3936492" cy="1886712"/>
          </a:xfrm>
          <a:prstGeom prst="rect">
            <a:avLst/>
          </a:prstGeom>
        </p:spPr>
        <p:txBody>
          <a:bodyPr anchor="t" rtlCol="false" tIns="0" lIns="0" bIns="0" rIns="0">
            <a:spAutoFit/>
          </a:bodyPr>
          <a:lstStyle/>
          <a:p>
            <a:pPr algn="l">
              <a:lnSpc>
                <a:spcPts val="1889"/>
              </a:lnSpc>
            </a:pPr>
            <a:r>
              <a:rPr lang="en-US" sz="1575">
                <a:solidFill>
                  <a:srgbClr val="5B677A"/>
                </a:solidFill>
                <a:latin typeface="Calibri (MS)"/>
                <a:ea typeface="Calibri (MS)"/>
                <a:cs typeface="Calibri (MS)"/>
                <a:sym typeface="Calibri (MS)"/>
              </a:rPr>
              <a:t>• so với đáp án chuẩn sau cùng một bước chuẩn hoá</a:t>
            </a:r>
          </a:p>
          <a:p>
            <a:pPr algn="l">
              <a:lnSpc>
                <a:spcPts val="1889"/>
              </a:lnSpc>
            </a:pPr>
            <a:r>
              <a:rPr lang="en-US" sz="1575">
                <a:solidFill>
                  <a:srgbClr val="5B677A"/>
                </a:solidFill>
                <a:latin typeface="Calibri (MS)"/>
                <a:ea typeface="Calibri (MS)"/>
                <a:cs typeface="Calibri (MS)"/>
                <a:sym typeface="Calibri (MS)"/>
              </a:rPr>
              <a:t>• EM · VQA-Acc · ANLS (+F1)</a:t>
            </a:r>
          </a:p>
          <a:p>
            <a:pPr algn="l">
              <a:lnSpc>
                <a:spcPts val="1889"/>
              </a:lnSpc>
            </a:pPr>
            <a:r>
              <a:rPr lang="en-US" sz="1575">
                <a:solidFill>
                  <a:srgbClr val="5B677A"/>
                </a:solidFill>
                <a:latin typeface="Calibri (MS)"/>
                <a:ea typeface="Calibri (MS)"/>
                <a:cs typeface="Calibri (MS)"/>
                <a:sym typeface="Calibri (MS)"/>
              </a:rPr>
              <a:t>• hallucination; lỗi V1–V4</a:t>
            </a:r>
          </a:p>
          <a:p>
            <a:pPr algn="l">
              <a:lnSpc>
                <a:spcPts val="1889"/>
              </a:lnSpc>
            </a:pPr>
            <a:r>
              <a:rPr lang="en-US" sz="1575">
                <a:solidFill>
                  <a:srgbClr val="5B677A"/>
                </a:solidFill>
                <a:latin typeface="Calibri (MS)"/>
                <a:ea typeface="Calibri (MS)"/>
                <a:cs typeface="Calibri (MS)"/>
                <a:sym typeface="Calibri (MS)"/>
              </a:rPr>
              <a:t>• log seed, VRAM, thời gian</a:t>
            </a:r>
          </a:p>
        </p:txBody>
      </p:sp>
      <p:sp>
        <p:nvSpPr>
          <p:cNvPr name="Freeform 210" id="210"/>
          <p:cNvSpPr/>
          <p:nvPr/>
        </p:nvSpPr>
        <p:spPr>
          <a:xfrm flipH="false" flipV="false" rot="0">
            <a:off x="12940789" y="6837169"/>
            <a:ext cx="4334780" cy="1769888"/>
          </a:xfrm>
          <a:custGeom>
            <a:avLst/>
            <a:gdLst/>
            <a:ahLst/>
            <a:cxnLst/>
            <a:rect r="r" b="b" t="t" l="l"/>
            <a:pathLst>
              <a:path h="1769888" w="4334780">
                <a:moveTo>
                  <a:pt x="0" y="0"/>
                </a:moveTo>
                <a:lnTo>
                  <a:pt x="4334780" y="0"/>
                </a:lnTo>
                <a:lnTo>
                  <a:pt x="4334780" y="1769888"/>
                </a:lnTo>
                <a:lnTo>
                  <a:pt x="0" y="1769888"/>
                </a:lnTo>
                <a:lnTo>
                  <a:pt x="0" y="0"/>
                </a:lnTo>
                <a:close/>
              </a:path>
            </a:pathLst>
          </a:custGeom>
          <a:blipFill>
            <a:blip r:embed="rId30">
              <a:extLst>
                <a:ext uri="{96DAC541-7B7A-43D3-8B79-37D633B846F1}">
                  <asvg:svgBlip xmlns:asvg="http://schemas.microsoft.com/office/drawing/2016/SVG/main" r:embed="rId31"/>
                </a:ext>
              </a:extLst>
            </a:blip>
            <a:stretch>
              <a:fillRect l="-49" t="0" r="-49" b="0"/>
            </a:stretch>
          </a:blipFill>
        </p:spPr>
        <p:txBody>
          <a:bodyPr/>
          <a:p/>
        </p:txBody>
      </p:sp>
      <p:sp>
        <p:nvSpPr>
          <p:cNvPr name="Freeform 211" id="211"/>
          <p:cNvSpPr/>
          <p:nvPr/>
        </p:nvSpPr>
        <p:spPr>
          <a:xfrm flipH="false" flipV="false" rot="0">
            <a:off x="13109543" y="7005923"/>
            <a:ext cx="499682" cy="499682"/>
          </a:xfrm>
          <a:custGeom>
            <a:avLst/>
            <a:gdLst/>
            <a:ahLst/>
            <a:cxnLst/>
            <a:rect r="r" b="b" t="t" l="l"/>
            <a:pathLst>
              <a:path h="499682" w="499682">
                <a:moveTo>
                  <a:pt x="0" y="0"/>
                </a:moveTo>
                <a:lnTo>
                  <a:pt x="499682" y="0"/>
                </a:lnTo>
                <a:lnTo>
                  <a:pt x="499682" y="499682"/>
                </a:lnTo>
                <a:lnTo>
                  <a:pt x="0" y="499682"/>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txBody>
          <a:bodyPr/>
          <a:p/>
        </p:txBody>
      </p:sp>
      <p:grpSp>
        <p:nvGrpSpPr>
          <p:cNvPr name="Group 212" id="212"/>
          <p:cNvGrpSpPr/>
          <p:nvPr/>
        </p:nvGrpSpPr>
        <p:grpSpPr>
          <a:xfrm rot="0">
            <a:off x="13116687" y="6984492"/>
            <a:ext cx="485394" cy="513969"/>
            <a:chOff x="0" y="0"/>
            <a:chExt cx="647192" cy="685292"/>
          </a:xfrm>
        </p:grpSpPr>
        <p:sp>
          <p:nvSpPr>
            <p:cNvPr name="Freeform 213" id="213"/>
            <p:cNvSpPr/>
            <p:nvPr/>
          </p:nvSpPr>
          <p:spPr>
            <a:xfrm flipH="false" flipV="false" rot="0">
              <a:off x="0" y="0"/>
              <a:ext cx="647192" cy="685292"/>
            </a:xfrm>
            <a:custGeom>
              <a:avLst/>
              <a:gdLst/>
              <a:ahLst/>
              <a:cxnLst/>
              <a:rect r="r" b="b" t="t" l="l"/>
              <a:pathLst>
                <a:path h="685292" w="647192">
                  <a:moveTo>
                    <a:pt x="0" y="0"/>
                  </a:moveTo>
                  <a:lnTo>
                    <a:pt x="647192" y="0"/>
                  </a:lnTo>
                  <a:lnTo>
                    <a:pt x="647192" y="685292"/>
                  </a:lnTo>
                  <a:lnTo>
                    <a:pt x="0" y="685292"/>
                  </a:lnTo>
                  <a:close/>
                </a:path>
              </a:pathLst>
            </a:custGeom>
            <a:blipFill>
              <a:blip r:embed="rId5">
                <a:alphaModFix amt="0"/>
              </a:blip>
              <a:stretch>
                <a:fillRect l="-85951" t="0" r="-85951" b="0"/>
              </a:stretch>
            </a:blipFill>
          </p:spPr>
          <p:txBody>
            <a:bodyPr/>
            <a:p/>
          </p:txBody>
        </p:sp>
      </p:grpSp>
      <p:grpSp>
        <p:nvGrpSpPr>
          <p:cNvPr name="Group 214" id="214"/>
          <p:cNvGrpSpPr/>
          <p:nvPr/>
        </p:nvGrpSpPr>
        <p:grpSpPr>
          <a:xfrm rot="0">
            <a:off x="13116687" y="6955917"/>
            <a:ext cx="485394" cy="542544"/>
            <a:chOff x="0" y="0"/>
            <a:chExt cx="647192" cy="723392"/>
          </a:xfrm>
        </p:grpSpPr>
        <p:sp>
          <p:nvSpPr>
            <p:cNvPr name="Freeform 215" id="215"/>
            <p:cNvSpPr/>
            <p:nvPr/>
          </p:nvSpPr>
          <p:spPr>
            <a:xfrm flipH="false" flipV="false" rot="0">
              <a:off x="0" y="0"/>
              <a:ext cx="647192" cy="723392"/>
            </a:xfrm>
            <a:custGeom>
              <a:avLst/>
              <a:gdLst/>
              <a:ahLst/>
              <a:cxnLst/>
              <a:rect r="r" b="b" t="t" l="l"/>
              <a:pathLst>
                <a:path h="723392" w="647192">
                  <a:moveTo>
                    <a:pt x="0" y="0"/>
                  </a:moveTo>
                  <a:lnTo>
                    <a:pt x="647192" y="0"/>
                  </a:lnTo>
                  <a:lnTo>
                    <a:pt x="647192" y="723392"/>
                  </a:lnTo>
                  <a:lnTo>
                    <a:pt x="0" y="723392"/>
                  </a:lnTo>
                  <a:close/>
                </a:path>
              </a:pathLst>
            </a:custGeom>
            <a:blipFill>
              <a:blip r:embed="rId6">
                <a:alphaModFix amt="0"/>
              </a:blip>
              <a:stretch>
                <a:fillRect l="-93510" t="0" r="-93508" b="0"/>
              </a:stretch>
            </a:blipFill>
          </p:spPr>
          <p:txBody>
            <a:bodyPr/>
            <a:p/>
          </p:txBody>
        </p:sp>
      </p:grpSp>
      <p:grpSp>
        <p:nvGrpSpPr>
          <p:cNvPr name="Group 216" id="216"/>
          <p:cNvGrpSpPr/>
          <p:nvPr/>
        </p:nvGrpSpPr>
        <p:grpSpPr>
          <a:xfrm rot="0">
            <a:off x="13116687" y="6927342"/>
            <a:ext cx="485394" cy="571119"/>
            <a:chOff x="0" y="0"/>
            <a:chExt cx="647192" cy="761492"/>
          </a:xfrm>
        </p:grpSpPr>
        <p:sp>
          <p:nvSpPr>
            <p:cNvPr name="Freeform 217" id="217"/>
            <p:cNvSpPr/>
            <p:nvPr/>
          </p:nvSpPr>
          <p:spPr>
            <a:xfrm flipH="false" flipV="false" rot="0">
              <a:off x="0" y="0"/>
              <a:ext cx="647192" cy="761492"/>
            </a:xfrm>
            <a:custGeom>
              <a:avLst/>
              <a:gdLst/>
              <a:ahLst/>
              <a:cxnLst/>
              <a:rect r="r" b="b" t="t" l="l"/>
              <a:pathLst>
                <a:path h="761492" w="647192">
                  <a:moveTo>
                    <a:pt x="0" y="0"/>
                  </a:moveTo>
                  <a:lnTo>
                    <a:pt x="647192" y="0"/>
                  </a:lnTo>
                  <a:lnTo>
                    <a:pt x="647192" y="761492"/>
                  </a:lnTo>
                  <a:lnTo>
                    <a:pt x="0" y="761492"/>
                  </a:lnTo>
                  <a:close/>
                </a:path>
              </a:pathLst>
            </a:custGeom>
            <a:blipFill>
              <a:blip r:embed="rId7">
                <a:alphaModFix amt="0"/>
              </a:blip>
              <a:stretch>
                <a:fillRect l="-100963" t="0" r="-100963" b="0"/>
              </a:stretch>
            </a:blipFill>
          </p:spPr>
          <p:txBody>
            <a:bodyPr/>
            <a:p/>
          </p:txBody>
        </p:sp>
        <p:sp>
          <p:nvSpPr>
            <p:cNvPr name="TextBox 218" id="218"/>
            <p:cNvSpPr txBox="true"/>
            <p:nvPr/>
          </p:nvSpPr>
          <p:spPr>
            <a:xfrm>
              <a:off x="0" y="-38100"/>
              <a:ext cx="647192" cy="79959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8</a:t>
              </a:r>
            </a:p>
          </p:txBody>
        </p:sp>
      </p:grpSp>
      <p:grpSp>
        <p:nvGrpSpPr>
          <p:cNvPr name="Group 219" id="219"/>
          <p:cNvGrpSpPr/>
          <p:nvPr/>
        </p:nvGrpSpPr>
        <p:grpSpPr>
          <a:xfrm rot="0">
            <a:off x="13702284" y="6995160"/>
            <a:ext cx="3442716" cy="521208"/>
            <a:chOff x="0" y="0"/>
            <a:chExt cx="4590288" cy="694944"/>
          </a:xfrm>
        </p:grpSpPr>
        <p:sp>
          <p:nvSpPr>
            <p:cNvPr name="Freeform 220" id="220"/>
            <p:cNvSpPr/>
            <p:nvPr/>
          </p:nvSpPr>
          <p:spPr>
            <a:xfrm flipH="false" flipV="false" rot="0">
              <a:off x="0" y="0"/>
              <a:ext cx="4590288" cy="694944"/>
            </a:xfrm>
            <a:custGeom>
              <a:avLst/>
              <a:gdLst/>
              <a:ahLst/>
              <a:cxnLst/>
              <a:rect r="r" b="b" t="t" l="l"/>
              <a:pathLst>
                <a:path h="694944" w="4590288">
                  <a:moveTo>
                    <a:pt x="0" y="0"/>
                  </a:moveTo>
                  <a:lnTo>
                    <a:pt x="4590288" y="0"/>
                  </a:lnTo>
                  <a:lnTo>
                    <a:pt x="4590288" y="694944"/>
                  </a:lnTo>
                  <a:lnTo>
                    <a:pt x="0" y="694944"/>
                  </a:lnTo>
                  <a:close/>
                </a:path>
              </a:pathLst>
            </a:custGeom>
            <a:blipFill>
              <a:blip r:embed="rId2">
                <a:alphaModFix amt="0"/>
              </a:blip>
              <a:stretch>
                <a:fillRect l="0" t="-78614" r="0" b="-78612"/>
              </a:stretch>
            </a:blipFill>
          </p:spPr>
          <p:txBody>
            <a:bodyPr/>
            <a:p/>
          </p:txBody>
        </p:sp>
      </p:grpSp>
      <p:grpSp>
        <p:nvGrpSpPr>
          <p:cNvPr name="Group 221" id="221"/>
          <p:cNvGrpSpPr/>
          <p:nvPr/>
        </p:nvGrpSpPr>
        <p:grpSpPr>
          <a:xfrm rot="0">
            <a:off x="13702284" y="6959441"/>
            <a:ext cx="3442716" cy="556927"/>
            <a:chOff x="0" y="0"/>
            <a:chExt cx="4590288" cy="742569"/>
          </a:xfrm>
        </p:grpSpPr>
        <p:sp>
          <p:nvSpPr>
            <p:cNvPr name="Freeform 222" id="222"/>
            <p:cNvSpPr/>
            <p:nvPr/>
          </p:nvSpPr>
          <p:spPr>
            <a:xfrm flipH="false" flipV="false" rot="0">
              <a:off x="0" y="0"/>
              <a:ext cx="4590288" cy="742569"/>
            </a:xfrm>
            <a:custGeom>
              <a:avLst/>
              <a:gdLst/>
              <a:ahLst/>
              <a:cxnLst/>
              <a:rect r="r" b="b" t="t" l="l"/>
              <a:pathLst>
                <a:path h="742569" w="4590288">
                  <a:moveTo>
                    <a:pt x="0" y="0"/>
                  </a:moveTo>
                  <a:lnTo>
                    <a:pt x="4590288" y="0"/>
                  </a:lnTo>
                  <a:lnTo>
                    <a:pt x="4590288" y="742569"/>
                  </a:lnTo>
                  <a:lnTo>
                    <a:pt x="0" y="742569"/>
                  </a:lnTo>
                  <a:close/>
                </a:path>
              </a:pathLst>
            </a:custGeom>
            <a:blipFill>
              <a:blip r:embed="rId5">
                <a:alphaModFix amt="0"/>
              </a:blip>
              <a:stretch>
                <a:fillRect l="0" t="-70365" r="0" b="-70364"/>
              </a:stretch>
            </a:blipFill>
          </p:spPr>
          <p:txBody>
            <a:bodyPr/>
            <a:p/>
          </p:txBody>
        </p:sp>
      </p:grpSp>
      <p:grpSp>
        <p:nvGrpSpPr>
          <p:cNvPr name="Group 223" id="223"/>
          <p:cNvGrpSpPr/>
          <p:nvPr/>
        </p:nvGrpSpPr>
        <p:grpSpPr>
          <a:xfrm rot="0">
            <a:off x="13702284" y="6923722"/>
            <a:ext cx="3442716" cy="592646"/>
            <a:chOff x="0" y="0"/>
            <a:chExt cx="4590288" cy="790194"/>
          </a:xfrm>
        </p:grpSpPr>
        <p:sp>
          <p:nvSpPr>
            <p:cNvPr name="Freeform 224" id="224"/>
            <p:cNvSpPr/>
            <p:nvPr/>
          </p:nvSpPr>
          <p:spPr>
            <a:xfrm flipH="false" flipV="false" rot="0">
              <a:off x="0" y="0"/>
              <a:ext cx="4590288" cy="790194"/>
            </a:xfrm>
            <a:custGeom>
              <a:avLst/>
              <a:gdLst/>
              <a:ahLst/>
              <a:cxnLst/>
              <a:rect r="r" b="b" t="t" l="l"/>
              <a:pathLst>
                <a:path h="790194" w="4590288">
                  <a:moveTo>
                    <a:pt x="0" y="0"/>
                  </a:moveTo>
                  <a:lnTo>
                    <a:pt x="4590288" y="0"/>
                  </a:lnTo>
                  <a:lnTo>
                    <a:pt x="4590288" y="790194"/>
                  </a:lnTo>
                  <a:lnTo>
                    <a:pt x="0" y="790194"/>
                  </a:lnTo>
                  <a:close/>
                </a:path>
              </a:pathLst>
            </a:custGeom>
            <a:blipFill>
              <a:blip r:embed="rId6">
                <a:alphaModFix amt="0"/>
              </a:blip>
              <a:stretch>
                <a:fillRect l="0" t="-63111" r="0" b="-63109"/>
              </a:stretch>
            </a:blipFill>
          </p:spPr>
          <p:txBody>
            <a:bodyPr/>
            <a:p/>
          </p:txBody>
        </p:sp>
      </p:grpSp>
      <p:grpSp>
        <p:nvGrpSpPr>
          <p:cNvPr name="Group 225" id="225"/>
          <p:cNvGrpSpPr/>
          <p:nvPr/>
        </p:nvGrpSpPr>
        <p:grpSpPr>
          <a:xfrm rot="0">
            <a:off x="13702284" y="6888004"/>
            <a:ext cx="3442716" cy="628364"/>
            <a:chOff x="0" y="0"/>
            <a:chExt cx="4590288" cy="837819"/>
          </a:xfrm>
        </p:grpSpPr>
        <p:sp>
          <p:nvSpPr>
            <p:cNvPr name="Freeform 226" id="226"/>
            <p:cNvSpPr/>
            <p:nvPr/>
          </p:nvSpPr>
          <p:spPr>
            <a:xfrm flipH="false" flipV="false" rot="0">
              <a:off x="0" y="0"/>
              <a:ext cx="4590288" cy="837820"/>
            </a:xfrm>
            <a:custGeom>
              <a:avLst/>
              <a:gdLst/>
              <a:ahLst/>
              <a:cxnLst/>
              <a:rect r="r" b="b" t="t" l="l"/>
              <a:pathLst>
                <a:path h="837820" w="4590288">
                  <a:moveTo>
                    <a:pt x="0" y="0"/>
                  </a:moveTo>
                  <a:lnTo>
                    <a:pt x="4590288" y="0"/>
                  </a:lnTo>
                  <a:lnTo>
                    <a:pt x="4590288" y="837820"/>
                  </a:lnTo>
                  <a:lnTo>
                    <a:pt x="0" y="837820"/>
                  </a:lnTo>
                  <a:close/>
                </a:path>
              </a:pathLst>
            </a:custGeom>
            <a:blipFill>
              <a:blip r:embed="rId7">
                <a:alphaModFix amt="0"/>
              </a:blip>
              <a:stretch>
                <a:fillRect l="0" t="-56755" r="0" b="-56755"/>
              </a:stretch>
            </a:blipFill>
          </p:spPr>
          <p:txBody>
            <a:bodyPr/>
            <a:p/>
          </p:txBody>
        </p:sp>
        <p:sp>
          <p:nvSpPr>
            <p:cNvPr name="TextBox 227" id="227"/>
            <p:cNvSpPr txBox="true"/>
            <p:nvPr/>
          </p:nvSpPr>
          <p:spPr>
            <a:xfrm>
              <a:off x="0" y="-47625"/>
              <a:ext cx="4590288" cy="885444"/>
            </a:xfrm>
            <a:prstGeom prst="rect">
              <a:avLst/>
            </a:prstGeom>
          </p:spPr>
          <p:txBody>
            <a:bodyPr anchor="ctr" rtlCol="false" tIns="0" lIns="0" bIns="0" rIns="0"/>
            <a:lstStyle/>
            <a:p>
              <a:pPr algn="l">
                <a:lnSpc>
                  <a:spcPts val="2340"/>
                </a:lnSpc>
              </a:pPr>
              <a:r>
                <a:rPr lang="en-US" sz="1950" b="true">
                  <a:solidFill>
                    <a:srgbClr val="13294B"/>
                  </a:solidFill>
                  <a:latin typeface="Calibri (MS) Bold"/>
                  <a:ea typeface="Calibri (MS) Bold"/>
                  <a:cs typeface="Calibri (MS) Bold"/>
                  <a:sym typeface="Calibri (MS) Bold"/>
                </a:rPr>
                <a:t>Prototype web</a:t>
              </a:r>
            </a:p>
          </p:txBody>
        </p:sp>
      </p:grpSp>
      <p:sp>
        <p:nvSpPr>
          <p:cNvPr name="TextBox 228" id="228"/>
          <p:cNvSpPr txBox="true"/>
          <p:nvPr/>
        </p:nvSpPr>
        <p:spPr>
          <a:xfrm rot="0">
            <a:off x="13153644" y="7495032"/>
            <a:ext cx="3936492" cy="1008888"/>
          </a:xfrm>
          <a:prstGeom prst="rect">
            <a:avLst/>
          </a:prstGeom>
        </p:spPr>
        <p:txBody>
          <a:bodyPr anchor="t" rtlCol="false" tIns="0" lIns="0" bIns="0" rIns="0">
            <a:spAutoFit/>
          </a:bodyPr>
          <a:lstStyle/>
          <a:p>
            <a:pPr algn="l">
              <a:lnSpc>
                <a:spcPts val="1889"/>
              </a:lnSpc>
            </a:pPr>
            <a:r>
              <a:rPr lang="en-US" sz="1575">
                <a:solidFill>
                  <a:srgbClr val="5B677A"/>
                </a:solidFill>
                <a:latin typeface="Calibri (MS)"/>
                <a:ea typeface="Calibri (MS)"/>
                <a:cs typeface="Calibri (MS)"/>
                <a:sym typeface="Calibri (MS)"/>
              </a:rPr>
              <a:t>• tải ảnh, hỏi tiếng Việt</a:t>
            </a:r>
          </a:p>
          <a:p>
            <a:pPr algn="l">
              <a:lnSpc>
                <a:spcPts val="1889"/>
              </a:lnSpc>
            </a:pPr>
            <a:r>
              <a:rPr lang="en-US" sz="1575">
                <a:solidFill>
                  <a:srgbClr val="5B677A"/>
                </a:solidFill>
                <a:latin typeface="Calibri (MS)"/>
                <a:ea typeface="Calibri (MS)"/>
                <a:cs typeface="Calibri (MS)"/>
                <a:sym typeface="Calibri (MS)"/>
              </a:rPr>
              <a:t>• hiện câu trả lời + chữ OCR làm bằng chứng</a:t>
            </a:r>
          </a:p>
        </p:txBody>
      </p:sp>
      <p:grpSp>
        <p:nvGrpSpPr>
          <p:cNvPr name="Group 229" id="229"/>
          <p:cNvGrpSpPr/>
          <p:nvPr/>
        </p:nvGrpSpPr>
        <p:grpSpPr>
          <a:xfrm rot="0">
            <a:off x="12221642" y="4430954"/>
            <a:ext cx="765572" cy="2492073"/>
            <a:chOff x="0" y="0"/>
            <a:chExt cx="1020762" cy="3322764"/>
          </a:xfrm>
        </p:grpSpPr>
        <p:sp>
          <p:nvSpPr>
            <p:cNvPr name="Freeform 230" id="230"/>
            <p:cNvSpPr/>
            <p:nvPr/>
          </p:nvSpPr>
          <p:spPr>
            <a:xfrm flipH="false" flipV="false" rot="0">
              <a:off x="0" y="0"/>
              <a:ext cx="1020699" cy="3322828"/>
            </a:xfrm>
            <a:custGeom>
              <a:avLst/>
              <a:gdLst/>
              <a:ahLst/>
              <a:cxnLst/>
              <a:rect r="r" b="b" t="t" l="l"/>
              <a:pathLst>
                <a:path h="3322828" w="1020699">
                  <a:moveTo>
                    <a:pt x="0" y="3322828"/>
                  </a:moveTo>
                  <a:lnTo>
                    <a:pt x="510286" y="3322828"/>
                  </a:lnTo>
                  <a:lnTo>
                    <a:pt x="510286" y="0"/>
                  </a:lnTo>
                  <a:lnTo>
                    <a:pt x="1020699" y="0"/>
                  </a:lnTo>
                </a:path>
              </a:pathLst>
            </a:custGeom>
            <a:blipFill>
              <a:blip r:embed="rId2">
                <a:alphaModFix amt="0"/>
              </a:blip>
              <a:stretch>
                <a:fillRect l="-367964" t="0" r="-367970" b="1"/>
              </a:stretch>
            </a:blipFill>
            <a:ln w="33338" cap="sq">
              <a:solidFill>
                <a:srgbClr val="1C7293"/>
              </a:solidFill>
              <a:prstDash val="solid"/>
              <a:miter/>
            </a:ln>
          </p:spPr>
          <p:txBody>
            <a:bodyPr/>
            <a:p/>
          </p:txBody>
        </p:sp>
      </p:grpSp>
      <p:sp>
        <p:nvSpPr>
          <p:cNvPr name="TextBox 231" id="231"/>
          <p:cNvSpPr txBox="true"/>
          <p:nvPr/>
        </p:nvSpPr>
        <p:spPr>
          <a:xfrm rot="0">
            <a:off x="822960" y="8927592"/>
            <a:ext cx="16637508" cy="563880"/>
          </a:xfrm>
          <a:prstGeom prst="rect">
            <a:avLst/>
          </a:prstGeom>
        </p:spPr>
        <p:txBody>
          <a:bodyPr anchor="t" rtlCol="false" tIns="0" lIns="0" bIns="0" rIns="0">
            <a:spAutoFit/>
          </a:bodyPr>
          <a:lstStyle/>
          <a:p>
            <a:pPr algn="l">
              <a:lnSpc>
                <a:spcPts val="1709"/>
              </a:lnSpc>
            </a:pPr>
            <a:r>
              <a:rPr lang="en-US" sz="1425">
                <a:solidFill>
                  <a:srgbClr val="5B677A"/>
                </a:solidFill>
                <a:latin typeface="Calibri (MS)"/>
                <a:ea typeface="Calibri (MS)"/>
                <a:cs typeface="Calibri (MS)"/>
                <a:sym typeface="Calibri (MS)"/>
              </a:rPr>
              <a:t>Bước 1–4 chạy một lần và được cache; bước 5–7 giống hệt cho mọi run (giao thức cố định, slide 19). Dạng prompt cuối: slide 23 (một dòng OCR, cùng prompt cho train và test).</a:t>
            </a:r>
          </a:p>
        </p:txBody>
      </p:sp>
      <p:grpSp>
        <p:nvGrpSpPr>
          <p:cNvPr name="Group 232" id="232"/>
          <p:cNvGrpSpPr/>
          <p:nvPr/>
        </p:nvGrpSpPr>
        <p:grpSpPr>
          <a:xfrm rot="0">
            <a:off x="15458732" y="0"/>
            <a:ext cx="2829306" cy="1184338"/>
            <a:chOff x="0" y="0"/>
            <a:chExt cx="3772408" cy="1579118"/>
          </a:xfrm>
        </p:grpSpPr>
        <p:sp>
          <p:nvSpPr>
            <p:cNvPr name="Freeform 233" id="233"/>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32"/>
              <a:stretch>
                <a:fillRect l="0" t="0" r="0" b="0"/>
              </a:stretch>
            </a:blipFill>
          </p:spPr>
          <p:txBody>
            <a:bodyPr/>
            <a:p/>
          </p:txBody>
        </p:sp>
      </p:grpSp>
      <p:grpSp>
        <p:nvGrpSpPr>
          <p:cNvPr name="Group 234" id="234"/>
          <p:cNvGrpSpPr/>
          <p:nvPr/>
        </p:nvGrpSpPr>
        <p:grpSpPr>
          <a:xfrm rot="0">
            <a:off x="822960" y="9655969"/>
            <a:ext cx="13716000" cy="360331"/>
            <a:chOff x="0" y="0"/>
            <a:chExt cx="18288000" cy="480441"/>
          </a:xfrm>
        </p:grpSpPr>
        <p:sp>
          <p:nvSpPr>
            <p:cNvPr name="Freeform 235" id="235"/>
            <p:cNvSpPr/>
            <p:nvPr/>
          </p:nvSpPr>
          <p:spPr>
            <a:xfrm flipH="false" flipV="false" rot="0">
              <a:off x="0" y="0"/>
              <a:ext cx="18288000" cy="480441"/>
            </a:xfrm>
            <a:custGeom>
              <a:avLst/>
              <a:gdLst/>
              <a:ahLst/>
              <a:cxnLst/>
              <a:rect r="r" b="b" t="t" l="l"/>
              <a:pathLst>
                <a:path h="480441" w="18288000">
                  <a:moveTo>
                    <a:pt x="0" y="0"/>
                  </a:moveTo>
                  <a:lnTo>
                    <a:pt x="18288000" y="0"/>
                  </a:lnTo>
                  <a:lnTo>
                    <a:pt x="18288000" y="480441"/>
                  </a:lnTo>
                  <a:lnTo>
                    <a:pt x="0" y="480441"/>
                  </a:lnTo>
                  <a:close/>
                </a:path>
              </a:pathLst>
            </a:custGeom>
            <a:blipFill>
              <a:blip r:embed="rId5">
                <a:alphaModFix amt="0"/>
              </a:blip>
              <a:stretch>
                <a:fillRect l="0" t="-691181" r="0" b="-691184"/>
              </a:stretch>
            </a:blipFill>
          </p:spPr>
          <p:txBody>
            <a:bodyPr/>
            <a:p/>
          </p:txBody>
        </p:sp>
      </p:grpSp>
      <p:grpSp>
        <p:nvGrpSpPr>
          <p:cNvPr name="Group 236" id="236"/>
          <p:cNvGrpSpPr/>
          <p:nvPr/>
        </p:nvGrpSpPr>
        <p:grpSpPr>
          <a:xfrm rot="0">
            <a:off x="822960" y="9627394"/>
            <a:ext cx="13716000" cy="388896"/>
            <a:chOff x="0" y="0"/>
            <a:chExt cx="18288000" cy="518528"/>
          </a:xfrm>
        </p:grpSpPr>
        <p:sp>
          <p:nvSpPr>
            <p:cNvPr name="Freeform 237" id="237"/>
            <p:cNvSpPr/>
            <p:nvPr/>
          </p:nvSpPr>
          <p:spPr>
            <a:xfrm flipH="false" flipV="false" rot="0">
              <a:off x="0" y="0"/>
              <a:ext cx="18288000" cy="518541"/>
            </a:xfrm>
            <a:custGeom>
              <a:avLst/>
              <a:gdLst/>
              <a:ahLst/>
              <a:cxnLst/>
              <a:rect r="r" b="b" t="t" l="l"/>
              <a:pathLst>
                <a:path h="518541" w="18288000">
                  <a:moveTo>
                    <a:pt x="0" y="0"/>
                  </a:moveTo>
                  <a:lnTo>
                    <a:pt x="18288000" y="0"/>
                  </a:lnTo>
                  <a:lnTo>
                    <a:pt x="18288000" y="518541"/>
                  </a:lnTo>
                  <a:lnTo>
                    <a:pt x="0" y="518541"/>
                  </a:lnTo>
                  <a:close/>
                </a:path>
              </a:pathLst>
            </a:custGeom>
            <a:blipFill>
              <a:blip r:embed="rId6">
                <a:alphaModFix amt="0"/>
              </a:blip>
              <a:stretch>
                <a:fillRect l="0" t="-636725" r="0" b="-636722"/>
              </a:stretch>
            </a:blipFill>
          </p:spPr>
          <p:txBody>
            <a:bodyPr/>
            <a:p/>
          </p:txBody>
        </p:sp>
      </p:grpSp>
      <p:grpSp>
        <p:nvGrpSpPr>
          <p:cNvPr name="Group 238" id="238"/>
          <p:cNvGrpSpPr/>
          <p:nvPr/>
        </p:nvGrpSpPr>
        <p:grpSpPr>
          <a:xfrm rot="0">
            <a:off x="822960" y="9598819"/>
            <a:ext cx="13716000" cy="417471"/>
            <a:chOff x="0" y="0"/>
            <a:chExt cx="18288000" cy="556628"/>
          </a:xfrm>
        </p:grpSpPr>
        <p:sp>
          <p:nvSpPr>
            <p:cNvPr name="Freeform 239" id="239"/>
            <p:cNvSpPr/>
            <p:nvPr/>
          </p:nvSpPr>
          <p:spPr>
            <a:xfrm flipH="false" flipV="false" rot="0">
              <a:off x="0" y="0"/>
              <a:ext cx="18288000" cy="556628"/>
            </a:xfrm>
            <a:custGeom>
              <a:avLst/>
              <a:gdLst/>
              <a:ahLst/>
              <a:cxnLst/>
              <a:rect r="r" b="b" t="t" l="l"/>
              <a:pathLst>
                <a:path h="556628" w="18288000">
                  <a:moveTo>
                    <a:pt x="0" y="0"/>
                  </a:moveTo>
                  <a:lnTo>
                    <a:pt x="18288000" y="0"/>
                  </a:lnTo>
                  <a:lnTo>
                    <a:pt x="18288000" y="556628"/>
                  </a:lnTo>
                  <a:lnTo>
                    <a:pt x="0" y="556628"/>
                  </a:lnTo>
                  <a:close/>
                </a:path>
              </a:pathLst>
            </a:custGeom>
            <a:blipFill>
              <a:blip r:embed="rId7">
                <a:alphaModFix amt="0"/>
              </a:blip>
              <a:stretch>
                <a:fillRect l="0" t="-590180" r="0" b="-590180"/>
              </a:stretch>
            </a:blipFill>
          </p:spPr>
          <p:txBody>
            <a:bodyPr/>
            <a:p/>
          </p:txBody>
        </p:sp>
        <p:sp>
          <p:nvSpPr>
            <p:cNvPr name="TextBox 240" id="240"/>
            <p:cNvSpPr txBox="true"/>
            <p:nvPr/>
          </p:nvSpPr>
          <p:spPr>
            <a:xfrm>
              <a:off x="0" y="-38100"/>
              <a:ext cx="18288000" cy="594728"/>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GFA26AI35 · Đại học FPT</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1 · PHẠM VI · 09 · SẢN PHẨM &amp; GIÁ TRỊ</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Sản phẩm dự kiến và giá trị</a:t>
            </a:r>
          </a:p>
        </p:txBody>
      </p:sp>
      <p:grpSp>
        <p:nvGrpSpPr>
          <p:cNvPr name="Group 6" id="6"/>
          <p:cNvGrpSpPr/>
          <p:nvPr/>
        </p:nvGrpSpPr>
        <p:grpSpPr>
          <a:xfrm rot="0">
            <a:off x="15458732" y="0"/>
            <a:ext cx="2829306" cy="1184338"/>
            <a:chOff x="0" y="0"/>
            <a:chExt cx="3772408" cy="1579118"/>
          </a:xfrm>
        </p:grpSpPr>
        <p:sp>
          <p:nvSpPr>
            <p:cNvPr name="Freeform 7" id="7"/>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3"/>
              <a:stretch>
                <a:fillRect l="0" t="0" r="0" b="0"/>
              </a:stretch>
            </a:blipFill>
          </p:spPr>
          <p:txBody>
            <a:bodyPr/>
            <a:p/>
          </p:txBody>
        </p:sp>
      </p:grpSp>
      <p:grpSp>
        <p:nvGrpSpPr>
          <p:cNvPr name="Group 8" id="8"/>
          <p:cNvGrpSpPr/>
          <p:nvPr/>
        </p:nvGrpSpPr>
        <p:grpSpPr>
          <a:xfrm rot="0">
            <a:off x="822960" y="9655969"/>
            <a:ext cx="13716000" cy="360331"/>
            <a:chOff x="0" y="0"/>
            <a:chExt cx="18288000" cy="480441"/>
          </a:xfrm>
        </p:grpSpPr>
        <p:sp>
          <p:nvSpPr>
            <p:cNvPr name="Freeform 9" id="9"/>
            <p:cNvSpPr/>
            <p:nvPr/>
          </p:nvSpPr>
          <p:spPr>
            <a:xfrm flipH="false" flipV="false" rot="0">
              <a:off x="0" y="0"/>
              <a:ext cx="18288000" cy="480441"/>
            </a:xfrm>
            <a:custGeom>
              <a:avLst/>
              <a:gdLst/>
              <a:ahLst/>
              <a:cxnLst/>
              <a:rect r="r" b="b" t="t" l="l"/>
              <a:pathLst>
                <a:path h="480441" w="18288000">
                  <a:moveTo>
                    <a:pt x="0" y="0"/>
                  </a:moveTo>
                  <a:lnTo>
                    <a:pt x="18288000" y="0"/>
                  </a:lnTo>
                  <a:lnTo>
                    <a:pt x="18288000" y="480441"/>
                  </a:lnTo>
                  <a:lnTo>
                    <a:pt x="0" y="480441"/>
                  </a:lnTo>
                  <a:close/>
                </a:path>
              </a:pathLst>
            </a:custGeom>
            <a:blipFill>
              <a:blip r:embed="rId4">
                <a:alphaModFix amt="0"/>
              </a:blip>
              <a:stretch>
                <a:fillRect l="0" t="-691181" r="0" b="-691184"/>
              </a:stretch>
            </a:blipFill>
          </p:spPr>
          <p:txBody>
            <a:bodyPr/>
            <a:p/>
          </p:txBody>
        </p:sp>
      </p:grpSp>
      <p:grpSp>
        <p:nvGrpSpPr>
          <p:cNvPr name="Group 10" id="10"/>
          <p:cNvGrpSpPr/>
          <p:nvPr/>
        </p:nvGrpSpPr>
        <p:grpSpPr>
          <a:xfrm rot="0">
            <a:off x="822960" y="9627394"/>
            <a:ext cx="13716000" cy="388896"/>
            <a:chOff x="0" y="0"/>
            <a:chExt cx="18288000" cy="518528"/>
          </a:xfrm>
        </p:grpSpPr>
        <p:sp>
          <p:nvSpPr>
            <p:cNvPr name="Freeform 11" id="11"/>
            <p:cNvSpPr/>
            <p:nvPr/>
          </p:nvSpPr>
          <p:spPr>
            <a:xfrm flipH="false" flipV="false" rot="0">
              <a:off x="0" y="0"/>
              <a:ext cx="18288000" cy="518541"/>
            </a:xfrm>
            <a:custGeom>
              <a:avLst/>
              <a:gdLst/>
              <a:ahLst/>
              <a:cxnLst/>
              <a:rect r="r" b="b" t="t" l="l"/>
              <a:pathLst>
                <a:path h="518541" w="18288000">
                  <a:moveTo>
                    <a:pt x="0" y="0"/>
                  </a:moveTo>
                  <a:lnTo>
                    <a:pt x="18288000" y="0"/>
                  </a:lnTo>
                  <a:lnTo>
                    <a:pt x="18288000" y="518541"/>
                  </a:lnTo>
                  <a:lnTo>
                    <a:pt x="0" y="518541"/>
                  </a:lnTo>
                  <a:close/>
                </a:path>
              </a:pathLst>
            </a:custGeom>
            <a:blipFill>
              <a:blip r:embed="rId5">
                <a:alphaModFix amt="0"/>
              </a:blip>
              <a:stretch>
                <a:fillRect l="0" t="-636725" r="0" b="-636722"/>
              </a:stretch>
            </a:blipFill>
          </p:spPr>
          <p:txBody>
            <a:bodyPr/>
            <a:p/>
          </p:txBody>
        </p:sp>
      </p:grpSp>
      <p:grpSp>
        <p:nvGrpSpPr>
          <p:cNvPr name="Group 12" id="12"/>
          <p:cNvGrpSpPr/>
          <p:nvPr/>
        </p:nvGrpSpPr>
        <p:grpSpPr>
          <a:xfrm rot="0">
            <a:off x="822960" y="9598819"/>
            <a:ext cx="13716000" cy="417471"/>
            <a:chOff x="0" y="0"/>
            <a:chExt cx="18288000" cy="556628"/>
          </a:xfrm>
        </p:grpSpPr>
        <p:sp>
          <p:nvSpPr>
            <p:cNvPr name="Freeform 13" id="13"/>
            <p:cNvSpPr/>
            <p:nvPr/>
          </p:nvSpPr>
          <p:spPr>
            <a:xfrm flipH="false" flipV="false" rot="0">
              <a:off x="0" y="0"/>
              <a:ext cx="18288000" cy="556628"/>
            </a:xfrm>
            <a:custGeom>
              <a:avLst/>
              <a:gdLst/>
              <a:ahLst/>
              <a:cxnLst/>
              <a:rect r="r" b="b" t="t" l="l"/>
              <a:pathLst>
                <a:path h="556628" w="18288000">
                  <a:moveTo>
                    <a:pt x="0" y="0"/>
                  </a:moveTo>
                  <a:lnTo>
                    <a:pt x="18288000" y="0"/>
                  </a:lnTo>
                  <a:lnTo>
                    <a:pt x="18288000" y="556628"/>
                  </a:lnTo>
                  <a:lnTo>
                    <a:pt x="0" y="556628"/>
                  </a:lnTo>
                  <a:close/>
                </a:path>
              </a:pathLst>
            </a:custGeom>
            <a:blipFill>
              <a:blip r:embed="rId6">
                <a:alphaModFix amt="0"/>
              </a:blip>
              <a:stretch>
                <a:fillRect l="0" t="-590180" r="0" b="-590180"/>
              </a:stretch>
            </a:blipFill>
          </p:spPr>
          <p:txBody>
            <a:bodyPr/>
            <a:p/>
          </p:txBody>
        </p:sp>
        <p:sp>
          <p:nvSpPr>
            <p:cNvPr name="TextBox 14" id="14"/>
            <p:cNvSpPr txBox="true"/>
            <p:nvPr/>
          </p:nvSpPr>
          <p:spPr>
            <a:xfrm>
              <a:off x="0" y="-38100"/>
              <a:ext cx="18288000" cy="594728"/>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GFA26AI35 · Đại học FPT</a:t>
              </a:r>
            </a:p>
          </p:txBody>
        </p:sp>
      </p:grpSp>
      <p:grpSp>
        <p:nvGrpSpPr>
          <p:cNvPr name="Group 15" id="15"/>
          <p:cNvGrpSpPr/>
          <p:nvPr/>
        </p:nvGrpSpPr>
        <p:grpSpPr>
          <a:xfrm rot="0">
            <a:off x="804672" y="1965960"/>
            <a:ext cx="7315200" cy="1481328"/>
            <a:chOff x="0" y="0"/>
            <a:chExt cx="9753600" cy="1975104"/>
          </a:xfrm>
        </p:grpSpPr>
        <p:sp>
          <p:nvSpPr>
            <p:cNvPr name="Freeform 16" id="16"/>
            <p:cNvSpPr/>
            <p:nvPr/>
          </p:nvSpPr>
          <p:spPr>
            <a:xfrm flipH="false" flipV="false" rot="0">
              <a:off x="0" y="0"/>
              <a:ext cx="9753600" cy="1975104"/>
            </a:xfrm>
            <a:custGeom>
              <a:avLst/>
              <a:gdLst/>
              <a:ahLst/>
              <a:cxnLst/>
              <a:rect r="r" b="b" t="t" l="l"/>
              <a:pathLst>
                <a:path h="1975104" w="9753600">
                  <a:moveTo>
                    <a:pt x="0" y="138303"/>
                  </a:moveTo>
                  <a:cubicBezTo>
                    <a:pt x="0" y="61849"/>
                    <a:pt x="61849" y="0"/>
                    <a:pt x="138303" y="0"/>
                  </a:cubicBezTo>
                  <a:lnTo>
                    <a:pt x="9615297" y="0"/>
                  </a:lnTo>
                  <a:cubicBezTo>
                    <a:pt x="9691751" y="0"/>
                    <a:pt x="9753600" y="61849"/>
                    <a:pt x="9753600" y="138303"/>
                  </a:cubicBezTo>
                  <a:lnTo>
                    <a:pt x="9753600" y="1836801"/>
                  </a:lnTo>
                  <a:cubicBezTo>
                    <a:pt x="9753600" y="1913128"/>
                    <a:pt x="9691751" y="1975104"/>
                    <a:pt x="9615297" y="1975104"/>
                  </a:cubicBezTo>
                  <a:lnTo>
                    <a:pt x="138303" y="1975104"/>
                  </a:lnTo>
                  <a:cubicBezTo>
                    <a:pt x="61849" y="1975104"/>
                    <a:pt x="0" y="1913255"/>
                    <a:pt x="0" y="1836801"/>
                  </a:cubicBezTo>
                  <a:close/>
                </a:path>
              </a:pathLst>
            </a:custGeom>
            <a:solidFill>
              <a:srgbClr val="FBF0DA"/>
            </a:solidFill>
          </p:spPr>
          <p:txBody>
            <a:bodyPr/>
            <a:p/>
          </p:txBody>
        </p:sp>
      </p:grpSp>
      <p:sp>
        <p:nvSpPr>
          <p:cNvPr name="TextBox 17" id="17"/>
          <p:cNvSpPr txBox="true"/>
          <p:nvPr/>
        </p:nvSpPr>
        <p:spPr>
          <a:xfrm rot="0">
            <a:off x="1078992" y="2037207"/>
            <a:ext cx="6858000" cy="1346073"/>
          </a:xfrm>
          <a:prstGeom prst="rect">
            <a:avLst/>
          </a:prstGeom>
        </p:spPr>
        <p:txBody>
          <a:bodyPr anchor="t" rtlCol="false" tIns="0" lIns="0" bIns="0" rIns="0">
            <a:spAutoFit/>
          </a:bodyPr>
          <a:lstStyle/>
          <a:p>
            <a:pPr algn="l">
              <a:lnSpc>
                <a:spcPts val="2544"/>
              </a:lnSpc>
            </a:pPr>
            <a:r>
              <a:rPr lang="en-US" sz="2000" b="true">
                <a:solidFill>
                  <a:srgbClr val="B86E0E"/>
                </a:solidFill>
                <a:latin typeface="Calibri (MS) Bold"/>
                <a:ea typeface="Calibri (MS) Bold"/>
                <a:cs typeface="Calibri (MS) Bold"/>
                <a:sym typeface="Calibri (MS) Bold"/>
              </a:rPr>
              <a:t>Đóng góp nghiên cứu</a:t>
            </a:r>
          </a:p>
          <a:p>
            <a:pPr algn="l">
              <a:lnSpc>
                <a:spcPts val="2098"/>
              </a:lnSpc>
            </a:pPr>
            <a:r>
              <a:rPr lang="en-US" sz="1650">
                <a:solidFill>
                  <a:srgbClr val="243044"/>
                </a:solidFill>
                <a:latin typeface="Calibri (MS)"/>
                <a:ea typeface="Calibri (MS)"/>
                <a:cs typeface="Calibri (MS)"/>
                <a:sym typeface="Calibri (MS)"/>
              </a:rPr>
              <a:t>≥ 1 cải tiến PEFT đã kiểm chứng so với baseline tái lập, kèm ablation, phân tích lỗi và hallucination</a:t>
            </a:r>
          </a:p>
        </p:txBody>
      </p:sp>
      <p:grpSp>
        <p:nvGrpSpPr>
          <p:cNvPr name="Group 18" id="18"/>
          <p:cNvGrpSpPr/>
          <p:nvPr/>
        </p:nvGrpSpPr>
        <p:grpSpPr>
          <a:xfrm rot="0">
            <a:off x="804672" y="3584448"/>
            <a:ext cx="7315200" cy="1325880"/>
            <a:chOff x="0" y="0"/>
            <a:chExt cx="9753600" cy="1767840"/>
          </a:xfrm>
        </p:grpSpPr>
        <p:sp>
          <p:nvSpPr>
            <p:cNvPr name="Freeform 19" id="19"/>
            <p:cNvSpPr/>
            <p:nvPr/>
          </p:nvSpPr>
          <p:spPr>
            <a:xfrm flipH="false" flipV="false" rot="0">
              <a:off x="0" y="0"/>
              <a:ext cx="9753600" cy="1767840"/>
            </a:xfrm>
            <a:custGeom>
              <a:avLst/>
              <a:gdLst/>
              <a:ahLst/>
              <a:cxnLst/>
              <a:rect r="r" b="b" t="t" l="l"/>
              <a:pathLst>
                <a:path h="1767840" w="9753600">
                  <a:moveTo>
                    <a:pt x="0" y="123698"/>
                  </a:moveTo>
                  <a:cubicBezTo>
                    <a:pt x="0" y="55372"/>
                    <a:pt x="55372" y="0"/>
                    <a:pt x="123698" y="0"/>
                  </a:cubicBezTo>
                  <a:lnTo>
                    <a:pt x="9629902" y="0"/>
                  </a:lnTo>
                  <a:cubicBezTo>
                    <a:pt x="9698228" y="0"/>
                    <a:pt x="9753600" y="55372"/>
                    <a:pt x="9753600" y="123698"/>
                  </a:cubicBezTo>
                  <a:lnTo>
                    <a:pt x="9753600" y="1644142"/>
                  </a:lnTo>
                  <a:cubicBezTo>
                    <a:pt x="9753600" y="1712468"/>
                    <a:pt x="9698228" y="1767840"/>
                    <a:pt x="9629902" y="1767840"/>
                  </a:cubicBezTo>
                  <a:lnTo>
                    <a:pt x="123698" y="1767840"/>
                  </a:lnTo>
                  <a:cubicBezTo>
                    <a:pt x="55372" y="1767840"/>
                    <a:pt x="0" y="1712468"/>
                    <a:pt x="0" y="1644142"/>
                  </a:cubicBezTo>
                  <a:close/>
                </a:path>
              </a:pathLst>
            </a:custGeom>
            <a:solidFill>
              <a:srgbClr val="F3F5F8"/>
            </a:solidFill>
          </p:spPr>
          <p:txBody>
            <a:bodyPr/>
            <a:p/>
          </p:txBody>
        </p:sp>
      </p:grpSp>
      <p:sp>
        <p:nvSpPr>
          <p:cNvPr name="TextBox 20" id="20"/>
          <p:cNvSpPr txBox="true"/>
          <p:nvPr/>
        </p:nvSpPr>
        <p:spPr>
          <a:xfrm rot="0">
            <a:off x="1078992" y="3655695"/>
            <a:ext cx="6858000" cy="1190625"/>
          </a:xfrm>
          <a:prstGeom prst="rect">
            <a:avLst/>
          </a:prstGeom>
        </p:spPr>
        <p:txBody>
          <a:bodyPr anchor="t" rtlCol="false" tIns="0" lIns="0" bIns="0" rIns="0">
            <a:spAutoFit/>
          </a:bodyPr>
          <a:lstStyle/>
          <a:p>
            <a:pPr algn="l">
              <a:lnSpc>
                <a:spcPts val="2544"/>
              </a:lnSpc>
            </a:pPr>
            <a:r>
              <a:rPr lang="en-US" sz="2000" b="true">
                <a:solidFill>
                  <a:srgbClr val="13294B"/>
                </a:solidFill>
                <a:latin typeface="Calibri (MS) Bold"/>
                <a:ea typeface="Calibri (MS) Bold"/>
                <a:cs typeface="Calibri (MS) Bold"/>
                <a:sym typeface="Calibri (MS) Bold"/>
              </a:rPr>
              <a:t>Luận văn + gói tái lập</a:t>
            </a:r>
          </a:p>
          <a:p>
            <a:pPr algn="l">
              <a:lnSpc>
                <a:spcPts val="2098"/>
              </a:lnSpc>
            </a:pPr>
            <a:r>
              <a:rPr lang="en-US" sz="1650">
                <a:solidFill>
                  <a:srgbClr val="243044"/>
                </a:solidFill>
                <a:latin typeface="Calibri (MS)"/>
                <a:ea typeface="Calibri (MS)"/>
                <a:cs typeface="Calibri (MS)"/>
                <a:sym typeface="Calibri (MS)"/>
              </a:rPr>
              <a:t>Code, adapter LoRA, config, script suy luận, log thí nghiệm</a:t>
            </a:r>
          </a:p>
        </p:txBody>
      </p:sp>
      <p:grpSp>
        <p:nvGrpSpPr>
          <p:cNvPr name="Group 21" id="21"/>
          <p:cNvGrpSpPr/>
          <p:nvPr/>
        </p:nvGrpSpPr>
        <p:grpSpPr>
          <a:xfrm rot="0">
            <a:off x="804672" y="5047488"/>
            <a:ext cx="7315200" cy="2057400"/>
            <a:chOff x="0" y="0"/>
            <a:chExt cx="9753600" cy="2743200"/>
          </a:xfrm>
        </p:grpSpPr>
        <p:sp>
          <p:nvSpPr>
            <p:cNvPr name="Freeform 22" id="22"/>
            <p:cNvSpPr/>
            <p:nvPr/>
          </p:nvSpPr>
          <p:spPr>
            <a:xfrm flipH="false" flipV="false" rot="0">
              <a:off x="0" y="0"/>
              <a:ext cx="9753600" cy="2743200"/>
            </a:xfrm>
            <a:custGeom>
              <a:avLst/>
              <a:gdLst/>
              <a:ahLst/>
              <a:cxnLst/>
              <a:rect r="r" b="b" t="t" l="l"/>
              <a:pathLst>
                <a:path h="2743200" w="9753600">
                  <a:moveTo>
                    <a:pt x="0" y="192024"/>
                  </a:moveTo>
                  <a:cubicBezTo>
                    <a:pt x="0" y="85979"/>
                    <a:pt x="85979" y="0"/>
                    <a:pt x="192024" y="0"/>
                  </a:cubicBezTo>
                  <a:lnTo>
                    <a:pt x="9561576" y="0"/>
                  </a:lnTo>
                  <a:cubicBezTo>
                    <a:pt x="9667621" y="0"/>
                    <a:pt x="9753600" y="85979"/>
                    <a:pt x="9753600" y="192024"/>
                  </a:cubicBezTo>
                  <a:lnTo>
                    <a:pt x="9753600" y="2551176"/>
                  </a:lnTo>
                  <a:cubicBezTo>
                    <a:pt x="9753600" y="2657221"/>
                    <a:pt x="9667621" y="2743200"/>
                    <a:pt x="9561576" y="2743200"/>
                  </a:cubicBezTo>
                  <a:lnTo>
                    <a:pt x="192024" y="2743200"/>
                  </a:lnTo>
                  <a:cubicBezTo>
                    <a:pt x="85979" y="2743200"/>
                    <a:pt x="0" y="2657221"/>
                    <a:pt x="0" y="2551176"/>
                  </a:cubicBezTo>
                  <a:close/>
                </a:path>
              </a:pathLst>
            </a:custGeom>
            <a:solidFill>
              <a:srgbClr val="F3F5F8"/>
            </a:solidFill>
          </p:spPr>
          <p:txBody>
            <a:bodyPr/>
            <a:p/>
          </p:txBody>
        </p:sp>
      </p:grpSp>
      <p:sp>
        <p:nvSpPr>
          <p:cNvPr name="TextBox 23" id="23"/>
          <p:cNvSpPr txBox="true"/>
          <p:nvPr/>
        </p:nvSpPr>
        <p:spPr>
          <a:xfrm rot="0">
            <a:off x="1078992" y="5118735"/>
            <a:ext cx="6858000" cy="1922145"/>
          </a:xfrm>
          <a:prstGeom prst="rect">
            <a:avLst/>
          </a:prstGeom>
        </p:spPr>
        <p:txBody>
          <a:bodyPr anchor="t" rtlCol="false" tIns="0" lIns="0" bIns="0" rIns="0">
            <a:spAutoFit/>
          </a:bodyPr>
          <a:lstStyle/>
          <a:p>
            <a:pPr algn="l">
              <a:lnSpc>
                <a:spcPts val="2544"/>
              </a:lnSpc>
            </a:pPr>
            <a:r>
              <a:rPr lang="en-US" sz="2000" b="true">
                <a:solidFill>
                  <a:srgbClr val="13294B"/>
                </a:solidFill>
                <a:latin typeface="Calibri (MS) Bold"/>
                <a:ea typeface="Calibri (MS) Bold"/>
                <a:cs typeface="Calibri (MS) Bold"/>
                <a:sym typeface="Calibri (MS) Bold"/>
              </a:rPr>
              <a:t>Giá trị thực tiễn</a:t>
            </a:r>
          </a:p>
          <a:p>
            <a:pPr algn="l">
              <a:lnSpc>
                <a:spcPts val="2098"/>
              </a:lnSpc>
            </a:pPr>
            <a:r>
              <a:rPr lang="en-US" sz="1650">
                <a:solidFill>
                  <a:srgbClr val="243044"/>
                </a:solidFill>
                <a:latin typeface="Calibri (MS)"/>
                <a:ea typeface="Calibri (MS)"/>
                <a:cs typeface="Calibri (MS)"/>
                <a:sym typeface="Calibri (MS)"/>
              </a:rPr>
              <a:t>•  Đọc biển hiệu, nhãn hàng, giá cả trong ảnh tiếng Việt</a:t>
            </a:r>
          </a:p>
          <a:p>
            <a:pPr algn="l">
              <a:lnSpc>
                <a:spcPts val="2098"/>
              </a:lnSpc>
            </a:pPr>
            <a:r>
              <a:rPr lang="en-US" sz="1650">
                <a:solidFill>
                  <a:srgbClr val="243044"/>
                </a:solidFill>
                <a:latin typeface="Calibri (MS)"/>
                <a:ea typeface="Calibri (MS)"/>
                <a:cs typeface="Calibri (MS)"/>
                <a:sym typeface="Calibri (MS)"/>
              </a:rPr>
              <a:t>•  Công nghệ hỗ trợ người khiếm thị</a:t>
            </a:r>
          </a:p>
          <a:p>
            <a:pPr algn="l">
              <a:lnSpc>
                <a:spcPts val="2098"/>
              </a:lnSpc>
            </a:pPr>
            <a:r>
              <a:rPr lang="en-US" sz="1650">
                <a:solidFill>
                  <a:srgbClr val="243044"/>
                </a:solidFill>
                <a:latin typeface="Calibri (MS)"/>
                <a:ea typeface="Calibri (MS)"/>
                <a:cs typeface="Calibri (MS)"/>
                <a:sym typeface="Calibri (MS)"/>
              </a:rPr>
              <a:t>•  Thực đơn, biểu mẫu, tài liệu tiếng Việt</a:t>
            </a:r>
          </a:p>
        </p:txBody>
      </p:sp>
      <p:grpSp>
        <p:nvGrpSpPr>
          <p:cNvPr name="Group 24" id="24"/>
          <p:cNvGrpSpPr/>
          <p:nvPr/>
        </p:nvGrpSpPr>
        <p:grpSpPr>
          <a:xfrm rot="0">
            <a:off x="804672" y="7242048"/>
            <a:ext cx="7315200" cy="2057400"/>
            <a:chOff x="0" y="0"/>
            <a:chExt cx="9753600" cy="2743200"/>
          </a:xfrm>
        </p:grpSpPr>
        <p:sp>
          <p:nvSpPr>
            <p:cNvPr name="Freeform 25" id="25"/>
            <p:cNvSpPr/>
            <p:nvPr/>
          </p:nvSpPr>
          <p:spPr>
            <a:xfrm flipH="false" flipV="false" rot="0">
              <a:off x="0" y="0"/>
              <a:ext cx="9753600" cy="2743200"/>
            </a:xfrm>
            <a:custGeom>
              <a:avLst/>
              <a:gdLst/>
              <a:ahLst/>
              <a:cxnLst/>
              <a:rect r="r" b="b" t="t" l="l"/>
              <a:pathLst>
                <a:path h="2743200" w="9753600">
                  <a:moveTo>
                    <a:pt x="0" y="192024"/>
                  </a:moveTo>
                  <a:cubicBezTo>
                    <a:pt x="0" y="85979"/>
                    <a:pt x="85979" y="0"/>
                    <a:pt x="192024" y="0"/>
                  </a:cubicBezTo>
                  <a:lnTo>
                    <a:pt x="9561576" y="0"/>
                  </a:lnTo>
                  <a:cubicBezTo>
                    <a:pt x="9667621" y="0"/>
                    <a:pt x="9753600" y="85979"/>
                    <a:pt x="9753600" y="192024"/>
                  </a:cubicBezTo>
                  <a:lnTo>
                    <a:pt x="9753600" y="2551176"/>
                  </a:lnTo>
                  <a:cubicBezTo>
                    <a:pt x="9753600" y="2657221"/>
                    <a:pt x="9667621" y="2743200"/>
                    <a:pt x="9561576" y="2743200"/>
                  </a:cubicBezTo>
                  <a:lnTo>
                    <a:pt x="192024" y="2743200"/>
                  </a:lnTo>
                  <a:cubicBezTo>
                    <a:pt x="85979" y="2743200"/>
                    <a:pt x="0" y="2657221"/>
                    <a:pt x="0" y="2551176"/>
                  </a:cubicBezTo>
                  <a:close/>
                </a:path>
              </a:pathLst>
            </a:custGeom>
            <a:solidFill>
              <a:srgbClr val="E7F0F3"/>
            </a:solidFill>
          </p:spPr>
          <p:txBody>
            <a:bodyPr/>
            <a:p/>
          </p:txBody>
        </p:sp>
      </p:grpSp>
      <p:sp>
        <p:nvSpPr>
          <p:cNvPr name="TextBox 26" id="26"/>
          <p:cNvSpPr txBox="true"/>
          <p:nvPr/>
        </p:nvSpPr>
        <p:spPr>
          <a:xfrm rot="0">
            <a:off x="1078992" y="7313295"/>
            <a:ext cx="6858000" cy="1922145"/>
          </a:xfrm>
          <a:prstGeom prst="rect">
            <a:avLst/>
          </a:prstGeom>
        </p:spPr>
        <p:txBody>
          <a:bodyPr anchor="t" rtlCol="false" tIns="0" lIns="0" bIns="0" rIns="0">
            <a:spAutoFit/>
          </a:bodyPr>
          <a:lstStyle/>
          <a:p>
            <a:pPr algn="l">
              <a:lnSpc>
                <a:spcPts val="2544"/>
              </a:lnSpc>
            </a:pPr>
            <a:r>
              <a:rPr lang="en-US" sz="2000" b="true">
                <a:solidFill>
                  <a:srgbClr val="13294B"/>
                </a:solidFill>
                <a:latin typeface="Calibri (MS) Bold"/>
                <a:ea typeface="Calibri (MS) Bold"/>
                <a:cs typeface="Calibri (MS) Bold"/>
                <a:sym typeface="Calibri (MS) Bold"/>
              </a:rPr>
              <a:t>Ý nghĩa khoa học</a:t>
            </a:r>
          </a:p>
          <a:p>
            <a:pPr algn="l">
              <a:lnSpc>
                <a:spcPts val="2098"/>
              </a:lnSpc>
            </a:pPr>
            <a:r>
              <a:rPr lang="en-US" sz="1650">
                <a:solidFill>
                  <a:srgbClr val="243044"/>
                </a:solidFill>
                <a:latin typeface="Calibri (MS)"/>
                <a:ea typeface="Calibri (MS)"/>
                <a:cs typeface="Calibri (MS)"/>
                <a:sym typeface="Calibri (MS)"/>
              </a:rPr>
              <a:t>•  Nghiên cứu PEFT có hệ thống cho VLM tiếng Việt</a:t>
            </a:r>
          </a:p>
          <a:p>
            <a:pPr algn="l">
              <a:lnSpc>
                <a:spcPts val="2098"/>
              </a:lnSpc>
            </a:pPr>
            <a:r>
              <a:rPr lang="en-US" sz="1650">
                <a:solidFill>
                  <a:srgbClr val="243044"/>
                </a:solidFill>
                <a:latin typeface="Calibri (MS)"/>
                <a:ea typeface="Calibri (MS)"/>
                <a:cs typeface="Calibri (MS)"/>
                <a:sym typeface="Calibri (MS)"/>
              </a:rPr>
              <a:t>•  Xử lý đặc thù tiếng Việt: dấu, ngôn ngữ đầu ra, thứ tự OCR</a:t>
            </a:r>
          </a:p>
          <a:p>
            <a:pPr algn="l">
              <a:lnSpc>
                <a:spcPts val="2098"/>
              </a:lnSpc>
            </a:pPr>
            <a:r>
              <a:rPr lang="en-US" sz="1650">
                <a:solidFill>
                  <a:srgbClr val="243044"/>
                </a:solidFill>
                <a:latin typeface="Calibri (MS)"/>
                <a:ea typeface="Calibri (MS)"/>
                <a:cs typeface="Calibri (MS)"/>
                <a:sym typeface="Calibri (MS)"/>
              </a:rPr>
              <a:t>•  Đo hallucination cho VQA tiếng Việt; quy trình tái lập được</a:t>
            </a:r>
          </a:p>
        </p:txBody>
      </p:sp>
      <p:grpSp>
        <p:nvGrpSpPr>
          <p:cNvPr name="Group 27" id="27"/>
          <p:cNvGrpSpPr/>
          <p:nvPr/>
        </p:nvGrpSpPr>
        <p:grpSpPr>
          <a:xfrm rot="0">
            <a:off x="8366760" y="1965960"/>
            <a:ext cx="9116568" cy="7269480"/>
            <a:chOff x="0" y="0"/>
            <a:chExt cx="12155424" cy="9692640"/>
          </a:xfrm>
        </p:grpSpPr>
        <p:sp>
          <p:nvSpPr>
            <p:cNvPr name="Freeform 28" id="28"/>
            <p:cNvSpPr/>
            <p:nvPr/>
          </p:nvSpPr>
          <p:spPr>
            <a:xfrm flipH="false" flipV="false" rot="0">
              <a:off x="0" y="0"/>
              <a:ext cx="12155424" cy="9692640"/>
            </a:xfrm>
            <a:custGeom>
              <a:avLst/>
              <a:gdLst/>
              <a:ahLst/>
              <a:cxnLst/>
              <a:rect r="r" b="b" t="t" l="l"/>
              <a:pathLst>
                <a:path h="9692640" w="12155424">
                  <a:moveTo>
                    <a:pt x="0" y="290830"/>
                  </a:moveTo>
                  <a:cubicBezTo>
                    <a:pt x="0" y="130175"/>
                    <a:pt x="130175" y="0"/>
                    <a:pt x="290830" y="0"/>
                  </a:cubicBezTo>
                  <a:lnTo>
                    <a:pt x="11864594" y="0"/>
                  </a:lnTo>
                  <a:cubicBezTo>
                    <a:pt x="12025249" y="0"/>
                    <a:pt x="12155424" y="130175"/>
                    <a:pt x="12155424" y="290830"/>
                  </a:cubicBezTo>
                  <a:lnTo>
                    <a:pt x="12155424" y="9401810"/>
                  </a:lnTo>
                  <a:cubicBezTo>
                    <a:pt x="12155424" y="9562465"/>
                    <a:pt x="12025249" y="9692640"/>
                    <a:pt x="11864594" y="9692640"/>
                  </a:cubicBezTo>
                  <a:lnTo>
                    <a:pt x="290830" y="9692640"/>
                  </a:lnTo>
                  <a:cubicBezTo>
                    <a:pt x="130175" y="9692640"/>
                    <a:pt x="0" y="9562465"/>
                    <a:pt x="0" y="9401810"/>
                  </a:cubicBezTo>
                  <a:close/>
                </a:path>
              </a:pathLst>
            </a:custGeom>
            <a:solidFill>
              <a:srgbClr val="F3F5F8"/>
            </a:solidFill>
          </p:spPr>
          <p:txBody>
            <a:bodyPr/>
            <a:p/>
          </p:txBody>
        </p:sp>
      </p:grpSp>
      <p:sp>
        <p:nvSpPr>
          <p:cNvPr name="TextBox 29" id="29"/>
          <p:cNvSpPr txBox="true"/>
          <p:nvPr/>
        </p:nvSpPr>
        <p:spPr>
          <a:xfrm rot="0">
            <a:off x="8686800" y="2074545"/>
            <a:ext cx="8567928" cy="485775"/>
          </a:xfrm>
          <a:prstGeom prst="rect">
            <a:avLst/>
          </a:prstGeom>
        </p:spPr>
        <p:txBody>
          <a:bodyPr anchor="t" rtlCol="false" tIns="0" lIns="0" bIns="0" rIns="0">
            <a:spAutoFit/>
          </a:bodyPr>
          <a:lstStyle/>
          <a:p>
            <a:pPr algn="l">
              <a:lnSpc>
                <a:spcPts val="1971"/>
              </a:lnSpc>
            </a:pPr>
            <a:r>
              <a:rPr lang="en-US" sz="1550" b="true">
                <a:solidFill>
                  <a:srgbClr val="13294B"/>
                </a:solidFill>
                <a:latin typeface="Calibri (MS) Bold"/>
                <a:ea typeface="Calibri (MS) Bold"/>
                <a:cs typeface="Calibri (MS) Bold"/>
                <a:sym typeface="Calibri (MS) Bold"/>
              </a:rPr>
              <a:t>Prototype web</a:t>
            </a:r>
            <a:r>
              <a:rPr lang="en-US" sz="1550">
                <a:solidFill>
                  <a:srgbClr val="243044"/>
                </a:solidFill>
                <a:latin typeface="Calibri (MS)"/>
                <a:ea typeface="Calibri (MS)"/>
                <a:cs typeface="Calibri (MS)"/>
                <a:sym typeface="Calibri (MS)"/>
              </a:rPr>
              <a:t>   tải ảnh, hỏi tiếng Việt, nhận câu trả lời kèm chữ OCR làm bằng chứng</a:t>
            </a:r>
          </a:p>
        </p:txBody>
      </p:sp>
      <p:grpSp>
        <p:nvGrpSpPr>
          <p:cNvPr name="Group 30" id="30"/>
          <p:cNvGrpSpPr/>
          <p:nvPr/>
        </p:nvGrpSpPr>
        <p:grpSpPr>
          <a:xfrm rot="0">
            <a:off x="8680447" y="2691127"/>
            <a:ext cx="8489185" cy="5310502"/>
            <a:chOff x="0" y="0"/>
            <a:chExt cx="11318913" cy="7080669"/>
          </a:xfrm>
        </p:grpSpPr>
        <p:sp>
          <p:nvSpPr>
            <p:cNvPr name="Freeform 31" id="31" descr="mockup.png"/>
            <p:cNvSpPr/>
            <p:nvPr/>
          </p:nvSpPr>
          <p:spPr>
            <a:xfrm flipH="false" flipV="false" rot="0">
              <a:off x="0" y="0"/>
              <a:ext cx="11318875" cy="7080631"/>
            </a:xfrm>
            <a:custGeom>
              <a:avLst/>
              <a:gdLst/>
              <a:ahLst/>
              <a:cxnLst/>
              <a:rect r="r" b="b" t="t" l="l"/>
              <a:pathLst>
                <a:path h="7080631" w="11318875">
                  <a:moveTo>
                    <a:pt x="0" y="0"/>
                  </a:moveTo>
                  <a:lnTo>
                    <a:pt x="11318875" y="0"/>
                  </a:lnTo>
                  <a:lnTo>
                    <a:pt x="11318875" y="7080631"/>
                  </a:lnTo>
                  <a:lnTo>
                    <a:pt x="0" y="7080631"/>
                  </a:lnTo>
                  <a:lnTo>
                    <a:pt x="0" y="0"/>
                  </a:lnTo>
                  <a:close/>
                </a:path>
              </a:pathLst>
            </a:custGeom>
            <a:blipFill>
              <a:blip r:embed="rId7"/>
              <a:stretch>
                <a:fillRect l="-44" t="0" r="-45" b="0"/>
              </a:stretch>
            </a:blipFill>
          </p:spPr>
          <p:txBody>
            <a:body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1 · PHẠM VI · 10 · KẾ HOẠCH</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Kế hoạch 15 tuần — đầu ra và trạng thái</a:t>
            </a:r>
          </a:p>
        </p:txBody>
      </p:sp>
      <p:graphicFrame>
        <p:nvGraphicFramePr>
          <p:cNvPr name="Table 6" id="6"/>
          <p:cNvGraphicFramePr>
            <a:graphicFrameLocks noGrp="true"/>
          </p:cNvGraphicFramePr>
          <p:nvPr/>
        </p:nvGraphicFramePr>
        <p:xfrm>
          <a:off x="822960" y="1920240"/>
          <a:ext cx="16573500" cy="7315200"/>
        </p:xfrm>
        <a:graphic>
          <a:graphicData uri="http://schemas.openxmlformats.org/drawingml/2006/table">
            <a:tbl>
              <a:tblPr/>
              <a:tblGrid>
                <a:gridCol w="1410837"/>
                <a:gridCol w="6646956"/>
                <a:gridCol w="8515708"/>
              </a:tblGrid>
              <a:tr h="457200">
                <a:tc>
                  <a:txBody>
                    <a:bodyPr anchor="t" rtlCol="false"/>
                    <a:lstStyle/>
                    <a:p>
                      <a:pPr algn="l">
                        <a:lnSpc>
                          <a:spcPts val="2430"/>
                        </a:lnSpc>
                        <a:defRPr/>
                      </a:pPr>
                      <a:r>
                        <a:rPr lang="en-US" sz="2025" b="true">
                          <a:solidFill>
                            <a:srgbClr val="FFFFFF"/>
                          </a:solidFill>
                          <a:latin typeface="Calibri (MS) Bold"/>
                          <a:ea typeface="Calibri (MS) Bold"/>
                          <a:cs typeface="Calibri (MS) Bold"/>
                          <a:sym typeface="Calibri (MS) Bold"/>
                        </a:rPr>
                        <a:t>Tuần</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430"/>
                        </a:lnSpc>
                        <a:defRPr/>
                      </a:pPr>
                      <a:r>
                        <a:rPr lang="en-US" sz="2025" b="true">
                          <a:solidFill>
                            <a:srgbClr val="FFFFFF"/>
                          </a:solidFill>
                          <a:latin typeface="Calibri (MS) Bold"/>
                          <a:ea typeface="Calibri (MS) Bold"/>
                          <a:cs typeface="Calibri (MS) Bold"/>
                          <a:sym typeface="Calibri (MS) Bold"/>
                        </a:rPr>
                        <a:t>Công việc</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430"/>
                        </a:lnSpc>
                        <a:defRPr/>
                      </a:pPr>
                      <a:r>
                        <a:rPr lang="en-US" sz="2025" b="true">
                          <a:solidFill>
                            <a:srgbClr val="FFFFFF"/>
                          </a:solidFill>
                          <a:latin typeface="Calibri (MS) Bold"/>
                          <a:ea typeface="Calibri (MS) Bold"/>
                          <a:cs typeface="Calibri (MS) Bold"/>
                          <a:sym typeface="Calibri (MS) Bold"/>
                        </a:rPr>
                        <a:t>Đầu ra · trạng thái (tại Review 2)</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Research orientation + Planning</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Đề cương, phân vai, kế hoạch 15 tuần ✓</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W2</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Literature + Dataset</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Literature matrix 10 paper; thống kê 2 dataset ✓</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Review 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Deck + checklist Review 1 ✓</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Baseline (khởi động)</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Zero-shot đầu tiên; chốt Qwen2.5-VL-3B ✓</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Baseline reproduce hoàn chỉnh</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B1 trên 2 dataset; ViTextVQA bản chính thức ✓</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Baseline → Method (Report 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Chốt cấu hình; smoke test QLoRA ✓</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W7</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QLoRA (B2) + chuẩn bị Review 2</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B2; R0 tái lập 79,6; duyệt 200 lỗi ✓</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W8</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Review 2 · OCR-enhanced prompting + củng cố B3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B3 + ablation OCR 2×2, 3 seed ✓ · Review 2 (29/10)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W9</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B3 full data + LoRA ablation</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B3-full +3,1 EM; ablation A1, A2 ✓ (làm sớm)</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W10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Full evaluation + shared adapter</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Bảng 23 run; adapter dùng chung đạt ✓ (làm sớm)</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W11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Error analysis + hallucination analysis</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H4 (POPE tiếng Việt), lỗi theo loại → dời lên W9–W10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W12</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Tổng hợp kết quả + Report 6–7</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Report 6–7; bảng kết quả cuối</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W13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Review 3 · Hội đồng cấp Khoa</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Deck cộng dồn + demo</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W14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Prototype web + viết thesis</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340"/>
                        </a:lnSpc>
                        <a:defRPr/>
                      </a:pPr>
                      <a:r>
                        <a:rPr lang="en-US" sz="1950">
                          <a:solidFill>
                            <a:srgbClr val="243044"/>
                          </a:solidFill>
                          <a:latin typeface="Calibri (MS)"/>
                          <a:ea typeface="Calibri (MS)"/>
                          <a:cs typeface="Calibri (MS)"/>
                          <a:sym typeface="Calibri (MS)"/>
                        </a:rPr>
                        <a:t>Web demo → dời lên W11–12; bản thảo thesis</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457200">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W15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Final defense + gói tái lập</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c>
                  <a:txBody>
                    <a:bodyPr anchor="t" rtlCol="false"/>
                    <a:lstStyle/>
                    <a:p>
                      <a:pPr algn="l">
                        <a:lnSpc>
                          <a:spcPts val="2340"/>
                        </a:lnSpc>
                        <a:defRPr/>
                      </a:pPr>
                      <a:r>
                        <a:rPr lang="en-US" sz="1950" b="true">
                          <a:solidFill>
                            <a:srgbClr val="243044"/>
                          </a:solidFill>
                          <a:latin typeface="Calibri (MS) Bold"/>
                          <a:ea typeface="Calibri (MS) Bold"/>
                          <a:cs typeface="Calibri (MS) Bold"/>
                          <a:sym typeface="Calibri (MS) Bold"/>
                        </a:rPr>
                        <a:t>Thesis, code, adapter, log</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r>
            </a:tbl>
          </a:graphicData>
        </a:graphic>
      </p:graphicFrame>
      <p:grpSp>
        <p:nvGrpSpPr>
          <p:cNvPr name="Group 7" id="7"/>
          <p:cNvGrpSpPr/>
          <p:nvPr/>
        </p:nvGrpSpPr>
        <p:grpSpPr>
          <a:xfrm rot="0">
            <a:off x="15458732" y="0"/>
            <a:ext cx="2829306" cy="1184338"/>
            <a:chOff x="0" y="0"/>
            <a:chExt cx="3772408" cy="1579118"/>
          </a:xfrm>
        </p:grpSpPr>
        <p:sp>
          <p:nvSpPr>
            <p:cNvPr name="Freeform 8" id="8"/>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3"/>
              <a:stretch>
                <a:fillRect l="0" t="0" r="0" b="0"/>
              </a:stretch>
            </a:blipFill>
          </p:spPr>
          <p:txBody>
            <a:bodyPr/>
            <a:p/>
          </p:txBody>
        </p:sp>
      </p:grpSp>
      <p:grpSp>
        <p:nvGrpSpPr>
          <p:cNvPr name="Group 9" id="9"/>
          <p:cNvGrpSpPr/>
          <p:nvPr/>
        </p:nvGrpSpPr>
        <p:grpSpPr>
          <a:xfrm rot="0">
            <a:off x="822960" y="9655969"/>
            <a:ext cx="13716000" cy="360331"/>
            <a:chOff x="0" y="0"/>
            <a:chExt cx="18288000" cy="480441"/>
          </a:xfrm>
        </p:grpSpPr>
        <p:sp>
          <p:nvSpPr>
            <p:cNvPr name="Freeform 10" id="10"/>
            <p:cNvSpPr/>
            <p:nvPr/>
          </p:nvSpPr>
          <p:spPr>
            <a:xfrm flipH="false" flipV="false" rot="0">
              <a:off x="0" y="0"/>
              <a:ext cx="18288000" cy="480441"/>
            </a:xfrm>
            <a:custGeom>
              <a:avLst/>
              <a:gdLst/>
              <a:ahLst/>
              <a:cxnLst/>
              <a:rect r="r" b="b" t="t" l="l"/>
              <a:pathLst>
                <a:path h="480441" w="18288000">
                  <a:moveTo>
                    <a:pt x="0" y="0"/>
                  </a:moveTo>
                  <a:lnTo>
                    <a:pt x="18288000" y="0"/>
                  </a:lnTo>
                  <a:lnTo>
                    <a:pt x="18288000" y="480441"/>
                  </a:lnTo>
                  <a:lnTo>
                    <a:pt x="0" y="480441"/>
                  </a:lnTo>
                  <a:close/>
                </a:path>
              </a:pathLst>
            </a:custGeom>
            <a:blipFill>
              <a:blip r:embed="rId4">
                <a:alphaModFix amt="0"/>
              </a:blip>
              <a:stretch>
                <a:fillRect l="0" t="-691181" r="0" b="-691184"/>
              </a:stretch>
            </a:blipFill>
          </p:spPr>
          <p:txBody>
            <a:bodyPr/>
            <a:p/>
          </p:txBody>
        </p:sp>
      </p:grpSp>
      <p:grpSp>
        <p:nvGrpSpPr>
          <p:cNvPr name="Group 11" id="11"/>
          <p:cNvGrpSpPr/>
          <p:nvPr/>
        </p:nvGrpSpPr>
        <p:grpSpPr>
          <a:xfrm rot="0">
            <a:off x="822960" y="9627394"/>
            <a:ext cx="13716000" cy="388896"/>
            <a:chOff x="0" y="0"/>
            <a:chExt cx="18288000" cy="518528"/>
          </a:xfrm>
        </p:grpSpPr>
        <p:sp>
          <p:nvSpPr>
            <p:cNvPr name="Freeform 12" id="12"/>
            <p:cNvSpPr/>
            <p:nvPr/>
          </p:nvSpPr>
          <p:spPr>
            <a:xfrm flipH="false" flipV="false" rot="0">
              <a:off x="0" y="0"/>
              <a:ext cx="18288000" cy="518541"/>
            </a:xfrm>
            <a:custGeom>
              <a:avLst/>
              <a:gdLst/>
              <a:ahLst/>
              <a:cxnLst/>
              <a:rect r="r" b="b" t="t" l="l"/>
              <a:pathLst>
                <a:path h="518541" w="18288000">
                  <a:moveTo>
                    <a:pt x="0" y="0"/>
                  </a:moveTo>
                  <a:lnTo>
                    <a:pt x="18288000" y="0"/>
                  </a:lnTo>
                  <a:lnTo>
                    <a:pt x="18288000" y="518541"/>
                  </a:lnTo>
                  <a:lnTo>
                    <a:pt x="0" y="518541"/>
                  </a:lnTo>
                  <a:close/>
                </a:path>
              </a:pathLst>
            </a:custGeom>
            <a:blipFill>
              <a:blip r:embed="rId5">
                <a:alphaModFix amt="0"/>
              </a:blip>
              <a:stretch>
                <a:fillRect l="0" t="-636725" r="0" b="-636722"/>
              </a:stretch>
            </a:blipFill>
          </p:spPr>
          <p:txBody>
            <a:bodyPr/>
            <a:p/>
          </p:txBody>
        </p:sp>
      </p:grpSp>
      <p:grpSp>
        <p:nvGrpSpPr>
          <p:cNvPr name="Group 13" id="13"/>
          <p:cNvGrpSpPr/>
          <p:nvPr/>
        </p:nvGrpSpPr>
        <p:grpSpPr>
          <a:xfrm rot="0">
            <a:off x="822960" y="9598819"/>
            <a:ext cx="13716000" cy="417471"/>
            <a:chOff x="0" y="0"/>
            <a:chExt cx="18288000" cy="556628"/>
          </a:xfrm>
        </p:grpSpPr>
        <p:sp>
          <p:nvSpPr>
            <p:cNvPr name="Freeform 14" id="14"/>
            <p:cNvSpPr/>
            <p:nvPr/>
          </p:nvSpPr>
          <p:spPr>
            <a:xfrm flipH="false" flipV="false" rot="0">
              <a:off x="0" y="0"/>
              <a:ext cx="18288000" cy="556628"/>
            </a:xfrm>
            <a:custGeom>
              <a:avLst/>
              <a:gdLst/>
              <a:ahLst/>
              <a:cxnLst/>
              <a:rect r="r" b="b" t="t" l="l"/>
              <a:pathLst>
                <a:path h="556628" w="18288000">
                  <a:moveTo>
                    <a:pt x="0" y="0"/>
                  </a:moveTo>
                  <a:lnTo>
                    <a:pt x="18288000" y="0"/>
                  </a:lnTo>
                  <a:lnTo>
                    <a:pt x="18288000" y="556628"/>
                  </a:lnTo>
                  <a:lnTo>
                    <a:pt x="0" y="556628"/>
                  </a:lnTo>
                  <a:close/>
                </a:path>
              </a:pathLst>
            </a:custGeom>
            <a:blipFill>
              <a:blip r:embed="rId6">
                <a:alphaModFix amt="0"/>
              </a:blip>
              <a:stretch>
                <a:fillRect l="0" t="-590180" r="0" b="-590180"/>
              </a:stretch>
            </a:blipFill>
          </p:spPr>
          <p:txBody>
            <a:bodyPr/>
            <a:p/>
          </p:txBody>
        </p:sp>
        <p:sp>
          <p:nvSpPr>
            <p:cNvPr name="TextBox 15" id="15"/>
            <p:cNvSpPr txBox="true"/>
            <p:nvPr/>
          </p:nvSpPr>
          <p:spPr>
            <a:xfrm>
              <a:off x="0" y="-38100"/>
              <a:ext cx="18288000" cy="594728"/>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GFA26AI35 · Đại học FPT</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bg_r2.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txBody>
            <a:bodyPr/>
            <a:p/>
          </p:txBody>
        </p:sp>
      </p:grpSp>
      <p:grpSp>
        <p:nvGrpSpPr>
          <p:cNvPr name="Group 4" id="4"/>
          <p:cNvGrpSpPr/>
          <p:nvPr/>
        </p:nvGrpSpPr>
        <p:grpSpPr>
          <a:xfrm rot="0">
            <a:off x="0" y="0"/>
            <a:ext cx="2829306" cy="1184338"/>
            <a:chOff x="0" y="0"/>
            <a:chExt cx="3772408" cy="1579118"/>
          </a:xfrm>
        </p:grpSpPr>
        <p:sp>
          <p:nvSpPr>
            <p:cNvPr name="Freeform 5" id="5"/>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3"/>
              <a:stretch>
                <a:fillRect l="0" t="0" r="0" b="0"/>
              </a:stretch>
            </a:blipFill>
          </p:spPr>
          <p:txBody>
            <a:bodyPr/>
            <a:p/>
          </p:txBody>
        </p:sp>
      </p:grpSp>
      <p:grpSp>
        <p:nvGrpSpPr>
          <p:cNvPr name="Group 6" id="6"/>
          <p:cNvGrpSpPr/>
          <p:nvPr/>
        </p:nvGrpSpPr>
        <p:grpSpPr>
          <a:xfrm rot="0">
            <a:off x="1097280" y="2011680"/>
            <a:ext cx="1243584" cy="457200"/>
            <a:chOff x="0" y="0"/>
            <a:chExt cx="1658112" cy="609600"/>
          </a:xfrm>
        </p:grpSpPr>
        <p:sp>
          <p:nvSpPr>
            <p:cNvPr name="Freeform 7" id="7"/>
            <p:cNvSpPr/>
            <p:nvPr/>
          </p:nvSpPr>
          <p:spPr>
            <a:xfrm flipH="false" flipV="false" rot="0">
              <a:off x="0" y="0"/>
              <a:ext cx="1658112" cy="609600"/>
            </a:xfrm>
            <a:custGeom>
              <a:avLst/>
              <a:gdLst/>
              <a:ahLst/>
              <a:cxnLst/>
              <a:rect r="r" b="b" t="t" l="l"/>
              <a:pathLst>
                <a:path h="609600" w="1658112">
                  <a:moveTo>
                    <a:pt x="0" y="304800"/>
                  </a:moveTo>
                  <a:cubicBezTo>
                    <a:pt x="0" y="136525"/>
                    <a:pt x="136525" y="0"/>
                    <a:pt x="304800" y="0"/>
                  </a:cubicBezTo>
                  <a:lnTo>
                    <a:pt x="1353312" y="0"/>
                  </a:lnTo>
                  <a:cubicBezTo>
                    <a:pt x="1521587" y="0"/>
                    <a:pt x="1658112" y="136525"/>
                    <a:pt x="1658112" y="304800"/>
                  </a:cubicBezTo>
                  <a:cubicBezTo>
                    <a:pt x="1658112" y="473075"/>
                    <a:pt x="1521587" y="609600"/>
                    <a:pt x="1353312" y="609600"/>
                  </a:cubicBezTo>
                  <a:lnTo>
                    <a:pt x="304800" y="609600"/>
                  </a:lnTo>
                  <a:cubicBezTo>
                    <a:pt x="136525" y="609600"/>
                    <a:pt x="0" y="473075"/>
                    <a:pt x="0" y="304800"/>
                  </a:cubicBezTo>
                  <a:close/>
                </a:path>
              </a:pathLst>
            </a:custGeom>
            <a:solidFill>
              <a:srgbClr val="E8A33D"/>
            </a:solidFill>
          </p:spPr>
          <p:txBody>
            <a:bodyPr/>
            <a:p/>
          </p:txBody>
        </p:sp>
        <p:sp>
          <p:nvSpPr>
            <p:cNvPr name="TextBox 8" id="8"/>
            <p:cNvSpPr txBox="true"/>
            <p:nvPr/>
          </p:nvSpPr>
          <p:spPr>
            <a:xfrm>
              <a:off x="0" y="-38100"/>
              <a:ext cx="1658112" cy="647700"/>
            </a:xfrm>
            <a:prstGeom prst="rect">
              <a:avLst/>
            </a:prstGeom>
          </p:spPr>
          <p:txBody>
            <a:bodyPr anchor="ctr" rtlCol="false" tIns="50800" lIns="50800" bIns="50800" rIns="50800"/>
            <a:lstStyle/>
            <a:p>
              <a:pPr algn="ctr">
                <a:lnSpc>
                  <a:spcPts val="1780"/>
                </a:lnSpc>
              </a:pPr>
              <a:r>
                <a:rPr lang="en-US" sz="1400" b="true">
                  <a:solidFill>
                    <a:srgbClr val="FFFFFF"/>
                  </a:solidFill>
                  <a:latin typeface="Calibri (MS) Bold"/>
                  <a:ea typeface="Calibri (MS) Bold"/>
                  <a:cs typeface="Calibri (MS) Bold"/>
                  <a:sym typeface="Calibri (MS) Bold"/>
                </a:rPr>
                <a:t>REVIEW 2</a:t>
              </a:r>
            </a:p>
          </p:txBody>
        </p:sp>
      </p:grpSp>
      <p:sp>
        <p:nvSpPr>
          <p:cNvPr name="TextBox 9" id="9"/>
          <p:cNvSpPr txBox="true"/>
          <p:nvPr/>
        </p:nvSpPr>
        <p:spPr>
          <a:xfrm rot="0">
            <a:off x="1097280" y="2649855"/>
            <a:ext cx="8046720" cy="2059305"/>
          </a:xfrm>
          <a:prstGeom prst="rect">
            <a:avLst/>
          </a:prstGeom>
        </p:spPr>
        <p:txBody>
          <a:bodyPr anchor="t" rtlCol="false" tIns="0" lIns="0" bIns="0" rIns="0">
            <a:spAutoFit/>
          </a:bodyPr>
          <a:lstStyle/>
          <a:p>
            <a:pPr algn="l">
              <a:lnSpc>
                <a:spcPts val="6614"/>
              </a:lnSpc>
            </a:pPr>
            <a:r>
              <a:rPr lang="en-US" sz="5199" b="true">
                <a:solidFill>
                  <a:srgbClr val="FFFFFF"/>
                </a:solidFill>
                <a:latin typeface="Cambria Bold"/>
                <a:ea typeface="Cambria Bold"/>
                <a:cs typeface="Cambria Bold"/>
                <a:sym typeface="Cambria Bold"/>
              </a:rPr>
              <a:t>Existing System</a:t>
            </a:r>
          </a:p>
          <a:p>
            <a:pPr algn="l">
              <a:lnSpc>
                <a:spcPts val="6614"/>
              </a:lnSpc>
            </a:pPr>
            <a:r>
              <a:rPr lang="en-US" sz="5199" b="true">
                <a:solidFill>
                  <a:srgbClr val="FFFFFF"/>
                </a:solidFill>
                <a:latin typeface="Cambria Bold"/>
                <a:ea typeface="Cambria Bold"/>
                <a:cs typeface="Cambria Bold"/>
                <a:sym typeface="Cambria Bold"/>
              </a:rPr>
              <a:t>+ Methodology</a:t>
            </a:r>
          </a:p>
        </p:txBody>
      </p:sp>
      <p:sp>
        <p:nvSpPr>
          <p:cNvPr name="TextBox 10" id="10"/>
          <p:cNvSpPr txBox="true"/>
          <p:nvPr/>
        </p:nvSpPr>
        <p:spPr>
          <a:xfrm rot="0">
            <a:off x="1143000" y="5053965"/>
            <a:ext cx="7863840" cy="3724275"/>
          </a:xfrm>
          <a:prstGeom prst="rect">
            <a:avLst/>
          </a:prstGeom>
        </p:spPr>
        <p:txBody>
          <a:bodyPr anchor="t" rtlCol="false" tIns="0" lIns="0" bIns="0" rIns="0">
            <a:spAutoFit/>
          </a:bodyPr>
          <a:lstStyle/>
          <a:p>
            <a:pPr algn="l">
              <a:lnSpc>
                <a:spcPts val="2925"/>
              </a:lnSpc>
            </a:pPr>
            <a:r>
              <a:rPr lang="en-US" sz="2300" b="true">
                <a:solidFill>
                  <a:srgbClr val="E8A33D"/>
                </a:solidFill>
                <a:latin typeface="Calibri (MS) Bold"/>
                <a:ea typeface="Calibri (MS) Bold"/>
                <a:cs typeface="Calibri (MS) Bold"/>
                <a:sym typeface="Calibri (MS) Bold"/>
              </a:rPr>
              <a:t>01  </a:t>
            </a:r>
            <a:r>
              <a:rPr lang="en-US" sz="2300">
                <a:solidFill>
                  <a:srgbClr val="FFFFFF"/>
                </a:solidFill>
                <a:latin typeface="Calibri (MS)"/>
                <a:ea typeface="Calibri (MS)"/>
                <a:cs typeface="Calibri (MS)"/>
                <a:sym typeface="Calibri (MS)"/>
              </a:rPr>
              <a:t>Hệ thống hiện có làm được đến đâu</a:t>
            </a:r>
          </a:p>
          <a:p>
            <a:pPr algn="l">
              <a:lnSpc>
                <a:spcPts val="2925"/>
              </a:lnSpc>
            </a:pPr>
            <a:r>
              <a:rPr lang="en-US" sz="2300" b="true">
                <a:solidFill>
                  <a:srgbClr val="E8A33D"/>
                </a:solidFill>
                <a:latin typeface="Calibri (MS) Bold"/>
                <a:ea typeface="Calibri (MS) Bold"/>
                <a:cs typeface="Calibri (MS) Bold"/>
                <a:sym typeface="Calibri (MS) Bold"/>
              </a:rPr>
              <a:t>02  </a:t>
            </a:r>
            <a:r>
              <a:rPr lang="en-US" sz="2300">
                <a:solidFill>
                  <a:srgbClr val="FFFFFF"/>
                </a:solidFill>
                <a:latin typeface="Calibri (MS)"/>
                <a:ea typeface="Calibri (MS)"/>
                <a:cs typeface="Calibri (MS)"/>
                <a:sym typeface="Calibri (MS)"/>
              </a:rPr>
              <a:t>Baseline của nhóm: điểm mạnh và yếu</a:t>
            </a:r>
          </a:p>
          <a:p>
            <a:pPr algn="l">
              <a:lnSpc>
                <a:spcPts val="2925"/>
              </a:lnSpc>
            </a:pPr>
            <a:r>
              <a:rPr lang="en-US" sz="2300" b="true">
                <a:solidFill>
                  <a:srgbClr val="E8A33D"/>
                </a:solidFill>
                <a:latin typeface="Calibri (MS) Bold"/>
                <a:ea typeface="Calibri (MS) Bold"/>
                <a:cs typeface="Calibri (MS) Bold"/>
                <a:sym typeface="Calibri (MS) Bold"/>
              </a:rPr>
              <a:t>03  </a:t>
            </a:r>
            <a:r>
              <a:rPr lang="en-US" sz="2300">
                <a:solidFill>
                  <a:srgbClr val="FFFFFF"/>
                </a:solidFill>
                <a:latin typeface="Calibri (MS)"/>
                <a:ea typeface="Calibri (MS)"/>
                <a:cs typeface="Calibri (MS)"/>
                <a:sym typeface="Calibri (MS)"/>
              </a:rPr>
              <a:t>Cải tiến bằng phương pháp nào, với bằng chứng gì</a:t>
            </a:r>
          </a:p>
        </p:txBody>
      </p:sp>
      <p:grpSp>
        <p:nvGrpSpPr>
          <p:cNvPr name="Group 11" id="11"/>
          <p:cNvGrpSpPr/>
          <p:nvPr/>
        </p:nvGrpSpPr>
        <p:grpSpPr>
          <a:xfrm rot="0">
            <a:off x="9052560" y="1371600"/>
            <a:ext cx="8595360" cy="6945192"/>
            <a:chOff x="0" y="0"/>
            <a:chExt cx="11460480" cy="9260256"/>
          </a:xfrm>
        </p:grpSpPr>
        <p:sp>
          <p:nvSpPr>
            <p:cNvPr name="Freeform 12" id="12" descr="r2_stack.png"/>
            <p:cNvSpPr/>
            <p:nvPr/>
          </p:nvSpPr>
          <p:spPr>
            <a:xfrm flipH="false" flipV="false" rot="0">
              <a:off x="0" y="0"/>
              <a:ext cx="11460480" cy="9260205"/>
            </a:xfrm>
            <a:custGeom>
              <a:avLst/>
              <a:gdLst/>
              <a:ahLst/>
              <a:cxnLst/>
              <a:rect r="r" b="b" t="t" l="l"/>
              <a:pathLst>
                <a:path h="9260205" w="11460480">
                  <a:moveTo>
                    <a:pt x="0" y="0"/>
                  </a:moveTo>
                  <a:lnTo>
                    <a:pt x="11460480" y="0"/>
                  </a:lnTo>
                  <a:lnTo>
                    <a:pt x="11460480" y="9260205"/>
                  </a:lnTo>
                  <a:lnTo>
                    <a:pt x="0" y="9260205"/>
                  </a:lnTo>
                  <a:lnTo>
                    <a:pt x="0" y="0"/>
                  </a:lnTo>
                  <a:close/>
                </a:path>
              </a:pathLst>
            </a:custGeom>
            <a:blipFill>
              <a:blip r:embed="rId4"/>
              <a:stretch>
                <a:fillRect l="0" t="0" r="0" b="0"/>
              </a:stretch>
            </a:blipFill>
          </p:spPr>
          <p:txBody>
            <a:body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grpSp>
        <p:nvGrpSpPr>
          <p:cNvPr name="Group 4" id="4"/>
          <p:cNvGrpSpPr/>
          <p:nvPr/>
        </p:nvGrpSpPr>
        <p:grpSpPr>
          <a:xfrm rot="0">
            <a:off x="822960" y="9641205"/>
            <a:ext cx="13716000" cy="440055"/>
            <a:chOff x="0" y="0"/>
            <a:chExt cx="18288000" cy="586740"/>
          </a:xfrm>
        </p:grpSpPr>
        <p:sp>
          <p:nvSpPr>
            <p:cNvPr name="Freeform 5" id="5"/>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3">
                <a:alphaModFix amt="0"/>
              </a:blip>
              <a:stretch>
                <a:fillRect l="0" t="-556902" r="0" b="-556904"/>
              </a:stretch>
            </a:blipFill>
          </p:spPr>
          <p:txBody>
            <a:bodyPr/>
            <a:p/>
          </p:txBody>
        </p:sp>
      </p:grpSp>
      <p:grpSp>
        <p:nvGrpSpPr>
          <p:cNvPr name="Group 6" id="6"/>
          <p:cNvGrpSpPr/>
          <p:nvPr/>
        </p:nvGrpSpPr>
        <p:grpSpPr>
          <a:xfrm rot="0">
            <a:off x="822960" y="9612630"/>
            <a:ext cx="13716000" cy="468630"/>
            <a:chOff x="0" y="0"/>
            <a:chExt cx="18288000" cy="624840"/>
          </a:xfrm>
        </p:grpSpPr>
        <p:sp>
          <p:nvSpPr>
            <p:cNvPr name="Freeform 7" id="7"/>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4">
                <a:alphaModFix amt="0"/>
              </a:blip>
              <a:stretch>
                <a:fillRect l="0" t="-519896" r="0" b="-519898"/>
              </a:stretch>
            </a:blipFill>
          </p:spPr>
          <p:txBody>
            <a:bodyPr/>
            <a:p/>
          </p:txBody>
        </p:sp>
      </p:grpSp>
      <p:grpSp>
        <p:nvGrpSpPr>
          <p:cNvPr name="Group 8" id="8"/>
          <p:cNvGrpSpPr/>
          <p:nvPr/>
        </p:nvGrpSpPr>
        <p:grpSpPr>
          <a:xfrm rot="0">
            <a:off x="822960" y="9584055"/>
            <a:ext cx="13716000" cy="497205"/>
            <a:chOff x="0" y="0"/>
            <a:chExt cx="18288000" cy="662940"/>
          </a:xfrm>
        </p:grpSpPr>
        <p:sp>
          <p:nvSpPr>
            <p:cNvPr name="Freeform 9" id="9"/>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5">
                <a:alphaModFix amt="0"/>
              </a:blip>
              <a:stretch>
                <a:fillRect l="0" t="-487518" r="0" b="-487518"/>
              </a:stretch>
            </a:blipFill>
          </p:spPr>
          <p:txBody>
            <a:bodyPr/>
            <a:p/>
          </p:txBody>
        </p:sp>
        <p:sp>
          <p:nvSpPr>
            <p:cNvPr name="TextBox 10" id="10"/>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
        <p:nvSpPr>
          <p:cNvPr name="TextBox 11" id="11"/>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TÓM TẮT</a:t>
            </a:r>
          </a:p>
        </p:txBody>
      </p:sp>
      <p:sp>
        <p:nvSpPr>
          <p:cNvPr name="TextBox 12" id="12"/>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Bốn kết quả chính — và bằng chứng</a:t>
            </a:r>
          </a:p>
        </p:txBody>
      </p:sp>
      <p:grpSp>
        <p:nvGrpSpPr>
          <p:cNvPr name="Group 13" id="13"/>
          <p:cNvGrpSpPr/>
          <p:nvPr/>
        </p:nvGrpSpPr>
        <p:grpSpPr>
          <a:xfrm rot="0">
            <a:off x="15458732" y="0"/>
            <a:ext cx="2829306" cy="1184338"/>
            <a:chOff x="0" y="0"/>
            <a:chExt cx="3772408" cy="1579118"/>
          </a:xfrm>
        </p:grpSpPr>
        <p:sp>
          <p:nvSpPr>
            <p:cNvPr name="Freeform 14" id="14"/>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6"/>
              <a:stretch>
                <a:fillRect l="0" t="0" r="0" b="0"/>
              </a:stretch>
            </a:blipFill>
          </p:spPr>
          <p:txBody>
            <a:bodyPr/>
            <a:p/>
          </p:txBody>
        </p:sp>
      </p:grpSp>
      <p:grpSp>
        <p:nvGrpSpPr>
          <p:cNvPr name="Group 15" id="15"/>
          <p:cNvGrpSpPr/>
          <p:nvPr/>
        </p:nvGrpSpPr>
        <p:grpSpPr>
          <a:xfrm rot="0">
            <a:off x="822960" y="1920240"/>
            <a:ext cx="4014216" cy="2697480"/>
            <a:chOff x="0" y="0"/>
            <a:chExt cx="5352288" cy="3596640"/>
          </a:xfrm>
        </p:grpSpPr>
        <p:sp>
          <p:nvSpPr>
            <p:cNvPr name="Freeform 16" id="16"/>
            <p:cNvSpPr/>
            <p:nvPr/>
          </p:nvSpPr>
          <p:spPr>
            <a:xfrm flipH="false" flipV="false" rot="0">
              <a:off x="0" y="0"/>
              <a:ext cx="5352288" cy="3596640"/>
            </a:xfrm>
            <a:custGeom>
              <a:avLst/>
              <a:gdLst/>
              <a:ahLst/>
              <a:cxnLst/>
              <a:rect r="r" b="b" t="t" l="l"/>
              <a:pathLst>
                <a:path h="3596640" w="5352288">
                  <a:moveTo>
                    <a:pt x="0" y="215773"/>
                  </a:moveTo>
                  <a:cubicBezTo>
                    <a:pt x="0" y="96647"/>
                    <a:pt x="96647" y="0"/>
                    <a:pt x="215773" y="0"/>
                  </a:cubicBezTo>
                  <a:lnTo>
                    <a:pt x="5136515" y="0"/>
                  </a:lnTo>
                  <a:cubicBezTo>
                    <a:pt x="5255641" y="0"/>
                    <a:pt x="5352288" y="96647"/>
                    <a:pt x="5352288" y="215773"/>
                  </a:cubicBezTo>
                  <a:lnTo>
                    <a:pt x="5352288" y="3380867"/>
                  </a:lnTo>
                  <a:cubicBezTo>
                    <a:pt x="5352288" y="3499993"/>
                    <a:pt x="5255641" y="3596640"/>
                    <a:pt x="5136515" y="3596640"/>
                  </a:cubicBezTo>
                  <a:lnTo>
                    <a:pt x="215773" y="3596640"/>
                  </a:lnTo>
                  <a:cubicBezTo>
                    <a:pt x="96647" y="3596640"/>
                    <a:pt x="0" y="3499993"/>
                    <a:pt x="0" y="3380867"/>
                  </a:cubicBezTo>
                  <a:close/>
                </a:path>
              </a:pathLst>
            </a:custGeom>
            <a:solidFill>
              <a:srgbClr val="E7F0F3"/>
            </a:solidFill>
          </p:spPr>
          <p:txBody>
            <a:bodyPr/>
            <a:p/>
          </p:txBody>
        </p:sp>
      </p:grpSp>
      <p:sp>
        <p:nvSpPr>
          <p:cNvPr name="TextBox 17" id="17"/>
          <p:cNvSpPr txBox="true"/>
          <p:nvPr/>
        </p:nvSpPr>
        <p:spPr>
          <a:xfrm rot="0">
            <a:off x="1097280" y="2045208"/>
            <a:ext cx="3557016" cy="396240"/>
          </a:xfrm>
          <a:prstGeom prst="rect">
            <a:avLst/>
          </a:prstGeom>
        </p:spPr>
        <p:txBody>
          <a:bodyPr anchor="t" rtlCol="false" tIns="0" lIns="0" bIns="0" rIns="0">
            <a:spAutoFit/>
          </a:bodyPr>
          <a:lstStyle/>
          <a:p>
            <a:pPr algn="l">
              <a:lnSpc>
                <a:spcPts val="1655"/>
              </a:lnSpc>
            </a:pPr>
            <a:r>
              <a:rPr lang="en-US" sz="1299" b="true">
                <a:solidFill>
                  <a:srgbClr val="1C7293"/>
                </a:solidFill>
                <a:latin typeface="Calibri (MS) Bold"/>
                <a:ea typeface="Calibri (MS) Bold"/>
                <a:cs typeface="Calibri (MS) Bold"/>
                <a:sym typeface="Calibri (MS) Bold"/>
              </a:rPr>
              <a:t>①  BASELINE CHẠY ĐÚNG</a:t>
            </a:r>
          </a:p>
        </p:txBody>
      </p:sp>
      <p:sp>
        <p:nvSpPr>
          <p:cNvPr name="TextBox 18" id="18"/>
          <p:cNvSpPr txBox="true"/>
          <p:nvPr/>
        </p:nvSpPr>
        <p:spPr>
          <a:xfrm rot="0">
            <a:off x="1097280" y="2392680"/>
            <a:ext cx="3557016" cy="899160"/>
          </a:xfrm>
          <a:prstGeom prst="rect">
            <a:avLst/>
          </a:prstGeom>
        </p:spPr>
        <p:txBody>
          <a:bodyPr anchor="t" rtlCol="false" tIns="0" lIns="0" bIns="0" rIns="0">
            <a:spAutoFit/>
          </a:bodyPr>
          <a:lstStyle/>
          <a:p>
            <a:pPr algn="l">
              <a:lnSpc>
                <a:spcPts val="5850"/>
              </a:lnSpc>
            </a:pPr>
            <a:r>
              <a:rPr lang="en-US" sz="4599" b="true">
                <a:solidFill>
                  <a:srgbClr val="1C7293"/>
                </a:solidFill>
                <a:latin typeface="Cambria Bold"/>
                <a:ea typeface="Cambria Bold"/>
                <a:cs typeface="Cambria Bold"/>
                <a:sym typeface="Cambria Bold"/>
              </a:rPr>
              <a:t>79,6</a:t>
            </a:r>
          </a:p>
        </p:txBody>
      </p:sp>
      <p:sp>
        <p:nvSpPr>
          <p:cNvPr name="TextBox 19" id="19"/>
          <p:cNvSpPr txBox="true"/>
          <p:nvPr/>
        </p:nvSpPr>
        <p:spPr>
          <a:xfrm rot="0">
            <a:off x="1097280" y="3196590"/>
            <a:ext cx="3557016" cy="1375410"/>
          </a:xfrm>
          <a:prstGeom prst="rect">
            <a:avLst/>
          </a:prstGeom>
        </p:spPr>
        <p:txBody>
          <a:bodyPr anchor="t" rtlCol="false" tIns="0" lIns="0" bIns="0" rIns="0">
            <a:spAutoFit/>
          </a:bodyPr>
          <a:lstStyle/>
          <a:p>
            <a:pPr algn="l">
              <a:lnSpc>
                <a:spcPts val="2160"/>
              </a:lnSpc>
            </a:pPr>
            <a:r>
              <a:rPr lang="en-US" sz="1700" b="true">
                <a:solidFill>
                  <a:srgbClr val="13294B"/>
                </a:solidFill>
                <a:latin typeface="Calibri (MS) Bold"/>
                <a:ea typeface="Calibri (MS) Bold"/>
                <a:cs typeface="Calibri (MS) Bold"/>
                <a:sym typeface="Calibri (MS) Bold"/>
              </a:rPr>
              <a:t>Tái lập Qwen2.5-VL-3B</a:t>
            </a:r>
          </a:p>
          <a:p>
            <a:pPr algn="l">
              <a:lnSpc>
                <a:spcPts val="1844"/>
              </a:lnSpc>
            </a:pPr>
            <a:r>
              <a:rPr lang="en-US" sz="1449">
                <a:solidFill>
                  <a:srgbClr val="243044"/>
                </a:solidFill>
                <a:latin typeface="Calibri (MS)"/>
                <a:ea typeface="Calibri (MS)"/>
                <a:cs typeface="Calibri (MS)"/>
                <a:sym typeface="Calibri (MS)"/>
              </a:rPr>
              <a:t>TextVQA val, 5.000 câu tiếng Anh. Báo cáo gốc 79,3 → chênh +0,3 (ngưỡng ±2)</a:t>
            </a:r>
          </a:p>
        </p:txBody>
      </p:sp>
      <p:grpSp>
        <p:nvGrpSpPr>
          <p:cNvPr name="Group 20" id="20"/>
          <p:cNvGrpSpPr/>
          <p:nvPr/>
        </p:nvGrpSpPr>
        <p:grpSpPr>
          <a:xfrm rot="0">
            <a:off x="5001768" y="1920240"/>
            <a:ext cx="4014216" cy="2697480"/>
            <a:chOff x="0" y="0"/>
            <a:chExt cx="5352288" cy="3596640"/>
          </a:xfrm>
        </p:grpSpPr>
        <p:sp>
          <p:nvSpPr>
            <p:cNvPr name="Freeform 21" id="21"/>
            <p:cNvSpPr/>
            <p:nvPr/>
          </p:nvSpPr>
          <p:spPr>
            <a:xfrm flipH="false" flipV="false" rot="0">
              <a:off x="0" y="0"/>
              <a:ext cx="5352288" cy="3596640"/>
            </a:xfrm>
            <a:custGeom>
              <a:avLst/>
              <a:gdLst/>
              <a:ahLst/>
              <a:cxnLst/>
              <a:rect r="r" b="b" t="t" l="l"/>
              <a:pathLst>
                <a:path h="3596640" w="5352288">
                  <a:moveTo>
                    <a:pt x="0" y="215773"/>
                  </a:moveTo>
                  <a:cubicBezTo>
                    <a:pt x="0" y="96647"/>
                    <a:pt x="96647" y="0"/>
                    <a:pt x="215773" y="0"/>
                  </a:cubicBezTo>
                  <a:lnTo>
                    <a:pt x="5136515" y="0"/>
                  </a:lnTo>
                  <a:cubicBezTo>
                    <a:pt x="5255641" y="0"/>
                    <a:pt x="5352288" y="96647"/>
                    <a:pt x="5352288" y="215773"/>
                  </a:cubicBezTo>
                  <a:lnTo>
                    <a:pt x="5352288" y="3380867"/>
                  </a:lnTo>
                  <a:cubicBezTo>
                    <a:pt x="5352288" y="3499993"/>
                    <a:pt x="5255641" y="3596640"/>
                    <a:pt x="5136515" y="3596640"/>
                  </a:cubicBezTo>
                  <a:lnTo>
                    <a:pt x="215773" y="3596640"/>
                  </a:lnTo>
                  <a:cubicBezTo>
                    <a:pt x="96647" y="3596640"/>
                    <a:pt x="0" y="3499993"/>
                    <a:pt x="0" y="3380867"/>
                  </a:cubicBezTo>
                  <a:close/>
                </a:path>
              </a:pathLst>
            </a:custGeom>
            <a:solidFill>
              <a:srgbClr val="F3F5F8"/>
            </a:solidFill>
          </p:spPr>
          <p:txBody>
            <a:bodyPr/>
            <a:p/>
          </p:txBody>
        </p:sp>
      </p:grpSp>
      <p:sp>
        <p:nvSpPr>
          <p:cNvPr name="TextBox 22" id="22"/>
          <p:cNvSpPr txBox="true"/>
          <p:nvPr/>
        </p:nvSpPr>
        <p:spPr>
          <a:xfrm rot="0">
            <a:off x="5276088" y="2045208"/>
            <a:ext cx="3557016" cy="396240"/>
          </a:xfrm>
          <a:prstGeom prst="rect">
            <a:avLst/>
          </a:prstGeom>
        </p:spPr>
        <p:txBody>
          <a:bodyPr anchor="t" rtlCol="false" tIns="0" lIns="0" bIns="0" rIns="0">
            <a:spAutoFit/>
          </a:bodyPr>
          <a:lstStyle/>
          <a:p>
            <a:pPr algn="l">
              <a:lnSpc>
                <a:spcPts val="1655"/>
              </a:lnSpc>
            </a:pPr>
            <a:r>
              <a:rPr lang="en-US" sz="1299" b="true">
                <a:solidFill>
                  <a:srgbClr val="1C7293"/>
                </a:solidFill>
                <a:latin typeface="Calibri (MS) Bold"/>
                <a:ea typeface="Calibri (MS) Bold"/>
                <a:cs typeface="Calibri (MS) Bold"/>
                <a:sym typeface="Calibri (MS) Bold"/>
              </a:rPr>
              <a:t>②  QLoRA SO VỚI ZERO-SHOT</a:t>
            </a:r>
          </a:p>
        </p:txBody>
      </p:sp>
      <p:sp>
        <p:nvSpPr>
          <p:cNvPr name="TextBox 23" id="23"/>
          <p:cNvSpPr txBox="true"/>
          <p:nvPr/>
        </p:nvSpPr>
        <p:spPr>
          <a:xfrm rot="0">
            <a:off x="5276088" y="2392680"/>
            <a:ext cx="3557016" cy="899160"/>
          </a:xfrm>
          <a:prstGeom prst="rect">
            <a:avLst/>
          </a:prstGeom>
        </p:spPr>
        <p:txBody>
          <a:bodyPr anchor="t" rtlCol="false" tIns="0" lIns="0" bIns="0" rIns="0">
            <a:spAutoFit/>
          </a:bodyPr>
          <a:lstStyle/>
          <a:p>
            <a:pPr algn="l">
              <a:lnSpc>
                <a:spcPts val="5850"/>
              </a:lnSpc>
            </a:pPr>
            <a:r>
              <a:rPr lang="en-US" sz="4599" b="true">
                <a:solidFill>
                  <a:srgbClr val="1C7293"/>
                </a:solidFill>
                <a:latin typeface="Cambria Bold"/>
                <a:ea typeface="Cambria Bold"/>
                <a:cs typeface="Cambria Bold"/>
                <a:sym typeface="Cambria Bold"/>
              </a:rPr>
              <a:t>+21,1</a:t>
            </a:r>
          </a:p>
        </p:txBody>
      </p:sp>
      <p:sp>
        <p:nvSpPr>
          <p:cNvPr name="TextBox 24" id="24"/>
          <p:cNvSpPr txBox="true"/>
          <p:nvPr/>
        </p:nvSpPr>
        <p:spPr>
          <a:xfrm rot="0">
            <a:off x="5276088" y="3196590"/>
            <a:ext cx="3557016" cy="1375410"/>
          </a:xfrm>
          <a:prstGeom prst="rect">
            <a:avLst/>
          </a:prstGeom>
        </p:spPr>
        <p:txBody>
          <a:bodyPr anchor="t" rtlCol="false" tIns="0" lIns="0" bIns="0" rIns="0">
            <a:spAutoFit/>
          </a:bodyPr>
          <a:lstStyle/>
          <a:p>
            <a:pPr algn="l">
              <a:lnSpc>
                <a:spcPts val="2160"/>
              </a:lnSpc>
            </a:pPr>
            <a:r>
              <a:rPr lang="en-US" sz="1700" b="true">
                <a:solidFill>
                  <a:srgbClr val="13294B"/>
                </a:solidFill>
                <a:latin typeface="Calibri (MS) Bold"/>
                <a:ea typeface="Calibri (MS) Bold"/>
                <a:cs typeface="Calibri (MS) Bold"/>
                <a:sym typeface="Calibri (MS) Bold"/>
              </a:rPr>
              <a:t>ViTextVQA: 29,1 → 50,3 EM</a:t>
            </a:r>
          </a:p>
          <a:p>
            <a:pPr algn="l">
              <a:lnSpc>
                <a:spcPts val="1844"/>
              </a:lnSpc>
            </a:pPr>
            <a:r>
              <a:rPr lang="en-US" sz="1449">
                <a:solidFill>
                  <a:srgbClr val="243044"/>
                </a:solidFill>
                <a:latin typeface="Calibri (MS)"/>
                <a:ea typeface="Calibri (MS)"/>
                <a:cs typeface="Calibri (MS)"/>
                <a:sym typeface="Calibri (MS)"/>
              </a:rPr>
              <a:t>ViVQA: 22,1 → 73,8 EM (+51,7). Cùng model, chỉ thêm adapter 0,196% tham số</a:t>
            </a:r>
          </a:p>
        </p:txBody>
      </p:sp>
      <p:grpSp>
        <p:nvGrpSpPr>
          <p:cNvPr name="Group 25" id="25"/>
          <p:cNvGrpSpPr/>
          <p:nvPr/>
        </p:nvGrpSpPr>
        <p:grpSpPr>
          <a:xfrm rot="0">
            <a:off x="9180576" y="1920240"/>
            <a:ext cx="4014216" cy="2697480"/>
            <a:chOff x="0" y="0"/>
            <a:chExt cx="5352288" cy="3596640"/>
          </a:xfrm>
        </p:grpSpPr>
        <p:sp>
          <p:nvSpPr>
            <p:cNvPr name="Freeform 26" id="26"/>
            <p:cNvSpPr/>
            <p:nvPr/>
          </p:nvSpPr>
          <p:spPr>
            <a:xfrm flipH="false" flipV="false" rot="0">
              <a:off x="0" y="0"/>
              <a:ext cx="5352288" cy="3596640"/>
            </a:xfrm>
            <a:custGeom>
              <a:avLst/>
              <a:gdLst/>
              <a:ahLst/>
              <a:cxnLst/>
              <a:rect r="r" b="b" t="t" l="l"/>
              <a:pathLst>
                <a:path h="3596640" w="5352288">
                  <a:moveTo>
                    <a:pt x="0" y="215773"/>
                  </a:moveTo>
                  <a:cubicBezTo>
                    <a:pt x="0" y="96647"/>
                    <a:pt x="96647" y="0"/>
                    <a:pt x="215773" y="0"/>
                  </a:cubicBezTo>
                  <a:lnTo>
                    <a:pt x="5136515" y="0"/>
                  </a:lnTo>
                  <a:cubicBezTo>
                    <a:pt x="5255641" y="0"/>
                    <a:pt x="5352288" y="96647"/>
                    <a:pt x="5352288" y="215773"/>
                  </a:cubicBezTo>
                  <a:lnTo>
                    <a:pt x="5352288" y="3380867"/>
                  </a:lnTo>
                  <a:cubicBezTo>
                    <a:pt x="5352288" y="3499993"/>
                    <a:pt x="5255641" y="3596640"/>
                    <a:pt x="5136515" y="3596640"/>
                  </a:cubicBezTo>
                  <a:lnTo>
                    <a:pt x="215773" y="3596640"/>
                  </a:lnTo>
                  <a:cubicBezTo>
                    <a:pt x="96647" y="3596640"/>
                    <a:pt x="0" y="3499993"/>
                    <a:pt x="0" y="3380867"/>
                  </a:cubicBezTo>
                  <a:close/>
                </a:path>
              </a:pathLst>
            </a:custGeom>
            <a:solidFill>
              <a:srgbClr val="FBF0DA"/>
            </a:solidFill>
          </p:spPr>
          <p:txBody>
            <a:bodyPr/>
            <a:p/>
          </p:txBody>
        </p:sp>
      </p:grpSp>
      <p:sp>
        <p:nvSpPr>
          <p:cNvPr name="TextBox 27" id="27"/>
          <p:cNvSpPr txBox="true"/>
          <p:nvPr/>
        </p:nvSpPr>
        <p:spPr>
          <a:xfrm rot="0">
            <a:off x="9454896" y="2045208"/>
            <a:ext cx="3557016" cy="396240"/>
          </a:xfrm>
          <a:prstGeom prst="rect">
            <a:avLst/>
          </a:prstGeom>
        </p:spPr>
        <p:txBody>
          <a:bodyPr anchor="t" rtlCol="false" tIns="0" lIns="0" bIns="0" rIns="0">
            <a:spAutoFit/>
          </a:bodyPr>
          <a:lstStyle/>
          <a:p>
            <a:pPr algn="l">
              <a:lnSpc>
                <a:spcPts val="1655"/>
              </a:lnSpc>
            </a:pPr>
            <a:r>
              <a:rPr lang="en-US" sz="1299" b="true">
                <a:solidFill>
                  <a:srgbClr val="B86E0E"/>
                </a:solidFill>
                <a:latin typeface="Calibri (MS) Bold"/>
                <a:ea typeface="Calibri (MS) Bold"/>
                <a:cs typeface="Calibri (MS) Bold"/>
                <a:sym typeface="Calibri (MS) Bold"/>
              </a:rPr>
              <a:t>③  THÊM OCR · CHỈ ViTextVQA</a:t>
            </a:r>
          </a:p>
        </p:txBody>
      </p:sp>
      <p:sp>
        <p:nvSpPr>
          <p:cNvPr name="TextBox 28" id="28"/>
          <p:cNvSpPr txBox="true"/>
          <p:nvPr/>
        </p:nvSpPr>
        <p:spPr>
          <a:xfrm rot="0">
            <a:off x="9454896" y="2392680"/>
            <a:ext cx="3557016" cy="899160"/>
          </a:xfrm>
          <a:prstGeom prst="rect">
            <a:avLst/>
          </a:prstGeom>
        </p:spPr>
        <p:txBody>
          <a:bodyPr anchor="t" rtlCol="false" tIns="0" lIns="0" bIns="0" rIns="0">
            <a:spAutoFit/>
          </a:bodyPr>
          <a:lstStyle/>
          <a:p>
            <a:pPr algn="l">
              <a:lnSpc>
                <a:spcPts val="5850"/>
              </a:lnSpc>
            </a:pPr>
            <a:r>
              <a:rPr lang="en-US" sz="4599" b="true">
                <a:solidFill>
                  <a:srgbClr val="B86E0E"/>
                </a:solidFill>
                <a:latin typeface="Cambria Bold"/>
                <a:ea typeface="Cambria Bold"/>
                <a:cs typeface="Cambria Bold"/>
                <a:sym typeface="Cambria Bold"/>
              </a:rPr>
              <a:t>+3,1</a:t>
            </a:r>
          </a:p>
        </p:txBody>
      </p:sp>
      <p:sp>
        <p:nvSpPr>
          <p:cNvPr name="TextBox 29" id="29"/>
          <p:cNvSpPr txBox="true"/>
          <p:nvPr/>
        </p:nvSpPr>
        <p:spPr>
          <a:xfrm rot="0">
            <a:off x="9454896" y="3196590"/>
            <a:ext cx="3557016" cy="1375410"/>
          </a:xfrm>
          <a:prstGeom prst="rect">
            <a:avLst/>
          </a:prstGeom>
        </p:spPr>
        <p:txBody>
          <a:bodyPr anchor="t" rtlCol="false" tIns="0" lIns="0" bIns="0" rIns="0">
            <a:spAutoFit/>
          </a:bodyPr>
          <a:lstStyle/>
          <a:p>
            <a:pPr algn="l">
              <a:lnSpc>
                <a:spcPts val="2160"/>
              </a:lnSpc>
            </a:pPr>
            <a:r>
              <a:rPr lang="en-US" sz="1700" b="true">
                <a:solidFill>
                  <a:srgbClr val="13294B"/>
                </a:solidFill>
                <a:latin typeface="Calibri (MS) Bold"/>
                <a:ea typeface="Calibri (MS) Bold"/>
                <a:cs typeface="Calibri (MS) Bold"/>
                <a:sym typeface="Calibri (MS) Bold"/>
              </a:rPr>
              <a:t>B2 50,3 → B3-full 53,4 EM</a:t>
            </a:r>
          </a:p>
          <a:p>
            <a:pPr algn="l">
              <a:lnSpc>
                <a:spcPts val="1844"/>
              </a:lnSpc>
            </a:pPr>
            <a:r>
              <a:rPr lang="en-US" sz="1449">
                <a:solidFill>
                  <a:srgbClr val="243044"/>
                </a:solidFill>
                <a:latin typeface="Calibri (MS)"/>
                <a:ea typeface="Calibri (MS)"/>
                <a:cs typeface="Calibri (MS)"/>
                <a:sym typeface="Calibri (MS)"/>
              </a:rPr>
              <a:t>Cùng QLoRA, cùng toàn bộ dữ liệu. 705 câu sửa đúng / 395 câu làm sai, p = 7×10⁻²¹</a:t>
            </a:r>
          </a:p>
        </p:txBody>
      </p:sp>
      <p:grpSp>
        <p:nvGrpSpPr>
          <p:cNvPr name="Group 30" id="30"/>
          <p:cNvGrpSpPr/>
          <p:nvPr/>
        </p:nvGrpSpPr>
        <p:grpSpPr>
          <a:xfrm rot="0">
            <a:off x="13359384" y="1920240"/>
            <a:ext cx="4014216" cy="2697480"/>
            <a:chOff x="0" y="0"/>
            <a:chExt cx="5352288" cy="3596640"/>
          </a:xfrm>
        </p:grpSpPr>
        <p:sp>
          <p:nvSpPr>
            <p:cNvPr name="Freeform 31" id="31"/>
            <p:cNvSpPr/>
            <p:nvPr/>
          </p:nvSpPr>
          <p:spPr>
            <a:xfrm flipH="false" flipV="false" rot="0">
              <a:off x="0" y="0"/>
              <a:ext cx="5352288" cy="3596640"/>
            </a:xfrm>
            <a:custGeom>
              <a:avLst/>
              <a:gdLst/>
              <a:ahLst/>
              <a:cxnLst/>
              <a:rect r="r" b="b" t="t" l="l"/>
              <a:pathLst>
                <a:path h="3596640" w="5352288">
                  <a:moveTo>
                    <a:pt x="0" y="215773"/>
                  </a:moveTo>
                  <a:cubicBezTo>
                    <a:pt x="0" y="96647"/>
                    <a:pt x="96647" y="0"/>
                    <a:pt x="215773" y="0"/>
                  </a:cubicBezTo>
                  <a:lnTo>
                    <a:pt x="5136515" y="0"/>
                  </a:lnTo>
                  <a:cubicBezTo>
                    <a:pt x="5255641" y="0"/>
                    <a:pt x="5352288" y="96647"/>
                    <a:pt x="5352288" y="215773"/>
                  </a:cubicBezTo>
                  <a:lnTo>
                    <a:pt x="5352288" y="3380867"/>
                  </a:lnTo>
                  <a:cubicBezTo>
                    <a:pt x="5352288" y="3499993"/>
                    <a:pt x="5255641" y="3596640"/>
                    <a:pt x="5136515" y="3596640"/>
                  </a:cubicBezTo>
                  <a:lnTo>
                    <a:pt x="215773" y="3596640"/>
                  </a:lnTo>
                  <a:cubicBezTo>
                    <a:pt x="96647" y="3596640"/>
                    <a:pt x="0" y="3499993"/>
                    <a:pt x="0" y="3380867"/>
                  </a:cubicBezTo>
                  <a:close/>
                </a:path>
              </a:pathLst>
            </a:custGeom>
            <a:solidFill>
              <a:srgbClr val="F3F5F8"/>
            </a:solidFill>
          </p:spPr>
          <p:txBody>
            <a:bodyPr/>
            <a:p/>
          </p:txBody>
        </p:sp>
      </p:grpSp>
      <p:sp>
        <p:nvSpPr>
          <p:cNvPr name="TextBox 32" id="32"/>
          <p:cNvSpPr txBox="true"/>
          <p:nvPr/>
        </p:nvSpPr>
        <p:spPr>
          <a:xfrm rot="0">
            <a:off x="13633704" y="2045208"/>
            <a:ext cx="3557016" cy="396240"/>
          </a:xfrm>
          <a:prstGeom prst="rect">
            <a:avLst/>
          </a:prstGeom>
        </p:spPr>
        <p:txBody>
          <a:bodyPr anchor="t" rtlCol="false" tIns="0" lIns="0" bIns="0" rIns="0">
            <a:spAutoFit/>
          </a:bodyPr>
          <a:lstStyle/>
          <a:p>
            <a:pPr algn="l">
              <a:lnSpc>
                <a:spcPts val="1655"/>
              </a:lnSpc>
            </a:pPr>
            <a:r>
              <a:rPr lang="en-US" sz="1299" b="true">
                <a:solidFill>
                  <a:srgbClr val="13294B"/>
                </a:solidFill>
                <a:latin typeface="Calibri (MS) Bold"/>
                <a:ea typeface="Calibri (MS) Bold"/>
                <a:cs typeface="Calibri (MS) Bold"/>
                <a:sym typeface="Calibri (MS) Bold"/>
              </a:rPr>
              <a:t>④  SO VỚI SOTA CÔNG BỐ</a:t>
            </a:r>
          </a:p>
        </p:txBody>
      </p:sp>
      <p:sp>
        <p:nvSpPr>
          <p:cNvPr name="TextBox 33" id="33"/>
          <p:cNvSpPr txBox="true"/>
          <p:nvPr/>
        </p:nvSpPr>
        <p:spPr>
          <a:xfrm rot="0">
            <a:off x="13633704" y="2392680"/>
            <a:ext cx="3557016" cy="899160"/>
          </a:xfrm>
          <a:prstGeom prst="rect">
            <a:avLst/>
          </a:prstGeom>
        </p:spPr>
        <p:txBody>
          <a:bodyPr anchor="t" rtlCol="false" tIns="0" lIns="0" bIns="0" rIns="0">
            <a:spAutoFit/>
          </a:bodyPr>
          <a:lstStyle/>
          <a:p>
            <a:pPr algn="l">
              <a:lnSpc>
                <a:spcPts val="5850"/>
              </a:lnSpc>
            </a:pPr>
            <a:r>
              <a:rPr lang="en-US" sz="4599" b="true">
                <a:solidFill>
                  <a:srgbClr val="13294B"/>
                </a:solidFill>
                <a:latin typeface="Cambria Bold"/>
                <a:ea typeface="Cambria Bold"/>
                <a:cs typeface="Cambria Bold"/>
                <a:sym typeface="Cambria Bold"/>
              </a:rPr>
              <a:t>53,4</a:t>
            </a:r>
          </a:p>
        </p:txBody>
      </p:sp>
      <p:sp>
        <p:nvSpPr>
          <p:cNvPr name="TextBox 34" id="34"/>
          <p:cNvSpPr txBox="true"/>
          <p:nvPr/>
        </p:nvSpPr>
        <p:spPr>
          <a:xfrm rot="0">
            <a:off x="13633704" y="3196590"/>
            <a:ext cx="3557016" cy="1375410"/>
          </a:xfrm>
          <a:prstGeom prst="rect">
            <a:avLst/>
          </a:prstGeom>
        </p:spPr>
        <p:txBody>
          <a:bodyPr anchor="t" rtlCol="false" tIns="0" lIns="0" bIns="0" rIns="0">
            <a:spAutoFit/>
          </a:bodyPr>
          <a:lstStyle/>
          <a:p>
            <a:pPr algn="l">
              <a:lnSpc>
                <a:spcPts val="2160"/>
              </a:lnSpc>
            </a:pPr>
            <a:r>
              <a:rPr lang="en-US" sz="1700" b="true">
                <a:solidFill>
                  <a:srgbClr val="13294B"/>
                </a:solidFill>
                <a:latin typeface="Calibri (MS) Bold"/>
                <a:ea typeface="Calibri (MS) Bold"/>
                <a:cs typeface="Calibri (MS) Bold"/>
                <a:sym typeface="Calibri (MS) Bold"/>
              </a:rPr>
              <a:t>B3-full so với ViTextBLIP-2 25,5</a:t>
            </a:r>
          </a:p>
          <a:p>
            <a:pPr algn="l">
              <a:lnSpc>
                <a:spcPts val="1844"/>
              </a:lnSpc>
            </a:pPr>
            <a:r>
              <a:rPr lang="en-US" sz="1449">
                <a:solidFill>
                  <a:srgbClr val="243044"/>
                </a:solidFill>
                <a:latin typeface="Calibri (MS)"/>
                <a:ea typeface="Calibri (MS)"/>
                <a:cs typeface="Calibri (MS)"/>
                <a:sym typeface="Calibri (MS)"/>
              </a:rPr>
              <a:t>Full test ViTextVQA 10.028 câu. F1 73,7 so với 54,0 của SOTA</a:t>
            </a:r>
          </a:p>
        </p:txBody>
      </p:sp>
      <p:grpSp>
        <p:nvGrpSpPr>
          <p:cNvPr name="Group 35" id="35"/>
          <p:cNvGrpSpPr/>
          <p:nvPr/>
        </p:nvGrpSpPr>
        <p:grpSpPr>
          <a:xfrm rot="0">
            <a:off x="822960" y="4800600"/>
            <a:ext cx="6800088" cy="4434840"/>
            <a:chOff x="0" y="0"/>
            <a:chExt cx="9066784" cy="5913120"/>
          </a:xfrm>
        </p:grpSpPr>
        <p:sp>
          <p:nvSpPr>
            <p:cNvPr name="Freeform 36" id="36" descr="ev16_ladder.png"/>
            <p:cNvSpPr/>
            <p:nvPr/>
          </p:nvSpPr>
          <p:spPr>
            <a:xfrm flipH="false" flipV="false" rot="0">
              <a:off x="0" y="0"/>
              <a:ext cx="9066784" cy="5913120"/>
            </a:xfrm>
            <a:custGeom>
              <a:avLst/>
              <a:gdLst/>
              <a:ahLst/>
              <a:cxnLst/>
              <a:rect r="r" b="b" t="t" l="l"/>
              <a:pathLst>
                <a:path h="5913120" w="9066784">
                  <a:moveTo>
                    <a:pt x="0" y="0"/>
                  </a:moveTo>
                  <a:lnTo>
                    <a:pt x="9066784" y="0"/>
                  </a:lnTo>
                  <a:lnTo>
                    <a:pt x="9066784" y="5913120"/>
                  </a:lnTo>
                  <a:lnTo>
                    <a:pt x="0" y="5913120"/>
                  </a:lnTo>
                  <a:lnTo>
                    <a:pt x="0" y="0"/>
                  </a:lnTo>
                  <a:close/>
                </a:path>
              </a:pathLst>
            </a:custGeom>
            <a:blipFill>
              <a:blip r:embed="rId7"/>
              <a:stretch>
                <a:fillRect l="0" t="0" r="0" b="0"/>
              </a:stretch>
            </a:blipFill>
          </p:spPr>
          <p:txBody>
            <a:bodyPr/>
            <a:p/>
          </p:txBody>
        </p:sp>
      </p:grpSp>
      <p:grpSp>
        <p:nvGrpSpPr>
          <p:cNvPr name="Group 37" id="37"/>
          <p:cNvGrpSpPr/>
          <p:nvPr/>
        </p:nvGrpSpPr>
        <p:grpSpPr>
          <a:xfrm rot="0">
            <a:off x="7900416" y="4800600"/>
            <a:ext cx="9564624" cy="3676145"/>
            <a:chOff x="0" y="0"/>
            <a:chExt cx="12752832" cy="4901527"/>
          </a:xfrm>
        </p:grpSpPr>
        <p:sp>
          <p:nvSpPr>
            <p:cNvPr name="Freeform 38" id="38" descr="cell15.png"/>
            <p:cNvSpPr/>
            <p:nvPr/>
          </p:nvSpPr>
          <p:spPr>
            <a:xfrm flipH="false" flipV="false" rot="0">
              <a:off x="0" y="0"/>
              <a:ext cx="12752832" cy="4901565"/>
            </a:xfrm>
            <a:custGeom>
              <a:avLst/>
              <a:gdLst/>
              <a:ahLst/>
              <a:cxnLst/>
              <a:rect r="r" b="b" t="t" l="l"/>
              <a:pathLst>
                <a:path h="4901565" w="12752832">
                  <a:moveTo>
                    <a:pt x="0" y="0"/>
                  </a:moveTo>
                  <a:lnTo>
                    <a:pt x="12752832" y="0"/>
                  </a:lnTo>
                  <a:lnTo>
                    <a:pt x="12752832" y="4901565"/>
                  </a:lnTo>
                  <a:lnTo>
                    <a:pt x="0" y="4901565"/>
                  </a:lnTo>
                  <a:lnTo>
                    <a:pt x="0" y="0"/>
                  </a:lnTo>
                  <a:close/>
                </a:path>
              </a:pathLst>
            </a:custGeom>
            <a:blipFill>
              <a:blip r:embed="rId8"/>
              <a:stretch>
                <a:fillRect l="0" t="0" r="0" b="0"/>
              </a:stretch>
            </a:blipFill>
          </p:spPr>
          <p:txBody>
            <a:bodyPr/>
            <a:p/>
          </p:txBody>
        </p:sp>
      </p:grpSp>
      <p:sp>
        <p:nvSpPr>
          <p:cNvPr name="TextBox 39" id="39"/>
          <p:cNvSpPr txBox="true"/>
          <p:nvPr/>
        </p:nvSpPr>
        <p:spPr>
          <a:xfrm rot="0">
            <a:off x="7900416" y="8538848"/>
            <a:ext cx="9564624" cy="720166"/>
          </a:xfrm>
          <a:prstGeom prst="rect">
            <a:avLst/>
          </a:prstGeom>
        </p:spPr>
        <p:txBody>
          <a:bodyPr anchor="t" rtlCol="false" tIns="0" lIns="0" bIns="0" rIns="0">
            <a:spAutoFit/>
          </a:bodyPr>
          <a:lstStyle/>
          <a:p>
            <a:pPr algn="l">
              <a:lnSpc>
                <a:spcPts val="1844"/>
              </a:lnSpc>
            </a:pPr>
            <a:r>
              <a:rPr lang="en-US" sz="1449" b="true">
                <a:solidFill>
                  <a:srgbClr val="B86E0E"/>
                </a:solidFill>
                <a:latin typeface="Calibri (MS) Bold"/>
                <a:ea typeface="Calibri (MS) Bold"/>
                <a:cs typeface="Calibri (MS) Bold"/>
                <a:sym typeface="Calibri (MS) Bold"/>
              </a:rPr>
              <a:t>Số đã công bố: </a:t>
            </a:r>
            <a:r>
              <a:rPr lang="en-US" sz="1449" u="sng">
                <a:solidFill>
                  <a:srgbClr val="0000FF"/>
                </a:solidFill>
                <a:latin typeface="Calibri (MS)"/>
                <a:ea typeface="Calibri (MS)"/>
                <a:cs typeface="Calibri (MS)"/>
                <a:sym typeface="Calibri (MS)"/>
                <a:hlinkClick r:id="rId9" tooltip="https://arxiv.org/abs/2502.13923"/>
              </a:rPr>
              <a:t>79,3 — Qwen2.5-VL Technical Report, Table 5 ↗</a:t>
            </a:r>
            <a:r>
              <a:rPr lang="en-US" sz="1449">
                <a:solidFill>
                  <a:srgbClr val="5B677A"/>
                </a:solidFill>
                <a:latin typeface="Calibri (MS)"/>
                <a:ea typeface="Calibri (MS)"/>
                <a:cs typeface="Calibri (MS)"/>
                <a:sym typeface="Calibri (MS)"/>
              </a:rPr>
              <a:t>  ·  </a:t>
            </a:r>
            <a:r>
              <a:rPr lang="en-US" sz="1449" u="sng">
                <a:solidFill>
                  <a:srgbClr val="0000FF"/>
                </a:solidFill>
                <a:latin typeface="Calibri (MS)"/>
                <a:ea typeface="Calibri (MS)"/>
                <a:cs typeface="Calibri (MS)"/>
                <a:sym typeface="Calibri (MS)"/>
                <a:hlinkClick r:id="rId10" tooltip="https://arxiv.org/abs/2404.10652"/>
              </a:rPr>
              <a:t>25,48 EM / 53,95 F1 — ViTextVQA (Nguyen et al., 2024), Table 6 ↗</a:t>
            </a:r>
          </a:p>
          <a:p>
            <a:pPr algn="l">
              <a:lnSpc>
                <a:spcPts val="1844"/>
              </a:lnSpc>
            </a:pPr>
            <a:r>
              <a:rPr lang="en-US" sz="1449">
                <a:solidFill>
                  <a:srgbClr val="5B677A"/>
                </a:solidFill>
                <a:latin typeface="Calibri (MS)"/>
                <a:ea typeface="Calibri (MS)"/>
                <a:cs typeface="Calibri (MS)"/>
                <a:sym typeface="Calibri (MS)"/>
              </a:rPr>
              <a:t>Paper SOTA không công bố cách chuẩn hoá đáp án → so cả F1 (73,7 so với 54,0).</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EXISTING SYSTEM · 01 · KIẾN TRÚC BASELINE</a:t>
            </a:r>
          </a:p>
        </p:txBody>
      </p:sp>
      <p:sp>
        <p:nvSpPr>
          <p:cNvPr name="TextBox 3" id="3"/>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Baseline: Qwen2.5-VL-3B-Instruct</a:t>
            </a:r>
          </a:p>
        </p:txBody>
      </p:sp>
      <p:grpSp>
        <p:nvGrpSpPr>
          <p:cNvPr name="Group 4" id="4"/>
          <p:cNvGrpSpPr/>
          <p:nvPr/>
        </p:nvGrpSpPr>
        <p:grpSpPr>
          <a:xfrm rot="0">
            <a:off x="822960" y="1988820"/>
            <a:ext cx="11384280" cy="6492907"/>
            <a:chOff x="0" y="0"/>
            <a:chExt cx="15179040" cy="8657209"/>
          </a:xfrm>
        </p:grpSpPr>
        <p:sp>
          <p:nvSpPr>
            <p:cNvPr name="Freeform 5" id="5" descr="a7"/>
            <p:cNvSpPr/>
            <p:nvPr/>
          </p:nvSpPr>
          <p:spPr>
            <a:xfrm flipH="false" flipV="false" rot="0">
              <a:off x="0" y="0"/>
              <a:ext cx="15179039" cy="8657209"/>
            </a:xfrm>
            <a:custGeom>
              <a:avLst/>
              <a:gdLst/>
              <a:ahLst/>
              <a:cxnLst/>
              <a:rect r="r" b="b" t="t" l="l"/>
              <a:pathLst>
                <a:path h="8657209" w="15179039">
                  <a:moveTo>
                    <a:pt x="0" y="0"/>
                  </a:moveTo>
                  <a:lnTo>
                    <a:pt x="15179039" y="0"/>
                  </a:lnTo>
                  <a:lnTo>
                    <a:pt x="15179039" y="8657209"/>
                  </a:lnTo>
                  <a:lnTo>
                    <a:pt x="0" y="8657209"/>
                  </a:lnTo>
                  <a:lnTo>
                    <a:pt x="0" y="0"/>
                  </a:lnTo>
                  <a:close/>
                </a:path>
              </a:pathLst>
            </a:custGeom>
            <a:blipFill>
              <a:blip r:embed="rId2"/>
              <a:stretch>
                <a:fillRect l="-6" t="0" r="-6" b="0"/>
              </a:stretch>
            </a:blipFill>
          </p:spPr>
          <p:txBody>
            <a:bodyPr/>
            <a:p/>
          </p:txBody>
        </p:sp>
      </p:grpSp>
      <p:sp>
        <p:nvSpPr>
          <p:cNvPr name="Freeform 6" id="6"/>
          <p:cNvSpPr/>
          <p:nvPr/>
        </p:nvSpPr>
        <p:spPr>
          <a:xfrm flipH="false" flipV="false" rot="0">
            <a:off x="12739211" y="1972151"/>
            <a:ext cx="4742116" cy="2570797"/>
          </a:xfrm>
          <a:custGeom>
            <a:avLst/>
            <a:gdLst/>
            <a:ahLst/>
            <a:cxnLst/>
            <a:rect r="r" b="b" t="t" l="l"/>
            <a:pathLst>
              <a:path h="2570797" w="4742116">
                <a:moveTo>
                  <a:pt x="0" y="0"/>
                </a:moveTo>
                <a:lnTo>
                  <a:pt x="4742117" y="0"/>
                </a:lnTo>
                <a:lnTo>
                  <a:pt x="4742117" y="2570798"/>
                </a:lnTo>
                <a:lnTo>
                  <a:pt x="0" y="2570798"/>
                </a:lnTo>
                <a:lnTo>
                  <a:pt x="0" y="0"/>
                </a:lnTo>
                <a:close/>
              </a:path>
            </a:pathLst>
          </a:custGeom>
          <a:blipFill>
            <a:blip r:embed="rId3">
              <a:extLst>
                <a:ext uri="{96DAC541-7B7A-43D3-8B79-37D633B846F1}">
                  <asvg:svgBlip xmlns:asvg="http://schemas.microsoft.com/office/drawing/2016/SVG/main" r:embed="rId4"/>
                </a:ext>
              </a:extLst>
            </a:blip>
            <a:stretch>
              <a:fillRect l="0" t="-4" r="0" b="-4"/>
            </a:stretch>
          </a:blipFill>
        </p:spPr>
        <p:txBody>
          <a:bodyPr/>
          <a:p/>
        </p:txBody>
      </p:sp>
      <p:sp>
        <p:nvSpPr>
          <p:cNvPr name="TextBox 7" id="7"/>
          <p:cNvSpPr txBox="true"/>
          <p:nvPr/>
        </p:nvSpPr>
        <p:spPr>
          <a:xfrm rot="0">
            <a:off x="13098780" y="1973580"/>
            <a:ext cx="4022903"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Được train (QLoRA)</a:t>
            </a:r>
          </a:p>
        </p:txBody>
      </p:sp>
      <p:sp>
        <p:nvSpPr>
          <p:cNvPr name="TextBox 8" id="8"/>
          <p:cNvSpPr txBox="true"/>
          <p:nvPr/>
        </p:nvSpPr>
        <p:spPr>
          <a:xfrm rot="0">
            <a:off x="13098780" y="2522220"/>
            <a:ext cx="4022903" cy="1935480"/>
          </a:xfrm>
          <a:prstGeom prst="rect">
            <a:avLst/>
          </a:prstGeom>
        </p:spPr>
        <p:txBody>
          <a:bodyPr anchor="t" rtlCol="false" tIns="0" lIns="0" bIns="0" rIns="0">
            <a:spAutoFit/>
          </a:bodyPr>
          <a:lstStyle/>
          <a:p>
            <a:pPr algn="l" marL="570229" indent="-114046" lvl="4">
              <a:lnSpc>
                <a:spcPts val="2160"/>
              </a:lnSpc>
              <a:buFont typeface="Arial"/>
              <a:buChar char="•"/>
            </a:pPr>
            <a:r>
              <a:rPr lang="en-US" sz="1800">
                <a:solidFill>
                  <a:srgbClr val="243044"/>
                </a:solidFill>
                <a:latin typeface="Calibri (MS)"/>
                <a:ea typeface="Calibri (MS)"/>
                <a:cs typeface="Calibri (MS)"/>
                <a:sym typeface="Calibri (MS)"/>
              </a:rPr>
              <a:t>LoRA r = 16, α = 32 trên q, k, v, o</a:t>
            </a:r>
          </a:p>
          <a:p>
            <a:pPr algn="l" marL="570229" indent="-114046" lvl="4">
              <a:lnSpc>
                <a:spcPts val="2160"/>
              </a:lnSpc>
              <a:buFont typeface="Arial"/>
              <a:buChar char="•"/>
            </a:pPr>
            <a:r>
              <a:rPr lang="en-US" sz="1800">
                <a:solidFill>
                  <a:srgbClr val="243044"/>
                </a:solidFill>
                <a:latin typeface="Calibri (MS)"/>
                <a:ea typeface="Calibri (MS)"/>
                <a:cs typeface="Calibri (MS)"/>
                <a:sym typeface="Calibri (MS)"/>
              </a:rPr>
              <a:t>7.372.800 tham số = 0,196% · 29,5 MB</a:t>
            </a:r>
          </a:p>
          <a:p>
            <a:pPr algn="l" marL="570229" indent="-114046" lvl="4">
              <a:lnSpc>
                <a:spcPts val="2160"/>
              </a:lnSpc>
              <a:buFont typeface="Arial"/>
              <a:buChar char="•"/>
            </a:pPr>
            <a:r>
              <a:rPr lang="en-US" sz="1800">
                <a:solidFill>
                  <a:srgbClr val="243044"/>
                </a:solidFill>
                <a:latin typeface="Calibri (MS)"/>
                <a:ea typeface="Calibri (MS)"/>
                <a:cs typeface="Calibri (MS)"/>
                <a:sym typeface="Calibri (MS)"/>
              </a:rPr>
              <a:t>Còn lại đóng băng, LLM 4-bit NF4</a:t>
            </a:r>
          </a:p>
        </p:txBody>
      </p:sp>
      <p:sp>
        <p:nvSpPr>
          <p:cNvPr name="Freeform 9" id="9"/>
          <p:cNvSpPr/>
          <p:nvPr/>
        </p:nvSpPr>
        <p:spPr>
          <a:xfrm flipH="false" flipV="false" rot="0">
            <a:off x="12739211" y="4715351"/>
            <a:ext cx="4742021" cy="4696778"/>
          </a:xfrm>
          <a:custGeom>
            <a:avLst/>
            <a:gdLst/>
            <a:ahLst/>
            <a:cxnLst/>
            <a:rect r="r" b="b" t="t" l="l"/>
            <a:pathLst>
              <a:path h="4696778" w="4742021">
                <a:moveTo>
                  <a:pt x="0" y="0"/>
                </a:moveTo>
                <a:lnTo>
                  <a:pt x="4742021" y="0"/>
                </a:lnTo>
                <a:lnTo>
                  <a:pt x="4742021" y="4696778"/>
                </a:lnTo>
                <a:lnTo>
                  <a:pt x="0" y="4696778"/>
                </a:lnTo>
                <a:lnTo>
                  <a:pt x="0" y="0"/>
                </a:lnTo>
                <a:close/>
              </a:path>
            </a:pathLst>
          </a:custGeom>
          <a:blipFill>
            <a:blip r:embed="rId5">
              <a:extLst>
                <a:ext uri="{96DAC541-7B7A-43D3-8B79-37D633B846F1}">
                  <asvg:svgBlip xmlns:asvg="http://schemas.microsoft.com/office/drawing/2016/SVG/main" r:embed="rId6"/>
                </a:ext>
              </a:extLst>
            </a:blip>
            <a:stretch>
              <a:fillRect l="0" t="-76" r="0" b="-76"/>
            </a:stretch>
          </a:blipFill>
        </p:spPr>
        <p:txBody>
          <a:bodyPr/>
          <a:p/>
        </p:txBody>
      </p:sp>
      <p:sp>
        <p:nvSpPr>
          <p:cNvPr name="TextBox 10" id="10"/>
          <p:cNvSpPr txBox="true"/>
          <p:nvPr/>
        </p:nvSpPr>
        <p:spPr>
          <a:xfrm rot="0">
            <a:off x="13098780" y="4716780"/>
            <a:ext cx="4022903"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Luồng dữ liệu (vào → ra)</a:t>
            </a:r>
          </a:p>
        </p:txBody>
      </p:sp>
      <p:sp>
        <p:nvSpPr>
          <p:cNvPr name="TextBox 11" id="11"/>
          <p:cNvSpPr txBox="true"/>
          <p:nvPr/>
        </p:nvSpPr>
        <p:spPr>
          <a:xfrm rot="0">
            <a:off x="13098780" y="5306568"/>
            <a:ext cx="4022903" cy="3307080"/>
          </a:xfrm>
          <a:prstGeom prst="rect">
            <a:avLst/>
          </a:prstGeom>
        </p:spPr>
        <p:txBody>
          <a:bodyPr anchor="t" rtlCol="false" tIns="0" lIns="0" bIns="0" rIns="0">
            <a:spAutoFit/>
          </a:bodyPr>
          <a:lstStyle/>
          <a:p>
            <a:pPr algn="l">
              <a:lnSpc>
                <a:spcPts val="2070"/>
              </a:lnSpc>
            </a:pPr>
            <a:r>
              <a:rPr lang="en-US" sz="1725" b="true">
                <a:solidFill>
                  <a:srgbClr val="13294B"/>
                </a:solidFill>
                <a:latin typeface="Calibri (MS) Bold"/>
                <a:ea typeface="Calibri (MS) Bold"/>
                <a:cs typeface="Calibri (MS) Bold"/>
                <a:sym typeface="Calibri (MS) Bold"/>
              </a:rPr>
              <a:t>1 · Ảnh → ViT: </a:t>
            </a:r>
            <a:r>
              <a:rPr lang="en-US" sz="1725">
                <a:solidFill>
                  <a:srgbClr val="243044"/>
                </a:solidFill>
                <a:latin typeface="Calibri (MS)"/>
                <a:ea typeface="Calibri (MS)"/>
                <a:cs typeface="Calibri (MS)"/>
                <a:sym typeface="Calibri (MS)"/>
              </a:rPr>
              <a:t>≤ 401.408 px → patch 14×14 → 32 khối</a:t>
            </a:r>
          </a:p>
          <a:p>
            <a:pPr algn="l">
              <a:lnSpc>
                <a:spcPts val="540"/>
              </a:lnSpc>
            </a:pPr>
            <a:r>
              <a:rPr lang="en-US" sz="450">
                <a:solidFill>
                  <a:srgbClr val="243044"/>
                </a:solidFill>
                <a:latin typeface="Calibri (MS)"/>
                <a:ea typeface="Calibri (MS)"/>
                <a:cs typeface="Calibri (MS)"/>
                <a:sym typeface="Calibri (MS)"/>
              </a:rPr>
              <a:t> </a:t>
            </a:r>
          </a:p>
          <a:p>
            <a:pPr algn="l">
              <a:lnSpc>
                <a:spcPts val="2070"/>
              </a:lnSpc>
            </a:pPr>
            <a:r>
              <a:rPr lang="en-US" sz="1725" b="true">
                <a:solidFill>
                  <a:srgbClr val="13294B"/>
                </a:solidFill>
                <a:latin typeface="Calibri (MS) Bold"/>
                <a:ea typeface="Calibri (MS) Bold"/>
                <a:cs typeface="Calibri (MS) Bold"/>
                <a:sym typeface="Calibri (MS) Bold"/>
              </a:rPr>
              <a:t>2 · Patch merger: </a:t>
            </a:r>
            <a:r>
              <a:rPr lang="en-US" sz="1725">
                <a:solidFill>
                  <a:srgbClr val="243044"/>
                </a:solidFill>
                <a:latin typeface="Calibri (MS)"/>
                <a:ea typeface="Calibri (MS)"/>
                <a:cs typeface="Calibri (MS)"/>
                <a:sym typeface="Calibri (MS)"/>
              </a:rPr>
              <a:t>2×2 patch → 1 token (2048 chiều) → 256–512 token ảnh</a:t>
            </a:r>
          </a:p>
          <a:p>
            <a:pPr algn="l">
              <a:lnSpc>
                <a:spcPts val="540"/>
              </a:lnSpc>
            </a:pPr>
            <a:r>
              <a:rPr lang="en-US" sz="450">
                <a:solidFill>
                  <a:srgbClr val="243044"/>
                </a:solidFill>
                <a:latin typeface="Calibri (MS)"/>
                <a:ea typeface="Calibri (MS)"/>
                <a:cs typeface="Calibri (MS)"/>
                <a:sym typeface="Calibri (MS)"/>
              </a:rPr>
              <a:t> </a:t>
            </a:r>
          </a:p>
          <a:p>
            <a:pPr algn="l">
              <a:lnSpc>
                <a:spcPts val="2070"/>
              </a:lnSpc>
            </a:pPr>
            <a:r>
              <a:rPr lang="en-US" sz="1725" b="true">
                <a:solidFill>
                  <a:srgbClr val="13294B"/>
                </a:solidFill>
                <a:latin typeface="Calibri (MS) Bold"/>
                <a:ea typeface="Calibri (MS) Bold"/>
                <a:cs typeface="Calibri (MS) Bold"/>
                <a:sym typeface="Calibri (MS) Bold"/>
              </a:rPr>
              <a:t>3 · Prompt P0: </a:t>
            </a:r>
            <a:r>
              <a:rPr lang="en-US" sz="1725">
                <a:solidFill>
                  <a:srgbClr val="243044"/>
                </a:solidFill>
                <a:latin typeface="Calibri (MS)"/>
                <a:ea typeface="Calibri (MS)"/>
                <a:cs typeface="Calibri (MS)"/>
                <a:sym typeface="Calibri (MS)"/>
              </a:rPr>
              <a:t>chat template + token ảnh + câu hỏi tiếng Việt</a:t>
            </a:r>
          </a:p>
          <a:p>
            <a:pPr algn="l">
              <a:lnSpc>
                <a:spcPts val="540"/>
              </a:lnSpc>
            </a:pPr>
            <a:r>
              <a:rPr lang="en-US" sz="450">
                <a:solidFill>
                  <a:srgbClr val="243044"/>
                </a:solidFill>
                <a:latin typeface="Calibri (MS)"/>
                <a:ea typeface="Calibri (MS)"/>
                <a:cs typeface="Calibri (MS)"/>
                <a:sym typeface="Calibri (MS)"/>
              </a:rPr>
              <a:t> </a:t>
            </a:r>
          </a:p>
          <a:p>
            <a:pPr algn="l">
              <a:lnSpc>
                <a:spcPts val="2070"/>
              </a:lnSpc>
            </a:pPr>
            <a:r>
              <a:rPr lang="en-US" sz="1725" b="true">
                <a:solidFill>
                  <a:srgbClr val="13294B"/>
                </a:solidFill>
                <a:latin typeface="Calibri (MS) Bold"/>
                <a:ea typeface="Calibri (MS) Bold"/>
                <a:cs typeface="Calibri (MS) Bold"/>
                <a:sym typeface="Calibri (MS) Bold"/>
              </a:rPr>
              <a:t>4 · Decoder (+LoRA): </a:t>
            </a:r>
            <a:r>
              <a:rPr lang="en-US" sz="1725">
                <a:solidFill>
                  <a:srgbClr val="243044"/>
                </a:solidFill>
                <a:latin typeface="Calibri (MS)"/>
                <a:ea typeface="Calibri (MS)"/>
                <a:cs typeface="Calibri (MS)"/>
                <a:sym typeface="Calibri (MS)"/>
              </a:rPr>
              <a:t>sinh tham lam, ≤ 32 token → chuẩn hoá → EM / ANLS</a:t>
            </a:r>
          </a:p>
        </p:txBody>
      </p:sp>
      <p:sp>
        <p:nvSpPr>
          <p:cNvPr name="TextBox 12" id="12"/>
          <p:cNvSpPr txBox="true"/>
          <p:nvPr/>
        </p:nvSpPr>
        <p:spPr>
          <a:xfrm rot="0">
            <a:off x="13098780" y="8526780"/>
            <a:ext cx="4022903" cy="731520"/>
          </a:xfrm>
          <a:prstGeom prst="rect">
            <a:avLst/>
          </a:prstGeom>
        </p:spPr>
        <p:txBody>
          <a:bodyPr anchor="t" rtlCol="false" tIns="0" lIns="0" bIns="0" rIns="0">
            <a:spAutoFit/>
          </a:bodyPr>
          <a:lstStyle/>
          <a:p>
            <a:pPr algn="l">
              <a:lnSpc>
                <a:spcPts val="1980"/>
              </a:lnSpc>
            </a:pPr>
            <a:r>
              <a:rPr lang="en-US" sz="1650" i="true">
                <a:solidFill>
                  <a:srgbClr val="1C7293"/>
                </a:solidFill>
                <a:latin typeface="Calibri (MS) Italics"/>
                <a:ea typeface="Calibri (MS) Italics"/>
                <a:cs typeface="Calibri (MS) Italics"/>
                <a:sym typeface="Calibri (MS) Italics"/>
              </a:rPr>
              <a:t>Baseline không dùng OCR — OCR là cải tiến B3 (slide 23).</a:t>
            </a:r>
          </a:p>
        </p:txBody>
      </p:sp>
      <p:grpSp>
        <p:nvGrpSpPr>
          <p:cNvPr name="Group 13" id="13"/>
          <p:cNvGrpSpPr/>
          <p:nvPr/>
        </p:nvGrpSpPr>
        <p:grpSpPr>
          <a:xfrm rot="0">
            <a:off x="15458732" y="0"/>
            <a:ext cx="2829306" cy="1184338"/>
            <a:chOff x="0" y="0"/>
            <a:chExt cx="3772408" cy="1579118"/>
          </a:xfrm>
        </p:grpSpPr>
        <p:sp>
          <p:nvSpPr>
            <p:cNvPr name="Freeform 14" id="14"/>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7"/>
              <a:stretch>
                <a:fillRect l="0" t="0" r="0" b="0"/>
              </a:stretch>
            </a:blipFill>
          </p:spPr>
          <p:txBody>
            <a:bodyPr/>
            <a:p/>
          </p:txBody>
        </p:sp>
      </p:grpSp>
      <p:grpSp>
        <p:nvGrpSpPr>
          <p:cNvPr name="Group 15" id="15"/>
          <p:cNvGrpSpPr/>
          <p:nvPr/>
        </p:nvGrpSpPr>
        <p:grpSpPr>
          <a:xfrm rot="0">
            <a:off x="822960" y="9641205"/>
            <a:ext cx="13716000" cy="440055"/>
            <a:chOff x="0" y="0"/>
            <a:chExt cx="18288000" cy="586740"/>
          </a:xfrm>
        </p:grpSpPr>
        <p:sp>
          <p:nvSpPr>
            <p:cNvPr name="Freeform 16" id="16"/>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8">
                <a:alphaModFix amt="0"/>
              </a:blip>
              <a:stretch>
                <a:fillRect l="0" t="-556902" r="0" b="-556904"/>
              </a:stretch>
            </a:blipFill>
          </p:spPr>
          <p:txBody>
            <a:bodyPr/>
            <a:p/>
          </p:txBody>
        </p:sp>
      </p:grpSp>
      <p:grpSp>
        <p:nvGrpSpPr>
          <p:cNvPr name="Group 17" id="17"/>
          <p:cNvGrpSpPr/>
          <p:nvPr/>
        </p:nvGrpSpPr>
        <p:grpSpPr>
          <a:xfrm rot="0">
            <a:off x="822960" y="9612630"/>
            <a:ext cx="13716000" cy="468630"/>
            <a:chOff x="0" y="0"/>
            <a:chExt cx="18288000" cy="624840"/>
          </a:xfrm>
        </p:grpSpPr>
        <p:sp>
          <p:nvSpPr>
            <p:cNvPr name="Freeform 18" id="18"/>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9">
                <a:alphaModFix amt="0"/>
              </a:blip>
              <a:stretch>
                <a:fillRect l="0" t="-519896" r="0" b="-519898"/>
              </a:stretch>
            </a:blipFill>
          </p:spPr>
          <p:txBody>
            <a:bodyPr/>
            <a:p/>
          </p:txBody>
        </p:sp>
      </p:grpSp>
      <p:grpSp>
        <p:nvGrpSpPr>
          <p:cNvPr name="Group 19" id="19"/>
          <p:cNvGrpSpPr/>
          <p:nvPr/>
        </p:nvGrpSpPr>
        <p:grpSpPr>
          <a:xfrm rot="0">
            <a:off x="822960" y="9584055"/>
            <a:ext cx="13716000" cy="497205"/>
            <a:chOff x="0" y="0"/>
            <a:chExt cx="18288000" cy="662940"/>
          </a:xfrm>
        </p:grpSpPr>
        <p:sp>
          <p:nvSpPr>
            <p:cNvPr name="Freeform 20" id="20"/>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10">
                <a:alphaModFix amt="0"/>
              </a:blip>
              <a:stretch>
                <a:fillRect l="0" t="-487518" r="0" b="-487518"/>
              </a:stretch>
            </a:blipFill>
          </p:spPr>
          <p:txBody>
            <a:bodyPr/>
            <a:p/>
          </p:txBody>
        </p:sp>
        <p:sp>
          <p:nvSpPr>
            <p:cNvPr name="TextBox 21" id="21"/>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
        <p:nvSpPr>
          <p:cNvPr id="22" name="Rounded Rectangle 21"/>
          <p:cNvSpPr/>
          <p:nvPr/>
        </p:nvSpPr>
        <p:spPr>
          <a:xfrm>
            <a:off x="822960" y="8577072"/>
            <a:ext cx="11384280" cy="896112"/>
          </a:xfrm>
          <a:prstGeom prst="roundRect">
            <a:avLst>
              <a:gd name="adj" fmla="val 12000"/>
            </a:avLst>
          </a:prstGeom>
          <a:solidFill>
            <a:srgbClr val="F3F5F8"/>
          </a:solidFill>
          <a:ln>
            <a:noFill/>
          </a:ln>
        </p:spPr>
        <p:txBody>
          <a:bodyPr rtlCol="0" anchor="ctr"/>
          <a:lstStyle/>
          <a:p>
            <a:pPr algn="ctr"/>
          </a:p>
        </p:txBody>
      </p:sp>
      <p:sp>
        <p:nvSpPr>
          <p:cNvPr id="23" name="TextBox 22">
            <a:hlinkClick r:id="rId11"/>
          </p:cNvPr>
          <p:cNvSpPr txBox="1"/>
          <p:nvPr/>
        </p:nvSpPr>
        <p:spPr>
          <a:xfrm>
            <a:off x="1051560" y="8650224"/>
            <a:ext cx="10972800" cy="777240"/>
          </a:xfrm>
          <a:prstGeom prst="rect">
            <a:avLst/>
          </a:prstGeom>
          <a:noFill/>
        </p:spPr>
        <p:txBody>
          <a:bodyPr wrap="square" anchor="t" lIns="0" rIns="0" tIns="0" bIns="0">
            <a:spAutoFit/>
          </a:bodyPr>
          <a:lstStyle/>
          <a:p>
            <a:pPr algn="l">
              <a:lnSpc>
                <a:spcPct val="106000"/>
              </a:lnSpc>
              <a:spcAft>
                <a:spcPts val="300"/>
              </a:spcAft>
            </a:pPr>
            <a:r>
              <a:rPr sz="1400" b="1">
                <a:solidFill>
                  <a:srgbClr val="13294B"/>
                </a:solidFill>
                <a:latin typeface="Calibri (MS) Bold"/>
              </a:rPr>
              <a:t>Vì sao chọn làm baseline:  </a:t>
            </a:r>
            <a:r>
              <a:rPr sz="1400" b="0">
                <a:solidFill>
                  <a:srgbClr val="243044"/>
                </a:solidFill>
                <a:latin typeface="Calibri (MS)"/>
              </a:rPr>
              <a:t>VLM mở, đa ngôn ngữ, đọc chữ trong ảnh tốt · 3B tham số → nén 4-bit vừa một GPU Colab · một trong ba baseline đề cương cho phép</a:t>
            </a:r>
          </a:p>
          <a:p>
            <a:pPr algn="l">
              <a:lnSpc>
                <a:spcPct val="106000"/>
              </a:lnSpc>
              <a:spcAft>
                <a:spcPts val="0"/>
              </a:spcAft>
            </a:pPr>
            <a:r>
              <a:rPr sz="1300" b="0">
                <a:solidFill>
                  <a:srgbClr val="1C7293"/>
                </a:solidFill>
                <a:latin typeface="Calibri (MS)"/>
              </a:rPr>
              <a:t>Nguồn kiến trúc: Bai et al., Qwen2.5-VL Technical Report, 2025 (arXiv 2502.13923)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grpSp>
        <p:nvGrpSpPr>
          <p:cNvPr name="Group 4" id="4"/>
          <p:cNvGrpSpPr/>
          <p:nvPr/>
        </p:nvGrpSpPr>
        <p:grpSpPr>
          <a:xfrm rot="0">
            <a:off x="822960" y="9641205"/>
            <a:ext cx="13716000" cy="440055"/>
            <a:chOff x="0" y="0"/>
            <a:chExt cx="18288000" cy="586740"/>
          </a:xfrm>
        </p:grpSpPr>
        <p:sp>
          <p:nvSpPr>
            <p:cNvPr name="Freeform 5" id="5"/>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3">
                <a:alphaModFix amt="0"/>
              </a:blip>
              <a:stretch>
                <a:fillRect l="0" t="-556902" r="0" b="-556904"/>
              </a:stretch>
            </a:blipFill>
          </p:spPr>
          <p:txBody>
            <a:bodyPr/>
            <a:p/>
          </p:txBody>
        </p:sp>
      </p:grpSp>
      <p:grpSp>
        <p:nvGrpSpPr>
          <p:cNvPr name="Group 6" id="6"/>
          <p:cNvGrpSpPr/>
          <p:nvPr/>
        </p:nvGrpSpPr>
        <p:grpSpPr>
          <a:xfrm rot="0">
            <a:off x="822960" y="9612630"/>
            <a:ext cx="13716000" cy="468630"/>
            <a:chOff x="0" y="0"/>
            <a:chExt cx="18288000" cy="624840"/>
          </a:xfrm>
        </p:grpSpPr>
        <p:sp>
          <p:nvSpPr>
            <p:cNvPr name="Freeform 7" id="7"/>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4">
                <a:alphaModFix amt="0"/>
              </a:blip>
              <a:stretch>
                <a:fillRect l="0" t="-519896" r="0" b="-519898"/>
              </a:stretch>
            </a:blipFill>
          </p:spPr>
          <p:txBody>
            <a:bodyPr/>
            <a:p/>
          </p:txBody>
        </p:sp>
      </p:grpSp>
      <p:grpSp>
        <p:nvGrpSpPr>
          <p:cNvPr name="Group 8" id="8"/>
          <p:cNvGrpSpPr/>
          <p:nvPr/>
        </p:nvGrpSpPr>
        <p:grpSpPr>
          <a:xfrm rot="0">
            <a:off x="822960" y="9584055"/>
            <a:ext cx="13716000" cy="497205"/>
            <a:chOff x="0" y="0"/>
            <a:chExt cx="18288000" cy="662940"/>
          </a:xfrm>
        </p:grpSpPr>
        <p:sp>
          <p:nvSpPr>
            <p:cNvPr name="Freeform 9" id="9"/>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5">
                <a:alphaModFix amt="0"/>
              </a:blip>
              <a:stretch>
                <a:fillRect l="0" t="-487518" r="0" b="-487518"/>
              </a:stretch>
            </a:blipFill>
          </p:spPr>
          <p:txBody>
            <a:bodyPr/>
            <a:p/>
          </p:txBody>
        </p:sp>
        <p:sp>
          <p:nvSpPr>
            <p:cNvPr name="TextBox 10" id="10"/>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Review 2 (cộng dồn) · GFA26AI35 · Đại học FPT</a:t>
              </a:r>
            </a:p>
          </p:txBody>
        </p:sp>
      </p:grpSp>
      <p:sp>
        <p:nvSpPr>
          <p:cNvPr name="TextBox 11" id="11"/>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EXISTING SYSTEM · 02 · KIỂM CHỨNG PIPELINE (R0)</a:t>
            </a:r>
          </a:p>
        </p:txBody>
      </p:sp>
      <p:sp>
        <p:nvSpPr>
          <p:cNvPr name="TextBox 12" id="12"/>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Baseline tái lập đúng số đã công bố</a:t>
            </a:r>
          </a:p>
        </p:txBody>
      </p:sp>
      <p:sp>
        <p:nvSpPr>
          <p:cNvPr name="Freeform 13" id="13"/>
          <p:cNvSpPr/>
          <p:nvPr/>
        </p:nvSpPr>
        <p:spPr>
          <a:xfrm flipH="false" flipV="false" rot="0">
            <a:off x="11230451" y="2040731"/>
            <a:ext cx="6250781" cy="3393758"/>
          </a:xfrm>
          <a:custGeom>
            <a:avLst/>
            <a:gdLst/>
            <a:ahLst/>
            <a:cxnLst/>
            <a:rect r="r" b="b" t="t" l="l"/>
            <a:pathLst>
              <a:path h="3393758" w="6250781">
                <a:moveTo>
                  <a:pt x="0" y="0"/>
                </a:moveTo>
                <a:lnTo>
                  <a:pt x="6250781" y="0"/>
                </a:lnTo>
                <a:lnTo>
                  <a:pt x="6250781"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40" r="0" b="-40"/>
            </a:stretch>
          </a:blipFill>
        </p:spPr>
        <p:txBody>
          <a:bodyPr/>
          <a:p/>
        </p:txBody>
      </p:sp>
      <p:sp>
        <p:nvSpPr>
          <p:cNvPr name="TextBox 14" id="14"/>
          <p:cNvSpPr txBox="true"/>
          <p:nvPr/>
        </p:nvSpPr>
        <p:spPr>
          <a:xfrm rot="0">
            <a:off x="11658600" y="2110740"/>
            <a:ext cx="5394503"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Kết quả so với báo cáo gốc</a:t>
            </a:r>
          </a:p>
        </p:txBody>
      </p:sp>
      <p:sp>
        <p:nvSpPr>
          <p:cNvPr name="TextBox 15" id="15"/>
          <p:cNvSpPr txBox="true"/>
          <p:nvPr/>
        </p:nvSpPr>
        <p:spPr>
          <a:xfrm rot="0">
            <a:off x="11658600" y="2651760"/>
            <a:ext cx="5394503" cy="2560320"/>
          </a:xfrm>
          <a:prstGeom prst="rect">
            <a:avLst/>
          </a:prstGeom>
        </p:spPr>
        <p:txBody>
          <a:bodyPr anchor="t" rtlCol="false" tIns="0" lIns="0" bIns="0" rIns="0">
            <a:spAutoFit/>
          </a:bodyPr>
          <a:lstStyle/>
          <a:p>
            <a:pPr algn="l">
              <a:lnSpc>
                <a:spcPts val="2700"/>
              </a:lnSpc>
            </a:pPr>
            <a:r>
              <a:rPr lang="en-US" sz="2250">
                <a:solidFill>
                  <a:srgbClr val="243044"/>
                </a:solidFill>
                <a:latin typeface="Calibri (MS)"/>
                <a:ea typeface="Calibri (MS)"/>
                <a:cs typeface="Calibri (MS)"/>
                <a:sym typeface="Calibri (MS)"/>
              </a:rPr>
              <a:t>Nhóm 79,6 so với 79,3 công bố, trên toàn bộ 5.000 câu TextVQA val: chênh +0,3 điểm → pipeline chạy đúng.</a:t>
            </a:r>
          </a:p>
        </p:txBody>
      </p:sp>
      <p:sp>
        <p:nvSpPr>
          <p:cNvPr name="Freeform 16" id="16"/>
          <p:cNvSpPr/>
          <p:nvPr/>
        </p:nvSpPr>
        <p:spPr>
          <a:xfrm flipH="false" flipV="false" rot="0">
            <a:off x="11230451" y="5675471"/>
            <a:ext cx="6250781" cy="3668078"/>
          </a:xfrm>
          <a:custGeom>
            <a:avLst/>
            <a:gdLst/>
            <a:ahLst/>
            <a:cxnLst/>
            <a:rect r="r" b="b" t="t" l="l"/>
            <a:pathLst>
              <a:path h="3668078" w="6250781">
                <a:moveTo>
                  <a:pt x="0" y="0"/>
                </a:moveTo>
                <a:lnTo>
                  <a:pt x="6250781" y="0"/>
                </a:lnTo>
                <a:lnTo>
                  <a:pt x="6250781" y="3668078"/>
                </a:lnTo>
                <a:lnTo>
                  <a:pt x="0" y="3668078"/>
                </a:lnTo>
                <a:lnTo>
                  <a:pt x="0" y="0"/>
                </a:lnTo>
                <a:close/>
              </a:path>
            </a:pathLst>
          </a:custGeom>
          <a:blipFill>
            <a:blip r:embed="rId8">
              <a:extLst>
                <a:ext uri="{96DAC541-7B7A-43D3-8B79-37D633B846F1}">
                  <asvg:svgBlip xmlns:asvg="http://schemas.microsoft.com/office/drawing/2016/SVG/main" r:embed="rId9"/>
                </a:ext>
              </a:extLst>
            </a:blip>
            <a:stretch>
              <a:fillRect l="0" t="-59" r="0" b="-59"/>
            </a:stretch>
          </a:blipFill>
        </p:spPr>
        <p:txBody>
          <a:bodyPr/>
          <a:p/>
        </p:txBody>
      </p:sp>
      <p:sp>
        <p:nvSpPr>
          <p:cNvPr name="TextBox 17" id="17"/>
          <p:cNvSpPr txBox="true"/>
          <p:nvPr/>
        </p:nvSpPr>
        <p:spPr>
          <a:xfrm rot="0">
            <a:off x="11658600" y="5745480"/>
            <a:ext cx="5394503"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Cái giá của cấu hình tiết kiệm</a:t>
            </a:r>
          </a:p>
        </p:txBody>
      </p:sp>
      <p:sp>
        <p:nvSpPr>
          <p:cNvPr name="TextBox 18" id="18"/>
          <p:cNvSpPr txBox="true"/>
          <p:nvPr/>
        </p:nvSpPr>
        <p:spPr>
          <a:xfrm rot="0">
            <a:off x="11658600" y="6286500"/>
            <a:ext cx="5394503" cy="2834640"/>
          </a:xfrm>
          <a:prstGeom prst="rect">
            <a:avLst/>
          </a:prstGeom>
        </p:spPr>
        <p:txBody>
          <a:bodyPr anchor="t" rtlCol="false" tIns="0" lIns="0" bIns="0" rIns="0">
            <a:spAutoFit/>
          </a:bodyPr>
          <a:lstStyle/>
          <a:p>
            <a:pPr algn="l" marL="712786" indent="-142557" lvl="4">
              <a:lnSpc>
                <a:spcPts val="2700"/>
              </a:lnSpc>
              <a:buFont typeface="Arial"/>
              <a:buChar char="•"/>
            </a:pPr>
            <a:r>
              <a:rPr lang="en-US" sz="2250">
                <a:solidFill>
                  <a:srgbClr val="243044"/>
                </a:solidFill>
                <a:latin typeface="Calibri (MS)"/>
                <a:ea typeface="Calibri (MS)"/>
                <a:cs typeface="Calibri (MS)"/>
                <a:sym typeface="Calibri (MS)"/>
              </a:rPr>
              <a:t>−4,4 điểm accuracy</a:t>
            </a:r>
          </a:p>
          <a:p>
            <a:pPr algn="l" marL="712786" indent="-142557" lvl="4">
              <a:lnSpc>
                <a:spcPts val="2700"/>
              </a:lnSpc>
              <a:buFont typeface="Arial"/>
              <a:buChar char="•"/>
            </a:pPr>
            <a:r>
              <a:rPr lang="en-US" sz="2250">
                <a:solidFill>
                  <a:srgbClr val="243044"/>
                </a:solidFill>
                <a:latin typeface="Calibri (MS)"/>
                <a:ea typeface="Calibri (MS)"/>
                <a:cs typeface="Calibri (MS)"/>
                <a:sym typeface="Calibri (MS)"/>
              </a:rPr>
              <a:t>VRAM 10,9 → 2,5 GB (ít hơn 4,3 lần)</a:t>
            </a:r>
          </a:p>
          <a:p>
            <a:pPr algn="l" marL="712786" indent="-142557" lvl="4">
              <a:lnSpc>
                <a:spcPts val="2700"/>
              </a:lnSpc>
              <a:buFont typeface="Arial"/>
              <a:buChar char="•"/>
            </a:pPr>
            <a:r>
              <a:rPr lang="en-US" sz="2250">
                <a:solidFill>
                  <a:srgbClr val="243044"/>
                </a:solidFill>
                <a:latin typeface="Calibri (MS)"/>
                <a:ea typeface="Calibri (MS)"/>
                <a:cs typeface="Calibri (MS)"/>
                <a:sym typeface="Calibri (MS)"/>
              </a:rPr>
              <a:t>Giữ 94,5% độ chính xác — báo cáo như số đo hiệu quả, không phải giả thuyết (slide 8)</a:t>
            </a:r>
          </a:p>
        </p:txBody>
      </p:sp>
      <p:grpSp>
        <p:nvGrpSpPr>
          <p:cNvPr name="Group 19" id="19"/>
          <p:cNvGrpSpPr/>
          <p:nvPr/>
        </p:nvGrpSpPr>
        <p:grpSpPr>
          <a:xfrm rot="0">
            <a:off x="15458732" y="0"/>
            <a:ext cx="2829306" cy="1184338"/>
            <a:chOff x="0" y="0"/>
            <a:chExt cx="3772408" cy="1579118"/>
          </a:xfrm>
        </p:grpSpPr>
        <p:sp>
          <p:nvSpPr>
            <p:cNvPr name="Freeform 20" id="20"/>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10"/>
              <a:stretch>
                <a:fillRect l="0" t="0" r="0" b="0"/>
              </a:stretch>
            </a:blipFill>
          </p:spPr>
          <p:txBody>
            <a:bodyPr/>
            <a:p/>
          </p:txBody>
        </p:sp>
      </p:grpSp>
      <p:grpSp>
        <p:nvGrpSpPr>
          <p:cNvPr name="Group 21" id="21"/>
          <p:cNvGrpSpPr/>
          <p:nvPr/>
        </p:nvGrpSpPr>
        <p:grpSpPr>
          <a:xfrm rot="0">
            <a:off x="5351012" y="9684391"/>
            <a:ext cx="335394" cy="342957"/>
            <a:chOff x="0" y="0"/>
            <a:chExt cx="447192" cy="457276"/>
          </a:xfrm>
        </p:grpSpPr>
        <p:sp>
          <p:nvSpPr>
            <p:cNvPr name="Freeform 22" id="22"/>
            <p:cNvSpPr/>
            <p:nvPr/>
          </p:nvSpPr>
          <p:spPr>
            <a:xfrm flipH="false" flipV="false" rot="0">
              <a:off x="-31" y="27"/>
              <a:ext cx="447198" cy="457276"/>
            </a:xfrm>
            <a:custGeom>
              <a:avLst/>
              <a:gdLst/>
              <a:ahLst/>
              <a:cxnLst/>
              <a:rect r="r" b="b" t="t" l="l"/>
              <a:pathLst>
                <a:path h="457276" w="447198">
                  <a:moveTo>
                    <a:pt x="447198" y="160882"/>
                  </a:moveTo>
                  <a:cubicBezTo>
                    <a:pt x="447198" y="304392"/>
                    <a:pt x="430688" y="342492"/>
                    <a:pt x="409098" y="370432"/>
                  </a:cubicBezTo>
                  <a:cubicBezTo>
                    <a:pt x="386238" y="398372"/>
                    <a:pt x="354488" y="422502"/>
                    <a:pt x="322738" y="437742"/>
                  </a:cubicBezTo>
                  <a:cubicBezTo>
                    <a:pt x="289718" y="451712"/>
                    <a:pt x="250348" y="459332"/>
                    <a:pt x="214788" y="456792"/>
                  </a:cubicBezTo>
                  <a:cubicBezTo>
                    <a:pt x="179228" y="455522"/>
                    <a:pt x="141128" y="442822"/>
                    <a:pt x="110648" y="425042"/>
                  </a:cubicBezTo>
                  <a:cubicBezTo>
                    <a:pt x="80168" y="405992"/>
                    <a:pt x="50958" y="378052"/>
                    <a:pt x="33178" y="347572"/>
                  </a:cubicBezTo>
                  <a:cubicBezTo>
                    <a:pt x="14128" y="317092"/>
                    <a:pt x="2698" y="277722"/>
                    <a:pt x="158" y="242162"/>
                  </a:cubicBezTo>
                  <a:cubicBezTo>
                    <a:pt x="-1112" y="207872"/>
                    <a:pt x="5238" y="167232"/>
                    <a:pt x="20478" y="135482"/>
                  </a:cubicBezTo>
                  <a:cubicBezTo>
                    <a:pt x="34448" y="102462"/>
                    <a:pt x="59848" y="70712"/>
                    <a:pt x="87788" y="49122"/>
                  </a:cubicBezTo>
                  <a:cubicBezTo>
                    <a:pt x="115728" y="27532"/>
                    <a:pt x="152558" y="11022"/>
                    <a:pt x="186848" y="3402"/>
                  </a:cubicBezTo>
                  <a:cubicBezTo>
                    <a:pt x="222408" y="-2948"/>
                    <a:pt x="263048" y="-408"/>
                    <a:pt x="296068" y="11022"/>
                  </a:cubicBezTo>
                  <a:cubicBezTo>
                    <a:pt x="330358" y="21182"/>
                    <a:pt x="390048" y="66902"/>
                    <a:pt x="390048" y="66902"/>
                  </a:cubicBezTo>
                </a:path>
              </a:pathLst>
            </a:custGeom>
            <a:solidFill>
              <a:srgbClr val="FFFFFF">
                <a:alpha val="0"/>
              </a:srgbClr>
            </a:solidFill>
          </p:spPr>
          <p:txBody>
            <a:bodyPr/>
            <a:p/>
          </p:txBody>
        </p:sp>
      </p:grpSp>
      <p:sp>
        <p:nvSpPr>
          <p:cNvPr name="Freeform 23" id="23"/>
          <p:cNvSpPr/>
          <p:nvPr/>
        </p:nvSpPr>
        <p:spPr>
          <a:xfrm flipH="false" flipV="false" rot="0">
            <a:off x="3391853" y="9579978"/>
            <a:ext cx="3207067" cy="483927"/>
          </a:xfrm>
          <a:custGeom>
            <a:avLst/>
            <a:gdLst/>
            <a:ahLst/>
            <a:cxnLst/>
            <a:rect r="r" b="b" t="t" l="l"/>
            <a:pathLst>
              <a:path h="483927" w="3207067">
                <a:moveTo>
                  <a:pt x="0" y="0"/>
                </a:moveTo>
                <a:lnTo>
                  <a:pt x="3207067" y="0"/>
                </a:lnTo>
                <a:lnTo>
                  <a:pt x="3207067" y="483927"/>
                </a:lnTo>
                <a:lnTo>
                  <a:pt x="0" y="483927"/>
                </a:lnTo>
                <a:lnTo>
                  <a:pt x="0" y="0"/>
                </a:lnTo>
                <a:close/>
              </a:path>
            </a:pathLst>
          </a:custGeom>
          <a:blipFill>
            <a:blip r:embed="rId11">
              <a:extLst>
                <a:ext uri="{96DAC541-7B7A-43D3-8B79-37D633B846F1}">
                  <asvg:svgBlip xmlns:asvg="http://schemas.microsoft.com/office/drawing/2016/SVG/main" r:embed="rId12"/>
                </a:ext>
              </a:extLst>
            </a:blip>
            <a:stretch>
              <a:fillRect l="0" t="-145" r="0" b="-147"/>
            </a:stretch>
          </a:blipFill>
        </p:spPr>
        <p:txBody>
          <a:bodyPr/>
          <a:p/>
        </p:txBody>
      </p:sp>
      <p:sp>
        <p:nvSpPr>
          <p:cNvPr name="Freeform 24" id="24"/>
          <p:cNvSpPr/>
          <p:nvPr/>
        </p:nvSpPr>
        <p:spPr>
          <a:xfrm flipH="false" flipV="false" rot="0">
            <a:off x="2383393" y="9612830"/>
            <a:ext cx="1499749" cy="474174"/>
          </a:xfrm>
          <a:custGeom>
            <a:avLst/>
            <a:gdLst/>
            <a:ahLst/>
            <a:cxnLst/>
            <a:rect r="r" b="b" t="t" l="l"/>
            <a:pathLst>
              <a:path h="474174" w="1499749">
                <a:moveTo>
                  <a:pt x="0" y="0"/>
                </a:moveTo>
                <a:lnTo>
                  <a:pt x="1499749" y="0"/>
                </a:lnTo>
                <a:lnTo>
                  <a:pt x="1499749" y="474174"/>
                </a:lnTo>
                <a:lnTo>
                  <a:pt x="0" y="474174"/>
                </a:lnTo>
                <a:lnTo>
                  <a:pt x="0" y="0"/>
                </a:lnTo>
                <a:close/>
              </a:path>
            </a:pathLst>
          </a:custGeom>
          <a:blipFill>
            <a:blip r:embed="rId13">
              <a:extLst>
                <a:ext uri="{96DAC541-7B7A-43D3-8B79-37D633B846F1}">
                  <asvg:svgBlip xmlns:asvg="http://schemas.microsoft.com/office/drawing/2016/SVG/main" r:embed="rId14"/>
                </a:ext>
              </a:extLst>
            </a:blip>
            <a:stretch>
              <a:fillRect l="0" t="-46" r="0" b="-44"/>
            </a:stretch>
          </a:blipFill>
        </p:spPr>
        <p:txBody>
          <a:bodyPr/>
          <a:p/>
        </p:txBody>
      </p:sp>
      <p:sp>
        <p:nvSpPr>
          <p:cNvPr name="Freeform 25" id="25"/>
          <p:cNvSpPr/>
          <p:nvPr/>
        </p:nvSpPr>
        <p:spPr>
          <a:xfrm flipH="false" flipV="false" rot="0">
            <a:off x="2252662" y="9734550"/>
            <a:ext cx="1167803" cy="281883"/>
          </a:xfrm>
          <a:custGeom>
            <a:avLst/>
            <a:gdLst/>
            <a:ahLst/>
            <a:cxnLst/>
            <a:rect r="r" b="b" t="t" l="l"/>
            <a:pathLst>
              <a:path h="281883" w="1167803">
                <a:moveTo>
                  <a:pt x="0" y="0"/>
                </a:moveTo>
                <a:lnTo>
                  <a:pt x="1167804" y="0"/>
                </a:lnTo>
                <a:lnTo>
                  <a:pt x="1167804" y="281883"/>
                </a:lnTo>
                <a:lnTo>
                  <a:pt x="0" y="281883"/>
                </a:lnTo>
                <a:lnTo>
                  <a:pt x="0" y="0"/>
                </a:lnTo>
                <a:close/>
              </a:path>
            </a:pathLst>
          </a:custGeom>
          <a:blipFill>
            <a:blip r:embed="rId15">
              <a:extLst>
                <a:ext uri="{96DAC541-7B7A-43D3-8B79-37D633B846F1}">
                  <asvg:svgBlip xmlns:asvg="http://schemas.microsoft.com/office/drawing/2016/SVG/main" r:embed="rId16"/>
                </a:ext>
              </a:extLst>
            </a:blip>
            <a:stretch>
              <a:fillRect l="0" t="-523" r="0" b="-520"/>
            </a:stretch>
          </a:blipFill>
        </p:spPr>
        <p:txBody>
          <a:bodyPr/>
          <a:p/>
        </p:txBody>
      </p:sp>
      <p:grpSp>
        <p:nvGrpSpPr>
          <p:cNvPr name="Group 26" id="26"/>
          <p:cNvGrpSpPr/>
          <p:nvPr/>
        </p:nvGrpSpPr>
        <p:grpSpPr>
          <a:xfrm rot="0">
            <a:off x="3871817" y="9851631"/>
            <a:ext cx="111585" cy="110604"/>
            <a:chOff x="0" y="0"/>
            <a:chExt cx="148780" cy="147472"/>
          </a:xfrm>
        </p:grpSpPr>
        <p:sp>
          <p:nvSpPr>
            <p:cNvPr name="Freeform 27" id="27"/>
            <p:cNvSpPr/>
            <p:nvPr/>
          </p:nvSpPr>
          <p:spPr>
            <a:xfrm flipH="false" flipV="false" rot="0">
              <a:off x="58" y="-51"/>
              <a:ext cx="148786" cy="147474"/>
            </a:xfrm>
            <a:custGeom>
              <a:avLst/>
              <a:gdLst/>
              <a:ahLst/>
              <a:cxnLst/>
              <a:rect r="r" b="b" t="t" l="l"/>
              <a:pathLst>
                <a:path h="147474" w="148786">
                  <a:moveTo>
                    <a:pt x="148786" y="52121"/>
                  </a:moveTo>
                  <a:cubicBezTo>
                    <a:pt x="128466" y="133401"/>
                    <a:pt x="119576" y="141021"/>
                    <a:pt x="106876" y="144831"/>
                  </a:cubicBezTo>
                  <a:cubicBezTo>
                    <a:pt x="89096" y="149911"/>
                    <a:pt x="53536" y="147371"/>
                    <a:pt x="35756" y="139751"/>
                  </a:cubicBezTo>
                  <a:cubicBezTo>
                    <a:pt x="24326" y="134671"/>
                    <a:pt x="16706" y="124511"/>
                    <a:pt x="10356" y="114351"/>
                  </a:cubicBezTo>
                  <a:cubicBezTo>
                    <a:pt x="4006" y="104191"/>
                    <a:pt x="-1074" y="92761"/>
                    <a:pt x="196" y="80061"/>
                  </a:cubicBezTo>
                  <a:cubicBezTo>
                    <a:pt x="196" y="61011"/>
                    <a:pt x="15436" y="27991"/>
                    <a:pt x="28136" y="15291"/>
                  </a:cubicBezTo>
                  <a:cubicBezTo>
                    <a:pt x="38296" y="5131"/>
                    <a:pt x="48456" y="1321"/>
                    <a:pt x="62426" y="51"/>
                  </a:cubicBezTo>
                  <a:cubicBezTo>
                    <a:pt x="80206" y="-1219"/>
                    <a:pt x="129736" y="21641"/>
                    <a:pt x="129736" y="21641"/>
                  </a:cubicBezTo>
                </a:path>
              </a:pathLst>
            </a:custGeom>
            <a:solidFill>
              <a:srgbClr val="FFFFFF"/>
            </a:solidFill>
          </p:spPr>
          <p:txBody>
            <a:bodyPr/>
            <a:p/>
          </p:txBody>
        </p:sp>
      </p:grpSp>
      <p:sp>
        <p:nvSpPr>
          <p:cNvPr name="Freeform 28" id="28"/>
          <p:cNvSpPr/>
          <p:nvPr/>
        </p:nvSpPr>
        <p:spPr>
          <a:xfrm flipH="false" flipV="false" rot="0">
            <a:off x="358140" y="9551670"/>
            <a:ext cx="6751320" cy="573824"/>
          </a:xfrm>
          <a:custGeom>
            <a:avLst/>
            <a:gdLst/>
            <a:ahLst/>
            <a:cxnLst/>
            <a:rect r="r" b="b" t="t" l="l"/>
            <a:pathLst>
              <a:path h="573824" w="6751320">
                <a:moveTo>
                  <a:pt x="0" y="0"/>
                </a:moveTo>
                <a:lnTo>
                  <a:pt x="6751320" y="0"/>
                </a:lnTo>
                <a:lnTo>
                  <a:pt x="6751320" y="573824"/>
                </a:lnTo>
                <a:lnTo>
                  <a:pt x="0" y="573824"/>
                </a:lnTo>
                <a:lnTo>
                  <a:pt x="0" y="0"/>
                </a:lnTo>
                <a:close/>
              </a:path>
            </a:pathLst>
          </a:custGeom>
          <a:blipFill>
            <a:blip r:embed="rId17">
              <a:extLst>
                <a:ext uri="{96DAC541-7B7A-43D3-8B79-37D633B846F1}">
                  <asvg:svgBlip xmlns:asvg="http://schemas.microsoft.com/office/drawing/2016/SVG/main" r:embed="rId18"/>
                </a:ext>
              </a:extLst>
            </a:blip>
            <a:stretch>
              <a:fillRect l="0" t="-612" r="0" b="-614"/>
            </a:stretch>
          </a:blipFill>
        </p:spPr>
        <p:txBody>
          <a:bodyPr/>
          <a:p/>
        </p:txBody>
      </p:sp>
      <p:grpSp>
        <p:nvGrpSpPr>
          <p:cNvPr name="Group 29" id="29"/>
          <p:cNvGrpSpPr/>
          <p:nvPr/>
        </p:nvGrpSpPr>
        <p:grpSpPr>
          <a:xfrm rot="0">
            <a:off x="1028700" y="9434036"/>
            <a:ext cx="13716000" cy="440055"/>
            <a:chOff x="0" y="0"/>
            <a:chExt cx="18288000" cy="586740"/>
          </a:xfrm>
        </p:grpSpPr>
        <p:sp>
          <p:nvSpPr>
            <p:cNvPr name="Freeform 30" id="30"/>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3">
                <a:alphaModFix amt="0"/>
              </a:blip>
              <a:stretch>
                <a:fillRect l="0" t="-556902" r="0" b="-556904"/>
              </a:stretch>
            </a:blipFill>
          </p:spPr>
          <p:txBody>
            <a:bodyPr/>
            <a:p/>
          </p:txBody>
        </p:sp>
      </p:grpSp>
      <p:grpSp>
        <p:nvGrpSpPr>
          <p:cNvPr name="Group 31" id="31"/>
          <p:cNvGrpSpPr/>
          <p:nvPr/>
        </p:nvGrpSpPr>
        <p:grpSpPr>
          <a:xfrm rot="0">
            <a:off x="1028700" y="9405461"/>
            <a:ext cx="13716000" cy="468630"/>
            <a:chOff x="0" y="0"/>
            <a:chExt cx="18288000" cy="624840"/>
          </a:xfrm>
        </p:grpSpPr>
        <p:sp>
          <p:nvSpPr>
            <p:cNvPr name="Freeform 32" id="32"/>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4">
                <a:alphaModFix amt="0"/>
              </a:blip>
              <a:stretch>
                <a:fillRect l="0" t="-519896" r="0" b="-519898"/>
              </a:stretch>
            </a:blipFill>
          </p:spPr>
          <p:txBody>
            <a:bodyPr/>
            <a:p/>
          </p:txBody>
        </p:sp>
      </p:grpSp>
      <p:grpSp>
        <p:nvGrpSpPr>
          <p:cNvPr name="Group 33" id="33"/>
          <p:cNvGrpSpPr/>
          <p:nvPr/>
        </p:nvGrpSpPr>
        <p:grpSpPr>
          <a:xfrm rot="0">
            <a:off x="1028700" y="9376886"/>
            <a:ext cx="13716000" cy="497205"/>
            <a:chOff x="0" y="0"/>
            <a:chExt cx="18288000" cy="662940"/>
          </a:xfrm>
        </p:grpSpPr>
        <p:sp>
          <p:nvSpPr>
            <p:cNvPr name="Freeform 34" id="34"/>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5">
                <a:alphaModFix amt="0"/>
              </a:blip>
              <a:stretch>
                <a:fillRect l="0" t="-487518" r="0" b="-487518"/>
              </a:stretch>
            </a:blipFill>
          </p:spPr>
          <p:txBody>
            <a:bodyPr/>
            <a:p/>
          </p:txBody>
        </p:sp>
        <p:sp>
          <p:nvSpPr>
            <p:cNvPr name="TextBox 35" id="35"/>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grpSp>
        <p:nvGrpSpPr>
          <p:cNvPr name="Group 36" id="36"/>
          <p:cNvGrpSpPr/>
          <p:nvPr/>
        </p:nvGrpSpPr>
        <p:grpSpPr>
          <a:xfrm rot="0">
            <a:off x="804672" y="2039112"/>
            <a:ext cx="10149840" cy="1161288"/>
            <a:chOff x="0" y="0"/>
            <a:chExt cx="13533120" cy="1548384"/>
          </a:xfrm>
        </p:grpSpPr>
        <p:sp>
          <p:nvSpPr>
            <p:cNvPr name="Freeform 37" id="37"/>
            <p:cNvSpPr/>
            <p:nvPr/>
          </p:nvSpPr>
          <p:spPr>
            <a:xfrm flipH="false" flipV="false" rot="0">
              <a:off x="0" y="0"/>
              <a:ext cx="13533120" cy="1548384"/>
            </a:xfrm>
            <a:custGeom>
              <a:avLst/>
              <a:gdLst/>
              <a:ahLst/>
              <a:cxnLst/>
              <a:rect r="r" b="b" t="t" l="l"/>
              <a:pathLst>
                <a:path h="1548384" w="13533120">
                  <a:moveTo>
                    <a:pt x="0" y="123825"/>
                  </a:moveTo>
                  <a:cubicBezTo>
                    <a:pt x="0" y="55499"/>
                    <a:pt x="55499" y="0"/>
                    <a:pt x="123825" y="0"/>
                  </a:cubicBezTo>
                  <a:lnTo>
                    <a:pt x="13409295" y="0"/>
                  </a:lnTo>
                  <a:cubicBezTo>
                    <a:pt x="13477748" y="0"/>
                    <a:pt x="13533120" y="55499"/>
                    <a:pt x="13533120" y="123825"/>
                  </a:cubicBezTo>
                  <a:lnTo>
                    <a:pt x="13533120" y="1424559"/>
                  </a:lnTo>
                  <a:cubicBezTo>
                    <a:pt x="13533120" y="1493012"/>
                    <a:pt x="13477621" y="1548384"/>
                    <a:pt x="13409295" y="1548384"/>
                  </a:cubicBezTo>
                  <a:lnTo>
                    <a:pt x="123825" y="1548384"/>
                  </a:lnTo>
                  <a:cubicBezTo>
                    <a:pt x="55372" y="1548384"/>
                    <a:pt x="0" y="1492885"/>
                    <a:pt x="0" y="1424559"/>
                  </a:cubicBezTo>
                  <a:close/>
                </a:path>
              </a:pathLst>
            </a:custGeom>
            <a:solidFill>
              <a:srgbClr val="FBF0DA"/>
            </a:solidFill>
          </p:spPr>
          <p:txBody>
            <a:bodyPr/>
            <a:p/>
          </p:txBody>
        </p:sp>
      </p:grpSp>
      <p:grpSp>
        <p:nvGrpSpPr>
          <p:cNvPr name="Group 38" id="38"/>
          <p:cNvGrpSpPr/>
          <p:nvPr/>
        </p:nvGrpSpPr>
        <p:grpSpPr>
          <a:xfrm rot="0">
            <a:off x="1051560" y="2103120"/>
            <a:ext cx="9692640" cy="1051560"/>
            <a:chOff x="0" y="0"/>
            <a:chExt cx="12923520" cy="1402080"/>
          </a:xfrm>
        </p:grpSpPr>
        <p:sp>
          <p:nvSpPr>
            <p:cNvPr name="Freeform 39" id="39"/>
            <p:cNvSpPr/>
            <p:nvPr/>
          </p:nvSpPr>
          <p:spPr>
            <a:xfrm flipH="false" flipV="false" rot="0">
              <a:off x="0" y="0"/>
              <a:ext cx="12923520" cy="1402080"/>
            </a:xfrm>
            <a:custGeom>
              <a:avLst/>
              <a:gdLst/>
              <a:ahLst/>
              <a:cxnLst/>
              <a:rect r="r" b="b" t="t" l="l"/>
              <a:pathLst>
                <a:path h="1402080" w="12923520">
                  <a:moveTo>
                    <a:pt x="0" y="0"/>
                  </a:moveTo>
                  <a:lnTo>
                    <a:pt x="12923520" y="0"/>
                  </a:lnTo>
                  <a:lnTo>
                    <a:pt x="12923520" y="1402080"/>
                  </a:lnTo>
                  <a:lnTo>
                    <a:pt x="0" y="1402080"/>
                  </a:lnTo>
                  <a:close/>
                </a:path>
              </a:pathLst>
            </a:custGeom>
            <a:blipFill>
              <a:blip r:embed="rId4">
                <a:alphaModFix amt="0"/>
              </a:blip>
              <a:stretch>
                <a:fillRect l="0" t="-129476" r="0" b="-129476"/>
              </a:stretch>
            </a:blipFill>
          </p:spPr>
          <p:txBody>
            <a:bodyPr/>
            <a:p/>
          </p:txBody>
        </p:sp>
      </p:grpSp>
      <p:grpSp>
        <p:nvGrpSpPr>
          <p:cNvPr name="Group 40" id="40"/>
          <p:cNvGrpSpPr/>
          <p:nvPr/>
        </p:nvGrpSpPr>
        <p:grpSpPr>
          <a:xfrm rot="0">
            <a:off x="1051560" y="2067401"/>
            <a:ext cx="9692640" cy="1087279"/>
            <a:chOff x="0" y="0"/>
            <a:chExt cx="12923520" cy="1449705"/>
          </a:xfrm>
        </p:grpSpPr>
        <p:sp>
          <p:nvSpPr>
            <p:cNvPr name="Freeform 41" id="41"/>
            <p:cNvSpPr/>
            <p:nvPr/>
          </p:nvSpPr>
          <p:spPr>
            <a:xfrm flipH="false" flipV="false" rot="0">
              <a:off x="0" y="0"/>
              <a:ext cx="12923520" cy="1449705"/>
            </a:xfrm>
            <a:custGeom>
              <a:avLst/>
              <a:gdLst/>
              <a:ahLst/>
              <a:cxnLst/>
              <a:rect r="r" b="b" t="t" l="l"/>
              <a:pathLst>
                <a:path h="1449705" w="12923520">
                  <a:moveTo>
                    <a:pt x="0" y="0"/>
                  </a:moveTo>
                  <a:lnTo>
                    <a:pt x="12923520" y="0"/>
                  </a:lnTo>
                  <a:lnTo>
                    <a:pt x="12923520" y="1449705"/>
                  </a:lnTo>
                  <a:lnTo>
                    <a:pt x="0" y="1449705"/>
                  </a:lnTo>
                  <a:close/>
                </a:path>
              </a:pathLst>
            </a:custGeom>
            <a:blipFill>
              <a:blip r:embed="rId5">
                <a:alphaModFix amt="0"/>
              </a:blip>
              <a:stretch>
                <a:fillRect l="0" t="-123701" r="0" b="-123701"/>
              </a:stretch>
            </a:blipFill>
          </p:spPr>
          <p:txBody>
            <a:bodyPr/>
            <a:p/>
          </p:txBody>
        </p:sp>
        <p:sp>
          <p:nvSpPr>
            <p:cNvPr name="TextBox 42" id="42"/>
            <p:cNvSpPr txBox="true"/>
            <p:nvPr/>
          </p:nvSpPr>
          <p:spPr>
            <a:xfrm>
              <a:off x="0" y="-47625"/>
              <a:ext cx="12923520" cy="1497330"/>
            </a:xfrm>
            <a:prstGeom prst="rect">
              <a:avLst/>
            </a:prstGeom>
          </p:spPr>
          <p:txBody>
            <a:bodyPr anchor="ctr" rtlCol="false" tIns="0" lIns="0" bIns="0" rIns="0"/>
            <a:lstStyle/>
            <a:p>
              <a:pPr algn="l">
                <a:lnSpc>
                  <a:spcPts val="2289"/>
                </a:lnSpc>
              </a:pPr>
              <a:r>
                <a:rPr lang="en-US" sz="1800" b="true">
                  <a:solidFill>
                    <a:srgbClr val="B86E0E"/>
                  </a:solidFill>
                  <a:latin typeface="Calibri (MS) Bold"/>
                  <a:ea typeface="Calibri (MS) Bold"/>
                  <a:cs typeface="Calibri (MS) Bold"/>
                  <a:sym typeface="Calibri (MS) Bold"/>
                </a:rPr>
                <a:t>Báo cáo gốc  </a:t>
              </a:r>
              <a:r>
                <a:rPr lang="en-US" sz="1800">
                  <a:solidFill>
                    <a:srgbClr val="243044"/>
                  </a:solidFill>
                  <a:latin typeface="Calibri (MS)"/>
                  <a:ea typeface="Calibri (MS)"/>
                  <a:cs typeface="Calibri (MS)"/>
                  <a:sym typeface="Calibri (MS)"/>
                </a:rPr>
                <a:t>Qwen2.5-VL Technical Report (Bai et al., 2025), Table 5 — TextVQA val, Qwen2.5-VL-3B = </a:t>
              </a:r>
              <a:r>
                <a:rPr lang="en-US" sz="1800" b="true">
                  <a:solidFill>
                    <a:srgbClr val="13294B"/>
                  </a:solidFill>
                  <a:latin typeface="Calibri (MS) Bold"/>
                  <a:ea typeface="Calibri (MS) Bold"/>
                  <a:cs typeface="Calibri (MS) Bold"/>
                  <a:sym typeface="Calibri (MS) Bold"/>
                </a:rPr>
                <a:t>79,3</a:t>
              </a:r>
            </a:p>
            <a:p>
              <a:pPr algn="l">
                <a:lnSpc>
                  <a:spcPts val="1909"/>
                </a:lnSpc>
              </a:pPr>
              <a:r>
                <a:rPr lang="en-US" sz="1500" u="sng">
                  <a:solidFill>
                    <a:srgbClr val="0000FF"/>
                  </a:solidFill>
                  <a:latin typeface="Calibri (MS)"/>
                  <a:ea typeface="Calibri (MS)"/>
                  <a:cs typeface="Calibri (MS)"/>
                  <a:sym typeface="Calibri (MS)"/>
                  <a:hlinkClick r:id="rId19" tooltip="https://arxiv.org/abs/2502.13923"/>
                </a:rPr>
                <a:t>arxiv.org/abs/2502.13923 ↗</a:t>
              </a:r>
            </a:p>
          </p:txBody>
        </p:sp>
      </p:grpSp>
      <p:grpSp>
        <p:nvGrpSpPr>
          <p:cNvPr name="Group 43" id="43"/>
          <p:cNvGrpSpPr/>
          <p:nvPr/>
        </p:nvGrpSpPr>
        <p:grpSpPr>
          <a:xfrm rot="0">
            <a:off x="1124712" y="3310128"/>
            <a:ext cx="9509760" cy="3506210"/>
            <a:chOff x="0" y="0"/>
            <a:chExt cx="12679680" cy="4674946"/>
          </a:xfrm>
        </p:grpSpPr>
        <p:sp>
          <p:nvSpPr>
            <p:cNvPr name="Freeform 44" id="44" descr="cell19a.png"/>
            <p:cNvSpPr/>
            <p:nvPr/>
          </p:nvSpPr>
          <p:spPr>
            <a:xfrm flipH="false" flipV="false" rot="0">
              <a:off x="0" y="0"/>
              <a:ext cx="12679680" cy="4674997"/>
            </a:xfrm>
            <a:custGeom>
              <a:avLst/>
              <a:gdLst/>
              <a:ahLst/>
              <a:cxnLst/>
              <a:rect r="r" b="b" t="t" l="l"/>
              <a:pathLst>
                <a:path h="4674997" w="12679680">
                  <a:moveTo>
                    <a:pt x="0" y="0"/>
                  </a:moveTo>
                  <a:lnTo>
                    <a:pt x="12679680" y="0"/>
                  </a:lnTo>
                  <a:lnTo>
                    <a:pt x="12679680" y="4674997"/>
                  </a:lnTo>
                  <a:lnTo>
                    <a:pt x="0" y="4674997"/>
                  </a:lnTo>
                  <a:lnTo>
                    <a:pt x="0" y="0"/>
                  </a:lnTo>
                  <a:close/>
                </a:path>
              </a:pathLst>
            </a:custGeom>
            <a:blipFill>
              <a:blip r:embed="rId20"/>
              <a:stretch>
                <a:fillRect l="0" t="0" r="0" b="1"/>
              </a:stretch>
            </a:blipFill>
          </p:spPr>
          <p:txBody>
            <a:bodyPr/>
            <a:p/>
          </p:txBody>
        </p:sp>
      </p:grpSp>
      <p:grpSp>
        <p:nvGrpSpPr>
          <p:cNvPr name="Group 45" id="45"/>
          <p:cNvGrpSpPr/>
          <p:nvPr/>
        </p:nvGrpSpPr>
        <p:grpSpPr>
          <a:xfrm rot="0">
            <a:off x="1124712" y="6953498"/>
            <a:ext cx="9509760" cy="1124636"/>
            <a:chOff x="0" y="0"/>
            <a:chExt cx="12679680" cy="1499514"/>
          </a:xfrm>
        </p:grpSpPr>
        <p:sp>
          <p:nvSpPr>
            <p:cNvPr name="Freeform 46" id="46" descr="cell19b.png"/>
            <p:cNvSpPr/>
            <p:nvPr/>
          </p:nvSpPr>
          <p:spPr>
            <a:xfrm flipH="false" flipV="false" rot="0">
              <a:off x="0" y="0"/>
              <a:ext cx="12679680" cy="1499489"/>
            </a:xfrm>
            <a:custGeom>
              <a:avLst/>
              <a:gdLst/>
              <a:ahLst/>
              <a:cxnLst/>
              <a:rect r="r" b="b" t="t" l="l"/>
              <a:pathLst>
                <a:path h="1499489" w="12679680">
                  <a:moveTo>
                    <a:pt x="0" y="0"/>
                  </a:moveTo>
                  <a:lnTo>
                    <a:pt x="12679680" y="0"/>
                  </a:lnTo>
                  <a:lnTo>
                    <a:pt x="12679680" y="1499489"/>
                  </a:lnTo>
                  <a:lnTo>
                    <a:pt x="0" y="1499489"/>
                  </a:lnTo>
                  <a:lnTo>
                    <a:pt x="0" y="0"/>
                  </a:lnTo>
                  <a:close/>
                </a:path>
              </a:pathLst>
            </a:custGeom>
            <a:blipFill>
              <a:blip r:embed="rId21"/>
              <a:stretch>
                <a:fillRect l="0" t="0" r="0" b="-1"/>
              </a:stretch>
            </a:blipFill>
          </p:spPr>
          <p:txBody>
            <a:bodyP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grpSp>
        <p:nvGrpSpPr>
          <p:cNvPr name="Group 4" id="4"/>
          <p:cNvGrpSpPr/>
          <p:nvPr/>
        </p:nvGrpSpPr>
        <p:grpSpPr>
          <a:xfrm rot="0">
            <a:off x="822960" y="9641205"/>
            <a:ext cx="13716000" cy="440055"/>
            <a:chOff x="0" y="0"/>
            <a:chExt cx="18288000" cy="586740"/>
          </a:xfrm>
        </p:grpSpPr>
        <p:sp>
          <p:nvSpPr>
            <p:cNvPr name="Freeform 5" id="5"/>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3">
                <a:alphaModFix amt="0"/>
              </a:blip>
              <a:stretch>
                <a:fillRect l="0" t="-556902" r="0" b="-556904"/>
              </a:stretch>
            </a:blipFill>
          </p:spPr>
          <p:txBody>
            <a:bodyPr/>
            <a:p/>
          </p:txBody>
        </p:sp>
      </p:grpSp>
      <p:grpSp>
        <p:nvGrpSpPr>
          <p:cNvPr name="Group 6" id="6"/>
          <p:cNvGrpSpPr/>
          <p:nvPr/>
        </p:nvGrpSpPr>
        <p:grpSpPr>
          <a:xfrm rot="0">
            <a:off x="822960" y="9612630"/>
            <a:ext cx="13716000" cy="468630"/>
            <a:chOff x="0" y="0"/>
            <a:chExt cx="18288000" cy="624840"/>
          </a:xfrm>
        </p:grpSpPr>
        <p:sp>
          <p:nvSpPr>
            <p:cNvPr name="Freeform 7" id="7"/>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4">
                <a:alphaModFix amt="0"/>
              </a:blip>
              <a:stretch>
                <a:fillRect l="0" t="-519896" r="0" b="-519898"/>
              </a:stretch>
            </a:blipFill>
          </p:spPr>
          <p:txBody>
            <a:bodyPr/>
            <a:p/>
          </p:txBody>
        </p:sp>
      </p:grpSp>
      <p:grpSp>
        <p:nvGrpSpPr>
          <p:cNvPr name="Group 8" id="8"/>
          <p:cNvGrpSpPr/>
          <p:nvPr/>
        </p:nvGrpSpPr>
        <p:grpSpPr>
          <a:xfrm rot="0">
            <a:off x="822960" y="9584055"/>
            <a:ext cx="13716000" cy="497205"/>
            <a:chOff x="0" y="0"/>
            <a:chExt cx="18288000" cy="662940"/>
          </a:xfrm>
        </p:grpSpPr>
        <p:sp>
          <p:nvSpPr>
            <p:cNvPr name="Freeform 9" id="9"/>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5">
                <a:alphaModFix amt="0"/>
              </a:blip>
              <a:stretch>
                <a:fillRect l="0" t="-487518" r="0" b="-487518"/>
              </a:stretch>
            </a:blipFill>
          </p:spPr>
          <p:txBody>
            <a:bodyPr/>
            <a:p/>
          </p:txBody>
        </p:sp>
        <p:sp>
          <p:nvSpPr>
            <p:cNvPr name="TextBox 10" id="10"/>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Review 2 (cộng dồn) · GFA26AI35 · Đại học FPT</a:t>
              </a:r>
            </a:p>
          </p:txBody>
        </p:sp>
      </p:grpSp>
      <p:sp>
        <p:nvSpPr>
          <p:cNvPr name="TextBox 11" id="11"/>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EXISTING SYSTEM · 03 · BASELINE ZERO-SHOT (B1)</a:t>
            </a:r>
          </a:p>
        </p:txBody>
      </p:sp>
      <p:sp>
        <p:nvSpPr>
          <p:cNvPr name="TextBox 12" id="12"/>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Zero-shot sai chủ yếu ở định dạng câu trả lời</a:t>
            </a:r>
          </a:p>
        </p:txBody>
      </p:sp>
      <p:graphicFrame>
        <p:nvGraphicFramePr>
          <p:cNvPr name="Table 13" id="13"/>
          <p:cNvGraphicFramePr>
            <a:graphicFrameLocks noGrp="true"/>
          </p:cNvGraphicFramePr>
          <p:nvPr/>
        </p:nvGraphicFramePr>
        <p:xfrm>
          <a:off x="822960" y="2125980"/>
          <a:ext cx="8953500" cy="2743200"/>
        </p:xfrm>
        <a:graphic>
          <a:graphicData uri="http://schemas.openxmlformats.org/drawingml/2006/table">
            <a:tbl>
              <a:tblPr/>
              <a:tblGrid>
                <a:gridCol w="4393709"/>
                <a:gridCol w="1519930"/>
                <a:gridCol w="1519930"/>
                <a:gridCol w="1519930"/>
              </a:tblGrid>
              <a:tr h="68580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Tập test</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EM</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ANLS</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F1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r>
              <a:tr h="685800">
                <a:tc>
                  <a:txBody>
                    <a:bodyPr anchor="t" rtlCol="false"/>
                    <a:lstStyle/>
                    <a:p>
                      <a:pPr algn="l">
                        <a:lnSpc>
                          <a:spcPts val="2520"/>
                        </a:lnSpc>
                        <a:defRPr/>
                      </a:pPr>
                      <a:r>
                        <a:rPr lang="en-US" sz="2100">
                          <a:solidFill>
                            <a:srgbClr val="243044"/>
                          </a:solidFill>
                          <a:latin typeface="Calibri (MS)"/>
                          <a:ea typeface="Calibri (MS)"/>
                          <a:cs typeface="Calibri (MS)"/>
                          <a:sym typeface="Calibri (MS)"/>
                        </a:rPr>
                        <a:t>ViVQA (3.001)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22,1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28,6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38,1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520"/>
                        </a:lnSpc>
                        <a:defRPr/>
                      </a:pPr>
                      <a:r>
                        <a:rPr lang="en-US" sz="2100">
                          <a:solidFill>
                            <a:srgbClr val="243044"/>
                          </a:solidFill>
                          <a:latin typeface="Calibri (MS)"/>
                          <a:ea typeface="Calibri (MS)"/>
                          <a:cs typeface="Calibri (MS)"/>
                          <a:sym typeface="Calibri (MS)"/>
                        </a:rPr>
                        <a:t>ViTextVQA tập con (2.000)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28,8</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47,5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53,8</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520"/>
                        </a:lnSpc>
                        <a:defRPr/>
                      </a:pPr>
                      <a:r>
                        <a:rPr lang="en-US" sz="2100">
                          <a:solidFill>
                            <a:srgbClr val="243044"/>
                          </a:solidFill>
                          <a:latin typeface="Calibri (MS)"/>
                          <a:ea typeface="Calibri (MS)"/>
                          <a:cs typeface="Calibri (MS)"/>
                          <a:sym typeface="Calibri (MS)"/>
                        </a:rPr>
                        <a:t>ViTextVQA đầy đủ (10.028)</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29,1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47,6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53,9</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bl>
          </a:graphicData>
        </a:graphic>
      </p:graphicFrame>
      <p:sp>
        <p:nvSpPr>
          <p:cNvPr name="Freeform 14" id="14"/>
          <p:cNvSpPr/>
          <p:nvPr/>
        </p:nvSpPr>
        <p:spPr>
          <a:xfrm flipH="false" flipV="false" rot="0">
            <a:off x="806291" y="5263991"/>
            <a:ext cx="9085898" cy="4148138"/>
          </a:xfrm>
          <a:custGeom>
            <a:avLst/>
            <a:gdLst/>
            <a:ahLst/>
            <a:cxnLst/>
            <a:rect r="r" b="b" t="t" l="l"/>
            <a:pathLst>
              <a:path h="4148138" w="9085898">
                <a:moveTo>
                  <a:pt x="0" y="0"/>
                </a:moveTo>
                <a:lnTo>
                  <a:pt x="9085898" y="0"/>
                </a:lnTo>
                <a:lnTo>
                  <a:pt x="9085898" y="4148138"/>
                </a:lnTo>
                <a:lnTo>
                  <a:pt x="0" y="4148138"/>
                </a:lnTo>
                <a:lnTo>
                  <a:pt x="0" y="0"/>
                </a:lnTo>
                <a:close/>
              </a:path>
            </a:pathLst>
          </a:custGeom>
          <a:blipFill>
            <a:blip r:embed="rId6">
              <a:extLst>
                <a:ext uri="{96DAC541-7B7A-43D3-8B79-37D633B846F1}">
                  <asvg:svgBlip xmlns:asvg="http://schemas.microsoft.com/office/drawing/2016/SVG/main" r:embed="rId7"/>
                </a:ext>
              </a:extLst>
            </a:blip>
            <a:stretch>
              <a:fillRect l="0" t="-52" r="0" b="-52"/>
            </a:stretch>
          </a:blipFill>
        </p:spPr>
        <p:txBody>
          <a:bodyPr/>
          <a:p/>
        </p:txBody>
      </p:sp>
      <p:sp>
        <p:nvSpPr>
          <p:cNvPr name="TextBox 15" id="15"/>
          <p:cNvSpPr txBox="true"/>
          <p:nvPr/>
        </p:nvSpPr>
        <p:spPr>
          <a:xfrm rot="0">
            <a:off x="1234440" y="5334000"/>
            <a:ext cx="8229600"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ViVQA EM theo loại câu hỏi</a:t>
            </a:r>
          </a:p>
        </p:txBody>
      </p:sp>
      <p:grpSp>
        <p:nvGrpSpPr>
          <p:cNvPr name="Group 16" id="16"/>
          <p:cNvGrpSpPr/>
          <p:nvPr/>
        </p:nvGrpSpPr>
        <p:grpSpPr>
          <a:xfrm rot="0">
            <a:off x="246888" y="5184648"/>
            <a:ext cx="10204704" cy="4924044"/>
            <a:chOff x="0" y="0"/>
            <a:chExt cx="13606272" cy="6565392"/>
          </a:xfrm>
        </p:grpSpPr>
        <p:sp>
          <p:nvSpPr>
            <p:cNvPr name="Freeform 17" id="17"/>
            <p:cNvSpPr/>
            <p:nvPr/>
          </p:nvSpPr>
          <p:spPr>
            <a:xfrm flipH="false" flipV="false" rot="0">
              <a:off x="0" y="0"/>
              <a:ext cx="13606272" cy="6565392"/>
            </a:xfrm>
            <a:custGeom>
              <a:avLst/>
              <a:gdLst/>
              <a:ahLst/>
              <a:cxnLst/>
              <a:rect r="r" b="b" t="t" l="l"/>
              <a:pathLst>
                <a:path h="6565392" w="13606272">
                  <a:moveTo>
                    <a:pt x="0" y="0"/>
                  </a:moveTo>
                  <a:lnTo>
                    <a:pt x="13606272" y="0"/>
                  </a:lnTo>
                  <a:lnTo>
                    <a:pt x="13606272" y="6565392"/>
                  </a:lnTo>
                  <a:lnTo>
                    <a:pt x="0" y="6565392"/>
                  </a:lnTo>
                  <a:lnTo>
                    <a:pt x="0" y="0"/>
                  </a:lnTo>
                  <a:close/>
                </a:path>
              </a:pathLst>
            </a:custGeom>
            <a:blipFill>
              <a:blip r:embed="rId8"/>
              <a:stretch>
                <a:fillRect l="0" t="-20" r="0" b="-20"/>
              </a:stretch>
            </a:blipFill>
          </p:spPr>
          <p:txBody>
            <a:bodyPr/>
            <a:p/>
          </p:txBody>
        </p:sp>
      </p:grpSp>
      <p:sp>
        <p:nvSpPr>
          <p:cNvPr name="Freeform 18" id="18"/>
          <p:cNvSpPr/>
          <p:nvPr/>
        </p:nvSpPr>
        <p:spPr>
          <a:xfrm flipH="false" flipV="false" rot="0">
            <a:off x="10407491" y="2109311"/>
            <a:ext cx="7073741" cy="7302818"/>
          </a:xfrm>
          <a:custGeom>
            <a:avLst/>
            <a:gdLst/>
            <a:ahLst/>
            <a:cxnLst/>
            <a:rect r="r" b="b" t="t" l="l"/>
            <a:pathLst>
              <a:path h="7302818" w="7073741">
                <a:moveTo>
                  <a:pt x="0" y="0"/>
                </a:moveTo>
                <a:lnTo>
                  <a:pt x="7073741" y="0"/>
                </a:lnTo>
                <a:lnTo>
                  <a:pt x="7073741" y="7302818"/>
                </a:lnTo>
                <a:lnTo>
                  <a:pt x="0" y="7302818"/>
                </a:lnTo>
                <a:lnTo>
                  <a:pt x="0" y="0"/>
                </a:lnTo>
                <a:close/>
              </a:path>
            </a:pathLst>
          </a:custGeom>
          <a:blipFill>
            <a:blip r:embed="rId9">
              <a:extLst>
                <a:ext uri="{96DAC541-7B7A-43D3-8B79-37D633B846F1}">
                  <asvg:svgBlip xmlns:asvg="http://schemas.microsoft.com/office/drawing/2016/SVG/main" r:embed="rId10"/>
                </a:ext>
              </a:extLst>
            </a:blip>
            <a:stretch>
              <a:fillRect l="-4" t="0" r="-3" b="0"/>
            </a:stretch>
          </a:blipFill>
        </p:spPr>
        <p:txBody>
          <a:bodyPr/>
          <a:p/>
        </p:txBody>
      </p:sp>
      <p:sp>
        <p:nvSpPr>
          <p:cNvPr name="TextBox 19" id="19"/>
          <p:cNvSpPr txBox="true"/>
          <p:nvPr/>
        </p:nvSpPr>
        <p:spPr>
          <a:xfrm rot="0">
            <a:off x="10835640" y="2179320"/>
            <a:ext cx="6217463"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Lỗi chính: trả lời dài dòng</a:t>
            </a:r>
          </a:p>
        </p:txBody>
      </p:sp>
      <p:sp>
        <p:nvSpPr>
          <p:cNvPr name="TextBox 20" id="20"/>
          <p:cNvSpPr txBox="true"/>
          <p:nvPr/>
        </p:nvSpPr>
        <p:spPr>
          <a:xfrm rot="0">
            <a:off x="10835640" y="2788920"/>
            <a:ext cx="6217463" cy="6400800"/>
          </a:xfrm>
          <a:prstGeom prst="rect">
            <a:avLst/>
          </a:prstGeom>
        </p:spPr>
        <p:txBody>
          <a:bodyPr anchor="t" rtlCol="false" tIns="0" lIns="0" bIns="0" rIns="0">
            <a:spAutoFit/>
          </a:bodyPr>
          <a:lstStyle/>
          <a:p>
            <a:pPr algn="l" marL="712786" indent="-142557" lvl="4">
              <a:lnSpc>
                <a:spcPts val="2700"/>
              </a:lnSpc>
              <a:buFont typeface="Arial"/>
              <a:buChar char="•"/>
            </a:pPr>
            <a:r>
              <a:rPr lang="en-US" sz="2250">
                <a:solidFill>
                  <a:srgbClr val="243044"/>
                </a:solidFill>
                <a:latin typeface="Calibri (MS)"/>
                <a:ea typeface="Calibri (MS)"/>
                <a:cs typeface="Calibri (MS)"/>
                <a:sym typeface="Calibri (MS)"/>
              </a:rPr>
              <a:t>Số từ mỗi câu trả lời: 2,9 so với gold 1,6 (ViVQA); 5,5 so với 3,7 (ViTextVQA)</a:t>
            </a:r>
          </a:p>
          <a:p>
            <a:pPr algn="l" marL="712786" indent="-142557" lvl="4">
              <a:lnSpc>
                <a:spcPts val="2700"/>
              </a:lnSpc>
              <a:buFont typeface="Arial"/>
              <a:buChar char="•"/>
            </a:pPr>
            <a:r>
              <a:rPr lang="en-US" sz="2250">
                <a:solidFill>
                  <a:srgbClr val="243044"/>
                </a:solidFill>
                <a:latin typeface="Calibri (MS)"/>
                <a:ea typeface="Calibri (MS)"/>
                <a:cs typeface="Calibri (MS)"/>
                <a:sym typeface="Calibri (MS)"/>
              </a:rPr>
              <a:t>19% câu trả lời ViTextVQA chứa đáp án gold nhưng vẫn trượt EM</a:t>
            </a:r>
          </a:p>
          <a:p>
            <a:pPr algn="l" marL="712786" indent="-142557" lvl="4">
              <a:lnSpc>
                <a:spcPts val="2700"/>
              </a:lnSpc>
              <a:buFont typeface="Arial"/>
              <a:buChar char="•"/>
            </a:pPr>
            <a:r>
              <a:rPr lang="en-US" sz="2250">
                <a:solidFill>
                  <a:srgbClr val="243044"/>
                </a:solidFill>
                <a:latin typeface="Calibri (MS)"/>
                <a:ea typeface="Calibri (MS)"/>
                <a:cs typeface="Calibri (MS)"/>
                <a:sym typeface="Calibri (MS)"/>
              </a:rPr>
              <a:t>“Lịch tết năm 2021” so với gold “2021”</a:t>
            </a:r>
          </a:p>
          <a:p>
            <a:pPr algn="l" marL="712786" indent="-142557" lvl="4">
              <a:lnSpc>
                <a:spcPts val="2700"/>
              </a:lnSpc>
              <a:buFont typeface="Arial"/>
              <a:buChar char="•"/>
            </a:pPr>
            <a:r>
              <a:rPr lang="en-US" sz="2250">
                <a:solidFill>
                  <a:srgbClr val="243044"/>
                </a:solidFill>
                <a:latin typeface="Calibri (MS)"/>
                <a:ea typeface="Calibri (MS)"/>
                <a:cs typeface="Calibri (MS)"/>
                <a:sym typeface="Calibri (MS)"/>
              </a:rPr>
              <a:t>Ngoài ra: chen tiếng Anh (“truck”), hallucination, gold nhiễu (“tía”)</a:t>
            </a:r>
          </a:p>
        </p:txBody>
      </p:sp>
      <p:grpSp>
        <p:nvGrpSpPr>
          <p:cNvPr name="Group 21" id="21"/>
          <p:cNvGrpSpPr/>
          <p:nvPr/>
        </p:nvGrpSpPr>
        <p:grpSpPr>
          <a:xfrm rot="0">
            <a:off x="15458732" y="0"/>
            <a:ext cx="2829306" cy="1184338"/>
            <a:chOff x="0" y="0"/>
            <a:chExt cx="3772408" cy="1579118"/>
          </a:xfrm>
        </p:grpSpPr>
        <p:sp>
          <p:nvSpPr>
            <p:cNvPr name="Freeform 22" id="22"/>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11"/>
              <a:stretch>
                <a:fillRect l="0" t="0" r="0" b="0"/>
              </a:stretch>
            </a:blipFill>
          </p:spPr>
          <p:txBody>
            <a:bodyPr/>
            <a:p/>
          </p:txBody>
        </p:sp>
      </p:grpSp>
      <p:sp>
        <p:nvSpPr>
          <p:cNvPr name="Freeform 23" id="23"/>
          <p:cNvSpPr/>
          <p:nvPr/>
        </p:nvSpPr>
        <p:spPr>
          <a:xfrm flipH="false" flipV="false" rot="0">
            <a:off x="-69161" y="9678895"/>
            <a:ext cx="7859801" cy="506120"/>
          </a:xfrm>
          <a:custGeom>
            <a:avLst/>
            <a:gdLst/>
            <a:ahLst/>
            <a:cxnLst/>
            <a:rect r="r" b="b" t="t" l="l"/>
            <a:pathLst>
              <a:path h="506120" w="7859801">
                <a:moveTo>
                  <a:pt x="0" y="0"/>
                </a:moveTo>
                <a:lnTo>
                  <a:pt x="7859801" y="0"/>
                </a:lnTo>
                <a:lnTo>
                  <a:pt x="7859801" y="506121"/>
                </a:lnTo>
                <a:lnTo>
                  <a:pt x="0" y="506121"/>
                </a:lnTo>
                <a:lnTo>
                  <a:pt x="0" y="0"/>
                </a:lnTo>
                <a:close/>
              </a:path>
            </a:pathLst>
          </a:custGeom>
          <a:blipFill>
            <a:blip r:embed="rId12">
              <a:extLst>
                <a:ext uri="{96DAC541-7B7A-43D3-8B79-37D633B846F1}">
                  <asvg:svgBlip xmlns:asvg="http://schemas.microsoft.com/office/drawing/2016/SVG/main" r:embed="rId13"/>
                </a:ext>
              </a:extLst>
            </a:blip>
            <a:stretch>
              <a:fillRect l="0" t="-762" r="0" b="-762"/>
            </a:stretch>
          </a:blipFill>
        </p:spPr>
        <p:txBody>
          <a:bodyPr/>
          <a:p/>
        </p:txBody>
      </p:sp>
      <p:grpSp>
        <p:nvGrpSpPr>
          <p:cNvPr name="Group 24" id="24"/>
          <p:cNvGrpSpPr/>
          <p:nvPr/>
        </p:nvGrpSpPr>
        <p:grpSpPr>
          <a:xfrm rot="0">
            <a:off x="971550" y="9641205"/>
            <a:ext cx="13716000" cy="440055"/>
            <a:chOff x="0" y="0"/>
            <a:chExt cx="18288000" cy="586740"/>
          </a:xfrm>
        </p:grpSpPr>
        <p:sp>
          <p:nvSpPr>
            <p:cNvPr name="Freeform 25" id="25"/>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3">
                <a:alphaModFix amt="0"/>
              </a:blip>
              <a:stretch>
                <a:fillRect l="0" t="-556902" r="0" b="-556904"/>
              </a:stretch>
            </a:blipFill>
          </p:spPr>
          <p:txBody>
            <a:bodyPr/>
            <a:p/>
          </p:txBody>
        </p:sp>
      </p:grpSp>
      <p:grpSp>
        <p:nvGrpSpPr>
          <p:cNvPr name="Group 26" id="26"/>
          <p:cNvGrpSpPr/>
          <p:nvPr/>
        </p:nvGrpSpPr>
        <p:grpSpPr>
          <a:xfrm rot="0">
            <a:off x="971550" y="9612630"/>
            <a:ext cx="13716000" cy="468630"/>
            <a:chOff x="0" y="0"/>
            <a:chExt cx="18288000" cy="624840"/>
          </a:xfrm>
        </p:grpSpPr>
        <p:sp>
          <p:nvSpPr>
            <p:cNvPr name="Freeform 27" id="27"/>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4">
                <a:alphaModFix amt="0"/>
              </a:blip>
              <a:stretch>
                <a:fillRect l="0" t="-519896" r="0" b="-519898"/>
              </a:stretch>
            </a:blipFill>
          </p:spPr>
          <p:txBody>
            <a:bodyPr/>
            <a:p/>
          </p:txBody>
        </p:sp>
      </p:grpSp>
      <p:grpSp>
        <p:nvGrpSpPr>
          <p:cNvPr name="Group 28" id="28"/>
          <p:cNvGrpSpPr/>
          <p:nvPr/>
        </p:nvGrpSpPr>
        <p:grpSpPr>
          <a:xfrm rot="0">
            <a:off x="971550" y="9584055"/>
            <a:ext cx="13716000" cy="497205"/>
            <a:chOff x="0" y="0"/>
            <a:chExt cx="18288000" cy="662940"/>
          </a:xfrm>
        </p:grpSpPr>
        <p:sp>
          <p:nvSpPr>
            <p:cNvPr name="Freeform 29" id="29"/>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5">
                <a:alphaModFix amt="0"/>
              </a:blip>
              <a:stretch>
                <a:fillRect l="0" t="-487518" r="0" b="-487518"/>
              </a:stretch>
            </a:blipFill>
          </p:spPr>
          <p:txBody>
            <a:bodyPr/>
            <a:p/>
          </p:txBody>
        </p:sp>
        <p:sp>
          <p:nvSpPr>
            <p:cNvPr name="TextBox 30" id="30"/>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grpSp>
        <p:nvGrpSpPr>
          <p:cNvPr name="Group 4" id="4"/>
          <p:cNvGrpSpPr/>
          <p:nvPr/>
        </p:nvGrpSpPr>
        <p:grpSpPr>
          <a:xfrm rot="0">
            <a:off x="822960" y="9641205"/>
            <a:ext cx="13716000" cy="440055"/>
            <a:chOff x="0" y="0"/>
            <a:chExt cx="18288000" cy="586740"/>
          </a:xfrm>
        </p:grpSpPr>
        <p:sp>
          <p:nvSpPr>
            <p:cNvPr name="Freeform 5" id="5"/>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3">
                <a:alphaModFix amt="0"/>
              </a:blip>
              <a:stretch>
                <a:fillRect l="0" t="-556902" r="0" b="-556904"/>
              </a:stretch>
            </a:blipFill>
          </p:spPr>
          <p:txBody>
            <a:bodyPr/>
            <a:p/>
          </p:txBody>
        </p:sp>
      </p:grpSp>
      <p:grpSp>
        <p:nvGrpSpPr>
          <p:cNvPr name="Group 6" id="6"/>
          <p:cNvGrpSpPr/>
          <p:nvPr/>
        </p:nvGrpSpPr>
        <p:grpSpPr>
          <a:xfrm rot="0">
            <a:off x="822960" y="9612630"/>
            <a:ext cx="13716000" cy="468630"/>
            <a:chOff x="0" y="0"/>
            <a:chExt cx="18288000" cy="624840"/>
          </a:xfrm>
        </p:grpSpPr>
        <p:sp>
          <p:nvSpPr>
            <p:cNvPr name="Freeform 7" id="7"/>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4">
                <a:alphaModFix amt="0"/>
              </a:blip>
              <a:stretch>
                <a:fillRect l="0" t="-519896" r="0" b="-519898"/>
              </a:stretch>
            </a:blipFill>
          </p:spPr>
          <p:txBody>
            <a:bodyPr/>
            <a:p/>
          </p:txBody>
        </p:sp>
      </p:grpSp>
      <p:grpSp>
        <p:nvGrpSpPr>
          <p:cNvPr name="Group 8" id="8"/>
          <p:cNvGrpSpPr/>
          <p:nvPr/>
        </p:nvGrpSpPr>
        <p:grpSpPr>
          <a:xfrm rot="0">
            <a:off x="822960" y="9584055"/>
            <a:ext cx="13716000" cy="497205"/>
            <a:chOff x="0" y="0"/>
            <a:chExt cx="18288000" cy="662940"/>
          </a:xfrm>
        </p:grpSpPr>
        <p:sp>
          <p:nvSpPr>
            <p:cNvPr name="Freeform 9" id="9"/>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5">
                <a:alphaModFix amt="0"/>
              </a:blip>
              <a:stretch>
                <a:fillRect l="0" t="-487518" r="0" b="-487518"/>
              </a:stretch>
            </a:blipFill>
          </p:spPr>
          <p:txBody>
            <a:bodyPr/>
            <a:p/>
          </p:txBody>
        </p:sp>
        <p:sp>
          <p:nvSpPr>
            <p:cNvPr name="TextBox 10" id="10"/>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Review 2 (cộng dồn) · GFA26AI35 · Đại học FPT</a:t>
              </a:r>
            </a:p>
          </p:txBody>
        </p:sp>
      </p:grpSp>
      <p:sp>
        <p:nvSpPr>
          <p:cNvPr name="TextBox 11" id="11"/>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EXISTING SYSTEM · 04 · XỬ LÝ DỮ LIỆU</a:t>
            </a:r>
          </a:p>
        </p:txBody>
      </p:sp>
      <p:sp>
        <p:nvSpPr>
          <p:cNvPr name="TextBox 12" id="12"/>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Xử lý dữ liệu: trước và sau, trên mẫu thật</a:t>
            </a:r>
          </a:p>
        </p:txBody>
      </p:sp>
      <p:grpSp>
        <p:nvGrpSpPr>
          <p:cNvPr name="Group 13" id="13"/>
          <p:cNvGrpSpPr/>
          <p:nvPr/>
        </p:nvGrpSpPr>
        <p:grpSpPr>
          <a:xfrm rot="0">
            <a:off x="15458732" y="0"/>
            <a:ext cx="2829306" cy="1184338"/>
            <a:chOff x="0" y="0"/>
            <a:chExt cx="3772408" cy="1579118"/>
          </a:xfrm>
        </p:grpSpPr>
        <p:sp>
          <p:nvSpPr>
            <p:cNvPr name="Freeform 14" id="14"/>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6"/>
              <a:stretch>
                <a:fillRect l="0" t="0" r="0" b="0"/>
              </a:stretch>
            </a:blipFill>
          </p:spPr>
          <p:txBody>
            <a:bodyPr/>
            <a:p/>
          </p:txBody>
        </p:sp>
      </p:grpSp>
      <p:grpSp>
        <p:nvGrpSpPr>
          <p:cNvPr name="Group 15" id="15"/>
          <p:cNvGrpSpPr/>
          <p:nvPr/>
        </p:nvGrpSpPr>
        <p:grpSpPr>
          <a:xfrm rot="0">
            <a:off x="822960" y="2011680"/>
            <a:ext cx="5440680" cy="7178040"/>
            <a:chOff x="0" y="0"/>
            <a:chExt cx="7254240" cy="9570720"/>
          </a:xfrm>
        </p:grpSpPr>
        <p:sp>
          <p:nvSpPr>
            <p:cNvPr name="Freeform 16" id="16"/>
            <p:cNvSpPr/>
            <p:nvPr/>
          </p:nvSpPr>
          <p:spPr>
            <a:xfrm flipH="false" flipV="false" rot="0">
              <a:off x="0" y="0"/>
              <a:ext cx="7254240" cy="9570720"/>
            </a:xfrm>
            <a:custGeom>
              <a:avLst/>
              <a:gdLst/>
              <a:ahLst/>
              <a:cxnLst/>
              <a:rect r="r" b="b" t="t" l="l"/>
              <a:pathLst>
                <a:path h="9570720" w="7254240">
                  <a:moveTo>
                    <a:pt x="0" y="217678"/>
                  </a:moveTo>
                  <a:cubicBezTo>
                    <a:pt x="0" y="97409"/>
                    <a:pt x="97409" y="0"/>
                    <a:pt x="217678" y="0"/>
                  </a:cubicBezTo>
                  <a:lnTo>
                    <a:pt x="7036562" y="0"/>
                  </a:lnTo>
                  <a:cubicBezTo>
                    <a:pt x="7156704" y="0"/>
                    <a:pt x="7254240" y="97409"/>
                    <a:pt x="7254240" y="217678"/>
                  </a:cubicBezTo>
                  <a:lnTo>
                    <a:pt x="7254240" y="9353042"/>
                  </a:lnTo>
                  <a:cubicBezTo>
                    <a:pt x="7254240" y="9473185"/>
                    <a:pt x="7156831" y="9570720"/>
                    <a:pt x="7036562" y="9570720"/>
                  </a:cubicBezTo>
                  <a:lnTo>
                    <a:pt x="217678" y="9570720"/>
                  </a:lnTo>
                  <a:cubicBezTo>
                    <a:pt x="97409" y="9570720"/>
                    <a:pt x="0" y="9473311"/>
                    <a:pt x="0" y="9353042"/>
                  </a:cubicBezTo>
                  <a:close/>
                </a:path>
              </a:pathLst>
            </a:custGeom>
            <a:solidFill>
              <a:srgbClr val="F3F5F8"/>
            </a:solidFill>
          </p:spPr>
          <p:txBody>
            <a:bodyPr/>
            <a:p/>
          </p:txBody>
        </p:sp>
      </p:grpSp>
      <p:sp>
        <p:nvSpPr>
          <p:cNvPr name="TextBox 17" id="17"/>
          <p:cNvSpPr txBox="true"/>
          <p:nvPr/>
        </p:nvSpPr>
        <p:spPr>
          <a:xfrm rot="0">
            <a:off x="1097280" y="2080260"/>
            <a:ext cx="4983480" cy="571500"/>
          </a:xfrm>
          <a:prstGeom prst="rect">
            <a:avLst/>
          </a:prstGeom>
        </p:spPr>
        <p:txBody>
          <a:bodyPr anchor="t" rtlCol="false" tIns="0" lIns="0" bIns="0" rIns="0">
            <a:spAutoFit/>
          </a:bodyPr>
          <a:lstStyle/>
          <a:p>
            <a:pPr algn="l">
              <a:lnSpc>
                <a:spcPts val="2670"/>
              </a:lnSpc>
            </a:pPr>
            <a:r>
              <a:rPr lang="en-US" sz="2100" b="true">
                <a:solidFill>
                  <a:srgbClr val="13294B"/>
                </a:solidFill>
                <a:latin typeface="Calibri (MS) Bold"/>
                <a:ea typeface="Calibri (MS) Bold"/>
                <a:cs typeface="Calibri (MS) Bold"/>
                <a:sym typeface="Calibri (MS) Bold"/>
              </a:rPr>
              <a:t>①  Ảnh · resize theo max_pixels</a:t>
            </a:r>
          </a:p>
        </p:txBody>
      </p:sp>
      <p:grpSp>
        <p:nvGrpSpPr>
          <p:cNvPr name="Group 18" id="18"/>
          <p:cNvGrpSpPr/>
          <p:nvPr/>
        </p:nvGrpSpPr>
        <p:grpSpPr>
          <a:xfrm rot="0">
            <a:off x="6428232" y="2011680"/>
            <a:ext cx="5440680" cy="7178040"/>
            <a:chOff x="0" y="0"/>
            <a:chExt cx="7254240" cy="9570720"/>
          </a:xfrm>
        </p:grpSpPr>
        <p:sp>
          <p:nvSpPr>
            <p:cNvPr name="Freeform 19" id="19"/>
            <p:cNvSpPr/>
            <p:nvPr/>
          </p:nvSpPr>
          <p:spPr>
            <a:xfrm flipH="false" flipV="false" rot="0">
              <a:off x="0" y="0"/>
              <a:ext cx="7254240" cy="9570720"/>
            </a:xfrm>
            <a:custGeom>
              <a:avLst/>
              <a:gdLst/>
              <a:ahLst/>
              <a:cxnLst/>
              <a:rect r="r" b="b" t="t" l="l"/>
              <a:pathLst>
                <a:path h="9570720" w="7254240">
                  <a:moveTo>
                    <a:pt x="0" y="217678"/>
                  </a:moveTo>
                  <a:cubicBezTo>
                    <a:pt x="0" y="97409"/>
                    <a:pt x="97409" y="0"/>
                    <a:pt x="217678" y="0"/>
                  </a:cubicBezTo>
                  <a:lnTo>
                    <a:pt x="7036562" y="0"/>
                  </a:lnTo>
                  <a:cubicBezTo>
                    <a:pt x="7156704" y="0"/>
                    <a:pt x="7254240" y="97409"/>
                    <a:pt x="7254240" y="217678"/>
                  </a:cubicBezTo>
                  <a:lnTo>
                    <a:pt x="7254240" y="9353042"/>
                  </a:lnTo>
                  <a:cubicBezTo>
                    <a:pt x="7254240" y="9473185"/>
                    <a:pt x="7156831" y="9570720"/>
                    <a:pt x="7036562" y="9570720"/>
                  </a:cubicBezTo>
                  <a:lnTo>
                    <a:pt x="217678" y="9570720"/>
                  </a:lnTo>
                  <a:cubicBezTo>
                    <a:pt x="97409" y="9570720"/>
                    <a:pt x="0" y="9473311"/>
                    <a:pt x="0" y="9353042"/>
                  </a:cubicBezTo>
                  <a:close/>
                </a:path>
              </a:pathLst>
            </a:custGeom>
            <a:solidFill>
              <a:srgbClr val="F3F5F8"/>
            </a:solidFill>
          </p:spPr>
          <p:txBody>
            <a:bodyPr/>
            <a:p/>
          </p:txBody>
        </p:sp>
      </p:grpSp>
      <p:sp>
        <p:nvSpPr>
          <p:cNvPr name="TextBox 20" id="20"/>
          <p:cNvSpPr txBox="true"/>
          <p:nvPr/>
        </p:nvSpPr>
        <p:spPr>
          <a:xfrm rot="0">
            <a:off x="6702552" y="2080260"/>
            <a:ext cx="4983480" cy="571500"/>
          </a:xfrm>
          <a:prstGeom prst="rect">
            <a:avLst/>
          </a:prstGeom>
        </p:spPr>
        <p:txBody>
          <a:bodyPr anchor="t" rtlCol="false" tIns="0" lIns="0" bIns="0" rIns="0">
            <a:spAutoFit/>
          </a:bodyPr>
          <a:lstStyle/>
          <a:p>
            <a:pPr algn="l">
              <a:lnSpc>
                <a:spcPts val="2670"/>
              </a:lnSpc>
            </a:pPr>
            <a:r>
              <a:rPr lang="en-US" sz="2100" b="true">
                <a:solidFill>
                  <a:srgbClr val="13294B"/>
                </a:solidFill>
                <a:latin typeface="Calibri (MS) Bold"/>
                <a:ea typeface="Calibri (MS) Bold"/>
                <a:cs typeface="Calibri (MS) Bold"/>
                <a:sym typeface="Calibri (MS) Bold"/>
              </a:rPr>
              <a:t>②  OCR · chỉ ViTextVQA</a:t>
            </a:r>
          </a:p>
        </p:txBody>
      </p:sp>
      <p:grpSp>
        <p:nvGrpSpPr>
          <p:cNvPr name="Group 21" id="21"/>
          <p:cNvGrpSpPr/>
          <p:nvPr/>
        </p:nvGrpSpPr>
        <p:grpSpPr>
          <a:xfrm rot="0">
            <a:off x="12033504" y="2011680"/>
            <a:ext cx="5440680" cy="7178040"/>
            <a:chOff x="0" y="0"/>
            <a:chExt cx="7254240" cy="9570720"/>
          </a:xfrm>
        </p:grpSpPr>
        <p:sp>
          <p:nvSpPr>
            <p:cNvPr name="Freeform 22" id="22"/>
            <p:cNvSpPr/>
            <p:nvPr/>
          </p:nvSpPr>
          <p:spPr>
            <a:xfrm flipH="false" flipV="false" rot="0">
              <a:off x="0" y="0"/>
              <a:ext cx="7254240" cy="9570720"/>
            </a:xfrm>
            <a:custGeom>
              <a:avLst/>
              <a:gdLst/>
              <a:ahLst/>
              <a:cxnLst/>
              <a:rect r="r" b="b" t="t" l="l"/>
              <a:pathLst>
                <a:path h="9570720" w="7254240">
                  <a:moveTo>
                    <a:pt x="0" y="217678"/>
                  </a:moveTo>
                  <a:cubicBezTo>
                    <a:pt x="0" y="97409"/>
                    <a:pt x="97409" y="0"/>
                    <a:pt x="217678" y="0"/>
                  </a:cubicBezTo>
                  <a:lnTo>
                    <a:pt x="7036562" y="0"/>
                  </a:lnTo>
                  <a:cubicBezTo>
                    <a:pt x="7156704" y="0"/>
                    <a:pt x="7254240" y="97409"/>
                    <a:pt x="7254240" y="217678"/>
                  </a:cubicBezTo>
                  <a:lnTo>
                    <a:pt x="7254240" y="9353042"/>
                  </a:lnTo>
                  <a:cubicBezTo>
                    <a:pt x="7254240" y="9473185"/>
                    <a:pt x="7156831" y="9570720"/>
                    <a:pt x="7036562" y="9570720"/>
                  </a:cubicBezTo>
                  <a:lnTo>
                    <a:pt x="217678" y="9570720"/>
                  </a:lnTo>
                  <a:cubicBezTo>
                    <a:pt x="97409" y="9570720"/>
                    <a:pt x="0" y="9473311"/>
                    <a:pt x="0" y="9353042"/>
                  </a:cubicBezTo>
                  <a:close/>
                </a:path>
              </a:pathLst>
            </a:custGeom>
            <a:solidFill>
              <a:srgbClr val="F3F5F8"/>
            </a:solidFill>
          </p:spPr>
          <p:txBody>
            <a:bodyPr/>
            <a:p/>
          </p:txBody>
        </p:sp>
      </p:grpSp>
      <p:sp>
        <p:nvSpPr>
          <p:cNvPr name="TextBox 23" id="23"/>
          <p:cNvSpPr txBox="true"/>
          <p:nvPr/>
        </p:nvSpPr>
        <p:spPr>
          <a:xfrm rot="0">
            <a:off x="12307824" y="2080260"/>
            <a:ext cx="4983480" cy="571500"/>
          </a:xfrm>
          <a:prstGeom prst="rect">
            <a:avLst/>
          </a:prstGeom>
        </p:spPr>
        <p:txBody>
          <a:bodyPr anchor="t" rtlCol="false" tIns="0" lIns="0" bIns="0" rIns="0">
            <a:spAutoFit/>
          </a:bodyPr>
          <a:lstStyle/>
          <a:p>
            <a:pPr algn="l">
              <a:lnSpc>
                <a:spcPts val="2670"/>
              </a:lnSpc>
            </a:pPr>
            <a:r>
              <a:rPr lang="en-US" sz="2100" b="true">
                <a:solidFill>
                  <a:srgbClr val="13294B"/>
                </a:solidFill>
                <a:latin typeface="Calibri (MS) Bold"/>
                <a:ea typeface="Calibri (MS) Bold"/>
                <a:cs typeface="Calibri (MS) Bold"/>
                <a:sym typeface="Calibri (MS) Bold"/>
              </a:rPr>
              <a:t>③  Văn bản · chuẩn hoá khi chấm</a:t>
            </a:r>
          </a:p>
        </p:txBody>
      </p:sp>
      <p:grpSp>
        <p:nvGrpSpPr>
          <p:cNvPr name="Group 24" id="24"/>
          <p:cNvGrpSpPr/>
          <p:nvPr/>
        </p:nvGrpSpPr>
        <p:grpSpPr>
          <a:xfrm rot="0">
            <a:off x="1090927" y="2874007"/>
            <a:ext cx="2252948" cy="1272826"/>
            <a:chOff x="0" y="0"/>
            <a:chExt cx="3003931" cy="1697101"/>
          </a:xfrm>
        </p:grpSpPr>
        <p:sp>
          <p:nvSpPr>
            <p:cNvPr name="Freeform 25" id="25" descr="data_before.jpg"/>
            <p:cNvSpPr/>
            <p:nvPr/>
          </p:nvSpPr>
          <p:spPr>
            <a:xfrm flipH="false" flipV="false" rot="0">
              <a:off x="0" y="0"/>
              <a:ext cx="3003931" cy="1697101"/>
            </a:xfrm>
            <a:custGeom>
              <a:avLst/>
              <a:gdLst/>
              <a:ahLst/>
              <a:cxnLst/>
              <a:rect r="r" b="b" t="t" l="l"/>
              <a:pathLst>
                <a:path h="1697101" w="3003931">
                  <a:moveTo>
                    <a:pt x="0" y="0"/>
                  </a:moveTo>
                  <a:lnTo>
                    <a:pt x="3003931" y="0"/>
                  </a:lnTo>
                  <a:lnTo>
                    <a:pt x="3003931" y="1697101"/>
                  </a:lnTo>
                  <a:lnTo>
                    <a:pt x="0" y="1697101"/>
                  </a:lnTo>
                  <a:lnTo>
                    <a:pt x="0" y="0"/>
                  </a:lnTo>
                  <a:close/>
                </a:path>
              </a:pathLst>
            </a:custGeom>
            <a:blipFill>
              <a:blip r:embed="rId7"/>
              <a:stretch>
                <a:fillRect l="-218" t="0" r="-218" b="0"/>
              </a:stretch>
            </a:blipFill>
          </p:spPr>
          <p:txBody>
            <a:bodyPr/>
            <a:p/>
          </p:txBody>
        </p:sp>
      </p:grpSp>
      <p:grpSp>
        <p:nvGrpSpPr>
          <p:cNvPr name="Group 26" id="26"/>
          <p:cNvGrpSpPr/>
          <p:nvPr/>
        </p:nvGrpSpPr>
        <p:grpSpPr>
          <a:xfrm rot="0">
            <a:off x="3742687" y="2874007"/>
            <a:ext cx="2252948" cy="1278922"/>
            <a:chOff x="0" y="0"/>
            <a:chExt cx="3003931" cy="1705229"/>
          </a:xfrm>
        </p:grpSpPr>
        <p:sp>
          <p:nvSpPr>
            <p:cNvPr name="Freeform 27" id="27" descr="data_after_grid.jpg"/>
            <p:cNvSpPr/>
            <p:nvPr/>
          </p:nvSpPr>
          <p:spPr>
            <a:xfrm flipH="false" flipV="false" rot="0">
              <a:off x="0" y="0"/>
              <a:ext cx="3003931" cy="1705229"/>
            </a:xfrm>
            <a:custGeom>
              <a:avLst/>
              <a:gdLst/>
              <a:ahLst/>
              <a:cxnLst/>
              <a:rect r="r" b="b" t="t" l="l"/>
              <a:pathLst>
                <a:path h="1705229" w="3003931">
                  <a:moveTo>
                    <a:pt x="0" y="0"/>
                  </a:moveTo>
                  <a:lnTo>
                    <a:pt x="3003931" y="0"/>
                  </a:lnTo>
                  <a:lnTo>
                    <a:pt x="3003931" y="1705229"/>
                  </a:lnTo>
                  <a:lnTo>
                    <a:pt x="0" y="1705229"/>
                  </a:lnTo>
                  <a:lnTo>
                    <a:pt x="0" y="0"/>
                  </a:lnTo>
                  <a:close/>
                </a:path>
              </a:pathLst>
            </a:custGeom>
            <a:blipFill>
              <a:blip r:embed="rId8"/>
              <a:stretch>
                <a:fillRect l="-189" t="0" r="-190" b="0"/>
              </a:stretch>
            </a:blipFill>
          </p:spPr>
          <p:txBody>
            <a:bodyPr/>
            <a:p/>
          </p:txBody>
        </p:sp>
      </p:grpSp>
      <p:sp>
        <p:nvSpPr>
          <p:cNvPr name="TextBox 28" id="28"/>
          <p:cNvSpPr txBox="true"/>
          <p:nvPr/>
        </p:nvSpPr>
        <p:spPr>
          <a:xfrm rot="0">
            <a:off x="3355848" y="3064669"/>
            <a:ext cx="384048" cy="628650"/>
          </a:xfrm>
          <a:prstGeom prst="rect">
            <a:avLst/>
          </a:prstGeom>
        </p:spPr>
        <p:txBody>
          <a:bodyPr anchor="t" rtlCol="false" tIns="0" lIns="0" bIns="0" rIns="0">
            <a:spAutoFit/>
          </a:bodyPr>
          <a:lstStyle/>
          <a:p>
            <a:pPr algn="ctr">
              <a:lnSpc>
                <a:spcPts val="3815"/>
              </a:lnSpc>
            </a:pPr>
            <a:r>
              <a:rPr lang="en-US" sz="3000" b="true">
                <a:solidFill>
                  <a:srgbClr val="1C7293"/>
                </a:solidFill>
                <a:latin typeface="Calibri (MS) Bold"/>
                <a:ea typeface="Calibri (MS) Bold"/>
                <a:cs typeface="Calibri (MS) Bold"/>
                <a:sym typeface="Calibri (MS) Bold"/>
              </a:rPr>
              <a:t>→</a:t>
            </a:r>
          </a:p>
        </p:txBody>
      </p:sp>
      <p:sp>
        <p:nvSpPr>
          <p:cNvPr name="TextBox 29" id="29"/>
          <p:cNvSpPr txBox="true"/>
          <p:nvPr/>
        </p:nvSpPr>
        <p:spPr>
          <a:xfrm rot="0">
            <a:off x="1097280" y="4247197"/>
            <a:ext cx="2240280" cy="899160"/>
          </a:xfrm>
          <a:prstGeom prst="rect">
            <a:avLst/>
          </a:prstGeom>
        </p:spPr>
        <p:txBody>
          <a:bodyPr anchor="t" rtlCol="false" tIns="0" lIns="0" bIns="0" rIns="0">
            <a:spAutoFit/>
          </a:bodyPr>
          <a:lstStyle/>
          <a:p>
            <a:pPr algn="l">
              <a:lnSpc>
                <a:spcPts val="1780"/>
              </a:lnSpc>
            </a:pPr>
            <a:r>
              <a:rPr lang="en-US" sz="1400" b="true">
                <a:solidFill>
                  <a:srgbClr val="5B677A"/>
                </a:solidFill>
                <a:latin typeface="Calibri (MS) Bold"/>
                <a:ea typeface="Calibri (MS) Bold"/>
                <a:cs typeface="Calibri (MS) Bold"/>
                <a:sym typeface="Calibri (MS) Bold"/>
              </a:rPr>
              <a:t>TRƯỚC · ảnh ViVQA</a:t>
            </a:r>
          </a:p>
          <a:p>
            <a:pPr algn="l">
              <a:lnSpc>
                <a:spcPts val="2160"/>
              </a:lnSpc>
            </a:pPr>
            <a:r>
              <a:rPr lang="en-US" sz="1700" b="true">
                <a:solidFill>
                  <a:srgbClr val="13294B"/>
                </a:solidFill>
                <a:latin typeface="Calibri (MS) Bold"/>
                <a:ea typeface="Calibri (MS) Bold"/>
                <a:cs typeface="Calibri (MS) Bold"/>
                <a:sym typeface="Calibri (MS) Bold"/>
              </a:rPr>
              <a:t>640×360 px</a:t>
            </a:r>
          </a:p>
          <a:p>
            <a:pPr algn="l">
              <a:lnSpc>
                <a:spcPts val="1909"/>
              </a:lnSpc>
            </a:pPr>
            <a:r>
              <a:rPr lang="en-US" sz="1500">
                <a:solidFill>
                  <a:srgbClr val="243044"/>
                </a:solidFill>
                <a:latin typeface="Calibri (MS)"/>
                <a:ea typeface="Calibri (MS)"/>
                <a:cs typeface="Calibri (MS)"/>
                <a:sym typeface="Calibri (MS)"/>
              </a:rPr>
              <a:t>230.400 điểm ảnh</a:t>
            </a:r>
          </a:p>
        </p:txBody>
      </p:sp>
      <p:sp>
        <p:nvSpPr>
          <p:cNvPr name="TextBox 30" id="30"/>
          <p:cNvSpPr txBox="true"/>
          <p:nvPr/>
        </p:nvSpPr>
        <p:spPr>
          <a:xfrm rot="0">
            <a:off x="3749040" y="4247197"/>
            <a:ext cx="2240280" cy="899160"/>
          </a:xfrm>
          <a:prstGeom prst="rect">
            <a:avLst/>
          </a:prstGeom>
        </p:spPr>
        <p:txBody>
          <a:bodyPr anchor="t" rtlCol="false" tIns="0" lIns="0" bIns="0" rIns="0">
            <a:spAutoFit/>
          </a:bodyPr>
          <a:lstStyle/>
          <a:p>
            <a:pPr algn="l">
              <a:lnSpc>
                <a:spcPts val="1780"/>
              </a:lnSpc>
            </a:pPr>
            <a:r>
              <a:rPr lang="en-US" sz="1400" b="true">
                <a:solidFill>
                  <a:srgbClr val="B86E0E"/>
                </a:solidFill>
                <a:latin typeface="Calibri (MS) Bold"/>
                <a:ea typeface="Calibri (MS) Bold"/>
                <a:cs typeface="Calibri (MS) Bold"/>
                <a:sym typeface="Calibri (MS) Bold"/>
              </a:rPr>
              <a:t>SAU</a:t>
            </a:r>
          </a:p>
          <a:p>
            <a:pPr algn="l">
              <a:lnSpc>
                <a:spcPts val="2160"/>
              </a:lnSpc>
            </a:pPr>
            <a:r>
              <a:rPr lang="en-US" sz="1700" b="true">
                <a:solidFill>
                  <a:srgbClr val="13294B"/>
                </a:solidFill>
                <a:latin typeface="Calibri (MS) Bold"/>
                <a:ea typeface="Calibri (MS) Bold"/>
                <a:cs typeface="Calibri (MS) Bold"/>
                <a:sym typeface="Calibri (MS) Bold"/>
              </a:rPr>
              <a:t>644×364 px</a:t>
            </a:r>
          </a:p>
          <a:p>
            <a:pPr algn="l">
              <a:lnSpc>
                <a:spcPts val="1909"/>
              </a:lnSpc>
            </a:pPr>
            <a:r>
              <a:rPr lang="en-US" sz="1500">
                <a:solidFill>
                  <a:srgbClr val="243044"/>
                </a:solidFill>
                <a:latin typeface="Calibri (MS)"/>
                <a:ea typeface="Calibri (MS)"/>
                <a:cs typeface="Calibri (MS)"/>
                <a:sym typeface="Calibri (MS)"/>
              </a:rPr>
              <a:t>lưới 23×13 = 299 token ảnh</a:t>
            </a:r>
          </a:p>
        </p:txBody>
      </p:sp>
      <p:sp>
        <p:nvSpPr>
          <p:cNvPr name="TextBox 31" id="31"/>
          <p:cNvSpPr txBox="true"/>
          <p:nvPr/>
        </p:nvSpPr>
        <p:spPr>
          <a:xfrm rot="0">
            <a:off x="1097280" y="5481638"/>
            <a:ext cx="4937760" cy="2819400"/>
          </a:xfrm>
          <a:prstGeom prst="rect">
            <a:avLst/>
          </a:prstGeom>
        </p:spPr>
        <p:txBody>
          <a:bodyPr anchor="t" rtlCol="false" tIns="0" lIns="0" bIns="0" rIns="0">
            <a:spAutoFit/>
          </a:bodyPr>
          <a:lstStyle/>
          <a:p>
            <a:pPr algn="l">
              <a:lnSpc>
                <a:spcPts val="2035"/>
              </a:lnSpc>
            </a:pPr>
            <a:r>
              <a:rPr lang="en-US" sz="1599">
                <a:solidFill>
                  <a:srgbClr val="243044"/>
                </a:solidFill>
                <a:latin typeface="Calibri (MS)"/>
                <a:ea typeface="Calibri (MS)"/>
                <a:cs typeface="Calibri (MS)"/>
                <a:sym typeface="Calibri (MS)"/>
              </a:rPr>
              <a:t>•  Đổi về RGB; thu nhỏ giữ tỉ lệ, cạnh là bội số 28</a:t>
            </a:r>
          </a:p>
          <a:p>
            <a:pPr algn="l">
              <a:lnSpc>
                <a:spcPts val="2035"/>
              </a:lnSpc>
            </a:pPr>
            <a:r>
              <a:rPr lang="en-US" sz="1599">
                <a:solidFill>
                  <a:srgbClr val="243044"/>
                </a:solidFill>
                <a:latin typeface="Calibri (MS)"/>
                <a:ea typeface="Calibri (MS)"/>
                <a:cs typeface="Calibri (MS)"/>
                <a:sym typeface="Calibri (MS)"/>
              </a:rPr>
              <a:t>•  Mỗi ô 28×28 px = 1 token; ≤ 401.408 px → tối đa 512 token</a:t>
            </a:r>
          </a:p>
          <a:p>
            <a:pPr algn="l">
              <a:lnSpc>
                <a:spcPts val="2035"/>
              </a:lnSpc>
            </a:pPr>
            <a:r>
              <a:rPr lang="en-US" sz="1599">
                <a:solidFill>
                  <a:srgbClr val="243044"/>
                </a:solidFill>
                <a:latin typeface="Calibri (MS)"/>
                <a:ea typeface="Calibri (MS)"/>
                <a:cs typeface="Calibri (MS)"/>
                <a:sym typeface="Calibri (MS)"/>
              </a:rPr>
              <a:t>•  Ảnh ViTextVQA lớn hơn, vd 16267.jpg 1024×996 → 616×616 = 484 token</a:t>
            </a:r>
          </a:p>
          <a:p>
            <a:pPr algn="l">
              <a:lnSpc>
                <a:spcPts val="2035"/>
              </a:lnSpc>
            </a:pPr>
            <a:r>
              <a:rPr lang="en-US" sz="1599">
                <a:solidFill>
                  <a:srgbClr val="243044"/>
                </a:solidFill>
                <a:latin typeface="Calibri (MS)"/>
                <a:ea typeface="Calibri (MS)"/>
                <a:cs typeface="Calibri (MS)"/>
                <a:sym typeface="Calibri (MS)"/>
              </a:rPr>
              <a:t>•  </a:t>
            </a:r>
            <a:r>
              <a:rPr lang="en-US" sz="1599">
                <a:solidFill>
                  <a:srgbClr val="B86E0E"/>
                </a:solidFill>
                <a:latin typeface="Calibri (MS)"/>
                <a:ea typeface="Calibri (MS)"/>
                <a:cs typeface="Calibri (MS)"/>
                <a:sym typeface="Calibri (MS)"/>
              </a:rPr>
              <a:t>Ô cam: một token ảnh</a:t>
            </a:r>
          </a:p>
        </p:txBody>
      </p:sp>
      <p:grpSp>
        <p:nvGrpSpPr>
          <p:cNvPr name="Group 32" id="32"/>
          <p:cNvGrpSpPr/>
          <p:nvPr/>
        </p:nvGrpSpPr>
        <p:grpSpPr>
          <a:xfrm rot="0">
            <a:off x="6696199" y="2874007"/>
            <a:ext cx="4904708" cy="1044797"/>
            <a:chOff x="0" y="0"/>
            <a:chExt cx="6539611" cy="1393063"/>
          </a:xfrm>
        </p:grpSpPr>
        <p:sp>
          <p:nvSpPr>
            <p:cNvPr name="Freeform 33" id="33" descr="data_ocr_boxes.jpg"/>
            <p:cNvSpPr/>
            <p:nvPr/>
          </p:nvSpPr>
          <p:spPr>
            <a:xfrm flipH="false" flipV="false" rot="0">
              <a:off x="0" y="0"/>
              <a:ext cx="6539611" cy="1393063"/>
            </a:xfrm>
            <a:custGeom>
              <a:avLst/>
              <a:gdLst/>
              <a:ahLst/>
              <a:cxnLst/>
              <a:rect r="r" b="b" t="t" l="l"/>
              <a:pathLst>
                <a:path h="1393063" w="6539611">
                  <a:moveTo>
                    <a:pt x="0" y="0"/>
                  </a:moveTo>
                  <a:lnTo>
                    <a:pt x="6539611" y="0"/>
                  </a:lnTo>
                  <a:lnTo>
                    <a:pt x="6539611" y="1393063"/>
                  </a:lnTo>
                  <a:lnTo>
                    <a:pt x="0" y="1393063"/>
                  </a:lnTo>
                  <a:lnTo>
                    <a:pt x="0" y="0"/>
                  </a:lnTo>
                  <a:close/>
                </a:path>
              </a:pathLst>
            </a:custGeom>
            <a:blipFill>
              <a:blip r:embed="rId9"/>
              <a:stretch>
                <a:fillRect l="-407" t="0" r="-407" b="0"/>
              </a:stretch>
            </a:blipFill>
          </p:spPr>
          <p:txBody>
            <a:bodyPr/>
            <a:p/>
          </p:txBody>
        </p:sp>
      </p:grpSp>
      <p:sp>
        <p:nvSpPr>
          <p:cNvPr name="TextBox 34" id="34"/>
          <p:cNvSpPr txBox="true"/>
          <p:nvPr/>
        </p:nvSpPr>
        <p:spPr>
          <a:xfrm rot="0">
            <a:off x="6702552" y="3954332"/>
            <a:ext cx="4892040" cy="735330"/>
          </a:xfrm>
          <a:prstGeom prst="rect">
            <a:avLst/>
          </a:prstGeom>
        </p:spPr>
        <p:txBody>
          <a:bodyPr anchor="t" rtlCol="false" tIns="0" lIns="0" bIns="0" rIns="0">
            <a:spAutoFit/>
          </a:bodyPr>
          <a:lstStyle/>
          <a:p>
            <a:pPr algn="l">
              <a:lnSpc>
                <a:spcPts val="1844"/>
              </a:lnSpc>
            </a:pPr>
            <a:r>
              <a:rPr lang="en-US" sz="1449">
                <a:solidFill>
                  <a:srgbClr val="5B677A"/>
                </a:solidFill>
                <a:latin typeface="Calibri (MS)"/>
                <a:ea typeface="Calibri (MS)"/>
                <a:cs typeface="Calibri (MS)"/>
                <a:sym typeface="Calibri (MS)"/>
              </a:rPr>
              <a:t>Vị trí 13 khung chữ OCR thật của ảnh 16267.jpg (toạ độ trong cache). PaddleOCR dò vùng, VietOCR đọc, sắp trái-trên → phải-dưới</a:t>
            </a:r>
          </a:p>
        </p:txBody>
      </p:sp>
      <p:grpSp>
        <p:nvGrpSpPr>
          <p:cNvPr name="Group 35" id="35"/>
          <p:cNvGrpSpPr/>
          <p:nvPr/>
        </p:nvGrpSpPr>
        <p:grpSpPr>
          <a:xfrm rot="0">
            <a:off x="6702552" y="4735382"/>
            <a:ext cx="4892040" cy="2468880"/>
            <a:chOff x="0" y="0"/>
            <a:chExt cx="6522720" cy="3291840"/>
          </a:xfrm>
        </p:grpSpPr>
        <p:sp>
          <p:nvSpPr>
            <p:cNvPr name="Freeform 36" id="36"/>
            <p:cNvSpPr/>
            <p:nvPr/>
          </p:nvSpPr>
          <p:spPr>
            <a:xfrm flipH="false" flipV="false" rot="0">
              <a:off x="0" y="0"/>
              <a:ext cx="6522720" cy="3291840"/>
            </a:xfrm>
            <a:custGeom>
              <a:avLst/>
              <a:gdLst/>
              <a:ahLst/>
              <a:cxnLst/>
              <a:rect r="r" b="b" t="t" l="l"/>
              <a:pathLst>
                <a:path h="3291840" w="6522720">
                  <a:moveTo>
                    <a:pt x="0" y="131699"/>
                  </a:moveTo>
                  <a:cubicBezTo>
                    <a:pt x="0" y="58928"/>
                    <a:pt x="58928" y="0"/>
                    <a:pt x="131699" y="0"/>
                  </a:cubicBezTo>
                  <a:lnTo>
                    <a:pt x="6391021" y="0"/>
                  </a:lnTo>
                  <a:cubicBezTo>
                    <a:pt x="6463792" y="0"/>
                    <a:pt x="6522720" y="58928"/>
                    <a:pt x="6522720" y="131699"/>
                  </a:cubicBezTo>
                  <a:lnTo>
                    <a:pt x="6522720" y="3160141"/>
                  </a:lnTo>
                  <a:cubicBezTo>
                    <a:pt x="6522720" y="3232912"/>
                    <a:pt x="6463792" y="3291840"/>
                    <a:pt x="6391021" y="3291840"/>
                  </a:cubicBezTo>
                  <a:lnTo>
                    <a:pt x="131699" y="3291840"/>
                  </a:lnTo>
                  <a:cubicBezTo>
                    <a:pt x="58928" y="3291840"/>
                    <a:pt x="0" y="3232912"/>
                    <a:pt x="0" y="3160141"/>
                  </a:cubicBezTo>
                  <a:close/>
                </a:path>
              </a:pathLst>
            </a:custGeom>
            <a:solidFill>
              <a:srgbClr val="1E2430"/>
            </a:solidFill>
          </p:spPr>
          <p:txBody>
            <a:bodyPr/>
            <a:p/>
          </p:txBody>
        </p:sp>
      </p:grpSp>
      <p:sp>
        <p:nvSpPr>
          <p:cNvPr name="TextBox 37" id="37"/>
          <p:cNvSpPr txBox="true"/>
          <p:nvPr/>
        </p:nvSpPr>
        <p:spPr>
          <a:xfrm rot="0">
            <a:off x="6867144" y="4815392"/>
            <a:ext cx="4572000" cy="2297430"/>
          </a:xfrm>
          <a:prstGeom prst="rect">
            <a:avLst/>
          </a:prstGeom>
        </p:spPr>
        <p:txBody>
          <a:bodyPr anchor="t" rtlCol="false" tIns="0" lIns="0" bIns="0" rIns="0">
            <a:spAutoFit/>
          </a:bodyPr>
          <a:lstStyle/>
          <a:p>
            <a:pPr algn="l">
              <a:lnSpc>
                <a:spcPts val="1590"/>
              </a:lnSpc>
            </a:pPr>
            <a:r>
              <a:rPr lang="en-US" sz="1250" b="true">
                <a:solidFill>
                  <a:srgbClr val="7DC4E4"/>
                </a:solidFill>
                <a:latin typeface="Consolas Bold"/>
                <a:ea typeface="Consolas Bold"/>
                <a:cs typeface="Consolas Bold"/>
                <a:sym typeface="Consolas Bold"/>
              </a:rPr>
              <a:t>Văn bản đọc được trong ảnh: </a:t>
            </a:r>
            <a:r>
              <a:rPr lang="en-US" sz="1250">
                <a:solidFill>
                  <a:srgbClr val="D6DEEB"/>
                </a:solidFill>
                <a:latin typeface="Consolas"/>
                <a:ea typeface="Consolas"/>
                <a:cs typeface="Consolas"/>
                <a:sym typeface="Consolas"/>
              </a:rPr>
              <a:t>PHO | CÙNJ | MALHACDE | CÔNG TY XÔ SỐ KIẾN THIẾT THU SỐ | </a:t>
            </a:r>
            <a:r>
              <a:rPr lang="en-US" sz="1250" b="true">
                <a:solidFill>
                  <a:srgbClr val="E8A33D"/>
                </a:solidFill>
                <a:latin typeface="Consolas Bold"/>
                <a:ea typeface="Consolas Bold"/>
                <a:cs typeface="Consolas Bold"/>
                <a:sym typeface="Consolas Bold"/>
              </a:rPr>
              <a:t>ĐẠI LÝ XỔ SÓ MIẾN BẮC</a:t>
            </a:r>
            <a:r>
              <a:rPr lang="en-US" sz="1250">
                <a:solidFill>
                  <a:srgbClr val="D6DEEB"/>
                </a:solidFill>
                <a:latin typeface="Consolas"/>
                <a:ea typeface="Consolas"/>
                <a:cs typeface="Consolas"/>
                <a:sym typeface="Consolas"/>
              </a:rPr>
              <a:t> | Collee Juice | PHỐ | THÁI PHIÊN | ISIO | BANH BẠO LONG THÀNH - SỬA NGÔ, SỬA ĐẬU NAY | Dens | BÌNH HỌC NƯỚC HÌA SĨ | BIOCOMRANG</a:t>
            </a:r>
          </a:p>
          <a:p>
            <a:pPr algn="l">
              <a:lnSpc>
                <a:spcPts val="1590"/>
              </a:lnSpc>
            </a:pPr>
            <a:r>
              <a:rPr lang="en-US" sz="1250" b="true">
                <a:solidFill>
                  <a:srgbClr val="7DC4E4"/>
                </a:solidFill>
                <a:latin typeface="Consolas Bold"/>
                <a:ea typeface="Consolas Bold"/>
                <a:cs typeface="Consolas Bold"/>
                <a:sym typeface="Consolas Bold"/>
              </a:rPr>
              <a:t>Câu hỏi: </a:t>
            </a:r>
            <a:r>
              <a:rPr lang="en-US" sz="1250">
                <a:solidFill>
                  <a:srgbClr val="D6DEEB"/>
                </a:solidFill>
                <a:latin typeface="Consolas"/>
                <a:ea typeface="Consolas"/>
                <a:cs typeface="Consolas"/>
                <a:sym typeface="Consolas"/>
              </a:rPr>
              <a:t>cửa hàng có biển màu vàng là nơi nào ?</a:t>
            </a:r>
          </a:p>
        </p:txBody>
      </p:sp>
      <p:sp>
        <p:nvSpPr>
          <p:cNvPr name="TextBox 38" id="38"/>
          <p:cNvSpPr txBox="true"/>
          <p:nvPr/>
        </p:nvSpPr>
        <p:spPr>
          <a:xfrm rot="0">
            <a:off x="6702552" y="7200452"/>
            <a:ext cx="4892040" cy="1009650"/>
          </a:xfrm>
          <a:prstGeom prst="rect">
            <a:avLst/>
          </a:prstGeom>
        </p:spPr>
        <p:txBody>
          <a:bodyPr anchor="t" rtlCol="false" tIns="0" lIns="0" bIns="0" rIns="0">
            <a:spAutoFit/>
          </a:bodyPr>
          <a:lstStyle/>
          <a:p>
            <a:pPr algn="l">
              <a:lnSpc>
                <a:spcPts val="1844"/>
              </a:lnSpc>
            </a:pPr>
            <a:r>
              <a:rPr lang="en-US" sz="1449">
                <a:solidFill>
                  <a:srgbClr val="243044"/>
                </a:solidFill>
                <a:latin typeface="Calibri (MS)"/>
                <a:ea typeface="Calibri (MS)"/>
                <a:cs typeface="Calibri (MS)"/>
                <a:sym typeface="Calibri (MS)"/>
              </a:rPr>
              <a:t>OCR còn sai dấu (</a:t>
            </a:r>
            <a:r>
              <a:rPr lang="en-US" sz="1449" b="true">
                <a:solidFill>
                  <a:srgbClr val="B86E0E"/>
                </a:solidFill>
                <a:latin typeface="Calibri (MS) Bold"/>
                <a:ea typeface="Calibri (MS) Bold"/>
                <a:cs typeface="Calibri (MS) Bold"/>
                <a:sym typeface="Calibri (MS) Bold"/>
              </a:rPr>
              <a:t>SÓ, MIẾN</a:t>
            </a:r>
            <a:r>
              <a:rPr lang="en-US" sz="1449">
                <a:solidFill>
                  <a:srgbClr val="243044"/>
                </a:solidFill>
                <a:latin typeface="Calibri (MS)"/>
                <a:ea typeface="Calibri (MS)"/>
                <a:cs typeface="Calibri (MS)"/>
                <a:sym typeface="Calibri (MS)"/>
              </a:rPr>
              <a:t> thay vì SỐ, MIỀN) → model phải học dùng OCR có nhiễu. Đáp án: “đại lý xổ số miền bắc”.</a:t>
            </a:r>
          </a:p>
        </p:txBody>
      </p:sp>
      <p:graphicFrame>
        <p:nvGraphicFramePr>
          <p:cNvPr name="Table 39" id="39"/>
          <p:cNvGraphicFramePr>
            <a:graphicFrameLocks noGrp="true"/>
          </p:cNvGraphicFramePr>
          <p:nvPr/>
        </p:nvGraphicFramePr>
        <p:xfrm>
          <a:off x="12307824" y="2880360"/>
          <a:ext cx="4876800" cy="3276600"/>
        </p:xfrm>
        <a:graphic>
          <a:graphicData uri="http://schemas.openxmlformats.org/drawingml/2006/table">
            <a:tbl>
              <a:tblPr/>
              <a:tblGrid>
                <a:gridCol w="2506501"/>
                <a:gridCol w="2370299"/>
              </a:tblGrid>
              <a:tr h="546100">
                <a:tc>
                  <a:txBody>
                    <a:bodyPr anchor="t" rtlCol="false"/>
                    <a:lstStyle/>
                    <a:p>
                      <a:pPr algn="l">
                        <a:lnSpc>
                          <a:spcPts val="1909"/>
                        </a:lnSpc>
                        <a:defRPr/>
                      </a:pPr>
                      <a:r>
                        <a:rPr lang="en-US" sz="1500" b="true">
                          <a:solidFill>
                            <a:srgbClr val="FFFFFF"/>
                          </a:solidFill>
                          <a:latin typeface="Calibri (MS) Bold"/>
                          <a:ea typeface="Calibri (MS) Bold"/>
                          <a:cs typeface="Calibri (MS) Bold"/>
                          <a:sym typeface="Calibri (MS) Bold"/>
                        </a:rPr>
                        <a:t>Trước</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3294B"/>
                    </a:solidFill>
                  </a:tcPr>
                </a:tc>
                <a:tc>
                  <a:txBody>
                    <a:bodyPr anchor="t" rtlCol="false"/>
                    <a:lstStyle/>
                    <a:p>
                      <a:pPr algn="l">
                        <a:lnSpc>
                          <a:spcPts val="1909"/>
                        </a:lnSpc>
                        <a:defRPr/>
                      </a:pPr>
                      <a:r>
                        <a:rPr lang="en-US" sz="1500" b="true">
                          <a:solidFill>
                            <a:srgbClr val="FFFFFF"/>
                          </a:solidFill>
                          <a:latin typeface="Calibri (MS) Bold"/>
                          <a:ea typeface="Calibri (MS) Bold"/>
                          <a:cs typeface="Calibri (MS) Bold"/>
                          <a:sym typeface="Calibri (MS) Bold"/>
                        </a:rPr>
                        <a:t>Sau  normalize_vi()</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3294B"/>
                    </a:solidFill>
                  </a:tcPr>
                </a:tc>
              </a:tr>
              <a:tr h="546100">
                <a:tc>
                  <a:txBody>
                    <a:bodyPr anchor="t" rtlCol="false"/>
                    <a:lstStyle/>
                    <a:p>
                      <a:pPr algn="l">
                        <a:lnSpc>
                          <a:spcPts val="1909"/>
                        </a:lnSpc>
                        <a:defRPr/>
                      </a:pPr>
                      <a:r>
                        <a:rPr lang="en-US" sz="1500">
                          <a:solidFill>
                            <a:srgbClr val="243044"/>
                          </a:solidFill>
                          <a:latin typeface="Calibri (MS)"/>
                          <a:ea typeface="Calibri (MS)"/>
                          <a:cs typeface="Calibri (MS)"/>
                          <a:sym typeface="Calibri (MS)"/>
                        </a:rPr>
                        <a:t>Đại lý xổ số Miền Bắc.</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09"/>
                        </a:lnSpc>
                        <a:defRPr/>
                      </a:pPr>
                      <a:r>
                        <a:rPr lang="en-US" sz="1500" b="true">
                          <a:solidFill>
                            <a:srgbClr val="13294B"/>
                          </a:solidFill>
                          <a:latin typeface="Calibri (MS) Bold"/>
                          <a:ea typeface="Calibri (MS) Bold"/>
                          <a:cs typeface="Calibri (MS) Bold"/>
                          <a:sym typeface="Calibri (MS) Bold"/>
                        </a:rPr>
                        <a:t>đại lý xổ số miền bắc</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46100">
                <a:tc>
                  <a:txBody>
                    <a:bodyPr anchor="t" rtlCol="false"/>
                    <a:lstStyle/>
                    <a:p>
                      <a:pPr algn="l">
                        <a:lnSpc>
                          <a:spcPts val="1909"/>
                        </a:lnSpc>
                        <a:defRPr/>
                      </a:pPr>
                      <a:r>
                        <a:rPr lang="en-US" sz="1500">
                          <a:solidFill>
                            <a:srgbClr val="243044"/>
                          </a:solidFill>
                          <a:latin typeface="Calibri (MS)"/>
                          <a:ea typeface="Calibri (MS)"/>
                          <a:cs typeface="Calibri (MS)"/>
                          <a:sym typeface="Calibri (MS)"/>
                        </a:rPr>
                        <a:t>Màu Đỏ!</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09"/>
                        </a:lnSpc>
                        <a:defRPr/>
                      </a:pPr>
                      <a:r>
                        <a:rPr lang="en-US" sz="1500" b="true">
                          <a:solidFill>
                            <a:srgbClr val="13294B"/>
                          </a:solidFill>
                          <a:latin typeface="Calibri (MS) Bold"/>
                          <a:ea typeface="Calibri (MS) Bold"/>
                          <a:cs typeface="Calibri (MS) Bold"/>
                          <a:sym typeface="Calibri (MS) Bold"/>
                        </a:rPr>
                        <a:t>đỏ</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46100">
                <a:tc>
                  <a:txBody>
                    <a:bodyPr anchor="t" rtlCol="false"/>
                    <a:lstStyle/>
                    <a:p>
                      <a:pPr algn="l">
                        <a:lnSpc>
                          <a:spcPts val="1909"/>
                        </a:lnSpc>
                        <a:defRPr/>
                      </a:pPr>
                      <a:r>
                        <a:rPr lang="en-US" sz="1500">
                          <a:solidFill>
                            <a:srgbClr val="243044"/>
                          </a:solidFill>
                          <a:latin typeface="Calibri (MS)"/>
                          <a:ea typeface="Calibri (MS)"/>
                          <a:cs typeface="Calibri (MS)"/>
                          <a:sym typeface="Calibri (MS)"/>
                        </a:rPr>
                        <a:t>ba</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09"/>
                        </a:lnSpc>
                        <a:defRPr/>
                      </a:pPr>
                      <a:r>
                        <a:rPr lang="en-US" sz="1500" b="true">
                          <a:solidFill>
                            <a:srgbClr val="13294B"/>
                          </a:solidFill>
                          <a:latin typeface="Calibri (MS) Bold"/>
                          <a:ea typeface="Calibri (MS) Bold"/>
                          <a:cs typeface="Calibri (MS) Bold"/>
                          <a:sym typeface="Calibri (MS) Bold"/>
                        </a:rPr>
                        <a:t>3</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46100">
                <a:tc>
                  <a:txBody>
                    <a:bodyPr anchor="t" rtlCol="false"/>
                    <a:lstStyle/>
                    <a:p>
                      <a:pPr algn="l">
                        <a:lnSpc>
                          <a:spcPts val="1909"/>
                        </a:lnSpc>
                        <a:defRPr/>
                      </a:pPr>
                      <a:r>
                        <a:rPr lang="en-US" sz="1500">
                          <a:solidFill>
                            <a:srgbClr val="243044"/>
                          </a:solidFill>
                          <a:latin typeface="Calibri (MS)"/>
                          <a:ea typeface="Calibri (MS)"/>
                          <a:cs typeface="Calibri (MS)"/>
                          <a:sym typeface="Calibri (MS)"/>
                        </a:rPr>
                        <a:t>Cửa hàng  điện   thoại</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09"/>
                        </a:lnSpc>
                        <a:defRPr/>
                      </a:pPr>
                      <a:r>
                        <a:rPr lang="en-US" sz="1500" b="true">
                          <a:solidFill>
                            <a:srgbClr val="13294B"/>
                          </a:solidFill>
                          <a:latin typeface="Calibri (MS) Bold"/>
                          <a:ea typeface="Calibri (MS) Bold"/>
                          <a:cs typeface="Calibri (MS) Bold"/>
                          <a:sym typeface="Calibri (MS) Bold"/>
                        </a:rPr>
                        <a:t>cửa hàng điện thoại</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46100">
                <a:tc>
                  <a:txBody>
                    <a:bodyPr anchor="t" rtlCol="false"/>
                    <a:lstStyle/>
                    <a:p>
                      <a:pPr algn="l">
                        <a:lnSpc>
                          <a:spcPts val="1909"/>
                        </a:lnSpc>
                        <a:defRPr/>
                      </a:pPr>
                      <a:r>
                        <a:rPr lang="en-US" sz="1500">
                          <a:solidFill>
                            <a:srgbClr val="243044"/>
                          </a:solidFill>
                          <a:latin typeface="Calibri (MS)"/>
                          <a:ea typeface="Calibri (MS)"/>
                          <a:cs typeface="Calibri (MS)"/>
                          <a:sym typeface="Calibri (MS)"/>
                        </a:rPr>
                        <a:t>con mèo  /  con meo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09"/>
                        </a:lnSpc>
                        <a:defRPr/>
                      </a:pPr>
                      <a:r>
                        <a:rPr lang="en-US" sz="1500" b="true">
                          <a:solidFill>
                            <a:srgbClr val="13294B"/>
                          </a:solidFill>
                          <a:latin typeface="Calibri (MS) Bold"/>
                          <a:ea typeface="Calibri (MS) Bold"/>
                          <a:cs typeface="Calibri (MS) Bold"/>
                          <a:sym typeface="Calibri (MS) Bold"/>
                        </a:rPr>
                        <a:t>giữ nguyên — khác nhau</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sp>
        <p:nvSpPr>
          <p:cNvPr name="TextBox 40" id="40"/>
          <p:cNvSpPr txBox="true"/>
          <p:nvPr/>
        </p:nvSpPr>
        <p:spPr>
          <a:xfrm rot="0">
            <a:off x="12307824" y="6324600"/>
            <a:ext cx="4892040" cy="2819400"/>
          </a:xfrm>
          <a:prstGeom prst="rect">
            <a:avLst/>
          </a:prstGeom>
        </p:spPr>
        <p:txBody>
          <a:bodyPr anchor="t" rtlCol="false" tIns="0" lIns="0" bIns="0" rIns="0">
            <a:spAutoFit/>
          </a:bodyPr>
          <a:lstStyle/>
          <a:p>
            <a:pPr algn="l">
              <a:lnSpc>
                <a:spcPts val="2035"/>
              </a:lnSpc>
            </a:pPr>
            <a:r>
              <a:rPr lang="en-US" sz="1599">
                <a:solidFill>
                  <a:srgbClr val="243044"/>
                </a:solidFill>
                <a:latin typeface="Calibri (MS)"/>
                <a:ea typeface="Calibri (MS)"/>
                <a:cs typeface="Calibri (MS)"/>
                <a:sym typeface="Calibri (MS)"/>
              </a:rPr>
              <a:t>•  NFC, chữ thường, bỏ dấu câu, gộp khoảng trắng; bỏ tiền tố “màu”; số đứng riêng → chữ số</a:t>
            </a:r>
          </a:p>
          <a:p>
            <a:pPr algn="l">
              <a:lnSpc>
                <a:spcPts val="2035"/>
              </a:lnSpc>
            </a:pPr>
            <a:r>
              <a:rPr lang="en-US" sz="1599">
                <a:solidFill>
                  <a:srgbClr val="243044"/>
                </a:solidFill>
                <a:latin typeface="Calibri (MS)"/>
                <a:ea typeface="Calibri (MS)"/>
                <a:cs typeface="Calibri (MS)"/>
                <a:sym typeface="Calibri (MS)"/>
              </a:rPr>
              <a:t>•  </a:t>
            </a:r>
            <a:r>
              <a:rPr lang="en-US" sz="1599" b="true">
                <a:solidFill>
                  <a:srgbClr val="B86E0E"/>
                </a:solidFill>
                <a:latin typeface="Calibri (MS) Bold"/>
                <a:ea typeface="Calibri (MS) Bold"/>
                <a:cs typeface="Calibri (MS) Bold"/>
                <a:sym typeface="Calibri (MS) Bold"/>
              </a:rPr>
              <a:t>Giữ dấu thanh</a:t>
            </a:r>
            <a:r>
              <a:rPr lang="en-US" sz="1599">
                <a:solidFill>
                  <a:srgbClr val="243044"/>
                </a:solidFill>
                <a:latin typeface="Calibri (MS)"/>
                <a:ea typeface="Calibri (MS)"/>
                <a:cs typeface="Calibri (MS)"/>
                <a:sym typeface="Calibri (MS)"/>
              </a:rPr>
              <a:t> — sai dấu là sai nghĩa</a:t>
            </a:r>
          </a:p>
          <a:p>
            <a:pPr algn="l">
              <a:lnSpc>
                <a:spcPts val="2035"/>
              </a:lnSpc>
            </a:pPr>
            <a:r>
              <a:rPr lang="en-US" sz="1599">
                <a:solidFill>
                  <a:srgbClr val="243044"/>
                </a:solidFill>
                <a:latin typeface="Calibri (MS)"/>
                <a:ea typeface="Calibri (MS)"/>
                <a:cs typeface="Calibri (MS)"/>
                <a:sym typeface="Calibri (MS)"/>
              </a:rPr>
              <a:t>•  Cùng một hàm cho đáp án chuẩn và câu trả lời của model</a:t>
            </a:r>
          </a:p>
          <a:p>
            <a:pPr algn="l">
              <a:lnSpc>
                <a:spcPts val="2035"/>
              </a:lnSpc>
            </a:pPr>
            <a:r>
              <a:rPr lang="en-US" sz="1599">
                <a:solidFill>
                  <a:srgbClr val="243044"/>
                </a:solidFill>
                <a:latin typeface="Calibri (MS)"/>
                <a:ea typeface="Calibri (MS)"/>
                <a:cs typeface="Calibri (MS)"/>
                <a:sym typeface="Calibri (MS)"/>
              </a:rPr>
              <a:t>•  “…miền bác” so với “…miền bắc”: EM = 0, ANLS = 0,95</a:t>
            </a:r>
          </a:p>
        </p:txBody>
      </p:sp>
      <p:sp>
        <p:nvSpPr>
          <p:cNvPr name="TextBox 41" id="41"/>
          <p:cNvSpPr txBox="true"/>
          <p:nvPr/>
        </p:nvSpPr>
        <p:spPr>
          <a:xfrm rot="0">
            <a:off x="822960" y="9187053"/>
            <a:ext cx="14173200" cy="386715"/>
          </a:xfrm>
          <a:prstGeom prst="rect">
            <a:avLst/>
          </a:prstGeom>
        </p:spPr>
        <p:txBody>
          <a:bodyPr anchor="t" rtlCol="false" tIns="0" lIns="0" bIns="0" rIns="0">
            <a:spAutoFit/>
          </a:bodyPr>
          <a:lstStyle/>
          <a:p>
            <a:pPr algn="l">
              <a:lnSpc>
                <a:spcPts val="1400"/>
              </a:lnSpc>
            </a:pPr>
            <a:r>
              <a:rPr lang="en-US" sz="1100">
                <a:solidFill>
                  <a:srgbClr val="5B677A"/>
                </a:solidFill>
                <a:latin typeface="Calibri (MS)"/>
                <a:ea typeface="Calibri (MS)"/>
                <a:cs typeface="Calibri (MS)"/>
                <a:sym typeface="Calibri (MS)"/>
              </a:rPr>
              <a:t>Mẫu thật: ① ViVQA COCO_train2014_000000088123 · ② ViTextVQA train_48788 (16267.jpg), cache paddledet_vietocr. Code: src/data/ocr.py · src/prompting/builder.py (template v1) · src/eval/metrics.py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EXISTING SYSTEM · 05 · GIAO THỨC ĐÁNH GIÁ</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Mọi run theo một giao thức cố định</a:t>
            </a:r>
          </a:p>
        </p:txBody>
      </p:sp>
      <p:sp>
        <p:nvSpPr>
          <p:cNvPr name="Freeform 8" id="8"/>
          <p:cNvSpPr/>
          <p:nvPr/>
        </p:nvSpPr>
        <p:spPr>
          <a:xfrm flipH="false" flipV="false" rot="0">
            <a:off x="806291" y="5626532"/>
            <a:ext cx="5214747" cy="3031236"/>
          </a:xfrm>
          <a:custGeom>
            <a:avLst/>
            <a:gdLst/>
            <a:ahLst/>
            <a:cxnLst/>
            <a:rect r="r" b="b" t="t" l="l"/>
            <a:pathLst>
              <a:path h="3031236" w="5214747">
                <a:moveTo>
                  <a:pt x="0" y="0"/>
                </a:moveTo>
                <a:lnTo>
                  <a:pt x="5214747" y="0"/>
                </a:lnTo>
                <a:lnTo>
                  <a:pt x="5214747" y="3031236"/>
                </a:lnTo>
                <a:lnTo>
                  <a:pt x="0" y="3031236"/>
                </a:lnTo>
                <a:lnTo>
                  <a:pt x="0" y="0"/>
                </a:lnTo>
                <a:close/>
              </a:path>
            </a:pathLst>
          </a:custGeom>
          <a:blipFill>
            <a:blip r:embed="rId4">
              <a:extLst>
                <a:ext uri="{96DAC541-7B7A-43D3-8B79-37D633B846F1}">
                  <asvg:svgBlip xmlns:asvg="http://schemas.microsoft.com/office/drawing/2016/SVG/main" r:embed="rId5"/>
                </a:ext>
              </a:extLst>
            </a:blip>
            <a:stretch>
              <a:fillRect l="0" t="-71" r="0" b="-71"/>
            </a:stretch>
          </a:blipFill>
        </p:spPr>
        <p:txBody>
          <a:bodyPr/>
          <a:p/>
        </p:txBody>
      </p:sp>
      <p:sp>
        <p:nvSpPr>
          <p:cNvPr name="TextBox 9" id="9"/>
          <p:cNvSpPr txBox="true"/>
          <p:nvPr/>
        </p:nvSpPr>
        <p:spPr>
          <a:xfrm rot="0">
            <a:off x="1165860" y="5696541"/>
            <a:ext cx="4495648"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Cấu hình cố định</a:t>
            </a:r>
          </a:p>
        </p:txBody>
      </p:sp>
      <p:sp>
        <p:nvSpPr>
          <p:cNvPr name="TextBox 10" id="10"/>
          <p:cNvSpPr txBox="true"/>
          <p:nvPr/>
        </p:nvSpPr>
        <p:spPr>
          <a:xfrm rot="0">
            <a:off x="1165860" y="6275661"/>
            <a:ext cx="4495648" cy="2228259"/>
          </a:xfrm>
          <a:prstGeom prst="rect">
            <a:avLst/>
          </a:prstGeom>
        </p:spPr>
        <p:txBody>
          <a:bodyPr anchor="t" rtlCol="false" tIns="0" lIns="0" bIns="0" rIns="0">
            <a:spAutoFit/>
          </a:bodyPr>
          <a:lstStyle/>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Tính bf16, 4-bit NF4 + double quant</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Tối đa 512 token ảnh</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Greedy, 32 token sinh</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Seed 42 · NVIDIA L4</a:t>
            </a:r>
          </a:p>
        </p:txBody>
      </p:sp>
      <p:sp>
        <p:nvSpPr>
          <p:cNvPr name="Freeform 11" id="11"/>
          <p:cNvSpPr/>
          <p:nvPr/>
        </p:nvSpPr>
        <p:spPr>
          <a:xfrm flipH="false" flipV="false" rot="0">
            <a:off x="6536379" y="5626532"/>
            <a:ext cx="5214747" cy="3031236"/>
          </a:xfrm>
          <a:custGeom>
            <a:avLst/>
            <a:gdLst/>
            <a:ahLst/>
            <a:cxnLst/>
            <a:rect r="r" b="b" t="t" l="l"/>
            <a:pathLst>
              <a:path h="3031236" w="5214747">
                <a:moveTo>
                  <a:pt x="0" y="0"/>
                </a:moveTo>
                <a:lnTo>
                  <a:pt x="5214747" y="0"/>
                </a:lnTo>
                <a:lnTo>
                  <a:pt x="5214747" y="3031236"/>
                </a:lnTo>
                <a:lnTo>
                  <a:pt x="0" y="3031236"/>
                </a:lnTo>
                <a:lnTo>
                  <a:pt x="0" y="0"/>
                </a:lnTo>
                <a:close/>
              </a:path>
            </a:pathLst>
          </a:custGeom>
          <a:blipFill>
            <a:blip r:embed="rId4">
              <a:extLst>
                <a:ext uri="{96DAC541-7B7A-43D3-8B79-37D633B846F1}">
                  <asvg:svgBlip xmlns:asvg="http://schemas.microsoft.com/office/drawing/2016/SVG/main" r:embed="rId5"/>
                </a:ext>
              </a:extLst>
            </a:blip>
            <a:stretch>
              <a:fillRect l="0" t="-71" r="0" b="-71"/>
            </a:stretch>
          </a:blipFill>
        </p:spPr>
        <p:txBody>
          <a:bodyPr/>
          <a:p/>
        </p:txBody>
      </p:sp>
      <p:sp>
        <p:nvSpPr>
          <p:cNvPr name="TextBox 12" id="12"/>
          <p:cNvSpPr txBox="true"/>
          <p:nvPr/>
        </p:nvSpPr>
        <p:spPr>
          <a:xfrm rot="0">
            <a:off x="6895948" y="5696541"/>
            <a:ext cx="4495648"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Metric</a:t>
            </a:r>
          </a:p>
        </p:txBody>
      </p:sp>
      <p:sp>
        <p:nvSpPr>
          <p:cNvPr name="TextBox 13" id="13"/>
          <p:cNvSpPr txBox="true"/>
          <p:nvPr/>
        </p:nvSpPr>
        <p:spPr>
          <a:xfrm rot="0">
            <a:off x="6895948" y="6275661"/>
            <a:ext cx="4495648" cy="2228259"/>
          </a:xfrm>
          <a:prstGeom prst="rect">
            <a:avLst/>
          </a:prstGeom>
        </p:spPr>
        <p:txBody>
          <a:bodyPr anchor="t" rtlCol="false" tIns="0" lIns="0" bIns="0" rIns="0">
            <a:spAutoFit/>
          </a:bodyPr>
          <a:lstStyle/>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Chính: EM, VQA-Acc, ANLS</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Phụ: token-F1 (để so với paper)</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Chuẩn hoá tiếng Việt đối xứng, giữ dấu thanh</a:t>
            </a:r>
          </a:p>
        </p:txBody>
      </p:sp>
      <p:sp>
        <p:nvSpPr>
          <p:cNvPr name="Freeform 14" id="14"/>
          <p:cNvSpPr/>
          <p:nvPr/>
        </p:nvSpPr>
        <p:spPr>
          <a:xfrm flipH="false" flipV="false" rot="0">
            <a:off x="12266466" y="5626532"/>
            <a:ext cx="5214747" cy="3031236"/>
          </a:xfrm>
          <a:custGeom>
            <a:avLst/>
            <a:gdLst/>
            <a:ahLst/>
            <a:cxnLst/>
            <a:rect r="r" b="b" t="t" l="l"/>
            <a:pathLst>
              <a:path h="3031236" w="5214747">
                <a:moveTo>
                  <a:pt x="0" y="0"/>
                </a:moveTo>
                <a:lnTo>
                  <a:pt x="5214747" y="0"/>
                </a:lnTo>
                <a:lnTo>
                  <a:pt x="5214747" y="3031236"/>
                </a:lnTo>
                <a:lnTo>
                  <a:pt x="0" y="3031236"/>
                </a:lnTo>
                <a:lnTo>
                  <a:pt x="0" y="0"/>
                </a:lnTo>
                <a:close/>
              </a:path>
            </a:pathLst>
          </a:custGeom>
          <a:blipFill>
            <a:blip r:embed="rId4">
              <a:extLst>
                <a:ext uri="{96DAC541-7B7A-43D3-8B79-37D633B846F1}">
                  <asvg:svgBlip xmlns:asvg="http://schemas.microsoft.com/office/drawing/2016/SVG/main" r:embed="rId5"/>
                </a:ext>
              </a:extLst>
            </a:blip>
            <a:stretch>
              <a:fillRect l="0" t="-71" r="0" b="-71"/>
            </a:stretch>
          </a:blipFill>
        </p:spPr>
        <p:txBody>
          <a:bodyPr/>
          <a:p/>
        </p:txBody>
      </p:sp>
      <p:sp>
        <p:nvSpPr>
          <p:cNvPr name="TextBox 15" id="15"/>
          <p:cNvSpPr txBox="true"/>
          <p:nvPr/>
        </p:nvSpPr>
        <p:spPr>
          <a:xfrm rot="0">
            <a:off x="12626035" y="5696541"/>
            <a:ext cx="4495648"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Thống kê</a:t>
            </a:r>
          </a:p>
        </p:txBody>
      </p:sp>
      <p:sp>
        <p:nvSpPr>
          <p:cNvPr name="TextBox 16" id="16"/>
          <p:cNvSpPr txBox="true"/>
          <p:nvPr/>
        </p:nvSpPr>
        <p:spPr>
          <a:xfrm rot="0">
            <a:off x="12626035" y="6275661"/>
            <a:ext cx="4495648" cy="2228259"/>
          </a:xfrm>
          <a:prstGeom prst="rect">
            <a:avLst/>
          </a:prstGeom>
        </p:spPr>
        <p:txBody>
          <a:bodyPr anchor="t" rtlCol="false" tIns="0" lIns="0" bIns="0" rIns="0">
            <a:spAutoFit/>
          </a:bodyPr>
          <a:lstStyle/>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Kiểm định McNemar chính xác, ghép cặp (EM)</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CI95 bootstrap ghép cặp (ANLS)</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Cùng split, seed và cấu hình cho mọi run</a:t>
            </a:r>
          </a:p>
        </p:txBody>
      </p:sp>
      <p:grpSp>
        <p:nvGrpSpPr>
          <p:cNvPr name="Group 17" id="17"/>
          <p:cNvGrpSpPr/>
          <p:nvPr/>
        </p:nvGrpSpPr>
        <p:grpSpPr>
          <a:xfrm rot="0">
            <a:off x="822960" y="8750808"/>
            <a:ext cx="16641604" cy="822960"/>
            <a:chOff x="0" y="0"/>
            <a:chExt cx="22188805" cy="1097280"/>
          </a:xfrm>
        </p:grpSpPr>
        <p:sp>
          <p:nvSpPr>
            <p:cNvPr name="Freeform 18" id="18"/>
            <p:cNvSpPr/>
            <p:nvPr/>
          </p:nvSpPr>
          <p:spPr>
            <a:xfrm flipH="false" flipV="false" rot="0">
              <a:off x="0" y="0"/>
              <a:ext cx="22188805" cy="1097280"/>
            </a:xfrm>
            <a:custGeom>
              <a:avLst/>
              <a:gdLst/>
              <a:ahLst/>
              <a:cxnLst/>
              <a:rect r="r" b="b" t="t" l="l"/>
              <a:pathLst>
                <a:path h="1097280" w="22188805">
                  <a:moveTo>
                    <a:pt x="0" y="0"/>
                  </a:moveTo>
                  <a:lnTo>
                    <a:pt x="22188805" y="0"/>
                  </a:lnTo>
                  <a:lnTo>
                    <a:pt x="22188805" y="1097280"/>
                  </a:lnTo>
                  <a:lnTo>
                    <a:pt x="0" y="1097280"/>
                  </a:lnTo>
                  <a:close/>
                </a:path>
              </a:pathLst>
            </a:custGeom>
            <a:blipFill>
              <a:blip r:embed="rId2">
                <a:alphaModFix amt="0"/>
              </a:blip>
              <a:stretch>
                <a:fillRect l="0" t="-343745" r="0" b="-343745"/>
              </a:stretch>
            </a:blipFill>
          </p:spPr>
          <p:txBody>
            <a:bodyPr/>
            <a:p/>
          </p:txBody>
        </p:sp>
      </p:grpSp>
      <p:grpSp>
        <p:nvGrpSpPr>
          <p:cNvPr name="Group 19" id="19"/>
          <p:cNvGrpSpPr/>
          <p:nvPr/>
        </p:nvGrpSpPr>
        <p:grpSpPr>
          <a:xfrm rot="0">
            <a:off x="822960" y="8722233"/>
            <a:ext cx="16641604" cy="851535"/>
            <a:chOff x="0" y="0"/>
            <a:chExt cx="22188805" cy="1135380"/>
          </a:xfrm>
        </p:grpSpPr>
        <p:sp>
          <p:nvSpPr>
            <p:cNvPr name="Freeform 20" id="20"/>
            <p:cNvSpPr/>
            <p:nvPr/>
          </p:nvSpPr>
          <p:spPr>
            <a:xfrm flipH="false" flipV="false" rot="0">
              <a:off x="0" y="0"/>
              <a:ext cx="22188805" cy="1135380"/>
            </a:xfrm>
            <a:custGeom>
              <a:avLst/>
              <a:gdLst/>
              <a:ahLst/>
              <a:cxnLst/>
              <a:rect r="r" b="b" t="t" l="l"/>
              <a:pathLst>
                <a:path h="1135380" w="22188805">
                  <a:moveTo>
                    <a:pt x="0" y="0"/>
                  </a:moveTo>
                  <a:lnTo>
                    <a:pt x="22188805" y="0"/>
                  </a:lnTo>
                  <a:lnTo>
                    <a:pt x="22188805" y="1135380"/>
                  </a:lnTo>
                  <a:lnTo>
                    <a:pt x="0" y="1135380"/>
                  </a:lnTo>
                  <a:close/>
                </a:path>
              </a:pathLst>
            </a:custGeom>
            <a:blipFill>
              <a:blip r:embed="rId6">
                <a:alphaModFix amt="0"/>
              </a:blip>
              <a:stretch>
                <a:fillRect l="0" t="-330532" r="0" b="-330532"/>
              </a:stretch>
            </a:blipFill>
          </p:spPr>
          <p:txBody>
            <a:bodyPr/>
            <a:p/>
          </p:txBody>
        </p:sp>
      </p:grpSp>
      <p:grpSp>
        <p:nvGrpSpPr>
          <p:cNvPr name="Group 21" id="21"/>
          <p:cNvGrpSpPr/>
          <p:nvPr/>
        </p:nvGrpSpPr>
        <p:grpSpPr>
          <a:xfrm rot="0">
            <a:off x="822960" y="8693658"/>
            <a:ext cx="16641623" cy="880110"/>
            <a:chOff x="0" y="0"/>
            <a:chExt cx="22188830" cy="1173480"/>
          </a:xfrm>
        </p:grpSpPr>
        <p:sp>
          <p:nvSpPr>
            <p:cNvPr name="Freeform 22" id="22"/>
            <p:cNvSpPr/>
            <p:nvPr/>
          </p:nvSpPr>
          <p:spPr>
            <a:xfrm flipH="false" flipV="false" rot="0">
              <a:off x="0" y="0"/>
              <a:ext cx="22188805" cy="1173480"/>
            </a:xfrm>
            <a:custGeom>
              <a:avLst/>
              <a:gdLst/>
              <a:ahLst/>
              <a:cxnLst/>
              <a:rect r="r" b="b" t="t" l="l"/>
              <a:pathLst>
                <a:path h="1173480" w="22188805">
                  <a:moveTo>
                    <a:pt x="0" y="0"/>
                  </a:moveTo>
                  <a:lnTo>
                    <a:pt x="22188805" y="0"/>
                  </a:lnTo>
                  <a:lnTo>
                    <a:pt x="22188805" y="1173480"/>
                  </a:lnTo>
                  <a:lnTo>
                    <a:pt x="0" y="1173480"/>
                  </a:lnTo>
                  <a:close/>
                </a:path>
              </a:pathLst>
            </a:custGeom>
            <a:blipFill>
              <a:blip r:embed="rId7">
                <a:alphaModFix amt="0"/>
              </a:blip>
              <a:stretch>
                <a:fillRect l="0" t="-318177" r="0" b="-318178"/>
              </a:stretch>
            </a:blipFill>
          </p:spPr>
          <p:txBody>
            <a:bodyPr/>
            <a:p/>
          </p:txBody>
        </p:sp>
      </p:grpSp>
      <p:grpSp>
        <p:nvGrpSpPr>
          <p:cNvPr name="Group 23" id="23"/>
          <p:cNvGrpSpPr/>
          <p:nvPr/>
        </p:nvGrpSpPr>
        <p:grpSpPr>
          <a:xfrm rot="0">
            <a:off x="822960" y="8665083"/>
            <a:ext cx="16641623" cy="908685"/>
            <a:chOff x="0" y="0"/>
            <a:chExt cx="22188830" cy="1211580"/>
          </a:xfrm>
        </p:grpSpPr>
        <p:sp>
          <p:nvSpPr>
            <p:cNvPr name="Freeform 24" id="24"/>
            <p:cNvSpPr/>
            <p:nvPr/>
          </p:nvSpPr>
          <p:spPr>
            <a:xfrm flipH="false" flipV="false" rot="0">
              <a:off x="0" y="0"/>
              <a:ext cx="22188830" cy="1211580"/>
            </a:xfrm>
            <a:custGeom>
              <a:avLst/>
              <a:gdLst/>
              <a:ahLst/>
              <a:cxnLst/>
              <a:rect r="r" b="b" t="t" l="l"/>
              <a:pathLst>
                <a:path h="1211580" w="22188830">
                  <a:moveTo>
                    <a:pt x="0" y="0"/>
                  </a:moveTo>
                  <a:lnTo>
                    <a:pt x="22188830" y="0"/>
                  </a:lnTo>
                  <a:lnTo>
                    <a:pt x="22188830" y="1211580"/>
                  </a:lnTo>
                  <a:lnTo>
                    <a:pt x="0" y="1211580"/>
                  </a:lnTo>
                  <a:close/>
                </a:path>
              </a:pathLst>
            </a:custGeom>
            <a:blipFill>
              <a:blip r:embed="rId8">
                <a:alphaModFix amt="0"/>
              </a:blip>
              <a:stretch>
                <a:fillRect l="0" t="-306848" r="0" b="-306848"/>
              </a:stretch>
            </a:blipFill>
          </p:spPr>
          <p:txBody>
            <a:bodyPr/>
            <a:p/>
          </p:txBody>
        </p:sp>
        <p:sp>
          <p:nvSpPr>
            <p:cNvPr name="TextBox 25" id="25"/>
            <p:cNvSpPr txBox="true"/>
            <p:nvPr/>
          </p:nvSpPr>
          <p:spPr>
            <a:xfrm>
              <a:off x="0" y="-38100"/>
              <a:ext cx="22188830" cy="1249680"/>
            </a:xfrm>
            <a:prstGeom prst="rect">
              <a:avLst/>
            </a:prstGeom>
          </p:spPr>
          <p:txBody>
            <a:bodyPr anchor="b" rtlCol="false" tIns="0" lIns="0" bIns="0" rIns="0"/>
            <a:lstStyle/>
            <a:p>
              <a:pPr algn="l">
                <a:lnSpc>
                  <a:spcPts val="1800"/>
                </a:lnSpc>
              </a:pPr>
              <a:r>
                <a:rPr lang="en-US" sz="1500">
                  <a:solidFill>
                    <a:srgbClr val="6B7280"/>
                  </a:solidFill>
                  <a:latin typeface="Calibri (MS)"/>
                  <a:ea typeface="Calibri (MS)"/>
                  <a:cs typeface="Calibri (MS)"/>
                  <a:sym typeface="Calibri (MS)"/>
                </a:rPr>
                <a:t>EM = Exact Match (khớp tuyệt đối) · VQA-Acc = VQA Accuracy (min(số gold khớp / 3, 1); = EM khi chỉ có 1 gold) · ANLS = Average Normalized Levenshtein Similarity (ngưỡng 0,5) · F1 = F1 theo token · bf16 = bfloat16 · NF4 = 4-bit NormalFloat (QLoRA) · CI95 = khoảng tin cậy 95% · McNemar = kiểm định ghép cặp trên các câu chỉ một run đúng</a:t>
              </a:r>
            </a:p>
          </p:txBody>
        </p:sp>
      </p:grpSp>
      <p:grpSp>
        <p:nvGrpSpPr>
          <p:cNvPr name="Group 26" id="26"/>
          <p:cNvGrpSpPr/>
          <p:nvPr/>
        </p:nvGrpSpPr>
        <p:grpSpPr>
          <a:xfrm rot="0">
            <a:off x="15458732" y="0"/>
            <a:ext cx="2829306" cy="1184338"/>
            <a:chOff x="0" y="0"/>
            <a:chExt cx="3772408" cy="1579118"/>
          </a:xfrm>
        </p:grpSpPr>
        <p:sp>
          <p:nvSpPr>
            <p:cNvPr name="Freeform 27" id="27"/>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9"/>
              <a:stretch>
                <a:fillRect l="0" t="0" r="0" b="0"/>
              </a:stretch>
            </a:blipFill>
          </p:spPr>
          <p:txBody>
            <a:bodyPr/>
            <a:p/>
          </p:txBody>
        </p:sp>
      </p:grpSp>
      <p:grpSp>
        <p:nvGrpSpPr>
          <p:cNvPr name="Group 28" id="28"/>
          <p:cNvGrpSpPr/>
          <p:nvPr/>
        </p:nvGrpSpPr>
        <p:grpSpPr>
          <a:xfrm rot="0">
            <a:off x="822960" y="9641205"/>
            <a:ext cx="13716000" cy="440055"/>
            <a:chOff x="0" y="0"/>
            <a:chExt cx="18288000" cy="586740"/>
          </a:xfrm>
        </p:grpSpPr>
        <p:sp>
          <p:nvSpPr>
            <p:cNvPr name="Freeform 29" id="29"/>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6">
                <a:alphaModFix amt="0"/>
              </a:blip>
              <a:stretch>
                <a:fillRect l="0" t="-556902" r="0" b="-556904"/>
              </a:stretch>
            </a:blipFill>
          </p:spPr>
          <p:txBody>
            <a:bodyPr/>
            <a:p/>
          </p:txBody>
        </p:sp>
      </p:grpSp>
      <p:grpSp>
        <p:nvGrpSpPr>
          <p:cNvPr name="Group 30" id="30"/>
          <p:cNvGrpSpPr/>
          <p:nvPr/>
        </p:nvGrpSpPr>
        <p:grpSpPr>
          <a:xfrm rot="0">
            <a:off x="822960" y="9612630"/>
            <a:ext cx="13716000" cy="468630"/>
            <a:chOff x="0" y="0"/>
            <a:chExt cx="18288000" cy="624840"/>
          </a:xfrm>
        </p:grpSpPr>
        <p:sp>
          <p:nvSpPr>
            <p:cNvPr name="Freeform 31" id="31"/>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7">
                <a:alphaModFix amt="0"/>
              </a:blip>
              <a:stretch>
                <a:fillRect l="0" t="-519896" r="0" b="-519898"/>
              </a:stretch>
            </a:blipFill>
          </p:spPr>
          <p:txBody>
            <a:bodyPr/>
            <a:p/>
          </p:txBody>
        </p:sp>
      </p:grpSp>
      <p:grpSp>
        <p:nvGrpSpPr>
          <p:cNvPr name="Group 32" id="32"/>
          <p:cNvGrpSpPr/>
          <p:nvPr/>
        </p:nvGrpSpPr>
        <p:grpSpPr>
          <a:xfrm rot="0">
            <a:off x="822960" y="9584055"/>
            <a:ext cx="13716000" cy="497205"/>
            <a:chOff x="0" y="0"/>
            <a:chExt cx="18288000" cy="662940"/>
          </a:xfrm>
        </p:grpSpPr>
        <p:sp>
          <p:nvSpPr>
            <p:cNvPr name="Freeform 33" id="33"/>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8">
                <a:alphaModFix amt="0"/>
              </a:blip>
              <a:stretch>
                <a:fillRect l="0" t="-487518" r="0" b="-487518"/>
              </a:stretch>
            </a:blipFill>
          </p:spPr>
          <p:txBody>
            <a:bodyPr/>
            <a:p/>
          </p:txBody>
        </p:sp>
        <p:sp>
          <p:nvSpPr>
            <p:cNvPr name="TextBox 34" id="34"/>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pic>
        <p:nvPicPr>
          <p:cNvPr id="35" name="Picture 34" descr="flow20.png"/>
          <p:cNvPicPr>
            <a:picLocks noChangeAspect="1"/>
          </p:cNvPicPr>
          <p:nvPr/>
        </p:nvPicPr>
        <p:blipFill>
          <a:blip r:embed="rId10"/>
          <a:stretch>
            <a:fillRect/>
          </a:stretch>
        </p:blipFill>
        <p:spPr>
          <a:xfrm>
            <a:off x="822960" y="1920240"/>
            <a:ext cx="16642080" cy="3566160"/>
          </a:xfrm>
          <a:prstGeom prst="rect">
            <a:avLst/>
          </a:prstGeom>
        </p:spPr>
      </p:pic>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68" name="Rounded Rectangle 67"/>
          <p:cNvSpPr/>
          <p:nvPr/>
        </p:nvSpPr>
        <p:spPr>
          <a:xfrm>
            <a:off x="804672" y="2103120"/>
            <a:ext cx="3087014" cy="6766560"/>
          </a:xfrm>
          <a:prstGeom prst="roundRect">
            <a:avLst>
              <a:gd name="adj" fmla="val 5000"/>
            </a:avLst>
          </a:prstGeom>
          <a:solidFill>
            <a:srgbClr val="F3F5F8"/>
          </a:solidFill>
          <a:ln>
            <a:noFill/>
          </a:ln>
        </p:spPr>
        <p:txBody>
          <a:bodyPr rtlCol="0" anchor="ctr"/>
          <a:lstStyle/>
          <a:p>
            <a:pPr algn="ctr"/>
          </a:p>
        </p:txBody>
      </p:sp>
      <p:sp>
        <p:nvSpPr>
          <p:cNvPr id="69" name="Oval 68"/>
          <p:cNvSpPr/>
          <p:nvPr/>
        </p:nvSpPr>
        <p:spPr>
          <a:xfrm>
            <a:off x="1078992" y="2395727"/>
            <a:ext cx="1051560" cy="1051560"/>
          </a:xfrm>
          <a:prstGeom prst="ellipse">
            <a:avLst/>
          </a:prstGeom>
          <a:solidFill>
            <a:srgbClr val="8A96A8"/>
          </a:solidFill>
          <a:ln>
            <a:noFill/>
          </a:ln>
        </p:spPr>
        <p:txBody>
          <a:bodyPr rtlCol="0" anchor="ctr" wrap="square" lIns="0" rIns="0" tIns="0" bIns="0"/>
          <a:lstStyle/>
          <a:p>
            <a:pPr algn="ctr">
              <a:lnSpc>
                <a:spcPct val="106000"/>
              </a:lnSpc>
              <a:spcAft>
                <a:spcPts val="0"/>
              </a:spcAft>
            </a:pPr>
            <a:r>
              <a:rPr sz="2200" b="1">
                <a:solidFill>
                  <a:srgbClr val="FFFFFF"/>
                </a:solidFill>
                <a:latin typeface="Calibri (MS) Bold"/>
              </a:rPr>
              <a:t>B1</a:t>
            </a:r>
          </a:p>
        </p:txBody>
      </p:sp>
      <p:sp>
        <p:nvSpPr>
          <p:cNvPr id="70" name="TextBox 69"/>
          <p:cNvSpPr txBox="1"/>
          <p:nvPr/>
        </p:nvSpPr>
        <p:spPr>
          <a:xfrm>
            <a:off x="1078992" y="3657600"/>
            <a:ext cx="2584094" cy="868680"/>
          </a:xfrm>
          <a:prstGeom prst="rect">
            <a:avLst/>
          </a:prstGeom>
          <a:noFill/>
        </p:spPr>
        <p:txBody>
          <a:bodyPr wrap="square" anchor="t" lIns="0" rIns="0" tIns="0" bIns="0">
            <a:spAutoFit/>
          </a:bodyPr>
          <a:lstStyle/>
          <a:p>
            <a:pPr algn="l">
              <a:lnSpc>
                <a:spcPct val="106000"/>
              </a:lnSpc>
              <a:spcAft>
                <a:spcPts val="0"/>
              </a:spcAft>
            </a:pPr>
            <a:r>
              <a:rPr sz="1900" b="1">
                <a:solidFill>
                  <a:srgbClr val="13294B"/>
                </a:solidFill>
                <a:latin typeface="Calibri (MS) Bold"/>
              </a:rPr>
              <a:t>Zero-shot (không train)</a:t>
            </a:r>
          </a:p>
        </p:txBody>
      </p:sp>
      <p:sp>
        <p:nvSpPr>
          <p:cNvPr id="71" name="TextBox 70"/>
          <p:cNvSpPr txBox="1"/>
          <p:nvPr/>
        </p:nvSpPr>
        <p:spPr>
          <a:xfrm>
            <a:off x="1078992" y="4498848"/>
            <a:ext cx="2584094" cy="1828800"/>
          </a:xfrm>
          <a:prstGeom prst="rect">
            <a:avLst/>
          </a:prstGeom>
          <a:noFill/>
        </p:spPr>
        <p:txBody>
          <a:bodyPr wrap="square" anchor="t" lIns="0" rIns="0" tIns="0" bIns="0">
            <a:spAutoFit/>
          </a:bodyPr>
          <a:lstStyle/>
          <a:p>
            <a:pPr algn="l">
              <a:lnSpc>
                <a:spcPct val="106000"/>
              </a:lnSpc>
              <a:spcAft>
                <a:spcPts val="0"/>
              </a:spcAft>
            </a:pPr>
            <a:r>
              <a:rPr sz="1700" b="0">
                <a:solidFill>
                  <a:srgbClr val="243044"/>
                </a:solidFill>
                <a:latin typeface="Calibri (MS)"/>
              </a:rPr>
              <a:t>Khởi điểm: hỏi thẳng model gốc → EM 22,1 ViVQA · 29,1 ViTextVQA</a:t>
            </a:r>
          </a:p>
        </p:txBody>
      </p:sp>
      <p:pic>
        <p:nvPicPr>
          <p:cNvPr id="72" name="Picture 71" descr="step_B1.png"/>
          <p:cNvPicPr>
            <a:picLocks noChangeAspect="1"/>
          </p:cNvPicPr>
          <p:nvPr/>
        </p:nvPicPr>
        <p:blipFill>
          <a:blip r:embed="rId16"/>
          <a:stretch>
            <a:fillRect/>
          </a:stretch>
        </p:blipFill>
        <p:spPr>
          <a:xfrm>
            <a:off x="960120" y="6629400"/>
            <a:ext cx="2776118" cy="1573133"/>
          </a:xfrm>
          <a:prstGeom prst="rect">
            <a:avLst/>
          </a:prstGeom>
        </p:spPr>
      </p:pic>
      <p:sp>
        <p:nvSpPr>
          <p:cNvPr id="73" name="Isosceles Triangle 72"/>
          <p:cNvSpPr/>
          <p:nvPr/>
        </p:nvSpPr>
        <p:spPr>
          <a:xfrm rot="5400000">
            <a:off x="3946550" y="2798063"/>
            <a:ext cx="237744" cy="219456"/>
          </a:xfrm>
          <a:prstGeom prst="triangle">
            <a:avLst/>
          </a:prstGeom>
          <a:solidFill>
            <a:srgbClr val="1C7293"/>
          </a:solidFill>
          <a:ln>
            <a:noFill/>
          </a:ln>
        </p:spPr>
        <p:txBody>
          <a:bodyPr rtlCol="0" anchor="ctr"/>
          <a:lstStyle/>
          <a:p>
            <a:pPr algn="ctr"/>
          </a:p>
        </p:txBody>
      </p:sp>
      <p:sp>
        <p:nvSpPr>
          <p:cNvPr id="74" name="Rounded Rectangle 73"/>
          <p:cNvSpPr/>
          <p:nvPr/>
        </p:nvSpPr>
        <p:spPr>
          <a:xfrm>
            <a:off x="4202582" y="2103120"/>
            <a:ext cx="3087014" cy="6766560"/>
          </a:xfrm>
          <a:prstGeom prst="roundRect">
            <a:avLst>
              <a:gd name="adj" fmla="val 5000"/>
            </a:avLst>
          </a:prstGeom>
          <a:solidFill>
            <a:srgbClr val="E7F0F3"/>
          </a:solidFill>
          <a:ln>
            <a:noFill/>
          </a:ln>
        </p:spPr>
        <p:txBody>
          <a:bodyPr rtlCol="0" anchor="ctr"/>
          <a:lstStyle/>
          <a:p>
            <a:pPr algn="ctr"/>
          </a:p>
        </p:txBody>
      </p:sp>
      <p:sp>
        <p:nvSpPr>
          <p:cNvPr id="75" name="Oval 74"/>
          <p:cNvSpPr/>
          <p:nvPr/>
        </p:nvSpPr>
        <p:spPr>
          <a:xfrm>
            <a:off x="4476902" y="2395727"/>
            <a:ext cx="1051560" cy="1051560"/>
          </a:xfrm>
          <a:prstGeom prst="ellipse">
            <a:avLst/>
          </a:prstGeom>
          <a:solidFill>
            <a:srgbClr val="1C7293"/>
          </a:solidFill>
          <a:ln>
            <a:noFill/>
          </a:ln>
        </p:spPr>
        <p:txBody>
          <a:bodyPr rtlCol="0" anchor="ctr" wrap="square" lIns="0" rIns="0" tIns="0" bIns="0"/>
          <a:lstStyle/>
          <a:p>
            <a:pPr algn="ctr">
              <a:lnSpc>
                <a:spcPct val="106000"/>
              </a:lnSpc>
              <a:spcAft>
                <a:spcPts val="0"/>
              </a:spcAft>
            </a:pPr>
            <a:r>
              <a:rPr sz="2200" b="1">
                <a:solidFill>
                  <a:srgbClr val="FFFFFF"/>
                </a:solidFill>
                <a:latin typeface="Calibri (MS) Bold"/>
              </a:rPr>
              <a:t>B2</a:t>
            </a:r>
          </a:p>
        </p:txBody>
      </p:sp>
      <p:sp>
        <p:nvSpPr>
          <p:cNvPr id="76" name="TextBox 75"/>
          <p:cNvSpPr txBox="1"/>
          <p:nvPr/>
        </p:nvSpPr>
        <p:spPr>
          <a:xfrm>
            <a:off x="4476902" y="3657600"/>
            <a:ext cx="2584094" cy="868680"/>
          </a:xfrm>
          <a:prstGeom prst="rect">
            <a:avLst/>
          </a:prstGeom>
          <a:noFill/>
        </p:spPr>
        <p:txBody>
          <a:bodyPr wrap="square" anchor="t" lIns="0" rIns="0" tIns="0" bIns="0">
            <a:spAutoFit/>
          </a:bodyPr>
          <a:lstStyle/>
          <a:p>
            <a:pPr algn="l">
              <a:lnSpc>
                <a:spcPct val="106000"/>
              </a:lnSpc>
              <a:spcAft>
                <a:spcPts val="0"/>
              </a:spcAft>
            </a:pPr>
            <a:r>
              <a:rPr sz="1900" b="1">
                <a:solidFill>
                  <a:srgbClr val="13294B"/>
                </a:solidFill>
                <a:latin typeface="Calibri (MS) Bold"/>
              </a:rPr>
              <a:t>QLoRA (không OCR)</a:t>
            </a:r>
          </a:p>
        </p:txBody>
      </p:sp>
      <p:sp>
        <p:nvSpPr>
          <p:cNvPr id="77" name="TextBox 76"/>
          <p:cNvSpPr txBox="1"/>
          <p:nvPr/>
        </p:nvSpPr>
        <p:spPr>
          <a:xfrm>
            <a:off x="4476902" y="4498848"/>
            <a:ext cx="2584094" cy="1828800"/>
          </a:xfrm>
          <a:prstGeom prst="rect">
            <a:avLst/>
          </a:prstGeom>
          <a:noFill/>
        </p:spPr>
        <p:txBody>
          <a:bodyPr wrap="square" anchor="t" lIns="0" rIns="0" tIns="0" bIns="0">
            <a:spAutoFit/>
          </a:bodyPr>
          <a:lstStyle/>
          <a:p>
            <a:pPr algn="l">
              <a:lnSpc>
                <a:spcPct val="106000"/>
              </a:lnSpc>
              <a:spcAft>
                <a:spcPts val="0"/>
              </a:spcAft>
            </a:pPr>
            <a:r>
              <a:rPr sz="1700" b="0">
                <a:solidFill>
                  <a:srgbClr val="243044"/>
                </a:solidFill>
                <a:latin typeface="Calibri (MS)"/>
              </a:rPr>
              <a:t>PEFT có hơn zero-shot? → +21,1 EM ViTextVQA, +51,7 ViVQA</a:t>
            </a:r>
          </a:p>
        </p:txBody>
      </p:sp>
      <p:pic>
        <p:nvPicPr>
          <p:cNvPr id="78" name="Picture 77" descr="image.png"/>
          <p:cNvPicPr>
            <a:picLocks noChangeAspect="1"/>
          </p:cNvPicPr>
          <p:nvPr/>
        </p:nvPicPr>
        <p:blipFill>
          <a:blip r:embed="rId17"/>
          <a:stretch>
            <a:fillRect/>
          </a:stretch>
        </p:blipFill>
        <p:spPr>
          <a:xfrm>
            <a:off x="4358030" y="6629400"/>
            <a:ext cx="2776118" cy="1573133"/>
          </a:xfrm>
          <a:prstGeom prst="rect">
            <a:avLst/>
          </a:prstGeom>
        </p:spPr>
      </p:pic>
      <p:sp>
        <p:nvSpPr>
          <p:cNvPr id="79" name="Isosceles Triangle 78"/>
          <p:cNvSpPr/>
          <p:nvPr/>
        </p:nvSpPr>
        <p:spPr>
          <a:xfrm rot="5400000">
            <a:off x="7344460" y="2798063"/>
            <a:ext cx="237744" cy="219456"/>
          </a:xfrm>
          <a:prstGeom prst="triangle">
            <a:avLst/>
          </a:prstGeom>
          <a:solidFill>
            <a:srgbClr val="1C7293"/>
          </a:solidFill>
          <a:ln>
            <a:noFill/>
          </a:ln>
        </p:spPr>
        <p:txBody>
          <a:bodyPr rtlCol="0" anchor="ctr"/>
          <a:lstStyle/>
          <a:p>
            <a:pPr algn="ctr"/>
          </a:p>
        </p:txBody>
      </p:sp>
      <p:sp>
        <p:nvSpPr>
          <p:cNvPr id="80" name="Rounded Rectangle 79"/>
          <p:cNvSpPr/>
          <p:nvPr/>
        </p:nvSpPr>
        <p:spPr>
          <a:xfrm>
            <a:off x="7600492" y="2103120"/>
            <a:ext cx="3087014" cy="6766560"/>
          </a:xfrm>
          <a:prstGeom prst="roundRect">
            <a:avLst>
              <a:gd name="adj" fmla="val 5000"/>
            </a:avLst>
          </a:prstGeom>
          <a:solidFill>
            <a:srgbClr val="F3F5F8"/>
          </a:solidFill>
          <a:ln>
            <a:noFill/>
          </a:ln>
        </p:spPr>
        <p:txBody>
          <a:bodyPr rtlCol="0" anchor="ctr"/>
          <a:lstStyle/>
          <a:p>
            <a:pPr algn="ctr"/>
          </a:p>
        </p:txBody>
      </p:sp>
      <p:sp>
        <p:nvSpPr>
          <p:cNvPr id="81" name="Oval 80"/>
          <p:cNvSpPr/>
          <p:nvPr/>
        </p:nvSpPr>
        <p:spPr>
          <a:xfrm>
            <a:off x="7874812" y="2395727"/>
            <a:ext cx="1051560" cy="1051560"/>
          </a:xfrm>
          <a:prstGeom prst="ellipse">
            <a:avLst/>
          </a:prstGeom>
          <a:solidFill>
            <a:srgbClr val="13294B"/>
          </a:solidFill>
          <a:ln>
            <a:noFill/>
          </a:ln>
        </p:spPr>
        <p:txBody>
          <a:bodyPr rtlCol="0" anchor="ctr" wrap="square" lIns="0" rIns="0" tIns="0" bIns="0"/>
          <a:lstStyle/>
          <a:p>
            <a:pPr algn="ctr">
              <a:lnSpc>
                <a:spcPct val="106000"/>
              </a:lnSpc>
              <a:spcAft>
                <a:spcPts val="0"/>
              </a:spcAft>
            </a:pPr>
            <a:r>
              <a:rPr sz="2200" b="1">
                <a:solidFill>
                  <a:srgbClr val="FFFFFF"/>
                </a:solidFill>
                <a:latin typeface="Calibri (MS) Bold"/>
              </a:rPr>
              <a:t>B3</a:t>
            </a:r>
          </a:p>
        </p:txBody>
      </p:sp>
      <p:sp>
        <p:nvSpPr>
          <p:cNvPr id="82" name="TextBox 81"/>
          <p:cNvSpPr txBox="1"/>
          <p:nvPr/>
        </p:nvSpPr>
        <p:spPr>
          <a:xfrm>
            <a:off x="7874812" y="3657600"/>
            <a:ext cx="2584094" cy="868680"/>
          </a:xfrm>
          <a:prstGeom prst="rect">
            <a:avLst/>
          </a:prstGeom>
          <a:noFill/>
        </p:spPr>
        <p:txBody>
          <a:bodyPr wrap="square" anchor="t" lIns="0" rIns="0" tIns="0" bIns="0">
            <a:spAutoFit/>
          </a:bodyPr>
          <a:lstStyle/>
          <a:p>
            <a:pPr algn="l">
              <a:lnSpc>
                <a:spcPct val="106000"/>
              </a:lnSpc>
              <a:spcAft>
                <a:spcPts val="0"/>
              </a:spcAft>
            </a:pPr>
            <a:r>
              <a:rPr sz="1900" b="1">
                <a:solidFill>
                  <a:srgbClr val="13294B"/>
                </a:solidFill>
                <a:latin typeface="Calibri (MS) Bold"/>
              </a:rPr>
              <a:t>QLoRA + dòng OCR (8k câu)</a:t>
            </a:r>
          </a:p>
        </p:txBody>
      </p:sp>
      <p:sp>
        <p:nvSpPr>
          <p:cNvPr id="83" name="TextBox 82"/>
          <p:cNvSpPr txBox="1"/>
          <p:nvPr/>
        </p:nvSpPr>
        <p:spPr>
          <a:xfrm>
            <a:off x="7874812" y="4498848"/>
            <a:ext cx="2584094" cy="1828800"/>
          </a:xfrm>
          <a:prstGeom prst="rect">
            <a:avLst/>
          </a:prstGeom>
          <a:noFill/>
        </p:spPr>
        <p:txBody>
          <a:bodyPr wrap="square" anchor="t" lIns="0" rIns="0" tIns="0" bIns="0">
            <a:spAutoFit/>
          </a:bodyPr>
          <a:lstStyle/>
          <a:p>
            <a:pPr algn="l">
              <a:lnSpc>
                <a:spcPct val="106000"/>
              </a:lnSpc>
              <a:spcAft>
                <a:spcPts val="0"/>
              </a:spcAft>
            </a:pPr>
            <a:r>
              <a:rPr sz="1700" b="0">
                <a:solidFill>
                  <a:srgbClr val="243044"/>
                </a:solidFill>
                <a:latin typeface="Calibri (MS)"/>
              </a:rPr>
              <a:t>Dạy model dùng chữ OCR có giúp? → +2,5 EM so với B2-sub</a:t>
            </a:r>
          </a:p>
        </p:txBody>
      </p:sp>
      <p:pic>
        <p:nvPicPr>
          <p:cNvPr id="84" name="Picture 83" descr="step_B3.png"/>
          <p:cNvPicPr>
            <a:picLocks noChangeAspect="1"/>
          </p:cNvPicPr>
          <p:nvPr/>
        </p:nvPicPr>
        <p:blipFill>
          <a:blip r:embed="rId18"/>
          <a:stretch>
            <a:fillRect/>
          </a:stretch>
        </p:blipFill>
        <p:spPr>
          <a:xfrm>
            <a:off x="7755940" y="6629400"/>
            <a:ext cx="2776118" cy="1573133"/>
          </a:xfrm>
          <a:prstGeom prst="rect">
            <a:avLst/>
          </a:prstGeom>
        </p:spPr>
      </p:pic>
      <p:sp>
        <p:nvSpPr>
          <p:cNvPr id="85" name="Isosceles Triangle 84"/>
          <p:cNvSpPr/>
          <p:nvPr/>
        </p:nvSpPr>
        <p:spPr>
          <a:xfrm rot="5400000">
            <a:off x="10742371" y="2798063"/>
            <a:ext cx="237744" cy="219456"/>
          </a:xfrm>
          <a:prstGeom prst="triangle">
            <a:avLst/>
          </a:prstGeom>
          <a:solidFill>
            <a:srgbClr val="1C7293"/>
          </a:solidFill>
          <a:ln>
            <a:noFill/>
          </a:ln>
        </p:spPr>
        <p:txBody>
          <a:bodyPr rtlCol="0" anchor="ctr"/>
          <a:lstStyle/>
          <a:p>
            <a:pPr algn="ctr"/>
          </a:p>
        </p:txBody>
      </p:sp>
      <p:sp>
        <p:nvSpPr>
          <p:cNvPr id="86" name="Rounded Rectangle 85"/>
          <p:cNvSpPr/>
          <p:nvPr/>
        </p:nvSpPr>
        <p:spPr>
          <a:xfrm>
            <a:off x="10998403" y="2103120"/>
            <a:ext cx="3087014" cy="6766560"/>
          </a:xfrm>
          <a:prstGeom prst="roundRect">
            <a:avLst>
              <a:gd name="adj" fmla="val 5000"/>
            </a:avLst>
          </a:prstGeom>
          <a:solidFill>
            <a:srgbClr val="F3F5F8"/>
          </a:solidFill>
          <a:ln>
            <a:noFill/>
          </a:ln>
        </p:spPr>
        <p:txBody>
          <a:bodyPr rtlCol="0" anchor="ctr"/>
          <a:lstStyle/>
          <a:p>
            <a:pPr algn="ctr"/>
          </a:p>
        </p:txBody>
      </p:sp>
      <p:sp>
        <p:nvSpPr>
          <p:cNvPr id="87" name="Oval 86"/>
          <p:cNvSpPr/>
          <p:nvPr/>
        </p:nvSpPr>
        <p:spPr>
          <a:xfrm>
            <a:off x="11272723" y="2395727"/>
            <a:ext cx="1051560" cy="1051560"/>
          </a:xfrm>
          <a:prstGeom prst="ellipse">
            <a:avLst/>
          </a:prstGeom>
          <a:solidFill>
            <a:srgbClr val="13294B"/>
          </a:solidFill>
          <a:ln>
            <a:noFill/>
          </a:ln>
        </p:spPr>
        <p:txBody>
          <a:bodyPr rtlCol="0" anchor="ctr" wrap="square" lIns="0" rIns="0" tIns="0" bIns="0"/>
          <a:lstStyle/>
          <a:p>
            <a:pPr algn="ctr">
              <a:lnSpc>
                <a:spcPct val="106000"/>
              </a:lnSpc>
              <a:spcAft>
                <a:spcPts val="0"/>
              </a:spcAft>
            </a:pPr>
            <a:r>
              <a:rPr sz="2200" b="1">
                <a:solidFill>
                  <a:srgbClr val="FFFFFF"/>
                </a:solidFill>
                <a:latin typeface="Calibri (MS) Bold"/>
              </a:rPr>
              <a:t>B3F</a:t>
            </a:r>
          </a:p>
        </p:txBody>
      </p:sp>
      <p:sp>
        <p:nvSpPr>
          <p:cNvPr id="88" name="TextBox 87"/>
          <p:cNvSpPr txBox="1"/>
          <p:nvPr/>
        </p:nvSpPr>
        <p:spPr>
          <a:xfrm>
            <a:off x="11272723" y="3657600"/>
            <a:ext cx="2584094" cy="868680"/>
          </a:xfrm>
          <a:prstGeom prst="rect">
            <a:avLst/>
          </a:prstGeom>
          <a:noFill/>
        </p:spPr>
        <p:txBody>
          <a:bodyPr wrap="square" anchor="t" lIns="0" rIns="0" tIns="0" bIns="0">
            <a:spAutoFit/>
          </a:bodyPr>
          <a:lstStyle/>
          <a:p>
            <a:pPr algn="l">
              <a:lnSpc>
                <a:spcPct val="106000"/>
              </a:lnSpc>
              <a:spcAft>
                <a:spcPts val="0"/>
              </a:spcAft>
            </a:pPr>
            <a:r>
              <a:rPr sz="1900" b="1">
                <a:solidFill>
                  <a:srgbClr val="13294B"/>
                </a:solidFill>
                <a:latin typeface="Calibri (MS) Bold"/>
              </a:rPr>
              <a:t>B3 trên toàn bộ dữ liệu</a:t>
            </a:r>
          </a:p>
        </p:txBody>
      </p:sp>
      <p:sp>
        <p:nvSpPr>
          <p:cNvPr id="89" name="TextBox 88"/>
          <p:cNvSpPr txBox="1"/>
          <p:nvPr/>
        </p:nvSpPr>
        <p:spPr>
          <a:xfrm>
            <a:off x="11272723" y="4498848"/>
            <a:ext cx="2584094" cy="1828800"/>
          </a:xfrm>
          <a:prstGeom prst="rect">
            <a:avLst/>
          </a:prstGeom>
          <a:noFill/>
        </p:spPr>
        <p:txBody>
          <a:bodyPr wrap="square" anchor="t" lIns="0" rIns="0" tIns="0" bIns="0">
            <a:spAutoFit/>
          </a:bodyPr>
          <a:lstStyle/>
          <a:p>
            <a:pPr algn="l">
              <a:lnSpc>
                <a:spcPct val="106000"/>
              </a:lnSpc>
              <a:spcAft>
                <a:spcPts val="0"/>
              </a:spcAft>
            </a:pPr>
            <a:r>
              <a:rPr sz="1700" b="0">
                <a:solidFill>
                  <a:srgbClr val="243044"/>
                </a:solidFill>
                <a:latin typeface="Calibri (MS)"/>
              </a:rPr>
              <a:t>Đủ dữ liệu OCR còn giúp? → +3,1 EM so với B2</a:t>
            </a:r>
          </a:p>
        </p:txBody>
      </p:sp>
      <p:pic>
        <p:nvPicPr>
          <p:cNvPr id="90" name="Picture 89" descr="step_B3F.png"/>
          <p:cNvPicPr>
            <a:picLocks noChangeAspect="1"/>
          </p:cNvPicPr>
          <p:nvPr/>
        </p:nvPicPr>
        <p:blipFill>
          <a:blip r:embed="rId19"/>
          <a:stretch>
            <a:fillRect/>
          </a:stretch>
        </p:blipFill>
        <p:spPr>
          <a:xfrm>
            <a:off x="11153851" y="6629400"/>
            <a:ext cx="2776118" cy="1573133"/>
          </a:xfrm>
          <a:prstGeom prst="rect">
            <a:avLst/>
          </a:prstGeom>
        </p:spPr>
      </p:pic>
      <p:sp>
        <p:nvSpPr>
          <p:cNvPr id="91" name="Isosceles Triangle 90"/>
          <p:cNvSpPr/>
          <p:nvPr/>
        </p:nvSpPr>
        <p:spPr>
          <a:xfrm rot="5400000">
            <a:off x="14140281" y="2798063"/>
            <a:ext cx="237744" cy="219456"/>
          </a:xfrm>
          <a:prstGeom prst="triangle">
            <a:avLst/>
          </a:prstGeom>
          <a:solidFill>
            <a:srgbClr val="1C7293"/>
          </a:solidFill>
          <a:ln>
            <a:noFill/>
          </a:ln>
        </p:spPr>
        <p:txBody>
          <a:bodyPr rtlCol="0" anchor="ctr"/>
          <a:lstStyle/>
          <a:p>
            <a:pPr algn="ctr"/>
          </a:p>
        </p:txBody>
      </p:sp>
      <p:sp>
        <p:nvSpPr>
          <p:cNvPr id="92" name="Rounded Rectangle 91"/>
          <p:cNvSpPr/>
          <p:nvPr/>
        </p:nvSpPr>
        <p:spPr>
          <a:xfrm>
            <a:off x="14396313" y="2103120"/>
            <a:ext cx="3087014" cy="6766560"/>
          </a:xfrm>
          <a:prstGeom prst="roundRect">
            <a:avLst>
              <a:gd name="adj" fmla="val 5000"/>
            </a:avLst>
          </a:prstGeom>
          <a:solidFill>
            <a:srgbClr val="F3F5F8"/>
          </a:solidFill>
          <a:ln>
            <a:noFill/>
          </a:ln>
        </p:spPr>
        <p:txBody>
          <a:bodyPr rtlCol="0" anchor="ctr"/>
          <a:lstStyle/>
          <a:p>
            <a:pPr algn="ctr"/>
          </a:p>
        </p:txBody>
      </p:sp>
      <p:sp>
        <p:nvSpPr>
          <p:cNvPr id="93" name="Oval 92"/>
          <p:cNvSpPr/>
          <p:nvPr/>
        </p:nvSpPr>
        <p:spPr>
          <a:xfrm>
            <a:off x="14670633" y="2395727"/>
            <a:ext cx="1051560" cy="1051560"/>
          </a:xfrm>
          <a:prstGeom prst="ellipse">
            <a:avLst/>
          </a:prstGeom>
          <a:solidFill>
            <a:srgbClr val="13294B"/>
          </a:solidFill>
          <a:ln>
            <a:noFill/>
          </a:ln>
        </p:spPr>
        <p:txBody>
          <a:bodyPr rtlCol="0" anchor="ctr" wrap="square" lIns="0" rIns="0" tIns="0" bIns="0"/>
          <a:lstStyle/>
          <a:p>
            <a:pPr algn="ctr">
              <a:lnSpc>
                <a:spcPct val="106000"/>
              </a:lnSpc>
              <a:spcAft>
                <a:spcPts val="0"/>
              </a:spcAft>
            </a:pPr>
            <a:r>
              <a:rPr sz="2200" b="1">
                <a:solidFill>
                  <a:srgbClr val="FFFFFF"/>
                </a:solidFill>
                <a:latin typeface="Calibri (MS) Bold"/>
              </a:rPr>
              <a:t>SH</a:t>
            </a:r>
          </a:p>
        </p:txBody>
      </p:sp>
      <p:sp>
        <p:nvSpPr>
          <p:cNvPr id="94" name="TextBox 93"/>
          <p:cNvSpPr txBox="1"/>
          <p:nvPr/>
        </p:nvSpPr>
        <p:spPr>
          <a:xfrm>
            <a:off x="14670633" y="3657600"/>
            <a:ext cx="2584094" cy="868680"/>
          </a:xfrm>
          <a:prstGeom prst="rect">
            <a:avLst/>
          </a:prstGeom>
          <a:noFill/>
        </p:spPr>
        <p:txBody>
          <a:bodyPr wrap="square" anchor="t" lIns="0" rIns="0" tIns="0" bIns="0">
            <a:spAutoFit/>
          </a:bodyPr>
          <a:lstStyle/>
          <a:p>
            <a:pPr algn="l">
              <a:lnSpc>
                <a:spcPct val="106000"/>
              </a:lnSpc>
              <a:spcAft>
                <a:spcPts val="0"/>
              </a:spcAft>
            </a:pPr>
            <a:r>
              <a:rPr sz="1900" b="1">
                <a:solidFill>
                  <a:srgbClr val="13294B"/>
                </a:solidFill>
                <a:latin typeface="Calibri (MS) Bold"/>
              </a:rPr>
              <a:t>Một adapter, hai dataset</a:t>
            </a:r>
          </a:p>
        </p:txBody>
      </p:sp>
      <p:sp>
        <p:nvSpPr>
          <p:cNvPr id="95" name="TextBox 94"/>
          <p:cNvSpPr txBox="1"/>
          <p:nvPr/>
        </p:nvSpPr>
        <p:spPr>
          <a:xfrm>
            <a:off x="14670633" y="4498848"/>
            <a:ext cx="2584094" cy="1828800"/>
          </a:xfrm>
          <a:prstGeom prst="rect">
            <a:avLst/>
          </a:prstGeom>
          <a:noFill/>
        </p:spPr>
        <p:txBody>
          <a:bodyPr wrap="square" anchor="t" lIns="0" rIns="0" tIns="0" bIns="0">
            <a:spAutoFit/>
          </a:bodyPr>
          <a:lstStyle/>
          <a:p>
            <a:pPr algn="l">
              <a:lnSpc>
                <a:spcPct val="106000"/>
              </a:lnSpc>
              <a:spcAft>
                <a:spcPts val="0"/>
              </a:spcAft>
            </a:pPr>
            <a:r>
              <a:rPr sz="1700" b="0">
                <a:solidFill>
                  <a:srgbClr val="243044"/>
                </a:solidFill>
                <a:latin typeface="Calibri (MS)"/>
              </a:rPr>
              <a:t>Dùng chung có kém? → không kém (ΔEM −0,27 / +0,25)</a:t>
            </a:r>
          </a:p>
        </p:txBody>
      </p:sp>
      <p:pic>
        <p:nvPicPr>
          <p:cNvPr id="96" name="Picture 95" descr="step_SH.png"/>
          <p:cNvPicPr>
            <a:picLocks noChangeAspect="1"/>
          </p:cNvPicPr>
          <p:nvPr/>
        </p:nvPicPr>
        <p:blipFill>
          <a:blip r:embed="rId20"/>
          <a:stretch>
            <a:fillRect/>
          </a:stretch>
        </p:blipFill>
        <p:spPr>
          <a:xfrm>
            <a:off x="14551761" y="6629400"/>
            <a:ext cx="2776118" cy="1573133"/>
          </a:xfrm>
          <a:prstGeom prst="rect">
            <a:avLst/>
          </a:prstGeom>
        </p:spPr>
      </p:pic>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METHODOLOGY · 01 · LỘ TRÌNH</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Lộ trình: mỗi bước chỉ đổi một yếu tố</a:t>
            </a:r>
          </a:p>
        </p:txBody>
      </p:sp>
      <p:sp>
        <p:nvSpPr>
          <p:cNvPr name="TextBox 58" id="58"/>
          <p:cNvSpPr txBox="true"/>
          <p:nvPr/>
        </p:nvSpPr>
        <p:spPr>
          <a:xfrm rot="0">
            <a:off x="822960" y="9020937"/>
            <a:ext cx="16641623" cy="864870"/>
          </a:xfrm>
          <a:prstGeom prst="rect">
            <a:avLst/>
          </a:prstGeom>
        </p:spPr>
        <p:txBody>
          <a:bodyPr anchor="t" rtlCol="false" tIns="0" lIns="0" bIns="0" rIns="0">
            <a:spAutoFit/>
          </a:bodyPr>
          <a:lstStyle/>
          <a:p>
            <a:pPr algn="l">
              <a:lnSpc>
                <a:spcPts val="2520"/>
              </a:lnSpc>
            </a:pPr>
            <a:r>
              <a:rPr lang="en-US" sz="1500">
                <a:solidFill>
                  <a:srgbClr val="6B7280"/>
                </a:solidFill>
                <a:latin typeface="Calibri (MS)"/>
                <a:ea typeface="Calibri (MS)"/>
                <a:cs typeface="Calibri (MS)"/>
                <a:sym typeface="Calibri (MS)"/>
              </a:rPr>
              <a:t>Mỗi bước chỉ đổi một yếu tố so với bước bên trái.</a:t>
            </a:r>
          </a:p>
        </p:txBody>
      </p:sp>
      <p:grpSp>
        <p:nvGrpSpPr>
          <p:cNvPr name="Group 59" id="59"/>
          <p:cNvGrpSpPr/>
          <p:nvPr/>
        </p:nvGrpSpPr>
        <p:grpSpPr>
          <a:xfrm rot="0">
            <a:off x="15458732" y="0"/>
            <a:ext cx="2829306" cy="1184338"/>
            <a:chOff x="0" y="0"/>
            <a:chExt cx="3772408" cy="1579118"/>
          </a:xfrm>
        </p:grpSpPr>
        <p:sp>
          <p:nvSpPr>
            <p:cNvPr name="Freeform 60" id="60"/>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10"/>
              <a:stretch>
                <a:fillRect l="0" t="0" r="0" b="0"/>
              </a:stretch>
            </a:blipFill>
          </p:spPr>
          <p:txBody>
            <a:bodyPr/>
            <a:p/>
          </p:txBody>
        </p:sp>
      </p:grpSp>
      <p:grpSp>
        <p:nvGrpSpPr>
          <p:cNvPr name="Group 61" id="61"/>
          <p:cNvGrpSpPr/>
          <p:nvPr/>
        </p:nvGrpSpPr>
        <p:grpSpPr>
          <a:xfrm rot="0">
            <a:off x="822960" y="9641205"/>
            <a:ext cx="13716000" cy="440055"/>
            <a:chOff x="0" y="0"/>
            <a:chExt cx="18288000" cy="586740"/>
          </a:xfrm>
        </p:grpSpPr>
        <p:sp>
          <p:nvSpPr>
            <p:cNvPr name="Freeform 62" id="62"/>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5">
                <a:alphaModFix amt="0"/>
              </a:blip>
              <a:stretch>
                <a:fillRect l="0" t="-556902" r="0" b="-556904"/>
              </a:stretch>
            </a:blipFill>
          </p:spPr>
          <p:txBody>
            <a:bodyPr/>
            <a:p/>
          </p:txBody>
        </p:sp>
      </p:grpSp>
      <p:grpSp>
        <p:nvGrpSpPr>
          <p:cNvPr name="Group 63" id="63"/>
          <p:cNvGrpSpPr/>
          <p:nvPr/>
        </p:nvGrpSpPr>
        <p:grpSpPr>
          <a:xfrm rot="0">
            <a:off x="822960" y="9612630"/>
            <a:ext cx="13716000" cy="468630"/>
            <a:chOff x="0" y="0"/>
            <a:chExt cx="18288000" cy="624840"/>
          </a:xfrm>
        </p:grpSpPr>
        <p:sp>
          <p:nvSpPr>
            <p:cNvPr name="Freeform 64" id="64"/>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6">
                <a:alphaModFix amt="0"/>
              </a:blip>
              <a:stretch>
                <a:fillRect l="0" t="-519896" r="0" b="-519898"/>
              </a:stretch>
            </a:blipFill>
          </p:spPr>
          <p:txBody>
            <a:bodyPr/>
            <a:p/>
          </p:txBody>
        </p:sp>
      </p:grpSp>
      <p:grpSp>
        <p:nvGrpSpPr>
          <p:cNvPr name="Group 65" id="65"/>
          <p:cNvGrpSpPr/>
          <p:nvPr/>
        </p:nvGrpSpPr>
        <p:grpSpPr>
          <a:xfrm rot="0">
            <a:off x="822960" y="9584055"/>
            <a:ext cx="13716000" cy="497205"/>
            <a:chOff x="0" y="0"/>
            <a:chExt cx="18288000" cy="662940"/>
          </a:xfrm>
        </p:grpSpPr>
        <p:sp>
          <p:nvSpPr>
            <p:cNvPr name="Freeform 66" id="66"/>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7">
                <a:alphaModFix amt="0"/>
              </a:blip>
              <a:stretch>
                <a:fillRect l="0" t="-487518" r="0" b="-487518"/>
              </a:stretch>
            </a:blipFill>
          </p:spPr>
          <p:txBody>
            <a:bodyPr/>
            <a:p/>
          </p:txBody>
        </p:sp>
        <p:sp>
          <p:nvSpPr>
            <p:cNvPr name="TextBox 67" id="67"/>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grpSp>
        <p:nvGrpSpPr>
          <p:cNvPr name="Group 4" id="4"/>
          <p:cNvGrpSpPr/>
          <p:nvPr/>
        </p:nvGrpSpPr>
        <p:grpSpPr>
          <a:xfrm rot="0">
            <a:off x="822960" y="9641205"/>
            <a:ext cx="13716000" cy="440055"/>
            <a:chOff x="0" y="0"/>
            <a:chExt cx="18288000" cy="586740"/>
          </a:xfrm>
        </p:grpSpPr>
        <p:sp>
          <p:nvSpPr>
            <p:cNvPr name="Freeform 5" id="5"/>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3">
                <a:alphaModFix amt="0"/>
              </a:blip>
              <a:stretch>
                <a:fillRect l="0" t="-556902" r="0" b="-556904"/>
              </a:stretch>
            </a:blipFill>
          </p:spPr>
          <p:txBody>
            <a:bodyPr/>
            <a:p/>
          </p:txBody>
        </p:sp>
      </p:grpSp>
      <p:grpSp>
        <p:nvGrpSpPr>
          <p:cNvPr name="Group 6" id="6"/>
          <p:cNvGrpSpPr/>
          <p:nvPr/>
        </p:nvGrpSpPr>
        <p:grpSpPr>
          <a:xfrm rot="0">
            <a:off x="822960" y="9612630"/>
            <a:ext cx="13716000" cy="468630"/>
            <a:chOff x="0" y="0"/>
            <a:chExt cx="18288000" cy="624840"/>
          </a:xfrm>
        </p:grpSpPr>
        <p:sp>
          <p:nvSpPr>
            <p:cNvPr name="Freeform 7" id="7"/>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4">
                <a:alphaModFix amt="0"/>
              </a:blip>
              <a:stretch>
                <a:fillRect l="0" t="-519896" r="0" b="-519898"/>
              </a:stretch>
            </a:blipFill>
          </p:spPr>
          <p:txBody>
            <a:bodyPr/>
            <a:p/>
          </p:txBody>
        </p:sp>
      </p:grpSp>
      <p:grpSp>
        <p:nvGrpSpPr>
          <p:cNvPr name="Group 8" id="8"/>
          <p:cNvGrpSpPr/>
          <p:nvPr/>
        </p:nvGrpSpPr>
        <p:grpSpPr>
          <a:xfrm rot="0">
            <a:off x="822960" y="9584055"/>
            <a:ext cx="13716000" cy="497205"/>
            <a:chOff x="0" y="0"/>
            <a:chExt cx="18288000" cy="662940"/>
          </a:xfrm>
        </p:grpSpPr>
        <p:sp>
          <p:nvSpPr>
            <p:cNvPr name="Freeform 9" id="9"/>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5">
                <a:alphaModFix amt="0"/>
              </a:blip>
              <a:stretch>
                <a:fillRect l="0" t="-487518" r="0" b="-487518"/>
              </a:stretch>
            </a:blipFill>
          </p:spPr>
          <p:txBody>
            <a:bodyPr/>
            <a:p/>
          </p:txBody>
        </p:sp>
        <p:sp>
          <p:nvSpPr>
            <p:cNvPr name="TextBox 10" id="10"/>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1 + Review 2 (cộng dồn) · GFA26AI35 · Đại học FPT</a:t>
              </a:r>
            </a:p>
          </p:txBody>
        </p:sp>
      </p:grpSp>
      <p:sp>
        <p:nvSpPr>
          <p:cNvPr name="TextBox 11" id="11"/>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METHODOLOGY · 02 · QLoRA (B2)</a:t>
            </a:r>
          </a:p>
        </p:txBody>
      </p:sp>
      <p:sp>
        <p:nvSpPr>
          <p:cNvPr name="TextBox 12" id="12"/>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QLoRA một epoch: tăng lớn và có ý nghĩa thống kê</a:t>
            </a:r>
          </a:p>
        </p:txBody>
      </p:sp>
      <p:graphicFrame>
        <p:nvGraphicFramePr>
          <p:cNvPr name="Table 13" id="13"/>
          <p:cNvGraphicFramePr>
            <a:graphicFrameLocks noGrp="true"/>
          </p:cNvGraphicFramePr>
          <p:nvPr/>
        </p:nvGraphicFramePr>
        <p:xfrm>
          <a:off x="11521440" y="2057400"/>
          <a:ext cx="6413500" cy="3429000"/>
        </p:xfrm>
        <a:graphic>
          <a:graphicData uri="http://schemas.openxmlformats.org/drawingml/2006/table">
            <a:tbl>
              <a:tblPr/>
              <a:tblGrid>
                <a:gridCol w="2689538"/>
                <a:gridCol w="1855465"/>
                <a:gridCol w="1868497"/>
              </a:tblGrid>
              <a:tr h="68580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Chi phí</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ViVQA</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ViTextVQA</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r>
              <a:tr h="685800">
                <a:tc>
                  <a:txBody>
                    <a:bodyPr anchor="t" rtlCol="false"/>
                    <a:lstStyle/>
                    <a:p>
                      <a:pPr algn="l">
                        <a:lnSpc>
                          <a:spcPts val="2520"/>
                        </a:lnSpc>
                        <a:defRPr/>
                      </a:pPr>
                      <a:r>
                        <a:rPr lang="en-US" sz="2100">
                          <a:solidFill>
                            <a:srgbClr val="243044"/>
                          </a:solidFill>
                          <a:latin typeface="Calibri (MS)"/>
                          <a:ea typeface="Calibri (MS)"/>
                          <a:cs typeface="Calibri (MS)"/>
                          <a:sym typeface="Calibri (MS)"/>
                        </a:rPr>
                        <a:t>Mẫu train</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10.799</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35.159</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520"/>
                        </a:lnSpc>
                        <a:defRPr/>
                      </a:pPr>
                      <a:r>
                        <a:rPr lang="en-US" sz="2100">
                          <a:solidFill>
                            <a:srgbClr val="243044"/>
                          </a:solidFill>
                          <a:latin typeface="Calibri (MS)"/>
                          <a:ea typeface="Calibri (MS)"/>
                          <a:cs typeface="Calibri (MS)"/>
                          <a:sym typeface="Calibri (MS)"/>
                        </a:rPr>
                        <a:t>Thời gian train (L4)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3,0 h</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12,0 h</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520"/>
                        </a:lnSpc>
                        <a:defRPr/>
                      </a:pPr>
                      <a:r>
                        <a:rPr lang="en-US" sz="2100">
                          <a:solidFill>
                            <a:srgbClr val="243044"/>
                          </a:solidFill>
                          <a:latin typeface="Calibri (MS)"/>
                          <a:ea typeface="Calibri (MS)"/>
                          <a:cs typeface="Calibri (MS)"/>
                          <a:sym typeface="Calibri (MS)"/>
                        </a:rPr>
                        <a:t>VRAM đỉnh</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6,6 GB</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6,9 GB</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520"/>
                        </a:lnSpc>
                        <a:defRPr/>
                      </a:pPr>
                      <a:r>
                        <a:rPr lang="en-US" sz="2100">
                          <a:solidFill>
                            <a:srgbClr val="243044"/>
                          </a:solidFill>
                          <a:latin typeface="Calibri (MS)"/>
                          <a:ea typeface="Calibri (MS)"/>
                          <a:cs typeface="Calibri (MS)"/>
                          <a:sym typeface="Calibri (MS)"/>
                        </a:rPr>
                        <a:t>Suy luận</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0,57 s / câu</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1,0 s / câu</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bl>
          </a:graphicData>
        </a:graphic>
      </p:graphicFrame>
      <p:sp>
        <p:nvSpPr>
          <p:cNvPr name="Freeform 14" id="14"/>
          <p:cNvSpPr/>
          <p:nvPr/>
        </p:nvSpPr>
        <p:spPr>
          <a:xfrm flipH="false" flipV="false" rot="0">
            <a:off x="11504771" y="5812631"/>
            <a:ext cx="5976461" cy="3599497"/>
          </a:xfrm>
          <a:custGeom>
            <a:avLst/>
            <a:gdLst/>
            <a:ahLst/>
            <a:cxnLst/>
            <a:rect r="r" b="b" t="t" l="l"/>
            <a:pathLst>
              <a:path h="3599497" w="5976461">
                <a:moveTo>
                  <a:pt x="0" y="0"/>
                </a:moveTo>
                <a:lnTo>
                  <a:pt x="5976461" y="0"/>
                </a:lnTo>
                <a:lnTo>
                  <a:pt x="5976461" y="3599498"/>
                </a:lnTo>
                <a:lnTo>
                  <a:pt x="0" y="3599498"/>
                </a:lnTo>
                <a:lnTo>
                  <a:pt x="0" y="0"/>
                </a:lnTo>
                <a:close/>
              </a:path>
            </a:pathLst>
          </a:custGeom>
          <a:blipFill>
            <a:blip r:embed="rId6">
              <a:extLst>
                <a:ext uri="{96DAC541-7B7A-43D3-8B79-37D633B846F1}">
                  <asvg:svgBlip xmlns:asvg="http://schemas.microsoft.com/office/drawing/2016/SVG/main" r:embed="rId7"/>
                </a:ext>
              </a:extLst>
            </a:blip>
            <a:stretch>
              <a:fillRect l="-30" t="0" r="-30" b="0"/>
            </a:stretch>
          </a:blipFill>
        </p:spPr>
        <p:txBody>
          <a:bodyPr/>
          <a:p/>
        </p:txBody>
      </p:sp>
      <p:sp>
        <p:nvSpPr>
          <p:cNvPr name="TextBox 15" id="15"/>
          <p:cNvSpPr txBox="true"/>
          <p:nvPr/>
        </p:nvSpPr>
        <p:spPr>
          <a:xfrm rot="0">
            <a:off x="11864340" y="5882640"/>
            <a:ext cx="5257343"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Kiểm định thống kê (McNemar)</a:t>
            </a:r>
          </a:p>
        </p:txBody>
      </p:sp>
      <p:sp>
        <p:nvSpPr>
          <p:cNvPr name="TextBox 16" id="16"/>
          <p:cNvSpPr txBox="true"/>
          <p:nvPr/>
        </p:nvSpPr>
        <p:spPr>
          <a:xfrm rot="0">
            <a:off x="11864340" y="6461760"/>
            <a:ext cx="5257343" cy="279654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Tăng có ý nghĩa thống kê (p &lt; 0,05) trên cả hai dataset. ViTextVQA đầy đủ: 2.543 câu chỉ B2 đúng so với 423 câu chỉ B1 đúng.</a:t>
            </a:r>
          </a:p>
        </p:txBody>
      </p:sp>
      <p:grpSp>
        <p:nvGrpSpPr>
          <p:cNvPr name="Group 17" id="17"/>
          <p:cNvGrpSpPr/>
          <p:nvPr/>
        </p:nvGrpSpPr>
        <p:grpSpPr>
          <a:xfrm rot="0">
            <a:off x="15458732" y="0"/>
            <a:ext cx="2829306" cy="1184338"/>
            <a:chOff x="0" y="0"/>
            <a:chExt cx="3772408" cy="1579118"/>
          </a:xfrm>
        </p:grpSpPr>
        <p:sp>
          <p:nvSpPr>
            <p:cNvPr name="Freeform 18" id="18"/>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8"/>
              <a:stretch>
                <a:fillRect l="0" t="0" r="0" b="0"/>
              </a:stretch>
            </a:blipFill>
          </p:spPr>
          <p:txBody>
            <a:bodyPr/>
            <a:p/>
          </p:txBody>
        </p:sp>
      </p:grpSp>
      <p:sp>
        <p:nvSpPr>
          <p:cNvPr name="Freeform 19" id="19"/>
          <p:cNvSpPr/>
          <p:nvPr/>
        </p:nvSpPr>
        <p:spPr>
          <a:xfrm flipH="false" flipV="false" rot="0">
            <a:off x="289560" y="9621022"/>
            <a:ext cx="6376035" cy="470183"/>
          </a:xfrm>
          <a:custGeom>
            <a:avLst/>
            <a:gdLst/>
            <a:ahLst/>
            <a:cxnLst/>
            <a:rect r="r" b="b" t="t" l="l"/>
            <a:pathLst>
              <a:path h="470183" w="6376035">
                <a:moveTo>
                  <a:pt x="0" y="0"/>
                </a:moveTo>
                <a:lnTo>
                  <a:pt x="6376035" y="0"/>
                </a:lnTo>
                <a:lnTo>
                  <a:pt x="6376035" y="470182"/>
                </a:lnTo>
                <a:lnTo>
                  <a:pt x="0" y="470182"/>
                </a:lnTo>
                <a:lnTo>
                  <a:pt x="0" y="0"/>
                </a:lnTo>
                <a:close/>
              </a:path>
            </a:pathLst>
          </a:custGeom>
          <a:blipFill>
            <a:blip r:embed="rId9">
              <a:extLst>
                <a:ext uri="{96DAC541-7B7A-43D3-8B79-37D633B846F1}">
                  <asvg:svgBlip xmlns:asvg="http://schemas.microsoft.com/office/drawing/2016/SVG/main" r:embed="rId10"/>
                </a:ext>
              </a:extLst>
            </a:blip>
            <a:stretch>
              <a:fillRect l="0" t="-599" r="0" b="-599"/>
            </a:stretch>
          </a:blipFill>
        </p:spPr>
        <p:txBody>
          <a:bodyPr/>
          <a:p/>
        </p:txBody>
      </p:sp>
      <p:grpSp>
        <p:nvGrpSpPr>
          <p:cNvPr name="Group 20" id="20"/>
          <p:cNvGrpSpPr/>
          <p:nvPr/>
        </p:nvGrpSpPr>
        <p:grpSpPr>
          <a:xfrm rot="0">
            <a:off x="867070" y="9598695"/>
            <a:ext cx="13716000" cy="440055"/>
            <a:chOff x="0" y="0"/>
            <a:chExt cx="18288000" cy="586740"/>
          </a:xfrm>
        </p:grpSpPr>
        <p:sp>
          <p:nvSpPr>
            <p:cNvPr name="Freeform 21" id="21"/>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3">
                <a:alphaModFix amt="0"/>
              </a:blip>
              <a:stretch>
                <a:fillRect l="0" t="-556902" r="0" b="-556904"/>
              </a:stretch>
            </a:blipFill>
          </p:spPr>
          <p:txBody>
            <a:bodyPr/>
            <a:p/>
          </p:txBody>
        </p:sp>
      </p:grpSp>
      <p:grpSp>
        <p:nvGrpSpPr>
          <p:cNvPr name="Group 22" id="22"/>
          <p:cNvGrpSpPr/>
          <p:nvPr/>
        </p:nvGrpSpPr>
        <p:grpSpPr>
          <a:xfrm rot="0">
            <a:off x="867070" y="9570120"/>
            <a:ext cx="13716000" cy="468630"/>
            <a:chOff x="0" y="0"/>
            <a:chExt cx="18288000" cy="624840"/>
          </a:xfrm>
        </p:grpSpPr>
        <p:sp>
          <p:nvSpPr>
            <p:cNvPr name="Freeform 23" id="23"/>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4">
                <a:alphaModFix amt="0"/>
              </a:blip>
              <a:stretch>
                <a:fillRect l="0" t="-519896" r="0" b="-519898"/>
              </a:stretch>
            </a:blipFill>
          </p:spPr>
          <p:txBody>
            <a:bodyPr/>
            <a:p/>
          </p:txBody>
        </p:sp>
      </p:grpSp>
      <p:grpSp>
        <p:nvGrpSpPr>
          <p:cNvPr name="Group 24" id="24"/>
          <p:cNvGrpSpPr/>
          <p:nvPr/>
        </p:nvGrpSpPr>
        <p:grpSpPr>
          <a:xfrm rot="0">
            <a:off x="867070" y="9541545"/>
            <a:ext cx="13716000" cy="497205"/>
            <a:chOff x="0" y="0"/>
            <a:chExt cx="18288000" cy="662940"/>
          </a:xfrm>
        </p:grpSpPr>
        <p:sp>
          <p:nvSpPr>
            <p:cNvPr name="Freeform 25" id="25"/>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5">
                <a:alphaModFix amt="0"/>
              </a:blip>
              <a:stretch>
                <a:fillRect l="0" t="-487518" r="0" b="-487518"/>
              </a:stretch>
            </a:blipFill>
          </p:spPr>
          <p:txBody>
            <a:bodyPr/>
            <a:p/>
          </p:txBody>
        </p:sp>
        <p:sp>
          <p:nvSpPr>
            <p:cNvPr name="TextBox 26" id="26"/>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grpSp>
        <p:nvGrpSpPr>
          <p:cNvPr name="Group 27" id="27"/>
          <p:cNvGrpSpPr/>
          <p:nvPr/>
        </p:nvGrpSpPr>
        <p:grpSpPr>
          <a:xfrm rot="0">
            <a:off x="822960" y="2057400"/>
            <a:ext cx="10332720" cy="6738728"/>
            <a:chOff x="0" y="0"/>
            <a:chExt cx="13776960" cy="8984971"/>
          </a:xfrm>
        </p:grpSpPr>
        <p:sp>
          <p:nvSpPr>
            <p:cNvPr name="Freeform 28" id="28" descr="chart22.png"/>
            <p:cNvSpPr/>
            <p:nvPr/>
          </p:nvSpPr>
          <p:spPr>
            <a:xfrm flipH="false" flipV="false" rot="0">
              <a:off x="0" y="0"/>
              <a:ext cx="13776961" cy="8984996"/>
            </a:xfrm>
            <a:custGeom>
              <a:avLst/>
              <a:gdLst/>
              <a:ahLst/>
              <a:cxnLst/>
              <a:rect r="r" b="b" t="t" l="l"/>
              <a:pathLst>
                <a:path h="8984996" w="13776961">
                  <a:moveTo>
                    <a:pt x="0" y="0"/>
                  </a:moveTo>
                  <a:lnTo>
                    <a:pt x="13776961" y="0"/>
                  </a:lnTo>
                  <a:lnTo>
                    <a:pt x="13776961" y="8984996"/>
                  </a:lnTo>
                  <a:lnTo>
                    <a:pt x="0" y="8984996"/>
                  </a:lnTo>
                  <a:lnTo>
                    <a:pt x="0" y="0"/>
                  </a:lnTo>
                  <a:close/>
                </a:path>
              </a:pathLst>
            </a:custGeom>
            <a:blipFill>
              <a:blip r:embed="rId11"/>
              <a:stretch>
                <a:fillRect l="0" t="0" r="0" b="0"/>
              </a:stretch>
            </a:blipFill>
          </p:spPr>
          <p:txBody>
            <a:bodyP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METHODOLOGY · 03 · PHÂN TÍCH LỖI B2</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B2 còn sai ở đâu</a:t>
            </a:r>
          </a:p>
        </p:txBody>
      </p:sp>
      <p:graphicFrame>
        <p:nvGraphicFramePr>
          <p:cNvPr name="Table 8" id="8"/>
          <p:cNvGraphicFramePr>
            <a:graphicFrameLocks noGrp="true"/>
          </p:cNvGraphicFramePr>
          <p:nvPr/>
        </p:nvGraphicFramePr>
        <p:xfrm>
          <a:off x="822960" y="6336792"/>
          <a:ext cx="9525000" cy="2336800"/>
        </p:xfrm>
        <a:graphic>
          <a:graphicData uri="http://schemas.openxmlformats.org/drawingml/2006/table">
            <a:tbl>
              <a:tblPr/>
              <a:tblGrid>
                <a:gridCol w="2468448"/>
                <a:gridCol w="3329558"/>
                <a:gridCol w="3726994"/>
              </a:tblGrid>
              <a:tr h="58420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Nhóm</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B2 trả lời</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Gold</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r>
              <a:tr h="584200">
                <a:tc>
                  <a:txBody>
                    <a:bodyPr anchor="t" rtlCol="false"/>
                    <a:lstStyle/>
                    <a:p>
                      <a:pPr algn="l">
                        <a:lnSpc>
                          <a:spcPts val="2520"/>
                        </a:lnSpc>
                        <a:defRPr/>
                      </a:pPr>
                      <a:r>
                        <a:rPr lang="en-US" sz="2100">
                          <a:solidFill>
                            <a:srgbClr val="243044"/>
                          </a:solidFill>
                          <a:latin typeface="Calibri (MS)"/>
                          <a:ea typeface="Calibri (MS)"/>
                          <a:cs typeface="Calibri (MS)"/>
                          <a:sym typeface="Calibri (MS)"/>
                        </a:rPr>
                        <a:t>Chỉ sai dấu thanh</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đặng việt thủy</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đặng việt thúy</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584200">
                <a:tc>
                  <a:txBody>
                    <a:bodyPr anchor="t" rtlCol="false"/>
                    <a:lstStyle/>
                    <a:p>
                      <a:pPr algn="l">
                        <a:lnSpc>
                          <a:spcPts val="2520"/>
                        </a:lnSpc>
                        <a:defRPr/>
                      </a:pPr>
                      <a:r>
                        <a:rPr lang="en-US" sz="2100">
                          <a:solidFill>
                            <a:srgbClr val="243044"/>
                          </a:solidFill>
                          <a:latin typeface="Calibri (MS)"/>
                          <a:ea typeface="Calibri (MS)"/>
                          <a:cs typeface="Calibri (MS)"/>
                          <a:sym typeface="Calibri (MS)"/>
                        </a:rPr>
                        <a:t>Lệch 1–2 ký tự</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372 . 568 . 177</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372 . 566 . 177</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584200">
                <a:tc>
                  <a:txBody>
                    <a:bodyPr anchor="t" rtlCol="false"/>
                    <a:lstStyle/>
                    <a:p>
                      <a:pPr algn="l">
                        <a:lnSpc>
                          <a:spcPts val="2520"/>
                        </a:lnSpc>
                        <a:defRPr/>
                      </a:pPr>
                      <a:r>
                        <a:rPr lang="en-US" sz="2100">
                          <a:solidFill>
                            <a:srgbClr val="243044"/>
                          </a:solidFill>
                          <a:latin typeface="Calibri (MS)"/>
                          <a:ea typeface="Calibri (MS)"/>
                          <a:cs typeface="Calibri (MS)"/>
                          <a:sym typeface="Calibri (MS)"/>
                        </a:rPr>
                        <a:t>Thiếu chữ</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nhân dân quận 2</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ủy ban nhân dân quận 2</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bl>
          </a:graphicData>
        </a:graphic>
      </p:graphicFrame>
      <p:sp>
        <p:nvSpPr>
          <p:cNvPr name="Freeform 9" id="9"/>
          <p:cNvSpPr/>
          <p:nvPr/>
        </p:nvSpPr>
        <p:spPr>
          <a:xfrm flipH="false" flipV="false" rot="0">
            <a:off x="10956131" y="2040731"/>
            <a:ext cx="6525101" cy="6822757"/>
          </a:xfrm>
          <a:custGeom>
            <a:avLst/>
            <a:gdLst/>
            <a:ahLst/>
            <a:cxnLst/>
            <a:rect r="r" b="b" t="t" l="l"/>
            <a:pathLst>
              <a:path h="6822757" w="6525101">
                <a:moveTo>
                  <a:pt x="0" y="0"/>
                </a:moveTo>
                <a:lnTo>
                  <a:pt x="6525101" y="0"/>
                </a:lnTo>
                <a:lnTo>
                  <a:pt x="6525101" y="6822758"/>
                </a:lnTo>
                <a:lnTo>
                  <a:pt x="0" y="6822758"/>
                </a:lnTo>
                <a:lnTo>
                  <a:pt x="0" y="0"/>
                </a:lnTo>
                <a:close/>
              </a:path>
            </a:pathLst>
          </a:custGeom>
          <a:blipFill>
            <a:blip r:embed="rId4">
              <a:extLst>
                <a:ext uri="{96DAC541-7B7A-43D3-8B79-37D633B846F1}">
                  <asvg:svgBlip xmlns:asvg="http://schemas.microsoft.com/office/drawing/2016/SVG/main" r:embed="rId5"/>
                </a:ext>
              </a:extLst>
            </a:blip>
            <a:stretch>
              <a:fillRect l="-20" t="0" r="-20" b="0"/>
            </a:stretch>
          </a:blipFill>
        </p:spPr>
        <p:txBody>
          <a:bodyPr/>
          <a:p/>
        </p:txBody>
      </p:sp>
      <p:sp>
        <p:nvSpPr>
          <p:cNvPr name="TextBox 10" id="10"/>
          <p:cNvSpPr txBox="true"/>
          <p:nvPr/>
        </p:nvSpPr>
        <p:spPr>
          <a:xfrm rot="0">
            <a:off x="11384280" y="2110740"/>
            <a:ext cx="5668823" cy="438274"/>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Duyệt tay 200 lỗi B2 </a:t>
            </a:r>
          </a:p>
        </p:txBody>
      </p:sp>
      <p:sp>
        <p:nvSpPr>
          <p:cNvPr name="TextBox 11" id="11"/>
          <p:cNvSpPr txBox="true"/>
          <p:nvPr/>
        </p:nvSpPr>
        <p:spPr>
          <a:xfrm rot="0">
            <a:off x="11384280" y="3101340"/>
            <a:ext cx="5668823" cy="5608320"/>
          </a:xfrm>
          <a:prstGeom prst="rect">
            <a:avLst/>
          </a:prstGeom>
        </p:spPr>
        <p:txBody>
          <a:bodyPr anchor="t" rtlCol="false" tIns="0" lIns="0" bIns="0" rIns="0">
            <a:spAutoFit/>
          </a:bodyPr>
          <a:lstStyle/>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54% thực ra đúng ý: EM quá khắt khe (ViVQA 62%, ViTextVQA 46%)</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Gold nhiễu: 12,5% (ViVQA 19%)</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Lỗi thật ở ViTextVQA: đọc sai chữ 28%, nhầm vùng chữ 23%, dấu thanh 8%</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Hallucination (không có trong ảnh): 7% số lỗi (CI95 4–11%)</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4 người + nhãn gợi ý của AI; κ = 0,62 (2 người độc lập); bỏ 42 dòng có AI hỗ trợ, kết luận không đổi</a:t>
            </a:r>
          </a:p>
        </p:txBody>
      </p:sp>
      <p:grpSp>
        <p:nvGrpSpPr>
          <p:cNvPr name="Group 12" id="12"/>
          <p:cNvGrpSpPr/>
          <p:nvPr/>
        </p:nvGrpSpPr>
        <p:grpSpPr>
          <a:xfrm rot="0">
            <a:off x="822960" y="8778240"/>
            <a:ext cx="16641604" cy="754380"/>
            <a:chOff x="0" y="0"/>
            <a:chExt cx="22188805" cy="1005840"/>
          </a:xfrm>
        </p:grpSpPr>
        <p:sp>
          <p:nvSpPr>
            <p:cNvPr name="Freeform 13" id="13"/>
            <p:cNvSpPr/>
            <p:nvPr/>
          </p:nvSpPr>
          <p:spPr>
            <a:xfrm flipH="false" flipV="false" rot="0">
              <a:off x="0" y="0"/>
              <a:ext cx="22188805" cy="1005840"/>
            </a:xfrm>
            <a:custGeom>
              <a:avLst/>
              <a:gdLst/>
              <a:ahLst/>
              <a:cxnLst/>
              <a:rect r="r" b="b" t="t" l="l"/>
              <a:pathLst>
                <a:path h="1005840" w="22188805">
                  <a:moveTo>
                    <a:pt x="0" y="0"/>
                  </a:moveTo>
                  <a:lnTo>
                    <a:pt x="22188805" y="0"/>
                  </a:lnTo>
                  <a:lnTo>
                    <a:pt x="22188805" y="1005840"/>
                  </a:lnTo>
                  <a:lnTo>
                    <a:pt x="0" y="1005840"/>
                  </a:lnTo>
                  <a:close/>
                </a:path>
              </a:pathLst>
            </a:custGeom>
            <a:blipFill>
              <a:blip r:embed="rId2">
                <a:alphaModFix amt="0"/>
              </a:blip>
              <a:stretch>
                <a:fillRect l="0" t="-379540" r="0" b="-379540"/>
              </a:stretch>
            </a:blipFill>
          </p:spPr>
          <p:txBody>
            <a:bodyPr/>
            <a:p/>
          </p:txBody>
        </p:sp>
      </p:grpSp>
      <p:grpSp>
        <p:nvGrpSpPr>
          <p:cNvPr name="Group 14" id="14"/>
          <p:cNvGrpSpPr/>
          <p:nvPr/>
        </p:nvGrpSpPr>
        <p:grpSpPr>
          <a:xfrm rot="0">
            <a:off x="822960" y="8749665"/>
            <a:ext cx="16641604" cy="782955"/>
            <a:chOff x="0" y="0"/>
            <a:chExt cx="22188805" cy="1043940"/>
          </a:xfrm>
        </p:grpSpPr>
        <p:sp>
          <p:nvSpPr>
            <p:cNvPr name="Freeform 15" id="15"/>
            <p:cNvSpPr/>
            <p:nvPr/>
          </p:nvSpPr>
          <p:spPr>
            <a:xfrm flipH="false" flipV="false" rot="0">
              <a:off x="0" y="0"/>
              <a:ext cx="22188805" cy="1043940"/>
            </a:xfrm>
            <a:custGeom>
              <a:avLst/>
              <a:gdLst/>
              <a:ahLst/>
              <a:cxnLst/>
              <a:rect r="r" b="b" t="t" l="l"/>
              <a:pathLst>
                <a:path h="1043940" w="22188805">
                  <a:moveTo>
                    <a:pt x="0" y="0"/>
                  </a:moveTo>
                  <a:lnTo>
                    <a:pt x="22188805" y="0"/>
                  </a:lnTo>
                  <a:lnTo>
                    <a:pt x="22188805" y="1043940"/>
                  </a:lnTo>
                  <a:lnTo>
                    <a:pt x="0" y="1043940"/>
                  </a:lnTo>
                  <a:close/>
                </a:path>
              </a:pathLst>
            </a:custGeom>
            <a:blipFill>
              <a:blip r:embed="rId6">
                <a:alphaModFix amt="0"/>
              </a:blip>
              <a:stretch>
                <a:fillRect l="0" t="-363863" r="0" b="-363863"/>
              </a:stretch>
            </a:blipFill>
          </p:spPr>
          <p:txBody>
            <a:bodyPr/>
            <a:p/>
          </p:txBody>
        </p:sp>
      </p:grpSp>
      <p:grpSp>
        <p:nvGrpSpPr>
          <p:cNvPr name="Group 16" id="16"/>
          <p:cNvGrpSpPr/>
          <p:nvPr/>
        </p:nvGrpSpPr>
        <p:grpSpPr>
          <a:xfrm rot="0">
            <a:off x="822960" y="8721090"/>
            <a:ext cx="16641623" cy="811530"/>
            <a:chOff x="0" y="0"/>
            <a:chExt cx="22188830" cy="1082040"/>
          </a:xfrm>
        </p:grpSpPr>
        <p:sp>
          <p:nvSpPr>
            <p:cNvPr name="Freeform 17" id="17"/>
            <p:cNvSpPr/>
            <p:nvPr/>
          </p:nvSpPr>
          <p:spPr>
            <a:xfrm flipH="false" flipV="false" rot="0">
              <a:off x="0" y="0"/>
              <a:ext cx="22188805" cy="1082040"/>
            </a:xfrm>
            <a:custGeom>
              <a:avLst/>
              <a:gdLst/>
              <a:ahLst/>
              <a:cxnLst/>
              <a:rect r="r" b="b" t="t" l="l"/>
              <a:pathLst>
                <a:path h="1082040" w="22188805">
                  <a:moveTo>
                    <a:pt x="0" y="0"/>
                  </a:moveTo>
                  <a:lnTo>
                    <a:pt x="22188805" y="0"/>
                  </a:lnTo>
                  <a:lnTo>
                    <a:pt x="22188805" y="1082040"/>
                  </a:lnTo>
                  <a:lnTo>
                    <a:pt x="0" y="1082040"/>
                  </a:lnTo>
                  <a:close/>
                </a:path>
              </a:pathLst>
            </a:custGeom>
            <a:blipFill>
              <a:blip r:embed="rId7">
                <a:alphaModFix amt="0"/>
              </a:blip>
              <a:stretch>
                <a:fillRect l="0" t="-349291" r="0" b="-349292"/>
              </a:stretch>
            </a:blipFill>
          </p:spPr>
          <p:txBody>
            <a:bodyPr/>
            <a:p/>
          </p:txBody>
        </p:sp>
      </p:grpSp>
      <p:grpSp>
        <p:nvGrpSpPr>
          <p:cNvPr name="Group 18" id="18"/>
          <p:cNvGrpSpPr/>
          <p:nvPr/>
        </p:nvGrpSpPr>
        <p:grpSpPr>
          <a:xfrm rot="0">
            <a:off x="822960" y="8692515"/>
            <a:ext cx="16641623" cy="840105"/>
            <a:chOff x="0" y="0"/>
            <a:chExt cx="22188830" cy="1120140"/>
          </a:xfrm>
        </p:grpSpPr>
        <p:sp>
          <p:nvSpPr>
            <p:cNvPr name="Freeform 19" id="19"/>
            <p:cNvSpPr/>
            <p:nvPr/>
          </p:nvSpPr>
          <p:spPr>
            <a:xfrm flipH="false" flipV="false" rot="0">
              <a:off x="0" y="0"/>
              <a:ext cx="22188830" cy="1120140"/>
            </a:xfrm>
            <a:custGeom>
              <a:avLst/>
              <a:gdLst/>
              <a:ahLst/>
              <a:cxnLst/>
              <a:rect r="r" b="b" t="t" l="l"/>
              <a:pathLst>
                <a:path h="1120140" w="22188830">
                  <a:moveTo>
                    <a:pt x="0" y="0"/>
                  </a:moveTo>
                  <a:lnTo>
                    <a:pt x="22188830" y="0"/>
                  </a:lnTo>
                  <a:lnTo>
                    <a:pt x="22188830" y="1120140"/>
                  </a:lnTo>
                  <a:lnTo>
                    <a:pt x="0" y="1120140"/>
                  </a:lnTo>
                  <a:close/>
                </a:path>
              </a:pathLst>
            </a:custGeom>
            <a:blipFill>
              <a:blip r:embed="rId8">
                <a:alphaModFix amt="0"/>
              </a:blip>
              <a:stretch>
                <a:fillRect l="0" t="-335978" r="0" b="-335978"/>
              </a:stretch>
            </a:blipFill>
          </p:spPr>
          <p:txBody>
            <a:bodyPr/>
            <a:p/>
          </p:txBody>
        </p:sp>
        <p:sp>
          <p:nvSpPr>
            <p:cNvPr name="TextBox 20" id="20"/>
            <p:cNvSpPr txBox="true"/>
            <p:nvPr/>
          </p:nvSpPr>
          <p:spPr>
            <a:xfrm>
              <a:off x="0" y="-38100"/>
              <a:ext cx="22188830" cy="1158240"/>
            </a:xfrm>
            <a:prstGeom prst="rect">
              <a:avLst/>
            </a:prstGeom>
          </p:spPr>
          <p:txBody>
            <a:bodyPr anchor="b" rtlCol="false" tIns="0" lIns="0" bIns="0" rIns="0"/>
            <a:lstStyle/>
            <a:p>
              <a:pPr algn="l">
                <a:lnSpc>
                  <a:spcPts val="1800"/>
                </a:lnSpc>
              </a:pPr>
              <a:r>
                <a:rPr lang="en-US" sz="1500">
                  <a:solidFill>
                    <a:srgbClr val="6B7280"/>
                  </a:solidFill>
                  <a:latin typeface="Calibri (MS)"/>
                  <a:ea typeface="Calibri (MS)"/>
                  <a:cs typeface="Calibri (MS)"/>
                  <a:sym typeface="Calibri (MS)"/>
                </a:rPr>
                <a:t>Nguồn — phân loại tự động: python -m src.eval.answer_format --buckets trên experiments/W07_B2_eval_qlora_r16_ep1_vitextvqa_testfull_… (4.988 = 10.028 − 5.040 câu đúng). Duyệt tay: docs/W07/audit/W07_error_audit_final.json (nhãn ở docs/W07/audit/labels/, tính bằng compute_error_audit.py).</a:t>
              </a:r>
            </a:p>
          </p:txBody>
        </p:sp>
      </p:grpSp>
      <p:grpSp>
        <p:nvGrpSpPr>
          <p:cNvPr name="Group 21" id="21"/>
          <p:cNvGrpSpPr/>
          <p:nvPr/>
        </p:nvGrpSpPr>
        <p:grpSpPr>
          <a:xfrm rot="0">
            <a:off x="15458732" y="0"/>
            <a:ext cx="2829306" cy="1184338"/>
            <a:chOff x="0" y="0"/>
            <a:chExt cx="3772408" cy="1579118"/>
          </a:xfrm>
        </p:grpSpPr>
        <p:sp>
          <p:nvSpPr>
            <p:cNvPr name="Freeform 22" id="22"/>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9"/>
              <a:stretch>
                <a:fillRect l="0" t="0" r="0" b="0"/>
              </a:stretch>
            </a:blipFill>
          </p:spPr>
          <p:txBody>
            <a:bodyPr/>
            <a:p/>
          </p:txBody>
        </p:sp>
      </p:grpSp>
      <p:grpSp>
        <p:nvGrpSpPr>
          <p:cNvPr name="Group 23" id="23"/>
          <p:cNvGrpSpPr/>
          <p:nvPr/>
        </p:nvGrpSpPr>
        <p:grpSpPr>
          <a:xfrm rot="0">
            <a:off x="822960" y="9641205"/>
            <a:ext cx="13716000" cy="440055"/>
            <a:chOff x="0" y="0"/>
            <a:chExt cx="18288000" cy="586740"/>
          </a:xfrm>
        </p:grpSpPr>
        <p:sp>
          <p:nvSpPr>
            <p:cNvPr name="Freeform 24" id="24"/>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6">
                <a:alphaModFix amt="0"/>
              </a:blip>
              <a:stretch>
                <a:fillRect l="0" t="-556902" r="0" b="-556904"/>
              </a:stretch>
            </a:blipFill>
          </p:spPr>
          <p:txBody>
            <a:bodyPr/>
            <a:p/>
          </p:txBody>
        </p:sp>
      </p:grpSp>
      <p:grpSp>
        <p:nvGrpSpPr>
          <p:cNvPr name="Group 25" id="25"/>
          <p:cNvGrpSpPr/>
          <p:nvPr/>
        </p:nvGrpSpPr>
        <p:grpSpPr>
          <a:xfrm rot="0">
            <a:off x="822960" y="9612630"/>
            <a:ext cx="13716000" cy="468630"/>
            <a:chOff x="0" y="0"/>
            <a:chExt cx="18288000" cy="624840"/>
          </a:xfrm>
        </p:grpSpPr>
        <p:sp>
          <p:nvSpPr>
            <p:cNvPr name="Freeform 26" id="26"/>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7">
                <a:alphaModFix amt="0"/>
              </a:blip>
              <a:stretch>
                <a:fillRect l="0" t="-519896" r="0" b="-519898"/>
              </a:stretch>
            </a:blipFill>
          </p:spPr>
          <p:txBody>
            <a:bodyPr/>
            <a:p/>
          </p:txBody>
        </p:sp>
      </p:grpSp>
      <p:grpSp>
        <p:nvGrpSpPr>
          <p:cNvPr name="Group 27" id="27"/>
          <p:cNvGrpSpPr/>
          <p:nvPr/>
        </p:nvGrpSpPr>
        <p:grpSpPr>
          <a:xfrm rot="0">
            <a:off x="822960" y="9584055"/>
            <a:ext cx="13716000" cy="497205"/>
            <a:chOff x="0" y="0"/>
            <a:chExt cx="18288000" cy="662940"/>
          </a:xfrm>
        </p:grpSpPr>
        <p:sp>
          <p:nvSpPr>
            <p:cNvPr name="Freeform 28" id="28"/>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8">
                <a:alphaModFix amt="0"/>
              </a:blip>
              <a:stretch>
                <a:fillRect l="0" t="-487518" r="0" b="-487518"/>
              </a:stretch>
            </a:blipFill>
          </p:spPr>
          <p:txBody>
            <a:bodyPr/>
            <a:p/>
          </p:txBody>
        </p:sp>
        <p:sp>
          <p:nvSpPr>
            <p:cNvPr name="TextBox 29" id="29"/>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pic>
        <p:nvPicPr>
          <p:cNvPr id="30" name="Picture 29" descr="chart22b.png"/>
          <p:cNvPicPr>
            <a:picLocks noChangeAspect="1"/>
          </p:cNvPicPr>
          <p:nvPr/>
        </p:nvPicPr>
        <p:blipFill>
          <a:blip r:embed="rId11"/>
          <a:stretch>
            <a:fillRect/>
          </a:stretch>
        </p:blipFill>
        <p:spPr>
          <a:xfrm>
            <a:off x="822960" y="1874519"/>
            <a:ext cx="9555480" cy="4254892"/>
          </a:xfrm>
          <a:prstGeom prst="rect">
            <a:avLst/>
          </a:prstGeom>
        </p:spPr>
      </p:pic>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METHODOLOGY · 04 · PHƯƠNG PHÁP ĐỀ XUẤT (B3)</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000" b="true">
                <a:solidFill>
                  <a:srgbClr val="13294B"/>
                </a:solidFill>
                <a:latin typeface="Cambria Bold"/>
                <a:ea typeface="Cambria Bold"/>
                <a:cs typeface="Cambria Bold"/>
                <a:sym typeface="Cambria Bold"/>
              </a:rPr>
              <a:t>QLoRA nhận biết OCR: dạy model dùng văn bản OCR</a:t>
            </a:r>
          </a:p>
        </p:txBody>
      </p:sp>
      <p:sp>
        <p:nvSpPr>
          <p:cNvPr name="Freeform 35" id="35"/>
          <p:cNvSpPr/>
          <p:nvPr/>
        </p:nvSpPr>
        <p:spPr>
          <a:xfrm flipH="false" flipV="false" rot="0">
            <a:off x="806291" y="5675471"/>
            <a:ext cx="5214747" cy="3736658"/>
          </a:xfrm>
          <a:custGeom>
            <a:avLst/>
            <a:gdLst/>
            <a:ahLst/>
            <a:cxnLst/>
            <a:rect r="r" b="b" t="t" l="l"/>
            <a:pathLst>
              <a:path h="3736658" w="5214747">
                <a:moveTo>
                  <a:pt x="0" y="0"/>
                </a:moveTo>
                <a:lnTo>
                  <a:pt x="5214747" y="0"/>
                </a:lnTo>
                <a:lnTo>
                  <a:pt x="5214747" y="3736658"/>
                </a:lnTo>
                <a:lnTo>
                  <a:pt x="0" y="3736658"/>
                </a:lnTo>
                <a:lnTo>
                  <a:pt x="0" y="0"/>
                </a:lnTo>
                <a:close/>
              </a:path>
            </a:pathLst>
          </a:custGeom>
          <a:blipFill>
            <a:blip r:embed="rId16">
              <a:extLst>
                <a:ext uri="{96DAC541-7B7A-43D3-8B79-37D633B846F1}">
                  <asvg:svgBlip xmlns:asvg="http://schemas.microsoft.com/office/drawing/2016/SVG/main" r:embed="rId17"/>
                </a:ext>
              </a:extLst>
            </a:blip>
            <a:stretch>
              <a:fillRect l="0" t="-41" r="0" b="-41"/>
            </a:stretch>
          </a:blipFill>
        </p:spPr>
        <p:txBody>
          <a:bodyPr/>
          <a:p/>
        </p:txBody>
      </p:sp>
      <p:sp>
        <p:nvSpPr>
          <p:cNvPr name="TextBox 36" id="36"/>
          <p:cNvSpPr txBox="true"/>
          <p:nvPr/>
        </p:nvSpPr>
        <p:spPr>
          <a:xfrm rot="0">
            <a:off x="1165860" y="5745480"/>
            <a:ext cx="4495648" cy="76962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Vì sao OCR</a:t>
            </a:r>
          </a:p>
        </p:txBody>
      </p:sp>
      <p:sp>
        <p:nvSpPr>
          <p:cNvPr name="TextBox 37" id="37"/>
          <p:cNvSpPr txBox="true"/>
          <p:nvPr/>
        </p:nvSpPr>
        <p:spPr>
          <a:xfrm rot="0">
            <a:off x="1165860" y="6393180"/>
            <a:ext cx="4495648" cy="2796540"/>
          </a:xfrm>
          <a:prstGeom prst="rect">
            <a:avLst/>
          </a:prstGeom>
        </p:spPr>
        <p:txBody>
          <a:bodyPr anchor="t" rtlCol="false" tIns="0" lIns="0" bIns="0" rIns="0">
            <a:spAutoFit/>
          </a:bodyPr>
          <a:lstStyle/>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Lỗi thật của B2 ở ViTextVQA: đọc sai chữ 28%, nhầm vùng chữ 23%, sai dấu 8%</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Chữ tiếng Việt trong ảnh là gap nghiên cứu G2</a:t>
            </a:r>
          </a:p>
        </p:txBody>
      </p:sp>
      <p:sp>
        <p:nvSpPr>
          <p:cNvPr name="Freeform 38" id="38"/>
          <p:cNvSpPr/>
          <p:nvPr/>
        </p:nvSpPr>
        <p:spPr>
          <a:xfrm flipH="false" flipV="false" rot="0">
            <a:off x="6536379" y="5675471"/>
            <a:ext cx="5214747" cy="3736658"/>
          </a:xfrm>
          <a:custGeom>
            <a:avLst/>
            <a:gdLst/>
            <a:ahLst/>
            <a:cxnLst/>
            <a:rect r="r" b="b" t="t" l="l"/>
            <a:pathLst>
              <a:path h="3736658" w="5214747">
                <a:moveTo>
                  <a:pt x="0" y="0"/>
                </a:moveTo>
                <a:lnTo>
                  <a:pt x="5214747" y="0"/>
                </a:lnTo>
                <a:lnTo>
                  <a:pt x="5214747" y="3736658"/>
                </a:lnTo>
                <a:lnTo>
                  <a:pt x="0" y="3736658"/>
                </a:lnTo>
                <a:lnTo>
                  <a:pt x="0" y="0"/>
                </a:lnTo>
                <a:close/>
              </a:path>
            </a:pathLst>
          </a:custGeom>
          <a:blipFill>
            <a:blip r:embed="rId16">
              <a:extLst>
                <a:ext uri="{96DAC541-7B7A-43D3-8B79-37D633B846F1}">
                  <asvg:svgBlip xmlns:asvg="http://schemas.microsoft.com/office/drawing/2016/SVG/main" r:embed="rId17"/>
                </a:ext>
              </a:extLst>
            </a:blip>
            <a:stretch>
              <a:fillRect l="0" t="-41" r="0" b="-41"/>
            </a:stretch>
          </a:blipFill>
        </p:spPr>
        <p:txBody>
          <a:bodyPr/>
          <a:p/>
        </p:txBody>
      </p:sp>
      <p:sp>
        <p:nvSpPr>
          <p:cNvPr name="TextBox 39" id="39"/>
          <p:cNvSpPr txBox="true"/>
          <p:nvPr/>
        </p:nvSpPr>
        <p:spPr>
          <a:xfrm rot="0">
            <a:off x="6895948" y="5745480"/>
            <a:ext cx="4495648" cy="76962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Chọn OCR (trên dev300)</a:t>
            </a:r>
          </a:p>
        </p:txBody>
      </p:sp>
      <p:sp>
        <p:nvSpPr>
          <p:cNvPr name="TextBox 40" id="40"/>
          <p:cNvSpPr txBox="true"/>
          <p:nvPr/>
        </p:nvSpPr>
        <p:spPr>
          <a:xfrm rot="0">
            <a:off x="6895948" y="6393180"/>
            <a:ext cx="4495648" cy="2796540"/>
          </a:xfrm>
          <a:prstGeom prst="rect">
            <a:avLst/>
          </a:prstGeom>
        </p:spPr>
        <p:txBody>
          <a:bodyPr anchor="t" rtlCol="false" tIns="0" lIns="0" bIns="0" rIns="0">
            <a:spAutoFit/>
          </a:bodyPr>
          <a:lstStyle/>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PaddleOCR bản Latin làm rơi dấu: “Kiểu Thẩm” → “Kiu Thm”</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Đáp án nằm trong văn bản OCR: VietOCR 37,7% so với 27,0% (p = 0,0008) → VietOCR</a:t>
            </a:r>
          </a:p>
        </p:txBody>
      </p:sp>
      <p:sp>
        <p:nvSpPr>
          <p:cNvPr name="Freeform 41" id="41"/>
          <p:cNvSpPr/>
          <p:nvPr/>
        </p:nvSpPr>
        <p:spPr>
          <a:xfrm flipH="false" flipV="false" rot="0">
            <a:off x="12266466" y="5675471"/>
            <a:ext cx="5214747" cy="3736658"/>
          </a:xfrm>
          <a:custGeom>
            <a:avLst/>
            <a:gdLst/>
            <a:ahLst/>
            <a:cxnLst/>
            <a:rect r="r" b="b" t="t" l="l"/>
            <a:pathLst>
              <a:path h="3736658" w="5214747">
                <a:moveTo>
                  <a:pt x="0" y="0"/>
                </a:moveTo>
                <a:lnTo>
                  <a:pt x="5214747" y="0"/>
                </a:lnTo>
                <a:lnTo>
                  <a:pt x="5214747" y="3736658"/>
                </a:lnTo>
                <a:lnTo>
                  <a:pt x="0" y="3736658"/>
                </a:lnTo>
                <a:lnTo>
                  <a:pt x="0" y="0"/>
                </a:lnTo>
                <a:close/>
              </a:path>
            </a:pathLst>
          </a:custGeom>
          <a:blipFill>
            <a:blip r:embed="rId18">
              <a:extLst>
                <a:ext uri="{96DAC541-7B7A-43D3-8B79-37D633B846F1}">
                  <asvg:svgBlip xmlns:asvg="http://schemas.microsoft.com/office/drawing/2016/SVG/main" r:embed="rId19"/>
                </a:ext>
              </a:extLst>
            </a:blip>
            <a:stretch>
              <a:fillRect l="0" t="-41" r="0" b="-41"/>
            </a:stretch>
          </a:blipFill>
        </p:spPr>
        <p:txBody>
          <a:bodyPr/>
          <a:p/>
        </p:txBody>
      </p:sp>
      <p:sp>
        <p:nvSpPr>
          <p:cNvPr name="TextBox 42" id="42"/>
          <p:cNvSpPr txBox="true"/>
          <p:nvPr/>
        </p:nvSpPr>
        <p:spPr>
          <a:xfrm rot="0">
            <a:off x="12626035" y="5745480"/>
            <a:ext cx="4495648" cy="76962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Train gì</a:t>
            </a:r>
          </a:p>
        </p:txBody>
      </p:sp>
      <p:sp>
        <p:nvSpPr>
          <p:cNvPr name="TextBox 43" id="43"/>
          <p:cNvSpPr txBox="true"/>
          <p:nvPr/>
        </p:nvSpPr>
        <p:spPr>
          <a:xfrm rot="0">
            <a:off x="12626035" y="6393180"/>
            <a:ext cx="4495648" cy="2796540"/>
          </a:xfrm>
          <a:prstGeom prst="rect">
            <a:avLst/>
          </a:prstGeom>
        </p:spPr>
        <p:txBody>
          <a:bodyPr anchor="t" rtlCol="false" tIns="0" lIns="0" bIns="0" rIns="0">
            <a:spAutoFit/>
          </a:bodyPr>
          <a:lstStyle/>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QLoRA y hệt B2 (r = 16, 0,196% tham số); chỉ thêm dòng OCR vào prompt</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Phép thử có kiểm soát: tập con 8.000 câu, B3 so với B2-sub (cùng tập, không OCR)</a:t>
            </a:r>
          </a:p>
        </p:txBody>
      </p:sp>
      <p:grpSp>
        <p:nvGrpSpPr>
          <p:cNvPr name="Group 44" id="44"/>
          <p:cNvGrpSpPr/>
          <p:nvPr/>
        </p:nvGrpSpPr>
        <p:grpSpPr>
          <a:xfrm rot="0">
            <a:off x="15458732" y="0"/>
            <a:ext cx="2829306" cy="1184338"/>
            <a:chOff x="0" y="0"/>
            <a:chExt cx="3772408" cy="1579118"/>
          </a:xfrm>
        </p:grpSpPr>
        <p:sp>
          <p:nvSpPr>
            <p:cNvPr name="Freeform 45" id="45"/>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20"/>
              <a:stretch>
                <a:fillRect l="0" t="0" r="0" b="0"/>
              </a:stretch>
            </a:blipFill>
          </p:spPr>
          <p:txBody>
            <a:bodyPr/>
            <a:p/>
          </p:txBody>
        </p:sp>
      </p:grpSp>
      <p:grpSp>
        <p:nvGrpSpPr>
          <p:cNvPr name="Group 46" id="46"/>
          <p:cNvGrpSpPr/>
          <p:nvPr/>
        </p:nvGrpSpPr>
        <p:grpSpPr>
          <a:xfrm rot="0">
            <a:off x="822960" y="9641205"/>
            <a:ext cx="13716000" cy="440055"/>
            <a:chOff x="0" y="0"/>
            <a:chExt cx="18288000" cy="586740"/>
          </a:xfrm>
        </p:grpSpPr>
        <p:sp>
          <p:nvSpPr>
            <p:cNvPr name="Freeform 47" id="47"/>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13">
                <a:alphaModFix amt="0"/>
              </a:blip>
              <a:stretch>
                <a:fillRect l="0" t="-556902" r="0" b="-556904"/>
              </a:stretch>
            </a:blipFill>
          </p:spPr>
          <p:txBody>
            <a:bodyPr/>
            <a:p/>
          </p:txBody>
        </p:sp>
      </p:grpSp>
      <p:grpSp>
        <p:nvGrpSpPr>
          <p:cNvPr name="Group 48" id="48"/>
          <p:cNvGrpSpPr/>
          <p:nvPr/>
        </p:nvGrpSpPr>
        <p:grpSpPr>
          <a:xfrm rot="0">
            <a:off x="822960" y="9612630"/>
            <a:ext cx="13716000" cy="468630"/>
            <a:chOff x="0" y="0"/>
            <a:chExt cx="18288000" cy="624840"/>
          </a:xfrm>
        </p:grpSpPr>
        <p:sp>
          <p:nvSpPr>
            <p:cNvPr name="Freeform 49" id="49"/>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14">
                <a:alphaModFix amt="0"/>
              </a:blip>
              <a:stretch>
                <a:fillRect l="0" t="-519896" r="0" b="-519898"/>
              </a:stretch>
            </a:blipFill>
          </p:spPr>
          <p:txBody>
            <a:bodyPr/>
            <a:p/>
          </p:txBody>
        </p:sp>
      </p:grpSp>
      <p:grpSp>
        <p:nvGrpSpPr>
          <p:cNvPr name="Group 50" id="50"/>
          <p:cNvGrpSpPr/>
          <p:nvPr/>
        </p:nvGrpSpPr>
        <p:grpSpPr>
          <a:xfrm rot="0">
            <a:off x="822960" y="9584055"/>
            <a:ext cx="13716000" cy="497205"/>
            <a:chOff x="0" y="0"/>
            <a:chExt cx="18288000" cy="662940"/>
          </a:xfrm>
        </p:grpSpPr>
        <p:sp>
          <p:nvSpPr>
            <p:cNvPr name="Freeform 51" id="51"/>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15">
                <a:alphaModFix amt="0"/>
              </a:blip>
              <a:stretch>
                <a:fillRect l="0" t="-487518" r="0" b="-487518"/>
              </a:stretch>
            </a:blipFill>
          </p:spPr>
          <p:txBody>
            <a:bodyPr/>
            <a:p/>
          </p:txBody>
        </p:sp>
        <p:sp>
          <p:nvSpPr>
            <p:cNvPr name="TextBox 52" id="52"/>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pic>
        <p:nvPicPr>
          <p:cNvPr id="53" name="Picture 52" descr="flow23.png"/>
          <p:cNvPicPr>
            <a:picLocks noChangeAspect="1"/>
          </p:cNvPicPr>
          <p:nvPr/>
        </p:nvPicPr>
        <p:blipFill>
          <a:blip r:embed="rId22"/>
          <a:stretch>
            <a:fillRect/>
          </a:stretch>
        </p:blipFill>
        <p:spPr>
          <a:xfrm>
            <a:off x="822960" y="1874519"/>
            <a:ext cx="16642080" cy="3566160"/>
          </a:xfrm>
          <a:prstGeom prst="rect">
            <a:avLst/>
          </a:prstGeom>
        </p:spPr>
      </p:pic>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METHODOLOGY · 05 · ABLATION: OCR LÚC TRAIN × OCR LÚC TEST</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OCR chỉ giúp khi model được train cùng OCR</a:t>
            </a:r>
          </a:p>
        </p:txBody>
      </p:sp>
      <p:sp>
        <p:nvSpPr>
          <p:cNvPr name="TextBox 6" id="6"/>
          <p:cNvSpPr txBox="true"/>
          <p:nvPr/>
        </p:nvSpPr>
        <p:spPr>
          <a:xfrm rot="0">
            <a:off x="3497580" y="1866900"/>
            <a:ext cx="3360420" cy="739140"/>
          </a:xfrm>
          <a:prstGeom prst="rect">
            <a:avLst/>
          </a:prstGeom>
        </p:spPr>
        <p:txBody>
          <a:bodyPr anchor="t" rtlCol="false" tIns="0" lIns="0" bIns="0" rIns="0">
            <a:spAutoFit/>
          </a:bodyPr>
          <a:lstStyle/>
          <a:p>
            <a:pPr algn="ctr">
              <a:lnSpc>
                <a:spcPts val="2520"/>
              </a:lnSpc>
            </a:pPr>
            <a:r>
              <a:rPr lang="en-US" sz="2100" b="true">
                <a:solidFill>
                  <a:srgbClr val="13294B"/>
                </a:solidFill>
                <a:latin typeface="Calibri (MS) Bold"/>
                <a:ea typeface="Calibri (MS) Bold"/>
                <a:cs typeface="Calibri (MS) Bold"/>
                <a:sym typeface="Calibri (MS) Bold"/>
              </a:rPr>
              <a:t>Test không OCR</a:t>
            </a:r>
          </a:p>
        </p:txBody>
      </p:sp>
      <p:sp>
        <p:nvSpPr>
          <p:cNvPr name="TextBox 7" id="7"/>
          <p:cNvSpPr txBox="true"/>
          <p:nvPr/>
        </p:nvSpPr>
        <p:spPr>
          <a:xfrm rot="0">
            <a:off x="7063740" y="1866900"/>
            <a:ext cx="3360420" cy="739140"/>
          </a:xfrm>
          <a:prstGeom prst="rect">
            <a:avLst/>
          </a:prstGeom>
        </p:spPr>
        <p:txBody>
          <a:bodyPr anchor="t" rtlCol="false" tIns="0" lIns="0" bIns="0" rIns="0">
            <a:spAutoFit/>
          </a:bodyPr>
          <a:lstStyle/>
          <a:p>
            <a:pPr algn="ctr">
              <a:lnSpc>
                <a:spcPts val="2520"/>
              </a:lnSpc>
            </a:pPr>
            <a:r>
              <a:rPr lang="en-US" sz="2100" b="true">
                <a:solidFill>
                  <a:srgbClr val="13294B"/>
                </a:solidFill>
                <a:latin typeface="Calibri (MS) Bold"/>
                <a:ea typeface="Calibri (MS) Bold"/>
                <a:cs typeface="Calibri (MS) Bold"/>
                <a:sym typeface="Calibri (MS) Bold"/>
              </a:rPr>
              <a:t>Test có OCR</a:t>
            </a:r>
          </a:p>
        </p:txBody>
      </p:sp>
      <p:grpSp>
        <p:nvGrpSpPr>
          <p:cNvPr name="Group 8" id="8"/>
          <p:cNvGrpSpPr/>
          <p:nvPr/>
        </p:nvGrpSpPr>
        <p:grpSpPr>
          <a:xfrm rot="0">
            <a:off x="822960" y="2674620"/>
            <a:ext cx="2537460" cy="2125980"/>
            <a:chOff x="0" y="0"/>
            <a:chExt cx="3383280" cy="2834640"/>
          </a:xfrm>
        </p:grpSpPr>
        <p:sp>
          <p:nvSpPr>
            <p:cNvPr name="Freeform 9" id="9"/>
            <p:cNvSpPr/>
            <p:nvPr/>
          </p:nvSpPr>
          <p:spPr>
            <a:xfrm flipH="false" flipV="false" rot="0">
              <a:off x="0" y="0"/>
              <a:ext cx="3383280" cy="2834640"/>
            </a:xfrm>
            <a:custGeom>
              <a:avLst/>
              <a:gdLst/>
              <a:ahLst/>
              <a:cxnLst/>
              <a:rect r="r" b="b" t="t" l="l"/>
              <a:pathLst>
                <a:path h="2834640" w="3383280">
                  <a:moveTo>
                    <a:pt x="0" y="0"/>
                  </a:moveTo>
                  <a:lnTo>
                    <a:pt x="3383280" y="0"/>
                  </a:lnTo>
                  <a:lnTo>
                    <a:pt x="3383280" y="2834640"/>
                  </a:lnTo>
                  <a:lnTo>
                    <a:pt x="0" y="2834640"/>
                  </a:lnTo>
                  <a:close/>
                </a:path>
              </a:pathLst>
            </a:custGeom>
            <a:blipFill>
              <a:blip r:embed="rId2">
                <a:alphaModFix amt="0"/>
              </a:blip>
              <a:stretch>
                <a:fillRect l="-57572" t="0" r="-57572" b="0"/>
              </a:stretch>
            </a:blipFill>
          </p:spPr>
          <p:txBody>
            <a:bodyPr/>
            <a:p/>
          </p:txBody>
        </p:sp>
      </p:grpSp>
      <p:grpSp>
        <p:nvGrpSpPr>
          <p:cNvPr name="Group 10" id="10"/>
          <p:cNvGrpSpPr/>
          <p:nvPr/>
        </p:nvGrpSpPr>
        <p:grpSpPr>
          <a:xfrm rot="0">
            <a:off x="822960" y="2638901"/>
            <a:ext cx="2537460" cy="2161699"/>
            <a:chOff x="0" y="0"/>
            <a:chExt cx="3383280" cy="2882265"/>
          </a:xfrm>
        </p:grpSpPr>
        <p:sp>
          <p:nvSpPr>
            <p:cNvPr name="Freeform 11" id="11"/>
            <p:cNvSpPr/>
            <p:nvPr/>
          </p:nvSpPr>
          <p:spPr>
            <a:xfrm flipH="false" flipV="false" rot="0">
              <a:off x="0" y="0"/>
              <a:ext cx="3383280" cy="2882265"/>
            </a:xfrm>
            <a:custGeom>
              <a:avLst/>
              <a:gdLst/>
              <a:ahLst/>
              <a:cxnLst/>
              <a:rect r="r" b="b" t="t" l="l"/>
              <a:pathLst>
                <a:path h="2882265" w="3383280">
                  <a:moveTo>
                    <a:pt x="0" y="0"/>
                  </a:moveTo>
                  <a:lnTo>
                    <a:pt x="3383280" y="0"/>
                  </a:lnTo>
                  <a:lnTo>
                    <a:pt x="3383280" y="2882265"/>
                  </a:lnTo>
                  <a:lnTo>
                    <a:pt x="0" y="2882265"/>
                  </a:lnTo>
                  <a:close/>
                </a:path>
              </a:pathLst>
            </a:custGeom>
            <a:blipFill>
              <a:blip r:embed="rId3">
                <a:alphaModFix amt="0"/>
              </a:blip>
              <a:stretch>
                <a:fillRect l="-59379" t="0" r="-59379" b="0"/>
              </a:stretch>
            </a:blipFill>
          </p:spPr>
          <p:txBody>
            <a:bodyPr/>
            <a:p/>
          </p:txBody>
        </p:sp>
      </p:grpSp>
      <p:grpSp>
        <p:nvGrpSpPr>
          <p:cNvPr name="Group 12" id="12"/>
          <p:cNvGrpSpPr/>
          <p:nvPr/>
        </p:nvGrpSpPr>
        <p:grpSpPr>
          <a:xfrm rot="0">
            <a:off x="822960" y="2603183"/>
            <a:ext cx="2537460" cy="2197417"/>
            <a:chOff x="0" y="0"/>
            <a:chExt cx="3383280" cy="2929890"/>
          </a:xfrm>
        </p:grpSpPr>
        <p:sp>
          <p:nvSpPr>
            <p:cNvPr name="Freeform 13" id="13"/>
            <p:cNvSpPr/>
            <p:nvPr/>
          </p:nvSpPr>
          <p:spPr>
            <a:xfrm flipH="false" flipV="false" rot="0">
              <a:off x="0" y="0"/>
              <a:ext cx="3383280" cy="2929890"/>
            </a:xfrm>
            <a:custGeom>
              <a:avLst/>
              <a:gdLst/>
              <a:ahLst/>
              <a:cxnLst/>
              <a:rect r="r" b="b" t="t" l="l"/>
              <a:pathLst>
                <a:path h="2929890" w="3383280">
                  <a:moveTo>
                    <a:pt x="0" y="0"/>
                  </a:moveTo>
                  <a:lnTo>
                    <a:pt x="3383280" y="0"/>
                  </a:lnTo>
                  <a:lnTo>
                    <a:pt x="3383280" y="2929890"/>
                  </a:lnTo>
                  <a:lnTo>
                    <a:pt x="0" y="2929890"/>
                  </a:lnTo>
                  <a:close/>
                </a:path>
              </a:pathLst>
            </a:custGeom>
            <a:blipFill>
              <a:blip r:embed="rId4">
                <a:alphaModFix amt="0"/>
              </a:blip>
              <a:stretch>
                <a:fillRect l="-61186" t="0" r="-61187" b="0"/>
              </a:stretch>
            </a:blipFill>
          </p:spPr>
          <p:txBody>
            <a:bodyPr/>
            <a:p/>
          </p:txBody>
        </p:sp>
      </p:grpSp>
      <p:grpSp>
        <p:nvGrpSpPr>
          <p:cNvPr name="Group 14" id="14"/>
          <p:cNvGrpSpPr/>
          <p:nvPr/>
        </p:nvGrpSpPr>
        <p:grpSpPr>
          <a:xfrm rot="0">
            <a:off x="822960" y="2567464"/>
            <a:ext cx="2537460" cy="2233136"/>
            <a:chOff x="0" y="0"/>
            <a:chExt cx="3383280" cy="2977515"/>
          </a:xfrm>
        </p:grpSpPr>
        <p:sp>
          <p:nvSpPr>
            <p:cNvPr name="Freeform 15" id="15"/>
            <p:cNvSpPr/>
            <p:nvPr/>
          </p:nvSpPr>
          <p:spPr>
            <a:xfrm flipH="false" flipV="false" rot="0">
              <a:off x="0" y="0"/>
              <a:ext cx="3383280" cy="2977514"/>
            </a:xfrm>
            <a:custGeom>
              <a:avLst/>
              <a:gdLst/>
              <a:ahLst/>
              <a:cxnLst/>
              <a:rect r="r" b="b" t="t" l="l"/>
              <a:pathLst>
                <a:path h="2977514" w="3383280">
                  <a:moveTo>
                    <a:pt x="0" y="0"/>
                  </a:moveTo>
                  <a:lnTo>
                    <a:pt x="3383280" y="0"/>
                  </a:lnTo>
                  <a:lnTo>
                    <a:pt x="3383280" y="2977514"/>
                  </a:lnTo>
                  <a:lnTo>
                    <a:pt x="0" y="2977514"/>
                  </a:lnTo>
                  <a:close/>
                </a:path>
              </a:pathLst>
            </a:custGeom>
            <a:blipFill>
              <a:blip r:embed="rId5">
                <a:alphaModFix amt="0"/>
              </a:blip>
              <a:stretch>
                <a:fillRect l="-62915" t="0" r="-62915" b="0"/>
              </a:stretch>
            </a:blipFill>
          </p:spPr>
          <p:txBody>
            <a:bodyPr/>
            <a:p/>
          </p:txBody>
        </p:sp>
        <p:sp>
          <p:nvSpPr>
            <p:cNvPr name="TextBox 16" id="16"/>
            <p:cNvSpPr txBox="true"/>
            <p:nvPr/>
          </p:nvSpPr>
          <p:spPr>
            <a:xfrm>
              <a:off x="0" y="-47625"/>
              <a:ext cx="3383280" cy="3025140"/>
            </a:xfrm>
            <a:prstGeom prst="rect">
              <a:avLst/>
            </a:prstGeom>
          </p:spPr>
          <p:txBody>
            <a:bodyPr anchor="ctr" rtlCol="false" tIns="0" lIns="0" bIns="0" rIns="0"/>
            <a:lstStyle/>
            <a:p>
              <a:pPr algn="l">
                <a:lnSpc>
                  <a:spcPts val="2520"/>
                </a:lnSpc>
              </a:pPr>
              <a:r>
                <a:rPr lang="en-US" sz="2100" b="true">
                  <a:solidFill>
                    <a:srgbClr val="13294B"/>
                  </a:solidFill>
                  <a:latin typeface="Calibri (MS) Bold"/>
                  <a:ea typeface="Calibri (MS) Bold"/>
                  <a:cs typeface="Calibri (MS) Bold"/>
                  <a:sym typeface="Calibri (MS) Bold"/>
                </a:rPr>
                <a:t>Train không OCR</a:t>
              </a:r>
            </a:p>
          </p:txBody>
        </p:sp>
      </p:grpSp>
      <p:grpSp>
        <p:nvGrpSpPr>
          <p:cNvPr name="Group 17" id="17"/>
          <p:cNvGrpSpPr/>
          <p:nvPr/>
        </p:nvGrpSpPr>
        <p:grpSpPr>
          <a:xfrm rot="0">
            <a:off x="822960" y="5006340"/>
            <a:ext cx="2537460" cy="2125980"/>
            <a:chOff x="0" y="0"/>
            <a:chExt cx="3383280" cy="2834640"/>
          </a:xfrm>
        </p:grpSpPr>
        <p:sp>
          <p:nvSpPr>
            <p:cNvPr name="Freeform 18" id="18"/>
            <p:cNvSpPr/>
            <p:nvPr/>
          </p:nvSpPr>
          <p:spPr>
            <a:xfrm flipH="false" flipV="false" rot="0">
              <a:off x="0" y="0"/>
              <a:ext cx="3383280" cy="2834640"/>
            </a:xfrm>
            <a:custGeom>
              <a:avLst/>
              <a:gdLst/>
              <a:ahLst/>
              <a:cxnLst/>
              <a:rect r="r" b="b" t="t" l="l"/>
              <a:pathLst>
                <a:path h="2834640" w="3383280">
                  <a:moveTo>
                    <a:pt x="0" y="0"/>
                  </a:moveTo>
                  <a:lnTo>
                    <a:pt x="3383280" y="0"/>
                  </a:lnTo>
                  <a:lnTo>
                    <a:pt x="3383280" y="2834640"/>
                  </a:lnTo>
                  <a:lnTo>
                    <a:pt x="0" y="2834640"/>
                  </a:lnTo>
                  <a:close/>
                </a:path>
              </a:pathLst>
            </a:custGeom>
            <a:blipFill>
              <a:blip r:embed="rId2">
                <a:alphaModFix amt="0"/>
              </a:blip>
              <a:stretch>
                <a:fillRect l="-57572" t="0" r="-57572" b="0"/>
              </a:stretch>
            </a:blipFill>
          </p:spPr>
          <p:txBody>
            <a:bodyPr/>
            <a:p/>
          </p:txBody>
        </p:sp>
      </p:grpSp>
      <p:grpSp>
        <p:nvGrpSpPr>
          <p:cNvPr name="Group 19" id="19"/>
          <p:cNvGrpSpPr/>
          <p:nvPr/>
        </p:nvGrpSpPr>
        <p:grpSpPr>
          <a:xfrm rot="0">
            <a:off x="822960" y="4970621"/>
            <a:ext cx="2537460" cy="2161699"/>
            <a:chOff x="0" y="0"/>
            <a:chExt cx="3383280" cy="2882265"/>
          </a:xfrm>
        </p:grpSpPr>
        <p:sp>
          <p:nvSpPr>
            <p:cNvPr name="Freeform 20" id="20"/>
            <p:cNvSpPr/>
            <p:nvPr/>
          </p:nvSpPr>
          <p:spPr>
            <a:xfrm flipH="false" flipV="false" rot="0">
              <a:off x="0" y="0"/>
              <a:ext cx="3383280" cy="2882265"/>
            </a:xfrm>
            <a:custGeom>
              <a:avLst/>
              <a:gdLst/>
              <a:ahLst/>
              <a:cxnLst/>
              <a:rect r="r" b="b" t="t" l="l"/>
              <a:pathLst>
                <a:path h="2882265" w="3383280">
                  <a:moveTo>
                    <a:pt x="0" y="0"/>
                  </a:moveTo>
                  <a:lnTo>
                    <a:pt x="3383280" y="0"/>
                  </a:lnTo>
                  <a:lnTo>
                    <a:pt x="3383280" y="2882265"/>
                  </a:lnTo>
                  <a:lnTo>
                    <a:pt x="0" y="2882265"/>
                  </a:lnTo>
                  <a:close/>
                </a:path>
              </a:pathLst>
            </a:custGeom>
            <a:blipFill>
              <a:blip r:embed="rId3">
                <a:alphaModFix amt="0"/>
              </a:blip>
              <a:stretch>
                <a:fillRect l="-59379" t="0" r="-59379" b="0"/>
              </a:stretch>
            </a:blipFill>
          </p:spPr>
          <p:txBody>
            <a:bodyPr/>
            <a:p/>
          </p:txBody>
        </p:sp>
      </p:grpSp>
      <p:grpSp>
        <p:nvGrpSpPr>
          <p:cNvPr name="Group 21" id="21"/>
          <p:cNvGrpSpPr/>
          <p:nvPr/>
        </p:nvGrpSpPr>
        <p:grpSpPr>
          <a:xfrm rot="0">
            <a:off x="822960" y="4934903"/>
            <a:ext cx="2537460" cy="2197417"/>
            <a:chOff x="0" y="0"/>
            <a:chExt cx="3383280" cy="2929890"/>
          </a:xfrm>
        </p:grpSpPr>
        <p:sp>
          <p:nvSpPr>
            <p:cNvPr name="Freeform 22" id="22"/>
            <p:cNvSpPr/>
            <p:nvPr/>
          </p:nvSpPr>
          <p:spPr>
            <a:xfrm flipH="false" flipV="false" rot="0">
              <a:off x="0" y="0"/>
              <a:ext cx="3383280" cy="2929890"/>
            </a:xfrm>
            <a:custGeom>
              <a:avLst/>
              <a:gdLst/>
              <a:ahLst/>
              <a:cxnLst/>
              <a:rect r="r" b="b" t="t" l="l"/>
              <a:pathLst>
                <a:path h="2929890" w="3383280">
                  <a:moveTo>
                    <a:pt x="0" y="0"/>
                  </a:moveTo>
                  <a:lnTo>
                    <a:pt x="3383280" y="0"/>
                  </a:lnTo>
                  <a:lnTo>
                    <a:pt x="3383280" y="2929890"/>
                  </a:lnTo>
                  <a:lnTo>
                    <a:pt x="0" y="2929890"/>
                  </a:lnTo>
                  <a:close/>
                </a:path>
              </a:pathLst>
            </a:custGeom>
            <a:blipFill>
              <a:blip r:embed="rId4">
                <a:alphaModFix amt="0"/>
              </a:blip>
              <a:stretch>
                <a:fillRect l="-61186" t="0" r="-61187" b="0"/>
              </a:stretch>
            </a:blipFill>
          </p:spPr>
          <p:txBody>
            <a:bodyPr/>
            <a:p/>
          </p:txBody>
        </p:sp>
      </p:grpSp>
      <p:grpSp>
        <p:nvGrpSpPr>
          <p:cNvPr name="Group 23" id="23"/>
          <p:cNvGrpSpPr/>
          <p:nvPr/>
        </p:nvGrpSpPr>
        <p:grpSpPr>
          <a:xfrm rot="0">
            <a:off x="822960" y="4899184"/>
            <a:ext cx="2537460" cy="2233136"/>
            <a:chOff x="0" y="0"/>
            <a:chExt cx="3383280" cy="2977515"/>
          </a:xfrm>
        </p:grpSpPr>
        <p:sp>
          <p:nvSpPr>
            <p:cNvPr name="Freeform 24" id="24"/>
            <p:cNvSpPr/>
            <p:nvPr/>
          </p:nvSpPr>
          <p:spPr>
            <a:xfrm flipH="false" flipV="false" rot="0">
              <a:off x="0" y="0"/>
              <a:ext cx="3383280" cy="2977514"/>
            </a:xfrm>
            <a:custGeom>
              <a:avLst/>
              <a:gdLst/>
              <a:ahLst/>
              <a:cxnLst/>
              <a:rect r="r" b="b" t="t" l="l"/>
              <a:pathLst>
                <a:path h="2977514" w="3383280">
                  <a:moveTo>
                    <a:pt x="0" y="0"/>
                  </a:moveTo>
                  <a:lnTo>
                    <a:pt x="3383280" y="0"/>
                  </a:lnTo>
                  <a:lnTo>
                    <a:pt x="3383280" y="2977514"/>
                  </a:lnTo>
                  <a:lnTo>
                    <a:pt x="0" y="2977514"/>
                  </a:lnTo>
                  <a:close/>
                </a:path>
              </a:pathLst>
            </a:custGeom>
            <a:blipFill>
              <a:blip r:embed="rId5">
                <a:alphaModFix amt="0"/>
              </a:blip>
              <a:stretch>
                <a:fillRect l="-62915" t="0" r="-62915" b="0"/>
              </a:stretch>
            </a:blipFill>
          </p:spPr>
          <p:txBody>
            <a:bodyPr/>
            <a:p/>
          </p:txBody>
        </p:sp>
        <p:sp>
          <p:nvSpPr>
            <p:cNvPr name="TextBox 25" id="25"/>
            <p:cNvSpPr txBox="true"/>
            <p:nvPr/>
          </p:nvSpPr>
          <p:spPr>
            <a:xfrm>
              <a:off x="0" y="-47625"/>
              <a:ext cx="3383280" cy="3025140"/>
            </a:xfrm>
            <a:prstGeom prst="rect">
              <a:avLst/>
            </a:prstGeom>
          </p:spPr>
          <p:txBody>
            <a:bodyPr anchor="ctr" rtlCol="false" tIns="0" lIns="0" bIns="0" rIns="0"/>
            <a:lstStyle/>
            <a:p>
              <a:pPr algn="l">
                <a:lnSpc>
                  <a:spcPts val="2520"/>
                </a:lnSpc>
              </a:pPr>
              <a:r>
                <a:rPr lang="en-US" sz="2100" b="true">
                  <a:solidFill>
                    <a:srgbClr val="13294B"/>
                  </a:solidFill>
                  <a:latin typeface="Calibri (MS) Bold"/>
                  <a:ea typeface="Calibri (MS) Bold"/>
                  <a:cs typeface="Calibri (MS) Bold"/>
                  <a:sym typeface="Calibri (MS) Bold"/>
                </a:rPr>
                <a:t>Train có OCR</a:t>
              </a:r>
            </a:p>
          </p:txBody>
        </p:sp>
      </p:grpSp>
      <p:sp>
        <p:nvSpPr>
          <p:cNvPr name="Freeform 26" id="26"/>
          <p:cNvSpPr/>
          <p:nvPr/>
        </p:nvSpPr>
        <p:spPr>
          <a:xfrm flipH="false" flipV="false" rot="0">
            <a:off x="3480911" y="2657951"/>
            <a:ext cx="3393758" cy="2159317"/>
          </a:xfrm>
          <a:custGeom>
            <a:avLst/>
            <a:gdLst/>
            <a:ahLst/>
            <a:cxnLst/>
            <a:rect r="r" b="b" t="t" l="l"/>
            <a:pathLst>
              <a:path h="2159317" w="3393758">
                <a:moveTo>
                  <a:pt x="0" y="0"/>
                </a:moveTo>
                <a:lnTo>
                  <a:pt x="3393758" y="0"/>
                </a:lnTo>
                <a:lnTo>
                  <a:pt x="3393758" y="2159318"/>
                </a:lnTo>
                <a:lnTo>
                  <a:pt x="0" y="2159318"/>
                </a:lnTo>
                <a:lnTo>
                  <a:pt x="0" y="0"/>
                </a:lnTo>
                <a:close/>
              </a:path>
            </a:pathLst>
          </a:custGeom>
          <a:blipFill>
            <a:blip r:embed="rId6">
              <a:extLst>
                <a:ext uri="{96DAC541-7B7A-43D3-8B79-37D633B846F1}">
                  <asvg:svgBlip xmlns:asvg="http://schemas.microsoft.com/office/drawing/2016/SVG/main" r:embed="rId7"/>
                </a:ext>
              </a:extLst>
            </a:blip>
            <a:stretch>
              <a:fillRect l="-31" t="0" r="-31" b="0"/>
            </a:stretch>
          </a:blipFill>
        </p:spPr>
        <p:txBody>
          <a:bodyPr/>
          <a:p/>
        </p:txBody>
      </p:sp>
      <p:sp>
        <p:nvSpPr>
          <p:cNvPr name="TextBox 27" id="27"/>
          <p:cNvSpPr txBox="true"/>
          <p:nvPr/>
        </p:nvSpPr>
        <p:spPr>
          <a:xfrm rot="0">
            <a:off x="3497580" y="2883408"/>
            <a:ext cx="3360420" cy="1066800"/>
          </a:xfrm>
          <a:prstGeom prst="rect">
            <a:avLst/>
          </a:prstGeom>
        </p:spPr>
        <p:txBody>
          <a:bodyPr anchor="t" rtlCol="false" tIns="0" lIns="0" bIns="0" rIns="0">
            <a:spAutoFit/>
          </a:bodyPr>
          <a:lstStyle/>
          <a:p>
            <a:pPr algn="ctr">
              <a:lnSpc>
                <a:spcPts val="6120"/>
              </a:lnSpc>
            </a:pPr>
            <a:r>
              <a:rPr lang="en-US" sz="5100" b="true">
                <a:solidFill>
                  <a:srgbClr val="13294B"/>
                </a:solidFill>
                <a:latin typeface="Cambria Bold"/>
                <a:ea typeface="Cambria Bold"/>
                <a:cs typeface="Cambria Bold"/>
                <a:sym typeface="Cambria Bold"/>
              </a:rPr>
              <a:t>45,55</a:t>
            </a:r>
          </a:p>
        </p:txBody>
      </p:sp>
      <p:sp>
        <p:nvSpPr>
          <p:cNvPr name="TextBox 28" id="28"/>
          <p:cNvSpPr txBox="true"/>
          <p:nvPr/>
        </p:nvSpPr>
        <p:spPr>
          <a:xfrm rot="0">
            <a:off x="3634740" y="3787140"/>
            <a:ext cx="3086100" cy="807720"/>
          </a:xfrm>
          <a:prstGeom prst="rect">
            <a:avLst/>
          </a:prstGeom>
        </p:spPr>
        <p:txBody>
          <a:bodyPr anchor="t" rtlCol="false" tIns="0" lIns="0" bIns="0" rIns="0">
            <a:spAutoFit/>
          </a:bodyPr>
          <a:lstStyle/>
          <a:p>
            <a:pPr algn="ctr">
              <a:lnSpc>
                <a:spcPts val="2340"/>
              </a:lnSpc>
            </a:pPr>
            <a:r>
              <a:rPr lang="en-US" sz="1950">
                <a:solidFill>
                  <a:srgbClr val="243044"/>
                </a:solidFill>
                <a:latin typeface="Calibri (MS)"/>
                <a:ea typeface="Calibri (MS)"/>
                <a:cs typeface="Calibri (MS)"/>
                <a:sym typeface="Calibri (MS)"/>
              </a:rPr>
              <a:t>B2-sub</a:t>
            </a:r>
          </a:p>
        </p:txBody>
      </p:sp>
      <p:sp>
        <p:nvSpPr>
          <p:cNvPr name="Freeform 29" id="29"/>
          <p:cNvSpPr/>
          <p:nvPr/>
        </p:nvSpPr>
        <p:spPr>
          <a:xfrm flipH="false" flipV="false" rot="0">
            <a:off x="7047071" y="2657951"/>
            <a:ext cx="3393758" cy="2159317"/>
          </a:xfrm>
          <a:custGeom>
            <a:avLst/>
            <a:gdLst/>
            <a:ahLst/>
            <a:cxnLst/>
            <a:rect r="r" b="b" t="t" l="l"/>
            <a:pathLst>
              <a:path h="2159317" w="3393758">
                <a:moveTo>
                  <a:pt x="0" y="0"/>
                </a:moveTo>
                <a:lnTo>
                  <a:pt x="3393758" y="0"/>
                </a:lnTo>
                <a:lnTo>
                  <a:pt x="3393758" y="2159318"/>
                </a:lnTo>
                <a:lnTo>
                  <a:pt x="0" y="2159318"/>
                </a:lnTo>
                <a:lnTo>
                  <a:pt x="0" y="0"/>
                </a:lnTo>
                <a:close/>
              </a:path>
            </a:pathLst>
          </a:custGeom>
          <a:blipFill>
            <a:blip r:embed="rId6">
              <a:extLst>
                <a:ext uri="{96DAC541-7B7A-43D3-8B79-37D633B846F1}">
                  <asvg:svgBlip xmlns:asvg="http://schemas.microsoft.com/office/drawing/2016/SVG/main" r:embed="rId7"/>
                </a:ext>
              </a:extLst>
            </a:blip>
            <a:stretch>
              <a:fillRect l="-31" t="0" r="-31" b="0"/>
            </a:stretch>
          </a:blipFill>
        </p:spPr>
        <p:txBody>
          <a:bodyPr/>
          <a:p/>
        </p:txBody>
      </p:sp>
      <p:sp>
        <p:nvSpPr>
          <p:cNvPr name="TextBox 30" id="30"/>
          <p:cNvSpPr txBox="true"/>
          <p:nvPr/>
        </p:nvSpPr>
        <p:spPr>
          <a:xfrm rot="0">
            <a:off x="7063740" y="2883408"/>
            <a:ext cx="3360420" cy="1066800"/>
          </a:xfrm>
          <a:prstGeom prst="rect">
            <a:avLst/>
          </a:prstGeom>
        </p:spPr>
        <p:txBody>
          <a:bodyPr anchor="t" rtlCol="false" tIns="0" lIns="0" bIns="0" rIns="0">
            <a:spAutoFit/>
          </a:bodyPr>
          <a:lstStyle/>
          <a:p>
            <a:pPr algn="ctr">
              <a:lnSpc>
                <a:spcPts val="6120"/>
              </a:lnSpc>
            </a:pPr>
            <a:r>
              <a:rPr lang="en-US" sz="5100" b="true">
                <a:solidFill>
                  <a:srgbClr val="13294B"/>
                </a:solidFill>
                <a:latin typeface="Cambria Bold"/>
                <a:ea typeface="Cambria Bold"/>
                <a:cs typeface="Cambria Bold"/>
                <a:sym typeface="Cambria Bold"/>
              </a:rPr>
              <a:t>44,90</a:t>
            </a:r>
          </a:p>
        </p:txBody>
      </p:sp>
      <p:sp>
        <p:nvSpPr>
          <p:cNvPr name="TextBox 31" id="31"/>
          <p:cNvSpPr txBox="true"/>
          <p:nvPr/>
        </p:nvSpPr>
        <p:spPr>
          <a:xfrm rot="0">
            <a:off x="7200900" y="3787140"/>
            <a:ext cx="3086100" cy="807720"/>
          </a:xfrm>
          <a:prstGeom prst="rect">
            <a:avLst/>
          </a:prstGeom>
        </p:spPr>
        <p:txBody>
          <a:bodyPr anchor="t" rtlCol="false" tIns="0" lIns="0" bIns="0" rIns="0">
            <a:spAutoFit/>
          </a:bodyPr>
          <a:lstStyle/>
          <a:p>
            <a:pPr algn="ctr">
              <a:lnSpc>
                <a:spcPts val="2340"/>
              </a:lnSpc>
            </a:pPr>
            <a:r>
              <a:rPr lang="en-US" sz="1950">
                <a:solidFill>
                  <a:srgbClr val="243044"/>
                </a:solidFill>
                <a:latin typeface="Calibri (MS)"/>
                <a:ea typeface="Calibri (MS)"/>
                <a:cs typeface="Calibri (MS)"/>
                <a:sym typeface="Calibri (MS)"/>
              </a:rPr>
              <a:t>B2-sub + OCR lúc test</a:t>
            </a:r>
          </a:p>
        </p:txBody>
      </p:sp>
      <p:sp>
        <p:nvSpPr>
          <p:cNvPr name="Freeform 32" id="32"/>
          <p:cNvSpPr/>
          <p:nvPr/>
        </p:nvSpPr>
        <p:spPr>
          <a:xfrm flipH="false" flipV="false" rot="0">
            <a:off x="3480911" y="4989671"/>
            <a:ext cx="3393758" cy="2159317"/>
          </a:xfrm>
          <a:custGeom>
            <a:avLst/>
            <a:gdLst/>
            <a:ahLst/>
            <a:cxnLst/>
            <a:rect r="r" b="b" t="t" l="l"/>
            <a:pathLst>
              <a:path h="2159317" w="3393758">
                <a:moveTo>
                  <a:pt x="0" y="0"/>
                </a:moveTo>
                <a:lnTo>
                  <a:pt x="3393758" y="0"/>
                </a:lnTo>
                <a:lnTo>
                  <a:pt x="3393758" y="2159318"/>
                </a:lnTo>
                <a:lnTo>
                  <a:pt x="0" y="2159318"/>
                </a:lnTo>
                <a:lnTo>
                  <a:pt x="0" y="0"/>
                </a:lnTo>
                <a:close/>
              </a:path>
            </a:pathLst>
          </a:custGeom>
          <a:blipFill>
            <a:blip r:embed="rId6">
              <a:extLst>
                <a:ext uri="{96DAC541-7B7A-43D3-8B79-37D633B846F1}">
                  <asvg:svgBlip xmlns:asvg="http://schemas.microsoft.com/office/drawing/2016/SVG/main" r:embed="rId7"/>
                </a:ext>
              </a:extLst>
            </a:blip>
            <a:stretch>
              <a:fillRect l="-31" t="0" r="-31" b="0"/>
            </a:stretch>
          </a:blipFill>
        </p:spPr>
        <p:txBody>
          <a:bodyPr/>
          <a:p/>
        </p:txBody>
      </p:sp>
      <p:sp>
        <p:nvSpPr>
          <p:cNvPr name="TextBox 33" id="33"/>
          <p:cNvSpPr txBox="true"/>
          <p:nvPr/>
        </p:nvSpPr>
        <p:spPr>
          <a:xfrm rot="0">
            <a:off x="3497580" y="5215128"/>
            <a:ext cx="3360420" cy="1066800"/>
          </a:xfrm>
          <a:prstGeom prst="rect">
            <a:avLst/>
          </a:prstGeom>
        </p:spPr>
        <p:txBody>
          <a:bodyPr anchor="t" rtlCol="false" tIns="0" lIns="0" bIns="0" rIns="0">
            <a:spAutoFit/>
          </a:bodyPr>
          <a:lstStyle/>
          <a:p>
            <a:pPr algn="ctr">
              <a:lnSpc>
                <a:spcPts val="6120"/>
              </a:lnSpc>
            </a:pPr>
            <a:r>
              <a:rPr lang="en-US" sz="5100" b="true">
                <a:solidFill>
                  <a:srgbClr val="13294B"/>
                </a:solidFill>
                <a:latin typeface="Cambria Bold"/>
                <a:ea typeface="Cambria Bold"/>
                <a:cs typeface="Cambria Bold"/>
                <a:sym typeface="Cambria Bold"/>
              </a:rPr>
              <a:t>45,00</a:t>
            </a:r>
          </a:p>
        </p:txBody>
      </p:sp>
      <p:sp>
        <p:nvSpPr>
          <p:cNvPr name="TextBox 34" id="34"/>
          <p:cNvSpPr txBox="true"/>
          <p:nvPr/>
        </p:nvSpPr>
        <p:spPr>
          <a:xfrm rot="0">
            <a:off x="3634740" y="6118860"/>
            <a:ext cx="3086100" cy="807720"/>
          </a:xfrm>
          <a:prstGeom prst="rect">
            <a:avLst/>
          </a:prstGeom>
        </p:spPr>
        <p:txBody>
          <a:bodyPr anchor="t" rtlCol="false" tIns="0" lIns="0" bIns="0" rIns="0">
            <a:spAutoFit/>
          </a:bodyPr>
          <a:lstStyle/>
          <a:p>
            <a:pPr algn="ctr">
              <a:lnSpc>
                <a:spcPts val="2340"/>
              </a:lnSpc>
            </a:pPr>
            <a:r>
              <a:rPr lang="en-US" sz="1950">
                <a:solidFill>
                  <a:srgbClr val="243044"/>
                </a:solidFill>
                <a:latin typeface="Calibri (MS)"/>
                <a:ea typeface="Calibri (MS)"/>
                <a:cs typeface="Calibri (MS)"/>
                <a:sym typeface="Calibri (MS)"/>
              </a:rPr>
              <a:t>B3, bỏ OCR lúc test</a:t>
            </a:r>
          </a:p>
        </p:txBody>
      </p:sp>
      <p:sp>
        <p:nvSpPr>
          <p:cNvPr name="Freeform 35" id="35"/>
          <p:cNvSpPr/>
          <p:nvPr/>
        </p:nvSpPr>
        <p:spPr>
          <a:xfrm flipH="false" flipV="false" rot="0">
            <a:off x="7047071" y="4989671"/>
            <a:ext cx="3393758" cy="2159317"/>
          </a:xfrm>
          <a:custGeom>
            <a:avLst/>
            <a:gdLst/>
            <a:ahLst/>
            <a:cxnLst/>
            <a:rect r="r" b="b" t="t" l="l"/>
            <a:pathLst>
              <a:path h="2159317" w="3393758">
                <a:moveTo>
                  <a:pt x="0" y="0"/>
                </a:moveTo>
                <a:lnTo>
                  <a:pt x="3393758" y="0"/>
                </a:lnTo>
                <a:lnTo>
                  <a:pt x="3393758" y="2159318"/>
                </a:lnTo>
                <a:lnTo>
                  <a:pt x="0" y="2159318"/>
                </a:lnTo>
                <a:lnTo>
                  <a:pt x="0" y="0"/>
                </a:lnTo>
                <a:close/>
              </a:path>
            </a:pathLst>
          </a:custGeom>
          <a:blipFill>
            <a:blip r:embed="rId8">
              <a:extLst>
                <a:ext uri="{96DAC541-7B7A-43D3-8B79-37D633B846F1}">
                  <asvg:svgBlip xmlns:asvg="http://schemas.microsoft.com/office/drawing/2016/SVG/main" r:embed="rId9"/>
                </a:ext>
              </a:extLst>
            </a:blip>
            <a:stretch>
              <a:fillRect l="-31" t="0" r="-31" b="0"/>
            </a:stretch>
          </a:blipFill>
        </p:spPr>
        <p:txBody>
          <a:bodyPr/>
          <a:p/>
        </p:txBody>
      </p:sp>
      <p:sp>
        <p:nvSpPr>
          <p:cNvPr name="TextBox 36" id="36"/>
          <p:cNvSpPr txBox="true"/>
          <p:nvPr/>
        </p:nvSpPr>
        <p:spPr>
          <a:xfrm rot="0">
            <a:off x="7063740" y="5215128"/>
            <a:ext cx="3360420" cy="1066800"/>
          </a:xfrm>
          <a:prstGeom prst="rect">
            <a:avLst/>
          </a:prstGeom>
        </p:spPr>
        <p:txBody>
          <a:bodyPr anchor="t" rtlCol="false" tIns="0" lIns="0" bIns="0" rIns="0">
            <a:spAutoFit/>
          </a:bodyPr>
          <a:lstStyle/>
          <a:p>
            <a:pPr algn="ctr">
              <a:lnSpc>
                <a:spcPts val="6120"/>
              </a:lnSpc>
            </a:pPr>
            <a:r>
              <a:rPr lang="en-US" sz="5100" b="true">
                <a:solidFill>
                  <a:srgbClr val="E8A33D"/>
                </a:solidFill>
                <a:latin typeface="Cambria Bold"/>
                <a:ea typeface="Cambria Bold"/>
                <a:cs typeface="Cambria Bold"/>
                <a:sym typeface="Cambria Bold"/>
              </a:rPr>
              <a:t>49,25</a:t>
            </a:r>
          </a:p>
        </p:txBody>
      </p:sp>
      <p:sp>
        <p:nvSpPr>
          <p:cNvPr name="TextBox 37" id="37"/>
          <p:cNvSpPr txBox="true"/>
          <p:nvPr/>
        </p:nvSpPr>
        <p:spPr>
          <a:xfrm rot="0">
            <a:off x="7200900" y="6118860"/>
            <a:ext cx="3086100" cy="807720"/>
          </a:xfrm>
          <a:prstGeom prst="rect">
            <a:avLst/>
          </a:prstGeom>
        </p:spPr>
        <p:txBody>
          <a:bodyPr anchor="t" rtlCol="false" tIns="0" lIns="0" bIns="0" rIns="0">
            <a:spAutoFit/>
          </a:bodyPr>
          <a:lstStyle/>
          <a:p>
            <a:pPr algn="ctr">
              <a:lnSpc>
                <a:spcPts val="2340"/>
              </a:lnSpc>
            </a:pPr>
            <a:r>
              <a:rPr lang="en-US" sz="1950">
                <a:solidFill>
                  <a:srgbClr val="243044"/>
                </a:solidFill>
                <a:latin typeface="Calibri (MS)"/>
                <a:ea typeface="Calibri (MS)"/>
                <a:cs typeface="Calibri (MS)"/>
                <a:sym typeface="Calibri (MS)"/>
              </a:rPr>
              <a:t>B3 (đề xuất)</a:t>
            </a:r>
          </a:p>
        </p:txBody>
      </p:sp>
      <p:sp>
        <p:nvSpPr>
          <p:cNvPr name="TextBox 38" id="38"/>
          <p:cNvSpPr txBox="true"/>
          <p:nvPr/>
        </p:nvSpPr>
        <p:spPr>
          <a:xfrm rot="0">
            <a:off x="3497580" y="6982968"/>
            <a:ext cx="6926580" cy="632460"/>
          </a:xfrm>
          <a:prstGeom prst="rect">
            <a:avLst/>
          </a:prstGeom>
        </p:spPr>
        <p:txBody>
          <a:bodyPr anchor="t" rtlCol="false" tIns="0" lIns="0" bIns="0" rIns="0">
            <a:spAutoFit/>
          </a:bodyPr>
          <a:lstStyle/>
          <a:p>
            <a:pPr algn="ctr">
              <a:lnSpc>
                <a:spcPts val="2160"/>
              </a:lnSpc>
            </a:pPr>
            <a:r>
              <a:rPr lang="en-US" sz="1800">
                <a:solidFill>
                  <a:srgbClr val="6B7280"/>
                </a:solidFill>
                <a:latin typeface="Calibri (MS)"/>
                <a:ea typeface="Calibri (MS)"/>
                <a:cs typeface="Calibri (MS)"/>
                <a:sym typeface="Calibri (MS)"/>
              </a:rPr>
              <a:t>EM (%), ViTextVQA tập con test (2.000 câu), seed 42</a:t>
            </a:r>
          </a:p>
        </p:txBody>
      </p:sp>
      <p:sp>
        <p:nvSpPr>
          <p:cNvPr name="Freeform 39" id="39"/>
          <p:cNvSpPr/>
          <p:nvPr/>
        </p:nvSpPr>
        <p:spPr>
          <a:xfrm flipH="false" flipV="false" rot="0">
            <a:off x="11024711" y="2040731"/>
            <a:ext cx="6456521" cy="3188017"/>
          </a:xfrm>
          <a:custGeom>
            <a:avLst/>
            <a:gdLst/>
            <a:ahLst/>
            <a:cxnLst/>
            <a:rect r="r" b="b" t="t" l="l"/>
            <a:pathLst>
              <a:path h="3188017" w="6456521">
                <a:moveTo>
                  <a:pt x="0" y="0"/>
                </a:moveTo>
                <a:lnTo>
                  <a:pt x="6456521" y="0"/>
                </a:lnTo>
                <a:lnTo>
                  <a:pt x="6456521" y="3188018"/>
                </a:lnTo>
                <a:lnTo>
                  <a:pt x="0" y="3188018"/>
                </a:lnTo>
                <a:lnTo>
                  <a:pt x="0" y="0"/>
                </a:lnTo>
                <a:close/>
              </a:path>
            </a:pathLst>
          </a:custGeom>
          <a:blipFill>
            <a:blip r:embed="rId10">
              <a:extLst>
                <a:ext uri="{96DAC541-7B7A-43D3-8B79-37D633B846F1}">
                  <asvg:svgBlip xmlns:asvg="http://schemas.microsoft.com/office/drawing/2016/SVG/main" r:embed="rId11"/>
                </a:ext>
              </a:extLst>
            </a:blip>
            <a:stretch>
              <a:fillRect l="0" t="-33" r="0" b="-33"/>
            </a:stretch>
          </a:blipFill>
        </p:spPr>
        <p:txBody>
          <a:bodyPr/>
          <a:p/>
        </p:txBody>
      </p:sp>
      <p:sp>
        <p:nvSpPr>
          <p:cNvPr name="TextBox 40" id="40"/>
          <p:cNvSpPr txBox="true"/>
          <p:nvPr/>
        </p:nvSpPr>
        <p:spPr>
          <a:xfrm rot="0">
            <a:off x="11384280" y="2069592"/>
            <a:ext cx="5737403"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Kiểm định ghép cặp (McNemar, EM)</a:t>
            </a:r>
          </a:p>
        </p:txBody>
      </p:sp>
      <p:sp>
        <p:nvSpPr>
          <p:cNvPr name="TextBox 41" id="41"/>
          <p:cNvSpPr txBox="true"/>
          <p:nvPr/>
        </p:nvSpPr>
        <p:spPr>
          <a:xfrm rot="0">
            <a:off x="11384280" y="2621280"/>
            <a:ext cx="5737403" cy="2522220"/>
          </a:xfrm>
          <a:prstGeom prst="rect">
            <a:avLst/>
          </a:prstGeom>
        </p:spPr>
        <p:txBody>
          <a:bodyPr anchor="t" rtlCol="false" tIns="0" lIns="0" bIns="0" rIns="0">
            <a:spAutoFit/>
          </a:bodyPr>
          <a:lstStyle/>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Chỉ OCR lúc test: −0,65 (p = 0,49)</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Chỉ OCR lúc train: −0,55 (p = 0,35)</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Cả train lẫn test: +4,35 (p = 2 × 10⁻⁸)</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Bỏ OCR khỏi B3: −4,25 (p = 4 × 10⁻⁹)</a:t>
            </a:r>
          </a:p>
        </p:txBody>
      </p:sp>
      <p:sp>
        <p:nvSpPr>
          <p:cNvPr name="Freeform 42" id="42"/>
          <p:cNvSpPr/>
          <p:nvPr/>
        </p:nvSpPr>
        <p:spPr>
          <a:xfrm flipH="false" flipV="false" rot="0">
            <a:off x="11024711" y="5469731"/>
            <a:ext cx="6456521" cy="1953578"/>
          </a:xfrm>
          <a:custGeom>
            <a:avLst/>
            <a:gdLst/>
            <a:ahLst/>
            <a:cxnLst/>
            <a:rect r="r" b="b" t="t" l="l"/>
            <a:pathLst>
              <a:path h="1953578" w="6456521">
                <a:moveTo>
                  <a:pt x="0" y="0"/>
                </a:moveTo>
                <a:lnTo>
                  <a:pt x="6456521" y="0"/>
                </a:lnTo>
                <a:lnTo>
                  <a:pt x="6456521" y="1953578"/>
                </a:lnTo>
                <a:lnTo>
                  <a:pt x="0" y="1953578"/>
                </a:lnTo>
                <a:lnTo>
                  <a:pt x="0" y="0"/>
                </a:lnTo>
                <a:close/>
              </a:path>
            </a:pathLst>
          </a:custGeom>
          <a:blipFill>
            <a:blip r:embed="rId12">
              <a:extLst>
                <a:ext uri="{96DAC541-7B7A-43D3-8B79-37D633B846F1}">
                  <asvg:svgBlip xmlns:asvg="http://schemas.microsoft.com/office/drawing/2016/SVG/main" r:embed="rId13"/>
                </a:ext>
              </a:extLst>
            </a:blip>
            <a:stretch>
              <a:fillRect l="0" t="-208" r="0" b="-208"/>
            </a:stretch>
          </a:blipFill>
        </p:spPr>
        <p:txBody>
          <a:bodyPr/>
          <a:p/>
        </p:txBody>
      </p:sp>
      <p:grpSp>
        <p:nvGrpSpPr>
          <p:cNvPr name="Group 43" id="43"/>
          <p:cNvGrpSpPr/>
          <p:nvPr/>
        </p:nvGrpSpPr>
        <p:grpSpPr>
          <a:xfrm rot="0">
            <a:off x="11384280" y="5486400"/>
            <a:ext cx="5737384" cy="1920240"/>
            <a:chOff x="0" y="0"/>
            <a:chExt cx="7649845" cy="2560320"/>
          </a:xfrm>
        </p:grpSpPr>
        <p:sp>
          <p:nvSpPr>
            <p:cNvPr name="Freeform 44" id="44"/>
            <p:cNvSpPr/>
            <p:nvPr/>
          </p:nvSpPr>
          <p:spPr>
            <a:xfrm flipH="false" flipV="false" rot="0">
              <a:off x="0" y="0"/>
              <a:ext cx="7649845" cy="2560320"/>
            </a:xfrm>
            <a:custGeom>
              <a:avLst/>
              <a:gdLst/>
              <a:ahLst/>
              <a:cxnLst/>
              <a:rect r="r" b="b" t="t" l="l"/>
              <a:pathLst>
                <a:path h="2560320" w="7649845">
                  <a:moveTo>
                    <a:pt x="0" y="0"/>
                  </a:moveTo>
                  <a:lnTo>
                    <a:pt x="7649845" y="0"/>
                  </a:lnTo>
                  <a:lnTo>
                    <a:pt x="7649845" y="2560320"/>
                  </a:lnTo>
                  <a:lnTo>
                    <a:pt x="0" y="2560320"/>
                  </a:lnTo>
                  <a:close/>
                </a:path>
              </a:pathLst>
            </a:custGeom>
            <a:blipFill>
              <a:blip r:embed="rId2">
                <a:alphaModFix amt="0"/>
              </a:blip>
              <a:stretch>
                <a:fillRect l="0" t="-8178" r="0" b="-8177"/>
              </a:stretch>
            </a:blipFill>
          </p:spPr>
          <p:txBody>
            <a:bodyPr/>
            <a:p/>
          </p:txBody>
        </p:sp>
      </p:grpSp>
      <p:grpSp>
        <p:nvGrpSpPr>
          <p:cNvPr name="Group 45" id="45"/>
          <p:cNvGrpSpPr/>
          <p:nvPr/>
        </p:nvGrpSpPr>
        <p:grpSpPr>
          <a:xfrm rot="0">
            <a:off x="11384280" y="5443538"/>
            <a:ext cx="5737384" cy="1963102"/>
            <a:chOff x="0" y="0"/>
            <a:chExt cx="7649845" cy="2617470"/>
          </a:xfrm>
        </p:grpSpPr>
        <p:sp>
          <p:nvSpPr>
            <p:cNvPr name="Freeform 46" id="46"/>
            <p:cNvSpPr/>
            <p:nvPr/>
          </p:nvSpPr>
          <p:spPr>
            <a:xfrm flipH="false" flipV="false" rot="0">
              <a:off x="0" y="0"/>
              <a:ext cx="7649845" cy="2617470"/>
            </a:xfrm>
            <a:custGeom>
              <a:avLst/>
              <a:gdLst/>
              <a:ahLst/>
              <a:cxnLst/>
              <a:rect r="r" b="b" t="t" l="l"/>
              <a:pathLst>
                <a:path h="2617470" w="7649845">
                  <a:moveTo>
                    <a:pt x="0" y="0"/>
                  </a:moveTo>
                  <a:lnTo>
                    <a:pt x="7649845" y="0"/>
                  </a:lnTo>
                  <a:lnTo>
                    <a:pt x="7649845" y="2617470"/>
                  </a:lnTo>
                  <a:lnTo>
                    <a:pt x="0" y="2617470"/>
                  </a:lnTo>
                  <a:close/>
                </a:path>
              </a:pathLst>
            </a:custGeom>
            <a:blipFill>
              <a:blip r:embed="rId3">
                <a:alphaModFix amt="0"/>
              </a:blip>
              <a:stretch>
                <a:fillRect l="0" t="-6907" r="0" b="-6907"/>
              </a:stretch>
            </a:blipFill>
          </p:spPr>
          <p:txBody>
            <a:bodyPr/>
            <a:p/>
          </p:txBody>
        </p:sp>
      </p:grpSp>
      <p:grpSp>
        <p:nvGrpSpPr>
          <p:cNvPr name="Group 47" id="47"/>
          <p:cNvGrpSpPr/>
          <p:nvPr/>
        </p:nvGrpSpPr>
        <p:grpSpPr>
          <a:xfrm rot="0">
            <a:off x="11384280" y="5400675"/>
            <a:ext cx="5737403" cy="2005965"/>
            <a:chOff x="0" y="0"/>
            <a:chExt cx="7649870" cy="2674620"/>
          </a:xfrm>
        </p:grpSpPr>
        <p:sp>
          <p:nvSpPr>
            <p:cNvPr name="Freeform 48" id="48"/>
            <p:cNvSpPr/>
            <p:nvPr/>
          </p:nvSpPr>
          <p:spPr>
            <a:xfrm flipH="false" flipV="false" rot="0">
              <a:off x="0" y="0"/>
              <a:ext cx="7649845" cy="2674620"/>
            </a:xfrm>
            <a:custGeom>
              <a:avLst/>
              <a:gdLst/>
              <a:ahLst/>
              <a:cxnLst/>
              <a:rect r="r" b="b" t="t" l="l"/>
              <a:pathLst>
                <a:path h="2674620" w="7649845">
                  <a:moveTo>
                    <a:pt x="0" y="0"/>
                  </a:moveTo>
                  <a:lnTo>
                    <a:pt x="7649845" y="0"/>
                  </a:lnTo>
                  <a:lnTo>
                    <a:pt x="7649845" y="2674620"/>
                  </a:lnTo>
                  <a:lnTo>
                    <a:pt x="0" y="2674620"/>
                  </a:lnTo>
                  <a:close/>
                </a:path>
              </a:pathLst>
            </a:custGeom>
            <a:blipFill>
              <a:blip r:embed="rId4">
                <a:alphaModFix amt="0"/>
              </a:blip>
              <a:stretch>
                <a:fillRect l="0" t="-5691" r="0" b="-5691"/>
              </a:stretch>
            </a:blipFill>
          </p:spPr>
          <p:txBody>
            <a:bodyPr/>
            <a:p/>
          </p:txBody>
        </p:sp>
      </p:grpSp>
      <p:grpSp>
        <p:nvGrpSpPr>
          <p:cNvPr name="Group 49" id="49"/>
          <p:cNvGrpSpPr/>
          <p:nvPr/>
        </p:nvGrpSpPr>
        <p:grpSpPr>
          <a:xfrm rot="0">
            <a:off x="11384280" y="5357812"/>
            <a:ext cx="5737403" cy="2048827"/>
            <a:chOff x="0" y="0"/>
            <a:chExt cx="7649870" cy="2731770"/>
          </a:xfrm>
        </p:grpSpPr>
        <p:sp>
          <p:nvSpPr>
            <p:cNvPr name="Freeform 50" id="50"/>
            <p:cNvSpPr/>
            <p:nvPr/>
          </p:nvSpPr>
          <p:spPr>
            <a:xfrm flipH="false" flipV="false" rot="0">
              <a:off x="0" y="0"/>
              <a:ext cx="7649871" cy="2731770"/>
            </a:xfrm>
            <a:custGeom>
              <a:avLst/>
              <a:gdLst/>
              <a:ahLst/>
              <a:cxnLst/>
              <a:rect r="r" b="b" t="t" l="l"/>
              <a:pathLst>
                <a:path h="2731770" w="7649871">
                  <a:moveTo>
                    <a:pt x="0" y="0"/>
                  </a:moveTo>
                  <a:lnTo>
                    <a:pt x="7649871" y="0"/>
                  </a:lnTo>
                  <a:lnTo>
                    <a:pt x="7649871" y="2731770"/>
                  </a:lnTo>
                  <a:lnTo>
                    <a:pt x="0" y="2731770"/>
                  </a:lnTo>
                  <a:close/>
                </a:path>
              </a:pathLst>
            </a:custGeom>
            <a:blipFill>
              <a:blip r:embed="rId5">
                <a:alphaModFix amt="0"/>
              </a:blip>
              <a:stretch>
                <a:fillRect l="0" t="-4564" r="0" b="-4564"/>
              </a:stretch>
            </a:blipFill>
          </p:spPr>
          <p:txBody>
            <a:bodyPr/>
            <a:p/>
          </p:txBody>
        </p:sp>
        <p:sp>
          <p:nvSpPr>
            <p:cNvPr name="TextBox 51" id="51"/>
            <p:cNvSpPr txBox="true"/>
            <p:nvPr/>
          </p:nvSpPr>
          <p:spPr>
            <a:xfrm>
              <a:off x="0" y="-57150"/>
              <a:ext cx="7649870" cy="2788920"/>
            </a:xfrm>
            <a:prstGeom prst="rect">
              <a:avLst/>
            </a:prstGeom>
          </p:spPr>
          <p:txBody>
            <a:bodyPr anchor="ctr" rtlCol="false" tIns="0" lIns="0" bIns="0" rIns="0"/>
            <a:lstStyle/>
            <a:p>
              <a:pPr algn="l">
                <a:lnSpc>
                  <a:spcPts val="2700"/>
                </a:lnSpc>
              </a:pPr>
              <a:r>
                <a:rPr lang="en-US" sz="2250" b="true">
                  <a:solidFill>
                    <a:srgbClr val="13294B"/>
                  </a:solidFill>
                  <a:latin typeface="Calibri (MS) Bold"/>
                  <a:ea typeface="Calibri (MS) Bold"/>
                  <a:cs typeface="Calibri (MS) Bold"/>
                  <a:sym typeface="Calibri (MS) Bold"/>
                </a:rPr>
                <a:t>Tương tác +4,9 EM </a:t>
              </a:r>
              <a:r>
                <a:rPr lang="en-US" sz="2250">
                  <a:solidFill>
                    <a:srgbClr val="243044"/>
                  </a:solidFill>
                  <a:latin typeface="Calibri (MS)"/>
                  <a:ea typeface="Calibri (MS)"/>
                  <a:cs typeface="Calibri (MS)"/>
                  <a:sym typeface="Calibri (MS)"/>
                </a:rPr>
                <a:t>(CI95 +3,2 đến +6,6) → cần OCR ở cả train lẫn test</a:t>
              </a:r>
            </a:p>
          </p:txBody>
        </p:sp>
      </p:grpSp>
      <p:sp>
        <p:nvSpPr>
          <p:cNvPr name="Freeform 52" id="52"/>
          <p:cNvSpPr/>
          <p:nvPr/>
        </p:nvSpPr>
        <p:spPr>
          <a:xfrm flipH="false" flipV="false" rot="0">
            <a:off x="806291" y="8007191"/>
            <a:ext cx="16674941" cy="1404938"/>
          </a:xfrm>
          <a:custGeom>
            <a:avLst/>
            <a:gdLst/>
            <a:ahLst/>
            <a:cxnLst/>
            <a:rect r="r" b="b" t="t" l="l"/>
            <a:pathLst>
              <a:path h="1404938" w="16674941">
                <a:moveTo>
                  <a:pt x="0" y="0"/>
                </a:moveTo>
                <a:lnTo>
                  <a:pt x="16674941" y="0"/>
                </a:lnTo>
                <a:lnTo>
                  <a:pt x="16674941" y="1404938"/>
                </a:lnTo>
                <a:lnTo>
                  <a:pt x="0" y="1404938"/>
                </a:lnTo>
                <a:lnTo>
                  <a:pt x="0" y="0"/>
                </a:lnTo>
                <a:close/>
              </a:path>
            </a:pathLst>
          </a:custGeom>
          <a:blipFill>
            <a:blip r:embed="rId14">
              <a:extLst>
                <a:ext uri="{96DAC541-7B7A-43D3-8B79-37D633B846F1}">
                  <asvg:svgBlip xmlns:asvg="http://schemas.microsoft.com/office/drawing/2016/SVG/main" r:embed="rId15"/>
                </a:ext>
              </a:extLst>
            </a:blip>
            <a:stretch>
              <a:fillRect l="0" t="-159" r="0" b="-159"/>
            </a:stretch>
          </a:blipFill>
        </p:spPr>
        <p:txBody>
          <a:bodyPr/>
          <a:p/>
        </p:txBody>
      </p:sp>
      <p:grpSp>
        <p:nvGrpSpPr>
          <p:cNvPr name="Group 53" id="53"/>
          <p:cNvGrpSpPr/>
          <p:nvPr/>
        </p:nvGrpSpPr>
        <p:grpSpPr>
          <a:xfrm rot="0">
            <a:off x="1234440" y="8023860"/>
            <a:ext cx="15818644" cy="1371600"/>
            <a:chOff x="0" y="0"/>
            <a:chExt cx="21091525" cy="1828800"/>
          </a:xfrm>
        </p:grpSpPr>
        <p:sp>
          <p:nvSpPr>
            <p:cNvPr name="Freeform 54" id="54"/>
            <p:cNvSpPr/>
            <p:nvPr/>
          </p:nvSpPr>
          <p:spPr>
            <a:xfrm flipH="false" flipV="false" rot="0">
              <a:off x="0" y="0"/>
              <a:ext cx="21091525" cy="1828800"/>
            </a:xfrm>
            <a:custGeom>
              <a:avLst/>
              <a:gdLst/>
              <a:ahLst/>
              <a:cxnLst/>
              <a:rect r="r" b="b" t="t" l="l"/>
              <a:pathLst>
                <a:path h="1828800" w="21091525">
                  <a:moveTo>
                    <a:pt x="0" y="0"/>
                  </a:moveTo>
                  <a:lnTo>
                    <a:pt x="21091525" y="0"/>
                  </a:lnTo>
                  <a:lnTo>
                    <a:pt x="21091525" y="1828800"/>
                  </a:lnTo>
                  <a:lnTo>
                    <a:pt x="0" y="1828800"/>
                  </a:lnTo>
                  <a:close/>
                </a:path>
              </a:pathLst>
            </a:custGeom>
            <a:blipFill>
              <a:blip r:embed="rId2">
                <a:alphaModFix amt="0"/>
              </a:blip>
              <a:stretch>
                <a:fillRect l="0" t="-174564" r="0" b="-174563"/>
              </a:stretch>
            </a:blipFill>
          </p:spPr>
          <p:txBody>
            <a:bodyPr/>
            <a:p/>
          </p:txBody>
        </p:sp>
      </p:grpSp>
      <p:grpSp>
        <p:nvGrpSpPr>
          <p:cNvPr name="Group 55" id="55"/>
          <p:cNvGrpSpPr/>
          <p:nvPr/>
        </p:nvGrpSpPr>
        <p:grpSpPr>
          <a:xfrm rot="0">
            <a:off x="1234440" y="7980997"/>
            <a:ext cx="15818644" cy="1414462"/>
            <a:chOff x="0" y="0"/>
            <a:chExt cx="21091525" cy="1885950"/>
          </a:xfrm>
        </p:grpSpPr>
        <p:sp>
          <p:nvSpPr>
            <p:cNvPr name="Freeform 56" id="56"/>
            <p:cNvSpPr/>
            <p:nvPr/>
          </p:nvSpPr>
          <p:spPr>
            <a:xfrm flipH="false" flipV="false" rot="0">
              <a:off x="0" y="0"/>
              <a:ext cx="21091525" cy="1885950"/>
            </a:xfrm>
            <a:custGeom>
              <a:avLst/>
              <a:gdLst/>
              <a:ahLst/>
              <a:cxnLst/>
              <a:rect r="r" b="b" t="t" l="l"/>
              <a:pathLst>
                <a:path h="1885950" w="21091525">
                  <a:moveTo>
                    <a:pt x="0" y="0"/>
                  </a:moveTo>
                  <a:lnTo>
                    <a:pt x="21091525" y="0"/>
                  </a:lnTo>
                  <a:lnTo>
                    <a:pt x="21091525" y="1885950"/>
                  </a:lnTo>
                  <a:lnTo>
                    <a:pt x="0" y="1885950"/>
                  </a:lnTo>
                  <a:close/>
                </a:path>
              </a:pathLst>
            </a:custGeom>
            <a:blipFill>
              <a:blip r:embed="rId3">
                <a:alphaModFix amt="0"/>
              </a:blip>
              <a:stretch>
                <a:fillRect l="0" t="-167759" r="0" b="-167759"/>
              </a:stretch>
            </a:blipFill>
          </p:spPr>
          <p:txBody>
            <a:bodyPr/>
            <a:p/>
          </p:txBody>
        </p:sp>
      </p:grpSp>
      <p:grpSp>
        <p:nvGrpSpPr>
          <p:cNvPr name="Group 57" id="57"/>
          <p:cNvGrpSpPr/>
          <p:nvPr/>
        </p:nvGrpSpPr>
        <p:grpSpPr>
          <a:xfrm rot="0">
            <a:off x="1234440" y="7938135"/>
            <a:ext cx="15818663" cy="1457325"/>
            <a:chOff x="0" y="0"/>
            <a:chExt cx="21091550" cy="1943100"/>
          </a:xfrm>
        </p:grpSpPr>
        <p:sp>
          <p:nvSpPr>
            <p:cNvPr name="Freeform 58" id="58"/>
            <p:cNvSpPr/>
            <p:nvPr/>
          </p:nvSpPr>
          <p:spPr>
            <a:xfrm flipH="false" flipV="false" rot="0">
              <a:off x="0" y="0"/>
              <a:ext cx="21091525" cy="1943100"/>
            </a:xfrm>
            <a:custGeom>
              <a:avLst/>
              <a:gdLst/>
              <a:ahLst/>
              <a:cxnLst/>
              <a:rect r="r" b="b" t="t" l="l"/>
              <a:pathLst>
                <a:path h="1943100" w="21091525">
                  <a:moveTo>
                    <a:pt x="0" y="0"/>
                  </a:moveTo>
                  <a:lnTo>
                    <a:pt x="21091525" y="0"/>
                  </a:lnTo>
                  <a:lnTo>
                    <a:pt x="21091525" y="1943100"/>
                  </a:lnTo>
                  <a:lnTo>
                    <a:pt x="0" y="1943100"/>
                  </a:lnTo>
                  <a:close/>
                </a:path>
              </a:pathLst>
            </a:custGeom>
            <a:blipFill>
              <a:blip r:embed="rId4">
                <a:alphaModFix amt="0"/>
              </a:blip>
              <a:stretch>
                <a:fillRect l="0" t="-161354" r="0" b="-161354"/>
              </a:stretch>
            </a:blipFill>
          </p:spPr>
          <p:txBody>
            <a:bodyPr/>
            <a:p/>
          </p:txBody>
        </p:sp>
      </p:grpSp>
      <p:grpSp>
        <p:nvGrpSpPr>
          <p:cNvPr name="Group 59" id="59"/>
          <p:cNvGrpSpPr/>
          <p:nvPr/>
        </p:nvGrpSpPr>
        <p:grpSpPr>
          <a:xfrm rot="0">
            <a:off x="1234440" y="7895272"/>
            <a:ext cx="15818663" cy="1500188"/>
            <a:chOff x="0" y="0"/>
            <a:chExt cx="21091550" cy="2000250"/>
          </a:xfrm>
        </p:grpSpPr>
        <p:sp>
          <p:nvSpPr>
            <p:cNvPr name="Freeform 60" id="60"/>
            <p:cNvSpPr/>
            <p:nvPr/>
          </p:nvSpPr>
          <p:spPr>
            <a:xfrm flipH="false" flipV="false" rot="0">
              <a:off x="0" y="0"/>
              <a:ext cx="21091551" cy="2000250"/>
            </a:xfrm>
            <a:custGeom>
              <a:avLst/>
              <a:gdLst/>
              <a:ahLst/>
              <a:cxnLst/>
              <a:rect r="r" b="b" t="t" l="l"/>
              <a:pathLst>
                <a:path h="2000250" w="21091551">
                  <a:moveTo>
                    <a:pt x="0" y="0"/>
                  </a:moveTo>
                  <a:lnTo>
                    <a:pt x="21091551" y="0"/>
                  </a:lnTo>
                  <a:lnTo>
                    <a:pt x="21091551" y="2000250"/>
                  </a:lnTo>
                  <a:lnTo>
                    <a:pt x="0" y="2000250"/>
                  </a:lnTo>
                  <a:close/>
                </a:path>
              </a:pathLst>
            </a:custGeom>
            <a:blipFill>
              <a:blip r:embed="rId5">
                <a:alphaModFix amt="0"/>
              </a:blip>
              <a:stretch>
                <a:fillRect l="0" t="-155459" r="0" b="-155459"/>
              </a:stretch>
            </a:blipFill>
          </p:spPr>
          <p:txBody>
            <a:bodyPr/>
            <a:p/>
          </p:txBody>
        </p:sp>
        <p:sp>
          <p:nvSpPr>
            <p:cNvPr name="TextBox 61" id="61"/>
            <p:cNvSpPr txBox="true"/>
            <p:nvPr/>
          </p:nvSpPr>
          <p:spPr>
            <a:xfrm>
              <a:off x="0" y="-57150"/>
              <a:ext cx="21091550" cy="2057400"/>
            </a:xfrm>
            <a:prstGeom prst="rect">
              <a:avLst/>
            </a:prstGeom>
          </p:spPr>
          <p:txBody>
            <a:bodyPr anchor="ctr" rtlCol="false" tIns="0" lIns="0" bIns="0" rIns="0"/>
            <a:lstStyle/>
            <a:p>
              <a:pPr algn="l">
                <a:lnSpc>
                  <a:spcPts val="2700"/>
                </a:lnSpc>
              </a:pPr>
              <a:r>
                <a:rPr lang="en-US" sz="2250" b="true">
                  <a:solidFill>
                    <a:srgbClr val="13294B"/>
                  </a:solidFill>
                  <a:latin typeface="Calibri (MS) Bold"/>
                  <a:ea typeface="Calibri (MS) Bold"/>
                  <a:cs typeface="Calibri (MS) Bold"/>
                  <a:sym typeface="Calibri (MS) Bold"/>
                </a:rPr>
                <a:t>Kết luận  </a:t>
              </a:r>
              <a:r>
                <a:rPr lang="en-US" sz="2250">
                  <a:solidFill>
                    <a:srgbClr val="243044"/>
                  </a:solidFill>
                  <a:latin typeface="Calibri (MS)"/>
                  <a:ea typeface="Calibri (MS)"/>
                  <a:cs typeface="Calibri (MS)"/>
                  <a:sym typeface="Calibri (MS)"/>
                </a:rPr>
                <a:t>đóng góp không phải “thêm OCR vào prompt” — mà là dùng QLoRA dạy model khi nào tin OCR, khi nào tin ảnh.</a:t>
              </a:r>
            </a:p>
          </p:txBody>
        </p:sp>
      </p:grpSp>
      <p:grpSp>
        <p:nvGrpSpPr>
          <p:cNvPr name="Group 62" id="62"/>
          <p:cNvGrpSpPr/>
          <p:nvPr/>
        </p:nvGrpSpPr>
        <p:grpSpPr>
          <a:xfrm rot="0">
            <a:off x="15458732" y="0"/>
            <a:ext cx="2829306" cy="1184338"/>
            <a:chOff x="0" y="0"/>
            <a:chExt cx="3772408" cy="1579118"/>
          </a:xfrm>
        </p:grpSpPr>
        <p:sp>
          <p:nvSpPr>
            <p:cNvPr name="Freeform 63" id="63"/>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16"/>
              <a:stretch>
                <a:fillRect l="0" t="0" r="0" b="0"/>
              </a:stretch>
            </a:blipFill>
          </p:spPr>
          <p:txBody>
            <a:bodyPr/>
            <a:p/>
          </p:txBody>
        </p:sp>
      </p:grpSp>
      <p:grpSp>
        <p:nvGrpSpPr>
          <p:cNvPr name="Group 64" id="64"/>
          <p:cNvGrpSpPr/>
          <p:nvPr/>
        </p:nvGrpSpPr>
        <p:grpSpPr>
          <a:xfrm rot="0">
            <a:off x="822960" y="9641205"/>
            <a:ext cx="13716000" cy="440055"/>
            <a:chOff x="0" y="0"/>
            <a:chExt cx="18288000" cy="586740"/>
          </a:xfrm>
        </p:grpSpPr>
        <p:sp>
          <p:nvSpPr>
            <p:cNvPr name="Freeform 65" id="65"/>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3">
                <a:alphaModFix amt="0"/>
              </a:blip>
              <a:stretch>
                <a:fillRect l="0" t="-556902" r="0" b="-556904"/>
              </a:stretch>
            </a:blipFill>
          </p:spPr>
          <p:txBody>
            <a:bodyPr/>
            <a:p/>
          </p:txBody>
        </p:sp>
      </p:grpSp>
      <p:grpSp>
        <p:nvGrpSpPr>
          <p:cNvPr name="Group 66" id="66"/>
          <p:cNvGrpSpPr/>
          <p:nvPr/>
        </p:nvGrpSpPr>
        <p:grpSpPr>
          <a:xfrm rot="0">
            <a:off x="822960" y="9612630"/>
            <a:ext cx="13716000" cy="468630"/>
            <a:chOff x="0" y="0"/>
            <a:chExt cx="18288000" cy="624840"/>
          </a:xfrm>
        </p:grpSpPr>
        <p:sp>
          <p:nvSpPr>
            <p:cNvPr name="Freeform 67" id="67"/>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4">
                <a:alphaModFix amt="0"/>
              </a:blip>
              <a:stretch>
                <a:fillRect l="0" t="-519896" r="0" b="-519898"/>
              </a:stretch>
            </a:blipFill>
          </p:spPr>
          <p:txBody>
            <a:bodyPr/>
            <a:p/>
          </p:txBody>
        </p:sp>
      </p:grpSp>
      <p:grpSp>
        <p:nvGrpSpPr>
          <p:cNvPr name="Group 68" id="68"/>
          <p:cNvGrpSpPr/>
          <p:nvPr/>
        </p:nvGrpSpPr>
        <p:grpSpPr>
          <a:xfrm rot="0">
            <a:off x="822960" y="9584055"/>
            <a:ext cx="13716000" cy="497205"/>
            <a:chOff x="0" y="0"/>
            <a:chExt cx="18288000" cy="662940"/>
          </a:xfrm>
        </p:grpSpPr>
        <p:sp>
          <p:nvSpPr>
            <p:cNvPr name="Freeform 69" id="69"/>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5">
                <a:alphaModFix amt="0"/>
              </a:blip>
              <a:stretch>
                <a:fillRect l="0" t="-487518" r="0" b="-487518"/>
              </a:stretch>
            </a:blipFill>
          </p:spPr>
          <p:txBody>
            <a:bodyPr/>
            <a:p/>
          </p:txBody>
        </p:sp>
        <p:sp>
          <p:nvSpPr>
            <p:cNvPr name="TextBox 70" id="70"/>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
        <p:nvSpPr>
          <p:cNvPr name="TextBox 71" id="71"/>
          <p:cNvSpPr txBox="true"/>
          <p:nvPr/>
        </p:nvSpPr>
        <p:spPr>
          <a:xfrm rot="0">
            <a:off x="1234440" y="7402830"/>
            <a:ext cx="10058400" cy="506730"/>
          </a:xfrm>
          <a:prstGeom prst="rect">
            <a:avLst/>
          </a:prstGeom>
        </p:spPr>
        <p:txBody>
          <a:bodyPr anchor="t" rtlCol="false" tIns="0" lIns="0" bIns="0" rIns="0">
            <a:spAutoFit/>
          </a:bodyPr>
          <a:lstStyle/>
          <a:p>
            <a:pPr algn="l">
              <a:lnSpc>
                <a:spcPts val="2160"/>
              </a:lnSpc>
            </a:pPr>
            <a:r>
              <a:rPr lang="en-US" sz="1700" b="true">
                <a:solidFill>
                  <a:srgbClr val="1C7293"/>
                </a:solidFill>
                <a:latin typeface="Calibri (MS) Bold"/>
                <a:ea typeface="Calibri (MS) Bold"/>
                <a:cs typeface="Calibri (MS) Bold"/>
                <a:sym typeface="Calibri (MS) Bold"/>
              </a:rPr>
              <a:t>Lặp lại 3 seed (42/43/44): </a:t>
            </a:r>
            <a:r>
              <a:rPr lang="en-US" sz="1700">
                <a:solidFill>
                  <a:srgbClr val="1C7293"/>
                </a:solidFill>
                <a:latin typeface="Calibri (MS)"/>
                <a:ea typeface="Calibri (MS)"/>
                <a:cs typeface="Calibri (MS)"/>
                <a:sym typeface="Calibri (MS)"/>
              </a:rPr>
              <a:t>+3,57 ± 0,76 EM, cả 3 seed p ≤ 1,4×10⁻⁴ (phụ lục P4)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METHODOLOGY · 06 · B3 TRÊN TOÀN BỘ DỮ LIỆU (B3-full)</a:t>
            </a:r>
          </a:p>
        </p:txBody>
      </p:sp>
      <p:grpSp>
        <p:nvGrpSpPr>
          <p:cNvPr name="Group 5" id="5"/>
          <p:cNvGrpSpPr/>
          <p:nvPr/>
        </p:nvGrpSpPr>
        <p:grpSpPr>
          <a:xfrm rot="0">
            <a:off x="15458732" y="0"/>
            <a:ext cx="2829306" cy="1184338"/>
            <a:chOff x="0" y="0"/>
            <a:chExt cx="3772408" cy="1579118"/>
          </a:xfrm>
        </p:grpSpPr>
        <p:sp>
          <p:nvSpPr>
            <p:cNvPr name="Freeform 6" id="6"/>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3"/>
              <a:stretch>
                <a:fillRect l="0" t="0" r="0" b="0"/>
              </a:stretch>
            </a:blipFill>
          </p:spPr>
          <p:txBody>
            <a:bodyPr/>
            <a:p/>
          </p:txBody>
        </p:sp>
      </p:grpSp>
      <p:sp>
        <p:nvSpPr>
          <p:cNvPr name="TextBox 7" id="7"/>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Đủ dữ liệu: QLoRA nhận biết OCR vượt QLoRA thường</a:t>
            </a:r>
          </a:p>
        </p:txBody>
      </p:sp>
      <p:sp>
        <p:nvSpPr>
          <p:cNvPr name="TextBox 8" id="8"/>
          <p:cNvSpPr txBox="true"/>
          <p:nvPr/>
        </p:nvSpPr>
        <p:spPr>
          <a:xfrm rot="0">
            <a:off x="3497580" y="1866900"/>
            <a:ext cx="3360420" cy="739140"/>
          </a:xfrm>
          <a:prstGeom prst="rect">
            <a:avLst/>
          </a:prstGeom>
        </p:spPr>
        <p:txBody>
          <a:bodyPr anchor="t" rtlCol="false" tIns="0" lIns="0" bIns="0" rIns="0">
            <a:spAutoFit/>
          </a:bodyPr>
          <a:lstStyle/>
          <a:p>
            <a:pPr algn="ctr">
              <a:lnSpc>
                <a:spcPts val="2520"/>
              </a:lnSpc>
            </a:pPr>
            <a:r>
              <a:rPr lang="en-US" sz="2100" b="true">
                <a:solidFill>
                  <a:srgbClr val="13294B"/>
                </a:solidFill>
                <a:latin typeface="Calibri (MS) Bold"/>
                <a:ea typeface="Calibri (MS) Bold"/>
                <a:cs typeface="Calibri (MS) Bold"/>
                <a:sym typeface="Calibri (MS) Bold"/>
              </a:rPr>
              <a:t>Không OCR</a:t>
            </a:r>
          </a:p>
        </p:txBody>
      </p:sp>
      <p:sp>
        <p:nvSpPr>
          <p:cNvPr name="TextBox 9" id="9"/>
          <p:cNvSpPr txBox="true"/>
          <p:nvPr/>
        </p:nvSpPr>
        <p:spPr>
          <a:xfrm rot="0">
            <a:off x="7063740" y="1866900"/>
            <a:ext cx="3360420" cy="739140"/>
          </a:xfrm>
          <a:prstGeom prst="rect">
            <a:avLst/>
          </a:prstGeom>
        </p:spPr>
        <p:txBody>
          <a:bodyPr anchor="t" rtlCol="false" tIns="0" lIns="0" bIns="0" rIns="0">
            <a:spAutoFit/>
          </a:bodyPr>
          <a:lstStyle/>
          <a:p>
            <a:pPr algn="ctr">
              <a:lnSpc>
                <a:spcPts val="2520"/>
              </a:lnSpc>
            </a:pPr>
            <a:r>
              <a:rPr lang="en-US" sz="2100" b="true">
                <a:solidFill>
                  <a:srgbClr val="13294B"/>
                </a:solidFill>
                <a:latin typeface="Calibri (MS) Bold"/>
                <a:ea typeface="Calibri (MS) Bold"/>
                <a:cs typeface="Calibri (MS) Bold"/>
                <a:sym typeface="Calibri (MS) Bold"/>
              </a:rPr>
              <a:t>Có OCR</a:t>
            </a:r>
          </a:p>
        </p:txBody>
      </p:sp>
      <p:grpSp>
        <p:nvGrpSpPr>
          <p:cNvPr name="Group 10" id="10"/>
          <p:cNvGrpSpPr/>
          <p:nvPr/>
        </p:nvGrpSpPr>
        <p:grpSpPr>
          <a:xfrm rot="0">
            <a:off x="822960" y="2674620"/>
            <a:ext cx="2537460" cy="2125980"/>
            <a:chOff x="0" y="0"/>
            <a:chExt cx="3383280" cy="2834640"/>
          </a:xfrm>
        </p:grpSpPr>
        <p:sp>
          <p:nvSpPr>
            <p:cNvPr name="Freeform 11" id="11"/>
            <p:cNvSpPr/>
            <p:nvPr/>
          </p:nvSpPr>
          <p:spPr>
            <a:xfrm flipH="false" flipV="false" rot="0">
              <a:off x="0" y="0"/>
              <a:ext cx="3383280" cy="2834640"/>
            </a:xfrm>
            <a:custGeom>
              <a:avLst/>
              <a:gdLst/>
              <a:ahLst/>
              <a:cxnLst/>
              <a:rect r="r" b="b" t="t" l="l"/>
              <a:pathLst>
                <a:path h="2834640" w="3383280">
                  <a:moveTo>
                    <a:pt x="0" y="0"/>
                  </a:moveTo>
                  <a:lnTo>
                    <a:pt x="3383280" y="0"/>
                  </a:lnTo>
                  <a:lnTo>
                    <a:pt x="3383280" y="2834640"/>
                  </a:lnTo>
                  <a:lnTo>
                    <a:pt x="0" y="2834640"/>
                  </a:lnTo>
                  <a:close/>
                </a:path>
              </a:pathLst>
            </a:custGeom>
            <a:blipFill>
              <a:blip r:embed="rId2">
                <a:alphaModFix amt="0"/>
              </a:blip>
              <a:stretch>
                <a:fillRect l="-57572" t="0" r="-57572" b="0"/>
              </a:stretch>
            </a:blipFill>
          </p:spPr>
          <p:txBody>
            <a:bodyPr/>
            <a:p/>
          </p:txBody>
        </p:sp>
      </p:grpSp>
      <p:grpSp>
        <p:nvGrpSpPr>
          <p:cNvPr name="Group 12" id="12"/>
          <p:cNvGrpSpPr/>
          <p:nvPr/>
        </p:nvGrpSpPr>
        <p:grpSpPr>
          <a:xfrm rot="0">
            <a:off x="822960" y="2638901"/>
            <a:ext cx="2537460" cy="2161699"/>
            <a:chOff x="0" y="0"/>
            <a:chExt cx="3383280" cy="2882265"/>
          </a:xfrm>
        </p:grpSpPr>
        <p:sp>
          <p:nvSpPr>
            <p:cNvPr name="Freeform 13" id="13"/>
            <p:cNvSpPr/>
            <p:nvPr/>
          </p:nvSpPr>
          <p:spPr>
            <a:xfrm flipH="false" flipV="false" rot="0">
              <a:off x="0" y="0"/>
              <a:ext cx="3383280" cy="2882265"/>
            </a:xfrm>
            <a:custGeom>
              <a:avLst/>
              <a:gdLst/>
              <a:ahLst/>
              <a:cxnLst/>
              <a:rect r="r" b="b" t="t" l="l"/>
              <a:pathLst>
                <a:path h="2882265" w="3383280">
                  <a:moveTo>
                    <a:pt x="0" y="0"/>
                  </a:moveTo>
                  <a:lnTo>
                    <a:pt x="3383280" y="0"/>
                  </a:lnTo>
                  <a:lnTo>
                    <a:pt x="3383280" y="2882265"/>
                  </a:lnTo>
                  <a:lnTo>
                    <a:pt x="0" y="2882265"/>
                  </a:lnTo>
                  <a:close/>
                </a:path>
              </a:pathLst>
            </a:custGeom>
            <a:blipFill>
              <a:blip r:embed="rId4">
                <a:alphaModFix amt="0"/>
              </a:blip>
              <a:stretch>
                <a:fillRect l="-59379" t="0" r="-59379" b="0"/>
              </a:stretch>
            </a:blipFill>
          </p:spPr>
          <p:txBody>
            <a:bodyPr/>
            <a:p/>
          </p:txBody>
        </p:sp>
      </p:grpSp>
      <p:grpSp>
        <p:nvGrpSpPr>
          <p:cNvPr name="Group 14" id="14"/>
          <p:cNvGrpSpPr/>
          <p:nvPr/>
        </p:nvGrpSpPr>
        <p:grpSpPr>
          <a:xfrm rot="0">
            <a:off x="822960" y="2603183"/>
            <a:ext cx="2537460" cy="2197417"/>
            <a:chOff x="0" y="0"/>
            <a:chExt cx="3383280" cy="2929890"/>
          </a:xfrm>
        </p:grpSpPr>
        <p:sp>
          <p:nvSpPr>
            <p:cNvPr name="Freeform 15" id="15"/>
            <p:cNvSpPr/>
            <p:nvPr/>
          </p:nvSpPr>
          <p:spPr>
            <a:xfrm flipH="false" flipV="false" rot="0">
              <a:off x="0" y="0"/>
              <a:ext cx="3383280" cy="2929890"/>
            </a:xfrm>
            <a:custGeom>
              <a:avLst/>
              <a:gdLst/>
              <a:ahLst/>
              <a:cxnLst/>
              <a:rect r="r" b="b" t="t" l="l"/>
              <a:pathLst>
                <a:path h="2929890" w="3383280">
                  <a:moveTo>
                    <a:pt x="0" y="0"/>
                  </a:moveTo>
                  <a:lnTo>
                    <a:pt x="3383280" y="0"/>
                  </a:lnTo>
                  <a:lnTo>
                    <a:pt x="3383280" y="2929890"/>
                  </a:lnTo>
                  <a:lnTo>
                    <a:pt x="0" y="2929890"/>
                  </a:lnTo>
                  <a:close/>
                </a:path>
              </a:pathLst>
            </a:custGeom>
            <a:blipFill>
              <a:blip r:embed="rId5">
                <a:alphaModFix amt="0"/>
              </a:blip>
              <a:stretch>
                <a:fillRect l="-61186" t="0" r="-61187" b="0"/>
              </a:stretch>
            </a:blipFill>
          </p:spPr>
          <p:txBody>
            <a:bodyPr/>
            <a:p/>
          </p:txBody>
        </p:sp>
      </p:grpSp>
      <p:grpSp>
        <p:nvGrpSpPr>
          <p:cNvPr name="Group 16" id="16"/>
          <p:cNvGrpSpPr/>
          <p:nvPr/>
        </p:nvGrpSpPr>
        <p:grpSpPr>
          <a:xfrm rot="0">
            <a:off x="822960" y="2567464"/>
            <a:ext cx="2537460" cy="2233136"/>
            <a:chOff x="0" y="0"/>
            <a:chExt cx="3383280" cy="2977515"/>
          </a:xfrm>
        </p:grpSpPr>
        <p:sp>
          <p:nvSpPr>
            <p:cNvPr name="Freeform 17" id="17"/>
            <p:cNvSpPr/>
            <p:nvPr/>
          </p:nvSpPr>
          <p:spPr>
            <a:xfrm flipH="false" flipV="false" rot="0">
              <a:off x="0" y="0"/>
              <a:ext cx="3383280" cy="2977514"/>
            </a:xfrm>
            <a:custGeom>
              <a:avLst/>
              <a:gdLst/>
              <a:ahLst/>
              <a:cxnLst/>
              <a:rect r="r" b="b" t="t" l="l"/>
              <a:pathLst>
                <a:path h="2977514" w="3383280">
                  <a:moveTo>
                    <a:pt x="0" y="0"/>
                  </a:moveTo>
                  <a:lnTo>
                    <a:pt x="3383280" y="0"/>
                  </a:lnTo>
                  <a:lnTo>
                    <a:pt x="3383280" y="2977514"/>
                  </a:lnTo>
                  <a:lnTo>
                    <a:pt x="0" y="2977514"/>
                  </a:lnTo>
                  <a:close/>
                </a:path>
              </a:pathLst>
            </a:custGeom>
            <a:blipFill>
              <a:blip r:embed="rId6">
                <a:alphaModFix amt="0"/>
              </a:blip>
              <a:stretch>
                <a:fillRect l="-62915" t="0" r="-62915" b="0"/>
              </a:stretch>
            </a:blipFill>
          </p:spPr>
          <p:txBody>
            <a:bodyPr/>
            <a:p/>
          </p:txBody>
        </p:sp>
        <p:sp>
          <p:nvSpPr>
            <p:cNvPr name="TextBox 18" id="18"/>
            <p:cNvSpPr txBox="true"/>
            <p:nvPr/>
          </p:nvSpPr>
          <p:spPr>
            <a:xfrm>
              <a:off x="0" y="-47625"/>
              <a:ext cx="3383280" cy="3025140"/>
            </a:xfrm>
            <a:prstGeom prst="rect">
              <a:avLst/>
            </a:prstGeom>
          </p:spPr>
          <p:txBody>
            <a:bodyPr anchor="ctr" rtlCol="false" tIns="0" lIns="0" bIns="0" rIns="0"/>
            <a:lstStyle/>
            <a:p>
              <a:pPr algn="l">
                <a:lnSpc>
                  <a:spcPts val="2520"/>
                </a:lnSpc>
              </a:pPr>
              <a:r>
                <a:rPr lang="en-US" sz="2100" b="true">
                  <a:solidFill>
                    <a:srgbClr val="13294B"/>
                  </a:solidFill>
                  <a:latin typeface="Calibri (MS) Bold"/>
                  <a:ea typeface="Calibri (MS) Bold"/>
                  <a:cs typeface="Calibri (MS) Bold"/>
                  <a:sym typeface="Calibri (MS) Bold"/>
                </a:rPr>
                <a:t>23% train (8k)</a:t>
              </a:r>
            </a:p>
          </p:txBody>
        </p:sp>
      </p:grpSp>
      <p:grpSp>
        <p:nvGrpSpPr>
          <p:cNvPr name="Group 19" id="19"/>
          <p:cNvGrpSpPr/>
          <p:nvPr/>
        </p:nvGrpSpPr>
        <p:grpSpPr>
          <a:xfrm rot="0">
            <a:off x="822960" y="5006340"/>
            <a:ext cx="2537460" cy="2125980"/>
            <a:chOff x="0" y="0"/>
            <a:chExt cx="3383280" cy="2834640"/>
          </a:xfrm>
        </p:grpSpPr>
        <p:sp>
          <p:nvSpPr>
            <p:cNvPr name="Freeform 20" id="20"/>
            <p:cNvSpPr/>
            <p:nvPr/>
          </p:nvSpPr>
          <p:spPr>
            <a:xfrm flipH="false" flipV="false" rot="0">
              <a:off x="0" y="0"/>
              <a:ext cx="3383280" cy="2834640"/>
            </a:xfrm>
            <a:custGeom>
              <a:avLst/>
              <a:gdLst/>
              <a:ahLst/>
              <a:cxnLst/>
              <a:rect r="r" b="b" t="t" l="l"/>
              <a:pathLst>
                <a:path h="2834640" w="3383280">
                  <a:moveTo>
                    <a:pt x="0" y="0"/>
                  </a:moveTo>
                  <a:lnTo>
                    <a:pt x="3383280" y="0"/>
                  </a:lnTo>
                  <a:lnTo>
                    <a:pt x="3383280" y="2834640"/>
                  </a:lnTo>
                  <a:lnTo>
                    <a:pt x="0" y="2834640"/>
                  </a:lnTo>
                  <a:close/>
                </a:path>
              </a:pathLst>
            </a:custGeom>
            <a:blipFill>
              <a:blip r:embed="rId2">
                <a:alphaModFix amt="0"/>
              </a:blip>
              <a:stretch>
                <a:fillRect l="-57572" t="0" r="-57572" b="0"/>
              </a:stretch>
            </a:blipFill>
          </p:spPr>
          <p:txBody>
            <a:bodyPr/>
            <a:p/>
          </p:txBody>
        </p:sp>
      </p:grpSp>
      <p:grpSp>
        <p:nvGrpSpPr>
          <p:cNvPr name="Group 21" id="21"/>
          <p:cNvGrpSpPr/>
          <p:nvPr/>
        </p:nvGrpSpPr>
        <p:grpSpPr>
          <a:xfrm rot="0">
            <a:off x="822960" y="4970621"/>
            <a:ext cx="2537460" cy="2161699"/>
            <a:chOff x="0" y="0"/>
            <a:chExt cx="3383280" cy="2882265"/>
          </a:xfrm>
        </p:grpSpPr>
        <p:sp>
          <p:nvSpPr>
            <p:cNvPr name="Freeform 22" id="22"/>
            <p:cNvSpPr/>
            <p:nvPr/>
          </p:nvSpPr>
          <p:spPr>
            <a:xfrm flipH="false" flipV="false" rot="0">
              <a:off x="0" y="0"/>
              <a:ext cx="3383280" cy="2882265"/>
            </a:xfrm>
            <a:custGeom>
              <a:avLst/>
              <a:gdLst/>
              <a:ahLst/>
              <a:cxnLst/>
              <a:rect r="r" b="b" t="t" l="l"/>
              <a:pathLst>
                <a:path h="2882265" w="3383280">
                  <a:moveTo>
                    <a:pt x="0" y="0"/>
                  </a:moveTo>
                  <a:lnTo>
                    <a:pt x="3383280" y="0"/>
                  </a:lnTo>
                  <a:lnTo>
                    <a:pt x="3383280" y="2882265"/>
                  </a:lnTo>
                  <a:lnTo>
                    <a:pt x="0" y="2882265"/>
                  </a:lnTo>
                  <a:close/>
                </a:path>
              </a:pathLst>
            </a:custGeom>
            <a:blipFill>
              <a:blip r:embed="rId4">
                <a:alphaModFix amt="0"/>
              </a:blip>
              <a:stretch>
                <a:fillRect l="-59379" t="0" r="-59379" b="0"/>
              </a:stretch>
            </a:blipFill>
          </p:spPr>
          <p:txBody>
            <a:bodyPr/>
            <a:p/>
          </p:txBody>
        </p:sp>
      </p:grpSp>
      <p:grpSp>
        <p:nvGrpSpPr>
          <p:cNvPr name="Group 23" id="23"/>
          <p:cNvGrpSpPr/>
          <p:nvPr/>
        </p:nvGrpSpPr>
        <p:grpSpPr>
          <a:xfrm rot="0">
            <a:off x="822960" y="4934903"/>
            <a:ext cx="2537460" cy="2197417"/>
            <a:chOff x="0" y="0"/>
            <a:chExt cx="3383280" cy="2929890"/>
          </a:xfrm>
        </p:grpSpPr>
        <p:sp>
          <p:nvSpPr>
            <p:cNvPr name="Freeform 24" id="24"/>
            <p:cNvSpPr/>
            <p:nvPr/>
          </p:nvSpPr>
          <p:spPr>
            <a:xfrm flipH="false" flipV="false" rot="0">
              <a:off x="0" y="0"/>
              <a:ext cx="3383280" cy="2929890"/>
            </a:xfrm>
            <a:custGeom>
              <a:avLst/>
              <a:gdLst/>
              <a:ahLst/>
              <a:cxnLst/>
              <a:rect r="r" b="b" t="t" l="l"/>
              <a:pathLst>
                <a:path h="2929890" w="3383280">
                  <a:moveTo>
                    <a:pt x="0" y="0"/>
                  </a:moveTo>
                  <a:lnTo>
                    <a:pt x="3383280" y="0"/>
                  </a:lnTo>
                  <a:lnTo>
                    <a:pt x="3383280" y="2929890"/>
                  </a:lnTo>
                  <a:lnTo>
                    <a:pt x="0" y="2929890"/>
                  </a:lnTo>
                  <a:close/>
                </a:path>
              </a:pathLst>
            </a:custGeom>
            <a:blipFill>
              <a:blip r:embed="rId5">
                <a:alphaModFix amt="0"/>
              </a:blip>
              <a:stretch>
                <a:fillRect l="-61186" t="0" r="-61187" b="0"/>
              </a:stretch>
            </a:blipFill>
          </p:spPr>
          <p:txBody>
            <a:bodyPr/>
            <a:p/>
          </p:txBody>
        </p:sp>
      </p:grpSp>
      <p:grpSp>
        <p:nvGrpSpPr>
          <p:cNvPr name="Group 25" id="25"/>
          <p:cNvGrpSpPr/>
          <p:nvPr/>
        </p:nvGrpSpPr>
        <p:grpSpPr>
          <a:xfrm rot="0">
            <a:off x="822960" y="4899184"/>
            <a:ext cx="2537460" cy="2233136"/>
            <a:chOff x="0" y="0"/>
            <a:chExt cx="3383280" cy="2977515"/>
          </a:xfrm>
        </p:grpSpPr>
        <p:sp>
          <p:nvSpPr>
            <p:cNvPr name="Freeform 26" id="26"/>
            <p:cNvSpPr/>
            <p:nvPr/>
          </p:nvSpPr>
          <p:spPr>
            <a:xfrm flipH="false" flipV="false" rot="0">
              <a:off x="0" y="0"/>
              <a:ext cx="3383280" cy="2977514"/>
            </a:xfrm>
            <a:custGeom>
              <a:avLst/>
              <a:gdLst/>
              <a:ahLst/>
              <a:cxnLst/>
              <a:rect r="r" b="b" t="t" l="l"/>
              <a:pathLst>
                <a:path h="2977514" w="3383280">
                  <a:moveTo>
                    <a:pt x="0" y="0"/>
                  </a:moveTo>
                  <a:lnTo>
                    <a:pt x="3383280" y="0"/>
                  </a:lnTo>
                  <a:lnTo>
                    <a:pt x="3383280" y="2977514"/>
                  </a:lnTo>
                  <a:lnTo>
                    <a:pt x="0" y="2977514"/>
                  </a:lnTo>
                  <a:close/>
                </a:path>
              </a:pathLst>
            </a:custGeom>
            <a:blipFill>
              <a:blip r:embed="rId6">
                <a:alphaModFix amt="0"/>
              </a:blip>
              <a:stretch>
                <a:fillRect l="-62915" t="0" r="-62915" b="0"/>
              </a:stretch>
            </a:blipFill>
          </p:spPr>
          <p:txBody>
            <a:bodyPr/>
            <a:p/>
          </p:txBody>
        </p:sp>
        <p:sp>
          <p:nvSpPr>
            <p:cNvPr name="TextBox 27" id="27"/>
            <p:cNvSpPr txBox="true"/>
            <p:nvPr/>
          </p:nvSpPr>
          <p:spPr>
            <a:xfrm>
              <a:off x="0" y="-47625"/>
              <a:ext cx="3383280" cy="3025140"/>
            </a:xfrm>
            <a:prstGeom prst="rect">
              <a:avLst/>
            </a:prstGeom>
          </p:spPr>
          <p:txBody>
            <a:bodyPr anchor="ctr" rtlCol="false" tIns="0" lIns="0" bIns="0" rIns="0"/>
            <a:lstStyle/>
            <a:p>
              <a:pPr algn="l">
                <a:lnSpc>
                  <a:spcPts val="2520"/>
                </a:lnSpc>
              </a:pPr>
              <a:r>
                <a:rPr lang="en-US" sz="2100" b="true">
                  <a:solidFill>
                    <a:srgbClr val="13294B"/>
                  </a:solidFill>
                  <a:latin typeface="Calibri (MS) Bold"/>
                  <a:ea typeface="Calibri (MS) Bold"/>
                  <a:cs typeface="Calibri (MS) Bold"/>
                  <a:sym typeface="Calibri (MS) Bold"/>
                </a:rPr>
                <a:t>100% train</a:t>
              </a:r>
            </a:p>
          </p:txBody>
        </p:sp>
      </p:grpSp>
      <p:sp>
        <p:nvSpPr>
          <p:cNvPr name="Freeform 28" id="28"/>
          <p:cNvSpPr/>
          <p:nvPr/>
        </p:nvSpPr>
        <p:spPr>
          <a:xfrm flipH="false" flipV="false" rot="0">
            <a:off x="3480911" y="2657951"/>
            <a:ext cx="3393758" cy="2159317"/>
          </a:xfrm>
          <a:custGeom>
            <a:avLst/>
            <a:gdLst/>
            <a:ahLst/>
            <a:cxnLst/>
            <a:rect r="r" b="b" t="t" l="l"/>
            <a:pathLst>
              <a:path h="2159317" w="3393758">
                <a:moveTo>
                  <a:pt x="0" y="0"/>
                </a:moveTo>
                <a:lnTo>
                  <a:pt x="3393758" y="0"/>
                </a:lnTo>
                <a:lnTo>
                  <a:pt x="3393758" y="2159318"/>
                </a:lnTo>
                <a:lnTo>
                  <a:pt x="0" y="2159318"/>
                </a:lnTo>
                <a:lnTo>
                  <a:pt x="0" y="0"/>
                </a:lnTo>
                <a:close/>
              </a:path>
            </a:pathLst>
          </a:custGeom>
          <a:blipFill>
            <a:blip r:embed="rId7">
              <a:extLst>
                <a:ext uri="{96DAC541-7B7A-43D3-8B79-37D633B846F1}">
                  <asvg:svgBlip xmlns:asvg="http://schemas.microsoft.com/office/drawing/2016/SVG/main" r:embed="rId8"/>
                </a:ext>
              </a:extLst>
            </a:blip>
            <a:stretch>
              <a:fillRect l="-31" t="0" r="-31" b="0"/>
            </a:stretch>
          </a:blipFill>
        </p:spPr>
        <p:txBody>
          <a:bodyPr/>
          <a:p/>
        </p:txBody>
      </p:sp>
      <p:sp>
        <p:nvSpPr>
          <p:cNvPr name="TextBox 29" id="29"/>
          <p:cNvSpPr txBox="true"/>
          <p:nvPr/>
        </p:nvSpPr>
        <p:spPr>
          <a:xfrm rot="0">
            <a:off x="3497580" y="2883408"/>
            <a:ext cx="3360420" cy="1066800"/>
          </a:xfrm>
          <a:prstGeom prst="rect">
            <a:avLst/>
          </a:prstGeom>
        </p:spPr>
        <p:txBody>
          <a:bodyPr anchor="t" rtlCol="false" tIns="0" lIns="0" bIns="0" rIns="0">
            <a:spAutoFit/>
          </a:bodyPr>
          <a:lstStyle/>
          <a:p>
            <a:pPr algn="ctr">
              <a:lnSpc>
                <a:spcPts val="6120"/>
              </a:lnSpc>
            </a:pPr>
            <a:r>
              <a:rPr lang="en-US" sz="5100" b="true">
                <a:solidFill>
                  <a:srgbClr val="13294B"/>
                </a:solidFill>
                <a:latin typeface="Cambria Bold"/>
                <a:ea typeface="Cambria Bold"/>
                <a:cs typeface="Cambria Bold"/>
                <a:sym typeface="Cambria Bold"/>
              </a:rPr>
              <a:t>46,56</a:t>
            </a:r>
          </a:p>
        </p:txBody>
      </p:sp>
      <p:sp>
        <p:nvSpPr>
          <p:cNvPr name="TextBox 30" id="30"/>
          <p:cNvSpPr txBox="true"/>
          <p:nvPr/>
        </p:nvSpPr>
        <p:spPr>
          <a:xfrm rot="0">
            <a:off x="3634740" y="3787140"/>
            <a:ext cx="3086100" cy="807720"/>
          </a:xfrm>
          <a:prstGeom prst="rect">
            <a:avLst/>
          </a:prstGeom>
        </p:spPr>
        <p:txBody>
          <a:bodyPr anchor="t" rtlCol="false" tIns="0" lIns="0" bIns="0" rIns="0">
            <a:spAutoFit/>
          </a:bodyPr>
          <a:lstStyle/>
          <a:p>
            <a:pPr algn="ctr">
              <a:lnSpc>
                <a:spcPts val="2340"/>
              </a:lnSpc>
            </a:pPr>
            <a:r>
              <a:rPr lang="en-US" sz="1950">
                <a:solidFill>
                  <a:srgbClr val="243044"/>
                </a:solidFill>
                <a:latin typeface="Calibri (MS)"/>
                <a:ea typeface="Calibri (MS)"/>
                <a:cs typeface="Calibri (MS)"/>
                <a:sym typeface="Calibri (MS)"/>
              </a:rPr>
              <a:t>B2-sub</a:t>
            </a:r>
          </a:p>
        </p:txBody>
      </p:sp>
      <p:sp>
        <p:nvSpPr>
          <p:cNvPr name="Freeform 31" id="31"/>
          <p:cNvSpPr/>
          <p:nvPr/>
        </p:nvSpPr>
        <p:spPr>
          <a:xfrm flipH="false" flipV="false" rot="0">
            <a:off x="7047071" y="2657951"/>
            <a:ext cx="3393758" cy="2159317"/>
          </a:xfrm>
          <a:custGeom>
            <a:avLst/>
            <a:gdLst/>
            <a:ahLst/>
            <a:cxnLst/>
            <a:rect r="r" b="b" t="t" l="l"/>
            <a:pathLst>
              <a:path h="2159317" w="3393758">
                <a:moveTo>
                  <a:pt x="0" y="0"/>
                </a:moveTo>
                <a:lnTo>
                  <a:pt x="3393758" y="0"/>
                </a:lnTo>
                <a:lnTo>
                  <a:pt x="3393758" y="2159318"/>
                </a:lnTo>
                <a:lnTo>
                  <a:pt x="0" y="2159318"/>
                </a:lnTo>
                <a:lnTo>
                  <a:pt x="0" y="0"/>
                </a:lnTo>
                <a:close/>
              </a:path>
            </a:pathLst>
          </a:custGeom>
          <a:blipFill>
            <a:blip r:embed="rId7">
              <a:extLst>
                <a:ext uri="{96DAC541-7B7A-43D3-8B79-37D633B846F1}">
                  <asvg:svgBlip xmlns:asvg="http://schemas.microsoft.com/office/drawing/2016/SVG/main" r:embed="rId8"/>
                </a:ext>
              </a:extLst>
            </a:blip>
            <a:stretch>
              <a:fillRect l="-31" t="0" r="-31" b="0"/>
            </a:stretch>
          </a:blipFill>
        </p:spPr>
        <p:txBody>
          <a:bodyPr/>
          <a:p/>
        </p:txBody>
      </p:sp>
      <p:sp>
        <p:nvSpPr>
          <p:cNvPr name="TextBox 32" id="32"/>
          <p:cNvSpPr txBox="true"/>
          <p:nvPr/>
        </p:nvSpPr>
        <p:spPr>
          <a:xfrm rot="0">
            <a:off x="7063740" y="2883408"/>
            <a:ext cx="3360420" cy="1066800"/>
          </a:xfrm>
          <a:prstGeom prst="rect">
            <a:avLst/>
          </a:prstGeom>
        </p:spPr>
        <p:txBody>
          <a:bodyPr anchor="t" rtlCol="false" tIns="0" lIns="0" bIns="0" rIns="0">
            <a:spAutoFit/>
          </a:bodyPr>
          <a:lstStyle/>
          <a:p>
            <a:pPr algn="ctr">
              <a:lnSpc>
                <a:spcPts val="6120"/>
              </a:lnSpc>
            </a:pPr>
            <a:r>
              <a:rPr lang="en-US" sz="5100" b="true">
                <a:solidFill>
                  <a:srgbClr val="13294B"/>
                </a:solidFill>
                <a:latin typeface="Cambria Bold"/>
                <a:ea typeface="Cambria Bold"/>
                <a:cs typeface="Cambria Bold"/>
                <a:sym typeface="Cambria Bold"/>
              </a:rPr>
              <a:t>49,10</a:t>
            </a:r>
          </a:p>
        </p:txBody>
      </p:sp>
      <p:sp>
        <p:nvSpPr>
          <p:cNvPr name="TextBox 33" id="33"/>
          <p:cNvSpPr txBox="true"/>
          <p:nvPr/>
        </p:nvSpPr>
        <p:spPr>
          <a:xfrm rot="0">
            <a:off x="7200900" y="3787140"/>
            <a:ext cx="3086100" cy="807720"/>
          </a:xfrm>
          <a:prstGeom prst="rect">
            <a:avLst/>
          </a:prstGeom>
        </p:spPr>
        <p:txBody>
          <a:bodyPr anchor="t" rtlCol="false" tIns="0" lIns="0" bIns="0" rIns="0">
            <a:spAutoFit/>
          </a:bodyPr>
          <a:lstStyle/>
          <a:p>
            <a:pPr algn="ctr">
              <a:lnSpc>
                <a:spcPts val="2340"/>
              </a:lnSpc>
            </a:pPr>
            <a:r>
              <a:rPr lang="en-US" sz="1950">
                <a:solidFill>
                  <a:srgbClr val="243044"/>
                </a:solidFill>
                <a:latin typeface="Calibri (MS)"/>
                <a:ea typeface="Calibri (MS)"/>
                <a:cs typeface="Calibri (MS)"/>
                <a:sym typeface="Calibri (MS)"/>
              </a:rPr>
              <a:t>B3</a:t>
            </a:r>
          </a:p>
        </p:txBody>
      </p:sp>
      <p:sp>
        <p:nvSpPr>
          <p:cNvPr name="Freeform 34" id="34"/>
          <p:cNvSpPr/>
          <p:nvPr/>
        </p:nvSpPr>
        <p:spPr>
          <a:xfrm flipH="false" flipV="false" rot="0">
            <a:off x="3480911" y="4989671"/>
            <a:ext cx="3393758" cy="2159317"/>
          </a:xfrm>
          <a:custGeom>
            <a:avLst/>
            <a:gdLst/>
            <a:ahLst/>
            <a:cxnLst/>
            <a:rect r="r" b="b" t="t" l="l"/>
            <a:pathLst>
              <a:path h="2159317" w="3393758">
                <a:moveTo>
                  <a:pt x="0" y="0"/>
                </a:moveTo>
                <a:lnTo>
                  <a:pt x="3393758" y="0"/>
                </a:lnTo>
                <a:lnTo>
                  <a:pt x="3393758" y="2159318"/>
                </a:lnTo>
                <a:lnTo>
                  <a:pt x="0" y="2159318"/>
                </a:lnTo>
                <a:lnTo>
                  <a:pt x="0" y="0"/>
                </a:lnTo>
                <a:close/>
              </a:path>
            </a:pathLst>
          </a:custGeom>
          <a:blipFill>
            <a:blip r:embed="rId7">
              <a:extLst>
                <a:ext uri="{96DAC541-7B7A-43D3-8B79-37D633B846F1}">
                  <asvg:svgBlip xmlns:asvg="http://schemas.microsoft.com/office/drawing/2016/SVG/main" r:embed="rId8"/>
                </a:ext>
              </a:extLst>
            </a:blip>
            <a:stretch>
              <a:fillRect l="-31" t="0" r="-31" b="0"/>
            </a:stretch>
          </a:blipFill>
        </p:spPr>
        <p:txBody>
          <a:bodyPr/>
          <a:p/>
        </p:txBody>
      </p:sp>
      <p:sp>
        <p:nvSpPr>
          <p:cNvPr name="TextBox 35" id="35"/>
          <p:cNvSpPr txBox="true"/>
          <p:nvPr/>
        </p:nvSpPr>
        <p:spPr>
          <a:xfrm rot="0">
            <a:off x="3497580" y="5215128"/>
            <a:ext cx="3360420" cy="1066800"/>
          </a:xfrm>
          <a:prstGeom prst="rect">
            <a:avLst/>
          </a:prstGeom>
        </p:spPr>
        <p:txBody>
          <a:bodyPr anchor="t" rtlCol="false" tIns="0" lIns="0" bIns="0" rIns="0">
            <a:spAutoFit/>
          </a:bodyPr>
          <a:lstStyle/>
          <a:p>
            <a:pPr algn="ctr">
              <a:lnSpc>
                <a:spcPts val="6120"/>
              </a:lnSpc>
            </a:pPr>
            <a:r>
              <a:rPr lang="en-US" sz="5100" b="true">
                <a:solidFill>
                  <a:srgbClr val="13294B"/>
                </a:solidFill>
                <a:latin typeface="Cambria Bold"/>
                <a:ea typeface="Cambria Bold"/>
                <a:cs typeface="Cambria Bold"/>
                <a:sym typeface="Cambria Bold"/>
              </a:rPr>
              <a:t>50,26</a:t>
            </a:r>
          </a:p>
        </p:txBody>
      </p:sp>
      <p:sp>
        <p:nvSpPr>
          <p:cNvPr name="TextBox 36" id="36"/>
          <p:cNvSpPr txBox="true"/>
          <p:nvPr/>
        </p:nvSpPr>
        <p:spPr>
          <a:xfrm rot="0">
            <a:off x="3634740" y="6118860"/>
            <a:ext cx="3086100" cy="807720"/>
          </a:xfrm>
          <a:prstGeom prst="rect">
            <a:avLst/>
          </a:prstGeom>
        </p:spPr>
        <p:txBody>
          <a:bodyPr anchor="t" rtlCol="false" tIns="0" lIns="0" bIns="0" rIns="0">
            <a:spAutoFit/>
          </a:bodyPr>
          <a:lstStyle/>
          <a:p>
            <a:pPr algn="ctr">
              <a:lnSpc>
                <a:spcPts val="2340"/>
              </a:lnSpc>
            </a:pPr>
            <a:r>
              <a:rPr lang="en-US" sz="1950">
                <a:solidFill>
                  <a:srgbClr val="243044"/>
                </a:solidFill>
                <a:latin typeface="Calibri (MS)"/>
                <a:ea typeface="Calibri (MS)"/>
                <a:cs typeface="Calibri (MS)"/>
                <a:sym typeface="Calibri (MS)"/>
              </a:rPr>
              <a:t>B2</a:t>
            </a:r>
          </a:p>
        </p:txBody>
      </p:sp>
      <p:sp>
        <p:nvSpPr>
          <p:cNvPr name="Freeform 37" id="37"/>
          <p:cNvSpPr/>
          <p:nvPr/>
        </p:nvSpPr>
        <p:spPr>
          <a:xfrm flipH="false" flipV="false" rot="0">
            <a:off x="7047071" y="4989671"/>
            <a:ext cx="3393758" cy="2159317"/>
          </a:xfrm>
          <a:custGeom>
            <a:avLst/>
            <a:gdLst/>
            <a:ahLst/>
            <a:cxnLst/>
            <a:rect r="r" b="b" t="t" l="l"/>
            <a:pathLst>
              <a:path h="2159317" w="3393758">
                <a:moveTo>
                  <a:pt x="0" y="0"/>
                </a:moveTo>
                <a:lnTo>
                  <a:pt x="3393758" y="0"/>
                </a:lnTo>
                <a:lnTo>
                  <a:pt x="3393758" y="2159318"/>
                </a:lnTo>
                <a:lnTo>
                  <a:pt x="0" y="2159318"/>
                </a:lnTo>
                <a:lnTo>
                  <a:pt x="0" y="0"/>
                </a:lnTo>
                <a:close/>
              </a:path>
            </a:pathLst>
          </a:custGeom>
          <a:blipFill>
            <a:blip r:embed="rId9">
              <a:extLst>
                <a:ext uri="{96DAC541-7B7A-43D3-8B79-37D633B846F1}">
                  <asvg:svgBlip xmlns:asvg="http://schemas.microsoft.com/office/drawing/2016/SVG/main" r:embed="rId10"/>
                </a:ext>
              </a:extLst>
            </a:blip>
            <a:stretch>
              <a:fillRect l="-31" t="0" r="-31" b="0"/>
            </a:stretch>
          </a:blipFill>
        </p:spPr>
        <p:txBody>
          <a:bodyPr/>
          <a:p/>
        </p:txBody>
      </p:sp>
      <p:sp>
        <p:nvSpPr>
          <p:cNvPr name="TextBox 38" id="38"/>
          <p:cNvSpPr txBox="true"/>
          <p:nvPr/>
        </p:nvSpPr>
        <p:spPr>
          <a:xfrm rot="0">
            <a:off x="7063740" y="5215128"/>
            <a:ext cx="3360420" cy="1066800"/>
          </a:xfrm>
          <a:prstGeom prst="rect">
            <a:avLst/>
          </a:prstGeom>
        </p:spPr>
        <p:txBody>
          <a:bodyPr anchor="t" rtlCol="false" tIns="0" lIns="0" bIns="0" rIns="0">
            <a:spAutoFit/>
          </a:bodyPr>
          <a:lstStyle/>
          <a:p>
            <a:pPr algn="ctr">
              <a:lnSpc>
                <a:spcPts val="6120"/>
              </a:lnSpc>
            </a:pPr>
            <a:r>
              <a:rPr lang="en-US" sz="5100" b="true">
                <a:solidFill>
                  <a:srgbClr val="E8A33D"/>
                </a:solidFill>
                <a:latin typeface="Cambria Bold"/>
                <a:ea typeface="Cambria Bold"/>
                <a:cs typeface="Cambria Bold"/>
                <a:sym typeface="Cambria Bold"/>
              </a:rPr>
              <a:t>53,35</a:t>
            </a:r>
          </a:p>
        </p:txBody>
      </p:sp>
      <p:sp>
        <p:nvSpPr>
          <p:cNvPr name="TextBox 39" id="39"/>
          <p:cNvSpPr txBox="true"/>
          <p:nvPr/>
        </p:nvSpPr>
        <p:spPr>
          <a:xfrm rot="0">
            <a:off x="7200900" y="6118860"/>
            <a:ext cx="3086100" cy="807720"/>
          </a:xfrm>
          <a:prstGeom prst="rect">
            <a:avLst/>
          </a:prstGeom>
        </p:spPr>
        <p:txBody>
          <a:bodyPr anchor="t" rtlCol="false" tIns="0" lIns="0" bIns="0" rIns="0">
            <a:spAutoFit/>
          </a:bodyPr>
          <a:lstStyle/>
          <a:p>
            <a:pPr algn="ctr">
              <a:lnSpc>
                <a:spcPts val="2340"/>
              </a:lnSpc>
            </a:pPr>
            <a:r>
              <a:rPr lang="en-US" sz="1950">
                <a:solidFill>
                  <a:srgbClr val="243044"/>
                </a:solidFill>
                <a:latin typeface="Calibri (MS)"/>
                <a:ea typeface="Calibri (MS)"/>
                <a:cs typeface="Calibri (MS)"/>
                <a:sym typeface="Calibri (MS)"/>
              </a:rPr>
              <a:t>B3-full (đề xuất)</a:t>
            </a:r>
          </a:p>
        </p:txBody>
      </p:sp>
      <p:sp>
        <p:nvSpPr>
          <p:cNvPr name="TextBox 40" id="40"/>
          <p:cNvSpPr txBox="true"/>
          <p:nvPr/>
        </p:nvSpPr>
        <p:spPr>
          <a:xfrm rot="0">
            <a:off x="3497580" y="7144512"/>
            <a:ext cx="6926580" cy="632460"/>
          </a:xfrm>
          <a:prstGeom prst="rect">
            <a:avLst/>
          </a:prstGeom>
        </p:spPr>
        <p:txBody>
          <a:bodyPr anchor="t" rtlCol="false" tIns="0" lIns="0" bIns="0" rIns="0">
            <a:spAutoFit/>
          </a:bodyPr>
          <a:lstStyle/>
          <a:p>
            <a:pPr algn="ctr">
              <a:lnSpc>
                <a:spcPts val="2160"/>
              </a:lnSpc>
            </a:pPr>
            <a:r>
              <a:rPr lang="en-US" sz="1800">
                <a:solidFill>
                  <a:srgbClr val="6B7280"/>
                </a:solidFill>
                <a:latin typeface="Calibri (MS)"/>
                <a:ea typeface="Calibri (MS)"/>
                <a:cs typeface="Calibri (MS)"/>
                <a:sym typeface="Calibri (MS)"/>
              </a:rPr>
              <a:t>EM (%), ViTextVQA full test (10.028 câu), seed 42</a:t>
            </a:r>
          </a:p>
        </p:txBody>
      </p:sp>
      <p:sp>
        <p:nvSpPr>
          <p:cNvPr name="Freeform 41" id="41"/>
          <p:cNvSpPr/>
          <p:nvPr/>
        </p:nvSpPr>
        <p:spPr>
          <a:xfrm flipH="false" flipV="false" rot="0">
            <a:off x="11024711" y="2040731"/>
            <a:ext cx="6456521" cy="3188017"/>
          </a:xfrm>
          <a:custGeom>
            <a:avLst/>
            <a:gdLst/>
            <a:ahLst/>
            <a:cxnLst/>
            <a:rect r="r" b="b" t="t" l="l"/>
            <a:pathLst>
              <a:path h="3188017" w="6456521">
                <a:moveTo>
                  <a:pt x="0" y="0"/>
                </a:moveTo>
                <a:lnTo>
                  <a:pt x="6456521" y="0"/>
                </a:lnTo>
                <a:lnTo>
                  <a:pt x="6456521" y="3188018"/>
                </a:lnTo>
                <a:lnTo>
                  <a:pt x="0" y="3188018"/>
                </a:lnTo>
                <a:lnTo>
                  <a:pt x="0" y="0"/>
                </a:lnTo>
                <a:close/>
              </a:path>
            </a:pathLst>
          </a:custGeom>
          <a:blipFill>
            <a:blip r:embed="rId11">
              <a:extLst>
                <a:ext uri="{96DAC541-7B7A-43D3-8B79-37D633B846F1}">
                  <asvg:svgBlip xmlns:asvg="http://schemas.microsoft.com/office/drawing/2016/SVG/main" r:embed="rId12"/>
                </a:ext>
              </a:extLst>
            </a:blip>
            <a:stretch>
              <a:fillRect l="0" t="-33" r="0" b="-33"/>
            </a:stretch>
          </a:blipFill>
        </p:spPr>
        <p:txBody>
          <a:bodyPr/>
          <a:p/>
        </p:txBody>
      </p:sp>
      <p:sp>
        <p:nvSpPr>
          <p:cNvPr name="TextBox 42" id="42"/>
          <p:cNvSpPr txBox="true"/>
          <p:nvPr/>
        </p:nvSpPr>
        <p:spPr>
          <a:xfrm rot="0">
            <a:off x="11384280" y="2069592"/>
            <a:ext cx="5737403"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Kiểm định ghép cặp (McNemar, EM)</a:t>
            </a:r>
          </a:p>
        </p:txBody>
      </p:sp>
      <p:sp>
        <p:nvSpPr>
          <p:cNvPr name="TextBox 43" id="43"/>
          <p:cNvSpPr txBox="true"/>
          <p:nvPr/>
        </p:nvSpPr>
        <p:spPr>
          <a:xfrm rot="0">
            <a:off x="11384280" y="2621280"/>
            <a:ext cx="5737403" cy="2522220"/>
          </a:xfrm>
          <a:prstGeom prst="rect">
            <a:avLst/>
          </a:prstGeom>
        </p:spPr>
        <p:txBody>
          <a:bodyPr anchor="t" rtlCol="false" tIns="0" lIns="0" bIns="0" rIns="0">
            <a:spAutoFit/>
          </a:bodyPr>
          <a:lstStyle/>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OCR ở 23% dữ liệu: +2,54 (p = 10⁻¹⁴)</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OCR ở 100% dữ liệu: +3,09 (705 so với 395 câu, p = 7 × 10⁻²¹)</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ΔANLS +1,87 (CI95 +1,38 đến +2,36)</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Hơn ViTextBLIP-2: 25,48 EM / 53,95 F1</a:t>
            </a:r>
          </a:p>
        </p:txBody>
      </p:sp>
      <p:sp>
        <p:nvSpPr>
          <p:cNvPr name="Freeform 44" id="44"/>
          <p:cNvSpPr/>
          <p:nvPr/>
        </p:nvSpPr>
        <p:spPr>
          <a:xfrm flipH="false" flipV="false" rot="0">
            <a:off x="11024711" y="5469731"/>
            <a:ext cx="6456521" cy="1953578"/>
          </a:xfrm>
          <a:custGeom>
            <a:avLst/>
            <a:gdLst/>
            <a:ahLst/>
            <a:cxnLst/>
            <a:rect r="r" b="b" t="t" l="l"/>
            <a:pathLst>
              <a:path h="1953578" w="6456521">
                <a:moveTo>
                  <a:pt x="0" y="0"/>
                </a:moveTo>
                <a:lnTo>
                  <a:pt x="6456521" y="0"/>
                </a:lnTo>
                <a:lnTo>
                  <a:pt x="6456521" y="1953578"/>
                </a:lnTo>
                <a:lnTo>
                  <a:pt x="0" y="1953578"/>
                </a:lnTo>
                <a:lnTo>
                  <a:pt x="0" y="0"/>
                </a:lnTo>
                <a:close/>
              </a:path>
            </a:pathLst>
          </a:custGeom>
          <a:blipFill>
            <a:blip r:embed="rId13">
              <a:extLst>
                <a:ext uri="{96DAC541-7B7A-43D3-8B79-37D633B846F1}">
                  <asvg:svgBlip xmlns:asvg="http://schemas.microsoft.com/office/drawing/2016/SVG/main" r:embed="rId14"/>
                </a:ext>
              </a:extLst>
            </a:blip>
            <a:stretch>
              <a:fillRect l="0" t="-208" r="0" b="-208"/>
            </a:stretch>
          </a:blipFill>
        </p:spPr>
        <p:txBody>
          <a:bodyPr/>
          <a:p/>
        </p:txBody>
      </p:sp>
      <p:grpSp>
        <p:nvGrpSpPr>
          <p:cNvPr name="Group 45" id="45"/>
          <p:cNvGrpSpPr/>
          <p:nvPr/>
        </p:nvGrpSpPr>
        <p:grpSpPr>
          <a:xfrm rot="0">
            <a:off x="11384280" y="5486400"/>
            <a:ext cx="5737384" cy="1920240"/>
            <a:chOff x="0" y="0"/>
            <a:chExt cx="7649845" cy="2560320"/>
          </a:xfrm>
        </p:grpSpPr>
        <p:sp>
          <p:nvSpPr>
            <p:cNvPr name="Freeform 46" id="46"/>
            <p:cNvSpPr/>
            <p:nvPr/>
          </p:nvSpPr>
          <p:spPr>
            <a:xfrm flipH="false" flipV="false" rot="0">
              <a:off x="0" y="0"/>
              <a:ext cx="7649845" cy="2560320"/>
            </a:xfrm>
            <a:custGeom>
              <a:avLst/>
              <a:gdLst/>
              <a:ahLst/>
              <a:cxnLst/>
              <a:rect r="r" b="b" t="t" l="l"/>
              <a:pathLst>
                <a:path h="2560320" w="7649845">
                  <a:moveTo>
                    <a:pt x="0" y="0"/>
                  </a:moveTo>
                  <a:lnTo>
                    <a:pt x="7649845" y="0"/>
                  </a:lnTo>
                  <a:lnTo>
                    <a:pt x="7649845" y="2560320"/>
                  </a:lnTo>
                  <a:lnTo>
                    <a:pt x="0" y="2560320"/>
                  </a:lnTo>
                  <a:close/>
                </a:path>
              </a:pathLst>
            </a:custGeom>
            <a:blipFill>
              <a:blip r:embed="rId2">
                <a:alphaModFix amt="0"/>
              </a:blip>
              <a:stretch>
                <a:fillRect l="0" t="-8178" r="0" b="-8177"/>
              </a:stretch>
            </a:blipFill>
          </p:spPr>
          <p:txBody>
            <a:bodyPr/>
            <a:p/>
          </p:txBody>
        </p:sp>
      </p:grpSp>
      <p:grpSp>
        <p:nvGrpSpPr>
          <p:cNvPr name="Group 47" id="47"/>
          <p:cNvGrpSpPr/>
          <p:nvPr/>
        </p:nvGrpSpPr>
        <p:grpSpPr>
          <a:xfrm rot="0">
            <a:off x="11384280" y="5443538"/>
            <a:ext cx="5737384" cy="1963102"/>
            <a:chOff x="0" y="0"/>
            <a:chExt cx="7649845" cy="2617470"/>
          </a:xfrm>
        </p:grpSpPr>
        <p:sp>
          <p:nvSpPr>
            <p:cNvPr name="Freeform 48" id="48"/>
            <p:cNvSpPr/>
            <p:nvPr/>
          </p:nvSpPr>
          <p:spPr>
            <a:xfrm flipH="false" flipV="false" rot="0">
              <a:off x="0" y="0"/>
              <a:ext cx="7649845" cy="2617470"/>
            </a:xfrm>
            <a:custGeom>
              <a:avLst/>
              <a:gdLst/>
              <a:ahLst/>
              <a:cxnLst/>
              <a:rect r="r" b="b" t="t" l="l"/>
              <a:pathLst>
                <a:path h="2617470" w="7649845">
                  <a:moveTo>
                    <a:pt x="0" y="0"/>
                  </a:moveTo>
                  <a:lnTo>
                    <a:pt x="7649845" y="0"/>
                  </a:lnTo>
                  <a:lnTo>
                    <a:pt x="7649845" y="2617470"/>
                  </a:lnTo>
                  <a:lnTo>
                    <a:pt x="0" y="2617470"/>
                  </a:lnTo>
                  <a:close/>
                </a:path>
              </a:pathLst>
            </a:custGeom>
            <a:blipFill>
              <a:blip r:embed="rId4">
                <a:alphaModFix amt="0"/>
              </a:blip>
              <a:stretch>
                <a:fillRect l="0" t="-6907" r="0" b="-6907"/>
              </a:stretch>
            </a:blipFill>
          </p:spPr>
          <p:txBody>
            <a:bodyPr/>
            <a:p/>
          </p:txBody>
        </p:sp>
      </p:grpSp>
      <p:grpSp>
        <p:nvGrpSpPr>
          <p:cNvPr name="Group 49" id="49"/>
          <p:cNvGrpSpPr/>
          <p:nvPr/>
        </p:nvGrpSpPr>
        <p:grpSpPr>
          <a:xfrm rot="0">
            <a:off x="11384280" y="5400675"/>
            <a:ext cx="5737403" cy="2005965"/>
            <a:chOff x="0" y="0"/>
            <a:chExt cx="7649870" cy="2674620"/>
          </a:xfrm>
        </p:grpSpPr>
        <p:sp>
          <p:nvSpPr>
            <p:cNvPr name="Freeform 50" id="50"/>
            <p:cNvSpPr/>
            <p:nvPr/>
          </p:nvSpPr>
          <p:spPr>
            <a:xfrm flipH="false" flipV="false" rot="0">
              <a:off x="0" y="0"/>
              <a:ext cx="7649845" cy="2674620"/>
            </a:xfrm>
            <a:custGeom>
              <a:avLst/>
              <a:gdLst/>
              <a:ahLst/>
              <a:cxnLst/>
              <a:rect r="r" b="b" t="t" l="l"/>
              <a:pathLst>
                <a:path h="2674620" w="7649845">
                  <a:moveTo>
                    <a:pt x="0" y="0"/>
                  </a:moveTo>
                  <a:lnTo>
                    <a:pt x="7649845" y="0"/>
                  </a:lnTo>
                  <a:lnTo>
                    <a:pt x="7649845" y="2674620"/>
                  </a:lnTo>
                  <a:lnTo>
                    <a:pt x="0" y="2674620"/>
                  </a:lnTo>
                  <a:close/>
                </a:path>
              </a:pathLst>
            </a:custGeom>
            <a:blipFill>
              <a:blip r:embed="rId5">
                <a:alphaModFix amt="0"/>
              </a:blip>
              <a:stretch>
                <a:fillRect l="0" t="-5691" r="0" b="-5691"/>
              </a:stretch>
            </a:blipFill>
          </p:spPr>
          <p:txBody>
            <a:bodyPr/>
            <a:p/>
          </p:txBody>
        </p:sp>
      </p:grpSp>
      <p:grpSp>
        <p:nvGrpSpPr>
          <p:cNvPr name="Group 51" id="51"/>
          <p:cNvGrpSpPr/>
          <p:nvPr/>
        </p:nvGrpSpPr>
        <p:grpSpPr>
          <a:xfrm rot="0">
            <a:off x="11384280" y="5357812"/>
            <a:ext cx="5737403" cy="2048827"/>
            <a:chOff x="0" y="0"/>
            <a:chExt cx="7649870" cy="2731770"/>
          </a:xfrm>
        </p:grpSpPr>
        <p:sp>
          <p:nvSpPr>
            <p:cNvPr name="Freeform 52" id="52"/>
            <p:cNvSpPr/>
            <p:nvPr/>
          </p:nvSpPr>
          <p:spPr>
            <a:xfrm flipH="false" flipV="false" rot="0">
              <a:off x="0" y="0"/>
              <a:ext cx="7649871" cy="2731770"/>
            </a:xfrm>
            <a:custGeom>
              <a:avLst/>
              <a:gdLst/>
              <a:ahLst/>
              <a:cxnLst/>
              <a:rect r="r" b="b" t="t" l="l"/>
              <a:pathLst>
                <a:path h="2731770" w="7649871">
                  <a:moveTo>
                    <a:pt x="0" y="0"/>
                  </a:moveTo>
                  <a:lnTo>
                    <a:pt x="7649871" y="0"/>
                  </a:lnTo>
                  <a:lnTo>
                    <a:pt x="7649871" y="2731770"/>
                  </a:lnTo>
                  <a:lnTo>
                    <a:pt x="0" y="2731770"/>
                  </a:lnTo>
                  <a:close/>
                </a:path>
              </a:pathLst>
            </a:custGeom>
            <a:blipFill>
              <a:blip r:embed="rId6">
                <a:alphaModFix amt="0"/>
              </a:blip>
              <a:stretch>
                <a:fillRect l="0" t="-4564" r="0" b="-4564"/>
              </a:stretch>
            </a:blipFill>
          </p:spPr>
          <p:txBody>
            <a:bodyPr/>
            <a:p/>
          </p:txBody>
        </p:sp>
        <p:sp>
          <p:nvSpPr>
            <p:cNvPr name="TextBox 53" id="53"/>
            <p:cNvSpPr txBox="true"/>
            <p:nvPr/>
          </p:nvSpPr>
          <p:spPr>
            <a:xfrm>
              <a:off x="0" y="-57150"/>
              <a:ext cx="7649870" cy="2788920"/>
            </a:xfrm>
            <a:prstGeom prst="rect">
              <a:avLst/>
            </a:prstGeom>
          </p:spPr>
          <p:txBody>
            <a:bodyPr anchor="ctr" rtlCol="false" tIns="0" lIns="0" bIns="0" rIns="0"/>
            <a:lstStyle/>
            <a:p>
              <a:pPr algn="l">
                <a:lnSpc>
                  <a:spcPts val="2700"/>
                </a:lnSpc>
              </a:pPr>
              <a:r>
                <a:rPr lang="en-US" sz="2250" b="true">
                  <a:solidFill>
                    <a:srgbClr val="13294B"/>
                  </a:solidFill>
                  <a:latin typeface="Calibri (MS) Bold"/>
                  <a:ea typeface="Calibri (MS) Bold"/>
                  <a:cs typeface="Calibri (MS) Bold"/>
                  <a:sym typeface="Calibri (MS) Bold"/>
                </a:rPr>
                <a:t>Tương tác dữ liệu × OCR +0,55 </a:t>
              </a:r>
              <a:r>
                <a:rPr lang="en-US" sz="2250">
                  <a:solidFill>
                    <a:srgbClr val="243044"/>
                  </a:solidFill>
                  <a:latin typeface="Calibri (MS)"/>
                  <a:ea typeface="Calibri (MS)"/>
                  <a:cs typeface="Calibri (MS)"/>
                  <a:sym typeface="Calibri (MS)"/>
                </a:rPr>
                <a:t>(CI95 −0,20 đến +1,29) → lợi ích của OCR không giảm khi thêm dữ liệu</a:t>
              </a:r>
            </a:p>
          </p:txBody>
        </p:sp>
      </p:grpSp>
      <p:sp>
        <p:nvSpPr>
          <p:cNvPr name="Freeform 54" id="54"/>
          <p:cNvSpPr/>
          <p:nvPr/>
        </p:nvSpPr>
        <p:spPr>
          <a:xfrm flipH="false" flipV="false" rot="0">
            <a:off x="806291" y="8007191"/>
            <a:ext cx="16674941" cy="1404938"/>
          </a:xfrm>
          <a:custGeom>
            <a:avLst/>
            <a:gdLst/>
            <a:ahLst/>
            <a:cxnLst/>
            <a:rect r="r" b="b" t="t" l="l"/>
            <a:pathLst>
              <a:path h="1404938" w="16674941">
                <a:moveTo>
                  <a:pt x="0" y="0"/>
                </a:moveTo>
                <a:lnTo>
                  <a:pt x="16674941" y="0"/>
                </a:lnTo>
                <a:lnTo>
                  <a:pt x="16674941" y="1404938"/>
                </a:lnTo>
                <a:lnTo>
                  <a:pt x="0" y="1404938"/>
                </a:lnTo>
                <a:lnTo>
                  <a:pt x="0" y="0"/>
                </a:lnTo>
                <a:close/>
              </a:path>
            </a:pathLst>
          </a:custGeom>
          <a:blipFill>
            <a:blip r:embed="rId15">
              <a:extLst>
                <a:ext uri="{96DAC541-7B7A-43D3-8B79-37D633B846F1}">
                  <asvg:svgBlip xmlns:asvg="http://schemas.microsoft.com/office/drawing/2016/SVG/main" r:embed="rId16"/>
                </a:ext>
              </a:extLst>
            </a:blip>
            <a:stretch>
              <a:fillRect l="0" t="-159" r="0" b="-159"/>
            </a:stretch>
          </a:blipFill>
        </p:spPr>
        <p:txBody>
          <a:bodyPr/>
          <a:p/>
        </p:txBody>
      </p:sp>
      <p:grpSp>
        <p:nvGrpSpPr>
          <p:cNvPr name="Group 55" id="55"/>
          <p:cNvGrpSpPr/>
          <p:nvPr/>
        </p:nvGrpSpPr>
        <p:grpSpPr>
          <a:xfrm rot="0">
            <a:off x="1234440" y="8023860"/>
            <a:ext cx="15818644" cy="1371600"/>
            <a:chOff x="0" y="0"/>
            <a:chExt cx="21091525" cy="1828800"/>
          </a:xfrm>
        </p:grpSpPr>
        <p:sp>
          <p:nvSpPr>
            <p:cNvPr name="Freeform 56" id="56"/>
            <p:cNvSpPr/>
            <p:nvPr/>
          </p:nvSpPr>
          <p:spPr>
            <a:xfrm flipH="false" flipV="false" rot="0">
              <a:off x="0" y="0"/>
              <a:ext cx="21091525" cy="1828800"/>
            </a:xfrm>
            <a:custGeom>
              <a:avLst/>
              <a:gdLst/>
              <a:ahLst/>
              <a:cxnLst/>
              <a:rect r="r" b="b" t="t" l="l"/>
              <a:pathLst>
                <a:path h="1828800" w="21091525">
                  <a:moveTo>
                    <a:pt x="0" y="0"/>
                  </a:moveTo>
                  <a:lnTo>
                    <a:pt x="21091525" y="0"/>
                  </a:lnTo>
                  <a:lnTo>
                    <a:pt x="21091525" y="1828800"/>
                  </a:lnTo>
                  <a:lnTo>
                    <a:pt x="0" y="1828800"/>
                  </a:lnTo>
                  <a:close/>
                </a:path>
              </a:pathLst>
            </a:custGeom>
            <a:blipFill>
              <a:blip r:embed="rId2">
                <a:alphaModFix amt="0"/>
              </a:blip>
              <a:stretch>
                <a:fillRect l="0" t="-174564" r="0" b="-174563"/>
              </a:stretch>
            </a:blipFill>
          </p:spPr>
          <p:txBody>
            <a:bodyPr/>
            <a:p/>
          </p:txBody>
        </p:sp>
      </p:grpSp>
      <p:grpSp>
        <p:nvGrpSpPr>
          <p:cNvPr name="Group 57" id="57"/>
          <p:cNvGrpSpPr/>
          <p:nvPr/>
        </p:nvGrpSpPr>
        <p:grpSpPr>
          <a:xfrm rot="0">
            <a:off x="1234440" y="7980997"/>
            <a:ext cx="15818644" cy="1414462"/>
            <a:chOff x="0" y="0"/>
            <a:chExt cx="21091525" cy="1885950"/>
          </a:xfrm>
        </p:grpSpPr>
        <p:sp>
          <p:nvSpPr>
            <p:cNvPr name="Freeform 58" id="58"/>
            <p:cNvSpPr/>
            <p:nvPr/>
          </p:nvSpPr>
          <p:spPr>
            <a:xfrm flipH="false" flipV="false" rot="0">
              <a:off x="0" y="0"/>
              <a:ext cx="21091525" cy="1885950"/>
            </a:xfrm>
            <a:custGeom>
              <a:avLst/>
              <a:gdLst/>
              <a:ahLst/>
              <a:cxnLst/>
              <a:rect r="r" b="b" t="t" l="l"/>
              <a:pathLst>
                <a:path h="1885950" w="21091525">
                  <a:moveTo>
                    <a:pt x="0" y="0"/>
                  </a:moveTo>
                  <a:lnTo>
                    <a:pt x="21091525" y="0"/>
                  </a:lnTo>
                  <a:lnTo>
                    <a:pt x="21091525" y="1885950"/>
                  </a:lnTo>
                  <a:lnTo>
                    <a:pt x="0" y="1885950"/>
                  </a:lnTo>
                  <a:close/>
                </a:path>
              </a:pathLst>
            </a:custGeom>
            <a:blipFill>
              <a:blip r:embed="rId4">
                <a:alphaModFix amt="0"/>
              </a:blip>
              <a:stretch>
                <a:fillRect l="0" t="-167759" r="0" b="-167759"/>
              </a:stretch>
            </a:blipFill>
          </p:spPr>
          <p:txBody>
            <a:bodyPr/>
            <a:p/>
          </p:txBody>
        </p:sp>
      </p:grpSp>
      <p:grpSp>
        <p:nvGrpSpPr>
          <p:cNvPr name="Group 59" id="59"/>
          <p:cNvGrpSpPr/>
          <p:nvPr/>
        </p:nvGrpSpPr>
        <p:grpSpPr>
          <a:xfrm rot="0">
            <a:off x="1234440" y="7938135"/>
            <a:ext cx="15818663" cy="1457325"/>
            <a:chOff x="0" y="0"/>
            <a:chExt cx="21091550" cy="1943100"/>
          </a:xfrm>
        </p:grpSpPr>
        <p:sp>
          <p:nvSpPr>
            <p:cNvPr name="Freeform 60" id="60"/>
            <p:cNvSpPr/>
            <p:nvPr/>
          </p:nvSpPr>
          <p:spPr>
            <a:xfrm flipH="false" flipV="false" rot="0">
              <a:off x="0" y="0"/>
              <a:ext cx="21091525" cy="1943100"/>
            </a:xfrm>
            <a:custGeom>
              <a:avLst/>
              <a:gdLst/>
              <a:ahLst/>
              <a:cxnLst/>
              <a:rect r="r" b="b" t="t" l="l"/>
              <a:pathLst>
                <a:path h="1943100" w="21091525">
                  <a:moveTo>
                    <a:pt x="0" y="0"/>
                  </a:moveTo>
                  <a:lnTo>
                    <a:pt x="21091525" y="0"/>
                  </a:lnTo>
                  <a:lnTo>
                    <a:pt x="21091525" y="1943100"/>
                  </a:lnTo>
                  <a:lnTo>
                    <a:pt x="0" y="1943100"/>
                  </a:lnTo>
                  <a:close/>
                </a:path>
              </a:pathLst>
            </a:custGeom>
            <a:blipFill>
              <a:blip r:embed="rId5">
                <a:alphaModFix amt="0"/>
              </a:blip>
              <a:stretch>
                <a:fillRect l="0" t="-161354" r="0" b="-161354"/>
              </a:stretch>
            </a:blipFill>
          </p:spPr>
          <p:txBody>
            <a:bodyPr/>
            <a:p/>
          </p:txBody>
        </p:sp>
      </p:grpSp>
      <p:grpSp>
        <p:nvGrpSpPr>
          <p:cNvPr name="Group 61" id="61"/>
          <p:cNvGrpSpPr/>
          <p:nvPr/>
        </p:nvGrpSpPr>
        <p:grpSpPr>
          <a:xfrm rot="0">
            <a:off x="1234440" y="7895272"/>
            <a:ext cx="15818663" cy="1500188"/>
            <a:chOff x="0" y="0"/>
            <a:chExt cx="21091550" cy="2000250"/>
          </a:xfrm>
        </p:grpSpPr>
        <p:sp>
          <p:nvSpPr>
            <p:cNvPr name="Freeform 62" id="62"/>
            <p:cNvSpPr/>
            <p:nvPr/>
          </p:nvSpPr>
          <p:spPr>
            <a:xfrm flipH="false" flipV="false" rot="0">
              <a:off x="0" y="0"/>
              <a:ext cx="21091551" cy="2000250"/>
            </a:xfrm>
            <a:custGeom>
              <a:avLst/>
              <a:gdLst/>
              <a:ahLst/>
              <a:cxnLst/>
              <a:rect r="r" b="b" t="t" l="l"/>
              <a:pathLst>
                <a:path h="2000250" w="21091551">
                  <a:moveTo>
                    <a:pt x="0" y="0"/>
                  </a:moveTo>
                  <a:lnTo>
                    <a:pt x="21091551" y="0"/>
                  </a:lnTo>
                  <a:lnTo>
                    <a:pt x="21091551" y="2000250"/>
                  </a:lnTo>
                  <a:lnTo>
                    <a:pt x="0" y="2000250"/>
                  </a:lnTo>
                  <a:close/>
                </a:path>
              </a:pathLst>
            </a:custGeom>
            <a:blipFill>
              <a:blip r:embed="rId6">
                <a:alphaModFix amt="0"/>
              </a:blip>
              <a:stretch>
                <a:fillRect l="0" t="-155459" r="0" b="-155459"/>
              </a:stretch>
            </a:blipFill>
          </p:spPr>
          <p:txBody>
            <a:bodyPr/>
            <a:p/>
          </p:txBody>
        </p:sp>
        <p:sp>
          <p:nvSpPr>
            <p:cNvPr name="TextBox 63" id="63"/>
            <p:cNvSpPr txBox="true"/>
            <p:nvPr/>
          </p:nvSpPr>
          <p:spPr>
            <a:xfrm>
              <a:off x="0" y="-57150"/>
              <a:ext cx="21091550" cy="2057400"/>
            </a:xfrm>
            <a:prstGeom prst="rect">
              <a:avLst/>
            </a:prstGeom>
          </p:spPr>
          <p:txBody>
            <a:bodyPr anchor="ctr" rtlCol="false" tIns="0" lIns="0" bIns="0" rIns="0"/>
            <a:lstStyle/>
            <a:p>
              <a:pPr algn="l">
                <a:lnSpc>
                  <a:spcPts val="2700"/>
                </a:lnSpc>
              </a:pPr>
              <a:r>
                <a:rPr lang="en-US" sz="2250" b="true">
                  <a:solidFill>
                    <a:srgbClr val="13294B"/>
                  </a:solidFill>
                  <a:latin typeface="Calibri (MS) Bold"/>
                  <a:ea typeface="Calibri (MS) Bold"/>
                  <a:cs typeface="Calibri (MS) Bold"/>
                  <a:sym typeface="Calibri (MS) Bold"/>
                </a:rPr>
                <a:t>Kết luận  </a:t>
              </a:r>
              <a:r>
                <a:rPr lang="en-US" sz="2250">
                  <a:solidFill>
                    <a:srgbClr val="243044"/>
                  </a:solidFill>
                  <a:latin typeface="Calibri (MS)"/>
                  <a:ea typeface="Calibri (MS)"/>
                  <a:cs typeface="Calibri (MS)"/>
                  <a:sym typeface="Calibri (MS)"/>
                </a:rPr>
                <a:t>B3-full là mô hình ViTextVQA chính thức: EM 53,35 / F1 73,73 — EM gấp đôi SOTA công bố; 12,8 h train trên một L4 (B2: 12,0 h).</a:t>
              </a:r>
            </a:p>
          </p:txBody>
        </p:sp>
      </p:grpSp>
      <p:grpSp>
        <p:nvGrpSpPr>
          <p:cNvPr name="Group 64" id="64"/>
          <p:cNvGrpSpPr/>
          <p:nvPr/>
        </p:nvGrpSpPr>
        <p:grpSpPr>
          <a:xfrm rot="0">
            <a:off x="822960" y="9641205"/>
            <a:ext cx="13716000" cy="440055"/>
            <a:chOff x="0" y="0"/>
            <a:chExt cx="18288000" cy="586740"/>
          </a:xfrm>
        </p:grpSpPr>
        <p:sp>
          <p:nvSpPr>
            <p:cNvPr name="Freeform 65" id="65"/>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4">
                <a:alphaModFix amt="0"/>
              </a:blip>
              <a:stretch>
                <a:fillRect l="0" t="-556902" r="0" b="-556904"/>
              </a:stretch>
            </a:blipFill>
          </p:spPr>
          <p:txBody>
            <a:bodyPr/>
            <a:p/>
          </p:txBody>
        </p:sp>
      </p:grpSp>
      <p:grpSp>
        <p:nvGrpSpPr>
          <p:cNvPr name="Group 66" id="66"/>
          <p:cNvGrpSpPr/>
          <p:nvPr/>
        </p:nvGrpSpPr>
        <p:grpSpPr>
          <a:xfrm rot="0">
            <a:off x="822960" y="9612630"/>
            <a:ext cx="13716000" cy="468630"/>
            <a:chOff x="0" y="0"/>
            <a:chExt cx="18288000" cy="624840"/>
          </a:xfrm>
        </p:grpSpPr>
        <p:sp>
          <p:nvSpPr>
            <p:cNvPr name="Freeform 67" id="67"/>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5">
                <a:alphaModFix amt="0"/>
              </a:blip>
              <a:stretch>
                <a:fillRect l="0" t="-519896" r="0" b="-519898"/>
              </a:stretch>
            </a:blipFill>
          </p:spPr>
          <p:txBody>
            <a:bodyPr/>
            <a:p/>
          </p:txBody>
        </p:sp>
      </p:grpSp>
      <p:grpSp>
        <p:nvGrpSpPr>
          <p:cNvPr name="Group 68" id="68"/>
          <p:cNvGrpSpPr/>
          <p:nvPr/>
        </p:nvGrpSpPr>
        <p:grpSpPr>
          <a:xfrm rot="0">
            <a:off x="822960" y="9584055"/>
            <a:ext cx="13716000" cy="497205"/>
            <a:chOff x="0" y="0"/>
            <a:chExt cx="18288000" cy="662940"/>
          </a:xfrm>
        </p:grpSpPr>
        <p:sp>
          <p:nvSpPr>
            <p:cNvPr name="Freeform 69" id="69"/>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6">
                <a:alphaModFix amt="0"/>
              </a:blip>
              <a:stretch>
                <a:fillRect l="0" t="-487518" r="0" b="-487518"/>
              </a:stretch>
            </a:blipFill>
          </p:spPr>
          <p:txBody>
            <a:bodyPr/>
            <a:p/>
          </p:txBody>
        </p:sp>
        <p:sp>
          <p:nvSpPr>
            <p:cNvPr name="TextBox 70" id="70"/>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GIẢ THUYẾT</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Bằng chứng đến thời điểm này</a:t>
            </a:r>
          </a:p>
        </p:txBody>
      </p:sp>
      <p:graphicFrame>
        <p:nvGraphicFramePr>
          <p:cNvPr name="Table 6" id="6"/>
          <p:cNvGraphicFramePr>
            <a:graphicFrameLocks noGrp="true"/>
          </p:cNvGraphicFramePr>
          <p:nvPr/>
        </p:nvGraphicFramePr>
        <p:xfrm>
          <a:off x="822960" y="2057400"/>
          <a:ext cx="16560800" cy="5067300"/>
        </p:xfrm>
        <a:graphic>
          <a:graphicData uri="http://schemas.openxmlformats.org/drawingml/2006/table">
            <a:tbl>
              <a:tblPr/>
              <a:tblGrid>
                <a:gridCol w="7075224"/>
                <a:gridCol w="6712252"/>
                <a:gridCol w="2773324"/>
              </a:tblGrid>
              <a:tr h="72390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Giả thuyết (slide 8)</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Bằng chứng</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Trạng thái</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r>
              <a:tr h="723900">
                <a:tc>
                  <a:txBody>
                    <a:bodyPr anchor="t" rtlCol="false"/>
                    <a:lstStyle/>
                    <a:p>
                      <a:pPr algn="l">
                        <a:lnSpc>
                          <a:spcPts val="2520"/>
                        </a:lnSpc>
                        <a:defRPr/>
                      </a:pPr>
                      <a:r>
                        <a:rPr lang="en-US" sz="2100">
                          <a:solidFill>
                            <a:srgbClr val="243044"/>
                          </a:solidFill>
                          <a:latin typeface="Calibri (MS)"/>
                          <a:ea typeface="Calibri (MS)"/>
                          <a:cs typeface="Calibri (MS)"/>
                          <a:sym typeface="Calibri (MS)"/>
                        </a:rPr>
                        <a:t>H1  QLoRA ≥ +5 EM so với zero-shot</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+51,7 (ViVQA), +21,1 (ViTextVQA đầy đủ), p ≈ 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b="true">
                          <a:solidFill>
                            <a:srgbClr val="1C7293"/>
                          </a:solidFill>
                          <a:latin typeface="Calibri (MS) Bold"/>
                          <a:ea typeface="Calibri (MS) Bold"/>
                          <a:cs typeface="Calibri (MS) Bold"/>
                          <a:sym typeface="Calibri (MS) Bold"/>
                        </a:rPr>
                        <a:t>Ủng hộ</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723900">
                <a:tc>
                  <a:txBody>
                    <a:bodyPr anchor="t" rtlCol="false"/>
                    <a:lstStyle/>
                    <a:p>
                      <a:pPr algn="l">
                        <a:lnSpc>
                          <a:spcPts val="2520"/>
                        </a:lnSpc>
                        <a:defRPr/>
                      </a:pPr>
                      <a:r>
                        <a:rPr lang="en-US" sz="2100">
                          <a:solidFill>
                            <a:srgbClr val="243044"/>
                          </a:solidFill>
                          <a:latin typeface="Calibri (MS)"/>
                          <a:ea typeface="Calibri (MS)"/>
                          <a:cs typeface="Calibri (MS)"/>
                          <a:sym typeface="Calibri (MS)"/>
                        </a:rPr>
                        <a:t>H2  Chữ OCR ≥ +3 ANLS, tốt nhất khi kết hợp QLoRA</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Tương tác +4,9 EM; đủ dữ liệu +3,1 EM (p ≈ 10⁻²¹); nhưng ANLS +1,87 (&lt; +3)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b="true">
                          <a:solidFill>
                            <a:srgbClr val="E8A33D"/>
                          </a:solidFill>
                          <a:latin typeface="Calibri (MS) Bold"/>
                          <a:ea typeface="Calibri (MS) Bold"/>
                          <a:cs typeface="Calibri (MS) Bold"/>
                          <a:sym typeface="Calibri (MS) Bold"/>
                        </a:rPr>
                        <a:t>Một phần</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723900">
                <a:tc>
                  <a:txBody>
                    <a:bodyPr anchor="t" rtlCol="false"/>
                    <a:lstStyle/>
                    <a:p>
                      <a:pPr algn="l">
                        <a:lnSpc>
                          <a:spcPts val="2520"/>
                        </a:lnSpc>
                        <a:defRPr/>
                      </a:pPr>
                      <a:r>
                        <a:rPr lang="en-US" sz="2100">
                          <a:solidFill>
                            <a:srgbClr val="243044"/>
                          </a:solidFill>
                          <a:latin typeface="Calibri (MS)"/>
                          <a:ea typeface="Calibri (MS)"/>
                          <a:cs typeface="Calibri (MS)"/>
                          <a:sym typeface="Calibri (MS)"/>
                        </a:rPr>
                        <a:t>H3  Prompt định dạng tiếng Việt ≥ +3 EM</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Dạng few-shot: −2,1 / −1,2 EM</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b="true">
                          <a:solidFill>
                            <a:srgbClr val="B42318"/>
                          </a:solidFill>
                          <a:latin typeface="Calibri (MS) Bold"/>
                          <a:ea typeface="Calibri (MS) Bold"/>
                          <a:cs typeface="Calibri (MS) Bold"/>
                          <a:sym typeface="Calibri (MS) Bold"/>
                        </a:rPr>
                        <a:t>Chưa ủng hộ</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723900">
                <a:tc>
                  <a:txBody>
                    <a:bodyPr anchor="t" rtlCol="false"/>
                    <a:lstStyle/>
                    <a:p>
                      <a:pPr algn="l">
                        <a:lnSpc>
                          <a:spcPts val="2520"/>
                        </a:lnSpc>
                        <a:defRPr/>
                      </a:pPr>
                      <a:r>
                        <a:rPr lang="en-US" sz="2100">
                          <a:solidFill>
                            <a:srgbClr val="243044"/>
                          </a:solidFill>
                          <a:latin typeface="Calibri (MS)"/>
                          <a:ea typeface="Calibri (MS)"/>
                          <a:cs typeface="Calibri (MS)"/>
                          <a:sym typeface="Calibri (MS)"/>
                        </a:rPr>
                        <a:t>H4  QLoRA không làm tăng hallucination</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POPE tiếng Việt (500 ảnh chưa thấy, 4.985 câu): B3-full không tăng (ΔF1 +5,5 / +3,7 / +2,5); C3 chưa kết luận (91% câu trả lời không theo dạng có/không)</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b="true">
                          <a:solidFill>
                            <a:srgbClr val="E8A33D"/>
                          </a:solidFill>
                          <a:latin typeface="Calibri (MS) Bold"/>
                          <a:ea typeface="Calibri (MS) Bold"/>
                          <a:cs typeface="Calibri (MS) Bold"/>
                          <a:sym typeface="Calibri (MS) Bold"/>
                        </a:rPr>
                        <a:t>Một phần</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723900">
                <a:tc>
                  <a:txBody>
                    <a:bodyPr anchor="t" rtlCol="false"/>
                    <a:lstStyle/>
                    <a:p>
                      <a:pPr algn="l">
                        <a:lnSpc>
                          <a:spcPts val="2520"/>
                        </a:lnSpc>
                        <a:defRPr/>
                      </a:pPr>
                      <a:r>
                        <a:rPr lang="en-US" sz="2100">
                          <a:solidFill>
                            <a:srgbClr val="243044"/>
                          </a:solidFill>
                          <a:latin typeface="Calibri (MS)"/>
                          <a:ea typeface="Calibri (MS)"/>
                          <a:cs typeface="Calibri (MS)"/>
                          <a:sym typeface="Calibri (MS)"/>
                        </a:rPr>
                        <a:t>Hiệu quả (số đo, không phải giả thuyết)</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4-bit giữ 94,5% độ chính xác; VRAM −77%; adapter dùng chung không kém</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b="true">
                          <a:solidFill>
                            <a:srgbClr val="13294B"/>
                          </a:solidFill>
                          <a:latin typeface="Calibri (MS) Bold"/>
                          <a:ea typeface="Calibri (MS) Bold"/>
                          <a:cs typeface="Calibri (MS) Bold"/>
                          <a:sym typeface="Calibri (MS) Bold"/>
                        </a:rPr>
                        <a:t>Đã đo</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723900">
                <a:tc>
                  <a:txBody>
                    <a:bodyPr anchor="t" rtlCol="false"/>
                    <a:lstStyle/>
                    <a:p>
                      <a:pPr algn="l">
                        <a:lnSpc>
                          <a:spcPts val="2520"/>
                        </a:lnSpc>
                        <a:defRPr/>
                      </a:pPr>
                      <a:r>
                        <a:rPr lang="en-US" sz="2100">
                          <a:solidFill>
                            <a:srgbClr val="243044"/>
                          </a:solidFill>
                          <a:latin typeface="Calibri (MS)"/>
                          <a:ea typeface="Calibri (MS)"/>
                          <a:cs typeface="Calibri (MS)"/>
                          <a:sym typeface="Calibri (MS)"/>
                        </a:rPr>
                        <a:t>Ablation A1 (module), A2 (rank)</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A1 −0,55 (p = 0,34); A2 +1,05 (p = 0,07) → giữ r = 16, q, k, v, o</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b="true">
                          <a:solidFill>
                            <a:srgbClr val="6B7280"/>
                          </a:solidFill>
                          <a:latin typeface="Calibri (MS) Bold"/>
                          <a:ea typeface="Calibri (MS) Bold"/>
                          <a:cs typeface="Calibri (MS) Bold"/>
                          <a:sym typeface="Calibri (MS) Bold"/>
                        </a:rPr>
                        <a:t>Đã làm</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bl>
          </a:graphicData>
        </a:graphic>
      </p:graphicFrame>
      <p:sp>
        <p:nvSpPr>
          <p:cNvPr name="Freeform 7" id="7"/>
          <p:cNvSpPr/>
          <p:nvPr/>
        </p:nvSpPr>
        <p:spPr>
          <a:xfrm flipH="false" flipV="false" rot="0">
            <a:off x="806291" y="7664291"/>
            <a:ext cx="16674941" cy="1747838"/>
          </a:xfrm>
          <a:custGeom>
            <a:avLst/>
            <a:gdLst/>
            <a:ahLst/>
            <a:cxnLst/>
            <a:rect r="r" b="b" t="t" l="l"/>
            <a:pathLst>
              <a:path h="1747838" w="16674941">
                <a:moveTo>
                  <a:pt x="0" y="0"/>
                </a:moveTo>
                <a:lnTo>
                  <a:pt x="16674941" y="0"/>
                </a:lnTo>
                <a:lnTo>
                  <a:pt x="16674941" y="1747838"/>
                </a:lnTo>
                <a:lnTo>
                  <a:pt x="0" y="1747838"/>
                </a:lnTo>
                <a:lnTo>
                  <a:pt x="0" y="0"/>
                </a:lnTo>
                <a:close/>
              </a:path>
            </a:pathLst>
          </a:custGeom>
          <a:blipFill>
            <a:blip r:embed="rId3">
              <a:extLst>
                <a:ext uri="{96DAC541-7B7A-43D3-8B79-37D633B846F1}">
                  <asvg:svgBlip xmlns:asvg="http://schemas.microsoft.com/office/drawing/2016/SVG/main" r:embed="rId4"/>
                </a:ext>
              </a:extLst>
            </a:blip>
            <a:stretch>
              <a:fillRect l="0" t="-126" r="0" b="-125"/>
            </a:stretch>
          </a:blipFill>
        </p:spPr>
        <p:txBody>
          <a:bodyPr/>
          <a:p/>
        </p:txBody>
      </p:sp>
      <p:grpSp>
        <p:nvGrpSpPr>
          <p:cNvPr name="Group 8" id="8"/>
          <p:cNvGrpSpPr/>
          <p:nvPr/>
        </p:nvGrpSpPr>
        <p:grpSpPr>
          <a:xfrm rot="0">
            <a:off x="1303020" y="7680960"/>
            <a:ext cx="15681484" cy="1714500"/>
            <a:chOff x="0" y="0"/>
            <a:chExt cx="20908645" cy="2286000"/>
          </a:xfrm>
        </p:grpSpPr>
        <p:sp>
          <p:nvSpPr>
            <p:cNvPr name="Freeform 9" id="9"/>
            <p:cNvSpPr/>
            <p:nvPr/>
          </p:nvSpPr>
          <p:spPr>
            <a:xfrm flipH="false" flipV="false" rot="0">
              <a:off x="0" y="0"/>
              <a:ext cx="20908645" cy="2286000"/>
            </a:xfrm>
            <a:custGeom>
              <a:avLst/>
              <a:gdLst/>
              <a:ahLst/>
              <a:cxnLst/>
              <a:rect r="r" b="b" t="t" l="l"/>
              <a:pathLst>
                <a:path h="2286000" w="20908645">
                  <a:moveTo>
                    <a:pt x="0" y="0"/>
                  </a:moveTo>
                  <a:lnTo>
                    <a:pt x="20908645" y="0"/>
                  </a:lnTo>
                  <a:lnTo>
                    <a:pt x="20908645" y="2286000"/>
                  </a:lnTo>
                  <a:lnTo>
                    <a:pt x="0" y="2286000"/>
                  </a:lnTo>
                  <a:close/>
                </a:path>
              </a:pathLst>
            </a:custGeom>
            <a:blipFill>
              <a:blip r:embed="rId2">
                <a:alphaModFix amt="0"/>
              </a:blip>
              <a:stretch>
                <a:fillRect l="0" t="-128093" r="0" b="-128093"/>
              </a:stretch>
            </a:blipFill>
          </p:spPr>
          <p:txBody>
            <a:bodyPr/>
            <a:p/>
          </p:txBody>
        </p:sp>
      </p:grpSp>
      <p:grpSp>
        <p:nvGrpSpPr>
          <p:cNvPr name="Group 10" id="10"/>
          <p:cNvGrpSpPr/>
          <p:nvPr/>
        </p:nvGrpSpPr>
        <p:grpSpPr>
          <a:xfrm rot="0">
            <a:off x="1303020" y="7638097"/>
            <a:ext cx="15681484" cy="1757362"/>
            <a:chOff x="0" y="0"/>
            <a:chExt cx="20908645" cy="2343150"/>
          </a:xfrm>
        </p:grpSpPr>
        <p:sp>
          <p:nvSpPr>
            <p:cNvPr name="Freeform 11" id="11"/>
            <p:cNvSpPr/>
            <p:nvPr/>
          </p:nvSpPr>
          <p:spPr>
            <a:xfrm flipH="false" flipV="false" rot="0">
              <a:off x="0" y="0"/>
              <a:ext cx="20908645" cy="2343150"/>
            </a:xfrm>
            <a:custGeom>
              <a:avLst/>
              <a:gdLst/>
              <a:ahLst/>
              <a:cxnLst/>
              <a:rect r="r" b="b" t="t" l="l"/>
              <a:pathLst>
                <a:path h="2343150" w="20908645">
                  <a:moveTo>
                    <a:pt x="0" y="0"/>
                  </a:moveTo>
                  <a:lnTo>
                    <a:pt x="20908645" y="0"/>
                  </a:lnTo>
                  <a:lnTo>
                    <a:pt x="20908645" y="2343150"/>
                  </a:lnTo>
                  <a:lnTo>
                    <a:pt x="0" y="2343150"/>
                  </a:lnTo>
                  <a:close/>
                </a:path>
              </a:pathLst>
            </a:custGeom>
            <a:blipFill>
              <a:blip r:embed="rId5">
                <a:alphaModFix amt="0"/>
              </a:blip>
              <a:stretch>
                <a:fillRect l="0" t="-123750" r="0" b="-123750"/>
              </a:stretch>
            </a:blipFill>
          </p:spPr>
          <p:txBody>
            <a:bodyPr/>
            <a:p/>
          </p:txBody>
        </p:sp>
      </p:grpSp>
      <p:grpSp>
        <p:nvGrpSpPr>
          <p:cNvPr name="Group 12" id="12"/>
          <p:cNvGrpSpPr/>
          <p:nvPr/>
        </p:nvGrpSpPr>
        <p:grpSpPr>
          <a:xfrm rot="0">
            <a:off x="1303020" y="7595235"/>
            <a:ext cx="15681503" cy="1800225"/>
            <a:chOff x="0" y="0"/>
            <a:chExt cx="20908670" cy="2400300"/>
          </a:xfrm>
        </p:grpSpPr>
        <p:sp>
          <p:nvSpPr>
            <p:cNvPr name="Freeform 13" id="13"/>
            <p:cNvSpPr/>
            <p:nvPr/>
          </p:nvSpPr>
          <p:spPr>
            <a:xfrm flipH="false" flipV="false" rot="0">
              <a:off x="0" y="0"/>
              <a:ext cx="20908645" cy="2400300"/>
            </a:xfrm>
            <a:custGeom>
              <a:avLst/>
              <a:gdLst/>
              <a:ahLst/>
              <a:cxnLst/>
              <a:rect r="r" b="b" t="t" l="l"/>
              <a:pathLst>
                <a:path h="2400300" w="20908645">
                  <a:moveTo>
                    <a:pt x="0" y="0"/>
                  </a:moveTo>
                  <a:lnTo>
                    <a:pt x="20908645" y="0"/>
                  </a:lnTo>
                  <a:lnTo>
                    <a:pt x="20908645" y="2400300"/>
                  </a:lnTo>
                  <a:lnTo>
                    <a:pt x="0" y="2400300"/>
                  </a:lnTo>
                  <a:close/>
                </a:path>
              </a:pathLst>
            </a:custGeom>
            <a:blipFill>
              <a:blip r:embed="rId6">
                <a:alphaModFix amt="0"/>
              </a:blip>
              <a:stretch>
                <a:fillRect l="0" t="-119613" r="0" b="-119613"/>
              </a:stretch>
            </a:blipFill>
          </p:spPr>
          <p:txBody>
            <a:bodyPr/>
            <a:p/>
          </p:txBody>
        </p:sp>
      </p:grpSp>
      <p:grpSp>
        <p:nvGrpSpPr>
          <p:cNvPr name="Group 14" id="14"/>
          <p:cNvGrpSpPr/>
          <p:nvPr/>
        </p:nvGrpSpPr>
        <p:grpSpPr>
          <a:xfrm rot="0">
            <a:off x="1303020" y="7552372"/>
            <a:ext cx="15681503" cy="1843088"/>
            <a:chOff x="0" y="0"/>
            <a:chExt cx="20908670" cy="2457450"/>
          </a:xfrm>
        </p:grpSpPr>
        <p:sp>
          <p:nvSpPr>
            <p:cNvPr name="Freeform 15" id="15"/>
            <p:cNvSpPr/>
            <p:nvPr/>
          </p:nvSpPr>
          <p:spPr>
            <a:xfrm flipH="false" flipV="false" rot="0">
              <a:off x="0" y="0"/>
              <a:ext cx="20908671" cy="2457450"/>
            </a:xfrm>
            <a:custGeom>
              <a:avLst/>
              <a:gdLst/>
              <a:ahLst/>
              <a:cxnLst/>
              <a:rect r="r" b="b" t="t" l="l"/>
              <a:pathLst>
                <a:path h="2457450" w="20908671">
                  <a:moveTo>
                    <a:pt x="0" y="0"/>
                  </a:moveTo>
                  <a:lnTo>
                    <a:pt x="20908671" y="0"/>
                  </a:lnTo>
                  <a:lnTo>
                    <a:pt x="20908671" y="2457450"/>
                  </a:lnTo>
                  <a:lnTo>
                    <a:pt x="0" y="2457450"/>
                  </a:lnTo>
                  <a:close/>
                </a:path>
              </a:pathLst>
            </a:custGeom>
            <a:blipFill>
              <a:blip r:embed="rId7">
                <a:alphaModFix amt="0"/>
              </a:blip>
              <a:stretch>
                <a:fillRect l="0" t="-115784" r="0" b="-115784"/>
              </a:stretch>
            </a:blipFill>
          </p:spPr>
          <p:txBody>
            <a:bodyPr/>
            <a:p/>
          </p:txBody>
        </p:sp>
        <p:sp>
          <p:nvSpPr>
            <p:cNvPr name="TextBox 16" id="16"/>
            <p:cNvSpPr txBox="true"/>
            <p:nvPr/>
          </p:nvSpPr>
          <p:spPr>
            <a:xfrm>
              <a:off x="0" y="-57150"/>
              <a:ext cx="20908670" cy="2514600"/>
            </a:xfrm>
            <a:prstGeom prst="rect">
              <a:avLst/>
            </a:prstGeom>
          </p:spPr>
          <p:txBody>
            <a:bodyPr anchor="ctr" rtlCol="false" tIns="0" lIns="0" bIns="0" rIns="0"/>
            <a:lstStyle/>
            <a:p>
              <a:pPr algn="l">
                <a:lnSpc>
                  <a:spcPts val="2700"/>
                </a:lnSpc>
              </a:pPr>
              <a:r>
                <a:rPr lang="en-US" sz="2250">
                  <a:solidFill>
                    <a:srgbClr val="13294B"/>
                  </a:solidFill>
                  <a:latin typeface="Calibri (MS)"/>
                  <a:ea typeface="Calibri (MS)"/>
                  <a:cs typeface="Calibri (MS)"/>
                  <a:sym typeface="Calibri (MS)"/>
                </a:rPr>
                <a:t>RQ1: zero-shot EM 22,1 (ViVQA), 29,1 (ViTextVQA).  RQ2: QLoRA +51,7 / +21,1 EM.  RQ3: QLoRA nhận biết OCR +3,1 EM so với cùng QLoRA (full test, đủ dữ liệu).  RQ4: POPE tiếng Việt — B3-full không làm tăng hallucination; C3 chưa kết luận.</a:t>
              </a:r>
            </a:p>
          </p:txBody>
        </p:sp>
      </p:grpSp>
      <p:grpSp>
        <p:nvGrpSpPr>
          <p:cNvPr name="Group 17" id="17"/>
          <p:cNvGrpSpPr/>
          <p:nvPr/>
        </p:nvGrpSpPr>
        <p:grpSpPr>
          <a:xfrm rot="0">
            <a:off x="15458732" y="0"/>
            <a:ext cx="2829306" cy="1184338"/>
            <a:chOff x="0" y="0"/>
            <a:chExt cx="3772408" cy="1579118"/>
          </a:xfrm>
        </p:grpSpPr>
        <p:sp>
          <p:nvSpPr>
            <p:cNvPr name="Freeform 18" id="18"/>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8"/>
              <a:stretch>
                <a:fillRect l="0" t="0" r="0" b="0"/>
              </a:stretch>
            </a:blipFill>
          </p:spPr>
          <p:txBody>
            <a:bodyPr/>
            <a:p/>
          </p:txBody>
        </p:sp>
      </p:grpSp>
      <p:grpSp>
        <p:nvGrpSpPr>
          <p:cNvPr name="Group 19" id="19"/>
          <p:cNvGrpSpPr/>
          <p:nvPr/>
        </p:nvGrpSpPr>
        <p:grpSpPr>
          <a:xfrm rot="0">
            <a:off x="822960" y="9641205"/>
            <a:ext cx="13716000" cy="440055"/>
            <a:chOff x="0" y="0"/>
            <a:chExt cx="18288000" cy="586740"/>
          </a:xfrm>
        </p:grpSpPr>
        <p:sp>
          <p:nvSpPr>
            <p:cNvPr name="Freeform 20" id="20"/>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5">
                <a:alphaModFix amt="0"/>
              </a:blip>
              <a:stretch>
                <a:fillRect l="0" t="-556902" r="0" b="-556904"/>
              </a:stretch>
            </a:blipFill>
          </p:spPr>
          <p:txBody>
            <a:bodyPr/>
            <a:p/>
          </p:txBody>
        </p:sp>
      </p:grpSp>
      <p:grpSp>
        <p:nvGrpSpPr>
          <p:cNvPr name="Group 21" id="21"/>
          <p:cNvGrpSpPr/>
          <p:nvPr/>
        </p:nvGrpSpPr>
        <p:grpSpPr>
          <a:xfrm rot="0">
            <a:off x="822960" y="9612630"/>
            <a:ext cx="13716000" cy="468630"/>
            <a:chOff x="0" y="0"/>
            <a:chExt cx="18288000" cy="624840"/>
          </a:xfrm>
        </p:grpSpPr>
        <p:sp>
          <p:nvSpPr>
            <p:cNvPr name="Freeform 22" id="22"/>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6">
                <a:alphaModFix amt="0"/>
              </a:blip>
              <a:stretch>
                <a:fillRect l="0" t="-519896" r="0" b="-519898"/>
              </a:stretch>
            </a:blipFill>
          </p:spPr>
          <p:txBody>
            <a:bodyPr/>
            <a:p/>
          </p:txBody>
        </p:sp>
      </p:grpSp>
      <p:grpSp>
        <p:nvGrpSpPr>
          <p:cNvPr name="Group 23" id="23"/>
          <p:cNvGrpSpPr/>
          <p:nvPr/>
        </p:nvGrpSpPr>
        <p:grpSpPr>
          <a:xfrm rot="0">
            <a:off x="822960" y="9584055"/>
            <a:ext cx="13716000" cy="497205"/>
            <a:chOff x="0" y="0"/>
            <a:chExt cx="18288000" cy="662940"/>
          </a:xfrm>
        </p:grpSpPr>
        <p:sp>
          <p:nvSpPr>
            <p:cNvPr name="Freeform 24" id="24"/>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7">
                <a:alphaModFix amt="0"/>
              </a:blip>
              <a:stretch>
                <a:fillRect l="0" t="-487518" r="0" b="-487518"/>
              </a:stretch>
            </a:blipFill>
          </p:spPr>
          <p:txBody>
            <a:bodyPr/>
            <a:p/>
          </p:txBody>
        </p:sp>
        <p:sp>
          <p:nvSpPr>
            <p:cNvPr name="TextBox 25" id="25"/>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bg_end.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txBody>
            <a:bodyPr/>
            <a:p/>
          </p:txBody>
        </p:sp>
      </p:grpSp>
      <p:grpSp>
        <p:nvGrpSpPr>
          <p:cNvPr name="Group 4" id="4"/>
          <p:cNvGrpSpPr/>
          <p:nvPr/>
        </p:nvGrpSpPr>
        <p:grpSpPr>
          <a:xfrm rot="0">
            <a:off x="0" y="0"/>
            <a:ext cx="2829306" cy="1184338"/>
            <a:chOff x="0" y="0"/>
            <a:chExt cx="3772408" cy="1579118"/>
          </a:xfrm>
        </p:grpSpPr>
        <p:sp>
          <p:nvSpPr>
            <p:cNvPr name="Freeform 5" id="5"/>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3"/>
              <a:stretch>
                <a:fillRect l="0" t="0" r="0" b="0"/>
              </a:stretch>
            </a:blipFill>
          </p:spPr>
          <p:txBody>
            <a:bodyPr/>
            <a:p/>
          </p:txBody>
        </p:sp>
      </p:grpSp>
      <p:sp>
        <p:nvSpPr>
          <p:cNvPr name="TextBox 6" id="6"/>
          <p:cNvSpPr txBox="true"/>
          <p:nvPr/>
        </p:nvSpPr>
        <p:spPr>
          <a:xfrm rot="0">
            <a:off x="1097280" y="2329815"/>
            <a:ext cx="7315200" cy="1327785"/>
          </a:xfrm>
          <a:prstGeom prst="rect">
            <a:avLst/>
          </a:prstGeom>
        </p:spPr>
        <p:txBody>
          <a:bodyPr anchor="t" rtlCol="false" tIns="0" lIns="0" bIns="0" rIns="0">
            <a:spAutoFit/>
          </a:bodyPr>
          <a:lstStyle/>
          <a:p>
            <a:pPr algn="l">
              <a:lnSpc>
                <a:spcPts val="7377"/>
              </a:lnSpc>
            </a:pPr>
            <a:r>
              <a:rPr lang="en-US" sz="5799" b="true">
                <a:solidFill>
                  <a:srgbClr val="FFFFFF"/>
                </a:solidFill>
                <a:latin typeface="Cambria Bold"/>
                <a:ea typeface="Cambria Bold"/>
                <a:cs typeface="Cambria Bold"/>
                <a:sym typeface="Cambria Bold"/>
              </a:rPr>
              <a:t>Cảm ơn hội đồng</a:t>
            </a:r>
          </a:p>
        </p:txBody>
      </p:sp>
      <p:sp>
        <p:nvSpPr>
          <p:cNvPr name="TextBox 7" id="7"/>
          <p:cNvSpPr txBox="true"/>
          <p:nvPr/>
        </p:nvSpPr>
        <p:spPr>
          <a:xfrm rot="0">
            <a:off x="1097280" y="3663315"/>
            <a:ext cx="7132320" cy="725805"/>
          </a:xfrm>
          <a:prstGeom prst="rect">
            <a:avLst/>
          </a:prstGeom>
        </p:spPr>
        <p:txBody>
          <a:bodyPr anchor="t" rtlCol="false" tIns="0" lIns="0" bIns="0" rIns="0">
            <a:spAutoFit/>
          </a:bodyPr>
          <a:lstStyle/>
          <a:p>
            <a:pPr algn="l">
              <a:lnSpc>
                <a:spcPts val="3561"/>
              </a:lnSpc>
            </a:pPr>
            <a:r>
              <a:rPr lang="en-US" sz="2799">
                <a:solidFill>
                  <a:srgbClr val="E8A33D"/>
                </a:solidFill>
                <a:latin typeface="Calibri (MS)"/>
                <a:ea typeface="Calibri (MS)"/>
                <a:cs typeface="Calibri (MS)"/>
                <a:sym typeface="Calibri (MS)"/>
              </a:rPr>
              <a:t>Nhóm rất mong nhận được góp ý.</a:t>
            </a:r>
          </a:p>
        </p:txBody>
      </p:sp>
      <p:sp>
        <p:nvSpPr>
          <p:cNvPr name="TextBox 8" id="8"/>
          <p:cNvSpPr txBox="true"/>
          <p:nvPr/>
        </p:nvSpPr>
        <p:spPr>
          <a:xfrm rot="0">
            <a:off x="1097280" y="4789170"/>
            <a:ext cx="6949440" cy="1885950"/>
          </a:xfrm>
          <a:prstGeom prst="rect">
            <a:avLst/>
          </a:prstGeom>
        </p:spPr>
        <p:txBody>
          <a:bodyPr anchor="t" rtlCol="false" tIns="0" lIns="0" bIns="0" rIns="0">
            <a:spAutoFit/>
          </a:bodyPr>
          <a:lstStyle/>
          <a:p>
            <a:pPr algn="l">
              <a:lnSpc>
                <a:spcPts val="2671"/>
              </a:lnSpc>
            </a:pPr>
            <a:r>
              <a:rPr lang="en-US" sz="2100">
                <a:solidFill>
                  <a:srgbClr val="FFFFFF"/>
                </a:solidFill>
                <a:latin typeface="Calibri (MS)"/>
                <a:ea typeface="Calibri (MS)"/>
                <a:cs typeface="Calibri (MS)"/>
                <a:sym typeface="Calibri (MS)"/>
              </a:rPr>
              <a:t>Mọi con số trong bài đều có log và tái lập được: seed, config và giao thức đánh giá cố định.</a:t>
            </a:r>
          </a:p>
        </p:txBody>
      </p:sp>
      <p:sp>
        <p:nvSpPr>
          <p:cNvPr name="TextBox 9" id="9"/>
          <p:cNvSpPr txBox="true"/>
          <p:nvPr/>
        </p:nvSpPr>
        <p:spPr>
          <a:xfrm rot="0">
            <a:off x="1097280" y="6892290"/>
            <a:ext cx="6949440" cy="344576"/>
          </a:xfrm>
          <a:prstGeom prst="rect">
            <a:avLst/>
          </a:prstGeom>
        </p:spPr>
        <p:txBody>
          <a:bodyPr anchor="t" rtlCol="false" tIns="0" lIns="0" bIns="0" rIns="0">
            <a:spAutoFit/>
          </a:bodyPr>
          <a:lstStyle/>
          <a:p>
            <a:pPr algn="l">
              <a:lnSpc>
                <a:spcPts val="2416"/>
              </a:lnSpc>
            </a:pPr>
            <a:r>
              <a:rPr lang="en-US" sz="1899" b="true">
                <a:solidFill>
                  <a:srgbClr val="C8D6E6"/>
                </a:solidFill>
                <a:latin typeface="Calibri (MS) Bold"/>
                <a:ea typeface="Calibri (MS) Bold"/>
                <a:cs typeface="Calibri (MS) Bold"/>
                <a:sym typeface="Calibri (MS) Bold"/>
              </a:rPr>
              <a:t>Repo: </a:t>
            </a:r>
            <a:r>
              <a:rPr lang="en-US" sz="1899">
                <a:solidFill>
                  <a:srgbClr val="FFFFFF"/>
                </a:solidFill>
                <a:latin typeface="Calibri (MS)"/>
                <a:ea typeface="Calibri (MS)"/>
                <a:cs typeface="Calibri (MS)"/>
                <a:sym typeface="Calibri (MS)"/>
              </a:rPr>
              <a:t>github.com/PLHGNAOH/ViVQA-VLM ↗</a:t>
            </a:r>
          </a:p>
        </p:txBody>
      </p:sp>
      <p:grpSp>
        <p:nvGrpSpPr>
          <p:cNvPr name="Group 10" id="10"/>
          <p:cNvGrpSpPr/>
          <p:nvPr/>
        </p:nvGrpSpPr>
        <p:grpSpPr>
          <a:xfrm rot="0">
            <a:off x="8503920" y="1417320"/>
            <a:ext cx="9326880" cy="5797382"/>
            <a:chOff x="0" y="0"/>
            <a:chExt cx="12435840" cy="7729842"/>
          </a:xfrm>
        </p:grpSpPr>
        <p:sp>
          <p:nvSpPr>
            <p:cNvPr name="Freeform 11" id="11" descr="end_grid.png"/>
            <p:cNvSpPr/>
            <p:nvPr/>
          </p:nvSpPr>
          <p:spPr>
            <a:xfrm flipH="false" flipV="false" rot="0">
              <a:off x="0" y="0"/>
              <a:ext cx="12435840" cy="7729855"/>
            </a:xfrm>
            <a:custGeom>
              <a:avLst/>
              <a:gdLst/>
              <a:ahLst/>
              <a:cxnLst/>
              <a:rect r="r" b="b" t="t" l="l"/>
              <a:pathLst>
                <a:path h="7729855" w="12435840">
                  <a:moveTo>
                    <a:pt x="0" y="0"/>
                  </a:moveTo>
                  <a:lnTo>
                    <a:pt x="12435840" y="0"/>
                  </a:lnTo>
                  <a:lnTo>
                    <a:pt x="12435840" y="7729855"/>
                  </a:lnTo>
                  <a:lnTo>
                    <a:pt x="0" y="7729855"/>
                  </a:lnTo>
                  <a:lnTo>
                    <a:pt x="0" y="0"/>
                  </a:lnTo>
                  <a:close/>
                </a:path>
              </a:pathLst>
            </a:custGeom>
            <a:blipFill>
              <a:blip r:embed="rId4"/>
              <a:stretch>
                <a:fillRect l="0" t="0" r="0" b="0"/>
              </a:stretch>
            </a:blipFill>
          </p:spPr>
          <p:txBody>
            <a:bodyP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06011" y="-1422978"/>
            <a:ext cx="18946825" cy="13987367"/>
          </a:xfrm>
          <a:custGeom>
            <a:avLst/>
            <a:gdLst/>
            <a:ahLst/>
            <a:cxnLst/>
            <a:rect r="r" b="b" t="t" l="l"/>
            <a:pathLst>
              <a:path h="13987367" w="18946825">
                <a:moveTo>
                  <a:pt x="0" y="0"/>
                </a:moveTo>
                <a:lnTo>
                  <a:pt x="18946825" y="0"/>
                </a:lnTo>
                <a:lnTo>
                  <a:pt x="18946825" y="13987367"/>
                </a:lnTo>
                <a:lnTo>
                  <a:pt x="0" y="13987367"/>
                </a:lnTo>
                <a:lnTo>
                  <a:pt x="0" y="0"/>
                </a:lnTo>
                <a:close/>
              </a:path>
            </a:pathLst>
          </a:custGeom>
          <a:blipFill>
            <a:blip r:embed="rId2">
              <a:extLst>
                <a:ext uri="{96DAC541-7B7A-43D3-8B79-37D633B846F1}">
                  <asvg:svgBlip xmlns:asvg="http://schemas.microsoft.com/office/drawing/2016/SVG/main" r:embed="rId3"/>
                </a:ext>
              </a:extLst>
            </a:blip>
            <a:stretch>
              <a:fillRect l="-3" t="0" r="-3" b="0"/>
            </a:stretch>
          </a:blipFill>
        </p:spPr>
        <p:txBody>
          <a:bodyPr/>
          <a:p/>
        </p:txBody>
      </p:sp>
      <p:grpSp>
        <p:nvGrpSpPr>
          <p:cNvPr name="Group 3" id="3"/>
          <p:cNvGrpSpPr/>
          <p:nvPr/>
        </p:nvGrpSpPr>
        <p:grpSpPr>
          <a:xfrm rot="0">
            <a:off x="1152144" y="2425551"/>
            <a:ext cx="16184880" cy="1636395"/>
            <a:chOff x="0" y="0"/>
            <a:chExt cx="21579840" cy="2181860"/>
          </a:xfrm>
        </p:grpSpPr>
        <p:sp>
          <p:nvSpPr>
            <p:cNvPr name="Freeform 4" id="4"/>
            <p:cNvSpPr/>
            <p:nvPr/>
          </p:nvSpPr>
          <p:spPr>
            <a:xfrm flipH="false" flipV="false" rot="0">
              <a:off x="0" y="0"/>
              <a:ext cx="21579839" cy="2181860"/>
            </a:xfrm>
            <a:custGeom>
              <a:avLst/>
              <a:gdLst/>
              <a:ahLst/>
              <a:cxnLst/>
              <a:rect r="r" b="b" t="t" l="l"/>
              <a:pathLst>
                <a:path h="2181860" w="21579839">
                  <a:moveTo>
                    <a:pt x="0" y="0"/>
                  </a:moveTo>
                  <a:lnTo>
                    <a:pt x="21579839" y="0"/>
                  </a:lnTo>
                  <a:lnTo>
                    <a:pt x="21579839" y="2181860"/>
                  </a:lnTo>
                  <a:lnTo>
                    <a:pt x="0" y="2181860"/>
                  </a:lnTo>
                  <a:close/>
                </a:path>
              </a:pathLst>
            </a:custGeom>
            <a:blipFill>
              <a:blip r:embed="rId4">
                <a:alphaModFix amt="0"/>
              </a:blip>
              <a:stretch>
                <a:fillRect l="0" t="-365236" r="0" b="-365236"/>
              </a:stretch>
            </a:blipFill>
          </p:spPr>
          <p:txBody>
            <a:bodyPr/>
            <a:p/>
          </p:txBody>
        </p:sp>
      </p:grpSp>
      <p:grpSp>
        <p:nvGrpSpPr>
          <p:cNvPr name="Group 5" id="5"/>
          <p:cNvGrpSpPr/>
          <p:nvPr/>
        </p:nvGrpSpPr>
        <p:grpSpPr>
          <a:xfrm rot="0">
            <a:off x="1152144" y="4061936"/>
            <a:ext cx="15636240" cy="1508760"/>
            <a:chOff x="0" y="0"/>
            <a:chExt cx="20848320" cy="2011680"/>
          </a:xfrm>
        </p:grpSpPr>
        <p:sp>
          <p:nvSpPr>
            <p:cNvPr name="Freeform 6" id="6"/>
            <p:cNvSpPr/>
            <p:nvPr/>
          </p:nvSpPr>
          <p:spPr>
            <a:xfrm flipH="false" flipV="false" rot="0">
              <a:off x="0" y="0"/>
              <a:ext cx="20848320" cy="2011680"/>
            </a:xfrm>
            <a:custGeom>
              <a:avLst/>
              <a:gdLst/>
              <a:ahLst/>
              <a:cxnLst/>
              <a:rect r="r" b="b" t="t" l="l"/>
              <a:pathLst>
                <a:path h="2011680" w="20848320">
                  <a:moveTo>
                    <a:pt x="0" y="0"/>
                  </a:moveTo>
                  <a:lnTo>
                    <a:pt x="20848320" y="0"/>
                  </a:lnTo>
                  <a:lnTo>
                    <a:pt x="20848320" y="2011680"/>
                  </a:lnTo>
                  <a:lnTo>
                    <a:pt x="0" y="2011680"/>
                  </a:lnTo>
                  <a:close/>
                </a:path>
              </a:pathLst>
            </a:custGeom>
            <a:blipFill>
              <a:blip r:embed="rId4">
                <a:alphaModFix amt="0"/>
              </a:blip>
              <a:stretch>
                <a:fillRect l="0" t="-385097" r="0" b="-385097"/>
              </a:stretch>
            </a:blipFill>
          </p:spPr>
          <p:txBody>
            <a:bodyPr/>
            <a:p/>
          </p:txBody>
        </p:sp>
      </p:grpSp>
      <p:grpSp>
        <p:nvGrpSpPr>
          <p:cNvPr name="Group 7" id="7"/>
          <p:cNvGrpSpPr/>
          <p:nvPr/>
        </p:nvGrpSpPr>
        <p:grpSpPr>
          <a:xfrm rot="0">
            <a:off x="1152144" y="5788352"/>
            <a:ext cx="11795760" cy="559594"/>
            <a:chOff x="0" y="0"/>
            <a:chExt cx="15727680" cy="746125"/>
          </a:xfrm>
        </p:grpSpPr>
        <p:sp>
          <p:nvSpPr>
            <p:cNvPr name="Freeform 8" id="8"/>
            <p:cNvSpPr/>
            <p:nvPr/>
          </p:nvSpPr>
          <p:spPr>
            <a:xfrm flipH="false" flipV="false" rot="0">
              <a:off x="0" y="0"/>
              <a:ext cx="15727680" cy="746125"/>
            </a:xfrm>
            <a:custGeom>
              <a:avLst/>
              <a:gdLst/>
              <a:ahLst/>
              <a:cxnLst/>
              <a:rect r="r" b="b" t="t" l="l"/>
              <a:pathLst>
                <a:path h="746125" w="15727680">
                  <a:moveTo>
                    <a:pt x="0" y="0"/>
                  </a:moveTo>
                  <a:lnTo>
                    <a:pt x="15727680" y="0"/>
                  </a:lnTo>
                  <a:lnTo>
                    <a:pt x="15727680" y="746125"/>
                  </a:lnTo>
                  <a:lnTo>
                    <a:pt x="0" y="746125"/>
                  </a:lnTo>
                  <a:close/>
                </a:path>
              </a:pathLst>
            </a:custGeom>
            <a:blipFill>
              <a:blip r:embed="rId5">
                <a:alphaModFix amt="0"/>
              </a:blip>
              <a:stretch>
                <a:fillRect l="0" t="-360442" r="0" b="-360442"/>
              </a:stretch>
            </a:blipFill>
          </p:spPr>
          <p:txBody>
            <a:bodyPr/>
            <a:p/>
          </p:txBody>
        </p:sp>
      </p:grpSp>
      <p:grpSp>
        <p:nvGrpSpPr>
          <p:cNvPr name="Group 9" id="9"/>
          <p:cNvGrpSpPr/>
          <p:nvPr/>
        </p:nvGrpSpPr>
        <p:grpSpPr>
          <a:xfrm rot="0">
            <a:off x="1152144" y="6531216"/>
            <a:ext cx="14538960" cy="523399"/>
            <a:chOff x="0" y="0"/>
            <a:chExt cx="19385280" cy="697865"/>
          </a:xfrm>
        </p:grpSpPr>
        <p:sp>
          <p:nvSpPr>
            <p:cNvPr name="Freeform 10" id="10"/>
            <p:cNvSpPr/>
            <p:nvPr/>
          </p:nvSpPr>
          <p:spPr>
            <a:xfrm flipH="false" flipV="false" rot="0">
              <a:off x="0" y="0"/>
              <a:ext cx="19385280" cy="697865"/>
            </a:xfrm>
            <a:custGeom>
              <a:avLst/>
              <a:gdLst/>
              <a:ahLst/>
              <a:cxnLst/>
              <a:rect r="r" b="b" t="t" l="l"/>
              <a:pathLst>
                <a:path h="697865" w="19385280">
                  <a:moveTo>
                    <a:pt x="0" y="0"/>
                  </a:moveTo>
                  <a:lnTo>
                    <a:pt x="19385280" y="0"/>
                  </a:lnTo>
                  <a:lnTo>
                    <a:pt x="19385280" y="697865"/>
                  </a:lnTo>
                  <a:lnTo>
                    <a:pt x="0" y="697865"/>
                  </a:lnTo>
                  <a:close/>
                </a:path>
              </a:pathLst>
            </a:custGeom>
            <a:blipFill>
              <a:blip r:embed="rId4">
                <a:alphaModFix amt="0"/>
              </a:blip>
              <a:stretch>
                <a:fillRect l="0" t="-1116205" r="0" b="-1116207"/>
              </a:stretch>
            </a:blipFill>
          </p:spPr>
          <p:txBody>
            <a:bodyPr/>
            <a:p/>
          </p:txBody>
        </p:sp>
      </p:grpSp>
      <p:grpSp>
        <p:nvGrpSpPr>
          <p:cNvPr name="Group 11" id="11"/>
          <p:cNvGrpSpPr/>
          <p:nvPr/>
        </p:nvGrpSpPr>
        <p:grpSpPr>
          <a:xfrm rot="0">
            <a:off x="0" y="0"/>
            <a:ext cx="2829306" cy="1184338"/>
            <a:chOff x="0" y="0"/>
            <a:chExt cx="3772408" cy="1579118"/>
          </a:xfrm>
        </p:grpSpPr>
        <p:sp>
          <p:nvSpPr>
            <p:cNvPr name="Freeform 12" id="12"/>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6"/>
              <a:stretch>
                <a:fillRect l="0" t="0" r="0" b="0"/>
              </a:stretch>
            </a:blipFill>
          </p:spPr>
          <p:txBody>
            <a:bodyPr/>
            <a:p/>
          </p:txBody>
        </p:sp>
      </p:grpSp>
      <p:grpSp>
        <p:nvGrpSpPr>
          <p:cNvPr name="Group 13" id="13"/>
          <p:cNvGrpSpPr/>
          <p:nvPr/>
        </p:nvGrpSpPr>
        <p:grpSpPr>
          <a:xfrm rot="0">
            <a:off x="1152144" y="7273719"/>
            <a:ext cx="14538960" cy="523399"/>
            <a:chOff x="0" y="0"/>
            <a:chExt cx="19385280" cy="697865"/>
          </a:xfrm>
        </p:grpSpPr>
        <p:sp>
          <p:nvSpPr>
            <p:cNvPr name="Freeform 14" id="14"/>
            <p:cNvSpPr/>
            <p:nvPr/>
          </p:nvSpPr>
          <p:spPr>
            <a:xfrm flipH="false" flipV="false" rot="0">
              <a:off x="0" y="0"/>
              <a:ext cx="19385280" cy="697865"/>
            </a:xfrm>
            <a:custGeom>
              <a:avLst/>
              <a:gdLst/>
              <a:ahLst/>
              <a:cxnLst/>
              <a:rect r="r" b="b" t="t" l="l"/>
              <a:pathLst>
                <a:path h="697865" w="19385280">
                  <a:moveTo>
                    <a:pt x="0" y="0"/>
                  </a:moveTo>
                  <a:lnTo>
                    <a:pt x="19385280" y="0"/>
                  </a:lnTo>
                  <a:lnTo>
                    <a:pt x="19385280" y="697865"/>
                  </a:lnTo>
                  <a:lnTo>
                    <a:pt x="0" y="697865"/>
                  </a:lnTo>
                  <a:close/>
                </a:path>
              </a:pathLst>
            </a:custGeom>
            <a:blipFill>
              <a:blip r:embed="rId5">
                <a:alphaModFix amt="0"/>
              </a:blip>
              <a:stretch>
                <a:fillRect l="0" t="-490878" r="0" b="-490878"/>
              </a:stretch>
            </a:blipFill>
          </p:spPr>
          <p:txBody>
            <a:bodyPr/>
            <a:p/>
          </p:txBody>
        </p:sp>
      </p:grpSp>
      <p:sp>
        <p:nvSpPr>
          <p:cNvPr name="TextBox 15" id="15"/>
          <p:cNvSpPr txBox="true"/>
          <p:nvPr/>
        </p:nvSpPr>
        <p:spPr>
          <a:xfrm rot="0">
            <a:off x="768820" y="2584609"/>
            <a:ext cx="13565791" cy="5972175"/>
          </a:xfrm>
          <a:prstGeom prst="rect">
            <a:avLst/>
          </a:prstGeom>
        </p:spPr>
        <p:txBody>
          <a:bodyPr anchor="t" rtlCol="false" tIns="0" lIns="0" bIns="0" rIns="0">
            <a:spAutoFit/>
          </a:bodyPr>
          <a:lstStyle/>
          <a:p>
            <a:pPr algn="l">
              <a:lnSpc>
                <a:spcPts val="8074"/>
              </a:lnSpc>
            </a:pPr>
            <a:r>
              <a:rPr lang="en-US" sz="6729" b="true">
                <a:solidFill>
                  <a:srgbClr val="FFFFFF"/>
                </a:solidFill>
                <a:latin typeface="Noto Sans Bold"/>
                <a:ea typeface="Noto Sans Bold"/>
                <a:cs typeface="Noto Sans Bold"/>
                <a:sym typeface="Noto Sans Bold"/>
              </a:rPr>
              <a:t>Phụ lục</a:t>
            </a:r>
          </a:p>
          <a:p>
            <a:pPr algn="l">
              <a:lnSpc>
                <a:spcPts val="7355"/>
              </a:lnSpc>
            </a:pPr>
            <a:r>
              <a:rPr lang="en-US" sz="6129" b="true">
                <a:solidFill>
                  <a:srgbClr val="FFFFFF"/>
                </a:solidFill>
                <a:latin typeface="Noto Sans Bold"/>
                <a:ea typeface="Noto Sans Bold"/>
                <a:cs typeface="Noto Sans Bold"/>
                <a:sym typeface="Noto Sans Bold"/>
              </a:rPr>
              <a:t> </a:t>
            </a:r>
          </a:p>
          <a:p>
            <a:pPr algn="l" marL="1481929" indent="-370482" lvl="3">
              <a:lnSpc>
                <a:spcPts val="6514"/>
              </a:lnSpc>
              <a:buFont typeface="Arial"/>
              <a:buChar char="￭"/>
            </a:pPr>
            <a:r>
              <a:rPr lang="en-US" sz="5424">
                <a:solidFill>
                  <a:srgbClr val="FFFFFF"/>
                </a:solidFill>
                <a:latin typeface="Noto Sans"/>
                <a:ea typeface="Noto Sans"/>
                <a:cs typeface="Noto Sans"/>
                <a:sym typeface="Noto Sans"/>
              </a:rPr>
              <a:t>Slide dự phòng — chỉ mở khi hội đồng hỏi</a:t>
            </a:r>
          </a:p>
          <a:p>
            <a:pPr algn="l" marL="1481929" indent="-370482" lvl="3">
              <a:lnSpc>
                <a:spcPts val="6514"/>
              </a:lnSpc>
              <a:buFont typeface="Arial"/>
              <a:buChar char="￭"/>
            </a:pPr>
            <a:r>
              <a:rPr lang="en-US" sz="5424">
                <a:solidFill>
                  <a:srgbClr val="FFFFFF"/>
                </a:solidFill>
                <a:latin typeface="Noto Sans"/>
                <a:ea typeface="Noto Sans"/>
                <a:cs typeface="Noto Sans"/>
                <a:sym typeface="Noto Sans"/>
              </a:rPr>
              <a:t>Đối chứng, SOTA, độ vững qua seed</a:t>
            </a:r>
          </a:p>
          <a:p>
            <a:pPr algn="l" marL="1481929" indent="-370482" lvl="3">
              <a:lnSpc>
                <a:spcPts val="6514"/>
              </a:lnSpc>
              <a:buFont typeface="Arial"/>
              <a:buChar char="￭"/>
            </a:pPr>
            <a:r>
              <a:rPr lang="en-US" sz="5424">
                <a:solidFill>
                  <a:srgbClr val="FFFFFF"/>
                </a:solidFill>
                <a:latin typeface="Noto Sans"/>
                <a:ea typeface="Noto Sans"/>
                <a:cs typeface="Noto Sans"/>
                <a:sym typeface="Noto Sans"/>
              </a:rPr>
              <a:t>Ablation LoRA, epoch ViVQA, adapter dùng chung, loại câu hỏi</a:t>
            </a:r>
          </a:p>
          <a:p>
            <a:pPr algn="l" marL="1481929" indent="-370482" lvl="3">
              <a:lnSpc>
                <a:spcPts val="5884"/>
              </a:lnSpc>
            </a:pPr>
          </a:p>
        </p:txBody>
      </p:sp>
      <p:sp>
        <p:nvSpPr>
          <p:cNvPr name="TextBox 16" id="16"/>
          <p:cNvSpPr txBox="true"/>
          <p:nvPr/>
        </p:nvSpPr>
        <p:spPr>
          <a:xfrm rot="0">
            <a:off x="638870" y="1375524"/>
            <a:ext cx="2712606" cy="695325"/>
          </a:xfrm>
          <a:prstGeom prst="rect">
            <a:avLst/>
          </a:prstGeom>
        </p:spPr>
        <p:txBody>
          <a:bodyPr anchor="t" rtlCol="false" tIns="0" lIns="0" bIns="0" rIns="0">
            <a:spAutoFit/>
          </a:bodyPr>
          <a:lstStyle/>
          <a:p>
            <a:pPr algn="ctr">
              <a:lnSpc>
                <a:spcPts val="5519"/>
              </a:lnSpc>
            </a:pPr>
            <a:r>
              <a:rPr lang="en-US" sz="4599" b="true">
                <a:solidFill>
                  <a:srgbClr val="FFFFFF"/>
                </a:solidFill>
                <a:latin typeface="Noto Sans Bold"/>
                <a:ea typeface="Noto Sans Bold"/>
                <a:cs typeface="Noto Sans Bold"/>
                <a:sym typeface="Noto Sans Bold"/>
              </a:rPr>
              <a:t> Review 2</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REVIEW 2 · BƯỚC TIẾP THEO</a:t>
            </a:r>
          </a:p>
        </p:txBody>
      </p:sp>
      <p:sp>
        <p:nvSpPr>
          <p:cNvPr name="TextBox 5" id="5"/>
          <p:cNvSpPr txBox="true"/>
          <p:nvPr/>
        </p:nvSpPr>
        <p:spPr>
          <a:xfrm rot="0">
            <a:off x="822960" y="812292"/>
            <a:ext cx="16641623" cy="743074"/>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Đến Review 3 </a:t>
            </a:r>
          </a:p>
        </p:txBody>
      </p:sp>
      <p:sp>
        <p:nvSpPr>
          <p:cNvPr name="Freeform 6" id="6"/>
          <p:cNvSpPr/>
          <p:nvPr/>
        </p:nvSpPr>
        <p:spPr>
          <a:xfrm flipH="false" flipV="false" rot="0">
            <a:off x="806291" y="2383631"/>
            <a:ext cx="3833717" cy="4696778"/>
          </a:xfrm>
          <a:custGeom>
            <a:avLst/>
            <a:gdLst/>
            <a:ahLst/>
            <a:cxnLst/>
            <a:rect r="r" b="b" t="t" l="l"/>
            <a:pathLst>
              <a:path h="4696778" w="3833717">
                <a:moveTo>
                  <a:pt x="0" y="0"/>
                </a:moveTo>
                <a:lnTo>
                  <a:pt x="3833717" y="0"/>
                </a:lnTo>
                <a:lnTo>
                  <a:pt x="3833717" y="4696778"/>
                </a:lnTo>
                <a:lnTo>
                  <a:pt x="0" y="4696778"/>
                </a:lnTo>
                <a:lnTo>
                  <a:pt x="0" y="0"/>
                </a:lnTo>
                <a:close/>
              </a:path>
            </a:pathLst>
          </a:custGeom>
          <a:blipFill>
            <a:blip r:embed="rId3">
              <a:extLst>
                <a:ext uri="{96DAC541-7B7A-43D3-8B79-37D633B846F1}">
                  <asvg:svgBlip xmlns:asvg="http://schemas.microsoft.com/office/drawing/2016/SVG/main" r:embed="rId4"/>
                </a:ext>
              </a:extLst>
            </a:blip>
            <a:stretch>
              <a:fillRect l="0" t="-27" r="0" b="-27"/>
            </a:stretch>
          </a:blipFill>
        </p:spPr>
        <p:txBody>
          <a:bodyPr/>
          <a:p/>
        </p:txBody>
      </p:sp>
      <p:sp>
        <p:nvSpPr>
          <p:cNvPr name="Freeform 7" id="7"/>
          <p:cNvSpPr/>
          <p:nvPr/>
        </p:nvSpPr>
        <p:spPr>
          <a:xfrm flipH="false" flipV="false" rot="0">
            <a:off x="1217771" y="2795111"/>
            <a:ext cx="1336358" cy="1336358"/>
          </a:xfrm>
          <a:custGeom>
            <a:avLst/>
            <a:gdLst/>
            <a:ahLst/>
            <a:cxnLst/>
            <a:rect r="r" b="b" t="t" l="l"/>
            <a:pathLst>
              <a:path h="1336358" w="1336358">
                <a:moveTo>
                  <a:pt x="0" y="0"/>
                </a:moveTo>
                <a:lnTo>
                  <a:pt x="1336358" y="0"/>
                </a:lnTo>
                <a:lnTo>
                  <a:pt x="1336358" y="1336358"/>
                </a:lnTo>
                <a:lnTo>
                  <a:pt x="0" y="13363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p:txBody>
      </p:sp>
      <p:grpSp>
        <p:nvGrpSpPr>
          <p:cNvPr name="Group 8" id="8"/>
          <p:cNvGrpSpPr/>
          <p:nvPr/>
        </p:nvGrpSpPr>
        <p:grpSpPr>
          <a:xfrm rot="0">
            <a:off x="1234440" y="2811780"/>
            <a:ext cx="1303020" cy="1303020"/>
            <a:chOff x="0" y="0"/>
            <a:chExt cx="1737360" cy="1737360"/>
          </a:xfrm>
        </p:grpSpPr>
        <p:sp>
          <p:nvSpPr>
            <p:cNvPr name="Freeform 9" id="9"/>
            <p:cNvSpPr/>
            <p:nvPr/>
          </p:nvSpPr>
          <p:spPr>
            <a:xfrm flipH="false" flipV="false" rot="0">
              <a:off x="0" y="0"/>
              <a:ext cx="1737360" cy="1737360"/>
            </a:xfrm>
            <a:custGeom>
              <a:avLst/>
              <a:gdLst/>
              <a:ahLst/>
              <a:cxnLst/>
              <a:rect r="r" b="b" t="t" l="l"/>
              <a:pathLst>
                <a:path h="1737360" w="1737360">
                  <a:moveTo>
                    <a:pt x="0" y="0"/>
                  </a:moveTo>
                  <a:lnTo>
                    <a:pt x="1737360" y="0"/>
                  </a:lnTo>
                  <a:lnTo>
                    <a:pt x="1737360" y="1737360"/>
                  </a:lnTo>
                  <a:lnTo>
                    <a:pt x="0" y="1737360"/>
                  </a:lnTo>
                  <a:close/>
                </a:path>
              </a:pathLst>
            </a:custGeom>
            <a:blipFill>
              <a:blip r:embed="rId2">
                <a:alphaModFix amt="0"/>
              </a:blip>
              <a:stretch>
                <a:fillRect l="-78392" t="0" r="-78393" b="0"/>
              </a:stretch>
            </a:blipFill>
          </p:spPr>
          <p:txBody>
            <a:bodyPr/>
            <a:p/>
          </p:txBody>
        </p:sp>
      </p:grpSp>
      <p:grpSp>
        <p:nvGrpSpPr>
          <p:cNvPr name="Group 10" id="10"/>
          <p:cNvGrpSpPr/>
          <p:nvPr/>
        </p:nvGrpSpPr>
        <p:grpSpPr>
          <a:xfrm rot="0">
            <a:off x="1234440" y="2776061"/>
            <a:ext cx="1303020" cy="1338739"/>
            <a:chOff x="0" y="0"/>
            <a:chExt cx="1737360" cy="1784985"/>
          </a:xfrm>
        </p:grpSpPr>
        <p:sp>
          <p:nvSpPr>
            <p:cNvPr name="Freeform 11" id="11"/>
            <p:cNvSpPr/>
            <p:nvPr/>
          </p:nvSpPr>
          <p:spPr>
            <a:xfrm flipH="false" flipV="false" rot="0">
              <a:off x="0" y="0"/>
              <a:ext cx="1737360" cy="1784985"/>
            </a:xfrm>
            <a:custGeom>
              <a:avLst/>
              <a:gdLst/>
              <a:ahLst/>
              <a:cxnLst/>
              <a:rect r="r" b="b" t="t" l="l"/>
              <a:pathLst>
                <a:path h="1784985" w="1737360">
                  <a:moveTo>
                    <a:pt x="0" y="0"/>
                  </a:moveTo>
                  <a:lnTo>
                    <a:pt x="1737360" y="0"/>
                  </a:lnTo>
                  <a:lnTo>
                    <a:pt x="1737360" y="1784985"/>
                  </a:lnTo>
                  <a:lnTo>
                    <a:pt x="0" y="1784985"/>
                  </a:lnTo>
                  <a:close/>
                </a:path>
              </a:pathLst>
            </a:custGeom>
            <a:blipFill>
              <a:blip r:embed="rId7">
                <a:alphaModFix amt="0"/>
              </a:blip>
              <a:stretch>
                <a:fillRect l="-81912" t="0" r="-81912" b="0"/>
              </a:stretch>
            </a:blipFill>
          </p:spPr>
          <p:txBody>
            <a:bodyPr/>
            <a:p/>
          </p:txBody>
        </p:sp>
      </p:grpSp>
      <p:grpSp>
        <p:nvGrpSpPr>
          <p:cNvPr name="Group 12" id="12"/>
          <p:cNvGrpSpPr/>
          <p:nvPr/>
        </p:nvGrpSpPr>
        <p:grpSpPr>
          <a:xfrm rot="0">
            <a:off x="1234440" y="2740342"/>
            <a:ext cx="1303020" cy="1374458"/>
            <a:chOff x="0" y="0"/>
            <a:chExt cx="1737360" cy="1832610"/>
          </a:xfrm>
        </p:grpSpPr>
        <p:sp>
          <p:nvSpPr>
            <p:cNvPr name="Freeform 13" id="13"/>
            <p:cNvSpPr/>
            <p:nvPr/>
          </p:nvSpPr>
          <p:spPr>
            <a:xfrm flipH="false" flipV="false" rot="0">
              <a:off x="0" y="0"/>
              <a:ext cx="1737360" cy="1832610"/>
            </a:xfrm>
            <a:custGeom>
              <a:avLst/>
              <a:gdLst/>
              <a:ahLst/>
              <a:cxnLst/>
              <a:rect r="r" b="b" t="t" l="l"/>
              <a:pathLst>
                <a:path h="1832610" w="1737360">
                  <a:moveTo>
                    <a:pt x="0" y="0"/>
                  </a:moveTo>
                  <a:lnTo>
                    <a:pt x="1737360" y="0"/>
                  </a:lnTo>
                  <a:lnTo>
                    <a:pt x="1737360" y="1832610"/>
                  </a:lnTo>
                  <a:lnTo>
                    <a:pt x="0" y="1832610"/>
                  </a:lnTo>
                  <a:close/>
                </a:path>
              </a:pathLst>
            </a:custGeom>
            <a:blipFill>
              <a:blip r:embed="rId8">
                <a:alphaModFix amt="0"/>
              </a:blip>
              <a:stretch>
                <a:fillRect l="-85432" t="0" r="-85432" b="0"/>
              </a:stretch>
            </a:blipFill>
          </p:spPr>
          <p:txBody>
            <a:bodyPr/>
            <a:p/>
          </p:txBody>
        </p:sp>
      </p:grpSp>
      <p:grpSp>
        <p:nvGrpSpPr>
          <p:cNvPr name="Group 14" id="14"/>
          <p:cNvGrpSpPr/>
          <p:nvPr/>
        </p:nvGrpSpPr>
        <p:grpSpPr>
          <a:xfrm rot="0">
            <a:off x="1234440" y="2704624"/>
            <a:ext cx="1303020" cy="1410176"/>
            <a:chOff x="0" y="0"/>
            <a:chExt cx="1737360" cy="1880235"/>
          </a:xfrm>
        </p:grpSpPr>
        <p:sp>
          <p:nvSpPr>
            <p:cNvPr name="Freeform 15" id="15"/>
            <p:cNvSpPr/>
            <p:nvPr/>
          </p:nvSpPr>
          <p:spPr>
            <a:xfrm flipH="false" flipV="false" rot="0">
              <a:off x="0" y="0"/>
              <a:ext cx="1737360" cy="1880236"/>
            </a:xfrm>
            <a:custGeom>
              <a:avLst/>
              <a:gdLst/>
              <a:ahLst/>
              <a:cxnLst/>
              <a:rect r="r" b="b" t="t" l="l"/>
              <a:pathLst>
                <a:path h="1880236" w="1737360">
                  <a:moveTo>
                    <a:pt x="0" y="0"/>
                  </a:moveTo>
                  <a:lnTo>
                    <a:pt x="1737360" y="0"/>
                  </a:lnTo>
                  <a:lnTo>
                    <a:pt x="1737360" y="1880236"/>
                  </a:lnTo>
                  <a:lnTo>
                    <a:pt x="0" y="1880236"/>
                  </a:lnTo>
                  <a:close/>
                </a:path>
              </a:pathLst>
            </a:custGeom>
            <a:blipFill>
              <a:blip r:embed="rId9">
                <a:alphaModFix amt="0"/>
              </a:blip>
              <a:stretch>
                <a:fillRect l="-88854" t="0" r="-88854" b="0"/>
              </a:stretch>
            </a:blipFill>
          </p:spPr>
          <p:txBody>
            <a:bodyPr/>
            <a:p/>
          </p:txBody>
        </p:sp>
        <p:sp>
          <p:nvSpPr>
            <p:cNvPr name="TextBox 16" id="16"/>
            <p:cNvSpPr txBox="true"/>
            <p:nvPr/>
          </p:nvSpPr>
          <p:spPr>
            <a:xfrm>
              <a:off x="0" y="-47625"/>
              <a:ext cx="1737360" cy="192786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a:t>
              </a:r>
            </a:p>
          </p:txBody>
        </p:sp>
      </p:grpSp>
      <p:sp>
        <p:nvSpPr>
          <p:cNvPr name="TextBox 17" id="17"/>
          <p:cNvSpPr txBox="true"/>
          <p:nvPr/>
        </p:nvSpPr>
        <p:spPr>
          <a:xfrm rot="0">
            <a:off x="1234440" y="4229100"/>
            <a:ext cx="2977401" cy="2560320"/>
          </a:xfrm>
          <a:prstGeom prst="rect">
            <a:avLst/>
          </a:prstGeom>
        </p:spPr>
        <p:txBody>
          <a:bodyPr anchor="t" rtlCol="false" tIns="0" lIns="0" bIns="0" rIns="0">
            <a:spAutoFit/>
          </a:bodyPr>
          <a:lstStyle/>
          <a:p>
            <a:pPr algn="l">
              <a:lnSpc>
                <a:spcPts val="2700"/>
              </a:lnSpc>
            </a:pPr>
            <a:r>
              <a:rPr lang="en-US" sz="2250">
                <a:solidFill>
                  <a:srgbClr val="243044"/>
                </a:solidFill>
                <a:latin typeface="Calibri (MS)"/>
                <a:ea typeface="Calibri (MS)"/>
                <a:cs typeface="Calibri (MS)"/>
                <a:sym typeface="Calibri (MS)"/>
              </a:rPr>
              <a:t>Đã xong: đo hallucination (POPE tiếng Việt) và phân tích lỗi — H4 ủng hộ một phần</a:t>
            </a:r>
          </a:p>
        </p:txBody>
      </p:sp>
      <p:sp>
        <p:nvSpPr>
          <p:cNvPr name="Freeform 18" id="18"/>
          <p:cNvSpPr/>
          <p:nvPr/>
        </p:nvSpPr>
        <p:spPr>
          <a:xfrm flipH="false" flipV="false" rot="0">
            <a:off x="5086712" y="2383631"/>
            <a:ext cx="3833717" cy="4696778"/>
          </a:xfrm>
          <a:custGeom>
            <a:avLst/>
            <a:gdLst/>
            <a:ahLst/>
            <a:cxnLst/>
            <a:rect r="r" b="b" t="t" l="l"/>
            <a:pathLst>
              <a:path h="4696778" w="3833717">
                <a:moveTo>
                  <a:pt x="0" y="0"/>
                </a:moveTo>
                <a:lnTo>
                  <a:pt x="3833717" y="0"/>
                </a:lnTo>
                <a:lnTo>
                  <a:pt x="3833717" y="4696778"/>
                </a:lnTo>
                <a:lnTo>
                  <a:pt x="0" y="4696778"/>
                </a:lnTo>
                <a:lnTo>
                  <a:pt x="0" y="0"/>
                </a:lnTo>
                <a:close/>
              </a:path>
            </a:pathLst>
          </a:custGeom>
          <a:blipFill>
            <a:blip r:embed="rId10">
              <a:extLst>
                <a:ext uri="{96DAC541-7B7A-43D3-8B79-37D633B846F1}">
                  <asvg:svgBlip xmlns:asvg="http://schemas.microsoft.com/office/drawing/2016/SVG/main" r:embed="rId11"/>
                </a:ext>
              </a:extLst>
            </a:blip>
            <a:stretch>
              <a:fillRect l="0" t="-27" r="0" b="-27"/>
            </a:stretch>
          </a:blipFill>
        </p:spPr>
        <p:txBody>
          <a:bodyPr/>
          <a:p/>
        </p:txBody>
      </p:sp>
      <p:sp>
        <p:nvSpPr>
          <p:cNvPr name="Freeform 19" id="19"/>
          <p:cNvSpPr/>
          <p:nvPr/>
        </p:nvSpPr>
        <p:spPr>
          <a:xfrm flipH="false" flipV="false" rot="0">
            <a:off x="5498192" y="2795111"/>
            <a:ext cx="1336357" cy="1336358"/>
          </a:xfrm>
          <a:custGeom>
            <a:avLst/>
            <a:gdLst/>
            <a:ahLst/>
            <a:cxnLst/>
            <a:rect r="r" b="b" t="t" l="l"/>
            <a:pathLst>
              <a:path h="1336358" w="1336357">
                <a:moveTo>
                  <a:pt x="0" y="0"/>
                </a:moveTo>
                <a:lnTo>
                  <a:pt x="1336357" y="0"/>
                </a:lnTo>
                <a:lnTo>
                  <a:pt x="1336357" y="1336358"/>
                </a:lnTo>
                <a:lnTo>
                  <a:pt x="0" y="133635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txBody>
          <a:bodyPr/>
          <a:p/>
        </p:txBody>
      </p:sp>
      <p:grpSp>
        <p:nvGrpSpPr>
          <p:cNvPr name="Group 20" id="20"/>
          <p:cNvGrpSpPr/>
          <p:nvPr/>
        </p:nvGrpSpPr>
        <p:grpSpPr>
          <a:xfrm rot="0">
            <a:off x="5514861" y="2811780"/>
            <a:ext cx="1303020" cy="1303020"/>
            <a:chOff x="0" y="0"/>
            <a:chExt cx="1737360" cy="1737360"/>
          </a:xfrm>
        </p:grpSpPr>
        <p:sp>
          <p:nvSpPr>
            <p:cNvPr name="Freeform 21" id="21"/>
            <p:cNvSpPr/>
            <p:nvPr/>
          </p:nvSpPr>
          <p:spPr>
            <a:xfrm flipH="false" flipV="false" rot="0">
              <a:off x="0" y="0"/>
              <a:ext cx="1737360" cy="1737360"/>
            </a:xfrm>
            <a:custGeom>
              <a:avLst/>
              <a:gdLst/>
              <a:ahLst/>
              <a:cxnLst/>
              <a:rect r="r" b="b" t="t" l="l"/>
              <a:pathLst>
                <a:path h="1737360" w="1737360">
                  <a:moveTo>
                    <a:pt x="0" y="0"/>
                  </a:moveTo>
                  <a:lnTo>
                    <a:pt x="1737360" y="0"/>
                  </a:lnTo>
                  <a:lnTo>
                    <a:pt x="1737360" y="1737360"/>
                  </a:lnTo>
                  <a:lnTo>
                    <a:pt x="0" y="1737360"/>
                  </a:lnTo>
                  <a:close/>
                </a:path>
              </a:pathLst>
            </a:custGeom>
            <a:blipFill>
              <a:blip r:embed="rId2">
                <a:alphaModFix amt="0"/>
              </a:blip>
              <a:stretch>
                <a:fillRect l="-78392" t="0" r="-78393" b="0"/>
              </a:stretch>
            </a:blipFill>
          </p:spPr>
          <p:txBody>
            <a:bodyPr/>
            <a:p/>
          </p:txBody>
        </p:sp>
      </p:grpSp>
      <p:grpSp>
        <p:nvGrpSpPr>
          <p:cNvPr name="Group 22" id="22"/>
          <p:cNvGrpSpPr/>
          <p:nvPr/>
        </p:nvGrpSpPr>
        <p:grpSpPr>
          <a:xfrm rot="0">
            <a:off x="5514861" y="2776061"/>
            <a:ext cx="1303020" cy="1338739"/>
            <a:chOff x="0" y="0"/>
            <a:chExt cx="1737360" cy="1784985"/>
          </a:xfrm>
        </p:grpSpPr>
        <p:sp>
          <p:nvSpPr>
            <p:cNvPr name="Freeform 23" id="23"/>
            <p:cNvSpPr/>
            <p:nvPr/>
          </p:nvSpPr>
          <p:spPr>
            <a:xfrm flipH="false" flipV="false" rot="0">
              <a:off x="0" y="0"/>
              <a:ext cx="1737360" cy="1784985"/>
            </a:xfrm>
            <a:custGeom>
              <a:avLst/>
              <a:gdLst/>
              <a:ahLst/>
              <a:cxnLst/>
              <a:rect r="r" b="b" t="t" l="l"/>
              <a:pathLst>
                <a:path h="1784985" w="1737360">
                  <a:moveTo>
                    <a:pt x="0" y="0"/>
                  </a:moveTo>
                  <a:lnTo>
                    <a:pt x="1737360" y="0"/>
                  </a:lnTo>
                  <a:lnTo>
                    <a:pt x="1737360" y="1784985"/>
                  </a:lnTo>
                  <a:lnTo>
                    <a:pt x="0" y="1784985"/>
                  </a:lnTo>
                  <a:close/>
                </a:path>
              </a:pathLst>
            </a:custGeom>
            <a:blipFill>
              <a:blip r:embed="rId7">
                <a:alphaModFix amt="0"/>
              </a:blip>
              <a:stretch>
                <a:fillRect l="-81912" t="0" r="-81912" b="0"/>
              </a:stretch>
            </a:blipFill>
          </p:spPr>
          <p:txBody>
            <a:bodyPr/>
            <a:p/>
          </p:txBody>
        </p:sp>
      </p:grpSp>
      <p:grpSp>
        <p:nvGrpSpPr>
          <p:cNvPr name="Group 24" id="24"/>
          <p:cNvGrpSpPr/>
          <p:nvPr/>
        </p:nvGrpSpPr>
        <p:grpSpPr>
          <a:xfrm rot="0">
            <a:off x="5514861" y="2740342"/>
            <a:ext cx="1303020" cy="1374458"/>
            <a:chOff x="0" y="0"/>
            <a:chExt cx="1737360" cy="1832610"/>
          </a:xfrm>
        </p:grpSpPr>
        <p:sp>
          <p:nvSpPr>
            <p:cNvPr name="Freeform 25" id="25"/>
            <p:cNvSpPr/>
            <p:nvPr/>
          </p:nvSpPr>
          <p:spPr>
            <a:xfrm flipH="false" flipV="false" rot="0">
              <a:off x="0" y="0"/>
              <a:ext cx="1737360" cy="1832610"/>
            </a:xfrm>
            <a:custGeom>
              <a:avLst/>
              <a:gdLst/>
              <a:ahLst/>
              <a:cxnLst/>
              <a:rect r="r" b="b" t="t" l="l"/>
              <a:pathLst>
                <a:path h="1832610" w="1737360">
                  <a:moveTo>
                    <a:pt x="0" y="0"/>
                  </a:moveTo>
                  <a:lnTo>
                    <a:pt x="1737360" y="0"/>
                  </a:lnTo>
                  <a:lnTo>
                    <a:pt x="1737360" y="1832610"/>
                  </a:lnTo>
                  <a:lnTo>
                    <a:pt x="0" y="1832610"/>
                  </a:lnTo>
                  <a:close/>
                </a:path>
              </a:pathLst>
            </a:custGeom>
            <a:blipFill>
              <a:blip r:embed="rId8">
                <a:alphaModFix amt="0"/>
              </a:blip>
              <a:stretch>
                <a:fillRect l="-85432" t="0" r="-85432" b="0"/>
              </a:stretch>
            </a:blipFill>
          </p:spPr>
          <p:txBody>
            <a:bodyPr/>
            <a:p/>
          </p:txBody>
        </p:sp>
      </p:grpSp>
      <p:grpSp>
        <p:nvGrpSpPr>
          <p:cNvPr name="Group 26" id="26"/>
          <p:cNvGrpSpPr/>
          <p:nvPr/>
        </p:nvGrpSpPr>
        <p:grpSpPr>
          <a:xfrm rot="0">
            <a:off x="5514861" y="2704624"/>
            <a:ext cx="1303020" cy="1410176"/>
            <a:chOff x="0" y="0"/>
            <a:chExt cx="1737360" cy="1880235"/>
          </a:xfrm>
        </p:grpSpPr>
        <p:sp>
          <p:nvSpPr>
            <p:cNvPr name="Freeform 27" id="27"/>
            <p:cNvSpPr/>
            <p:nvPr/>
          </p:nvSpPr>
          <p:spPr>
            <a:xfrm flipH="false" flipV="false" rot="0">
              <a:off x="0" y="0"/>
              <a:ext cx="1737360" cy="1880236"/>
            </a:xfrm>
            <a:custGeom>
              <a:avLst/>
              <a:gdLst/>
              <a:ahLst/>
              <a:cxnLst/>
              <a:rect r="r" b="b" t="t" l="l"/>
              <a:pathLst>
                <a:path h="1880236" w="1737360">
                  <a:moveTo>
                    <a:pt x="0" y="0"/>
                  </a:moveTo>
                  <a:lnTo>
                    <a:pt x="1737360" y="0"/>
                  </a:lnTo>
                  <a:lnTo>
                    <a:pt x="1737360" y="1880236"/>
                  </a:lnTo>
                  <a:lnTo>
                    <a:pt x="0" y="1880236"/>
                  </a:lnTo>
                  <a:close/>
                </a:path>
              </a:pathLst>
            </a:custGeom>
            <a:blipFill>
              <a:blip r:embed="rId9">
                <a:alphaModFix amt="0"/>
              </a:blip>
              <a:stretch>
                <a:fillRect l="-88854" t="0" r="-88854" b="0"/>
              </a:stretch>
            </a:blipFill>
          </p:spPr>
          <p:txBody>
            <a:bodyPr/>
            <a:p/>
          </p:txBody>
        </p:sp>
        <p:sp>
          <p:nvSpPr>
            <p:cNvPr name="TextBox 28" id="28"/>
            <p:cNvSpPr txBox="true"/>
            <p:nvPr/>
          </p:nvSpPr>
          <p:spPr>
            <a:xfrm>
              <a:off x="0" y="-47625"/>
              <a:ext cx="1737360" cy="192786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sp>
        <p:nvSpPr>
          <p:cNvPr name="TextBox 29" id="29"/>
          <p:cNvSpPr txBox="true"/>
          <p:nvPr/>
        </p:nvSpPr>
        <p:spPr>
          <a:xfrm rot="0">
            <a:off x="5514861" y="4229100"/>
            <a:ext cx="2977401" cy="2560320"/>
          </a:xfrm>
          <a:prstGeom prst="rect">
            <a:avLst/>
          </a:prstGeom>
        </p:spPr>
        <p:txBody>
          <a:bodyPr anchor="t" rtlCol="false" tIns="0" lIns="0" bIns="0" rIns="0">
            <a:spAutoFit/>
          </a:bodyPr>
          <a:lstStyle/>
          <a:p>
            <a:pPr algn="l">
              <a:lnSpc>
                <a:spcPts val="2700"/>
              </a:lnSpc>
            </a:pPr>
            <a:r>
              <a:rPr lang="en-US" sz="2250">
                <a:solidFill>
                  <a:srgbClr val="243044"/>
                </a:solidFill>
                <a:latin typeface="Calibri (MS)"/>
                <a:ea typeface="Calibri (MS)"/>
                <a:cs typeface="Calibri (MS)"/>
                <a:sym typeface="Calibri (MS)"/>
              </a:rPr>
              <a:t>Sửa thiên vị trả lời “có” của adapter dùng chung trước khi làm prototype</a:t>
            </a:r>
          </a:p>
        </p:txBody>
      </p:sp>
      <p:sp>
        <p:nvSpPr>
          <p:cNvPr name="Freeform 30" id="30"/>
          <p:cNvSpPr/>
          <p:nvPr/>
        </p:nvSpPr>
        <p:spPr>
          <a:xfrm flipH="false" flipV="false" rot="0">
            <a:off x="9367133" y="2383631"/>
            <a:ext cx="3833717" cy="4696778"/>
          </a:xfrm>
          <a:custGeom>
            <a:avLst/>
            <a:gdLst/>
            <a:ahLst/>
            <a:cxnLst/>
            <a:rect r="r" b="b" t="t" l="l"/>
            <a:pathLst>
              <a:path h="4696778" w="3833717">
                <a:moveTo>
                  <a:pt x="0" y="0"/>
                </a:moveTo>
                <a:lnTo>
                  <a:pt x="3833717" y="0"/>
                </a:lnTo>
                <a:lnTo>
                  <a:pt x="3833717" y="4696778"/>
                </a:lnTo>
                <a:lnTo>
                  <a:pt x="0" y="4696778"/>
                </a:lnTo>
                <a:lnTo>
                  <a:pt x="0" y="0"/>
                </a:lnTo>
                <a:close/>
              </a:path>
            </a:pathLst>
          </a:custGeom>
          <a:blipFill>
            <a:blip r:embed="rId10">
              <a:extLst>
                <a:ext uri="{96DAC541-7B7A-43D3-8B79-37D633B846F1}">
                  <asvg:svgBlip xmlns:asvg="http://schemas.microsoft.com/office/drawing/2016/SVG/main" r:embed="rId11"/>
                </a:ext>
              </a:extLst>
            </a:blip>
            <a:stretch>
              <a:fillRect l="0" t="-27" r="0" b="-27"/>
            </a:stretch>
          </a:blipFill>
        </p:spPr>
        <p:txBody>
          <a:bodyPr/>
          <a:p/>
        </p:txBody>
      </p:sp>
      <p:sp>
        <p:nvSpPr>
          <p:cNvPr name="Freeform 31" id="31"/>
          <p:cNvSpPr/>
          <p:nvPr/>
        </p:nvSpPr>
        <p:spPr>
          <a:xfrm flipH="false" flipV="false" rot="0">
            <a:off x="9778613" y="2795111"/>
            <a:ext cx="1336358" cy="1336358"/>
          </a:xfrm>
          <a:custGeom>
            <a:avLst/>
            <a:gdLst/>
            <a:ahLst/>
            <a:cxnLst/>
            <a:rect r="r" b="b" t="t" l="l"/>
            <a:pathLst>
              <a:path h="1336358" w="1336358">
                <a:moveTo>
                  <a:pt x="0" y="0"/>
                </a:moveTo>
                <a:lnTo>
                  <a:pt x="1336357" y="0"/>
                </a:lnTo>
                <a:lnTo>
                  <a:pt x="1336357" y="1336358"/>
                </a:lnTo>
                <a:lnTo>
                  <a:pt x="0" y="133635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txBody>
          <a:bodyPr/>
          <a:p/>
        </p:txBody>
      </p:sp>
      <p:grpSp>
        <p:nvGrpSpPr>
          <p:cNvPr name="Group 32" id="32"/>
          <p:cNvGrpSpPr/>
          <p:nvPr/>
        </p:nvGrpSpPr>
        <p:grpSpPr>
          <a:xfrm rot="0">
            <a:off x="9795281" y="2811780"/>
            <a:ext cx="1303020" cy="1303020"/>
            <a:chOff x="0" y="0"/>
            <a:chExt cx="1737360" cy="1737360"/>
          </a:xfrm>
        </p:grpSpPr>
        <p:sp>
          <p:nvSpPr>
            <p:cNvPr name="Freeform 33" id="33"/>
            <p:cNvSpPr/>
            <p:nvPr/>
          </p:nvSpPr>
          <p:spPr>
            <a:xfrm flipH="false" flipV="false" rot="0">
              <a:off x="0" y="0"/>
              <a:ext cx="1737360" cy="1737360"/>
            </a:xfrm>
            <a:custGeom>
              <a:avLst/>
              <a:gdLst/>
              <a:ahLst/>
              <a:cxnLst/>
              <a:rect r="r" b="b" t="t" l="l"/>
              <a:pathLst>
                <a:path h="1737360" w="1737360">
                  <a:moveTo>
                    <a:pt x="0" y="0"/>
                  </a:moveTo>
                  <a:lnTo>
                    <a:pt x="1737360" y="0"/>
                  </a:lnTo>
                  <a:lnTo>
                    <a:pt x="1737360" y="1737360"/>
                  </a:lnTo>
                  <a:lnTo>
                    <a:pt x="0" y="1737360"/>
                  </a:lnTo>
                  <a:close/>
                </a:path>
              </a:pathLst>
            </a:custGeom>
            <a:blipFill>
              <a:blip r:embed="rId2">
                <a:alphaModFix amt="0"/>
              </a:blip>
              <a:stretch>
                <a:fillRect l="-78392" t="0" r="-78393" b="0"/>
              </a:stretch>
            </a:blipFill>
          </p:spPr>
          <p:txBody>
            <a:bodyPr/>
            <a:p/>
          </p:txBody>
        </p:sp>
      </p:grpSp>
      <p:grpSp>
        <p:nvGrpSpPr>
          <p:cNvPr name="Group 34" id="34"/>
          <p:cNvGrpSpPr/>
          <p:nvPr/>
        </p:nvGrpSpPr>
        <p:grpSpPr>
          <a:xfrm rot="0">
            <a:off x="9795281" y="2776061"/>
            <a:ext cx="1303020" cy="1338739"/>
            <a:chOff x="0" y="0"/>
            <a:chExt cx="1737360" cy="1784985"/>
          </a:xfrm>
        </p:grpSpPr>
        <p:sp>
          <p:nvSpPr>
            <p:cNvPr name="Freeform 35" id="35"/>
            <p:cNvSpPr/>
            <p:nvPr/>
          </p:nvSpPr>
          <p:spPr>
            <a:xfrm flipH="false" flipV="false" rot="0">
              <a:off x="0" y="0"/>
              <a:ext cx="1737360" cy="1784985"/>
            </a:xfrm>
            <a:custGeom>
              <a:avLst/>
              <a:gdLst/>
              <a:ahLst/>
              <a:cxnLst/>
              <a:rect r="r" b="b" t="t" l="l"/>
              <a:pathLst>
                <a:path h="1784985" w="1737360">
                  <a:moveTo>
                    <a:pt x="0" y="0"/>
                  </a:moveTo>
                  <a:lnTo>
                    <a:pt x="1737360" y="0"/>
                  </a:lnTo>
                  <a:lnTo>
                    <a:pt x="1737360" y="1784985"/>
                  </a:lnTo>
                  <a:lnTo>
                    <a:pt x="0" y="1784985"/>
                  </a:lnTo>
                  <a:close/>
                </a:path>
              </a:pathLst>
            </a:custGeom>
            <a:blipFill>
              <a:blip r:embed="rId7">
                <a:alphaModFix amt="0"/>
              </a:blip>
              <a:stretch>
                <a:fillRect l="-81912" t="0" r="-81912" b="0"/>
              </a:stretch>
            </a:blipFill>
          </p:spPr>
          <p:txBody>
            <a:bodyPr/>
            <a:p/>
          </p:txBody>
        </p:sp>
      </p:grpSp>
      <p:grpSp>
        <p:nvGrpSpPr>
          <p:cNvPr name="Group 36" id="36"/>
          <p:cNvGrpSpPr/>
          <p:nvPr/>
        </p:nvGrpSpPr>
        <p:grpSpPr>
          <a:xfrm rot="0">
            <a:off x="9795281" y="2740342"/>
            <a:ext cx="1303020" cy="1374458"/>
            <a:chOff x="0" y="0"/>
            <a:chExt cx="1737360" cy="1832610"/>
          </a:xfrm>
        </p:grpSpPr>
        <p:sp>
          <p:nvSpPr>
            <p:cNvPr name="Freeform 37" id="37"/>
            <p:cNvSpPr/>
            <p:nvPr/>
          </p:nvSpPr>
          <p:spPr>
            <a:xfrm flipH="false" flipV="false" rot="0">
              <a:off x="0" y="0"/>
              <a:ext cx="1737360" cy="1832610"/>
            </a:xfrm>
            <a:custGeom>
              <a:avLst/>
              <a:gdLst/>
              <a:ahLst/>
              <a:cxnLst/>
              <a:rect r="r" b="b" t="t" l="l"/>
              <a:pathLst>
                <a:path h="1832610" w="1737360">
                  <a:moveTo>
                    <a:pt x="0" y="0"/>
                  </a:moveTo>
                  <a:lnTo>
                    <a:pt x="1737360" y="0"/>
                  </a:lnTo>
                  <a:lnTo>
                    <a:pt x="1737360" y="1832610"/>
                  </a:lnTo>
                  <a:lnTo>
                    <a:pt x="0" y="1832610"/>
                  </a:lnTo>
                  <a:close/>
                </a:path>
              </a:pathLst>
            </a:custGeom>
            <a:blipFill>
              <a:blip r:embed="rId8">
                <a:alphaModFix amt="0"/>
              </a:blip>
              <a:stretch>
                <a:fillRect l="-85432" t="0" r="-85432" b="0"/>
              </a:stretch>
            </a:blipFill>
          </p:spPr>
          <p:txBody>
            <a:bodyPr/>
            <a:p/>
          </p:txBody>
        </p:sp>
      </p:grpSp>
      <p:grpSp>
        <p:nvGrpSpPr>
          <p:cNvPr name="Group 38" id="38"/>
          <p:cNvGrpSpPr/>
          <p:nvPr/>
        </p:nvGrpSpPr>
        <p:grpSpPr>
          <a:xfrm rot="0">
            <a:off x="9795281" y="2704624"/>
            <a:ext cx="1303020" cy="1410176"/>
            <a:chOff x="0" y="0"/>
            <a:chExt cx="1737360" cy="1880235"/>
          </a:xfrm>
        </p:grpSpPr>
        <p:sp>
          <p:nvSpPr>
            <p:cNvPr name="Freeform 39" id="39"/>
            <p:cNvSpPr/>
            <p:nvPr/>
          </p:nvSpPr>
          <p:spPr>
            <a:xfrm flipH="false" flipV="false" rot="0">
              <a:off x="0" y="0"/>
              <a:ext cx="1737360" cy="1880236"/>
            </a:xfrm>
            <a:custGeom>
              <a:avLst/>
              <a:gdLst/>
              <a:ahLst/>
              <a:cxnLst/>
              <a:rect r="r" b="b" t="t" l="l"/>
              <a:pathLst>
                <a:path h="1880236" w="1737360">
                  <a:moveTo>
                    <a:pt x="0" y="0"/>
                  </a:moveTo>
                  <a:lnTo>
                    <a:pt x="1737360" y="0"/>
                  </a:lnTo>
                  <a:lnTo>
                    <a:pt x="1737360" y="1880236"/>
                  </a:lnTo>
                  <a:lnTo>
                    <a:pt x="0" y="1880236"/>
                  </a:lnTo>
                  <a:close/>
                </a:path>
              </a:pathLst>
            </a:custGeom>
            <a:blipFill>
              <a:blip r:embed="rId9">
                <a:alphaModFix amt="0"/>
              </a:blip>
              <a:stretch>
                <a:fillRect l="-88854" t="0" r="-88854" b="0"/>
              </a:stretch>
            </a:blipFill>
          </p:spPr>
          <p:txBody>
            <a:bodyPr/>
            <a:p/>
          </p:txBody>
        </p:sp>
        <p:sp>
          <p:nvSpPr>
            <p:cNvPr name="TextBox 40" id="40"/>
            <p:cNvSpPr txBox="true"/>
            <p:nvPr/>
          </p:nvSpPr>
          <p:spPr>
            <a:xfrm>
              <a:off x="0" y="-47625"/>
              <a:ext cx="1737360" cy="192786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sp>
        <p:nvSpPr>
          <p:cNvPr name="TextBox 41" id="41"/>
          <p:cNvSpPr txBox="true"/>
          <p:nvPr/>
        </p:nvSpPr>
        <p:spPr>
          <a:xfrm rot="0">
            <a:off x="9795281" y="4229100"/>
            <a:ext cx="2977401" cy="2560320"/>
          </a:xfrm>
          <a:prstGeom prst="rect">
            <a:avLst/>
          </a:prstGeom>
        </p:spPr>
        <p:txBody>
          <a:bodyPr anchor="t" rtlCol="false" tIns="0" lIns="0" bIns="0" rIns="0">
            <a:spAutoFit/>
          </a:bodyPr>
          <a:lstStyle/>
          <a:p>
            <a:pPr algn="l">
              <a:lnSpc>
                <a:spcPts val="2700"/>
              </a:lnSpc>
            </a:pPr>
            <a:r>
              <a:rPr lang="en-US" sz="2250">
                <a:solidFill>
                  <a:srgbClr val="243044"/>
                </a:solidFill>
                <a:latin typeface="Calibri (MS)"/>
                <a:ea typeface="Calibri (MS)"/>
                <a:cs typeface="Calibri (MS)"/>
                <a:sym typeface="Calibri (MS)"/>
              </a:rPr>
              <a:t>Prototype web: ảnh → OCR → câu trả lời kèm chữ OCR và độ tin cậy</a:t>
            </a:r>
          </a:p>
        </p:txBody>
      </p:sp>
      <p:sp>
        <p:nvSpPr>
          <p:cNvPr name="Freeform 42" id="42"/>
          <p:cNvSpPr/>
          <p:nvPr/>
        </p:nvSpPr>
        <p:spPr>
          <a:xfrm flipH="false" flipV="false" rot="0">
            <a:off x="13647553" y="2383631"/>
            <a:ext cx="3833717" cy="4696778"/>
          </a:xfrm>
          <a:custGeom>
            <a:avLst/>
            <a:gdLst/>
            <a:ahLst/>
            <a:cxnLst/>
            <a:rect r="r" b="b" t="t" l="l"/>
            <a:pathLst>
              <a:path h="4696778" w="3833717">
                <a:moveTo>
                  <a:pt x="0" y="0"/>
                </a:moveTo>
                <a:lnTo>
                  <a:pt x="3833718" y="0"/>
                </a:lnTo>
                <a:lnTo>
                  <a:pt x="3833718" y="4696778"/>
                </a:lnTo>
                <a:lnTo>
                  <a:pt x="0" y="4696778"/>
                </a:lnTo>
                <a:lnTo>
                  <a:pt x="0" y="0"/>
                </a:lnTo>
                <a:close/>
              </a:path>
            </a:pathLst>
          </a:custGeom>
          <a:blipFill>
            <a:blip r:embed="rId10">
              <a:extLst>
                <a:ext uri="{96DAC541-7B7A-43D3-8B79-37D633B846F1}">
                  <asvg:svgBlip xmlns:asvg="http://schemas.microsoft.com/office/drawing/2016/SVG/main" r:embed="rId11"/>
                </a:ext>
              </a:extLst>
            </a:blip>
            <a:stretch>
              <a:fillRect l="0" t="-27" r="0" b="-27"/>
            </a:stretch>
          </a:blipFill>
        </p:spPr>
        <p:txBody>
          <a:bodyPr/>
          <a:p/>
        </p:txBody>
      </p:sp>
      <p:sp>
        <p:nvSpPr>
          <p:cNvPr name="Freeform 43" id="43"/>
          <p:cNvSpPr/>
          <p:nvPr/>
        </p:nvSpPr>
        <p:spPr>
          <a:xfrm flipH="false" flipV="false" rot="0">
            <a:off x="14059033" y="2795111"/>
            <a:ext cx="1336357" cy="1336358"/>
          </a:xfrm>
          <a:custGeom>
            <a:avLst/>
            <a:gdLst/>
            <a:ahLst/>
            <a:cxnLst/>
            <a:rect r="r" b="b" t="t" l="l"/>
            <a:pathLst>
              <a:path h="1336358" w="1336357">
                <a:moveTo>
                  <a:pt x="0" y="0"/>
                </a:moveTo>
                <a:lnTo>
                  <a:pt x="1336358" y="0"/>
                </a:lnTo>
                <a:lnTo>
                  <a:pt x="1336358" y="1336358"/>
                </a:lnTo>
                <a:lnTo>
                  <a:pt x="0" y="133635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txBody>
          <a:bodyPr/>
          <a:p/>
        </p:txBody>
      </p:sp>
      <p:grpSp>
        <p:nvGrpSpPr>
          <p:cNvPr name="Group 44" id="44"/>
          <p:cNvGrpSpPr/>
          <p:nvPr/>
        </p:nvGrpSpPr>
        <p:grpSpPr>
          <a:xfrm rot="0">
            <a:off x="14075702" y="2811780"/>
            <a:ext cx="1303020" cy="1303020"/>
            <a:chOff x="0" y="0"/>
            <a:chExt cx="1737360" cy="1737360"/>
          </a:xfrm>
        </p:grpSpPr>
        <p:sp>
          <p:nvSpPr>
            <p:cNvPr name="Freeform 45" id="45"/>
            <p:cNvSpPr/>
            <p:nvPr/>
          </p:nvSpPr>
          <p:spPr>
            <a:xfrm flipH="false" flipV="false" rot="0">
              <a:off x="0" y="0"/>
              <a:ext cx="1737360" cy="1737360"/>
            </a:xfrm>
            <a:custGeom>
              <a:avLst/>
              <a:gdLst/>
              <a:ahLst/>
              <a:cxnLst/>
              <a:rect r="r" b="b" t="t" l="l"/>
              <a:pathLst>
                <a:path h="1737360" w="1737360">
                  <a:moveTo>
                    <a:pt x="0" y="0"/>
                  </a:moveTo>
                  <a:lnTo>
                    <a:pt x="1737360" y="0"/>
                  </a:lnTo>
                  <a:lnTo>
                    <a:pt x="1737360" y="1737360"/>
                  </a:lnTo>
                  <a:lnTo>
                    <a:pt x="0" y="1737360"/>
                  </a:lnTo>
                  <a:close/>
                </a:path>
              </a:pathLst>
            </a:custGeom>
            <a:blipFill>
              <a:blip r:embed="rId2">
                <a:alphaModFix amt="0"/>
              </a:blip>
              <a:stretch>
                <a:fillRect l="-78392" t="0" r="-78393" b="0"/>
              </a:stretch>
            </a:blipFill>
          </p:spPr>
          <p:txBody>
            <a:bodyPr/>
            <a:p/>
          </p:txBody>
        </p:sp>
      </p:grpSp>
      <p:grpSp>
        <p:nvGrpSpPr>
          <p:cNvPr name="Group 46" id="46"/>
          <p:cNvGrpSpPr/>
          <p:nvPr/>
        </p:nvGrpSpPr>
        <p:grpSpPr>
          <a:xfrm rot="0">
            <a:off x="14075702" y="2776061"/>
            <a:ext cx="1303020" cy="1338739"/>
            <a:chOff x="0" y="0"/>
            <a:chExt cx="1737360" cy="1784985"/>
          </a:xfrm>
        </p:grpSpPr>
        <p:sp>
          <p:nvSpPr>
            <p:cNvPr name="Freeform 47" id="47"/>
            <p:cNvSpPr/>
            <p:nvPr/>
          </p:nvSpPr>
          <p:spPr>
            <a:xfrm flipH="false" flipV="false" rot="0">
              <a:off x="0" y="0"/>
              <a:ext cx="1737360" cy="1784985"/>
            </a:xfrm>
            <a:custGeom>
              <a:avLst/>
              <a:gdLst/>
              <a:ahLst/>
              <a:cxnLst/>
              <a:rect r="r" b="b" t="t" l="l"/>
              <a:pathLst>
                <a:path h="1784985" w="1737360">
                  <a:moveTo>
                    <a:pt x="0" y="0"/>
                  </a:moveTo>
                  <a:lnTo>
                    <a:pt x="1737360" y="0"/>
                  </a:lnTo>
                  <a:lnTo>
                    <a:pt x="1737360" y="1784985"/>
                  </a:lnTo>
                  <a:lnTo>
                    <a:pt x="0" y="1784985"/>
                  </a:lnTo>
                  <a:close/>
                </a:path>
              </a:pathLst>
            </a:custGeom>
            <a:blipFill>
              <a:blip r:embed="rId7">
                <a:alphaModFix amt="0"/>
              </a:blip>
              <a:stretch>
                <a:fillRect l="-81912" t="0" r="-81912" b="0"/>
              </a:stretch>
            </a:blipFill>
          </p:spPr>
          <p:txBody>
            <a:bodyPr/>
            <a:p/>
          </p:txBody>
        </p:sp>
      </p:grpSp>
      <p:grpSp>
        <p:nvGrpSpPr>
          <p:cNvPr name="Group 48" id="48"/>
          <p:cNvGrpSpPr/>
          <p:nvPr/>
        </p:nvGrpSpPr>
        <p:grpSpPr>
          <a:xfrm rot="0">
            <a:off x="14075702" y="2740342"/>
            <a:ext cx="1303020" cy="1374458"/>
            <a:chOff x="0" y="0"/>
            <a:chExt cx="1737360" cy="1832610"/>
          </a:xfrm>
        </p:grpSpPr>
        <p:sp>
          <p:nvSpPr>
            <p:cNvPr name="Freeform 49" id="49"/>
            <p:cNvSpPr/>
            <p:nvPr/>
          </p:nvSpPr>
          <p:spPr>
            <a:xfrm flipH="false" flipV="false" rot="0">
              <a:off x="0" y="0"/>
              <a:ext cx="1737360" cy="1832610"/>
            </a:xfrm>
            <a:custGeom>
              <a:avLst/>
              <a:gdLst/>
              <a:ahLst/>
              <a:cxnLst/>
              <a:rect r="r" b="b" t="t" l="l"/>
              <a:pathLst>
                <a:path h="1832610" w="1737360">
                  <a:moveTo>
                    <a:pt x="0" y="0"/>
                  </a:moveTo>
                  <a:lnTo>
                    <a:pt x="1737360" y="0"/>
                  </a:lnTo>
                  <a:lnTo>
                    <a:pt x="1737360" y="1832610"/>
                  </a:lnTo>
                  <a:lnTo>
                    <a:pt x="0" y="1832610"/>
                  </a:lnTo>
                  <a:close/>
                </a:path>
              </a:pathLst>
            </a:custGeom>
            <a:blipFill>
              <a:blip r:embed="rId8">
                <a:alphaModFix amt="0"/>
              </a:blip>
              <a:stretch>
                <a:fillRect l="-85432" t="0" r="-85432" b="0"/>
              </a:stretch>
            </a:blipFill>
          </p:spPr>
          <p:txBody>
            <a:bodyPr/>
            <a:p/>
          </p:txBody>
        </p:sp>
      </p:grpSp>
      <p:grpSp>
        <p:nvGrpSpPr>
          <p:cNvPr name="Group 50" id="50"/>
          <p:cNvGrpSpPr/>
          <p:nvPr/>
        </p:nvGrpSpPr>
        <p:grpSpPr>
          <a:xfrm rot="0">
            <a:off x="14075702" y="2704624"/>
            <a:ext cx="1303020" cy="1410176"/>
            <a:chOff x="0" y="0"/>
            <a:chExt cx="1737360" cy="1880235"/>
          </a:xfrm>
        </p:grpSpPr>
        <p:sp>
          <p:nvSpPr>
            <p:cNvPr name="Freeform 51" id="51"/>
            <p:cNvSpPr/>
            <p:nvPr/>
          </p:nvSpPr>
          <p:spPr>
            <a:xfrm flipH="false" flipV="false" rot="0">
              <a:off x="0" y="0"/>
              <a:ext cx="1737360" cy="1880236"/>
            </a:xfrm>
            <a:custGeom>
              <a:avLst/>
              <a:gdLst/>
              <a:ahLst/>
              <a:cxnLst/>
              <a:rect r="r" b="b" t="t" l="l"/>
              <a:pathLst>
                <a:path h="1880236" w="1737360">
                  <a:moveTo>
                    <a:pt x="0" y="0"/>
                  </a:moveTo>
                  <a:lnTo>
                    <a:pt x="1737360" y="0"/>
                  </a:lnTo>
                  <a:lnTo>
                    <a:pt x="1737360" y="1880236"/>
                  </a:lnTo>
                  <a:lnTo>
                    <a:pt x="0" y="1880236"/>
                  </a:lnTo>
                  <a:close/>
                </a:path>
              </a:pathLst>
            </a:custGeom>
            <a:blipFill>
              <a:blip r:embed="rId9">
                <a:alphaModFix amt="0"/>
              </a:blip>
              <a:stretch>
                <a:fillRect l="-88854" t="0" r="-88854" b="0"/>
              </a:stretch>
            </a:blipFill>
          </p:spPr>
          <p:txBody>
            <a:bodyPr/>
            <a:p/>
          </p:txBody>
        </p:sp>
        <p:sp>
          <p:nvSpPr>
            <p:cNvPr name="TextBox 52" id="52"/>
            <p:cNvSpPr txBox="true"/>
            <p:nvPr/>
          </p:nvSpPr>
          <p:spPr>
            <a:xfrm>
              <a:off x="0" y="-47625"/>
              <a:ext cx="1737360" cy="192786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a:t>
              </a:r>
            </a:p>
          </p:txBody>
        </p:sp>
      </p:grpSp>
      <p:sp>
        <p:nvSpPr>
          <p:cNvPr name="TextBox 53" id="53"/>
          <p:cNvSpPr txBox="true"/>
          <p:nvPr/>
        </p:nvSpPr>
        <p:spPr>
          <a:xfrm rot="0">
            <a:off x="14075702" y="4229100"/>
            <a:ext cx="2977401" cy="2560320"/>
          </a:xfrm>
          <a:prstGeom prst="rect">
            <a:avLst/>
          </a:prstGeom>
        </p:spPr>
        <p:txBody>
          <a:bodyPr anchor="t" rtlCol="false" tIns="0" lIns="0" bIns="0" rIns="0">
            <a:spAutoFit/>
          </a:bodyPr>
          <a:lstStyle/>
          <a:p>
            <a:pPr algn="l">
              <a:lnSpc>
                <a:spcPts val="2700"/>
              </a:lnSpc>
            </a:pPr>
            <a:r>
              <a:rPr lang="en-US" sz="2250">
                <a:solidFill>
                  <a:srgbClr val="243044"/>
                </a:solidFill>
                <a:latin typeface="Calibri (MS)"/>
                <a:ea typeface="Calibri (MS)"/>
                <a:cs typeface="Calibri (MS)"/>
                <a:sym typeface="Calibri (MS)"/>
              </a:rPr>
              <a:t>Review 3: bộ slide này + Phần C (kết quả cuối, lỗi, hallucination, demo)</a:t>
            </a:r>
          </a:p>
        </p:txBody>
      </p:sp>
      <p:sp>
        <p:nvSpPr>
          <p:cNvPr name="TextBox 54" id="54"/>
          <p:cNvSpPr txBox="true"/>
          <p:nvPr/>
        </p:nvSpPr>
        <p:spPr>
          <a:xfrm rot="0">
            <a:off x="822960" y="7353300"/>
            <a:ext cx="16641623" cy="807720"/>
          </a:xfrm>
          <a:prstGeom prst="rect">
            <a:avLst/>
          </a:prstGeom>
        </p:spPr>
        <p:txBody>
          <a:bodyPr anchor="t" rtlCol="false" tIns="0" lIns="0" bIns="0" rIns="0">
            <a:spAutoFit/>
          </a:bodyPr>
          <a:lstStyle/>
          <a:p>
            <a:pPr algn="l">
              <a:lnSpc>
                <a:spcPts val="2520"/>
              </a:lnSpc>
            </a:pPr>
            <a:r>
              <a:rPr lang="en-US" sz="2100">
                <a:solidFill>
                  <a:srgbClr val="6B7280"/>
                </a:solidFill>
                <a:latin typeface="Calibri (MS)"/>
                <a:ea typeface="Calibri (MS)"/>
                <a:cs typeface="Calibri (MS)"/>
                <a:sym typeface="Calibri (MS)"/>
              </a:rPr>
              <a:t>Mọi run giữ giao thức cố định và chỉ dùng PEFT.</a:t>
            </a:r>
          </a:p>
        </p:txBody>
      </p:sp>
      <p:grpSp>
        <p:nvGrpSpPr>
          <p:cNvPr name="Group 55" id="55"/>
          <p:cNvGrpSpPr/>
          <p:nvPr/>
        </p:nvGrpSpPr>
        <p:grpSpPr>
          <a:xfrm rot="0">
            <a:off x="15458732" y="0"/>
            <a:ext cx="2829306" cy="1184338"/>
            <a:chOff x="0" y="0"/>
            <a:chExt cx="3772408" cy="1579118"/>
          </a:xfrm>
        </p:grpSpPr>
        <p:sp>
          <p:nvSpPr>
            <p:cNvPr name="Freeform 56" id="56"/>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14"/>
              <a:stretch>
                <a:fillRect l="0" t="0" r="0" b="0"/>
              </a:stretch>
            </a:blipFill>
          </p:spPr>
          <p:txBody>
            <a:bodyPr/>
            <a:p/>
          </p:txBody>
        </p:sp>
      </p:grpSp>
      <p:grpSp>
        <p:nvGrpSpPr>
          <p:cNvPr name="Group 57" id="57"/>
          <p:cNvGrpSpPr/>
          <p:nvPr/>
        </p:nvGrpSpPr>
        <p:grpSpPr>
          <a:xfrm rot="0">
            <a:off x="822960" y="9641205"/>
            <a:ext cx="13716000" cy="440055"/>
            <a:chOff x="0" y="0"/>
            <a:chExt cx="18288000" cy="586740"/>
          </a:xfrm>
        </p:grpSpPr>
        <p:sp>
          <p:nvSpPr>
            <p:cNvPr name="Freeform 58" id="58"/>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7">
                <a:alphaModFix amt="0"/>
              </a:blip>
              <a:stretch>
                <a:fillRect l="0" t="-556902" r="0" b="-556904"/>
              </a:stretch>
            </a:blipFill>
          </p:spPr>
          <p:txBody>
            <a:bodyPr/>
            <a:p/>
          </p:txBody>
        </p:sp>
      </p:grpSp>
      <p:grpSp>
        <p:nvGrpSpPr>
          <p:cNvPr name="Group 59" id="59"/>
          <p:cNvGrpSpPr/>
          <p:nvPr/>
        </p:nvGrpSpPr>
        <p:grpSpPr>
          <a:xfrm rot="0">
            <a:off x="822960" y="9612630"/>
            <a:ext cx="13716000" cy="468630"/>
            <a:chOff x="0" y="0"/>
            <a:chExt cx="18288000" cy="624840"/>
          </a:xfrm>
        </p:grpSpPr>
        <p:sp>
          <p:nvSpPr>
            <p:cNvPr name="Freeform 60" id="60"/>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8">
                <a:alphaModFix amt="0"/>
              </a:blip>
              <a:stretch>
                <a:fillRect l="0" t="-519896" r="0" b="-519898"/>
              </a:stretch>
            </a:blipFill>
          </p:spPr>
          <p:txBody>
            <a:bodyPr/>
            <a:p/>
          </p:txBody>
        </p:sp>
      </p:grpSp>
      <p:grpSp>
        <p:nvGrpSpPr>
          <p:cNvPr name="Group 61" id="61"/>
          <p:cNvGrpSpPr/>
          <p:nvPr/>
        </p:nvGrpSpPr>
        <p:grpSpPr>
          <a:xfrm rot="0">
            <a:off x="822960" y="9584055"/>
            <a:ext cx="13716000" cy="497205"/>
            <a:chOff x="0" y="0"/>
            <a:chExt cx="18288000" cy="662940"/>
          </a:xfrm>
        </p:grpSpPr>
        <p:sp>
          <p:nvSpPr>
            <p:cNvPr name="Freeform 62" id="62"/>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9">
                <a:alphaModFix amt="0"/>
              </a:blip>
              <a:stretch>
                <a:fillRect l="0" t="-487518" r="0" b="-487518"/>
              </a:stretch>
            </a:blipFill>
          </p:spPr>
          <p:txBody>
            <a:bodyPr/>
            <a:p/>
          </p:txBody>
        </p:sp>
        <p:sp>
          <p:nvSpPr>
            <p:cNvPr name="TextBox 63" id="63"/>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PHỤ LỤC · P1 · ĐỐI CHỨNG</a:t>
            </a:r>
          </a:p>
        </p:txBody>
      </p:sp>
      <p:grpSp>
        <p:nvGrpSpPr>
          <p:cNvPr name="Group 5" id="5"/>
          <p:cNvGrpSpPr/>
          <p:nvPr/>
        </p:nvGrpSpPr>
        <p:grpSpPr>
          <a:xfrm rot="0">
            <a:off x="15458732" y="0"/>
            <a:ext cx="2829306" cy="1184338"/>
            <a:chOff x="0" y="0"/>
            <a:chExt cx="3772408" cy="1579118"/>
          </a:xfrm>
        </p:grpSpPr>
        <p:sp>
          <p:nvSpPr>
            <p:cNvPr name="Freeform 6" id="6"/>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3"/>
              <a:stretch>
                <a:fillRect l="0" t="0" r="0" b="0"/>
              </a:stretch>
            </a:blipFill>
          </p:spPr>
          <p:txBody>
            <a:bodyPr/>
            <a:p/>
          </p:txBody>
        </p:sp>
      </p:grpSp>
      <p:sp>
        <p:nvSpPr>
          <p:cNvPr name="TextBox 7" id="7"/>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Mức tăng là thật, không do rò rỉ, không chỉ do định dạng</a:t>
            </a:r>
          </a:p>
        </p:txBody>
      </p:sp>
      <p:sp>
        <p:nvSpPr>
          <p:cNvPr name="Freeform 8" id="8"/>
          <p:cNvSpPr/>
          <p:nvPr/>
        </p:nvSpPr>
        <p:spPr>
          <a:xfrm flipH="false" flipV="false" rot="0">
            <a:off x="806291" y="2040731"/>
            <a:ext cx="5382578" cy="3530917"/>
          </a:xfrm>
          <a:custGeom>
            <a:avLst/>
            <a:gdLst/>
            <a:ahLst/>
            <a:cxnLst/>
            <a:rect r="r" b="b" t="t" l="l"/>
            <a:pathLst>
              <a:path h="3530917" w="5382578">
                <a:moveTo>
                  <a:pt x="0" y="0"/>
                </a:moveTo>
                <a:lnTo>
                  <a:pt x="5382578" y="0"/>
                </a:lnTo>
                <a:lnTo>
                  <a:pt x="5382578" y="3530918"/>
                </a:lnTo>
                <a:lnTo>
                  <a:pt x="0" y="3530918"/>
                </a:lnTo>
                <a:lnTo>
                  <a:pt x="0" y="0"/>
                </a:lnTo>
                <a:close/>
              </a:path>
            </a:pathLst>
          </a:custGeom>
          <a:blipFill>
            <a:blip r:embed="rId4">
              <a:extLst>
                <a:ext uri="{96DAC541-7B7A-43D3-8B79-37D633B846F1}">
                  <asvg:svgBlip xmlns:asvg="http://schemas.microsoft.com/office/drawing/2016/SVG/main" r:embed="rId5"/>
                </a:ext>
              </a:extLst>
            </a:blip>
            <a:stretch>
              <a:fillRect l="-39" t="0" r="-39" b="0"/>
            </a:stretch>
          </a:blipFill>
        </p:spPr>
        <p:txBody>
          <a:bodyPr/>
          <a:p/>
        </p:txBody>
      </p:sp>
      <p:sp>
        <p:nvSpPr>
          <p:cNvPr name="TextBox 9" id="9"/>
          <p:cNvSpPr txBox="true"/>
          <p:nvPr/>
        </p:nvSpPr>
        <p:spPr>
          <a:xfrm rot="0">
            <a:off x="1165860" y="2069592"/>
            <a:ext cx="4663440"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Phân tầng rò rỉ ViVQA</a:t>
            </a:r>
          </a:p>
        </p:txBody>
      </p:sp>
      <p:sp>
        <p:nvSpPr>
          <p:cNvPr name="TextBox 10" id="10"/>
          <p:cNvSpPr txBox="true"/>
          <p:nvPr/>
        </p:nvSpPr>
        <p:spPr>
          <a:xfrm rot="0">
            <a:off x="1165860" y="2689860"/>
            <a:ext cx="4663440" cy="272796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Tập sạch (n = 1.219): </a:t>
            </a:r>
            <a:r>
              <a:rPr lang="en-US" sz="2100" b="true">
                <a:solidFill>
                  <a:srgbClr val="1C7293"/>
                </a:solidFill>
                <a:latin typeface="Calibri (MS) Bold"/>
                <a:ea typeface="Calibri (MS) Bold"/>
                <a:cs typeface="Calibri (MS) Bold"/>
                <a:sym typeface="Calibri (MS) Bold"/>
              </a:rPr>
              <a:t>EM 25,0 → 69,1</a:t>
            </a:r>
          </a:p>
          <a:p>
            <a:pPr algn="l">
              <a:lnSpc>
                <a:spcPts val="2520"/>
              </a:lnSpc>
            </a:pPr>
            <a:r>
              <a:rPr lang="en-US" sz="2100">
                <a:solidFill>
                  <a:srgbClr val="243044"/>
                </a:solidFill>
                <a:latin typeface="Calibri (MS)"/>
                <a:ea typeface="Calibri (MS)"/>
                <a:cs typeface="Calibri (MS)"/>
                <a:sym typeface="Calibri (MS)"/>
              </a:rPr>
              <a:t>Mốc đoán theo phân bố đáp án: 14,4</a:t>
            </a:r>
          </a:p>
        </p:txBody>
      </p:sp>
      <p:sp>
        <p:nvSpPr>
          <p:cNvPr name="Freeform 11" id="11"/>
          <p:cNvSpPr/>
          <p:nvPr/>
        </p:nvSpPr>
        <p:spPr>
          <a:xfrm flipH="false" flipV="false" rot="0">
            <a:off x="806291" y="5881211"/>
            <a:ext cx="5382578" cy="3530917"/>
          </a:xfrm>
          <a:custGeom>
            <a:avLst/>
            <a:gdLst/>
            <a:ahLst/>
            <a:cxnLst/>
            <a:rect r="r" b="b" t="t" l="l"/>
            <a:pathLst>
              <a:path h="3530917" w="5382578">
                <a:moveTo>
                  <a:pt x="0" y="0"/>
                </a:moveTo>
                <a:lnTo>
                  <a:pt x="5382578" y="0"/>
                </a:lnTo>
                <a:lnTo>
                  <a:pt x="5382578" y="3530918"/>
                </a:lnTo>
                <a:lnTo>
                  <a:pt x="0" y="3530918"/>
                </a:lnTo>
                <a:lnTo>
                  <a:pt x="0" y="0"/>
                </a:lnTo>
                <a:close/>
              </a:path>
            </a:pathLst>
          </a:custGeom>
          <a:blipFill>
            <a:blip r:embed="rId4">
              <a:extLst>
                <a:ext uri="{96DAC541-7B7A-43D3-8B79-37D633B846F1}">
                  <asvg:svgBlip xmlns:asvg="http://schemas.microsoft.com/office/drawing/2016/SVG/main" r:embed="rId5"/>
                </a:ext>
              </a:extLst>
            </a:blip>
            <a:stretch>
              <a:fillRect l="-39" t="0" r="-39" b="0"/>
            </a:stretch>
          </a:blipFill>
        </p:spPr>
        <p:txBody>
          <a:bodyPr/>
          <a:p/>
        </p:txBody>
      </p:sp>
      <p:sp>
        <p:nvSpPr>
          <p:cNvPr name="TextBox 12" id="12"/>
          <p:cNvSpPr txBox="true"/>
          <p:nvPr/>
        </p:nvSpPr>
        <p:spPr>
          <a:xfrm rot="0">
            <a:off x="1165860" y="5910072"/>
            <a:ext cx="4663440"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ViTextVQA: không trùng ảnh</a:t>
            </a:r>
          </a:p>
        </p:txBody>
      </p:sp>
      <p:sp>
        <p:nvSpPr>
          <p:cNvPr name="TextBox 13" id="13"/>
          <p:cNvSpPr txBox="true"/>
          <p:nvPr/>
        </p:nvSpPr>
        <p:spPr>
          <a:xfrm rot="0">
            <a:off x="1165860" y="6530340"/>
            <a:ext cx="4663440" cy="272796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0 ảnh trùng train–test, </a:t>
            </a:r>
            <a:r>
              <a:rPr lang="en-US" sz="2100" b="true">
                <a:solidFill>
                  <a:srgbClr val="1C7293"/>
                </a:solidFill>
                <a:latin typeface="Calibri (MS) Bold"/>
                <a:ea typeface="Calibri (MS) Bold"/>
                <a:cs typeface="Calibri (MS) Bold"/>
                <a:sym typeface="Calibri (MS) Bold"/>
              </a:rPr>
              <a:t>vẫn +21,1 EM trên full test</a:t>
            </a:r>
          </a:p>
        </p:txBody>
      </p:sp>
      <p:sp>
        <p:nvSpPr>
          <p:cNvPr name="Freeform 14" id="14"/>
          <p:cNvSpPr/>
          <p:nvPr/>
        </p:nvSpPr>
        <p:spPr>
          <a:xfrm flipH="false" flipV="false" rot="0">
            <a:off x="6704171" y="2040731"/>
            <a:ext cx="10777061" cy="7371397"/>
          </a:xfrm>
          <a:custGeom>
            <a:avLst/>
            <a:gdLst/>
            <a:ahLst/>
            <a:cxnLst/>
            <a:rect r="r" b="b" t="t" l="l"/>
            <a:pathLst>
              <a:path h="7371397" w="10777061">
                <a:moveTo>
                  <a:pt x="0" y="0"/>
                </a:moveTo>
                <a:lnTo>
                  <a:pt x="10777061" y="0"/>
                </a:lnTo>
                <a:lnTo>
                  <a:pt x="10777061" y="7371398"/>
                </a:lnTo>
                <a:lnTo>
                  <a:pt x="0" y="7371398"/>
                </a:lnTo>
                <a:lnTo>
                  <a:pt x="0" y="0"/>
                </a:lnTo>
                <a:close/>
              </a:path>
            </a:pathLst>
          </a:custGeom>
          <a:blipFill>
            <a:blip r:embed="rId6">
              <a:extLst>
                <a:ext uri="{96DAC541-7B7A-43D3-8B79-37D633B846F1}">
                  <asvg:svgBlip xmlns:asvg="http://schemas.microsoft.com/office/drawing/2016/SVG/main" r:embed="rId7"/>
                </a:ext>
              </a:extLst>
            </a:blip>
            <a:stretch>
              <a:fillRect l="-17" t="0" r="-17" b="0"/>
            </a:stretch>
          </a:blipFill>
        </p:spPr>
        <p:txBody>
          <a:bodyPr/>
          <a:p/>
        </p:txBody>
      </p:sp>
      <p:sp>
        <p:nvSpPr>
          <p:cNvPr name="TextBox 15" id="15"/>
          <p:cNvSpPr txBox="true"/>
          <p:nvPr/>
        </p:nvSpPr>
        <p:spPr>
          <a:xfrm rot="0">
            <a:off x="7132320" y="2069592"/>
            <a:ext cx="9920783"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Đối chứng few-shot: 5 ví dụ chữ trong prompt (FS5)</a:t>
            </a:r>
          </a:p>
        </p:txBody>
      </p:sp>
      <p:grpSp>
        <p:nvGrpSpPr>
          <p:cNvPr name="Group 16" id="16"/>
          <p:cNvGrpSpPr/>
          <p:nvPr/>
        </p:nvGrpSpPr>
        <p:grpSpPr>
          <a:xfrm rot="0">
            <a:off x="5893356" y="1778556"/>
            <a:ext cx="12398693" cy="6935629"/>
            <a:chOff x="0" y="0"/>
            <a:chExt cx="16531590" cy="9247505"/>
          </a:xfrm>
        </p:grpSpPr>
        <p:sp>
          <p:nvSpPr>
            <p:cNvPr name="Freeform 17" id="17"/>
            <p:cNvSpPr/>
            <p:nvPr/>
          </p:nvSpPr>
          <p:spPr>
            <a:xfrm flipH="false" flipV="false" rot="0">
              <a:off x="0" y="0"/>
              <a:ext cx="16531589" cy="9247505"/>
            </a:xfrm>
            <a:custGeom>
              <a:avLst/>
              <a:gdLst/>
              <a:ahLst/>
              <a:cxnLst/>
              <a:rect r="r" b="b" t="t" l="l"/>
              <a:pathLst>
                <a:path h="9247505" w="16531589">
                  <a:moveTo>
                    <a:pt x="0" y="0"/>
                  </a:moveTo>
                  <a:lnTo>
                    <a:pt x="16531589" y="0"/>
                  </a:lnTo>
                  <a:lnTo>
                    <a:pt x="16531589" y="9247505"/>
                  </a:lnTo>
                  <a:lnTo>
                    <a:pt x="0" y="9247505"/>
                  </a:lnTo>
                  <a:lnTo>
                    <a:pt x="0" y="0"/>
                  </a:lnTo>
                  <a:close/>
                </a:path>
              </a:pathLst>
            </a:custGeom>
            <a:blipFill>
              <a:blip r:embed="rId8"/>
              <a:stretch>
                <a:fillRect l="-21" t="0" r="-21" b="0"/>
              </a:stretch>
            </a:blipFill>
          </p:spPr>
          <p:txBody>
            <a:bodyPr/>
            <a:p/>
          </p:txBody>
        </p:sp>
      </p:grpSp>
      <p:sp>
        <p:nvSpPr>
          <p:cNvPr name="TextBox 18" id="18"/>
          <p:cNvSpPr txBox="true"/>
          <p:nvPr/>
        </p:nvSpPr>
        <p:spPr>
          <a:xfrm rot="0">
            <a:off x="7132320" y="7559040"/>
            <a:ext cx="9920783" cy="169926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Few-shot làm câu trả lời ngắn lại nhưng mất nội dung (EM −2,1 ở ViVQA, p = 0,004; −1,2 ở ViTextVQA, không ý nghĩa). B2 vượt FS5 ở cả hai (p ≈ 0) → QLoRA học nhiều hơn định dạng.</a:t>
            </a:r>
          </a:p>
        </p:txBody>
      </p:sp>
      <p:grpSp>
        <p:nvGrpSpPr>
          <p:cNvPr name="Group 19" id="19"/>
          <p:cNvGrpSpPr/>
          <p:nvPr/>
        </p:nvGrpSpPr>
        <p:grpSpPr>
          <a:xfrm rot="0">
            <a:off x="822960" y="9641205"/>
            <a:ext cx="13716000" cy="440055"/>
            <a:chOff x="0" y="0"/>
            <a:chExt cx="18288000" cy="586740"/>
          </a:xfrm>
        </p:grpSpPr>
        <p:sp>
          <p:nvSpPr>
            <p:cNvPr name="Freeform 20" id="20"/>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9">
                <a:alphaModFix amt="0"/>
              </a:blip>
              <a:stretch>
                <a:fillRect l="0" t="-556902" r="0" b="-556904"/>
              </a:stretch>
            </a:blipFill>
          </p:spPr>
          <p:txBody>
            <a:bodyPr/>
            <a:p/>
          </p:txBody>
        </p:sp>
      </p:grpSp>
      <p:grpSp>
        <p:nvGrpSpPr>
          <p:cNvPr name="Group 21" id="21"/>
          <p:cNvGrpSpPr/>
          <p:nvPr/>
        </p:nvGrpSpPr>
        <p:grpSpPr>
          <a:xfrm rot="0">
            <a:off x="822960" y="9612630"/>
            <a:ext cx="13716000" cy="468630"/>
            <a:chOff x="0" y="0"/>
            <a:chExt cx="18288000" cy="624840"/>
          </a:xfrm>
        </p:grpSpPr>
        <p:sp>
          <p:nvSpPr>
            <p:cNvPr name="Freeform 22" id="22"/>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10">
                <a:alphaModFix amt="0"/>
              </a:blip>
              <a:stretch>
                <a:fillRect l="0" t="-519896" r="0" b="-519898"/>
              </a:stretch>
            </a:blipFill>
          </p:spPr>
          <p:txBody>
            <a:bodyPr/>
            <a:p/>
          </p:txBody>
        </p:sp>
      </p:grpSp>
      <p:grpSp>
        <p:nvGrpSpPr>
          <p:cNvPr name="Group 23" id="23"/>
          <p:cNvGrpSpPr/>
          <p:nvPr/>
        </p:nvGrpSpPr>
        <p:grpSpPr>
          <a:xfrm rot="0">
            <a:off x="822960" y="9584055"/>
            <a:ext cx="13716000" cy="497205"/>
            <a:chOff x="0" y="0"/>
            <a:chExt cx="18288000" cy="662940"/>
          </a:xfrm>
        </p:grpSpPr>
        <p:sp>
          <p:nvSpPr>
            <p:cNvPr name="Freeform 24" id="24"/>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11">
                <a:alphaModFix amt="0"/>
              </a:blip>
              <a:stretch>
                <a:fillRect l="0" t="-487518" r="0" b="-487518"/>
              </a:stretch>
            </a:blipFill>
          </p:spPr>
          <p:txBody>
            <a:bodyPr/>
            <a:p/>
          </p:txBody>
        </p:sp>
        <p:sp>
          <p:nvSpPr>
            <p:cNvPr name="TextBox 25" id="25"/>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PHỤ LỤC · P2 · SO VỚI SOTA</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Full test ViTextVQA: cao hơn SOTA đã công bố</a:t>
            </a:r>
          </a:p>
        </p:txBody>
      </p:sp>
      <p:graphicFrame>
        <p:nvGraphicFramePr>
          <p:cNvPr name="Table 6" id="6"/>
          <p:cNvGraphicFramePr>
            <a:graphicFrameLocks noGrp="true"/>
          </p:cNvGraphicFramePr>
          <p:nvPr/>
        </p:nvGraphicFramePr>
        <p:xfrm>
          <a:off x="822960" y="2125980"/>
          <a:ext cx="16548100" cy="3352800"/>
        </p:xfrm>
        <a:graphic>
          <a:graphicData uri="http://schemas.openxmlformats.org/drawingml/2006/table">
            <a:tbl>
              <a:tblPr/>
              <a:tblGrid>
                <a:gridCol w="5430013"/>
                <a:gridCol w="3492201"/>
                <a:gridCol w="3492201"/>
                <a:gridCol w="4133685"/>
              </a:tblGrid>
              <a:tr h="83820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Model (full test, 10.028 câu)</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EM [CI95]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F1 [CI95]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so với SOTA</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r>
              <a:tr h="838200">
                <a:tc>
                  <a:txBody>
                    <a:bodyPr anchor="t" rtlCol="false"/>
                    <a:lstStyle/>
                    <a:p>
                      <a:pPr algn="l">
                        <a:lnSpc>
                          <a:spcPts val="2520"/>
                        </a:lnSpc>
                        <a:defRPr/>
                      </a:pPr>
                      <a:r>
                        <a:rPr lang="en-US" sz="2100">
                          <a:solidFill>
                            <a:srgbClr val="243044"/>
                          </a:solidFill>
                          <a:latin typeface="Calibri (MS)"/>
                          <a:ea typeface="Calibri (MS)"/>
                          <a:cs typeface="Calibri (MS)"/>
                          <a:sym typeface="Calibri (MS)"/>
                        </a:rPr>
                        <a:t>ViTextBLIP-2 · Nguyen và cs. [3], Table 6 (có train)</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25,48</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53,95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838200">
                <a:tc>
                  <a:txBody>
                    <a:bodyPr anchor="t" rtlCol="false"/>
                    <a:lstStyle/>
                    <a:p>
                      <a:pPr algn="l">
                        <a:lnSpc>
                          <a:spcPts val="2520"/>
                        </a:lnSpc>
                        <a:defRPr/>
                      </a:pPr>
                      <a:r>
                        <a:rPr lang="en-US" sz="2100">
                          <a:solidFill>
                            <a:srgbClr val="243044"/>
                          </a:solidFill>
                          <a:latin typeface="Calibri (MS)"/>
                          <a:ea typeface="Calibri (MS)"/>
                          <a:cs typeface="Calibri (MS)"/>
                          <a:sym typeface="Calibri (MS)"/>
                        </a:rPr>
                        <a:t>B1 · Qwen2.5-VL-3B zero-shot</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29,12 [28,23; 29,99]</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53,89 [53,11; 54,66]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520"/>
                        </a:lnSpc>
                        <a:defRPr/>
                      </a:pPr>
                      <a:r>
                        <a:rPr lang="en-US" sz="2100">
                          <a:solidFill>
                            <a:srgbClr val="243044"/>
                          </a:solidFill>
                          <a:latin typeface="Calibri (MS)"/>
                          <a:ea typeface="Calibri (MS)"/>
                          <a:cs typeface="Calibri (MS)"/>
                          <a:sym typeface="Calibri (MS)"/>
                        </a:rPr>
                        <a:t>cao hơn về EM; F1 ngang</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838200">
                <a:tc>
                  <a:txBody>
                    <a:bodyPr anchor="t" rtlCol="false"/>
                    <a:lstStyle/>
                    <a:p>
                      <a:pPr algn="l">
                        <a:lnSpc>
                          <a:spcPts val="2520"/>
                        </a:lnSpc>
                        <a:defRPr/>
                      </a:pPr>
                      <a:r>
                        <a:rPr lang="en-US" sz="2100" b="true">
                          <a:solidFill>
                            <a:srgbClr val="13294B"/>
                          </a:solidFill>
                          <a:latin typeface="Calibri (MS) Bold"/>
                          <a:ea typeface="Calibri (MS) Bold"/>
                          <a:cs typeface="Calibri (MS) Bold"/>
                          <a:sym typeface="Calibri (MS) Bold"/>
                        </a:rPr>
                        <a:t>B2 · + QLoRA, 1 epoch</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E7F0F3"/>
                    </a:solidFill>
                  </a:tcPr>
                </a:tc>
                <a:tc>
                  <a:txBody>
                    <a:bodyPr anchor="t" rtlCol="false"/>
                    <a:lstStyle/>
                    <a:p>
                      <a:pPr algn="ctr">
                        <a:lnSpc>
                          <a:spcPts val="2520"/>
                        </a:lnSpc>
                        <a:defRPr/>
                      </a:pPr>
                      <a:r>
                        <a:rPr lang="en-US" sz="2100" b="true">
                          <a:solidFill>
                            <a:srgbClr val="13294B"/>
                          </a:solidFill>
                          <a:latin typeface="Calibri (MS) Bold"/>
                          <a:ea typeface="Calibri (MS) Bold"/>
                          <a:cs typeface="Calibri (MS) Bold"/>
                          <a:sym typeface="Calibri (MS) Bold"/>
                        </a:rPr>
                        <a:t>50,26 [49,27; 51,23]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E7F0F3"/>
                    </a:solidFill>
                  </a:tcPr>
                </a:tc>
                <a:tc>
                  <a:txBody>
                    <a:bodyPr anchor="t" rtlCol="false"/>
                    <a:lstStyle/>
                    <a:p>
                      <a:pPr algn="ctr">
                        <a:lnSpc>
                          <a:spcPts val="2520"/>
                        </a:lnSpc>
                        <a:defRPr/>
                      </a:pPr>
                      <a:r>
                        <a:rPr lang="en-US" sz="2100" b="true">
                          <a:solidFill>
                            <a:srgbClr val="13294B"/>
                          </a:solidFill>
                          <a:latin typeface="Calibri (MS) Bold"/>
                          <a:ea typeface="Calibri (MS) Bold"/>
                          <a:cs typeface="Calibri (MS) Bold"/>
                          <a:sym typeface="Calibri (MS) Bold"/>
                        </a:rPr>
                        <a:t>71,16 [70,42; 71,89]</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E7F0F3"/>
                    </a:solidFill>
                  </a:tcPr>
                </a:tc>
                <a:tc>
                  <a:txBody>
                    <a:bodyPr anchor="t" rtlCol="false"/>
                    <a:lstStyle/>
                    <a:p>
                      <a:pPr algn="l">
                        <a:lnSpc>
                          <a:spcPts val="2520"/>
                        </a:lnSpc>
                        <a:defRPr/>
                      </a:pPr>
                      <a:r>
                        <a:rPr lang="en-US" sz="2100" b="true">
                          <a:solidFill>
                            <a:srgbClr val="13294B"/>
                          </a:solidFill>
                          <a:latin typeface="Calibri (MS) Bold"/>
                          <a:ea typeface="Calibri (MS) Bold"/>
                          <a:cs typeface="Calibri (MS) Bold"/>
                          <a:sym typeface="Calibri (MS) Bold"/>
                        </a:rPr>
                        <a:t>cao hơn cả EM và F1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E7F0F3"/>
                    </a:solidFill>
                  </a:tcPr>
                </a:tc>
              </a:tr>
            </a:tbl>
          </a:graphicData>
        </a:graphic>
      </p:graphicFrame>
      <p:sp>
        <p:nvSpPr>
          <p:cNvPr name="Freeform 7" id="7"/>
          <p:cNvSpPr/>
          <p:nvPr/>
        </p:nvSpPr>
        <p:spPr>
          <a:xfrm flipH="false" flipV="false" rot="0">
            <a:off x="806291" y="5812631"/>
            <a:ext cx="5214842" cy="2570797"/>
          </a:xfrm>
          <a:custGeom>
            <a:avLst/>
            <a:gdLst/>
            <a:ahLst/>
            <a:cxnLst/>
            <a:rect r="r" b="b" t="t" l="l"/>
            <a:pathLst>
              <a:path h="2570797" w="5214842">
                <a:moveTo>
                  <a:pt x="0" y="0"/>
                </a:moveTo>
                <a:lnTo>
                  <a:pt x="5214843" y="0"/>
                </a:lnTo>
                <a:lnTo>
                  <a:pt x="5214843" y="2570798"/>
                </a:lnTo>
                <a:lnTo>
                  <a:pt x="0" y="2570798"/>
                </a:lnTo>
                <a:lnTo>
                  <a:pt x="0" y="0"/>
                </a:lnTo>
                <a:close/>
              </a:path>
            </a:pathLst>
          </a:custGeom>
          <a:blipFill>
            <a:blip r:embed="rId3">
              <a:extLst>
                <a:ext uri="{96DAC541-7B7A-43D3-8B79-37D633B846F1}">
                  <asvg:svgBlip xmlns:asvg="http://schemas.microsoft.com/office/drawing/2016/SVG/main" r:embed="rId4"/>
                </a:ext>
              </a:extLst>
            </a:blip>
            <a:stretch>
              <a:fillRect l="-27" t="0" r="-28" b="0"/>
            </a:stretch>
          </a:blipFill>
        </p:spPr>
        <p:txBody>
          <a:bodyPr/>
          <a:p/>
        </p:txBody>
      </p:sp>
      <p:sp>
        <p:nvSpPr>
          <p:cNvPr name="TextBox 8" id="8"/>
          <p:cNvSpPr txBox="true"/>
          <p:nvPr/>
        </p:nvSpPr>
        <p:spPr>
          <a:xfrm rot="0">
            <a:off x="1165860" y="5882640"/>
            <a:ext cx="4495648" cy="76962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Tái lập được</a:t>
            </a:r>
          </a:p>
        </p:txBody>
      </p:sp>
      <p:sp>
        <p:nvSpPr>
          <p:cNvPr name="TextBox 9" id="9"/>
          <p:cNvSpPr txBox="true"/>
          <p:nvPr/>
        </p:nvSpPr>
        <p:spPr>
          <a:xfrm rot="0">
            <a:off x="1165860" y="6530340"/>
            <a:ext cx="4495648" cy="163068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Dự đoán full test trùng 100% với các run tập con trên 2.000 câu chung.</a:t>
            </a:r>
          </a:p>
        </p:txBody>
      </p:sp>
      <p:sp>
        <p:nvSpPr>
          <p:cNvPr name="Freeform 10" id="10"/>
          <p:cNvSpPr/>
          <p:nvPr/>
        </p:nvSpPr>
        <p:spPr>
          <a:xfrm flipH="false" flipV="false" rot="0">
            <a:off x="6536379" y="5812631"/>
            <a:ext cx="5214842" cy="2570797"/>
          </a:xfrm>
          <a:custGeom>
            <a:avLst/>
            <a:gdLst/>
            <a:ahLst/>
            <a:cxnLst/>
            <a:rect r="r" b="b" t="t" l="l"/>
            <a:pathLst>
              <a:path h="2570797" w="5214842">
                <a:moveTo>
                  <a:pt x="0" y="0"/>
                </a:moveTo>
                <a:lnTo>
                  <a:pt x="5214842" y="0"/>
                </a:lnTo>
                <a:lnTo>
                  <a:pt x="5214842" y="2570798"/>
                </a:lnTo>
                <a:lnTo>
                  <a:pt x="0" y="2570798"/>
                </a:lnTo>
                <a:lnTo>
                  <a:pt x="0" y="0"/>
                </a:lnTo>
                <a:close/>
              </a:path>
            </a:pathLst>
          </a:custGeom>
          <a:blipFill>
            <a:blip r:embed="rId3">
              <a:extLst>
                <a:ext uri="{96DAC541-7B7A-43D3-8B79-37D633B846F1}">
                  <asvg:svgBlip xmlns:asvg="http://schemas.microsoft.com/office/drawing/2016/SVG/main" r:embed="rId4"/>
                </a:ext>
              </a:extLst>
            </a:blip>
            <a:stretch>
              <a:fillRect l="-27" t="0" r="-28" b="0"/>
            </a:stretch>
          </a:blipFill>
        </p:spPr>
        <p:txBody>
          <a:bodyPr/>
          <a:p/>
        </p:txBody>
      </p:sp>
      <p:sp>
        <p:nvSpPr>
          <p:cNvPr name="TextBox 11" id="11"/>
          <p:cNvSpPr txBox="true"/>
          <p:nvPr/>
        </p:nvSpPr>
        <p:spPr>
          <a:xfrm rot="0">
            <a:off x="6895948" y="5882640"/>
            <a:ext cx="4495648" cy="76962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Công bằng về loại</a:t>
            </a:r>
          </a:p>
        </p:txBody>
      </p:sp>
      <p:sp>
        <p:nvSpPr>
          <p:cNvPr name="TextBox 12" id="12"/>
          <p:cNvSpPr txBox="true"/>
          <p:nvPr/>
        </p:nvSpPr>
        <p:spPr>
          <a:xfrm rot="0">
            <a:off x="6895948" y="6530340"/>
            <a:ext cx="4495648" cy="163068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Cả B2 và ViTextBLIP-2 đều được train trên tập train ViTextVQA.</a:t>
            </a:r>
          </a:p>
        </p:txBody>
      </p:sp>
      <p:sp>
        <p:nvSpPr>
          <p:cNvPr name="Freeform 13" id="13"/>
          <p:cNvSpPr/>
          <p:nvPr/>
        </p:nvSpPr>
        <p:spPr>
          <a:xfrm flipH="false" flipV="false" rot="0">
            <a:off x="12266466" y="5812631"/>
            <a:ext cx="5214842" cy="2570797"/>
          </a:xfrm>
          <a:custGeom>
            <a:avLst/>
            <a:gdLst/>
            <a:ahLst/>
            <a:cxnLst/>
            <a:rect r="r" b="b" t="t" l="l"/>
            <a:pathLst>
              <a:path h="2570797" w="5214842">
                <a:moveTo>
                  <a:pt x="0" y="0"/>
                </a:moveTo>
                <a:lnTo>
                  <a:pt x="5214843" y="0"/>
                </a:lnTo>
                <a:lnTo>
                  <a:pt x="5214843" y="2570798"/>
                </a:lnTo>
                <a:lnTo>
                  <a:pt x="0" y="2570798"/>
                </a:lnTo>
                <a:lnTo>
                  <a:pt x="0" y="0"/>
                </a:lnTo>
                <a:close/>
              </a:path>
            </a:pathLst>
          </a:custGeom>
          <a:blipFill>
            <a:blip r:embed="rId5">
              <a:extLst>
                <a:ext uri="{96DAC541-7B7A-43D3-8B79-37D633B846F1}">
                  <asvg:svgBlip xmlns:asvg="http://schemas.microsoft.com/office/drawing/2016/SVG/main" r:embed="rId6"/>
                </a:ext>
              </a:extLst>
            </a:blip>
            <a:stretch>
              <a:fillRect l="-27" t="0" r="-28" b="0"/>
            </a:stretch>
          </a:blipFill>
        </p:spPr>
        <p:txBody>
          <a:bodyPr/>
          <a:p/>
        </p:txBody>
      </p:sp>
      <p:sp>
        <p:nvSpPr>
          <p:cNvPr name="TextBox 14" id="14"/>
          <p:cNvSpPr txBox="true"/>
          <p:nvPr/>
        </p:nvSpPr>
        <p:spPr>
          <a:xfrm rot="0">
            <a:off x="12626035" y="5882640"/>
            <a:ext cx="4495648" cy="76962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Giới hạn</a:t>
            </a:r>
          </a:p>
        </p:txBody>
      </p:sp>
      <p:sp>
        <p:nvSpPr>
          <p:cNvPr name="TextBox 15" id="15"/>
          <p:cNvSpPr txBox="true"/>
          <p:nvPr/>
        </p:nvSpPr>
        <p:spPr>
          <a:xfrm rot="0">
            <a:off x="12626035" y="6530340"/>
            <a:ext cx="4495648" cy="163068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Paper không công bố cách chuẩn hoá đáp án; phép so giả định cách chấm tương đương.</a:t>
            </a:r>
          </a:p>
        </p:txBody>
      </p:sp>
      <p:grpSp>
        <p:nvGrpSpPr>
          <p:cNvPr name="Group 16" id="16"/>
          <p:cNvGrpSpPr/>
          <p:nvPr/>
        </p:nvGrpSpPr>
        <p:grpSpPr>
          <a:xfrm rot="0">
            <a:off x="822960" y="8641080"/>
            <a:ext cx="16641604" cy="685800"/>
            <a:chOff x="0" y="0"/>
            <a:chExt cx="22188805" cy="914400"/>
          </a:xfrm>
        </p:grpSpPr>
        <p:sp>
          <p:nvSpPr>
            <p:cNvPr name="Freeform 17" id="17"/>
            <p:cNvSpPr/>
            <p:nvPr/>
          </p:nvSpPr>
          <p:spPr>
            <a:xfrm flipH="false" flipV="false" rot="0">
              <a:off x="0" y="0"/>
              <a:ext cx="22188805" cy="914400"/>
            </a:xfrm>
            <a:custGeom>
              <a:avLst/>
              <a:gdLst/>
              <a:ahLst/>
              <a:cxnLst/>
              <a:rect r="r" b="b" t="t" l="l"/>
              <a:pathLst>
                <a:path h="914400" w="22188805">
                  <a:moveTo>
                    <a:pt x="0" y="0"/>
                  </a:moveTo>
                  <a:lnTo>
                    <a:pt x="22188805" y="0"/>
                  </a:lnTo>
                  <a:lnTo>
                    <a:pt x="22188805" y="914400"/>
                  </a:lnTo>
                  <a:lnTo>
                    <a:pt x="0" y="914400"/>
                  </a:lnTo>
                  <a:close/>
                </a:path>
              </a:pathLst>
            </a:custGeom>
            <a:blipFill>
              <a:blip r:embed="rId2">
                <a:alphaModFix amt="0"/>
              </a:blip>
              <a:stretch>
                <a:fillRect l="0" t="-422494" r="0" b="-422494"/>
              </a:stretch>
            </a:blipFill>
          </p:spPr>
          <p:txBody>
            <a:bodyPr/>
            <a:p/>
          </p:txBody>
        </p:sp>
      </p:grpSp>
      <p:grpSp>
        <p:nvGrpSpPr>
          <p:cNvPr name="Group 18" id="18"/>
          <p:cNvGrpSpPr/>
          <p:nvPr/>
        </p:nvGrpSpPr>
        <p:grpSpPr>
          <a:xfrm rot="0">
            <a:off x="822960" y="8612505"/>
            <a:ext cx="16641604" cy="714375"/>
            <a:chOff x="0" y="0"/>
            <a:chExt cx="22188805" cy="952500"/>
          </a:xfrm>
        </p:grpSpPr>
        <p:sp>
          <p:nvSpPr>
            <p:cNvPr name="Freeform 19" id="19"/>
            <p:cNvSpPr/>
            <p:nvPr/>
          </p:nvSpPr>
          <p:spPr>
            <a:xfrm flipH="false" flipV="false" rot="0">
              <a:off x="0" y="0"/>
              <a:ext cx="22188805" cy="952500"/>
            </a:xfrm>
            <a:custGeom>
              <a:avLst/>
              <a:gdLst/>
              <a:ahLst/>
              <a:cxnLst/>
              <a:rect r="r" b="b" t="t" l="l"/>
              <a:pathLst>
                <a:path h="952500" w="22188805">
                  <a:moveTo>
                    <a:pt x="0" y="0"/>
                  </a:moveTo>
                  <a:lnTo>
                    <a:pt x="22188805" y="0"/>
                  </a:lnTo>
                  <a:lnTo>
                    <a:pt x="22188805" y="952500"/>
                  </a:lnTo>
                  <a:lnTo>
                    <a:pt x="0" y="952500"/>
                  </a:lnTo>
                  <a:close/>
                </a:path>
              </a:pathLst>
            </a:custGeom>
            <a:blipFill>
              <a:blip r:embed="rId7">
                <a:alphaModFix amt="0"/>
              </a:blip>
              <a:stretch>
                <a:fillRect l="0" t="-403594" r="0" b="-403594"/>
              </a:stretch>
            </a:blipFill>
          </p:spPr>
          <p:txBody>
            <a:bodyPr/>
            <a:p/>
          </p:txBody>
        </p:sp>
      </p:grpSp>
      <p:grpSp>
        <p:nvGrpSpPr>
          <p:cNvPr name="Group 20" id="20"/>
          <p:cNvGrpSpPr/>
          <p:nvPr/>
        </p:nvGrpSpPr>
        <p:grpSpPr>
          <a:xfrm rot="0">
            <a:off x="822960" y="8583930"/>
            <a:ext cx="16641623" cy="742950"/>
            <a:chOff x="0" y="0"/>
            <a:chExt cx="22188830" cy="990600"/>
          </a:xfrm>
        </p:grpSpPr>
        <p:sp>
          <p:nvSpPr>
            <p:cNvPr name="Freeform 21" id="21"/>
            <p:cNvSpPr/>
            <p:nvPr/>
          </p:nvSpPr>
          <p:spPr>
            <a:xfrm flipH="false" flipV="false" rot="0">
              <a:off x="0" y="0"/>
              <a:ext cx="22188805" cy="990600"/>
            </a:xfrm>
            <a:custGeom>
              <a:avLst/>
              <a:gdLst/>
              <a:ahLst/>
              <a:cxnLst/>
              <a:rect r="r" b="b" t="t" l="l"/>
              <a:pathLst>
                <a:path h="990600" w="22188805">
                  <a:moveTo>
                    <a:pt x="0" y="0"/>
                  </a:moveTo>
                  <a:lnTo>
                    <a:pt x="22188805" y="0"/>
                  </a:lnTo>
                  <a:lnTo>
                    <a:pt x="22188805" y="990600"/>
                  </a:lnTo>
                  <a:lnTo>
                    <a:pt x="0" y="990600"/>
                  </a:lnTo>
                  <a:close/>
                </a:path>
              </a:pathLst>
            </a:custGeom>
            <a:blipFill>
              <a:blip r:embed="rId8">
                <a:alphaModFix amt="0"/>
              </a:blip>
              <a:stretch>
                <a:fillRect l="0" t="-386148" r="0" b="-386150"/>
              </a:stretch>
            </a:blipFill>
          </p:spPr>
          <p:txBody>
            <a:bodyPr/>
            <a:p/>
          </p:txBody>
        </p:sp>
      </p:grpSp>
      <p:grpSp>
        <p:nvGrpSpPr>
          <p:cNvPr name="Group 22" id="22"/>
          <p:cNvGrpSpPr/>
          <p:nvPr/>
        </p:nvGrpSpPr>
        <p:grpSpPr>
          <a:xfrm rot="0">
            <a:off x="822960" y="8555355"/>
            <a:ext cx="16641623" cy="771525"/>
            <a:chOff x="0" y="0"/>
            <a:chExt cx="22188830" cy="1028700"/>
          </a:xfrm>
        </p:grpSpPr>
        <p:sp>
          <p:nvSpPr>
            <p:cNvPr name="Freeform 23" id="23"/>
            <p:cNvSpPr/>
            <p:nvPr/>
          </p:nvSpPr>
          <p:spPr>
            <a:xfrm flipH="false" flipV="false" rot="0">
              <a:off x="0" y="0"/>
              <a:ext cx="22188830" cy="1028700"/>
            </a:xfrm>
            <a:custGeom>
              <a:avLst/>
              <a:gdLst/>
              <a:ahLst/>
              <a:cxnLst/>
              <a:rect r="r" b="b" t="t" l="l"/>
              <a:pathLst>
                <a:path h="1028700" w="22188830">
                  <a:moveTo>
                    <a:pt x="0" y="0"/>
                  </a:moveTo>
                  <a:lnTo>
                    <a:pt x="22188830" y="0"/>
                  </a:lnTo>
                  <a:lnTo>
                    <a:pt x="22188830" y="1028700"/>
                  </a:lnTo>
                  <a:lnTo>
                    <a:pt x="0" y="1028700"/>
                  </a:lnTo>
                  <a:close/>
                </a:path>
              </a:pathLst>
            </a:custGeom>
            <a:blipFill>
              <a:blip r:embed="rId9">
                <a:alphaModFix amt="0"/>
              </a:blip>
              <a:stretch>
                <a:fillRect l="0" t="-370287" r="0" b="-370287"/>
              </a:stretch>
            </a:blipFill>
          </p:spPr>
          <p:txBody>
            <a:bodyPr/>
            <a:p/>
          </p:txBody>
        </p:sp>
        <p:sp>
          <p:nvSpPr>
            <p:cNvPr name="TextBox 24" id="24"/>
            <p:cNvSpPr txBox="true"/>
            <p:nvPr/>
          </p:nvSpPr>
          <p:spPr>
            <a:xfrm>
              <a:off x="0" y="-38100"/>
              <a:ext cx="22188830" cy="1066800"/>
            </a:xfrm>
            <a:prstGeom prst="rect">
              <a:avLst/>
            </a:prstGeom>
          </p:spPr>
          <p:txBody>
            <a:bodyPr anchor="b" rtlCol="false" tIns="0" lIns="0" bIns="0" rIns="0"/>
            <a:lstStyle/>
            <a:p>
              <a:pPr algn="l">
                <a:lnSpc>
                  <a:spcPts val="1800"/>
                </a:lnSpc>
              </a:pPr>
              <a:r>
                <a:rPr lang="en-US" sz="1500" u="sng">
                  <a:solidFill>
                    <a:srgbClr val="0000FF"/>
                  </a:solidFill>
                  <a:latin typeface="Calibri (MS)"/>
                  <a:ea typeface="Calibri (MS)"/>
                  <a:cs typeface="Calibri (MS)"/>
                  <a:sym typeface="Calibri (MS)"/>
                  <a:hlinkClick r:id="rId10" tooltip="https://arxiv.org/pdf/2404.10652"/>
                </a:rPr>
                <a:t>[3] Nguyen và cs., ViTextVQA, arXiv:2404.10652, 2024. CI95 = bootstrap ghép cặp, 10.000 lần lấy mẫu, seed 42. Số của nhóm: experiments/W07_B1_zeroshot_…_testfull, W07_B2_eval_…_testfull, W07_fulltest_summary_L4_seed42.</a:t>
              </a:r>
            </a:p>
          </p:txBody>
        </p:sp>
      </p:grpSp>
      <p:grpSp>
        <p:nvGrpSpPr>
          <p:cNvPr name="Group 25" id="25"/>
          <p:cNvGrpSpPr/>
          <p:nvPr/>
        </p:nvGrpSpPr>
        <p:grpSpPr>
          <a:xfrm rot="0">
            <a:off x="15458732" y="0"/>
            <a:ext cx="2829306" cy="1184338"/>
            <a:chOff x="0" y="0"/>
            <a:chExt cx="3772408" cy="1579118"/>
          </a:xfrm>
        </p:grpSpPr>
        <p:sp>
          <p:nvSpPr>
            <p:cNvPr name="Freeform 26" id="26"/>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11"/>
              <a:stretch>
                <a:fillRect l="0" t="0" r="0" b="0"/>
              </a:stretch>
            </a:blipFill>
          </p:spPr>
          <p:txBody>
            <a:bodyPr/>
            <a:p/>
          </p:txBody>
        </p:sp>
      </p:grpSp>
      <p:grpSp>
        <p:nvGrpSpPr>
          <p:cNvPr name="Group 27" id="27"/>
          <p:cNvGrpSpPr/>
          <p:nvPr/>
        </p:nvGrpSpPr>
        <p:grpSpPr>
          <a:xfrm rot="0">
            <a:off x="822960" y="9641205"/>
            <a:ext cx="13716000" cy="440055"/>
            <a:chOff x="0" y="0"/>
            <a:chExt cx="18288000" cy="586740"/>
          </a:xfrm>
        </p:grpSpPr>
        <p:sp>
          <p:nvSpPr>
            <p:cNvPr name="Freeform 28" id="28"/>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7">
                <a:alphaModFix amt="0"/>
              </a:blip>
              <a:stretch>
                <a:fillRect l="0" t="-556902" r="0" b="-556904"/>
              </a:stretch>
            </a:blipFill>
          </p:spPr>
          <p:txBody>
            <a:bodyPr/>
            <a:p/>
          </p:txBody>
        </p:sp>
      </p:grpSp>
      <p:grpSp>
        <p:nvGrpSpPr>
          <p:cNvPr name="Group 29" id="29"/>
          <p:cNvGrpSpPr/>
          <p:nvPr/>
        </p:nvGrpSpPr>
        <p:grpSpPr>
          <a:xfrm rot="0">
            <a:off x="822960" y="9612630"/>
            <a:ext cx="13716000" cy="468630"/>
            <a:chOff x="0" y="0"/>
            <a:chExt cx="18288000" cy="624840"/>
          </a:xfrm>
        </p:grpSpPr>
        <p:sp>
          <p:nvSpPr>
            <p:cNvPr name="Freeform 30" id="30"/>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8">
                <a:alphaModFix amt="0"/>
              </a:blip>
              <a:stretch>
                <a:fillRect l="0" t="-519896" r="0" b="-519898"/>
              </a:stretch>
            </a:blipFill>
          </p:spPr>
          <p:txBody>
            <a:bodyPr/>
            <a:p/>
          </p:txBody>
        </p:sp>
      </p:grpSp>
      <p:grpSp>
        <p:nvGrpSpPr>
          <p:cNvPr name="Group 31" id="31"/>
          <p:cNvGrpSpPr/>
          <p:nvPr/>
        </p:nvGrpSpPr>
        <p:grpSpPr>
          <a:xfrm rot="0">
            <a:off x="822960" y="9584055"/>
            <a:ext cx="13716000" cy="497205"/>
            <a:chOff x="0" y="0"/>
            <a:chExt cx="18288000" cy="662940"/>
          </a:xfrm>
        </p:grpSpPr>
        <p:sp>
          <p:nvSpPr>
            <p:cNvPr name="Freeform 32" id="32"/>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9">
                <a:alphaModFix amt="0"/>
              </a:blip>
              <a:stretch>
                <a:fillRect l="0" t="-487518" r="0" b="-487518"/>
              </a:stretch>
            </a:blipFill>
          </p:spPr>
          <p:txBody>
            <a:bodyPr/>
            <a:p/>
          </p:txBody>
        </p:sp>
        <p:sp>
          <p:nvSpPr>
            <p:cNvPr name="TextBox 33" id="33"/>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PHỤ LỤC · P3 · SOTA SO VỚI NHÓM</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ViTextBLIP-2 làm thế nào — và nhóm khác ở đâu</a:t>
            </a:r>
          </a:p>
        </p:txBody>
      </p:sp>
      <p:graphicFrame>
        <p:nvGraphicFramePr>
          <p:cNvPr name="Table 6" id="6"/>
          <p:cNvGraphicFramePr>
            <a:graphicFrameLocks noGrp="true"/>
          </p:cNvGraphicFramePr>
          <p:nvPr/>
        </p:nvGraphicFramePr>
        <p:xfrm>
          <a:off x="822960" y="1988820"/>
          <a:ext cx="16560800" cy="6172200"/>
        </p:xfrm>
        <a:graphic>
          <a:graphicData uri="http://schemas.openxmlformats.org/drawingml/2006/table">
            <a:tbl>
              <a:tblPr/>
              <a:tblGrid>
                <a:gridCol w="3042199"/>
                <a:gridCol w="6806353"/>
                <a:gridCol w="6712248"/>
              </a:tblGrid>
              <a:tr h="68580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Khía cạnh</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ViTextBLIP-2 (SOTA, paper [3])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Nhóm: B2 = Qwen2.5-VL-3B + QLoRA</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r>
              <a:tr h="685800">
                <a:tc>
                  <a:txBody>
                    <a:bodyPr anchor="t" rtlCol="false"/>
                    <a:lstStyle/>
                    <a:p>
                      <a:pPr algn="l">
                        <a:lnSpc>
                          <a:spcPts val="2160"/>
                        </a:lnSpc>
                        <a:defRPr/>
                      </a:pPr>
                      <a:r>
                        <a:rPr lang="en-US" sz="1800" b="true">
                          <a:solidFill>
                            <a:srgbClr val="13294B"/>
                          </a:solidFill>
                          <a:latin typeface="Calibri (MS) Bold"/>
                          <a:ea typeface="Calibri (MS) Bold"/>
                          <a:cs typeface="Calibri (MS) Bold"/>
                          <a:sym typeface="Calibri (MS) Bold"/>
                        </a:rPr>
                        <a:t>Thị giác</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ViT pretrained, đóng băng</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ViT của Qwen2.5-VL (32 khối), đóng băng</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160"/>
                        </a:lnSpc>
                        <a:defRPr/>
                      </a:pPr>
                      <a:r>
                        <a:rPr lang="en-US" sz="1800" b="true">
                          <a:solidFill>
                            <a:srgbClr val="13294B"/>
                          </a:solidFill>
                          <a:latin typeface="Calibri (MS) Bold"/>
                          <a:ea typeface="Calibri (MS) Bold"/>
                          <a:cs typeface="Calibri (MS) Bold"/>
                          <a:sym typeface="Calibri (MS) Bold"/>
                        </a:rPr>
                        <a:t>Chữ trong ảnh (OCR)</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SwinTextSpotter [4], không fine-tune, bộ ký tự tiếng Việt; token OCR trộn như đặc trưng</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Không dùng OCR ngoài — VLM tự đọc chữ từ ảnh (OCR thêm ở B3, slide 23)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160"/>
                        </a:lnSpc>
                        <a:defRPr/>
                      </a:pPr>
                      <a:r>
                        <a:rPr lang="en-US" sz="1800" b="true">
                          <a:solidFill>
                            <a:srgbClr val="13294B"/>
                          </a:solidFill>
                          <a:latin typeface="Calibri (MS) Bold"/>
                          <a:ea typeface="Calibri (MS) Bold"/>
                          <a:cs typeface="Calibri (MS) Bold"/>
                          <a:sym typeface="Calibri (MS) Bold"/>
                        </a:rPr>
                        <a:t>Mô hình ngôn ngữ</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ViT5 [5] (T5 tiếng Việt), đóng băng</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Decoder Qwen2.5-3B, 36 lớp, 4-bit NF4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160"/>
                        </a:lnSpc>
                        <a:defRPr/>
                      </a:pPr>
                      <a:r>
                        <a:rPr lang="en-US" sz="1800" b="true">
                          <a:solidFill>
                            <a:srgbClr val="13294B"/>
                          </a:solidFill>
                          <a:latin typeface="Calibri (MS) Bold"/>
                          <a:ea typeface="Calibri (MS) Bold"/>
                          <a:cs typeface="Calibri (MS) Bold"/>
                          <a:sym typeface="Calibri (MS) Bold"/>
                        </a:rPr>
                        <a:t>Phần được train</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Q-Former (khởi tạo từ BLIP-2) trộn ảnh, câu hỏi và OCR</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LoRA trên q, k, v, o: 7,37 triệu tham số (0,196%)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160"/>
                        </a:lnSpc>
                        <a:defRPr/>
                      </a:pPr>
                      <a:r>
                        <a:rPr lang="en-US" sz="1800" b="true">
                          <a:solidFill>
                            <a:srgbClr val="13294B"/>
                          </a:solidFill>
                          <a:latin typeface="Calibri (MS) Bold"/>
                          <a:ea typeface="Calibri (MS) Bold"/>
                          <a:cs typeface="Calibri (MS) Bold"/>
                          <a:sym typeface="Calibri (MS) Bold"/>
                        </a:rPr>
                        <a:t>Xử lý dữ liệu</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Sắp chữ OCR trái-trên → phải-dưới (giúp hầu hết model)</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Split chính thức; chuẩn hoá tiếng Việt (NFC, chữ thường, giữ dấu thanh)</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160"/>
                        </a:lnSpc>
                        <a:defRPr/>
                      </a:pPr>
                      <a:r>
                        <a:rPr lang="en-US" sz="1800" b="true">
                          <a:solidFill>
                            <a:srgbClr val="13294B"/>
                          </a:solidFill>
                          <a:latin typeface="Calibri (MS) Bold"/>
                          <a:ea typeface="Calibri (MS) Bold"/>
                          <a:cs typeface="Calibri (MS) Bold"/>
                          <a:sym typeface="Calibri (MS) Bold"/>
                        </a:rPr>
                        <a:t>Dữ liệu train</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Toàn bộ train ViTextVQA</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Toàn bộ train ViTextVQA, 1 epoch (12,0 h trên 1 L4)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160"/>
                        </a:lnSpc>
                        <a:defRPr/>
                      </a:pPr>
                      <a:r>
                        <a:rPr lang="en-US" sz="1800" b="true">
                          <a:solidFill>
                            <a:srgbClr val="13294B"/>
                          </a:solidFill>
                          <a:latin typeface="Calibri (MS) Bold"/>
                          <a:ea typeface="Calibri (MS) Bold"/>
                          <a:cs typeface="Calibri (MS) Bold"/>
                          <a:sym typeface="Calibri (MS) Bold"/>
                        </a:rPr>
                        <a:t>Metric</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EM, F1; không công bố cách chuẩn hoá</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l">
                        <a:lnSpc>
                          <a:spcPts val="2160"/>
                        </a:lnSpc>
                        <a:defRPr/>
                      </a:pPr>
                      <a:r>
                        <a:rPr lang="en-US" sz="1800">
                          <a:solidFill>
                            <a:srgbClr val="243044"/>
                          </a:solidFill>
                          <a:latin typeface="Calibri (MS)"/>
                          <a:ea typeface="Calibri (MS)"/>
                          <a:cs typeface="Calibri (MS)"/>
                          <a:sym typeface="Calibri (MS)"/>
                        </a:rPr>
                        <a:t>EM, ANLS (+ F1 để so); hàm chuẩn hoá công khai trong code</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160"/>
                        </a:lnSpc>
                        <a:defRPr/>
                      </a:pPr>
                      <a:r>
                        <a:rPr lang="en-US" sz="1800" b="true">
                          <a:solidFill>
                            <a:srgbClr val="13294B"/>
                          </a:solidFill>
                          <a:latin typeface="Calibri (MS) Bold"/>
                          <a:ea typeface="Calibri (MS) Bold"/>
                          <a:cs typeface="Calibri (MS) Bold"/>
                          <a:sym typeface="Calibri (MS) Bold"/>
                        </a:rPr>
                        <a:t>Full test (EM / F1)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E7F0F3"/>
                    </a:solidFill>
                  </a:tcPr>
                </a:tc>
                <a:tc>
                  <a:txBody>
                    <a:bodyPr anchor="t" rtlCol="false"/>
                    <a:lstStyle/>
                    <a:p>
                      <a:pPr algn="l">
                        <a:lnSpc>
                          <a:spcPts val="2160"/>
                        </a:lnSpc>
                        <a:defRPr/>
                      </a:pPr>
                      <a:r>
                        <a:rPr lang="en-US" sz="1800" b="true">
                          <a:solidFill>
                            <a:srgbClr val="243044"/>
                          </a:solidFill>
                          <a:latin typeface="Calibri (MS) Bold"/>
                          <a:ea typeface="Calibri (MS) Bold"/>
                          <a:cs typeface="Calibri (MS) Bold"/>
                          <a:sym typeface="Calibri (MS) Bold"/>
                        </a:rPr>
                        <a:t>25,48 / 53,95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E7F0F3"/>
                    </a:solidFill>
                  </a:tcPr>
                </a:tc>
                <a:tc>
                  <a:txBody>
                    <a:bodyPr anchor="t" rtlCol="false"/>
                    <a:lstStyle/>
                    <a:p>
                      <a:pPr algn="l">
                        <a:lnSpc>
                          <a:spcPts val="2160"/>
                        </a:lnSpc>
                        <a:defRPr/>
                      </a:pPr>
                      <a:r>
                        <a:rPr lang="en-US" sz="1800" b="true">
                          <a:solidFill>
                            <a:srgbClr val="243044"/>
                          </a:solidFill>
                          <a:latin typeface="Calibri (MS) Bold"/>
                          <a:ea typeface="Calibri (MS) Bold"/>
                          <a:cs typeface="Calibri (MS) Bold"/>
                          <a:sym typeface="Calibri (MS) Bold"/>
                        </a:rPr>
                        <a:t>50,26 / 71,16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E7F0F3"/>
                    </a:solidFill>
                  </a:tcPr>
                </a:tc>
              </a:tr>
            </a:tbl>
          </a:graphicData>
        </a:graphic>
      </p:graphicFrame>
      <p:grpSp>
        <p:nvGrpSpPr>
          <p:cNvPr name="Group 7" id="7"/>
          <p:cNvGrpSpPr/>
          <p:nvPr/>
        </p:nvGrpSpPr>
        <p:grpSpPr>
          <a:xfrm rot="0">
            <a:off x="822960" y="8641080"/>
            <a:ext cx="16641604" cy="850392"/>
            <a:chOff x="0" y="0"/>
            <a:chExt cx="22188805" cy="1133856"/>
          </a:xfrm>
        </p:grpSpPr>
        <p:sp>
          <p:nvSpPr>
            <p:cNvPr name="Freeform 8" id="8"/>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2">
                <a:alphaModFix amt="0"/>
              </a:blip>
              <a:stretch>
                <a:fillRect l="0" t="-331043" r="0" b="-331043"/>
              </a:stretch>
            </a:blipFill>
          </p:spPr>
          <p:txBody>
            <a:bodyPr/>
            <a:p/>
          </p:txBody>
        </p:sp>
      </p:grpSp>
      <p:grpSp>
        <p:nvGrpSpPr>
          <p:cNvPr name="Group 9" id="9"/>
          <p:cNvGrpSpPr/>
          <p:nvPr/>
        </p:nvGrpSpPr>
        <p:grpSpPr>
          <a:xfrm rot="0">
            <a:off x="780240" y="7962795"/>
            <a:ext cx="16641604" cy="878967"/>
            <a:chOff x="0" y="0"/>
            <a:chExt cx="22188805" cy="1171956"/>
          </a:xfrm>
        </p:grpSpPr>
        <p:sp>
          <p:nvSpPr>
            <p:cNvPr name="Freeform 10" id="10"/>
            <p:cNvSpPr/>
            <p:nvPr/>
          </p:nvSpPr>
          <p:spPr>
            <a:xfrm flipH="false" flipV="false" rot="0">
              <a:off x="0" y="0"/>
              <a:ext cx="22188805" cy="1171956"/>
            </a:xfrm>
            <a:custGeom>
              <a:avLst/>
              <a:gdLst/>
              <a:ahLst/>
              <a:cxnLst/>
              <a:rect r="r" b="b" t="t" l="l"/>
              <a:pathLst>
                <a:path h="1171956" w="22188805">
                  <a:moveTo>
                    <a:pt x="0" y="0"/>
                  </a:moveTo>
                  <a:lnTo>
                    <a:pt x="22188805" y="0"/>
                  </a:lnTo>
                  <a:lnTo>
                    <a:pt x="22188805" y="1171956"/>
                  </a:lnTo>
                  <a:lnTo>
                    <a:pt x="0" y="1171956"/>
                  </a:lnTo>
                  <a:close/>
                </a:path>
              </a:pathLst>
            </a:custGeom>
            <a:blipFill>
              <a:blip r:embed="rId3">
                <a:alphaModFix amt="0"/>
              </a:blip>
              <a:stretch>
                <a:fillRect l="0" t="-318656" r="0" b="-318656"/>
              </a:stretch>
            </a:blipFill>
          </p:spPr>
          <p:txBody>
            <a:bodyPr/>
            <a:p/>
          </p:txBody>
        </p:sp>
      </p:grpSp>
      <p:grpSp>
        <p:nvGrpSpPr>
          <p:cNvPr name="Group 11" id="11"/>
          <p:cNvGrpSpPr/>
          <p:nvPr/>
        </p:nvGrpSpPr>
        <p:grpSpPr>
          <a:xfrm rot="0">
            <a:off x="780240" y="7934220"/>
            <a:ext cx="16641623" cy="907542"/>
            <a:chOff x="0" y="0"/>
            <a:chExt cx="22188830" cy="1210056"/>
          </a:xfrm>
        </p:grpSpPr>
        <p:sp>
          <p:nvSpPr>
            <p:cNvPr name="Freeform 12" id="12"/>
            <p:cNvSpPr/>
            <p:nvPr/>
          </p:nvSpPr>
          <p:spPr>
            <a:xfrm flipH="false" flipV="false" rot="0">
              <a:off x="0" y="0"/>
              <a:ext cx="22188805" cy="1210056"/>
            </a:xfrm>
            <a:custGeom>
              <a:avLst/>
              <a:gdLst/>
              <a:ahLst/>
              <a:cxnLst/>
              <a:rect r="r" b="b" t="t" l="l"/>
              <a:pathLst>
                <a:path h="1210056" w="22188805">
                  <a:moveTo>
                    <a:pt x="0" y="0"/>
                  </a:moveTo>
                  <a:lnTo>
                    <a:pt x="22188805" y="0"/>
                  </a:lnTo>
                  <a:lnTo>
                    <a:pt x="22188805" y="1210056"/>
                  </a:lnTo>
                  <a:lnTo>
                    <a:pt x="0" y="1210056"/>
                  </a:lnTo>
                  <a:close/>
                </a:path>
              </a:pathLst>
            </a:custGeom>
            <a:blipFill>
              <a:blip r:embed="rId4">
                <a:alphaModFix amt="0"/>
              </a:blip>
              <a:stretch>
                <a:fillRect l="0" t="-307048" r="0" b="-307049"/>
              </a:stretch>
            </a:blipFill>
          </p:spPr>
          <p:txBody>
            <a:bodyPr/>
            <a:p/>
          </p:txBody>
        </p:sp>
      </p:grpSp>
      <p:grpSp>
        <p:nvGrpSpPr>
          <p:cNvPr name="Group 13" id="13"/>
          <p:cNvGrpSpPr/>
          <p:nvPr/>
        </p:nvGrpSpPr>
        <p:grpSpPr>
          <a:xfrm rot="0">
            <a:off x="780240" y="7905645"/>
            <a:ext cx="16641623" cy="936117"/>
            <a:chOff x="0" y="0"/>
            <a:chExt cx="22188830" cy="1248156"/>
          </a:xfrm>
        </p:grpSpPr>
        <p:sp>
          <p:nvSpPr>
            <p:cNvPr name="Freeform 14" id="14"/>
            <p:cNvSpPr/>
            <p:nvPr/>
          </p:nvSpPr>
          <p:spPr>
            <a:xfrm flipH="false" flipV="false" rot="0">
              <a:off x="0" y="0"/>
              <a:ext cx="22188830" cy="1248156"/>
            </a:xfrm>
            <a:custGeom>
              <a:avLst/>
              <a:gdLst/>
              <a:ahLst/>
              <a:cxnLst/>
              <a:rect r="r" b="b" t="t" l="l"/>
              <a:pathLst>
                <a:path h="1248156" w="22188830">
                  <a:moveTo>
                    <a:pt x="0" y="0"/>
                  </a:moveTo>
                  <a:lnTo>
                    <a:pt x="22188830" y="0"/>
                  </a:lnTo>
                  <a:lnTo>
                    <a:pt x="22188830" y="1248156"/>
                  </a:lnTo>
                  <a:lnTo>
                    <a:pt x="0" y="1248156"/>
                  </a:lnTo>
                  <a:close/>
                </a:path>
              </a:pathLst>
            </a:custGeom>
            <a:blipFill>
              <a:blip r:embed="rId5">
                <a:alphaModFix amt="0"/>
              </a:blip>
              <a:stretch>
                <a:fillRect l="0" t="-296391" r="0" b="-296391"/>
              </a:stretch>
            </a:blipFill>
          </p:spPr>
          <p:txBody>
            <a:bodyPr/>
            <a:p/>
          </p:txBody>
        </p:sp>
        <p:sp>
          <p:nvSpPr>
            <p:cNvPr name="TextBox 15" id="15"/>
            <p:cNvSpPr txBox="true"/>
            <p:nvPr/>
          </p:nvSpPr>
          <p:spPr>
            <a:xfrm>
              <a:off x="0" y="-38100"/>
              <a:ext cx="22188830" cy="1286256"/>
            </a:xfrm>
            <a:prstGeom prst="rect">
              <a:avLst/>
            </a:prstGeom>
          </p:spPr>
          <p:txBody>
            <a:bodyPr anchor="b" rtlCol="false" tIns="0" lIns="0" bIns="0" rIns="0"/>
            <a:lstStyle/>
            <a:p>
              <a:pPr algn="l">
                <a:lnSpc>
                  <a:spcPts val="1800"/>
                </a:lnSpc>
              </a:pPr>
              <a:r>
                <a:rPr lang="en-US" sz="1500" u="sng">
                  <a:solidFill>
                    <a:srgbClr val="0000FF"/>
                  </a:solidFill>
                  <a:latin typeface="Calibri (MS)"/>
                  <a:ea typeface="Calibri (MS)"/>
                  <a:cs typeface="Calibri (MS)"/>
                  <a:sym typeface="Calibri (MS)"/>
                  <a:hlinkClick r:id="rId6" tooltip="https://arxiv.org/pdf/2404.10652"/>
                </a:rPr>
                <a:t>[3] Nguyen và cs., ViTextVQA, arXiv:2404.10652, 2024 (bản mở rộng ESWA 2025) . Lưu ý: số 25,48 / 53,95 của paper nằm ở cột “OCR confidence” trong Table 10; bảng ablation báo 24,83 / 52,51 cho model đầy đủ.</a:t>
              </a:r>
            </a:p>
          </p:txBody>
        </p:sp>
      </p:grpSp>
      <p:sp>
        <p:nvSpPr>
          <p:cNvPr name="TextBox 16" id="16"/>
          <p:cNvSpPr txBox="true"/>
          <p:nvPr/>
        </p:nvSpPr>
        <p:spPr>
          <a:xfrm rot="0">
            <a:off x="780240" y="8727462"/>
            <a:ext cx="3521516" cy="342900"/>
          </a:xfrm>
          <a:prstGeom prst="rect">
            <a:avLst/>
          </a:prstGeom>
        </p:spPr>
        <p:txBody>
          <a:bodyPr anchor="t" rtlCol="false" tIns="0" lIns="0" bIns="0" rIns="0">
            <a:spAutoFit/>
          </a:bodyPr>
          <a:lstStyle/>
          <a:p>
            <a:pPr algn="ctr">
              <a:lnSpc>
                <a:spcPts val="1800"/>
              </a:lnSpc>
            </a:pPr>
            <a:r>
              <a:rPr lang="en-US" sz="1500" u="sng">
                <a:solidFill>
                  <a:srgbClr val="0000FF"/>
                </a:solidFill>
                <a:latin typeface="Calibri (MS)"/>
                <a:ea typeface="Calibri (MS)"/>
                <a:cs typeface="Calibri (MS)"/>
                <a:sym typeface="Calibri (MS)"/>
                <a:hlinkClick r:id="rId7" tooltip="https://arxiv.org/pdf/2203.10209"/>
              </a:rPr>
              <a:t> [4] Huang và cs., SwinTextSpotter, CVPR 2022</a:t>
            </a:r>
          </a:p>
        </p:txBody>
      </p:sp>
      <p:sp>
        <p:nvSpPr>
          <p:cNvPr name="TextBox 17" id="17"/>
          <p:cNvSpPr txBox="true"/>
          <p:nvPr/>
        </p:nvSpPr>
        <p:spPr>
          <a:xfrm rot="0">
            <a:off x="780240" y="9029700"/>
            <a:ext cx="2987278" cy="342900"/>
          </a:xfrm>
          <a:prstGeom prst="rect">
            <a:avLst/>
          </a:prstGeom>
        </p:spPr>
        <p:txBody>
          <a:bodyPr anchor="t" rtlCol="false" tIns="0" lIns="0" bIns="0" rIns="0">
            <a:spAutoFit/>
          </a:bodyPr>
          <a:lstStyle/>
          <a:p>
            <a:pPr algn="ctr">
              <a:lnSpc>
                <a:spcPts val="1800"/>
              </a:lnSpc>
            </a:pPr>
            <a:r>
              <a:rPr lang="en-US" sz="1500" u="sng">
                <a:solidFill>
                  <a:srgbClr val="0000FF"/>
                </a:solidFill>
                <a:latin typeface="Calibri (MS)"/>
                <a:ea typeface="Calibri (MS)"/>
                <a:cs typeface="Calibri (MS)"/>
                <a:sym typeface="Calibri (MS)"/>
                <a:hlinkClick r:id="rId8" tooltip="https://aclanthology.org/2022.naacl-srw.18.pdf"/>
              </a:rPr>
              <a:t>[5] Phan và cs., ViT5, NAACL SRW 2022</a:t>
            </a:r>
          </a:p>
        </p:txBody>
      </p:sp>
      <p:grpSp>
        <p:nvGrpSpPr>
          <p:cNvPr name="Group 18" id="18"/>
          <p:cNvGrpSpPr/>
          <p:nvPr/>
        </p:nvGrpSpPr>
        <p:grpSpPr>
          <a:xfrm rot="0">
            <a:off x="15458732" y="0"/>
            <a:ext cx="2829306" cy="1184338"/>
            <a:chOff x="0" y="0"/>
            <a:chExt cx="3772408" cy="1579118"/>
          </a:xfrm>
        </p:grpSpPr>
        <p:sp>
          <p:nvSpPr>
            <p:cNvPr name="Freeform 19" id="19"/>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9"/>
              <a:stretch>
                <a:fillRect l="0" t="0" r="0" b="0"/>
              </a:stretch>
            </a:blipFill>
          </p:spPr>
          <p:txBody>
            <a:bodyPr/>
            <a:p/>
          </p:txBody>
        </p:sp>
      </p:grpSp>
      <p:grpSp>
        <p:nvGrpSpPr>
          <p:cNvPr name="Group 20" id="20"/>
          <p:cNvGrpSpPr/>
          <p:nvPr/>
        </p:nvGrpSpPr>
        <p:grpSpPr>
          <a:xfrm rot="0">
            <a:off x="822960" y="9641205"/>
            <a:ext cx="13716000" cy="440055"/>
            <a:chOff x="0" y="0"/>
            <a:chExt cx="18288000" cy="586740"/>
          </a:xfrm>
        </p:grpSpPr>
        <p:sp>
          <p:nvSpPr>
            <p:cNvPr name="Freeform 21" id="21"/>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3">
                <a:alphaModFix amt="0"/>
              </a:blip>
              <a:stretch>
                <a:fillRect l="0" t="-556902" r="0" b="-556904"/>
              </a:stretch>
            </a:blipFill>
          </p:spPr>
          <p:txBody>
            <a:bodyPr/>
            <a:p/>
          </p:txBody>
        </p:sp>
      </p:grpSp>
      <p:grpSp>
        <p:nvGrpSpPr>
          <p:cNvPr name="Group 22" id="22"/>
          <p:cNvGrpSpPr/>
          <p:nvPr/>
        </p:nvGrpSpPr>
        <p:grpSpPr>
          <a:xfrm rot="0">
            <a:off x="822960" y="9612630"/>
            <a:ext cx="13716000" cy="468630"/>
            <a:chOff x="0" y="0"/>
            <a:chExt cx="18288000" cy="624840"/>
          </a:xfrm>
        </p:grpSpPr>
        <p:sp>
          <p:nvSpPr>
            <p:cNvPr name="Freeform 23" id="23"/>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4">
                <a:alphaModFix amt="0"/>
              </a:blip>
              <a:stretch>
                <a:fillRect l="0" t="-519896" r="0" b="-519898"/>
              </a:stretch>
            </a:blipFill>
          </p:spPr>
          <p:txBody>
            <a:bodyPr/>
            <a:p/>
          </p:txBody>
        </p:sp>
      </p:grpSp>
      <p:grpSp>
        <p:nvGrpSpPr>
          <p:cNvPr name="Group 24" id="24"/>
          <p:cNvGrpSpPr/>
          <p:nvPr/>
        </p:nvGrpSpPr>
        <p:grpSpPr>
          <a:xfrm rot="0">
            <a:off x="822960" y="9584055"/>
            <a:ext cx="13716000" cy="497205"/>
            <a:chOff x="0" y="0"/>
            <a:chExt cx="18288000" cy="662940"/>
          </a:xfrm>
        </p:grpSpPr>
        <p:sp>
          <p:nvSpPr>
            <p:cNvPr name="Freeform 25" id="25"/>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5">
                <a:alphaModFix amt="0"/>
              </a:blip>
              <a:stretch>
                <a:fillRect l="0" t="-487518" r="0" b="-487518"/>
              </a:stretch>
            </a:blipFill>
          </p:spPr>
          <p:txBody>
            <a:bodyPr/>
            <a:p/>
          </p:txBody>
        </p:sp>
        <p:sp>
          <p:nvSpPr>
            <p:cNvPr name="TextBox 26" id="26"/>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PHỤ LỤC · P4 · ĐỘ VỮNG</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Mức tăng giữ vững qua các seed và trên full test</a:t>
            </a:r>
          </a:p>
        </p:txBody>
      </p:sp>
      <p:grpSp>
        <p:nvGrpSpPr>
          <p:cNvPr name="Group 6" id="6"/>
          <p:cNvGrpSpPr/>
          <p:nvPr/>
        </p:nvGrpSpPr>
        <p:grpSpPr>
          <a:xfrm rot="0">
            <a:off x="54864" y="1289304"/>
            <a:ext cx="9217152" cy="7022592"/>
            <a:chOff x="0" y="0"/>
            <a:chExt cx="12289536" cy="9363456"/>
          </a:xfrm>
        </p:grpSpPr>
        <p:sp>
          <p:nvSpPr>
            <p:cNvPr name="Freeform 7" id="7"/>
            <p:cNvSpPr/>
            <p:nvPr/>
          </p:nvSpPr>
          <p:spPr>
            <a:xfrm flipH="false" flipV="false" rot="0">
              <a:off x="0" y="0"/>
              <a:ext cx="12289536" cy="9363456"/>
            </a:xfrm>
            <a:custGeom>
              <a:avLst/>
              <a:gdLst/>
              <a:ahLst/>
              <a:cxnLst/>
              <a:rect r="r" b="b" t="t" l="l"/>
              <a:pathLst>
                <a:path h="9363456" w="12289536">
                  <a:moveTo>
                    <a:pt x="0" y="0"/>
                  </a:moveTo>
                  <a:lnTo>
                    <a:pt x="12289536" y="0"/>
                  </a:lnTo>
                  <a:lnTo>
                    <a:pt x="12289536" y="9363456"/>
                  </a:lnTo>
                  <a:lnTo>
                    <a:pt x="0" y="9363456"/>
                  </a:lnTo>
                  <a:lnTo>
                    <a:pt x="0" y="0"/>
                  </a:lnTo>
                  <a:close/>
                </a:path>
              </a:pathLst>
            </a:custGeom>
            <a:blipFill>
              <a:blip r:embed="rId3"/>
              <a:stretch>
                <a:fillRect l="-35" t="0" r="-35" b="0"/>
              </a:stretch>
            </a:blipFill>
          </p:spPr>
          <p:txBody>
            <a:bodyPr/>
            <a:p/>
          </p:txBody>
        </p:sp>
      </p:grpSp>
      <p:sp>
        <p:nvSpPr>
          <p:cNvPr name="Freeform 8" id="8"/>
          <p:cNvSpPr/>
          <p:nvPr/>
        </p:nvSpPr>
        <p:spPr>
          <a:xfrm flipH="false" flipV="false" rot="0">
            <a:off x="806291" y="7801451"/>
            <a:ext cx="7714297" cy="1610678"/>
          </a:xfrm>
          <a:custGeom>
            <a:avLst/>
            <a:gdLst/>
            <a:ahLst/>
            <a:cxnLst/>
            <a:rect r="r" b="b" t="t" l="l"/>
            <a:pathLst>
              <a:path h="1610678" w="7714297">
                <a:moveTo>
                  <a:pt x="0" y="0"/>
                </a:moveTo>
                <a:lnTo>
                  <a:pt x="7714298" y="0"/>
                </a:lnTo>
                <a:lnTo>
                  <a:pt x="7714298" y="1610678"/>
                </a:lnTo>
                <a:lnTo>
                  <a:pt x="0" y="1610678"/>
                </a:lnTo>
                <a:lnTo>
                  <a:pt x="0" y="0"/>
                </a:lnTo>
                <a:close/>
              </a:path>
            </a:pathLst>
          </a:custGeom>
          <a:blipFill>
            <a:blip r:embed="rId4">
              <a:extLst>
                <a:ext uri="{96DAC541-7B7A-43D3-8B79-37D633B846F1}">
                  <asvg:svgBlip xmlns:asvg="http://schemas.microsoft.com/office/drawing/2016/SVG/main" r:embed="rId5"/>
                </a:ext>
              </a:extLst>
            </a:blip>
            <a:stretch>
              <a:fillRect l="0" t="-259" r="0" b="-260"/>
            </a:stretch>
          </a:blipFill>
        </p:spPr>
        <p:txBody>
          <a:bodyPr/>
          <a:p/>
        </p:txBody>
      </p:sp>
      <p:grpSp>
        <p:nvGrpSpPr>
          <p:cNvPr name="Group 9" id="9"/>
          <p:cNvGrpSpPr/>
          <p:nvPr/>
        </p:nvGrpSpPr>
        <p:grpSpPr>
          <a:xfrm rot="0">
            <a:off x="1165860" y="7818120"/>
            <a:ext cx="6995160" cy="1577340"/>
            <a:chOff x="0" y="0"/>
            <a:chExt cx="9326880" cy="2103120"/>
          </a:xfrm>
        </p:grpSpPr>
        <p:sp>
          <p:nvSpPr>
            <p:cNvPr name="Freeform 10" id="10"/>
            <p:cNvSpPr/>
            <p:nvPr/>
          </p:nvSpPr>
          <p:spPr>
            <a:xfrm flipH="false" flipV="false" rot="0">
              <a:off x="0" y="0"/>
              <a:ext cx="9326880" cy="2103120"/>
            </a:xfrm>
            <a:custGeom>
              <a:avLst/>
              <a:gdLst/>
              <a:ahLst/>
              <a:cxnLst/>
              <a:rect r="r" b="b" t="t" l="l"/>
              <a:pathLst>
                <a:path h="2103120" w="9326880">
                  <a:moveTo>
                    <a:pt x="0" y="0"/>
                  </a:moveTo>
                  <a:lnTo>
                    <a:pt x="9326880" y="0"/>
                  </a:lnTo>
                  <a:lnTo>
                    <a:pt x="9326880" y="2103120"/>
                  </a:lnTo>
                  <a:lnTo>
                    <a:pt x="0" y="2103120"/>
                  </a:lnTo>
                  <a:close/>
                </a:path>
              </a:pathLst>
            </a:custGeom>
            <a:blipFill>
              <a:blip r:embed="rId2">
                <a:alphaModFix amt="0"/>
              </a:blip>
              <a:stretch>
                <a:fillRect l="0" t="-36352" r="0" b="-36351"/>
              </a:stretch>
            </a:blipFill>
          </p:spPr>
          <p:txBody>
            <a:bodyPr/>
            <a:p/>
          </p:txBody>
        </p:sp>
      </p:grpSp>
      <p:grpSp>
        <p:nvGrpSpPr>
          <p:cNvPr name="Group 11" id="11"/>
          <p:cNvGrpSpPr/>
          <p:nvPr/>
        </p:nvGrpSpPr>
        <p:grpSpPr>
          <a:xfrm rot="0">
            <a:off x="1165860" y="7782401"/>
            <a:ext cx="6995160" cy="1613059"/>
            <a:chOff x="0" y="0"/>
            <a:chExt cx="9326880" cy="2150745"/>
          </a:xfrm>
        </p:grpSpPr>
        <p:sp>
          <p:nvSpPr>
            <p:cNvPr name="Freeform 12" id="12"/>
            <p:cNvSpPr/>
            <p:nvPr/>
          </p:nvSpPr>
          <p:spPr>
            <a:xfrm flipH="false" flipV="false" rot="0">
              <a:off x="0" y="0"/>
              <a:ext cx="9326880" cy="2150745"/>
            </a:xfrm>
            <a:custGeom>
              <a:avLst/>
              <a:gdLst/>
              <a:ahLst/>
              <a:cxnLst/>
              <a:rect r="r" b="b" t="t" l="l"/>
              <a:pathLst>
                <a:path h="2150745" w="9326880">
                  <a:moveTo>
                    <a:pt x="0" y="0"/>
                  </a:moveTo>
                  <a:lnTo>
                    <a:pt x="9326880" y="0"/>
                  </a:lnTo>
                  <a:lnTo>
                    <a:pt x="9326880" y="2150745"/>
                  </a:lnTo>
                  <a:lnTo>
                    <a:pt x="0" y="2150745"/>
                  </a:lnTo>
                  <a:close/>
                </a:path>
              </a:pathLst>
            </a:custGeom>
            <a:blipFill>
              <a:blip r:embed="rId6">
                <a:alphaModFix amt="0"/>
              </a:blip>
              <a:stretch>
                <a:fillRect l="0" t="-34439" r="0" b="-34439"/>
              </a:stretch>
            </a:blipFill>
          </p:spPr>
          <p:txBody>
            <a:bodyPr/>
            <a:p/>
          </p:txBody>
        </p:sp>
      </p:grpSp>
      <p:grpSp>
        <p:nvGrpSpPr>
          <p:cNvPr name="Group 13" id="13"/>
          <p:cNvGrpSpPr/>
          <p:nvPr/>
        </p:nvGrpSpPr>
        <p:grpSpPr>
          <a:xfrm rot="0">
            <a:off x="1165860" y="7746682"/>
            <a:ext cx="6995160" cy="1648777"/>
            <a:chOff x="0" y="0"/>
            <a:chExt cx="9326880" cy="2198370"/>
          </a:xfrm>
        </p:grpSpPr>
        <p:sp>
          <p:nvSpPr>
            <p:cNvPr name="Freeform 14" id="14"/>
            <p:cNvSpPr/>
            <p:nvPr/>
          </p:nvSpPr>
          <p:spPr>
            <a:xfrm flipH="false" flipV="false" rot="0">
              <a:off x="0" y="0"/>
              <a:ext cx="9326880" cy="2198370"/>
            </a:xfrm>
            <a:custGeom>
              <a:avLst/>
              <a:gdLst/>
              <a:ahLst/>
              <a:cxnLst/>
              <a:rect r="r" b="b" t="t" l="l"/>
              <a:pathLst>
                <a:path h="2198370" w="9326880">
                  <a:moveTo>
                    <a:pt x="0" y="0"/>
                  </a:moveTo>
                  <a:lnTo>
                    <a:pt x="9326880" y="0"/>
                  </a:lnTo>
                  <a:lnTo>
                    <a:pt x="9326880" y="2198370"/>
                  </a:lnTo>
                  <a:lnTo>
                    <a:pt x="0" y="2198370"/>
                  </a:lnTo>
                  <a:close/>
                </a:path>
              </a:pathLst>
            </a:custGeom>
            <a:blipFill>
              <a:blip r:embed="rId7">
                <a:alphaModFix amt="0"/>
              </a:blip>
              <a:stretch>
                <a:fillRect l="0" t="-32610" r="0" b="-32610"/>
              </a:stretch>
            </a:blipFill>
          </p:spPr>
          <p:txBody>
            <a:bodyPr/>
            <a:p/>
          </p:txBody>
        </p:sp>
      </p:grpSp>
      <p:grpSp>
        <p:nvGrpSpPr>
          <p:cNvPr name="Group 15" id="15"/>
          <p:cNvGrpSpPr/>
          <p:nvPr/>
        </p:nvGrpSpPr>
        <p:grpSpPr>
          <a:xfrm rot="0">
            <a:off x="1165860" y="7710964"/>
            <a:ext cx="6995160" cy="1684496"/>
            <a:chOff x="0" y="0"/>
            <a:chExt cx="9326880" cy="2245995"/>
          </a:xfrm>
        </p:grpSpPr>
        <p:sp>
          <p:nvSpPr>
            <p:cNvPr name="Freeform 16" id="16"/>
            <p:cNvSpPr/>
            <p:nvPr/>
          </p:nvSpPr>
          <p:spPr>
            <a:xfrm flipH="false" flipV="false" rot="0">
              <a:off x="0" y="0"/>
              <a:ext cx="9326880" cy="2245994"/>
            </a:xfrm>
            <a:custGeom>
              <a:avLst/>
              <a:gdLst/>
              <a:ahLst/>
              <a:cxnLst/>
              <a:rect r="r" b="b" t="t" l="l"/>
              <a:pathLst>
                <a:path h="2245994" w="9326880">
                  <a:moveTo>
                    <a:pt x="0" y="0"/>
                  </a:moveTo>
                  <a:lnTo>
                    <a:pt x="9326880" y="0"/>
                  </a:lnTo>
                  <a:lnTo>
                    <a:pt x="9326880" y="2245994"/>
                  </a:lnTo>
                  <a:lnTo>
                    <a:pt x="0" y="2245994"/>
                  </a:lnTo>
                  <a:close/>
                </a:path>
              </a:pathLst>
            </a:custGeom>
            <a:blipFill>
              <a:blip r:embed="rId8">
                <a:alphaModFix amt="0"/>
              </a:blip>
              <a:stretch>
                <a:fillRect l="0" t="-30914" r="0" b="-30915"/>
              </a:stretch>
            </a:blipFill>
          </p:spPr>
          <p:txBody>
            <a:bodyPr/>
            <a:p/>
          </p:txBody>
        </p:sp>
        <p:sp>
          <p:nvSpPr>
            <p:cNvPr name="TextBox 17" id="17"/>
            <p:cNvSpPr txBox="true"/>
            <p:nvPr/>
          </p:nvSpPr>
          <p:spPr>
            <a:xfrm>
              <a:off x="0" y="-47625"/>
              <a:ext cx="9326880" cy="2293620"/>
            </a:xfrm>
            <a:prstGeom prst="rect">
              <a:avLst/>
            </a:prstGeom>
          </p:spPr>
          <p:txBody>
            <a:bodyPr anchor="ctr" rtlCol="false" tIns="0" lIns="0" bIns="0" rIns="0"/>
            <a:lstStyle/>
            <a:p>
              <a:pPr algn="l">
                <a:lnSpc>
                  <a:spcPts val="2520"/>
                </a:lnSpc>
              </a:pPr>
              <a:r>
                <a:rPr lang="en-US" sz="2100" b="true">
                  <a:solidFill>
                    <a:srgbClr val="13294B"/>
                  </a:solidFill>
                  <a:latin typeface="Calibri (MS) Bold"/>
                  <a:ea typeface="Calibri (MS) Bold"/>
                  <a:cs typeface="Calibri (MS) Bold"/>
                  <a:sym typeface="Calibri (MS) Bold"/>
                </a:rPr>
                <a:t>+3,57 ± 0,76 EM · cả 3 seed p ≤ 1,4 × 10⁻⁴ → ổn định</a:t>
              </a:r>
            </a:p>
          </p:txBody>
        </p:sp>
      </p:grpSp>
      <p:graphicFrame>
        <p:nvGraphicFramePr>
          <p:cNvPr name="Table 18" id="18"/>
          <p:cNvGraphicFramePr>
            <a:graphicFrameLocks noGrp="true"/>
          </p:cNvGraphicFramePr>
          <p:nvPr/>
        </p:nvGraphicFramePr>
        <p:xfrm>
          <a:off x="9052560" y="2057400"/>
          <a:ext cx="8318500" cy="3429000"/>
        </p:xfrm>
        <a:graphic>
          <a:graphicData uri="http://schemas.openxmlformats.org/drawingml/2006/table">
            <a:tbl>
              <a:tblPr/>
              <a:tblGrid>
                <a:gridCol w="3405309"/>
                <a:gridCol w="1972138"/>
                <a:gridCol w="1516127"/>
                <a:gridCol w="1424925"/>
              </a:tblGrid>
              <a:tr h="68580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Full test (10.028 câu)</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Dữ liệu train</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EM</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F1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r>
              <a:tr h="685800">
                <a:tc>
                  <a:txBody>
                    <a:bodyPr anchor="t" rtlCol="false"/>
                    <a:lstStyle/>
                    <a:p>
                      <a:pPr algn="l">
                        <a:lnSpc>
                          <a:spcPts val="2520"/>
                        </a:lnSpc>
                        <a:defRPr/>
                      </a:pPr>
                      <a:r>
                        <a:rPr lang="en-US" sz="2100">
                          <a:solidFill>
                            <a:srgbClr val="243044"/>
                          </a:solidFill>
                          <a:latin typeface="Calibri (MS)"/>
                          <a:ea typeface="Calibri (MS)"/>
                          <a:cs typeface="Calibri (MS)"/>
                          <a:sym typeface="Calibri (MS)"/>
                        </a:rPr>
                        <a:t>ViTextBLIP-2 (paper)</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toàn bộ</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25,48</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53,95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520"/>
                        </a:lnSpc>
                        <a:defRPr/>
                      </a:pPr>
                      <a:r>
                        <a:rPr lang="en-US" sz="2100">
                          <a:solidFill>
                            <a:srgbClr val="243044"/>
                          </a:solidFill>
                          <a:latin typeface="Calibri (MS)"/>
                          <a:ea typeface="Calibri (MS)"/>
                          <a:cs typeface="Calibri (MS)"/>
                          <a:sym typeface="Calibri (MS)"/>
                        </a:rPr>
                        <a:t>B2-sub</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46,56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67,83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85800">
                <a:tc>
                  <a:txBody>
                    <a:bodyPr anchor="t" rtlCol="false"/>
                    <a:lstStyle/>
                    <a:p>
                      <a:pPr algn="l">
                        <a:lnSpc>
                          <a:spcPts val="2520"/>
                        </a:lnSpc>
                        <a:defRPr/>
                      </a:pPr>
                      <a:r>
                        <a:rPr lang="en-US" sz="2100" b="true">
                          <a:solidFill>
                            <a:srgbClr val="13294B"/>
                          </a:solidFill>
                          <a:latin typeface="Calibri (MS) Bold"/>
                          <a:ea typeface="Calibri (MS) Bold"/>
                          <a:cs typeface="Calibri (MS) Bold"/>
                          <a:sym typeface="Calibri (MS) Bold"/>
                        </a:rPr>
                        <a:t>B3 (nhận biết OCR)</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c>
                  <a:txBody>
                    <a:bodyPr anchor="t" rtlCol="false"/>
                    <a:lstStyle/>
                    <a:p>
                      <a:pPr algn="ctr">
                        <a:lnSpc>
                          <a:spcPts val="2520"/>
                        </a:lnSpc>
                        <a:defRPr/>
                      </a:pPr>
                      <a:r>
                        <a:rPr lang="en-US" sz="2100" b="true">
                          <a:solidFill>
                            <a:srgbClr val="13294B"/>
                          </a:solidFill>
                          <a:latin typeface="Calibri (MS) Bold"/>
                          <a:ea typeface="Calibri (MS) Bold"/>
                          <a:cs typeface="Calibri (MS) Bold"/>
                          <a:sym typeface="Calibri (MS) Bold"/>
                        </a:rPr>
                        <a:t>23%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c>
                  <a:txBody>
                    <a:bodyPr anchor="t" rtlCol="false"/>
                    <a:lstStyle/>
                    <a:p>
                      <a:pPr algn="ctr">
                        <a:lnSpc>
                          <a:spcPts val="2520"/>
                        </a:lnSpc>
                        <a:defRPr/>
                      </a:pPr>
                      <a:r>
                        <a:rPr lang="en-US" sz="2100" b="true">
                          <a:solidFill>
                            <a:srgbClr val="13294B"/>
                          </a:solidFill>
                          <a:latin typeface="Calibri (MS) Bold"/>
                          <a:ea typeface="Calibri (MS) Bold"/>
                          <a:cs typeface="Calibri (MS) Bold"/>
                          <a:sym typeface="Calibri (MS) Bold"/>
                        </a:rPr>
                        <a:t>49,10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c>
                  <a:txBody>
                    <a:bodyPr anchor="t" rtlCol="false"/>
                    <a:lstStyle/>
                    <a:p>
                      <a:pPr algn="ctr">
                        <a:lnSpc>
                          <a:spcPts val="2520"/>
                        </a:lnSpc>
                        <a:defRPr/>
                      </a:pPr>
                      <a:r>
                        <a:rPr lang="en-US" sz="2100" b="true">
                          <a:solidFill>
                            <a:srgbClr val="13294B"/>
                          </a:solidFill>
                          <a:latin typeface="Calibri (MS) Bold"/>
                          <a:ea typeface="Calibri (MS) Bold"/>
                          <a:cs typeface="Calibri (MS) Bold"/>
                          <a:sym typeface="Calibri (MS) Bold"/>
                        </a:rPr>
                        <a:t>70,03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FBF0DA"/>
                    </a:solidFill>
                  </a:tcPr>
                </a:tc>
              </a:tr>
              <a:tr h="685800">
                <a:tc>
                  <a:txBody>
                    <a:bodyPr anchor="t" rtlCol="false"/>
                    <a:lstStyle/>
                    <a:p>
                      <a:pPr algn="l">
                        <a:lnSpc>
                          <a:spcPts val="2520"/>
                        </a:lnSpc>
                        <a:defRPr/>
                      </a:pPr>
                      <a:r>
                        <a:rPr lang="en-US" sz="2100">
                          <a:solidFill>
                            <a:srgbClr val="243044"/>
                          </a:solidFill>
                          <a:latin typeface="Calibri (MS)"/>
                          <a:ea typeface="Calibri (MS)"/>
                          <a:cs typeface="Calibri (MS)"/>
                          <a:sym typeface="Calibri (MS)"/>
                        </a:rPr>
                        <a:t>B2 (QLoRA, không OCR)</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100%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50,26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71,16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bl>
          </a:graphicData>
        </a:graphic>
      </p:graphicFrame>
      <p:sp>
        <p:nvSpPr>
          <p:cNvPr name="Freeform 19" id="19"/>
          <p:cNvSpPr/>
          <p:nvPr/>
        </p:nvSpPr>
        <p:spPr>
          <a:xfrm flipH="false" flipV="false" rot="0">
            <a:off x="9035891" y="5812631"/>
            <a:ext cx="8445341" cy="3599497"/>
          </a:xfrm>
          <a:custGeom>
            <a:avLst/>
            <a:gdLst/>
            <a:ahLst/>
            <a:cxnLst/>
            <a:rect r="r" b="b" t="t" l="l"/>
            <a:pathLst>
              <a:path h="3599497" w="8445341">
                <a:moveTo>
                  <a:pt x="0" y="0"/>
                </a:moveTo>
                <a:lnTo>
                  <a:pt x="8445341" y="0"/>
                </a:lnTo>
                <a:lnTo>
                  <a:pt x="8445341" y="3599498"/>
                </a:lnTo>
                <a:lnTo>
                  <a:pt x="0" y="3599498"/>
                </a:lnTo>
                <a:lnTo>
                  <a:pt x="0" y="0"/>
                </a:lnTo>
                <a:close/>
              </a:path>
            </a:pathLst>
          </a:custGeom>
          <a:blipFill>
            <a:blip r:embed="rId9">
              <a:extLst>
                <a:ext uri="{96DAC541-7B7A-43D3-8B79-37D633B846F1}">
                  <asvg:svgBlip xmlns:asvg="http://schemas.microsoft.com/office/drawing/2016/SVG/main" r:embed="rId10"/>
                </a:ext>
              </a:extLst>
            </a:blip>
            <a:stretch>
              <a:fillRect l="-6" t="0" r="-6" b="0"/>
            </a:stretch>
          </a:blipFill>
        </p:spPr>
        <p:txBody>
          <a:bodyPr/>
          <a:p/>
        </p:txBody>
      </p:sp>
      <p:sp>
        <p:nvSpPr>
          <p:cNvPr name="TextBox 20" id="20"/>
          <p:cNvSpPr txBox="true"/>
          <p:nvPr/>
        </p:nvSpPr>
        <p:spPr>
          <a:xfrm rot="0">
            <a:off x="9395460" y="5844540"/>
            <a:ext cx="7726223" cy="3413760"/>
          </a:xfrm>
          <a:prstGeom prst="rect">
            <a:avLst/>
          </a:prstGeom>
        </p:spPr>
        <p:txBody>
          <a:bodyPr anchor="t" rtlCol="false" tIns="0" lIns="0" bIns="0" rIns="0">
            <a:spAutoFit/>
          </a:bodyPr>
          <a:lstStyle/>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B3 so với B2-sub: +2,54 EM (672 so với 417 câu chỉ một model đúng, p = 10⁻¹⁴)</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Cao hơn ViTextBLIP-2 cả EM và F1 (cận dưới CI95 48,1 / 69,3)</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Đính chính: vẫn thấp hơn B2 dữ liệu đầy đủ 1,16 EM (p = 0,003); OCR bù ≈ 69% phần mất do cắt dữ liệu với 25% thời gian train</a:t>
            </a:r>
          </a:p>
        </p:txBody>
      </p:sp>
      <p:grpSp>
        <p:nvGrpSpPr>
          <p:cNvPr name="Group 21" id="21"/>
          <p:cNvGrpSpPr/>
          <p:nvPr/>
        </p:nvGrpSpPr>
        <p:grpSpPr>
          <a:xfrm rot="0">
            <a:off x="15458732" y="0"/>
            <a:ext cx="2829306" cy="1184338"/>
            <a:chOff x="0" y="0"/>
            <a:chExt cx="3772408" cy="1579118"/>
          </a:xfrm>
        </p:grpSpPr>
        <p:sp>
          <p:nvSpPr>
            <p:cNvPr name="Freeform 22" id="22"/>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11"/>
              <a:stretch>
                <a:fillRect l="0" t="0" r="0" b="0"/>
              </a:stretch>
            </a:blipFill>
          </p:spPr>
          <p:txBody>
            <a:bodyPr/>
            <a:p/>
          </p:txBody>
        </p:sp>
      </p:grpSp>
      <p:grpSp>
        <p:nvGrpSpPr>
          <p:cNvPr name="Group 23" id="23"/>
          <p:cNvGrpSpPr/>
          <p:nvPr/>
        </p:nvGrpSpPr>
        <p:grpSpPr>
          <a:xfrm rot="0">
            <a:off x="822960" y="9641205"/>
            <a:ext cx="13716000" cy="440055"/>
            <a:chOff x="0" y="0"/>
            <a:chExt cx="18288000" cy="586740"/>
          </a:xfrm>
        </p:grpSpPr>
        <p:sp>
          <p:nvSpPr>
            <p:cNvPr name="Freeform 24" id="24"/>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6">
                <a:alphaModFix amt="0"/>
              </a:blip>
              <a:stretch>
                <a:fillRect l="0" t="-556902" r="0" b="-556904"/>
              </a:stretch>
            </a:blipFill>
          </p:spPr>
          <p:txBody>
            <a:bodyPr/>
            <a:p/>
          </p:txBody>
        </p:sp>
      </p:grpSp>
      <p:grpSp>
        <p:nvGrpSpPr>
          <p:cNvPr name="Group 25" id="25"/>
          <p:cNvGrpSpPr/>
          <p:nvPr/>
        </p:nvGrpSpPr>
        <p:grpSpPr>
          <a:xfrm rot="0">
            <a:off x="822960" y="9612630"/>
            <a:ext cx="13716000" cy="468630"/>
            <a:chOff x="0" y="0"/>
            <a:chExt cx="18288000" cy="624840"/>
          </a:xfrm>
        </p:grpSpPr>
        <p:sp>
          <p:nvSpPr>
            <p:cNvPr name="Freeform 26" id="26"/>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7">
                <a:alphaModFix amt="0"/>
              </a:blip>
              <a:stretch>
                <a:fillRect l="0" t="-519896" r="0" b="-519898"/>
              </a:stretch>
            </a:blipFill>
          </p:spPr>
          <p:txBody>
            <a:bodyPr/>
            <a:p/>
          </p:txBody>
        </p:sp>
      </p:grpSp>
      <p:grpSp>
        <p:nvGrpSpPr>
          <p:cNvPr name="Group 27" id="27"/>
          <p:cNvGrpSpPr/>
          <p:nvPr/>
        </p:nvGrpSpPr>
        <p:grpSpPr>
          <a:xfrm rot="0">
            <a:off x="822960" y="9584055"/>
            <a:ext cx="13716000" cy="497205"/>
            <a:chOff x="0" y="0"/>
            <a:chExt cx="18288000" cy="662940"/>
          </a:xfrm>
        </p:grpSpPr>
        <p:sp>
          <p:nvSpPr>
            <p:cNvPr name="Freeform 28" id="28"/>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8">
                <a:alphaModFix amt="0"/>
              </a:blip>
              <a:stretch>
                <a:fillRect l="0" t="-487518" r="0" b="-487518"/>
              </a:stretch>
            </a:blipFill>
          </p:spPr>
          <p:txBody>
            <a:bodyPr/>
            <a:p/>
          </p:txBody>
        </p:sp>
        <p:sp>
          <p:nvSpPr>
            <p:cNvPr name="TextBox 29" id="29"/>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PHỤ LỤC · P5 · ABLATION CẤU HÌNH LoRA</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Cấu hình LoRA đã hợp lý — giữ r = 16 trên q, k, v, o</a:t>
            </a:r>
          </a:p>
        </p:txBody>
      </p:sp>
      <p:graphicFrame>
        <p:nvGraphicFramePr>
          <p:cNvPr name="Table 6" id="6"/>
          <p:cNvGraphicFramePr>
            <a:graphicFrameLocks noGrp="true"/>
          </p:cNvGraphicFramePr>
          <p:nvPr/>
        </p:nvGraphicFramePr>
        <p:xfrm>
          <a:off x="822960" y="2130552"/>
          <a:ext cx="16471900" cy="2794000"/>
        </p:xfrm>
        <a:graphic>
          <a:graphicData uri="http://schemas.openxmlformats.org/drawingml/2006/table">
            <a:tbl>
              <a:tblPr/>
              <a:tblGrid>
                <a:gridCol w="3707012"/>
                <a:gridCol w="3885105"/>
                <a:gridCol w="2371323"/>
                <a:gridCol w="1213727"/>
                <a:gridCol w="2727508"/>
                <a:gridCol w="2567225"/>
              </a:tblGrid>
              <a:tr h="69850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Run (công thức B3, test2000)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LoRA gắn vào</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Tham số train</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EM</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ΔEM so với B3 · p</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Train · adapter</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r>
              <a:tr h="698500">
                <a:tc>
                  <a:txBody>
                    <a:bodyPr anchor="t" rtlCol="false"/>
                    <a:lstStyle/>
                    <a:p>
                      <a:pPr algn="l">
                        <a:lnSpc>
                          <a:spcPts val="2520"/>
                        </a:lnSpc>
                        <a:defRPr/>
                      </a:pPr>
                      <a:r>
                        <a:rPr lang="en-US" sz="2100" b="true">
                          <a:solidFill>
                            <a:srgbClr val="243044"/>
                          </a:solidFill>
                          <a:latin typeface="Calibri (MS) Bold"/>
                          <a:ea typeface="Calibri (MS) Bold"/>
                          <a:cs typeface="Calibri (MS) Bold"/>
                          <a:sym typeface="Calibri (MS) Bold"/>
                        </a:rPr>
                        <a:t>B3 (mốc)</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b="true">
                          <a:solidFill>
                            <a:srgbClr val="243044"/>
                          </a:solidFill>
                          <a:latin typeface="Calibri (MS) Bold"/>
                          <a:ea typeface="Calibri (MS) Bold"/>
                          <a:cs typeface="Calibri (MS) Bold"/>
                          <a:sym typeface="Calibri (MS) Bold"/>
                        </a:rPr>
                        <a:t>q, k, v, o · r 16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b="true">
                          <a:solidFill>
                            <a:srgbClr val="243044"/>
                          </a:solidFill>
                          <a:latin typeface="Calibri (MS) Bold"/>
                          <a:ea typeface="Calibri (MS) Bold"/>
                          <a:cs typeface="Calibri (MS) Bold"/>
                          <a:sym typeface="Calibri (MS) Bold"/>
                        </a:rPr>
                        <a:t>7,37 tr · 0,196%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b="true">
                          <a:solidFill>
                            <a:srgbClr val="243044"/>
                          </a:solidFill>
                          <a:latin typeface="Calibri (MS) Bold"/>
                          <a:ea typeface="Calibri (MS) Bold"/>
                          <a:cs typeface="Calibri (MS) Bold"/>
                          <a:sym typeface="Calibri (MS) Bold"/>
                        </a:rPr>
                        <a:t>49,25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b="true">
                          <a:solidFill>
                            <a:srgbClr val="243044"/>
                          </a:solidFill>
                          <a:latin typeface="Calibri (MS) Bold"/>
                          <a:ea typeface="Calibri (MS) Bold"/>
                          <a:cs typeface="Calibri (MS) Bold"/>
                          <a:sym typeface="Calibri (MS) Bold"/>
                        </a:rPr>
                        <a:t>—</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b="true">
                          <a:solidFill>
                            <a:srgbClr val="243044"/>
                          </a:solidFill>
                          <a:latin typeface="Calibri (MS) Bold"/>
                          <a:ea typeface="Calibri (MS) Bold"/>
                          <a:cs typeface="Calibri (MS) Bold"/>
                          <a:sym typeface="Calibri (MS) Bold"/>
                        </a:rPr>
                        <a:t>3,0 h · 29,5 MB</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98500">
                <a:tc>
                  <a:txBody>
                    <a:bodyPr anchor="t" rtlCol="false"/>
                    <a:lstStyle/>
                    <a:p>
                      <a:pPr algn="l">
                        <a:lnSpc>
                          <a:spcPts val="2520"/>
                        </a:lnSpc>
                        <a:defRPr/>
                      </a:pPr>
                      <a:r>
                        <a:rPr lang="en-US" sz="2100">
                          <a:solidFill>
                            <a:srgbClr val="243044"/>
                          </a:solidFill>
                          <a:latin typeface="Calibri (MS)"/>
                          <a:ea typeface="Calibri (MS)"/>
                          <a:cs typeface="Calibri (MS)"/>
                          <a:sym typeface="Calibri (MS)"/>
                        </a:rPr>
                        <a:t>A1 · module</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 MLP (gate, up, down) · r 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7,48 tr · 0,199%</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48,70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−0,55 · p = 0,34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3,5 h · 30,0 MB</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698500">
                <a:tc>
                  <a:txBody>
                    <a:bodyPr anchor="t" rtlCol="false"/>
                    <a:lstStyle/>
                    <a:p>
                      <a:pPr algn="l">
                        <a:lnSpc>
                          <a:spcPts val="2520"/>
                        </a:lnSpc>
                        <a:defRPr/>
                      </a:pPr>
                      <a:r>
                        <a:rPr lang="en-US" sz="2100">
                          <a:solidFill>
                            <a:srgbClr val="243044"/>
                          </a:solidFill>
                          <a:latin typeface="Calibri (MS)"/>
                          <a:ea typeface="Calibri (MS)"/>
                          <a:cs typeface="Calibri (MS)"/>
                          <a:sym typeface="Calibri (MS)"/>
                        </a:rPr>
                        <a:t>A2 · rank</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q, k, v, o · r 64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29,5 tr · 0,779%</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50,30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+1,05 · p = 0,07</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2,9 h · 118 MB</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bl>
          </a:graphicData>
        </a:graphic>
      </p:graphicFrame>
      <p:sp>
        <p:nvSpPr>
          <p:cNvPr name="Freeform 7" id="7"/>
          <p:cNvSpPr/>
          <p:nvPr/>
        </p:nvSpPr>
        <p:spPr>
          <a:xfrm flipH="false" flipV="false" rot="0">
            <a:off x="806291" y="6018371"/>
            <a:ext cx="5214842" cy="2570797"/>
          </a:xfrm>
          <a:custGeom>
            <a:avLst/>
            <a:gdLst/>
            <a:ahLst/>
            <a:cxnLst/>
            <a:rect r="r" b="b" t="t" l="l"/>
            <a:pathLst>
              <a:path h="2570797" w="5214842">
                <a:moveTo>
                  <a:pt x="0" y="0"/>
                </a:moveTo>
                <a:lnTo>
                  <a:pt x="5214843" y="0"/>
                </a:lnTo>
                <a:lnTo>
                  <a:pt x="5214843" y="2570798"/>
                </a:lnTo>
                <a:lnTo>
                  <a:pt x="0" y="2570798"/>
                </a:lnTo>
                <a:lnTo>
                  <a:pt x="0" y="0"/>
                </a:lnTo>
                <a:close/>
              </a:path>
            </a:pathLst>
          </a:custGeom>
          <a:blipFill>
            <a:blip r:embed="rId3">
              <a:extLst>
                <a:ext uri="{96DAC541-7B7A-43D3-8B79-37D633B846F1}">
                  <asvg:svgBlip xmlns:asvg="http://schemas.microsoft.com/office/drawing/2016/SVG/main" r:embed="rId4"/>
                </a:ext>
              </a:extLst>
            </a:blip>
            <a:stretch>
              <a:fillRect l="-27" t="0" r="-28" b="0"/>
            </a:stretch>
          </a:blipFill>
        </p:spPr>
        <p:txBody>
          <a:bodyPr/>
          <a:p/>
        </p:txBody>
      </p:sp>
      <p:sp>
        <p:nvSpPr>
          <p:cNvPr name="TextBox 8" id="8"/>
          <p:cNvSpPr txBox="true"/>
          <p:nvPr/>
        </p:nvSpPr>
        <p:spPr>
          <a:xfrm rot="0">
            <a:off x="1165860" y="6088380"/>
            <a:ext cx="4495648" cy="76962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A1: thêm MLP không giúp</a:t>
            </a:r>
          </a:p>
        </p:txBody>
      </p:sp>
      <p:sp>
        <p:nvSpPr>
          <p:cNvPr name="TextBox 9" id="9"/>
          <p:cNvSpPr txBox="true"/>
          <p:nvPr/>
        </p:nvSpPr>
        <p:spPr>
          <a:xfrm rot="0">
            <a:off x="1165860" y="6736080"/>
            <a:ext cx="4495648" cy="163068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Cùng ngân sách tham số: CI95 [−1,60; +0,45]; chậm hơn 17,5% mỗi step</a:t>
            </a:r>
          </a:p>
        </p:txBody>
      </p:sp>
      <p:sp>
        <p:nvSpPr>
          <p:cNvPr name="Freeform 10" id="10"/>
          <p:cNvSpPr/>
          <p:nvPr/>
        </p:nvSpPr>
        <p:spPr>
          <a:xfrm flipH="false" flipV="false" rot="0">
            <a:off x="6536379" y="6018371"/>
            <a:ext cx="5214842" cy="2570797"/>
          </a:xfrm>
          <a:custGeom>
            <a:avLst/>
            <a:gdLst/>
            <a:ahLst/>
            <a:cxnLst/>
            <a:rect r="r" b="b" t="t" l="l"/>
            <a:pathLst>
              <a:path h="2570797" w="5214842">
                <a:moveTo>
                  <a:pt x="0" y="0"/>
                </a:moveTo>
                <a:lnTo>
                  <a:pt x="5214842" y="0"/>
                </a:lnTo>
                <a:lnTo>
                  <a:pt x="5214842" y="2570798"/>
                </a:lnTo>
                <a:lnTo>
                  <a:pt x="0" y="2570798"/>
                </a:lnTo>
                <a:lnTo>
                  <a:pt x="0" y="0"/>
                </a:lnTo>
                <a:close/>
              </a:path>
            </a:pathLst>
          </a:custGeom>
          <a:blipFill>
            <a:blip r:embed="rId3">
              <a:extLst>
                <a:ext uri="{96DAC541-7B7A-43D3-8B79-37D633B846F1}">
                  <asvg:svgBlip xmlns:asvg="http://schemas.microsoft.com/office/drawing/2016/SVG/main" r:embed="rId4"/>
                </a:ext>
              </a:extLst>
            </a:blip>
            <a:stretch>
              <a:fillRect l="-27" t="0" r="-28" b="0"/>
            </a:stretch>
          </a:blipFill>
        </p:spPr>
        <p:txBody>
          <a:bodyPr/>
          <a:p/>
        </p:txBody>
      </p:sp>
      <p:sp>
        <p:nvSpPr>
          <p:cNvPr name="TextBox 11" id="11"/>
          <p:cNvSpPr txBox="true"/>
          <p:nvPr/>
        </p:nvSpPr>
        <p:spPr>
          <a:xfrm rot="0">
            <a:off x="6895948" y="6088380"/>
            <a:ext cx="4495648" cy="76962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A2: rank 64 không khác rõ</a:t>
            </a:r>
          </a:p>
        </p:txBody>
      </p:sp>
      <p:sp>
        <p:nvSpPr>
          <p:cNvPr name="TextBox 12" id="12"/>
          <p:cNvSpPr txBox="true"/>
          <p:nvPr/>
        </p:nvSpPr>
        <p:spPr>
          <a:xfrm rot="0">
            <a:off x="6895948" y="6736080"/>
            <a:ext cx="4495648" cy="163068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CI95 [−0,05; +2,15], p = 0,07 — dưới ngưỡng; adapter lớn gấp 4</a:t>
            </a:r>
          </a:p>
        </p:txBody>
      </p:sp>
      <p:sp>
        <p:nvSpPr>
          <p:cNvPr name="Freeform 13" id="13"/>
          <p:cNvSpPr/>
          <p:nvPr/>
        </p:nvSpPr>
        <p:spPr>
          <a:xfrm flipH="false" flipV="false" rot="0">
            <a:off x="12266466" y="6018371"/>
            <a:ext cx="5214842" cy="2570797"/>
          </a:xfrm>
          <a:custGeom>
            <a:avLst/>
            <a:gdLst/>
            <a:ahLst/>
            <a:cxnLst/>
            <a:rect r="r" b="b" t="t" l="l"/>
            <a:pathLst>
              <a:path h="2570797" w="5214842">
                <a:moveTo>
                  <a:pt x="0" y="0"/>
                </a:moveTo>
                <a:lnTo>
                  <a:pt x="5214843" y="0"/>
                </a:lnTo>
                <a:lnTo>
                  <a:pt x="5214843" y="2570798"/>
                </a:lnTo>
                <a:lnTo>
                  <a:pt x="0" y="2570798"/>
                </a:lnTo>
                <a:lnTo>
                  <a:pt x="0" y="0"/>
                </a:lnTo>
                <a:close/>
              </a:path>
            </a:pathLst>
          </a:custGeom>
          <a:blipFill>
            <a:blip r:embed="rId5">
              <a:extLst>
                <a:ext uri="{96DAC541-7B7A-43D3-8B79-37D633B846F1}">
                  <asvg:svgBlip xmlns:asvg="http://schemas.microsoft.com/office/drawing/2016/SVG/main" r:embed="rId6"/>
                </a:ext>
              </a:extLst>
            </a:blip>
            <a:stretch>
              <a:fillRect l="-27" t="0" r="-28" b="0"/>
            </a:stretch>
          </a:blipFill>
        </p:spPr>
        <p:txBody>
          <a:bodyPr/>
          <a:p/>
        </p:txBody>
      </p:sp>
      <p:sp>
        <p:nvSpPr>
          <p:cNvPr name="TextBox 14" id="14"/>
          <p:cNvSpPr txBox="true"/>
          <p:nvPr/>
        </p:nvSpPr>
        <p:spPr>
          <a:xfrm rot="0">
            <a:off x="12626035" y="6088380"/>
            <a:ext cx="4495648" cy="76962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Quyết định</a:t>
            </a:r>
          </a:p>
        </p:txBody>
      </p:sp>
      <p:sp>
        <p:nvSpPr>
          <p:cNvPr name="TextBox 15" id="15"/>
          <p:cNvSpPr txBox="true"/>
          <p:nvPr/>
        </p:nvSpPr>
        <p:spPr>
          <a:xfrm rot="0">
            <a:off x="12626035" y="6736080"/>
            <a:ext cx="4495648" cy="163068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Giữ r = 16 trên q, k, v, o cho mọi run; không chọn cấu hình bằng test</a:t>
            </a:r>
          </a:p>
        </p:txBody>
      </p:sp>
      <p:grpSp>
        <p:nvGrpSpPr>
          <p:cNvPr name="Group 16" id="16"/>
          <p:cNvGrpSpPr/>
          <p:nvPr/>
        </p:nvGrpSpPr>
        <p:grpSpPr>
          <a:xfrm rot="0">
            <a:off x="822960" y="8709660"/>
            <a:ext cx="16641604" cy="850392"/>
            <a:chOff x="0" y="0"/>
            <a:chExt cx="22188805" cy="1133856"/>
          </a:xfrm>
        </p:grpSpPr>
        <p:sp>
          <p:nvSpPr>
            <p:cNvPr name="Freeform 17" id="17"/>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2">
                <a:alphaModFix amt="0"/>
              </a:blip>
              <a:stretch>
                <a:fillRect l="0" t="-331043" r="0" b="-331043"/>
              </a:stretch>
            </a:blipFill>
          </p:spPr>
          <p:txBody>
            <a:bodyPr/>
            <a:p/>
          </p:txBody>
        </p:sp>
      </p:grpSp>
      <p:grpSp>
        <p:nvGrpSpPr>
          <p:cNvPr name="Group 18" id="18"/>
          <p:cNvGrpSpPr/>
          <p:nvPr/>
        </p:nvGrpSpPr>
        <p:grpSpPr>
          <a:xfrm rot="0">
            <a:off x="822960" y="8681085"/>
            <a:ext cx="16641604" cy="878967"/>
            <a:chOff x="0" y="0"/>
            <a:chExt cx="22188805" cy="1171956"/>
          </a:xfrm>
        </p:grpSpPr>
        <p:sp>
          <p:nvSpPr>
            <p:cNvPr name="Freeform 19" id="19"/>
            <p:cNvSpPr/>
            <p:nvPr/>
          </p:nvSpPr>
          <p:spPr>
            <a:xfrm flipH="false" flipV="false" rot="0">
              <a:off x="0" y="0"/>
              <a:ext cx="22188805" cy="1171956"/>
            </a:xfrm>
            <a:custGeom>
              <a:avLst/>
              <a:gdLst/>
              <a:ahLst/>
              <a:cxnLst/>
              <a:rect r="r" b="b" t="t" l="l"/>
              <a:pathLst>
                <a:path h="1171956" w="22188805">
                  <a:moveTo>
                    <a:pt x="0" y="0"/>
                  </a:moveTo>
                  <a:lnTo>
                    <a:pt x="22188805" y="0"/>
                  </a:lnTo>
                  <a:lnTo>
                    <a:pt x="22188805" y="1171956"/>
                  </a:lnTo>
                  <a:lnTo>
                    <a:pt x="0" y="1171956"/>
                  </a:lnTo>
                  <a:close/>
                </a:path>
              </a:pathLst>
            </a:custGeom>
            <a:blipFill>
              <a:blip r:embed="rId7">
                <a:alphaModFix amt="0"/>
              </a:blip>
              <a:stretch>
                <a:fillRect l="0" t="-318656" r="0" b="-318656"/>
              </a:stretch>
            </a:blipFill>
          </p:spPr>
          <p:txBody>
            <a:bodyPr/>
            <a:p/>
          </p:txBody>
        </p:sp>
      </p:grpSp>
      <p:grpSp>
        <p:nvGrpSpPr>
          <p:cNvPr name="Group 20" id="20"/>
          <p:cNvGrpSpPr/>
          <p:nvPr/>
        </p:nvGrpSpPr>
        <p:grpSpPr>
          <a:xfrm rot="0">
            <a:off x="822960" y="8652510"/>
            <a:ext cx="16641623" cy="907542"/>
            <a:chOff x="0" y="0"/>
            <a:chExt cx="22188830" cy="1210056"/>
          </a:xfrm>
        </p:grpSpPr>
        <p:sp>
          <p:nvSpPr>
            <p:cNvPr name="Freeform 21" id="21"/>
            <p:cNvSpPr/>
            <p:nvPr/>
          </p:nvSpPr>
          <p:spPr>
            <a:xfrm flipH="false" flipV="false" rot="0">
              <a:off x="0" y="0"/>
              <a:ext cx="22188805" cy="1210056"/>
            </a:xfrm>
            <a:custGeom>
              <a:avLst/>
              <a:gdLst/>
              <a:ahLst/>
              <a:cxnLst/>
              <a:rect r="r" b="b" t="t" l="l"/>
              <a:pathLst>
                <a:path h="1210056" w="22188805">
                  <a:moveTo>
                    <a:pt x="0" y="0"/>
                  </a:moveTo>
                  <a:lnTo>
                    <a:pt x="22188805" y="0"/>
                  </a:lnTo>
                  <a:lnTo>
                    <a:pt x="22188805" y="1210056"/>
                  </a:lnTo>
                  <a:lnTo>
                    <a:pt x="0" y="1210056"/>
                  </a:lnTo>
                  <a:close/>
                </a:path>
              </a:pathLst>
            </a:custGeom>
            <a:blipFill>
              <a:blip r:embed="rId8">
                <a:alphaModFix amt="0"/>
              </a:blip>
              <a:stretch>
                <a:fillRect l="0" t="-307048" r="0" b="-307049"/>
              </a:stretch>
            </a:blipFill>
          </p:spPr>
          <p:txBody>
            <a:bodyPr/>
            <a:p/>
          </p:txBody>
        </p:sp>
      </p:grpSp>
      <p:grpSp>
        <p:nvGrpSpPr>
          <p:cNvPr name="Group 22" id="22"/>
          <p:cNvGrpSpPr/>
          <p:nvPr/>
        </p:nvGrpSpPr>
        <p:grpSpPr>
          <a:xfrm rot="0">
            <a:off x="822960" y="8623935"/>
            <a:ext cx="16641623" cy="936117"/>
            <a:chOff x="0" y="0"/>
            <a:chExt cx="22188830" cy="1248156"/>
          </a:xfrm>
        </p:grpSpPr>
        <p:sp>
          <p:nvSpPr>
            <p:cNvPr name="Freeform 23" id="23"/>
            <p:cNvSpPr/>
            <p:nvPr/>
          </p:nvSpPr>
          <p:spPr>
            <a:xfrm flipH="false" flipV="false" rot="0">
              <a:off x="0" y="0"/>
              <a:ext cx="22188830" cy="1248156"/>
            </a:xfrm>
            <a:custGeom>
              <a:avLst/>
              <a:gdLst/>
              <a:ahLst/>
              <a:cxnLst/>
              <a:rect r="r" b="b" t="t" l="l"/>
              <a:pathLst>
                <a:path h="1248156" w="22188830">
                  <a:moveTo>
                    <a:pt x="0" y="0"/>
                  </a:moveTo>
                  <a:lnTo>
                    <a:pt x="22188830" y="0"/>
                  </a:lnTo>
                  <a:lnTo>
                    <a:pt x="22188830" y="1248156"/>
                  </a:lnTo>
                  <a:lnTo>
                    <a:pt x="0" y="1248156"/>
                  </a:lnTo>
                  <a:close/>
                </a:path>
              </a:pathLst>
            </a:custGeom>
            <a:blipFill>
              <a:blip r:embed="rId9">
                <a:alphaModFix amt="0"/>
              </a:blip>
              <a:stretch>
                <a:fillRect l="0" t="-296391" r="0" b="-296391"/>
              </a:stretch>
            </a:blipFill>
          </p:spPr>
          <p:txBody>
            <a:bodyPr/>
            <a:p/>
          </p:txBody>
        </p:sp>
        <p:sp>
          <p:nvSpPr>
            <p:cNvPr name="TextBox 24" id="24"/>
            <p:cNvSpPr txBox="true"/>
            <p:nvPr/>
          </p:nvSpPr>
          <p:spPr>
            <a:xfrm>
              <a:off x="0" y="-38100"/>
              <a:ext cx="22188830" cy="1286256"/>
            </a:xfrm>
            <a:prstGeom prst="rect">
              <a:avLst/>
            </a:prstGeom>
          </p:spPr>
          <p:txBody>
            <a:bodyPr anchor="b" rtlCol="false" tIns="0" lIns="0" bIns="0" rIns="0"/>
            <a:lstStyle/>
            <a:p>
              <a:pPr algn="l">
                <a:lnSpc>
                  <a:spcPts val="1800"/>
                </a:lnSpc>
              </a:pPr>
              <a:r>
                <a:rPr lang="en-US" sz="1500">
                  <a:solidFill>
                    <a:srgbClr val="6B7280"/>
                  </a:solidFill>
                  <a:latin typeface="Calibri (MS)"/>
                  <a:ea typeface="Calibri (MS)"/>
                  <a:cs typeface="Calibri (MS)"/>
                  <a:sym typeface="Calibri (MS)"/>
                </a:rPr>
                <a:t>Chỉ kết luận khác biệt khi McNemar p &lt; 0,05. Một seed (42); độ lệch chuẩn EM của B3 qua 3 seed là 0,23 điểm. α = 2r ở mọi run; LoRA chỉ gắn vào LLM (0 lớp vision). Run: experiments/W10_A2_…, W10_A3_… (tên thư mục cũ).</a:t>
              </a:r>
            </a:p>
          </p:txBody>
        </p:sp>
      </p:grpSp>
      <p:grpSp>
        <p:nvGrpSpPr>
          <p:cNvPr name="Group 25" id="25"/>
          <p:cNvGrpSpPr/>
          <p:nvPr/>
        </p:nvGrpSpPr>
        <p:grpSpPr>
          <a:xfrm rot="0">
            <a:off x="15458732" y="0"/>
            <a:ext cx="2829306" cy="1184338"/>
            <a:chOff x="0" y="0"/>
            <a:chExt cx="3772408" cy="1579118"/>
          </a:xfrm>
        </p:grpSpPr>
        <p:sp>
          <p:nvSpPr>
            <p:cNvPr name="Freeform 26" id="26"/>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10"/>
              <a:stretch>
                <a:fillRect l="0" t="0" r="0" b="0"/>
              </a:stretch>
            </a:blipFill>
          </p:spPr>
          <p:txBody>
            <a:bodyPr/>
            <a:p/>
          </p:txBody>
        </p:sp>
      </p:grpSp>
      <p:grpSp>
        <p:nvGrpSpPr>
          <p:cNvPr name="Group 27" id="27"/>
          <p:cNvGrpSpPr/>
          <p:nvPr/>
        </p:nvGrpSpPr>
        <p:grpSpPr>
          <a:xfrm rot="0">
            <a:off x="822960" y="9641205"/>
            <a:ext cx="13716000" cy="440055"/>
            <a:chOff x="0" y="0"/>
            <a:chExt cx="18288000" cy="586740"/>
          </a:xfrm>
        </p:grpSpPr>
        <p:sp>
          <p:nvSpPr>
            <p:cNvPr name="Freeform 28" id="28"/>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7">
                <a:alphaModFix amt="0"/>
              </a:blip>
              <a:stretch>
                <a:fillRect l="0" t="-556902" r="0" b="-556904"/>
              </a:stretch>
            </a:blipFill>
          </p:spPr>
          <p:txBody>
            <a:bodyPr/>
            <a:p/>
          </p:txBody>
        </p:sp>
      </p:grpSp>
      <p:grpSp>
        <p:nvGrpSpPr>
          <p:cNvPr name="Group 29" id="29"/>
          <p:cNvGrpSpPr/>
          <p:nvPr/>
        </p:nvGrpSpPr>
        <p:grpSpPr>
          <a:xfrm rot="0">
            <a:off x="822960" y="9612630"/>
            <a:ext cx="13716000" cy="468630"/>
            <a:chOff x="0" y="0"/>
            <a:chExt cx="18288000" cy="624840"/>
          </a:xfrm>
        </p:grpSpPr>
        <p:sp>
          <p:nvSpPr>
            <p:cNvPr name="Freeform 30" id="30"/>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8">
                <a:alphaModFix amt="0"/>
              </a:blip>
              <a:stretch>
                <a:fillRect l="0" t="-519896" r="0" b="-519898"/>
              </a:stretch>
            </a:blipFill>
          </p:spPr>
          <p:txBody>
            <a:bodyPr/>
            <a:p/>
          </p:txBody>
        </p:sp>
      </p:grpSp>
      <p:grpSp>
        <p:nvGrpSpPr>
          <p:cNvPr name="Group 31" id="31"/>
          <p:cNvGrpSpPr/>
          <p:nvPr/>
        </p:nvGrpSpPr>
        <p:grpSpPr>
          <a:xfrm rot="0">
            <a:off x="822960" y="9584055"/>
            <a:ext cx="13716000" cy="497205"/>
            <a:chOff x="0" y="0"/>
            <a:chExt cx="18288000" cy="662940"/>
          </a:xfrm>
        </p:grpSpPr>
        <p:sp>
          <p:nvSpPr>
            <p:cNvPr name="Freeform 32" id="32"/>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9">
                <a:alphaModFix amt="0"/>
              </a:blip>
              <a:stretch>
                <a:fillRect l="0" t="-487518" r="0" b="-487518"/>
              </a:stretch>
            </a:blipFill>
          </p:spPr>
          <p:txBody>
            <a:bodyPr/>
            <a:p/>
          </p:txBody>
        </p:sp>
        <p:sp>
          <p:nvSpPr>
            <p:cNvPr name="TextBox 33" id="33"/>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PHỤ LỤC · P6 · ViVQA: SỐ EPOCH</a:t>
            </a:r>
          </a:p>
        </p:txBody>
      </p:sp>
      <p:grpSp>
        <p:nvGrpSpPr>
          <p:cNvPr name="Group 5" id="5"/>
          <p:cNvGrpSpPr/>
          <p:nvPr/>
        </p:nvGrpSpPr>
        <p:grpSpPr>
          <a:xfrm rot="0">
            <a:off x="15458732" y="0"/>
            <a:ext cx="2829306" cy="1184338"/>
            <a:chOff x="0" y="0"/>
            <a:chExt cx="3772408" cy="1579118"/>
          </a:xfrm>
        </p:grpSpPr>
        <p:sp>
          <p:nvSpPr>
            <p:cNvPr name="Freeform 6" id="6"/>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3"/>
              <a:stretch>
                <a:fillRect l="0" t="0" r="0" b="0"/>
              </a:stretch>
            </a:blipFill>
          </p:spPr>
          <p:txBody>
            <a:bodyPr/>
            <a:p/>
          </p:txBody>
        </p:sp>
      </p:grpSp>
      <p:sp>
        <p:nvSpPr>
          <p:cNvPr name="TextBox 7" id="7"/>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ViVQA: epoch thứ hai có ích — chọn mà không chạm test</a:t>
            </a:r>
          </a:p>
        </p:txBody>
      </p:sp>
      <p:grpSp>
        <p:nvGrpSpPr>
          <p:cNvPr name="Group 8" id="8"/>
          <p:cNvGrpSpPr/>
          <p:nvPr/>
        </p:nvGrpSpPr>
        <p:grpSpPr>
          <a:xfrm rot="0">
            <a:off x="-137160" y="1097280"/>
            <a:ext cx="11521440" cy="6858000"/>
            <a:chOff x="0" y="0"/>
            <a:chExt cx="15361920" cy="9144000"/>
          </a:xfrm>
        </p:grpSpPr>
        <p:sp>
          <p:nvSpPr>
            <p:cNvPr name="Freeform 9" id="9"/>
            <p:cNvSpPr/>
            <p:nvPr/>
          </p:nvSpPr>
          <p:spPr>
            <a:xfrm flipH="false" flipV="false" rot="0">
              <a:off x="0" y="0"/>
              <a:ext cx="15361920" cy="9144000"/>
            </a:xfrm>
            <a:custGeom>
              <a:avLst/>
              <a:gdLst/>
              <a:ahLst/>
              <a:cxnLst/>
              <a:rect r="r" b="b" t="t" l="l"/>
              <a:pathLst>
                <a:path h="9144000" w="15361920">
                  <a:moveTo>
                    <a:pt x="0" y="0"/>
                  </a:moveTo>
                  <a:lnTo>
                    <a:pt x="15361920" y="0"/>
                  </a:lnTo>
                  <a:lnTo>
                    <a:pt x="15361920" y="9144000"/>
                  </a:lnTo>
                  <a:lnTo>
                    <a:pt x="0" y="9144000"/>
                  </a:lnTo>
                  <a:lnTo>
                    <a:pt x="0" y="0"/>
                  </a:lnTo>
                  <a:close/>
                </a:path>
              </a:pathLst>
            </a:custGeom>
            <a:blipFill>
              <a:blip r:embed="rId4"/>
              <a:stretch>
                <a:fillRect l="-16" t="0" r="-16" b="0"/>
              </a:stretch>
            </a:blipFill>
          </p:spPr>
          <p:txBody>
            <a:bodyPr/>
            <a:p/>
          </p:txBody>
        </p:sp>
      </p:grpSp>
      <p:sp>
        <p:nvSpPr>
          <p:cNvPr name="Freeform 10" id="10"/>
          <p:cNvSpPr/>
          <p:nvPr/>
        </p:nvSpPr>
        <p:spPr>
          <a:xfrm flipH="false" flipV="false" rot="0">
            <a:off x="806291" y="7252811"/>
            <a:ext cx="9634538" cy="2159317"/>
          </a:xfrm>
          <a:custGeom>
            <a:avLst/>
            <a:gdLst/>
            <a:ahLst/>
            <a:cxnLst/>
            <a:rect r="r" b="b" t="t" l="l"/>
            <a:pathLst>
              <a:path h="2159317" w="9634538">
                <a:moveTo>
                  <a:pt x="0" y="0"/>
                </a:moveTo>
                <a:lnTo>
                  <a:pt x="9634538" y="0"/>
                </a:lnTo>
                <a:lnTo>
                  <a:pt x="9634538" y="2159318"/>
                </a:lnTo>
                <a:lnTo>
                  <a:pt x="0" y="2159318"/>
                </a:lnTo>
                <a:lnTo>
                  <a:pt x="0" y="0"/>
                </a:lnTo>
                <a:close/>
              </a:path>
            </a:pathLst>
          </a:custGeom>
          <a:blipFill>
            <a:blip r:embed="rId5">
              <a:extLst>
                <a:ext uri="{96DAC541-7B7A-43D3-8B79-37D633B846F1}">
                  <asvg:svgBlip xmlns:asvg="http://schemas.microsoft.com/office/drawing/2016/SVG/main" r:embed="rId6"/>
                </a:ext>
              </a:extLst>
            </a:blip>
            <a:stretch>
              <a:fillRect l="0" t="-41" r="0" b="-41"/>
            </a:stretch>
          </a:blipFill>
        </p:spPr>
        <p:txBody>
          <a:bodyPr/>
          <a:p/>
        </p:txBody>
      </p:sp>
      <p:grpSp>
        <p:nvGrpSpPr>
          <p:cNvPr name="Group 11" id="11"/>
          <p:cNvGrpSpPr/>
          <p:nvPr/>
        </p:nvGrpSpPr>
        <p:grpSpPr>
          <a:xfrm rot="0">
            <a:off x="1165860" y="7269480"/>
            <a:ext cx="8915400" cy="2125980"/>
            <a:chOff x="0" y="0"/>
            <a:chExt cx="11887200" cy="2834640"/>
          </a:xfrm>
        </p:grpSpPr>
        <p:sp>
          <p:nvSpPr>
            <p:cNvPr name="Freeform 12" id="12"/>
            <p:cNvSpPr/>
            <p:nvPr/>
          </p:nvSpPr>
          <p:spPr>
            <a:xfrm flipH="false" flipV="false" rot="0">
              <a:off x="0" y="0"/>
              <a:ext cx="11887200" cy="2834640"/>
            </a:xfrm>
            <a:custGeom>
              <a:avLst/>
              <a:gdLst/>
              <a:ahLst/>
              <a:cxnLst/>
              <a:rect r="r" b="b" t="t" l="l"/>
              <a:pathLst>
                <a:path h="2834640" w="11887200">
                  <a:moveTo>
                    <a:pt x="0" y="0"/>
                  </a:moveTo>
                  <a:lnTo>
                    <a:pt x="11887200" y="0"/>
                  </a:lnTo>
                  <a:lnTo>
                    <a:pt x="11887200" y="2834640"/>
                  </a:lnTo>
                  <a:lnTo>
                    <a:pt x="0" y="2834640"/>
                  </a:lnTo>
                  <a:close/>
                </a:path>
              </a:pathLst>
            </a:custGeom>
            <a:blipFill>
              <a:blip r:embed="rId2">
                <a:alphaModFix amt="0"/>
              </a:blip>
              <a:stretch>
                <a:fillRect l="0" t="-31654" r="0" b="-31654"/>
              </a:stretch>
            </a:blipFill>
          </p:spPr>
          <p:txBody>
            <a:bodyPr/>
            <a:p/>
          </p:txBody>
        </p:sp>
      </p:grpSp>
      <p:grpSp>
        <p:nvGrpSpPr>
          <p:cNvPr name="Group 13" id="13"/>
          <p:cNvGrpSpPr/>
          <p:nvPr/>
        </p:nvGrpSpPr>
        <p:grpSpPr>
          <a:xfrm rot="0">
            <a:off x="1165860" y="7233761"/>
            <a:ext cx="8915400" cy="2161699"/>
            <a:chOff x="0" y="0"/>
            <a:chExt cx="11887200" cy="2882265"/>
          </a:xfrm>
        </p:grpSpPr>
        <p:sp>
          <p:nvSpPr>
            <p:cNvPr name="Freeform 14" id="14"/>
            <p:cNvSpPr/>
            <p:nvPr/>
          </p:nvSpPr>
          <p:spPr>
            <a:xfrm flipH="false" flipV="false" rot="0">
              <a:off x="0" y="0"/>
              <a:ext cx="11887200" cy="2882265"/>
            </a:xfrm>
            <a:custGeom>
              <a:avLst/>
              <a:gdLst/>
              <a:ahLst/>
              <a:cxnLst/>
              <a:rect r="r" b="b" t="t" l="l"/>
              <a:pathLst>
                <a:path h="2882265" w="11887200">
                  <a:moveTo>
                    <a:pt x="0" y="0"/>
                  </a:moveTo>
                  <a:lnTo>
                    <a:pt x="11887200" y="0"/>
                  </a:lnTo>
                  <a:lnTo>
                    <a:pt x="11887200" y="2882265"/>
                  </a:lnTo>
                  <a:lnTo>
                    <a:pt x="0" y="2882265"/>
                  </a:lnTo>
                  <a:close/>
                </a:path>
              </a:pathLst>
            </a:custGeom>
            <a:blipFill>
              <a:blip r:embed="rId7">
                <a:alphaModFix amt="0"/>
              </a:blip>
              <a:stretch>
                <a:fillRect l="0" t="-30305" r="0" b="-30305"/>
              </a:stretch>
            </a:blipFill>
          </p:spPr>
          <p:txBody>
            <a:bodyPr/>
            <a:p/>
          </p:txBody>
        </p:sp>
      </p:grpSp>
      <p:grpSp>
        <p:nvGrpSpPr>
          <p:cNvPr name="Group 15" id="15"/>
          <p:cNvGrpSpPr/>
          <p:nvPr/>
        </p:nvGrpSpPr>
        <p:grpSpPr>
          <a:xfrm rot="0">
            <a:off x="1165860" y="7198043"/>
            <a:ext cx="8915400" cy="2197417"/>
            <a:chOff x="0" y="0"/>
            <a:chExt cx="11887200" cy="2929890"/>
          </a:xfrm>
        </p:grpSpPr>
        <p:sp>
          <p:nvSpPr>
            <p:cNvPr name="Freeform 16" id="16"/>
            <p:cNvSpPr/>
            <p:nvPr/>
          </p:nvSpPr>
          <p:spPr>
            <a:xfrm flipH="false" flipV="false" rot="0">
              <a:off x="0" y="0"/>
              <a:ext cx="11887200" cy="2929890"/>
            </a:xfrm>
            <a:custGeom>
              <a:avLst/>
              <a:gdLst/>
              <a:ahLst/>
              <a:cxnLst/>
              <a:rect r="r" b="b" t="t" l="l"/>
              <a:pathLst>
                <a:path h="2929890" w="11887200">
                  <a:moveTo>
                    <a:pt x="0" y="0"/>
                  </a:moveTo>
                  <a:lnTo>
                    <a:pt x="11887200" y="0"/>
                  </a:lnTo>
                  <a:lnTo>
                    <a:pt x="11887200" y="2929890"/>
                  </a:lnTo>
                  <a:lnTo>
                    <a:pt x="0" y="2929890"/>
                  </a:lnTo>
                  <a:close/>
                </a:path>
              </a:pathLst>
            </a:custGeom>
            <a:blipFill>
              <a:blip r:embed="rId8">
                <a:alphaModFix amt="0"/>
              </a:blip>
              <a:stretch>
                <a:fillRect l="0" t="-29000" r="0" b="-29000"/>
              </a:stretch>
            </a:blipFill>
          </p:spPr>
          <p:txBody>
            <a:bodyPr/>
            <a:p/>
          </p:txBody>
        </p:sp>
      </p:grpSp>
      <p:grpSp>
        <p:nvGrpSpPr>
          <p:cNvPr name="Group 17" id="17"/>
          <p:cNvGrpSpPr/>
          <p:nvPr/>
        </p:nvGrpSpPr>
        <p:grpSpPr>
          <a:xfrm rot="0">
            <a:off x="1165860" y="7162324"/>
            <a:ext cx="8915400" cy="2233136"/>
            <a:chOff x="0" y="0"/>
            <a:chExt cx="11887200" cy="2977515"/>
          </a:xfrm>
        </p:grpSpPr>
        <p:sp>
          <p:nvSpPr>
            <p:cNvPr name="Freeform 18" id="18"/>
            <p:cNvSpPr/>
            <p:nvPr/>
          </p:nvSpPr>
          <p:spPr>
            <a:xfrm flipH="false" flipV="false" rot="0">
              <a:off x="0" y="0"/>
              <a:ext cx="11887200" cy="2977514"/>
            </a:xfrm>
            <a:custGeom>
              <a:avLst/>
              <a:gdLst/>
              <a:ahLst/>
              <a:cxnLst/>
              <a:rect r="r" b="b" t="t" l="l"/>
              <a:pathLst>
                <a:path h="2977514" w="11887200">
                  <a:moveTo>
                    <a:pt x="0" y="0"/>
                  </a:moveTo>
                  <a:lnTo>
                    <a:pt x="11887200" y="0"/>
                  </a:lnTo>
                  <a:lnTo>
                    <a:pt x="11887200" y="2977514"/>
                  </a:lnTo>
                  <a:lnTo>
                    <a:pt x="0" y="2977514"/>
                  </a:lnTo>
                  <a:close/>
                </a:path>
              </a:pathLst>
            </a:custGeom>
            <a:blipFill>
              <a:blip r:embed="rId9">
                <a:alphaModFix amt="0"/>
              </a:blip>
              <a:stretch>
                <a:fillRect l="0" t="-27790" r="0" b="-27790"/>
              </a:stretch>
            </a:blipFill>
          </p:spPr>
          <p:txBody>
            <a:bodyPr/>
            <a:p/>
          </p:txBody>
        </p:sp>
        <p:sp>
          <p:nvSpPr>
            <p:cNvPr name="TextBox 19" id="19"/>
            <p:cNvSpPr txBox="true"/>
            <p:nvPr/>
          </p:nvSpPr>
          <p:spPr>
            <a:xfrm>
              <a:off x="0" y="-47625"/>
              <a:ext cx="11887200" cy="3025140"/>
            </a:xfrm>
            <a:prstGeom prst="rect">
              <a:avLst/>
            </a:prstGeom>
          </p:spPr>
          <p:txBody>
            <a:bodyPr anchor="ctr" rtlCol="false" tIns="0" lIns="0" bIns="0" rIns="0"/>
            <a:lstStyle/>
            <a:p>
              <a:pPr algn="l">
                <a:lnSpc>
                  <a:spcPts val="2520"/>
                </a:lnSpc>
              </a:pPr>
              <a:r>
                <a:rPr lang="en-US" sz="2100">
                  <a:solidFill>
                    <a:srgbClr val="13294B"/>
                  </a:solidFill>
                  <a:latin typeface="Calibri (MS)"/>
                  <a:ea typeface="Calibri (MS)"/>
                  <a:cs typeface="Calibri (MS)"/>
                  <a:sym typeface="Calibri (MS)"/>
                </a:rPr>
                <a:t>Chọn epoch theo EM trên val sạch → C3 (+3,9 EM, p = 1,4 × 10⁻⁴)</a:t>
              </a:r>
            </a:p>
          </p:txBody>
        </p:sp>
      </p:grpSp>
      <p:sp>
        <p:nvSpPr>
          <p:cNvPr name="Freeform 20" id="20"/>
          <p:cNvSpPr/>
          <p:nvPr/>
        </p:nvSpPr>
        <p:spPr>
          <a:xfrm flipH="false" flipV="false" rot="0">
            <a:off x="10956131" y="2040731"/>
            <a:ext cx="6525101" cy="3599497"/>
          </a:xfrm>
          <a:custGeom>
            <a:avLst/>
            <a:gdLst/>
            <a:ahLst/>
            <a:cxnLst/>
            <a:rect r="r" b="b" t="t" l="l"/>
            <a:pathLst>
              <a:path h="3599497" w="6525101">
                <a:moveTo>
                  <a:pt x="0" y="0"/>
                </a:moveTo>
                <a:lnTo>
                  <a:pt x="6525101" y="0"/>
                </a:lnTo>
                <a:lnTo>
                  <a:pt x="6525101" y="3599498"/>
                </a:lnTo>
                <a:lnTo>
                  <a:pt x="0" y="3599498"/>
                </a:lnTo>
                <a:lnTo>
                  <a:pt x="0" y="0"/>
                </a:lnTo>
                <a:close/>
              </a:path>
            </a:pathLst>
          </a:custGeom>
          <a:blipFill>
            <a:blip r:embed="rId10">
              <a:extLst>
                <a:ext uri="{96DAC541-7B7A-43D3-8B79-37D633B846F1}">
                  <asvg:svgBlip xmlns:asvg="http://schemas.microsoft.com/office/drawing/2016/SVG/main" r:embed="rId11"/>
                </a:ext>
              </a:extLst>
            </a:blip>
            <a:stretch>
              <a:fillRect l="-56" t="0" r="-56" b="0"/>
            </a:stretch>
          </a:blipFill>
        </p:spPr>
        <p:txBody>
          <a:bodyPr/>
          <a:p/>
        </p:txBody>
      </p:sp>
      <p:sp>
        <p:nvSpPr>
          <p:cNvPr name="TextBox 21" id="21"/>
          <p:cNvSpPr txBox="true"/>
          <p:nvPr/>
        </p:nvSpPr>
        <p:spPr>
          <a:xfrm rot="0">
            <a:off x="11384280" y="2225040"/>
            <a:ext cx="5668823" cy="1272540"/>
          </a:xfrm>
          <a:prstGeom prst="rect">
            <a:avLst/>
          </a:prstGeom>
        </p:spPr>
        <p:txBody>
          <a:bodyPr anchor="t" rtlCol="false" tIns="0" lIns="0" bIns="0" rIns="0">
            <a:spAutoFit/>
          </a:bodyPr>
          <a:lstStyle/>
          <a:p>
            <a:pPr algn="l">
              <a:lnSpc>
                <a:spcPts val="7200"/>
              </a:lnSpc>
            </a:pPr>
            <a:r>
              <a:rPr lang="en-US" sz="6000" b="true">
                <a:solidFill>
                  <a:srgbClr val="13294B"/>
                </a:solidFill>
                <a:latin typeface="Cambria Bold"/>
                <a:ea typeface="Cambria Bold"/>
                <a:cs typeface="Cambria Bold"/>
                <a:sym typeface="Cambria Bold"/>
              </a:rPr>
              <a:t>73,8 → 76,6</a:t>
            </a:r>
          </a:p>
        </p:txBody>
      </p:sp>
      <p:sp>
        <p:nvSpPr>
          <p:cNvPr name="TextBox 22" id="22"/>
          <p:cNvSpPr txBox="true"/>
          <p:nvPr/>
        </p:nvSpPr>
        <p:spPr>
          <a:xfrm rot="0">
            <a:off x="11384280" y="3375660"/>
            <a:ext cx="5668823" cy="142494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EM test ViVQA (3.001 câu), chạm một lần: +2,9, p = 4,6 × 10⁻⁹</a:t>
            </a:r>
          </a:p>
        </p:txBody>
      </p:sp>
      <p:sp>
        <p:nvSpPr>
          <p:cNvPr name="TextBox 23" id="23"/>
          <p:cNvSpPr txBox="true"/>
          <p:nvPr/>
        </p:nvSpPr>
        <p:spPr>
          <a:xfrm rot="0">
            <a:off x="11384280" y="4198620"/>
            <a:ext cx="5668823" cy="1356360"/>
          </a:xfrm>
          <a:prstGeom prst="rect">
            <a:avLst/>
          </a:prstGeom>
        </p:spPr>
        <p:txBody>
          <a:bodyPr anchor="t" rtlCol="false" tIns="0" lIns="0" bIns="0" rIns="0">
            <a:spAutoFit/>
          </a:bodyPr>
          <a:lstStyle/>
          <a:p>
            <a:pPr algn="l">
              <a:lnSpc>
                <a:spcPts val="2340"/>
              </a:lnSpc>
            </a:pPr>
            <a:r>
              <a:rPr lang="en-US" sz="1950" i="true">
                <a:solidFill>
                  <a:srgbClr val="243044"/>
                </a:solidFill>
                <a:latin typeface="Calibri (MS) Italics"/>
                <a:ea typeface="Calibri (MS) Italics"/>
                <a:cs typeface="Calibri (MS) Italics"/>
                <a:sym typeface="Calibri (MS) Italics"/>
              </a:rPr>
              <a:t>Không phải nhớ ảnh (kiểm sau): trên phần test sạch — ảnh và cặp hỏi–đáp chưa thấy, n = 1.219 — +3,2 EM (69,1 → 72,3, p = 1,5 × 10⁻⁴)</a:t>
            </a:r>
          </a:p>
        </p:txBody>
      </p:sp>
      <p:sp>
        <p:nvSpPr>
          <p:cNvPr name="Freeform 24" id="24"/>
          <p:cNvSpPr/>
          <p:nvPr/>
        </p:nvSpPr>
        <p:spPr>
          <a:xfrm flipH="false" flipV="false" rot="0">
            <a:off x="10956131" y="5881211"/>
            <a:ext cx="6525101" cy="3530917"/>
          </a:xfrm>
          <a:custGeom>
            <a:avLst/>
            <a:gdLst/>
            <a:ahLst/>
            <a:cxnLst/>
            <a:rect r="r" b="b" t="t" l="l"/>
            <a:pathLst>
              <a:path h="3530917" w="6525101">
                <a:moveTo>
                  <a:pt x="0" y="0"/>
                </a:moveTo>
                <a:lnTo>
                  <a:pt x="6525101" y="0"/>
                </a:lnTo>
                <a:lnTo>
                  <a:pt x="6525101" y="3530918"/>
                </a:lnTo>
                <a:lnTo>
                  <a:pt x="0" y="3530918"/>
                </a:lnTo>
                <a:lnTo>
                  <a:pt x="0" y="0"/>
                </a:lnTo>
                <a:close/>
              </a:path>
            </a:pathLst>
          </a:custGeom>
          <a:blipFill>
            <a:blip r:embed="rId12">
              <a:extLst>
                <a:ext uri="{96DAC541-7B7A-43D3-8B79-37D633B846F1}">
                  <asvg:svgBlip xmlns:asvg="http://schemas.microsoft.com/office/drawing/2016/SVG/main" r:embed="rId13"/>
                </a:ext>
              </a:extLst>
            </a:blip>
            <a:stretch>
              <a:fillRect l="-28" t="0" r="-28" b="0"/>
            </a:stretch>
          </a:blipFill>
        </p:spPr>
        <p:txBody>
          <a:bodyPr/>
          <a:p/>
        </p:txBody>
      </p:sp>
      <p:sp>
        <p:nvSpPr>
          <p:cNvPr name="TextBox 25" id="25"/>
          <p:cNvSpPr txBox="true"/>
          <p:nvPr/>
        </p:nvSpPr>
        <p:spPr>
          <a:xfrm rot="0">
            <a:off x="11384280" y="5910072"/>
            <a:ext cx="5668823" cy="701040"/>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Vì sao dùng val sạch</a:t>
            </a:r>
          </a:p>
        </p:txBody>
      </p:sp>
      <p:sp>
        <p:nvSpPr>
          <p:cNvPr name="TextBox 26" id="26"/>
          <p:cNvSpPr txBox="true"/>
          <p:nvPr/>
        </p:nvSpPr>
        <p:spPr>
          <a:xfrm rot="0">
            <a:off x="11384280" y="6461760"/>
            <a:ext cx="5668823" cy="2865120"/>
          </a:xfrm>
          <a:prstGeom prst="rect">
            <a:avLst/>
          </a:prstGeom>
        </p:spPr>
        <p:txBody>
          <a:bodyPr anchor="t" rtlCol="false" tIns="0" lIns="0" bIns="0" rIns="0">
            <a:spAutoFit/>
          </a:bodyPr>
          <a:lstStyle/>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512 / 1.200 câu val dùng chung ảnh với train</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Train lâu hơn nhớ ảnh → val thường thiên vị</a:t>
            </a:r>
          </a:p>
          <a:p>
            <a:pPr algn="l" marL="665481" indent="-133096" lvl="4">
              <a:lnSpc>
                <a:spcPts val="2520"/>
              </a:lnSpc>
              <a:buFont typeface="Arial"/>
              <a:buChar char="•"/>
            </a:pPr>
            <a:r>
              <a:rPr lang="en-US" sz="2100">
                <a:solidFill>
                  <a:srgbClr val="243044"/>
                </a:solidFill>
                <a:latin typeface="Calibri (MS)"/>
                <a:ea typeface="Calibri (MS)"/>
                <a:cs typeface="Calibri (MS)"/>
                <a:sym typeface="Calibri (MS)"/>
              </a:rPr>
              <a:t>Chi phí: 6,1 giờ thay vì 3,0 giờ trên một L4</a:t>
            </a:r>
          </a:p>
        </p:txBody>
      </p:sp>
      <p:grpSp>
        <p:nvGrpSpPr>
          <p:cNvPr name="Group 27" id="27"/>
          <p:cNvGrpSpPr/>
          <p:nvPr/>
        </p:nvGrpSpPr>
        <p:grpSpPr>
          <a:xfrm rot="0">
            <a:off x="822960" y="9641205"/>
            <a:ext cx="13716000" cy="440055"/>
            <a:chOff x="0" y="0"/>
            <a:chExt cx="18288000" cy="586740"/>
          </a:xfrm>
        </p:grpSpPr>
        <p:sp>
          <p:nvSpPr>
            <p:cNvPr name="Freeform 28" id="28"/>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7">
                <a:alphaModFix amt="0"/>
              </a:blip>
              <a:stretch>
                <a:fillRect l="0" t="-556902" r="0" b="-556904"/>
              </a:stretch>
            </a:blipFill>
          </p:spPr>
          <p:txBody>
            <a:bodyPr/>
            <a:p/>
          </p:txBody>
        </p:sp>
      </p:grpSp>
      <p:grpSp>
        <p:nvGrpSpPr>
          <p:cNvPr name="Group 29" id="29"/>
          <p:cNvGrpSpPr/>
          <p:nvPr/>
        </p:nvGrpSpPr>
        <p:grpSpPr>
          <a:xfrm rot="0">
            <a:off x="822960" y="9612630"/>
            <a:ext cx="13716000" cy="468630"/>
            <a:chOff x="0" y="0"/>
            <a:chExt cx="18288000" cy="624840"/>
          </a:xfrm>
        </p:grpSpPr>
        <p:sp>
          <p:nvSpPr>
            <p:cNvPr name="Freeform 30" id="30"/>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8">
                <a:alphaModFix amt="0"/>
              </a:blip>
              <a:stretch>
                <a:fillRect l="0" t="-519896" r="0" b="-519898"/>
              </a:stretch>
            </a:blipFill>
          </p:spPr>
          <p:txBody>
            <a:bodyPr/>
            <a:p/>
          </p:txBody>
        </p:sp>
      </p:grpSp>
      <p:grpSp>
        <p:nvGrpSpPr>
          <p:cNvPr name="Group 31" id="31"/>
          <p:cNvGrpSpPr/>
          <p:nvPr/>
        </p:nvGrpSpPr>
        <p:grpSpPr>
          <a:xfrm rot="0">
            <a:off x="822960" y="9584055"/>
            <a:ext cx="13716000" cy="497205"/>
            <a:chOff x="0" y="0"/>
            <a:chExt cx="18288000" cy="662940"/>
          </a:xfrm>
        </p:grpSpPr>
        <p:sp>
          <p:nvSpPr>
            <p:cNvPr name="Freeform 32" id="32"/>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9">
                <a:alphaModFix amt="0"/>
              </a:blip>
              <a:stretch>
                <a:fillRect l="0" t="-487518" r="0" b="-487518"/>
              </a:stretch>
            </a:blipFill>
          </p:spPr>
          <p:txBody>
            <a:bodyPr/>
            <a:p/>
          </p:txBody>
        </p:sp>
        <p:sp>
          <p:nvSpPr>
            <p:cNvPr name="TextBox 33" id="33"/>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PHỤ LỤC · P7 · ADAPTER DÙNG CHUNG (SH)</a:t>
            </a:r>
          </a:p>
        </p:txBody>
      </p:sp>
      <p:sp>
        <p:nvSpPr>
          <p:cNvPr name="TextBox 5" id="5"/>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Một adapter cho hai dataset — không kém</a:t>
            </a:r>
          </a:p>
        </p:txBody>
      </p:sp>
      <p:sp>
        <p:nvSpPr>
          <p:cNvPr name="Freeform 6" id="6"/>
          <p:cNvSpPr/>
          <p:nvPr/>
        </p:nvSpPr>
        <p:spPr>
          <a:xfrm flipH="false" flipV="false" rot="0">
            <a:off x="806291" y="2383631"/>
            <a:ext cx="3833717" cy="4010978"/>
          </a:xfrm>
          <a:custGeom>
            <a:avLst/>
            <a:gdLst/>
            <a:ahLst/>
            <a:cxnLst/>
            <a:rect r="r" b="b" t="t" l="l"/>
            <a:pathLst>
              <a:path h="4010978" w="3833717">
                <a:moveTo>
                  <a:pt x="0" y="0"/>
                </a:moveTo>
                <a:lnTo>
                  <a:pt x="3833717" y="0"/>
                </a:lnTo>
                <a:lnTo>
                  <a:pt x="3833717" y="4010978"/>
                </a:lnTo>
                <a:lnTo>
                  <a:pt x="0" y="4010978"/>
                </a:lnTo>
                <a:lnTo>
                  <a:pt x="0" y="0"/>
                </a:lnTo>
                <a:close/>
              </a:path>
            </a:pathLst>
          </a:custGeom>
          <a:blipFill>
            <a:blip r:embed="rId3">
              <a:extLst>
                <a:ext uri="{96DAC541-7B7A-43D3-8B79-37D633B846F1}">
                  <asvg:svgBlip xmlns:asvg="http://schemas.microsoft.com/office/drawing/2016/SVG/main" r:embed="rId4"/>
                </a:ext>
              </a:extLst>
            </a:blip>
            <a:stretch>
              <a:fillRect l="0" t="-43" r="0" b="-43"/>
            </a:stretch>
          </a:blipFill>
        </p:spPr>
        <p:txBody>
          <a:bodyPr/>
          <a:p/>
        </p:txBody>
      </p:sp>
      <p:sp>
        <p:nvSpPr>
          <p:cNvPr name="TextBox 7" id="7"/>
          <p:cNvSpPr txBox="true"/>
          <p:nvPr/>
        </p:nvSpPr>
        <p:spPr>
          <a:xfrm rot="0">
            <a:off x="1234440" y="2979420"/>
            <a:ext cx="2977401" cy="1272540"/>
          </a:xfrm>
          <a:prstGeom prst="rect">
            <a:avLst/>
          </a:prstGeom>
        </p:spPr>
        <p:txBody>
          <a:bodyPr anchor="t" rtlCol="false" tIns="0" lIns="0" bIns="0" rIns="0">
            <a:spAutoFit/>
          </a:bodyPr>
          <a:lstStyle/>
          <a:p>
            <a:pPr algn="l">
              <a:lnSpc>
                <a:spcPts val="6480"/>
              </a:lnSpc>
            </a:pPr>
            <a:r>
              <a:rPr lang="en-US" sz="5400" b="true">
                <a:solidFill>
                  <a:srgbClr val="1C7293"/>
                </a:solidFill>
                <a:latin typeface="Cambria Bold"/>
                <a:ea typeface="Cambria Bold"/>
                <a:cs typeface="Cambria Bold"/>
                <a:sym typeface="Cambria Bold"/>
              </a:rPr>
              <a:t>−0,27</a:t>
            </a:r>
          </a:p>
        </p:txBody>
      </p:sp>
      <p:sp>
        <p:nvSpPr>
          <p:cNvPr name="TextBox 8" id="8"/>
          <p:cNvSpPr txBox="true"/>
          <p:nvPr/>
        </p:nvSpPr>
        <p:spPr>
          <a:xfrm rot="0">
            <a:off x="1234440" y="4130040"/>
            <a:ext cx="2977401" cy="142494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ViVQA: SH so với C1 (cùng 1 epoch); CI95 [−1,13; +0,60] → không kém</a:t>
            </a:r>
          </a:p>
        </p:txBody>
      </p:sp>
      <p:sp>
        <p:nvSpPr>
          <p:cNvPr name="Freeform 9" id="9"/>
          <p:cNvSpPr/>
          <p:nvPr/>
        </p:nvSpPr>
        <p:spPr>
          <a:xfrm flipH="false" flipV="false" rot="0">
            <a:off x="5086712" y="2383631"/>
            <a:ext cx="3833717" cy="4010978"/>
          </a:xfrm>
          <a:custGeom>
            <a:avLst/>
            <a:gdLst/>
            <a:ahLst/>
            <a:cxnLst/>
            <a:rect r="r" b="b" t="t" l="l"/>
            <a:pathLst>
              <a:path h="4010978" w="3833717">
                <a:moveTo>
                  <a:pt x="0" y="0"/>
                </a:moveTo>
                <a:lnTo>
                  <a:pt x="3833717" y="0"/>
                </a:lnTo>
                <a:lnTo>
                  <a:pt x="3833717" y="4010978"/>
                </a:lnTo>
                <a:lnTo>
                  <a:pt x="0" y="4010978"/>
                </a:lnTo>
                <a:lnTo>
                  <a:pt x="0" y="0"/>
                </a:lnTo>
                <a:close/>
              </a:path>
            </a:pathLst>
          </a:custGeom>
          <a:blipFill>
            <a:blip r:embed="rId3">
              <a:extLst>
                <a:ext uri="{96DAC541-7B7A-43D3-8B79-37D633B846F1}">
                  <asvg:svgBlip xmlns:asvg="http://schemas.microsoft.com/office/drawing/2016/SVG/main" r:embed="rId4"/>
                </a:ext>
              </a:extLst>
            </a:blip>
            <a:stretch>
              <a:fillRect l="0" t="-43" r="0" b="-43"/>
            </a:stretch>
          </a:blipFill>
        </p:spPr>
        <p:txBody>
          <a:bodyPr/>
          <a:p/>
        </p:txBody>
      </p:sp>
      <p:sp>
        <p:nvSpPr>
          <p:cNvPr name="TextBox 10" id="10"/>
          <p:cNvSpPr txBox="true"/>
          <p:nvPr/>
        </p:nvSpPr>
        <p:spPr>
          <a:xfrm rot="0">
            <a:off x="5514861" y="2979420"/>
            <a:ext cx="2977401" cy="1272540"/>
          </a:xfrm>
          <a:prstGeom prst="rect">
            <a:avLst/>
          </a:prstGeom>
        </p:spPr>
        <p:txBody>
          <a:bodyPr anchor="t" rtlCol="false" tIns="0" lIns="0" bIns="0" rIns="0">
            <a:spAutoFit/>
          </a:bodyPr>
          <a:lstStyle/>
          <a:p>
            <a:pPr algn="l">
              <a:lnSpc>
                <a:spcPts val="6480"/>
              </a:lnSpc>
            </a:pPr>
            <a:r>
              <a:rPr lang="en-US" sz="5400" b="true">
                <a:solidFill>
                  <a:srgbClr val="13294B"/>
                </a:solidFill>
                <a:latin typeface="Cambria Bold"/>
                <a:ea typeface="Cambria Bold"/>
                <a:cs typeface="Cambria Bold"/>
                <a:sym typeface="Cambria Bold"/>
              </a:rPr>
              <a:t>+0,25</a:t>
            </a:r>
          </a:p>
        </p:txBody>
      </p:sp>
      <p:sp>
        <p:nvSpPr>
          <p:cNvPr name="TextBox 11" id="11"/>
          <p:cNvSpPr txBox="true"/>
          <p:nvPr/>
        </p:nvSpPr>
        <p:spPr>
          <a:xfrm rot="0">
            <a:off x="5514861" y="4130040"/>
            <a:ext cx="2977401" cy="142494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ViTextVQA test2000: SH so với B3 (cùng 8k câu); CI95 [−0,95; +1,45] → không kém</a:t>
            </a:r>
          </a:p>
        </p:txBody>
      </p:sp>
      <p:sp>
        <p:nvSpPr>
          <p:cNvPr name="Freeform 12" id="12"/>
          <p:cNvSpPr/>
          <p:nvPr/>
        </p:nvSpPr>
        <p:spPr>
          <a:xfrm flipH="false" flipV="false" rot="0">
            <a:off x="9367133" y="2383631"/>
            <a:ext cx="3833717" cy="4010978"/>
          </a:xfrm>
          <a:custGeom>
            <a:avLst/>
            <a:gdLst/>
            <a:ahLst/>
            <a:cxnLst/>
            <a:rect r="r" b="b" t="t" l="l"/>
            <a:pathLst>
              <a:path h="4010978" w="3833717">
                <a:moveTo>
                  <a:pt x="0" y="0"/>
                </a:moveTo>
                <a:lnTo>
                  <a:pt x="3833717" y="0"/>
                </a:lnTo>
                <a:lnTo>
                  <a:pt x="3833717" y="4010978"/>
                </a:lnTo>
                <a:lnTo>
                  <a:pt x="0" y="4010978"/>
                </a:lnTo>
                <a:lnTo>
                  <a:pt x="0" y="0"/>
                </a:lnTo>
                <a:close/>
              </a:path>
            </a:pathLst>
          </a:custGeom>
          <a:blipFill>
            <a:blip r:embed="rId3">
              <a:extLst>
                <a:ext uri="{96DAC541-7B7A-43D3-8B79-37D633B846F1}">
                  <asvg:svgBlip xmlns:asvg="http://schemas.microsoft.com/office/drawing/2016/SVG/main" r:embed="rId4"/>
                </a:ext>
              </a:extLst>
            </a:blip>
            <a:stretch>
              <a:fillRect l="0" t="-43" r="0" b="-43"/>
            </a:stretch>
          </a:blipFill>
        </p:spPr>
        <p:txBody>
          <a:bodyPr/>
          <a:p/>
        </p:txBody>
      </p:sp>
      <p:sp>
        <p:nvSpPr>
          <p:cNvPr name="TextBox 13" id="13"/>
          <p:cNvSpPr txBox="true"/>
          <p:nvPr/>
        </p:nvSpPr>
        <p:spPr>
          <a:xfrm rot="0">
            <a:off x="9795281" y="2979420"/>
            <a:ext cx="2977401" cy="1272540"/>
          </a:xfrm>
          <a:prstGeom prst="rect">
            <a:avLst/>
          </a:prstGeom>
        </p:spPr>
        <p:txBody>
          <a:bodyPr anchor="t" rtlCol="false" tIns="0" lIns="0" bIns="0" rIns="0">
            <a:spAutoFit/>
          </a:bodyPr>
          <a:lstStyle/>
          <a:p>
            <a:pPr algn="l">
              <a:lnSpc>
                <a:spcPts val="6480"/>
              </a:lnSpc>
            </a:pPr>
            <a:r>
              <a:rPr lang="en-US" sz="5400" b="true">
                <a:solidFill>
                  <a:srgbClr val="13294B"/>
                </a:solidFill>
                <a:latin typeface="Cambria Bold"/>
                <a:ea typeface="Cambria Bold"/>
                <a:cs typeface="Cambria Bold"/>
                <a:sym typeface="Cambria Bold"/>
              </a:rPr>
              <a:t>+0,15</a:t>
            </a:r>
          </a:p>
        </p:txBody>
      </p:sp>
      <p:sp>
        <p:nvSpPr>
          <p:cNvPr name="TextBox 14" id="14"/>
          <p:cNvSpPr txBox="true"/>
          <p:nvPr/>
        </p:nvSpPr>
        <p:spPr>
          <a:xfrm rot="0">
            <a:off x="9795281" y="4130040"/>
            <a:ext cx="2977401" cy="142494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Câu ViVQA có dòng OCR vô nghĩa (n = 1.328): không bị hại; chép nhầm OCR 0,3%</a:t>
            </a:r>
          </a:p>
        </p:txBody>
      </p:sp>
      <p:sp>
        <p:nvSpPr>
          <p:cNvPr name="Freeform 15" id="15"/>
          <p:cNvSpPr/>
          <p:nvPr/>
        </p:nvSpPr>
        <p:spPr>
          <a:xfrm flipH="false" flipV="false" rot="0">
            <a:off x="13647553" y="2383631"/>
            <a:ext cx="3833717" cy="4010978"/>
          </a:xfrm>
          <a:custGeom>
            <a:avLst/>
            <a:gdLst/>
            <a:ahLst/>
            <a:cxnLst/>
            <a:rect r="r" b="b" t="t" l="l"/>
            <a:pathLst>
              <a:path h="4010978" w="3833717">
                <a:moveTo>
                  <a:pt x="0" y="0"/>
                </a:moveTo>
                <a:lnTo>
                  <a:pt x="3833718" y="0"/>
                </a:lnTo>
                <a:lnTo>
                  <a:pt x="3833718" y="4010978"/>
                </a:lnTo>
                <a:lnTo>
                  <a:pt x="0" y="4010978"/>
                </a:lnTo>
                <a:lnTo>
                  <a:pt x="0" y="0"/>
                </a:lnTo>
                <a:close/>
              </a:path>
            </a:pathLst>
          </a:custGeom>
          <a:blipFill>
            <a:blip r:embed="rId5">
              <a:extLst>
                <a:ext uri="{96DAC541-7B7A-43D3-8B79-37D633B846F1}">
                  <asvg:svgBlip xmlns:asvg="http://schemas.microsoft.com/office/drawing/2016/SVG/main" r:embed="rId6"/>
                </a:ext>
              </a:extLst>
            </a:blip>
            <a:stretch>
              <a:fillRect l="0" t="-43" r="0" b="-43"/>
            </a:stretch>
          </a:blipFill>
        </p:spPr>
        <p:txBody>
          <a:bodyPr/>
          <a:p/>
        </p:txBody>
      </p:sp>
      <p:sp>
        <p:nvSpPr>
          <p:cNvPr name="TextBox 16" id="16"/>
          <p:cNvSpPr txBox="true"/>
          <p:nvPr/>
        </p:nvSpPr>
        <p:spPr>
          <a:xfrm rot="0">
            <a:off x="14075702" y="2979420"/>
            <a:ext cx="2977401" cy="1272540"/>
          </a:xfrm>
          <a:prstGeom prst="rect">
            <a:avLst/>
          </a:prstGeom>
        </p:spPr>
        <p:txBody>
          <a:bodyPr anchor="t" rtlCol="false" tIns="0" lIns="0" bIns="0" rIns="0">
            <a:spAutoFit/>
          </a:bodyPr>
          <a:lstStyle/>
          <a:p>
            <a:pPr algn="l">
              <a:lnSpc>
                <a:spcPts val="6480"/>
              </a:lnSpc>
            </a:pPr>
            <a:r>
              <a:rPr lang="en-US" sz="5400" b="true">
                <a:solidFill>
                  <a:srgbClr val="E8A33D"/>
                </a:solidFill>
                <a:latin typeface="Cambria Bold"/>
                <a:ea typeface="Cambria Bold"/>
                <a:cs typeface="Cambria Bold"/>
                <a:sym typeface="Cambria Bold"/>
              </a:rPr>
              <a:t>1</a:t>
            </a:r>
          </a:p>
        </p:txBody>
      </p:sp>
      <p:sp>
        <p:nvSpPr>
          <p:cNvPr name="TextBox 17" id="17"/>
          <p:cNvSpPr txBox="true"/>
          <p:nvPr/>
        </p:nvSpPr>
        <p:spPr>
          <a:xfrm rot="0">
            <a:off x="14075702" y="4130040"/>
            <a:ext cx="2977401" cy="1424940"/>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adapter (29,5 MB) thay vì 2; train 6,1 h = C1 + B3; demo không cần bộ chọn</a:t>
            </a:r>
          </a:p>
        </p:txBody>
      </p:sp>
      <p:sp>
        <p:nvSpPr>
          <p:cNvPr name="Freeform 18" id="18"/>
          <p:cNvSpPr/>
          <p:nvPr/>
        </p:nvSpPr>
        <p:spPr>
          <a:xfrm flipH="false" flipV="false" rot="0">
            <a:off x="806291" y="6841331"/>
            <a:ext cx="16674941" cy="1473517"/>
          </a:xfrm>
          <a:custGeom>
            <a:avLst/>
            <a:gdLst/>
            <a:ahLst/>
            <a:cxnLst/>
            <a:rect r="r" b="b" t="t" l="l"/>
            <a:pathLst>
              <a:path h="1473517" w="16674941">
                <a:moveTo>
                  <a:pt x="0" y="0"/>
                </a:moveTo>
                <a:lnTo>
                  <a:pt x="16674941" y="0"/>
                </a:lnTo>
                <a:lnTo>
                  <a:pt x="16674941" y="1473518"/>
                </a:lnTo>
                <a:lnTo>
                  <a:pt x="0" y="1473518"/>
                </a:lnTo>
                <a:lnTo>
                  <a:pt x="0" y="0"/>
                </a:lnTo>
                <a:close/>
              </a:path>
            </a:pathLst>
          </a:custGeom>
          <a:blipFill>
            <a:blip r:embed="rId7">
              <a:extLst>
                <a:ext uri="{96DAC541-7B7A-43D3-8B79-37D633B846F1}">
                  <asvg:svgBlip xmlns:asvg="http://schemas.microsoft.com/office/drawing/2016/SVG/main" r:embed="rId8"/>
                </a:ext>
              </a:extLst>
            </a:blip>
            <a:stretch>
              <a:fillRect l="0" t="-87" r="0" b="-86"/>
            </a:stretch>
          </a:blipFill>
        </p:spPr>
        <p:txBody>
          <a:bodyPr/>
          <a:p/>
        </p:txBody>
      </p:sp>
      <p:grpSp>
        <p:nvGrpSpPr>
          <p:cNvPr name="Group 19" id="19"/>
          <p:cNvGrpSpPr/>
          <p:nvPr/>
        </p:nvGrpSpPr>
        <p:grpSpPr>
          <a:xfrm rot="0">
            <a:off x="1303020" y="6858000"/>
            <a:ext cx="15681484" cy="1440180"/>
            <a:chOff x="0" y="0"/>
            <a:chExt cx="20908645" cy="1920240"/>
          </a:xfrm>
        </p:grpSpPr>
        <p:sp>
          <p:nvSpPr>
            <p:cNvPr name="Freeform 20" id="20"/>
            <p:cNvSpPr/>
            <p:nvPr/>
          </p:nvSpPr>
          <p:spPr>
            <a:xfrm flipH="false" flipV="false" rot="0">
              <a:off x="0" y="0"/>
              <a:ext cx="20908645" cy="1920240"/>
            </a:xfrm>
            <a:custGeom>
              <a:avLst/>
              <a:gdLst/>
              <a:ahLst/>
              <a:cxnLst/>
              <a:rect r="r" b="b" t="t" l="l"/>
              <a:pathLst>
                <a:path h="1920240" w="20908645">
                  <a:moveTo>
                    <a:pt x="0" y="0"/>
                  </a:moveTo>
                  <a:lnTo>
                    <a:pt x="20908645" y="0"/>
                  </a:lnTo>
                  <a:lnTo>
                    <a:pt x="20908645" y="1920240"/>
                  </a:lnTo>
                  <a:lnTo>
                    <a:pt x="0" y="1920240"/>
                  </a:lnTo>
                  <a:close/>
                </a:path>
              </a:pathLst>
            </a:custGeom>
            <a:blipFill>
              <a:blip r:embed="rId2">
                <a:alphaModFix amt="0"/>
              </a:blip>
              <a:stretch>
                <a:fillRect l="0" t="-162016" r="0" b="-162016"/>
              </a:stretch>
            </a:blipFill>
          </p:spPr>
          <p:txBody>
            <a:bodyPr/>
            <a:p/>
          </p:txBody>
        </p:sp>
      </p:grpSp>
      <p:grpSp>
        <p:nvGrpSpPr>
          <p:cNvPr name="Group 21" id="21"/>
          <p:cNvGrpSpPr/>
          <p:nvPr/>
        </p:nvGrpSpPr>
        <p:grpSpPr>
          <a:xfrm rot="0">
            <a:off x="1303020" y="6829425"/>
            <a:ext cx="15681484" cy="1468755"/>
            <a:chOff x="0" y="0"/>
            <a:chExt cx="20908645" cy="1958340"/>
          </a:xfrm>
        </p:grpSpPr>
        <p:sp>
          <p:nvSpPr>
            <p:cNvPr name="Freeform 22" id="22"/>
            <p:cNvSpPr/>
            <p:nvPr/>
          </p:nvSpPr>
          <p:spPr>
            <a:xfrm flipH="false" flipV="false" rot="0">
              <a:off x="0" y="0"/>
              <a:ext cx="20908645" cy="1958340"/>
            </a:xfrm>
            <a:custGeom>
              <a:avLst/>
              <a:gdLst/>
              <a:ahLst/>
              <a:cxnLst/>
              <a:rect r="r" b="b" t="t" l="l"/>
              <a:pathLst>
                <a:path h="1958340" w="20908645">
                  <a:moveTo>
                    <a:pt x="0" y="0"/>
                  </a:moveTo>
                  <a:lnTo>
                    <a:pt x="20908645" y="0"/>
                  </a:lnTo>
                  <a:lnTo>
                    <a:pt x="20908645" y="1958340"/>
                  </a:lnTo>
                  <a:lnTo>
                    <a:pt x="0" y="1958340"/>
                  </a:lnTo>
                  <a:close/>
                </a:path>
              </a:pathLst>
            </a:custGeom>
            <a:blipFill>
              <a:blip r:embed="rId9">
                <a:alphaModFix amt="0"/>
              </a:blip>
              <a:stretch>
                <a:fillRect l="0" t="-157891" r="0" b="-157891"/>
              </a:stretch>
            </a:blipFill>
          </p:spPr>
          <p:txBody>
            <a:bodyPr/>
            <a:p/>
          </p:txBody>
        </p:sp>
      </p:grpSp>
      <p:grpSp>
        <p:nvGrpSpPr>
          <p:cNvPr name="Group 23" id="23"/>
          <p:cNvGrpSpPr/>
          <p:nvPr/>
        </p:nvGrpSpPr>
        <p:grpSpPr>
          <a:xfrm rot="0">
            <a:off x="1303020" y="6800850"/>
            <a:ext cx="15681503" cy="1497330"/>
            <a:chOff x="0" y="0"/>
            <a:chExt cx="20908670" cy="1996440"/>
          </a:xfrm>
        </p:grpSpPr>
        <p:sp>
          <p:nvSpPr>
            <p:cNvPr name="Freeform 24" id="24"/>
            <p:cNvSpPr/>
            <p:nvPr/>
          </p:nvSpPr>
          <p:spPr>
            <a:xfrm flipH="false" flipV="false" rot="0">
              <a:off x="0" y="0"/>
              <a:ext cx="20908645" cy="1996440"/>
            </a:xfrm>
            <a:custGeom>
              <a:avLst/>
              <a:gdLst/>
              <a:ahLst/>
              <a:cxnLst/>
              <a:rect r="r" b="b" t="t" l="l"/>
              <a:pathLst>
                <a:path h="1996440" w="20908645">
                  <a:moveTo>
                    <a:pt x="0" y="0"/>
                  </a:moveTo>
                  <a:lnTo>
                    <a:pt x="20908645" y="0"/>
                  </a:lnTo>
                  <a:lnTo>
                    <a:pt x="20908645" y="1996440"/>
                  </a:lnTo>
                  <a:lnTo>
                    <a:pt x="0" y="1996440"/>
                  </a:lnTo>
                  <a:close/>
                </a:path>
              </a:pathLst>
            </a:custGeom>
            <a:blipFill>
              <a:blip r:embed="rId10">
                <a:alphaModFix amt="0"/>
              </a:blip>
              <a:stretch>
                <a:fillRect l="0" t="-153924" r="0" b="-153924"/>
              </a:stretch>
            </a:blipFill>
          </p:spPr>
          <p:txBody>
            <a:bodyPr/>
            <a:p/>
          </p:txBody>
        </p:sp>
      </p:grpSp>
      <p:grpSp>
        <p:nvGrpSpPr>
          <p:cNvPr name="Group 25" id="25"/>
          <p:cNvGrpSpPr/>
          <p:nvPr/>
        </p:nvGrpSpPr>
        <p:grpSpPr>
          <a:xfrm rot="0">
            <a:off x="1303020" y="6772275"/>
            <a:ext cx="15681503" cy="1525905"/>
            <a:chOff x="0" y="0"/>
            <a:chExt cx="20908670" cy="2034540"/>
          </a:xfrm>
        </p:grpSpPr>
        <p:sp>
          <p:nvSpPr>
            <p:cNvPr name="Freeform 26" id="26"/>
            <p:cNvSpPr/>
            <p:nvPr/>
          </p:nvSpPr>
          <p:spPr>
            <a:xfrm flipH="false" flipV="false" rot="0">
              <a:off x="0" y="0"/>
              <a:ext cx="20908671" cy="2034540"/>
            </a:xfrm>
            <a:custGeom>
              <a:avLst/>
              <a:gdLst/>
              <a:ahLst/>
              <a:cxnLst/>
              <a:rect r="r" b="b" t="t" l="l"/>
              <a:pathLst>
                <a:path h="2034540" w="20908671">
                  <a:moveTo>
                    <a:pt x="0" y="0"/>
                  </a:moveTo>
                  <a:lnTo>
                    <a:pt x="20908671" y="0"/>
                  </a:lnTo>
                  <a:lnTo>
                    <a:pt x="20908671" y="2034540"/>
                  </a:lnTo>
                  <a:lnTo>
                    <a:pt x="0" y="2034540"/>
                  </a:lnTo>
                  <a:close/>
                </a:path>
              </a:pathLst>
            </a:custGeom>
            <a:blipFill>
              <a:blip r:embed="rId11">
                <a:alphaModFix amt="0"/>
              </a:blip>
              <a:stretch>
                <a:fillRect l="0" t="-150244" r="0" b="-150244"/>
              </a:stretch>
            </a:blipFill>
          </p:spPr>
          <p:txBody>
            <a:bodyPr/>
            <a:p/>
          </p:txBody>
        </p:sp>
        <p:sp>
          <p:nvSpPr>
            <p:cNvPr name="TextBox 27" id="27"/>
            <p:cNvSpPr txBox="true"/>
            <p:nvPr/>
          </p:nvSpPr>
          <p:spPr>
            <a:xfrm>
              <a:off x="0" y="-38100"/>
              <a:ext cx="20908670" cy="2072640"/>
            </a:xfrm>
            <a:prstGeom prst="rect">
              <a:avLst/>
            </a:prstGeom>
          </p:spPr>
          <p:txBody>
            <a:bodyPr anchor="ctr" rtlCol="false" tIns="0" lIns="0" bIns="0" rIns="0"/>
            <a:lstStyle/>
            <a:p>
              <a:pPr algn="l">
                <a:lnSpc>
                  <a:spcPts val="2879"/>
                </a:lnSpc>
              </a:pPr>
              <a:r>
                <a:rPr lang="en-US" sz="2400">
                  <a:solidFill>
                    <a:srgbClr val="13294B"/>
                  </a:solidFill>
                  <a:latin typeface="Calibri (MS)"/>
                  <a:ea typeface="Calibri (MS)"/>
                  <a:cs typeface="Calibri (MS)"/>
                  <a:sym typeface="Calibri (MS)"/>
                </a:rPr>
                <a:t>So với adapter riêng: ΔEM −0,27 (ViVQA) và +0,25 (ViTextVQA), CI95 đều chứa 0. Đánh đổi: SH là bản rẻ (1 epoch ViVQA, 23% ViTextVQA), thấp hơn C3 3,1 và B3-full 4,4 EM → bảng chính giữ C3 / B3-full; prototype dùng SH.</a:t>
              </a:r>
            </a:p>
          </p:txBody>
        </p:sp>
      </p:grpSp>
      <p:grpSp>
        <p:nvGrpSpPr>
          <p:cNvPr name="Group 28" id="28"/>
          <p:cNvGrpSpPr/>
          <p:nvPr/>
        </p:nvGrpSpPr>
        <p:grpSpPr>
          <a:xfrm rot="0">
            <a:off x="15458732" y="0"/>
            <a:ext cx="2829306" cy="1184338"/>
            <a:chOff x="0" y="0"/>
            <a:chExt cx="3772408" cy="1579118"/>
          </a:xfrm>
        </p:grpSpPr>
        <p:sp>
          <p:nvSpPr>
            <p:cNvPr name="Freeform 29" id="29"/>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12"/>
              <a:stretch>
                <a:fillRect l="0" t="0" r="0" b="0"/>
              </a:stretch>
            </a:blipFill>
          </p:spPr>
          <p:txBody>
            <a:bodyPr/>
            <a:p/>
          </p:txBody>
        </p:sp>
      </p:grpSp>
      <p:grpSp>
        <p:nvGrpSpPr>
          <p:cNvPr name="Group 30" id="30"/>
          <p:cNvGrpSpPr/>
          <p:nvPr/>
        </p:nvGrpSpPr>
        <p:grpSpPr>
          <a:xfrm rot="0">
            <a:off x="822960" y="9641205"/>
            <a:ext cx="13716000" cy="440055"/>
            <a:chOff x="0" y="0"/>
            <a:chExt cx="18288000" cy="586740"/>
          </a:xfrm>
        </p:grpSpPr>
        <p:sp>
          <p:nvSpPr>
            <p:cNvPr name="Freeform 31" id="31"/>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9">
                <a:alphaModFix amt="0"/>
              </a:blip>
              <a:stretch>
                <a:fillRect l="0" t="-556902" r="0" b="-556904"/>
              </a:stretch>
            </a:blipFill>
          </p:spPr>
          <p:txBody>
            <a:bodyPr/>
            <a:p/>
          </p:txBody>
        </p:sp>
      </p:grpSp>
      <p:grpSp>
        <p:nvGrpSpPr>
          <p:cNvPr name="Group 32" id="32"/>
          <p:cNvGrpSpPr/>
          <p:nvPr/>
        </p:nvGrpSpPr>
        <p:grpSpPr>
          <a:xfrm rot="0">
            <a:off x="822960" y="9612630"/>
            <a:ext cx="13716000" cy="468630"/>
            <a:chOff x="0" y="0"/>
            <a:chExt cx="18288000" cy="624840"/>
          </a:xfrm>
        </p:grpSpPr>
        <p:sp>
          <p:nvSpPr>
            <p:cNvPr name="Freeform 33" id="33"/>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10">
                <a:alphaModFix amt="0"/>
              </a:blip>
              <a:stretch>
                <a:fillRect l="0" t="-519896" r="0" b="-519898"/>
              </a:stretch>
            </a:blipFill>
          </p:spPr>
          <p:txBody>
            <a:bodyPr/>
            <a:p/>
          </p:txBody>
        </p:sp>
      </p:grpSp>
      <p:grpSp>
        <p:nvGrpSpPr>
          <p:cNvPr name="Group 34" id="34"/>
          <p:cNvGrpSpPr/>
          <p:nvPr/>
        </p:nvGrpSpPr>
        <p:grpSpPr>
          <a:xfrm rot="0">
            <a:off x="822960" y="9584055"/>
            <a:ext cx="13716000" cy="497205"/>
            <a:chOff x="0" y="0"/>
            <a:chExt cx="18288000" cy="662940"/>
          </a:xfrm>
        </p:grpSpPr>
        <p:sp>
          <p:nvSpPr>
            <p:cNvPr name="Freeform 35" id="35"/>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11">
                <a:alphaModFix amt="0"/>
              </a:blip>
              <a:stretch>
                <a:fillRect l="0" t="-487518" r="0" b="-487518"/>
              </a:stretch>
            </a:blipFill>
          </p:spPr>
          <p:txBody>
            <a:bodyPr/>
            <a:p/>
          </p:txBody>
        </p:sp>
        <p:sp>
          <p:nvSpPr>
            <p:cNvPr name="TextBox 36" id="36"/>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669780"/>
            <a:ext cx="13716000" cy="411480"/>
            <a:chOff x="0" y="0"/>
            <a:chExt cx="18288000" cy="548640"/>
          </a:xfrm>
        </p:grpSpPr>
        <p:sp>
          <p:nvSpPr>
            <p:cNvPr name="Freeform 3" id="3"/>
            <p:cNvSpPr/>
            <p:nvPr/>
          </p:nvSpPr>
          <p:spPr>
            <a:xfrm flipH="false" flipV="false" rot="0">
              <a:off x="0" y="0"/>
              <a:ext cx="18288000" cy="548640"/>
            </a:xfrm>
            <a:custGeom>
              <a:avLst/>
              <a:gdLst/>
              <a:ahLst/>
              <a:cxnLst/>
              <a:rect r="r" b="b" t="t" l="l"/>
              <a:pathLst>
                <a:path h="548640" w="18288000">
                  <a:moveTo>
                    <a:pt x="0" y="0"/>
                  </a:moveTo>
                  <a:lnTo>
                    <a:pt x="18288000" y="0"/>
                  </a:lnTo>
                  <a:lnTo>
                    <a:pt x="18288000" y="548640"/>
                  </a:lnTo>
                  <a:lnTo>
                    <a:pt x="0" y="548640"/>
                  </a:lnTo>
                  <a:close/>
                </a:path>
              </a:pathLst>
            </a:custGeom>
            <a:blipFill>
              <a:blip r:embed="rId2">
                <a:alphaModFix amt="0"/>
              </a:blip>
              <a:stretch>
                <a:fillRect l="0" t="-599048" r="0" b="-599050"/>
              </a:stretch>
            </a:blipFill>
          </p:spPr>
          <p:txBody>
            <a:bodyPr/>
            <a:p/>
          </p:txBody>
        </p:sp>
      </p:grpSp>
      <p:sp>
        <p:nvSpPr>
          <p:cNvPr name="TextBox 4" id="4"/>
          <p:cNvSpPr txBox="true"/>
          <p:nvPr/>
        </p:nvSpPr>
        <p:spPr>
          <a:xfrm rot="0">
            <a:off x="822960" y="324612"/>
            <a:ext cx="16641623" cy="525780"/>
          </a:xfrm>
          <a:prstGeom prst="rect">
            <a:avLst/>
          </a:prstGeom>
        </p:spPr>
        <p:txBody>
          <a:bodyPr anchor="t" rtlCol="false" tIns="0" lIns="0" bIns="0" rIns="0">
            <a:spAutoFit/>
          </a:bodyPr>
          <a:lstStyle/>
          <a:p>
            <a:pPr algn="l">
              <a:lnSpc>
                <a:spcPts val="1980"/>
              </a:lnSpc>
            </a:pPr>
            <a:r>
              <a:rPr lang="en-US" b="true" sz="1650" spc="297">
                <a:solidFill>
                  <a:srgbClr val="1C7293"/>
                </a:solidFill>
                <a:latin typeface="Calibri (MS) Bold"/>
                <a:ea typeface="Calibri (MS) Bold"/>
                <a:cs typeface="Calibri (MS) Bold"/>
                <a:sym typeface="Calibri (MS) Bold"/>
              </a:rPr>
              <a:t>PHỤ LỤC · P8 · KẾT QUẢ THEO LOẠI CÂU HỎI</a:t>
            </a:r>
          </a:p>
        </p:txBody>
      </p:sp>
      <p:grpSp>
        <p:nvGrpSpPr>
          <p:cNvPr name="Group 5" id="5"/>
          <p:cNvGrpSpPr/>
          <p:nvPr/>
        </p:nvGrpSpPr>
        <p:grpSpPr>
          <a:xfrm rot="0">
            <a:off x="15458732" y="0"/>
            <a:ext cx="2829306" cy="1184338"/>
            <a:chOff x="0" y="0"/>
            <a:chExt cx="3772408" cy="1579118"/>
          </a:xfrm>
        </p:grpSpPr>
        <p:sp>
          <p:nvSpPr>
            <p:cNvPr name="Freeform 6" id="6"/>
            <p:cNvSpPr/>
            <p:nvPr/>
          </p:nvSpPr>
          <p:spPr>
            <a:xfrm flipH="false" flipV="false" rot="0">
              <a:off x="0" y="0"/>
              <a:ext cx="3772408" cy="1579118"/>
            </a:xfrm>
            <a:custGeom>
              <a:avLst/>
              <a:gdLst/>
              <a:ahLst/>
              <a:cxnLst/>
              <a:rect r="r" b="b" t="t" l="l"/>
              <a:pathLst>
                <a:path h="1579118" w="3772408">
                  <a:moveTo>
                    <a:pt x="0" y="0"/>
                  </a:moveTo>
                  <a:lnTo>
                    <a:pt x="3772408" y="0"/>
                  </a:lnTo>
                  <a:lnTo>
                    <a:pt x="3772408" y="1579118"/>
                  </a:lnTo>
                  <a:lnTo>
                    <a:pt x="0" y="1579118"/>
                  </a:lnTo>
                  <a:lnTo>
                    <a:pt x="0" y="0"/>
                  </a:lnTo>
                  <a:close/>
                </a:path>
              </a:pathLst>
            </a:custGeom>
            <a:blipFill>
              <a:blip r:embed="rId3"/>
              <a:stretch>
                <a:fillRect l="0" t="0" r="0" b="0"/>
              </a:stretch>
            </a:blipFill>
          </p:spPr>
          <p:txBody>
            <a:bodyPr/>
            <a:p/>
          </p:txBody>
        </p:sp>
      </p:grpSp>
      <p:sp>
        <p:nvSpPr>
          <p:cNvPr name="TextBox 7" id="7"/>
          <p:cNvSpPr txBox="true"/>
          <p:nvPr/>
        </p:nvSpPr>
        <p:spPr>
          <a:xfrm rot="0">
            <a:off x="822960" y="812292"/>
            <a:ext cx="16641623" cy="998220"/>
          </a:xfrm>
          <a:prstGeom prst="rect">
            <a:avLst/>
          </a:prstGeom>
        </p:spPr>
        <p:txBody>
          <a:bodyPr anchor="t" rtlCol="false" tIns="0" lIns="0" bIns="0" rIns="0">
            <a:spAutoFit/>
          </a:bodyPr>
          <a:lstStyle/>
          <a:p>
            <a:pPr algn="l">
              <a:lnSpc>
                <a:spcPts val="5759"/>
              </a:lnSpc>
            </a:pPr>
            <a:r>
              <a:rPr lang="en-US" sz="4800" b="true">
                <a:solidFill>
                  <a:srgbClr val="13294B"/>
                </a:solidFill>
                <a:latin typeface="Cambria Bold"/>
                <a:ea typeface="Cambria Bold"/>
                <a:cs typeface="Cambria Bold"/>
                <a:sym typeface="Cambria Bold"/>
              </a:rPr>
              <a:t>OCR giúp nhiều nhất ở câu phải chép đúng từng ký tự</a:t>
            </a:r>
          </a:p>
        </p:txBody>
      </p:sp>
      <p:graphicFrame>
        <p:nvGraphicFramePr>
          <p:cNvPr name="Table 8" id="8"/>
          <p:cNvGraphicFramePr>
            <a:graphicFrameLocks noGrp="true"/>
          </p:cNvGraphicFramePr>
          <p:nvPr/>
        </p:nvGraphicFramePr>
        <p:xfrm>
          <a:off x="822960" y="2011680"/>
          <a:ext cx="10782300" cy="6007100"/>
        </p:xfrm>
        <a:graphic>
          <a:graphicData uri="http://schemas.openxmlformats.org/drawingml/2006/table">
            <a:tbl>
              <a:tblPr/>
              <a:tblGrid>
                <a:gridCol w="4468959"/>
                <a:gridCol w="1335611"/>
                <a:gridCol w="1335611"/>
                <a:gridCol w="1512139"/>
                <a:gridCol w="2129981"/>
              </a:tblGrid>
              <a:tr h="546100">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Loại câu hỏi (số câu)</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B1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B2</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B3-full</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c>
                  <a:txBody>
                    <a:bodyPr anchor="t" rtlCol="false"/>
                    <a:lstStyle/>
                    <a:p>
                      <a:pPr algn="l">
                        <a:lnSpc>
                          <a:spcPts val="2340"/>
                        </a:lnSpc>
                        <a:defRPr/>
                      </a:pPr>
                      <a:r>
                        <a:rPr lang="en-US" sz="1950" b="true">
                          <a:solidFill>
                            <a:srgbClr val="FFFFFF"/>
                          </a:solidFill>
                          <a:latin typeface="Calibri (MS) Bold"/>
                          <a:ea typeface="Calibri (MS) Bold"/>
                          <a:cs typeface="Calibri (MS) Bold"/>
                          <a:sym typeface="Calibri (MS) Bold"/>
                        </a:rPr>
                        <a:t>Δ B2 → B3-full</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solidFill>
                      <a:srgbClr val="13294B"/>
                    </a:solidFill>
                  </a:tcPr>
                </a:tc>
              </a:tr>
              <a:tr h="546100">
                <a:tc>
                  <a:txBody>
                    <a:bodyPr anchor="t" rtlCol="false"/>
                    <a:lstStyle/>
                    <a:p>
                      <a:pPr algn="l">
                        <a:lnSpc>
                          <a:spcPts val="2520"/>
                        </a:lnSpc>
                        <a:defRPr/>
                      </a:pPr>
                      <a:r>
                        <a:rPr lang="en-US" sz="2100">
                          <a:solidFill>
                            <a:srgbClr val="243044"/>
                          </a:solidFill>
                          <a:latin typeface="Calibri (MS)"/>
                          <a:ea typeface="Calibri (MS)"/>
                          <a:cs typeface="Calibri (MS)"/>
                          <a:sym typeface="Calibri (MS)"/>
                        </a:rPr>
                        <a:t>Liên hệ: SĐT, web (641)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47,9</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55,5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64,1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+8,6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546100">
                <a:tc>
                  <a:txBody>
                    <a:bodyPr anchor="t" rtlCol="false"/>
                    <a:lstStyle/>
                    <a:p>
                      <a:pPr algn="l">
                        <a:lnSpc>
                          <a:spcPts val="2520"/>
                        </a:lnSpc>
                        <a:defRPr/>
                      </a:pPr>
                      <a:r>
                        <a:rPr lang="en-US" sz="2100">
                          <a:solidFill>
                            <a:srgbClr val="243044"/>
                          </a:solidFill>
                          <a:latin typeface="Calibri (MS)"/>
                          <a:ea typeface="Calibri (MS)"/>
                          <a:cs typeface="Calibri (MS)"/>
                          <a:sym typeface="Calibri (MS)"/>
                        </a:rPr>
                        <a:t>Tên người (420)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40,7</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54,8</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61,2</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+6,4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546100">
                <a:tc>
                  <a:txBody>
                    <a:bodyPr anchor="t" rtlCol="false"/>
                    <a:lstStyle/>
                    <a:p>
                      <a:pPr algn="l">
                        <a:lnSpc>
                          <a:spcPts val="2520"/>
                        </a:lnSpc>
                        <a:defRPr/>
                      </a:pPr>
                      <a:r>
                        <a:rPr lang="en-US" sz="2100">
                          <a:solidFill>
                            <a:srgbClr val="243044"/>
                          </a:solidFill>
                          <a:latin typeface="Calibri (MS)"/>
                          <a:ea typeface="Calibri (MS)"/>
                          <a:cs typeface="Calibri (MS)"/>
                          <a:sym typeface="Calibri (MS)"/>
                        </a:rPr>
                        <a:t>Khác ⚠ (2.404)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21,5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46,1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49,6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+3,5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546100">
                <a:tc>
                  <a:txBody>
                    <a:bodyPr anchor="t" rtlCol="false"/>
                    <a:lstStyle/>
                    <a:p>
                      <a:pPr algn="l">
                        <a:lnSpc>
                          <a:spcPts val="2520"/>
                        </a:lnSpc>
                        <a:defRPr/>
                      </a:pPr>
                      <a:r>
                        <a:rPr lang="en-US" sz="2100">
                          <a:solidFill>
                            <a:srgbClr val="243044"/>
                          </a:solidFill>
                          <a:latin typeface="Calibri (MS)"/>
                          <a:ea typeface="Calibri (MS)"/>
                          <a:cs typeface="Calibri (MS)"/>
                          <a:sym typeface="Calibri (MS)"/>
                        </a:rPr>
                        <a:t>Số, thời gian (1.041)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41,2</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55,7</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58,8</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+3,1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546100">
                <a:tc>
                  <a:txBody>
                    <a:bodyPr anchor="t" rtlCol="false"/>
                    <a:lstStyle/>
                    <a:p>
                      <a:pPr algn="l">
                        <a:lnSpc>
                          <a:spcPts val="2520"/>
                        </a:lnSpc>
                        <a:defRPr/>
                      </a:pPr>
                      <a:r>
                        <a:rPr lang="en-US" sz="2100">
                          <a:solidFill>
                            <a:srgbClr val="243044"/>
                          </a:solidFill>
                          <a:latin typeface="Calibri (MS)"/>
                          <a:ea typeface="Calibri (MS)"/>
                          <a:cs typeface="Calibri (MS)"/>
                          <a:sym typeface="Calibri (MS)"/>
                        </a:rPr>
                        <a:t>Địa điểm (969)</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25,3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44,0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47,0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+3,0</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546100">
                <a:tc>
                  <a:txBody>
                    <a:bodyPr anchor="t" rtlCol="false"/>
                    <a:lstStyle/>
                    <a:p>
                      <a:pPr algn="l">
                        <a:lnSpc>
                          <a:spcPts val="2520"/>
                        </a:lnSpc>
                        <a:defRPr/>
                      </a:pPr>
                      <a:r>
                        <a:rPr lang="en-US" sz="2100">
                          <a:solidFill>
                            <a:srgbClr val="243044"/>
                          </a:solidFill>
                          <a:latin typeface="Calibri (MS)"/>
                          <a:ea typeface="Calibri (MS)"/>
                          <a:cs typeface="Calibri (MS)"/>
                          <a:sym typeface="Calibri (MS)"/>
                        </a:rPr>
                        <a:t>Nội dung chữ ⚠ (777)</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27,4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48,6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51,1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546100">
                <a:tc>
                  <a:txBody>
                    <a:bodyPr anchor="t" rtlCol="false"/>
                    <a:lstStyle/>
                    <a:p>
                      <a:pPr algn="l">
                        <a:lnSpc>
                          <a:spcPts val="2520"/>
                        </a:lnSpc>
                        <a:defRPr/>
                      </a:pPr>
                      <a:r>
                        <a:rPr lang="en-US" sz="2100">
                          <a:solidFill>
                            <a:srgbClr val="243044"/>
                          </a:solidFill>
                          <a:latin typeface="Calibri (MS)"/>
                          <a:ea typeface="Calibri (MS)"/>
                          <a:cs typeface="Calibri (MS)"/>
                          <a:sym typeface="Calibri (MS)"/>
                        </a:rPr>
                        <a:t>Tên riêng ⚠ (1.971)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34,9</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55,7</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57,6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+1,9</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546100">
                <a:tc>
                  <a:txBody>
                    <a:bodyPr anchor="t" rtlCol="false"/>
                    <a:lstStyle/>
                    <a:p>
                      <a:pPr algn="l">
                        <a:lnSpc>
                          <a:spcPts val="2520"/>
                        </a:lnSpc>
                        <a:defRPr/>
                      </a:pPr>
                      <a:r>
                        <a:rPr lang="en-US" sz="2100">
                          <a:solidFill>
                            <a:srgbClr val="243044"/>
                          </a:solidFill>
                          <a:latin typeface="Calibri (MS)"/>
                          <a:ea typeface="Calibri (MS)"/>
                          <a:cs typeface="Calibri (MS)"/>
                          <a:sym typeface="Calibri (MS)"/>
                        </a:rPr>
                        <a:t>Sản phẩm, dịch vụ (1.144)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16,5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42,5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44,1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+1,6</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546100">
                <a:tc>
                  <a:txBody>
                    <a:bodyPr anchor="t" rtlCol="false"/>
                    <a:lstStyle/>
                    <a:p>
                      <a:pPr algn="l">
                        <a:lnSpc>
                          <a:spcPts val="2520"/>
                        </a:lnSpc>
                        <a:defRPr/>
                      </a:pPr>
                      <a:r>
                        <a:rPr lang="en-US" sz="2100">
                          <a:solidFill>
                            <a:srgbClr val="243044"/>
                          </a:solidFill>
                          <a:latin typeface="Calibri (MS)"/>
                          <a:ea typeface="Calibri (MS)"/>
                          <a:cs typeface="Calibri (MS)"/>
                          <a:sym typeface="Calibri (MS)"/>
                        </a:rPr>
                        <a:t>Nguồn ảnh (661)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24,5</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57,2</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58,1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a:solidFill>
                            <a:srgbClr val="243044"/>
                          </a:solidFill>
                          <a:latin typeface="Calibri (MS)"/>
                          <a:ea typeface="Calibri (MS)"/>
                          <a:cs typeface="Calibri (MS)"/>
                          <a:sym typeface="Calibri (MS)"/>
                        </a:rPr>
                        <a:t>+0,9</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r h="546100">
                <a:tc>
                  <a:txBody>
                    <a:bodyPr anchor="t" rtlCol="false"/>
                    <a:lstStyle/>
                    <a:p>
                      <a:pPr algn="l">
                        <a:lnSpc>
                          <a:spcPts val="2520"/>
                        </a:lnSpc>
                        <a:defRPr/>
                      </a:pPr>
                      <a:r>
                        <a:rPr lang="en-US" sz="2100" b="true">
                          <a:solidFill>
                            <a:srgbClr val="243044"/>
                          </a:solidFill>
                          <a:latin typeface="Calibri (MS) Bold"/>
                          <a:ea typeface="Calibri (MS) Bold"/>
                          <a:cs typeface="Calibri (MS) Bold"/>
                          <a:sym typeface="Calibri (MS) Bold"/>
                        </a:rPr>
                        <a:t>Tất cả (10.028)</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b="true">
                          <a:solidFill>
                            <a:srgbClr val="243044"/>
                          </a:solidFill>
                          <a:latin typeface="Calibri (MS) Bold"/>
                          <a:ea typeface="Calibri (MS) Bold"/>
                          <a:cs typeface="Calibri (MS) Bold"/>
                          <a:sym typeface="Calibri (MS) Bold"/>
                        </a:rPr>
                        <a:t>29,1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b="true">
                          <a:solidFill>
                            <a:srgbClr val="243044"/>
                          </a:solidFill>
                          <a:latin typeface="Calibri (MS) Bold"/>
                          <a:ea typeface="Calibri (MS) Bold"/>
                          <a:cs typeface="Calibri (MS) Bold"/>
                          <a:sym typeface="Calibri (MS) Bold"/>
                        </a:rPr>
                        <a:t>50,3</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b="true">
                          <a:solidFill>
                            <a:srgbClr val="243044"/>
                          </a:solidFill>
                          <a:latin typeface="Calibri (MS) Bold"/>
                          <a:ea typeface="Calibri (MS) Bold"/>
                          <a:cs typeface="Calibri (MS) Bold"/>
                          <a:sym typeface="Calibri (MS) Bold"/>
                        </a:rPr>
                        <a:t>53,4</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c>
                  <a:txBody>
                    <a:bodyPr anchor="t" rtlCol="false"/>
                    <a:lstStyle/>
                    <a:p>
                      <a:pPr algn="ctr">
                        <a:lnSpc>
                          <a:spcPts val="2520"/>
                        </a:lnSpc>
                        <a:defRPr/>
                      </a:pPr>
                      <a:r>
                        <a:rPr lang="en-US" sz="2100" b="true">
                          <a:solidFill>
                            <a:srgbClr val="243044"/>
                          </a:solidFill>
                          <a:latin typeface="Calibri (MS) Bold"/>
                          <a:ea typeface="Calibri (MS) Bold"/>
                          <a:cs typeface="Calibri (MS) Bold"/>
                          <a:sym typeface="Calibri (MS) Bold"/>
                        </a:rPr>
                        <a:t>+3,1</a:t>
                      </a:r>
                      <a:endParaRPr lang="en-US" sz="1100"/>
                    </a:p>
                  </a:txBody>
                  <a:tcPr marL="76200" marR="76200" marT="76200" marB="76200" anchor="t">
                    <a:lnL cmpd="sng" algn="ctr" cap="flat" w="9525">
                      <a:solidFill>
                        <a:srgbClr val="E2E7EE"/>
                      </a:solidFill>
                      <a:prstDash val="solid"/>
                      <a:round/>
                      <a:headEnd type="none" w="med" len="med"/>
                      <a:tailEnd type="none" w="med" len="med"/>
                    </a:lnL>
                    <a:lnR cmpd="sng" algn="ctr" cap="flat" w="9525">
                      <a:solidFill>
                        <a:srgbClr val="E2E7EE"/>
                      </a:solidFill>
                      <a:prstDash val="solid"/>
                      <a:round/>
                      <a:headEnd type="none" w="med" len="med"/>
                      <a:tailEnd type="none" w="med" len="med"/>
                    </a:lnR>
                    <a:lnT cmpd="sng" algn="ctr" cap="flat" w="9525">
                      <a:solidFill>
                        <a:srgbClr val="E2E7EE"/>
                      </a:solidFill>
                      <a:prstDash val="solid"/>
                      <a:round/>
                      <a:headEnd type="none" w="med" len="med"/>
                      <a:tailEnd type="none" w="med" len="med"/>
                    </a:lnT>
                    <a:lnB cmpd="sng" algn="ctr" cap="flat" w="9525">
                      <a:solidFill>
                        <a:srgbClr val="E2E7EE"/>
                      </a:solidFill>
                      <a:prstDash val="solid"/>
                      <a:round/>
                      <a:headEnd type="none" w="med" len="med"/>
                      <a:tailEnd type="none" w="med" len="med"/>
                    </a:lnB>
                  </a:tcPr>
                </a:tc>
              </a:tr>
            </a:tbl>
          </a:graphicData>
        </a:graphic>
      </p:graphicFrame>
      <p:sp>
        <p:nvSpPr>
          <p:cNvPr name="Freeform 9" id="9"/>
          <p:cNvSpPr/>
          <p:nvPr/>
        </p:nvSpPr>
        <p:spPr>
          <a:xfrm flipH="false" flipV="false" rot="0">
            <a:off x="12016883" y="2006394"/>
            <a:ext cx="5455691" cy="1903381"/>
          </a:xfrm>
          <a:custGeom>
            <a:avLst/>
            <a:gdLst/>
            <a:ahLst/>
            <a:cxnLst/>
            <a:rect r="r" b="b" t="t" l="l"/>
            <a:pathLst>
              <a:path h="1903381" w="5455691">
                <a:moveTo>
                  <a:pt x="0" y="0"/>
                </a:moveTo>
                <a:lnTo>
                  <a:pt x="5455691" y="0"/>
                </a:lnTo>
                <a:lnTo>
                  <a:pt x="5455691" y="1903380"/>
                </a:lnTo>
                <a:lnTo>
                  <a:pt x="0" y="1903380"/>
                </a:lnTo>
                <a:lnTo>
                  <a:pt x="0" y="0"/>
                </a:lnTo>
                <a:close/>
              </a:path>
            </a:pathLst>
          </a:custGeom>
          <a:blipFill>
            <a:blip r:embed="rId4">
              <a:extLst>
                <a:ext uri="{96DAC541-7B7A-43D3-8B79-37D633B846F1}">
                  <asvg:svgBlip xmlns:asvg="http://schemas.microsoft.com/office/drawing/2016/SVG/main" r:embed="rId5"/>
                </a:ext>
              </a:extLst>
            </a:blip>
            <a:stretch>
              <a:fillRect l="0" t="-23" r="0" b="-23"/>
            </a:stretch>
          </a:blipFill>
        </p:spPr>
        <p:txBody>
          <a:bodyPr/>
          <a:p/>
        </p:txBody>
      </p:sp>
      <p:sp>
        <p:nvSpPr>
          <p:cNvPr name="TextBox 10" id="10"/>
          <p:cNvSpPr txBox="true"/>
          <p:nvPr/>
        </p:nvSpPr>
        <p:spPr>
          <a:xfrm rot="0">
            <a:off x="12344400" y="2052828"/>
            <a:ext cx="4846320" cy="772668"/>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Chép chính xác: lợi nhiều nhất</a:t>
            </a:r>
          </a:p>
        </p:txBody>
      </p:sp>
      <p:sp>
        <p:nvSpPr>
          <p:cNvPr name="TextBox 11" id="11"/>
          <p:cNvSpPr txBox="true"/>
          <p:nvPr/>
        </p:nvSpPr>
        <p:spPr>
          <a:xfrm rot="0">
            <a:off x="12344400" y="2646045"/>
            <a:ext cx="4846320" cy="1194435"/>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Liên hệ +8,6; bỏ OCR khỏi B3 thì loại này giảm mạnh nhất (64,4 → 53,0)</a:t>
            </a:r>
          </a:p>
        </p:txBody>
      </p:sp>
      <p:sp>
        <p:nvSpPr>
          <p:cNvPr name="Freeform 12" id="12"/>
          <p:cNvSpPr/>
          <p:nvPr/>
        </p:nvSpPr>
        <p:spPr>
          <a:xfrm flipH="false" flipV="false" rot="0">
            <a:off x="12016883" y="4082082"/>
            <a:ext cx="5455691" cy="1903381"/>
          </a:xfrm>
          <a:custGeom>
            <a:avLst/>
            <a:gdLst/>
            <a:ahLst/>
            <a:cxnLst/>
            <a:rect r="r" b="b" t="t" l="l"/>
            <a:pathLst>
              <a:path h="1903381" w="5455691">
                <a:moveTo>
                  <a:pt x="0" y="0"/>
                </a:moveTo>
                <a:lnTo>
                  <a:pt x="5455691" y="0"/>
                </a:lnTo>
                <a:lnTo>
                  <a:pt x="5455691" y="1903380"/>
                </a:lnTo>
                <a:lnTo>
                  <a:pt x="0" y="1903380"/>
                </a:lnTo>
                <a:lnTo>
                  <a:pt x="0" y="0"/>
                </a:lnTo>
                <a:close/>
              </a:path>
            </a:pathLst>
          </a:custGeom>
          <a:blipFill>
            <a:blip r:embed="rId4">
              <a:extLst>
                <a:ext uri="{96DAC541-7B7A-43D3-8B79-37D633B846F1}">
                  <asvg:svgBlip xmlns:asvg="http://schemas.microsoft.com/office/drawing/2016/SVG/main" r:embed="rId5"/>
                </a:ext>
              </a:extLst>
            </a:blip>
            <a:stretch>
              <a:fillRect l="0" t="-23" r="0" b="-23"/>
            </a:stretch>
          </a:blipFill>
        </p:spPr>
        <p:txBody>
          <a:bodyPr/>
          <a:p/>
        </p:txBody>
      </p:sp>
      <p:sp>
        <p:nvSpPr>
          <p:cNvPr name="TextBox 13" id="13"/>
          <p:cNvSpPr txBox="true"/>
          <p:nvPr/>
        </p:nvSpPr>
        <p:spPr>
          <a:xfrm rot="0">
            <a:off x="12344400" y="4128516"/>
            <a:ext cx="4846320" cy="772668"/>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Watermark: OCR ít giúp</a:t>
            </a:r>
          </a:p>
        </p:txBody>
      </p:sp>
      <p:sp>
        <p:nvSpPr>
          <p:cNvPr name="TextBox 14" id="14"/>
          <p:cNvSpPr txBox="true"/>
          <p:nvPr/>
        </p:nvSpPr>
        <p:spPr>
          <a:xfrm rot="0">
            <a:off x="12344400" y="4721733"/>
            <a:ext cx="4846320" cy="1194435"/>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Nguồn ảnh +0,9 — chữ nhỏ, mờ, nằm ở góc ảnh</a:t>
            </a:r>
          </a:p>
        </p:txBody>
      </p:sp>
      <p:sp>
        <p:nvSpPr>
          <p:cNvPr name="Freeform 15" id="15"/>
          <p:cNvSpPr/>
          <p:nvPr/>
        </p:nvSpPr>
        <p:spPr>
          <a:xfrm flipH="false" flipV="false" rot="0">
            <a:off x="12016883" y="6157770"/>
            <a:ext cx="5455691" cy="1903381"/>
          </a:xfrm>
          <a:custGeom>
            <a:avLst/>
            <a:gdLst/>
            <a:ahLst/>
            <a:cxnLst/>
            <a:rect r="r" b="b" t="t" l="l"/>
            <a:pathLst>
              <a:path h="1903381" w="5455691">
                <a:moveTo>
                  <a:pt x="0" y="0"/>
                </a:moveTo>
                <a:lnTo>
                  <a:pt x="5455691" y="0"/>
                </a:lnTo>
                <a:lnTo>
                  <a:pt x="5455691" y="1903380"/>
                </a:lnTo>
                <a:lnTo>
                  <a:pt x="0" y="1903380"/>
                </a:lnTo>
                <a:lnTo>
                  <a:pt x="0" y="0"/>
                </a:lnTo>
                <a:close/>
              </a:path>
            </a:pathLst>
          </a:custGeom>
          <a:blipFill>
            <a:blip r:embed="rId6">
              <a:extLst>
                <a:ext uri="{96DAC541-7B7A-43D3-8B79-37D633B846F1}">
                  <asvg:svgBlip xmlns:asvg="http://schemas.microsoft.com/office/drawing/2016/SVG/main" r:embed="rId7"/>
                </a:ext>
              </a:extLst>
            </a:blip>
            <a:stretch>
              <a:fillRect l="0" t="-23" r="0" b="-23"/>
            </a:stretch>
          </a:blipFill>
        </p:spPr>
        <p:txBody>
          <a:bodyPr/>
          <a:p/>
        </p:txBody>
      </p:sp>
      <p:sp>
        <p:nvSpPr>
          <p:cNvPr name="TextBox 16" id="16"/>
          <p:cNvSpPr txBox="true"/>
          <p:nvPr/>
        </p:nvSpPr>
        <p:spPr>
          <a:xfrm rot="0">
            <a:off x="12344400" y="6204204"/>
            <a:ext cx="4846320" cy="772668"/>
          </a:xfrm>
          <a:prstGeom prst="rect">
            <a:avLst/>
          </a:prstGeom>
        </p:spPr>
        <p:txBody>
          <a:bodyPr anchor="t" rtlCol="false" tIns="0" lIns="0" bIns="0" rIns="0">
            <a:spAutoFit/>
          </a:bodyPr>
          <a:lstStyle/>
          <a:p>
            <a:pPr algn="l">
              <a:lnSpc>
                <a:spcPts val="2879"/>
              </a:lnSpc>
            </a:pPr>
            <a:r>
              <a:rPr lang="en-US" sz="2400" b="true">
                <a:solidFill>
                  <a:srgbClr val="13294B"/>
                </a:solidFill>
                <a:latin typeface="Calibri (MS) Bold"/>
                <a:ea typeface="Calibri (MS) Bold"/>
                <a:cs typeface="Calibri (MS) Bold"/>
                <a:sym typeface="Calibri (MS) Bold"/>
              </a:rPr>
              <a:t>Khó nhất: phải suy ra từ chữ</a:t>
            </a:r>
          </a:p>
        </p:txBody>
      </p:sp>
      <p:sp>
        <p:nvSpPr>
          <p:cNvPr name="TextBox 17" id="17"/>
          <p:cNvSpPr txBox="true"/>
          <p:nvPr/>
        </p:nvSpPr>
        <p:spPr>
          <a:xfrm rot="0">
            <a:off x="12344400" y="6797421"/>
            <a:ext cx="4846320" cy="1194435"/>
          </a:xfrm>
          <a:prstGeom prst="rect">
            <a:avLst/>
          </a:prstGeom>
        </p:spPr>
        <p:txBody>
          <a:bodyPr anchor="t" rtlCol="false" tIns="0" lIns="0" bIns="0" rIns="0">
            <a:spAutoFit/>
          </a:bodyPr>
          <a:lstStyle/>
          <a:p>
            <a:pPr algn="l">
              <a:lnSpc>
                <a:spcPts val="2520"/>
              </a:lnSpc>
            </a:pPr>
            <a:r>
              <a:rPr lang="en-US" sz="2100">
                <a:solidFill>
                  <a:srgbClr val="243044"/>
                </a:solidFill>
                <a:latin typeface="Calibri (MS)"/>
                <a:ea typeface="Calibri (MS)"/>
                <a:cs typeface="Calibri (MS)"/>
                <a:sym typeface="Calibri (MS)"/>
              </a:rPr>
              <a:t>Sản phẩm, dịch vụ 44,1; địa điểm 47,0 → trọng tâm phân tích lỗi tiếp theo</a:t>
            </a:r>
          </a:p>
        </p:txBody>
      </p:sp>
      <p:grpSp>
        <p:nvGrpSpPr>
          <p:cNvPr name="Group 18" id="18"/>
          <p:cNvGrpSpPr/>
          <p:nvPr/>
        </p:nvGrpSpPr>
        <p:grpSpPr>
          <a:xfrm rot="0">
            <a:off x="822960" y="8709660"/>
            <a:ext cx="16641604" cy="850392"/>
            <a:chOff x="0" y="0"/>
            <a:chExt cx="22188805" cy="1133856"/>
          </a:xfrm>
        </p:grpSpPr>
        <p:sp>
          <p:nvSpPr>
            <p:cNvPr name="Freeform 19" id="19"/>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2">
                <a:alphaModFix amt="0"/>
              </a:blip>
              <a:stretch>
                <a:fillRect l="0" t="-331043" r="0" b="-331043"/>
              </a:stretch>
            </a:blipFill>
          </p:spPr>
          <p:txBody>
            <a:bodyPr/>
            <a:p/>
          </p:txBody>
        </p:sp>
      </p:grpSp>
      <p:grpSp>
        <p:nvGrpSpPr>
          <p:cNvPr name="Group 20" id="20"/>
          <p:cNvGrpSpPr/>
          <p:nvPr/>
        </p:nvGrpSpPr>
        <p:grpSpPr>
          <a:xfrm rot="0">
            <a:off x="822960" y="8681085"/>
            <a:ext cx="16641604" cy="878967"/>
            <a:chOff x="0" y="0"/>
            <a:chExt cx="22188805" cy="1171956"/>
          </a:xfrm>
        </p:grpSpPr>
        <p:sp>
          <p:nvSpPr>
            <p:cNvPr name="Freeform 21" id="21"/>
            <p:cNvSpPr/>
            <p:nvPr/>
          </p:nvSpPr>
          <p:spPr>
            <a:xfrm flipH="false" flipV="false" rot="0">
              <a:off x="0" y="0"/>
              <a:ext cx="22188805" cy="1171956"/>
            </a:xfrm>
            <a:custGeom>
              <a:avLst/>
              <a:gdLst/>
              <a:ahLst/>
              <a:cxnLst/>
              <a:rect r="r" b="b" t="t" l="l"/>
              <a:pathLst>
                <a:path h="1171956" w="22188805">
                  <a:moveTo>
                    <a:pt x="0" y="0"/>
                  </a:moveTo>
                  <a:lnTo>
                    <a:pt x="22188805" y="0"/>
                  </a:lnTo>
                  <a:lnTo>
                    <a:pt x="22188805" y="1171956"/>
                  </a:lnTo>
                  <a:lnTo>
                    <a:pt x="0" y="1171956"/>
                  </a:lnTo>
                  <a:close/>
                </a:path>
              </a:pathLst>
            </a:custGeom>
            <a:blipFill>
              <a:blip r:embed="rId8">
                <a:alphaModFix amt="0"/>
              </a:blip>
              <a:stretch>
                <a:fillRect l="0" t="-318656" r="0" b="-318656"/>
              </a:stretch>
            </a:blipFill>
          </p:spPr>
          <p:txBody>
            <a:bodyPr/>
            <a:p/>
          </p:txBody>
        </p:sp>
      </p:grpSp>
      <p:grpSp>
        <p:nvGrpSpPr>
          <p:cNvPr name="Group 22" id="22"/>
          <p:cNvGrpSpPr/>
          <p:nvPr/>
        </p:nvGrpSpPr>
        <p:grpSpPr>
          <a:xfrm rot="0">
            <a:off x="822960" y="8652510"/>
            <a:ext cx="16641623" cy="907542"/>
            <a:chOff x="0" y="0"/>
            <a:chExt cx="22188830" cy="1210056"/>
          </a:xfrm>
        </p:grpSpPr>
        <p:sp>
          <p:nvSpPr>
            <p:cNvPr name="Freeform 23" id="23"/>
            <p:cNvSpPr/>
            <p:nvPr/>
          </p:nvSpPr>
          <p:spPr>
            <a:xfrm flipH="false" flipV="false" rot="0">
              <a:off x="0" y="0"/>
              <a:ext cx="22188805" cy="1210056"/>
            </a:xfrm>
            <a:custGeom>
              <a:avLst/>
              <a:gdLst/>
              <a:ahLst/>
              <a:cxnLst/>
              <a:rect r="r" b="b" t="t" l="l"/>
              <a:pathLst>
                <a:path h="1210056" w="22188805">
                  <a:moveTo>
                    <a:pt x="0" y="0"/>
                  </a:moveTo>
                  <a:lnTo>
                    <a:pt x="22188805" y="0"/>
                  </a:lnTo>
                  <a:lnTo>
                    <a:pt x="22188805" y="1210056"/>
                  </a:lnTo>
                  <a:lnTo>
                    <a:pt x="0" y="1210056"/>
                  </a:lnTo>
                  <a:close/>
                </a:path>
              </a:pathLst>
            </a:custGeom>
            <a:blipFill>
              <a:blip r:embed="rId9">
                <a:alphaModFix amt="0"/>
              </a:blip>
              <a:stretch>
                <a:fillRect l="0" t="-307048" r="0" b="-307049"/>
              </a:stretch>
            </a:blipFill>
          </p:spPr>
          <p:txBody>
            <a:bodyPr/>
            <a:p/>
          </p:txBody>
        </p:sp>
      </p:grpSp>
      <p:grpSp>
        <p:nvGrpSpPr>
          <p:cNvPr name="Group 24" id="24"/>
          <p:cNvGrpSpPr/>
          <p:nvPr/>
        </p:nvGrpSpPr>
        <p:grpSpPr>
          <a:xfrm rot="0">
            <a:off x="822960" y="8623935"/>
            <a:ext cx="16641623" cy="936117"/>
            <a:chOff x="0" y="0"/>
            <a:chExt cx="22188830" cy="1248156"/>
          </a:xfrm>
        </p:grpSpPr>
        <p:sp>
          <p:nvSpPr>
            <p:cNvPr name="Freeform 25" id="25"/>
            <p:cNvSpPr/>
            <p:nvPr/>
          </p:nvSpPr>
          <p:spPr>
            <a:xfrm flipH="false" flipV="false" rot="0">
              <a:off x="0" y="0"/>
              <a:ext cx="22188830" cy="1248156"/>
            </a:xfrm>
            <a:custGeom>
              <a:avLst/>
              <a:gdLst/>
              <a:ahLst/>
              <a:cxnLst/>
              <a:rect r="r" b="b" t="t" l="l"/>
              <a:pathLst>
                <a:path h="1248156" w="22188830">
                  <a:moveTo>
                    <a:pt x="0" y="0"/>
                  </a:moveTo>
                  <a:lnTo>
                    <a:pt x="22188830" y="0"/>
                  </a:lnTo>
                  <a:lnTo>
                    <a:pt x="22188830" y="1248156"/>
                  </a:lnTo>
                  <a:lnTo>
                    <a:pt x="0" y="1248156"/>
                  </a:lnTo>
                  <a:close/>
                </a:path>
              </a:pathLst>
            </a:custGeom>
            <a:blipFill>
              <a:blip r:embed="rId10">
                <a:alphaModFix amt="0"/>
              </a:blip>
              <a:stretch>
                <a:fillRect l="0" t="-296391" r="0" b="-296391"/>
              </a:stretch>
            </a:blipFill>
          </p:spPr>
          <p:txBody>
            <a:bodyPr/>
            <a:p/>
          </p:txBody>
        </p:sp>
        <p:sp>
          <p:nvSpPr>
            <p:cNvPr name="TextBox 26" id="26"/>
            <p:cNvSpPr txBox="true"/>
            <p:nvPr/>
          </p:nvSpPr>
          <p:spPr>
            <a:xfrm>
              <a:off x="0" y="-38100"/>
              <a:ext cx="22188830" cy="1286256"/>
            </a:xfrm>
            <a:prstGeom prst="rect">
              <a:avLst/>
            </a:prstGeom>
          </p:spPr>
          <p:txBody>
            <a:bodyPr anchor="b" rtlCol="false" tIns="0" lIns="0" bIns="0" rIns="0"/>
            <a:lstStyle/>
            <a:p>
              <a:pPr algn="l">
                <a:lnSpc>
                  <a:spcPts val="1800"/>
                </a:lnSpc>
              </a:pPr>
              <a:r>
                <a:rPr lang="en-US" sz="1500">
                  <a:solidFill>
                    <a:srgbClr val="6B7280"/>
                  </a:solidFill>
                  <a:latin typeface="Calibri (MS)"/>
                  <a:ea typeface="Calibri (MS)"/>
                  <a:cs typeface="Calibri (MS)"/>
                  <a:sym typeface="Calibri (MS)"/>
                </a:rPr>
                <a:t>Loại câu hỏi gán bằng từ khoá (qt-v1, thiết kế trên dev); kiểm bằng 150 câu gán tay mù: khớp 80,7%. ⚠ = precision &lt; 80%, chỉ mô tả. EM %, full test; chưa kiểm định theo loại.</a:t>
              </a:r>
            </a:p>
          </p:txBody>
        </p:sp>
      </p:grpSp>
      <p:grpSp>
        <p:nvGrpSpPr>
          <p:cNvPr name="Group 27" id="27"/>
          <p:cNvGrpSpPr/>
          <p:nvPr/>
        </p:nvGrpSpPr>
        <p:grpSpPr>
          <a:xfrm rot="0">
            <a:off x="822960" y="9641205"/>
            <a:ext cx="13716000" cy="440055"/>
            <a:chOff x="0" y="0"/>
            <a:chExt cx="18288000" cy="586740"/>
          </a:xfrm>
        </p:grpSpPr>
        <p:sp>
          <p:nvSpPr>
            <p:cNvPr name="Freeform 28" id="28"/>
            <p:cNvSpPr/>
            <p:nvPr/>
          </p:nvSpPr>
          <p:spPr>
            <a:xfrm flipH="false" flipV="false" rot="0">
              <a:off x="0" y="0"/>
              <a:ext cx="18288000" cy="586740"/>
            </a:xfrm>
            <a:custGeom>
              <a:avLst/>
              <a:gdLst/>
              <a:ahLst/>
              <a:cxnLst/>
              <a:rect r="r" b="b" t="t" l="l"/>
              <a:pathLst>
                <a:path h="586740" w="18288000">
                  <a:moveTo>
                    <a:pt x="0" y="0"/>
                  </a:moveTo>
                  <a:lnTo>
                    <a:pt x="18288000" y="0"/>
                  </a:lnTo>
                  <a:lnTo>
                    <a:pt x="18288000" y="586740"/>
                  </a:lnTo>
                  <a:lnTo>
                    <a:pt x="0" y="586740"/>
                  </a:lnTo>
                  <a:close/>
                </a:path>
              </a:pathLst>
            </a:custGeom>
            <a:blipFill>
              <a:blip r:embed="rId8">
                <a:alphaModFix amt="0"/>
              </a:blip>
              <a:stretch>
                <a:fillRect l="0" t="-556902" r="0" b="-556904"/>
              </a:stretch>
            </a:blipFill>
          </p:spPr>
          <p:txBody>
            <a:bodyPr/>
            <a:p/>
          </p:txBody>
        </p:sp>
      </p:grpSp>
      <p:grpSp>
        <p:nvGrpSpPr>
          <p:cNvPr name="Group 29" id="29"/>
          <p:cNvGrpSpPr/>
          <p:nvPr/>
        </p:nvGrpSpPr>
        <p:grpSpPr>
          <a:xfrm rot="0">
            <a:off x="822960" y="9612630"/>
            <a:ext cx="13716000" cy="468630"/>
            <a:chOff x="0" y="0"/>
            <a:chExt cx="18288000" cy="624840"/>
          </a:xfrm>
        </p:grpSpPr>
        <p:sp>
          <p:nvSpPr>
            <p:cNvPr name="Freeform 30" id="30"/>
            <p:cNvSpPr/>
            <p:nvPr/>
          </p:nvSpPr>
          <p:spPr>
            <a:xfrm flipH="false" flipV="false" rot="0">
              <a:off x="0" y="0"/>
              <a:ext cx="18288000" cy="624840"/>
            </a:xfrm>
            <a:custGeom>
              <a:avLst/>
              <a:gdLst/>
              <a:ahLst/>
              <a:cxnLst/>
              <a:rect r="r" b="b" t="t" l="l"/>
              <a:pathLst>
                <a:path h="624840" w="18288000">
                  <a:moveTo>
                    <a:pt x="0" y="0"/>
                  </a:moveTo>
                  <a:lnTo>
                    <a:pt x="18288000" y="0"/>
                  </a:lnTo>
                  <a:lnTo>
                    <a:pt x="18288000" y="624840"/>
                  </a:lnTo>
                  <a:lnTo>
                    <a:pt x="0" y="624840"/>
                  </a:lnTo>
                  <a:close/>
                </a:path>
              </a:pathLst>
            </a:custGeom>
            <a:blipFill>
              <a:blip r:embed="rId9">
                <a:alphaModFix amt="0"/>
              </a:blip>
              <a:stretch>
                <a:fillRect l="0" t="-519896" r="0" b="-519898"/>
              </a:stretch>
            </a:blipFill>
          </p:spPr>
          <p:txBody>
            <a:bodyPr/>
            <a:p/>
          </p:txBody>
        </p:sp>
      </p:grpSp>
      <p:grpSp>
        <p:nvGrpSpPr>
          <p:cNvPr name="Group 31" id="31"/>
          <p:cNvGrpSpPr/>
          <p:nvPr/>
        </p:nvGrpSpPr>
        <p:grpSpPr>
          <a:xfrm rot="0">
            <a:off x="822960" y="9584055"/>
            <a:ext cx="13716000" cy="497205"/>
            <a:chOff x="0" y="0"/>
            <a:chExt cx="18288000" cy="662940"/>
          </a:xfrm>
        </p:grpSpPr>
        <p:sp>
          <p:nvSpPr>
            <p:cNvPr name="Freeform 32" id="32"/>
            <p:cNvSpPr/>
            <p:nvPr/>
          </p:nvSpPr>
          <p:spPr>
            <a:xfrm flipH="false" flipV="false" rot="0">
              <a:off x="0" y="0"/>
              <a:ext cx="18288000" cy="662940"/>
            </a:xfrm>
            <a:custGeom>
              <a:avLst/>
              <a:gdLst/>
              <a:ahLst/>
              <a:cxnLst/>
              <a:rect r="r" b="b" t="t" l="l"/>
              <a:pathLst>
                <a:path h="662940" w="18288000">
                  <a:moveTo>
                    <a:pt x="0" y="0"/>
                  </a:moveTo>
                  <a:lnTo>
                    <a:pt x="18288000" y="0"/>
                  </a:lnTo>
                  <a:lnTo>
                    <a:pt x="18288000" y="662940"/>
                  </a:lnTo>
                  <a:lnTo>
                    <a:pt x="0" y="662940"/>
                  </a:lnTo>
                  <a:close/>
                </a:path>
              </a:pathLst>
            </a:custGeom>
            <a:blipFill>
              <a:blip r:embed="rId10">
                <a:alphaModFix amt="0"/>
              </a:blip>
              <a:stretch>
                <a:fillRect l="0" t="-487518" r="0" b="-487518"/>
              </a:stretch>
            </a:blipFill>
          </p:spPr>
          <p:txBody>
            <a:bodyPr/>
            <a:p/>
          </p:txBody>
        </p:sp>
        <p:sp>
          <p:nvSpPr>
            <p:cNvPr name="TextBox 33" id="33"/>
            <p:cNvSpPr txBox="true"/>
            <p:nvPr/>
          </p:nvSpPr>
          <p:spPr>
            <a:xfrm>
              <a:off x="0" y="-38100"/>
              <a:ext cx="18288000" cy="701040"/>
            </a:xfrm>
            <a:prstGeom prst="rect">
              <a:avLst/>
            </a:prstGeom>
          </p:spPr>
          <p:txBody>
            <a:bodyPr anchor="ctr" rtlCol="false" tIns="0" lIns="0" bIns="0" rIns="0"/>
            <a:lstStyle/>
            <a:p>
              <a:pPr algn="l">
                <a:lnSpc>
                  <a:spcPts val="1800"/>
                </a:lnSpc>
              </a:pPr>
              <a:r>
                <a:rPr lang="en-US" sz="1500">
                  <a:solidFill>
                    <a:srgbClr val="6B7280"/>
                  </a:solidFill>
                  <a:latin typeface="Calibri (MS)"/>
                  <a:ea typeface="Calibri (MS)"/>
                  <a:cs typeface="Calibri (MS)"/>
                  <a:sym typeface="Calibri (MS)"/>
                </a:rPr>
                <a:t>ViVQA-VLM · Review 2 · GFA26AI35 · Đại học FPT</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DAHYjFeCKIc</dc:identifier>
  <dcterms:modified xsi:type="dcterms:W3CDTF">2011-08-01T06:04:30Z</dcterms:modified>
  <cp:revision>1</cp:revision>
  <dc:title>KLTN</dc:title>
</cp:coreProperties>
</file>