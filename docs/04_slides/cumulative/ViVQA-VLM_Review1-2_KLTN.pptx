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00.svg" ContentType="image/svg+xml"/>
  <Override PartName="/ppt/media/image103.svg" ContentType="image/svg+xml"/>
  <Override PartName="/ppt/media/image106.svg" ContentType="image/svg+xml"/>
  <Override PartName="/ppt/media/image108.svg" ContentType="image/svg+xml"/>
  <Override PartName="/ppt/media/image110.svg" ContentType="image/svg+xml"/>
  <Override PartName="/ppt/media/image113.svg" ContentType="image/svg+xml"/>
  <Override PartName="/ppt/media/image115.svg" ContentType="image/svg+xml"/>
  <Override PartName="/ppt/media/image117.svg" ContentType="image/svg+xml"/>
  <Override PartName="/ppt/media/image119.svg" ContentType="image/svg+xml"/>
  <Override PartName="/ppt/media/image12.svg" ContentType="image/svg+xml"/>
  <Override PartName="/ppt/media/image121.svg" ContentType="image/svg+xml"/>
  <Override PartName="/ppt/media/image123.svg" ContentType="image/svg+xml"/>
  <Override PartName="/ppt/media/image125.svg" ContentType="image/svg+xml"/>
  <Override PartName="/ppt/media/image128.svg" ContentType="image/svg+xml"/>
  <Override PartName="/ppt/media/image130.svg" ContentType="image/svg+xml"/>
  <Override PartName="/ppt/media/image132.svg" ContentType="image/svg+xml"/>
  <Override PartName="/ppt/media/image135.svg" ContentType="image/svg+xml"/>
  <Override PartName="/ppt/media/image138.svg" ContentType="image/svg+xml"/>
  <Override PartName="/ppt/media/image14.svg" ContentType="image/svg+xml"/>
  <Override PartName="/ppt/media/image140.svg" ContentType="image/svg+xml"/>
  <Override PartName="/ppt/media/image142.svg" ContentType="image/svg+xml"/>
  <Override PartName="/ppt/media/image144.svg" ContentType="image/svg+xml"/>
  <Override PartName="/ppt/media/image146.svg" ContentType="image/svg+xml"/>
  <Override PartName="/ppt/media/image148.svg" ContentType="image/svg+xml"/>
  <Override PartName="/ppt/media/image150.svg" ContentType="image/svg+xml"/>
  <Override PartName="/ppt/media/image152.svg" ContentType="image/svg+xml"/>
  <Override PartName="/ppt/media/image154.svg" ContentType="image/svg+xml"/>
  <Override PartName="/ppt/media/image156.svg" ContentType="image/svg+xml"/>
  <Override PartName="/ppt/media/image158.svg" ContentType="image/svg+xml"/>
  <Override PartName="/ppt/media/image16.svg" ContentType="image/svg+xml"/>
  <Override PartName="/ppt/media/image160.svg" ContentType="image/svg+xml"/>
  <Override PartName="/ppt/media/image162.svg" ContentType="image/svg+xml"/>
  <Override PartName="/ppt/media/image165.svg" ContentType="image/svg+xml"/>
  <Override PartName="/ppt/media/image167.svg" ContentType="image/svg+xml"/>
  <Override PartName="/ppt/media/image170.svg" ContentType="image/svg+xml"/>
  <Override PartName="/ppt/media/image172.svg" ContentType="image/svg+xml"/>
  <Override PartName="/ppt/media/image174.svg" ContentType="image/svg+xml"/>
  <Override PartName="/ppt/media/image176.svg" ContentType="image/svg+xml"/>
  <Override PartName="/ppt/media/image178.svg" ContentType="image/svg+xml"/>
  <Override PartName="/ppt/media/image18.svg" ContentType="image/svg+xml"/>
  <Override PartName="/ppt/media/image180.svg" ContentType="image/svg+xml"/>
  <Override PartName="/ppt/media/image2.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8.svg" ContentType="image/svg+xml"/>
  <Override PartName="/ppt/media/image50.svg" ContentType="image/svg+xml"/>
  <Override PartName="/ppt/media/image52.svg" ContentType="image/svg+xml"/>
  <Override PartName="/ppt/media/image54.svg" ContentType="image/svg+xml"/>
  <Override PartName="/ppt/media/image56.svg" ContentType="image/svg+xml"/>
  <Override PartName="/ppt/media/image58.svg" ContentType="image/svg+xml"/>
  <Override PartName="/ppt/media/image60.svg" ContentType="image/svg+xml"/>
  <Override PartName="/ppt/media/image62.svg" ContentType="image/svg+xml"/>
  <Override PartName="/ppt/media/image64.svg" ContentType="image/svg+xml"/>
  <Override PartName="/ppt/media/image66.svg" ContentType="image/svg+xml"/>
  <Override PartName="/ppt/media/image68.svg" ContentType="image/svg+xml"/>
  <Override PartName="/ppt/media/image70.svg" ContentType="image/svg+xml"/>
  <Override PartName="/ppt/media/image72.svg" ContentType="image/svg+xml"/>
  <Override PartName="/ppt/media/image74.svg" ContentType="image/svg+xml"/>
  <Override PartName="/ppt/media/image76.svg" ContentType="image/svg+xml"/>
  <Override PartName="/ppt/media/image78.svg" ContentType="image/svg+xml"/>
  <Override PartName="/ppt/media/image8.svg" ContentType="image/svg+xml"/>
  <Override PartName="/ppt/media/image80.svg" ContentType="image/svg+xml"/>
  <Override PartName="/ppt/media/image82.svg" ContentType="image/svg+xml"/>
  <Override PartName="/ppt/media/image84.svg" ContentType="image/svg+xml"/>
  <Override PartName="/ppt/media/image86.svg" ContentType="image/svg+xml"/>
  <Override PartName="/ppt/media/image88.svg" ContentType="image/svg+xml"/>
  <Override PartName="/ppt/media/image90.svg" ContentType="image/svg+xml"/>
  <Override PartName="/ppt/media/image93.svg" ContentType="image/svg+xml"/>
  <Override PartName="/ppt/media/image95.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96" r:id="rId57"/>
    <p:sldId id="274" r:id="rId24"/>
    <p:sldId id="275" r:id="rId25"/>
    <p:sldId id="276" r:id="rId26"/>
    <p:sldId id="277" r:id="rId27"/>
    <p:sldId id="278" r:id="rId28"/>
    <p:sldId id="279" r:id="rId29"/>
    <p:sldId id="280" r:id="rId30"/>
    <p:sldId id="284" r:id="rId34"/>
    <p:sldId id="285" r:id="rId35"/>
    <p:sldId id="286" r:id="rId36"/>
    <p:sldId id="288" r:id="rId38"/>
    <p:sldId id="293" r:id="rId43"/>
    <p:sldId id="294" r:id="rId44"/>
    <p:sldId id="295" r:id="rId45"/>
    <p:sldId id="297" r:id="rId59"/>
    <p:sldId id="281" r:id="rId31"/>
    <p:sldId id="282" r:id="rId32"/>
    <p:sldId id="283" r:id="rId33"/>
    <p:sldId id="287" r:id="rId37"/>
    <p:sldId id="289" r:id="rId39"/>
    <p:sldId id="290" r:id="rId40"/>
    <p:sldId id="291" r:id="rId41"/>
    <p:sldId id="292" r:id="rId42"/>
  </p:sldIdLst>
  <p:sldSz cx="18288000" cy="10287000"/>
  <p:notesSz cx="6858000" cy="9144000"/>
  <p:embeddedFontLst>
    <p:embeddedFont>
      <p:font typeface="Noto Sans Bold" charset="1" panose="020B0802040504020204"/>
      <p:regular r:id="rId46"/>
    </p:embeddedFont>
    <p:embeddedFont>
      <p:font typeface="Noto Sans" charset="1" panose="020B0502040504020204"/>
      <p:regular r:id="rId47"/>
    </p:embeddedFont>
    <p:embeddedFont>
      <p:font typeface="Calibri (MS)" charset="1" panose="020F0502020204030204"/>
      <p:regular r:id="rId48"/>
    </p:embeddedFont>
    <p:embeddedFont>
      <p:font typeface="Calibri (MS) Bold" charset="1" panose="020F0702030404030204"/>
      <p:regular r:id="rId49"/>
    </p:embeddedFont>
    <p:embeddedFont>
      <p:font typeface="Cambria Bold" charset="1" panose="02040803050406030204"/>
      <p:regular r:id="rId50"/>
    </p:embeddedFont>
    <p:embeddedFont>
      <p:font typeface="Inter Bold" charset="1" panose="02000503000000020004"/>
      <p:regular r:id="rId51"/>
    </p:embeddedFont>
    <p:embeddedFont>
      <p:font typeface="Lora Bold" charset="1" panose="00000800000000000000"/>
      <p:regular r:id="rId52"/>
    </p:embeddedFont>
    <p:embeddedFont>
      <p:font typeface="Inter" charset="1" panose="02000503000000020004"/>
      <p:regular r:id="rId53"/>
    </p:embeddedFont>
    <p:embeddedFont>
      <p:font typeface="Calibri (MS) Italics" charset="1" panose="020F05020202040A0204"/>
      <p:regular r:id="rId54"/>
    </p:embeddedFont>
    <p:embeddedFont>
      <p:font typeface="Courier New Bold" charset="1" panose="02070609020205020404"/>
      <p:regular r:id="rId55"/>
    </p:embeddedFont>
    <p:embeddedFont>
      <p:font typeface="Courier New" charset="1" panose="02070309020205020404"/>
      <p:regular r:id="rId5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35.xml"/><Relationship Id="rId32" Type="http://schemas.openxmlformats.org/officeDocument/2006/relationships/slide" Target="slides/slide36.xml"/><Relationship Id="rId33" Type="http://schemas.openxmlformats.org/officeDocument/2006/relationships/slide" Target="slides/slide37.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8.xml"/><Relationship Id="rId38" Type="http://schemas.openxmlformats.org/officeDocument/2006/relationships/slide" Target="slides/slide30.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font" Target="fonts/font46.fntdata"/><Relationship Id="rId47" Type="http://schemas.openxmlformats.org/officeDocument/2006/relationships/font" Target="fonts/font47.fntdata"/><Relationship Id="rId48" Type="http://schemas.openxmlformats.org/officeDocument/2006/relationships/font" Target="fonts/font48.fntdata"/><Relationship Id="rId49" Type="http://schemas.openxmlformats.org/officeDocument/2006/relationships/font" Target="fonts/font49.fntdata"/><Relationship Id="rId50" Type="http://schemas.openxmlformats.org/officeDocument/2006/relationships/font" Target="fonts/font50.fntdata"/><Relationship Id="rId51" Type="http://schemas.openxmlformats.org/officeDocument/2006/relationships/font" Target="fonts/font51.fntdata"/><Relationship Id="rId52" Type="http://schemas.openxmlformats.org/officeDocument/2006/relationships/font" Target="fonts/font52.fntdata"/><Relationship Id="rId53" Type="http://schemas.openxmlformats.org/officeDocument/2006/relationships/font" Target="fonts/font53.fntdata"/><Relationship Id="rId54" Type="http://schemas.openxmlformats.org/officeDocument/2006/relationships/font" Target="fonts/font54.fntdata"/><Relationship Id="rId55" Type="http://schemas.openxmlformats.org/officeDocument/2006/relationships/font" Target="fonts/font55.fntdata"/><Relationship Id="rId56" Type="http://schemas.openxmlformats.org/officeDocument/2006/relationships/font" Target="fonts/font56.fntdata"/><Relationship Id="rId57" Type="http://schemas.openxmlformats.org/officeDocument/2006/relationships/slide" Target="slides/slide19.xml"/><Relationship Id="rId58" Type="http://schemas.openxmlformats.org/officeDocument/2006/relationships/notesMaster" Target="notesMasters/notesMaster1.xml"/><Relationship Id="rId59"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3 · xử lý dữ liệu · ~1 phút] Slide này cho thấy dữ liệu trước và sau xử lý trên một mẫu thật của ViTextVQA. Một: ảnh ViVQA gốc 640 nhân 360 được làm tròn về 644 nhân 364, cạnh là bội số của 28; mỗi ô 28 nhân 28 là một token ảnh, nên ảnh thành lưới 23 nhân 13 bằng 299 token. Ảnh ViTextVQA lớn hơn, như ảnh 16267 kích thước 1024 nhân 996, bị thu nhỏ giữ tỉ lệ còn 616 nhân 616, tức 484 token — luôn dưới giới hạn 512. Hai: với ViTextVQA, đây là vị trí 13 khung chữ thật trên ảnh 16267. PaddleOCR dò vùng chữ, VietOCR đọc tiếng Việt, các dòng được sắp từ trái-trên sang phải-dưới rồi ghép thành một dòng trong prompt. Ví dụ ở đây OCR đọc ra 'đại lý xổ só miến bắc' — còn sai dấu — nên model phải học cách dùng OCR có nhiễu; đó là lý do nhóm train cùng OCR. Ba: trước khi chấm, câu trả lời của model và đáp án chuẩn đi qua cùng một hàm chuẩn hoá: NFC, chữ thường, bỏ dấu câu, gộp khoảng trắng, nhưng giữ dấu thanh.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6 · tái lập baseline R0 · ~1 phút] Chưa có paper nào công bố Qwen2.5-VL-3B trên ViVQA hay ViTextVQA, nên nhóm kiểm chứng pipeline bằng một con số đã công bố: Table 5 của báo cáo kỹ thuật Qwen2.5-VL ghi TextVQA val của bản 3B là 79,3. Luật chốt trước khi chạy: tái lập được nếu chênh không quá 2 điểm. Ô đen thứ nhất là file metrics.json thật của run R0: chạy toàn bộ 5.000 câu, bf16, trên GPU L4, commit fefa9ed, được 0,79596 tức 79,6 — chênh +0,3. Ô đen thứ hai: tính lại độc lập từ 5.000 dự đoán thô trong predictions.json, ra đúng 0,79596. Cấu hình tiết kiệm của nhóm, 4-bit và 512 token, mất 4,4 điểm nhưng VRAM giảm từ 10,9 xuống 2,5 GB.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các slide dự phòng, chỉ mở khi hội đồng hỏi.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 ~20 giây]</a:t>
            </a:r>
          </a:p>
          <a:p>
            <a:r>
              <a:t>Kính chào thầy cô. Nhóm em là GFA26AI35, đề tài ViVQA-VLM: hỏi đáp hình ảnh tiếng Việt hiệu quả bằng mô hình thị giác–ngôn ngữ, GVHD là thầy Đặng Ngọc Minh Đức và thầy Phạm Minh Trí.</a:t>
            </a:r>
          </a:p>
          <a:p>
            <a:r>
              <a:t>Bộ slide hôm nay là bộ cộng dồn: phần A là nội dung Review 1 đã sửa theo góp ý — xoay quanh phạm vi bài toán; phần B là nội dung mới của Review 2 — hệ thống hiện có (Existing System) và phương pháp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[Nội dung · ~30 giây] Bộ slide có hai phần. Phần A, slide 3 đến 14, trả lời: nhóm làm bài toán gì, vì sao khó với tiếng Việt, làm trong giới hạn nào. Phần B, slide 15 đến 33, trả lời: hệ thống hiện có — kể cả baseline nhóm chọn — làm được đến đâu, và nhóm cải tiến bằng phương pháp nào, với bằng chứng gì. Slide 34 đến 42 là phụ lục, chỉ mở khi hội đồng hỏi.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 ~5 giây]</a:t>
            </a:r>
          </a:p>
          <a:p>
            <a:r>
              <a:t>"Trước hết là phần A — phạm vi bài toán."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[Phát biểu bài toán · ~1 phút]</a:t>
            </a:r>
          </a:p>
          <a:p>
            <a:r>
              <a:t>Ý chính: ảnh + câu hỏi tiếng Việt → câu trả lời tiếng Việt ngắn.</a:t>
            </a:r>
          </a:p>
          <a:p>
            <a:r>
              <a:t>Cách nói (chỉ hàng trên rồi hàng dưới): Đầu vào là một ảnh và một câu hỏi tiếng Việt. Có hai kiểu ảnh. Hàng trên là ảnh đời thường của ViVQA — hỏi màu chiếc xe đạp. Hàng dưới là ảnh có chữ tiếng Việt của ViTextVQA — hỏi cửa hàng có biển vàng là nơi nào; muốn trả lời phải đọc được chữ trên biển.</a:t>
            </a:r>
          </a:p>
          <a:p>
            <a:r>
              <a:t>Ở giữa là mô hình: Qwen2.5-VL-3B, 3 tỉ tham số, được nén 4-bit và đóng băng; nhóm chỉ train thêm một adapter QLoRA nhỏ, khoảng 0,2% tham số.</a:t>
            </a:r>
          </a:p>
          <a:p>
            <a:r>
              <a:t>Đầu ra là câu trả lời ngắn, so với đáp án chuẩn. ViVQA đáp án rất ngắn nên chấm EM, VQA-Acc. ViTextVQA đáp án là chữ trong ảnh, dài hơn, nên chấm thêm ANLS — chịu được lỗi vài ký tự.</a:t>
            </a:r>
          </a:p>
          <a:p>
            <a:r>
              <a:t>Nếu bị hỏi "vì sao câu trả lời ngắn": 99,83% đáp án ViVQA ≤ 3 từ; bài toán là hỏi đáp, không phải sinh mô tả.</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[V1–V4 · ~1 phút]</a:t>
            </a:r>
          </a:p>
          <a:p>
            <a:r>
              <a:t>Ý chính: vì sao tiếng Việt khó hơn tiếng Anh — bốn vấn đề.</a:t>
            </a:r>
          </a:p>
          <a:p>
            <a:r>
              <a:t>V1: dấu thanh là nét rất nhỏ, sai dấu là đổi nghĩa (má khác mà) — lỗi nhìn ở mức pixel, chuẩn hoá văn bản không sửa được.</a:t>
            </a:r>
          </a:p>
          <a:p>
            <a:r>
              <a:t>V2: model pretrain chủ yếu bằng tiếng Anh/Trung nên hay trả lời tiếng Anh hoặc dài dòng → EM = 0 dù hiểu đúng.</a:t>
            </a:r>
          </a:p>
          <a:p>
            <a:r>
              <a:t>V3: khoảng trắng tiếng Việt tách âm tiết chứ không tách từ; đọc sai thứ tự chữ làm vỡ từ.</a:t>
            </a:r>
          </a:p>
          <a:p>
            <a:r>
              <a:t>V4: hallucination — trả lời trôi chảy nhưng không có trong ảnh.</a:t>
            </a:r>
          </a:p>
          <a:p>
            <a:r>
              <a:t>Mỗi thẻ có một ví dụ: V1 má/mà/mã/ma; V2 hỏi tiếng Việt, model trả lời tiếng Anh nên EM = 0; V3 biển “cửa hàng điện thoại” đọc theo cột thành “cửa điện hàng thoại”; V4 ảnh không có người nhưng model vẫn tả áo người đạp xe. Ví dụ V2, V4 là minh hoạ dạng lỗi; ảnh V4 lấy từ ViVQA.</a:t>
            </a:r>
          </a:p>
          <a:p>
            <a:r>
              <a:t>Nếu bị hỏi (góp ý số 2): chuẩn hoá NFC, chữ thường, resize chỉ là tiền xử lý bắt buộc, không phải đóng góp.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[Khoảng trống · ~1 phút]</a:t>
            </a:r>
          </a:p>
          <a:p>
            <a:r>
              <a:t>Bốn khoảng trống, G3 là trọng tâm.</a:t>
            </a:r>
          </a:p>
          <a:p>
            <a:r>
              <a:t>G1: alignment của VLM tối ưu cho tiếng Anh. G2: VQA tiếng Việt còn yếu, nhất là ảnh có chữ — SOTA công bố trên ViTextVQA chỉ 25,48 EM so với 88 của con người. G3 — trọng tâm: chưa có nghiên cứu hệ thống dùng LoRA/QLoRA cho VLM trên VQA tiếng Việt; ba paper VQA tiếng Việt nhóm khảo sát đều không dùng PEFT. G4: chưa có đánh giá hallucination kiểu POPE cho tiếng Việt.</a:t>
            </a:r>
          </a:p>
          <a:p>
            <a:r>
              <a:t>Dòng cuối là "bản đồ": G2 được trả lời ở slide 28–30 (QLoRA nhận biết OCR), G3 ở slide 26–35 (QLoRA), G4 ở slide 27 và 42.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và ngoài phạm vi · ~1 phút — slide mới, trả lời thẳng "phạm vi bài toán"]</a:t>
            </a:r>
          </a:p>
          <a:p>
            <a:r>
              <a:t>Hàng trên là những gì nằm trong phạm vi: dữ liệu là hai benchmark công khai với split cố định; mô hình là một baseline mở Qwen2.5-VL-3B, chỉ PEFT; đánh giá bằng EM, VQA-Acc, ANLS cộng ablation, phân tích lỗi, hallucination — tất cả trên một GPU Colab.</a:t>
            </a:r>
          </a:p>
          <a:p>
            <a:r>
              <a:t>Ô dưới — ngoài phạm vi: full fine-tuning; câu trả lời dài, giải thích, hội thoại nhiều lượt; video; ngôn ngữ khác; tự train lại OCR. RAG tri thức ngoài chỉ làm nếu phân tích lỗi đòi hỏi.</a:t>
            </a:r>
          </a:p>
          <a:p>
            <a:r>
              <a:t>Nếu bị hỏi "vì sao không full fine-tune": đó là ràng buộc của đề cương và của phần cứng; mục tiêu đề tài là hiệu quả.</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nghiên cứu · ~45 giây]</a:t>
            </a:r>
          </a:p>
          <a:p>
            <a:r>
              <a:t>Bốn câu hỏi, RQ2 là trung tâm.</a:t>
            </a:r>
          </a:p>
          <a:p>
            <a:r>
              <a:t>RQ1: zero-shot làm được bao nhiêu, lỗi tiếng Việt nào chiếm ưu thế, prompt có giúp không. RQ2: QLoRA cải thiện bao nhiêu so với zero-shot mà không full fine-tune. RQ3: chữ OCR tiếng Việt có giúp đọc chữ trong ảnh không, và có cộng hưởng với QLoRA không. RQ4: sau QLoRA, model bịa nhiều hơn hay ít hơn.</a:t>
            </a:r>
          </a:p>
          <a:p>
            <a:r>
              <a:t>Nhấn: mỗi câu hỏi ghi rõ đo bằng metric gì — câu nào cũng kiểm chứng được.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 thuyết · ~1 phút]</a:t>
            </a:r>
          </a:p>
          <a:p>
            <a:r>
              <a:t>Mỗi giả thuyết có ngưỡng chốt trước khi chạy và gắn một vấn đề tiếng Việt.</a:t>
            </a:r>
          </a:p>
          <a:p>
            <a:r>
              <a:t>H1: QLoRA tăng ít nhất 5 điểm EM so với chính model đó zero-shot. H2: chữ OCR có dấu trong prompt tăng ít nhất 3 điểm ANLS và tốt nhất khi kết hợp QLoRA. H3: prompt định dạng tiếng Việt tăng ít nhất 3 điểm EM. H4: QLoRA không làm tăng hallucination.</a:t>
            </a:r>
          </a:p>
          <a:p>
            <a:r>
              <a:t>Kết quả từng giả thuyết ở slide 31. Nếu bị hỏi (góp ý số 3): 4-bit/16-bit không còn là giả thuyết mà là số đo hiệu quả; cấu hình LoRA chuyển thành ablation A1, A2.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[Dữ liệu · ~1 phút]</a:t>
            </a:r>
          </a:p>
          <a:p>
            <a:r>
              <a:t>ViVQA: 15.000 cặp hỏi–đáp trên 10.328 ảnh COCO; bản gốc chỉ có train/test nên nhóm tách val 1.200 câu từ train, seed 42. ViTextVQA: 50.342 cặp, 16.762 ảnh có chữ tiếng Việt, dùng split chính thức của tác giả.</a:t>
            </a:r>
          </a:p>
          <a:p>
            <a:r>
              <a:t>Đặc điểm đáp án quyết định metric: ViVQA rất ngắn → EM/VQA-Acc; ViTextVQA dài hơn, đọc từ ảnh → thêm ANLS.</a:t>
            </a:r>
          </a:p>
          <a:p>
            <a:r>
              <a:t>Dải dưới trả lời góp ý số 9: tiền xử lý trước, rồi mới cố định split; chọn cấu hình chỉ trên val/dev; test chỉ dùng để báo cáo, không dùng để chọn.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[Phương pháp đề xuất · ~1,5 phút]</a:t>
            </a:r>
          </a:p>
          <a:p>
            <a:r>
              <a:t>Một câu: QLoRA trên Qwen2.5-VL-3B cộng prompt tiếng Việt có chữ OCR.</a:t>
            </a:r>
          </a:p>
          <a:p>
            <a:r>
              <a:t>Đi theo ba khối. A — chuẩn bị dữ liệu, chạy một lần rồi cache: dữ liệu → tiền xử lý → OCR (chỉ ViTextVQA; VietOCR, sắp trái-trên → phải-dưới) → chia tập cố định.</a:t>
            </a:r>
          </a:p>
          <a:p>
            <a:r>
              <a:t>B — huấn luyện và suy luận, giống hệt cho mọi run: ghép prompt (ảnh + câu hỏi + một dòng OCR) → Qwen2.5-VL: encoder ảnh đóng băng, LLM 4-bit đóng băng + LoRA r = 16. Khi train, loss chỉ tính trên token đáp án; khi suy luận, greedy, trả lời ngắn.</a:t>
            </a:r>
          </a:p>
          <a:p>
            <a:r>
              <a:t>C — chấm điểm sau cùng một bước chuẩn hoá, phân tích lỗi, hallucination, và prototype web.</a:t>
            </a:r>
          </a:p>
          <a:p>
            <a:r>
              <a:t>Nhấn: bước 1–4 cố định nên mọi so sánh chỉ khác đúng một yếu tố (góp ý số 4: đã có một phương pháp và hình pipeline).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[Sản phẩm &amp; giá trị · ~45 giây]</a:t>
            </a:r>
          </a:p>
          <a:p>
            <a:r>
              <a:t>Ba sản phẩm: (1) đóng góp nghiên cứu — ít nhất một cải tiến PEFT đã kiểm chứng so với baseline tái lập, kèm ablation, phân tích lỗi, hallucination; (2) prototype web — tải ảnh, hỏi tiếng Việt, nhận câu trả lời kèm chữ OCR làm bằng chứng; (3) luận văn và gói tái lập: code, adapter, config, log.</a:t>
            </a:r>
          </a:p>
          <a:p>
            <a:r>
              <a:t>Giá trị thực tiễn: đọc biển hiệu, nhãn hàng, giá cả; hỗ trợ người khiếm thị; thực đơn, biểu mẫu. Ý nghĩa khoa học: nghiên cứu PEFT có hệ thống cho VLM tiếng Việt, xử lý đặc thù tiếng Việt, đo hallucination cho VQA tiếng Việt.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 hoạch · ~45 giây — góp ý số 10]</a:t>
            </a:r>
          </a:p>
          <a:p>
            <a:r>
              <a:t>Cột mới "Đầu ra · trạng thái" trả lời góp ý: kế hoạch phải có đầu ra kiểm chứng được. Bốn mốc: Review 1 (W3), Review 2 (W8), Review 3 (W13), bảo vệ (W15).</a:t>
            </a:r>
          </a:p>
          <a:p>
            <a:r>
              <a:t>Đến Review 2: W1–W8 đã xong. Phần thí nghiệm của W9–W10 (B3 toàn bộ dữ liệu, ablation LoRA, đánh giá đầy đủ, adapter dùng chung) đã làm sớm — kết quả có ở phần B. Vì vậy hallucination và phân tích lỗi được dời lên W9–W10, prototype dời lên W11–12.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 ~10 giây]</a:t>
            </a:r>
          </a:p>
          <a:p>
            <a:r>
              <a:t>"Phần B — nội dung chính của Review 2: hệ thống hiện có và phương pháp."</a:t>
            </a:r>
          </a:p>
          <a:p>
            <a:r>
              <a:t>Logic của phần B: trước tiên xem các hệ thống hiện có — công trình trước và baseline nhóm tái lập — làm được đến đâu và yếu ở đâu; sau đó là phương pháp nhóm dùng để sửa đúng những điểm yếu đó.</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tắt · ~45 giây — nói 4 con số trước khi vào chi tiết]</a:t>
            </a:r>
          </a:p>
          <a:p>
            <a:r>
              <a:t>79,6: pipeline của nhóm tái lập đúng số công bố của Qwen2.5-VL-3B (79,3).</a:t>
            </a:r>
          </a:p>
          <a:p>
            <a:r>
              <a:t>+21,1: QLoRA tăng EM so với zero-shot trên full test ViTextVQA (+51,7 ở ViVQA).</a:t>
            </a:r>
          </a:p>
          <a:p>
            <a:r>
              <a:t>53,4: EM của phương pháp đề xuất B3-full trên full test ViTextVQA, so với 25,5 của SOTA công bố.</a:t>
            </a:r>
          </a:p>
          <a:p>
            <a:r>
              <a:t>+3,1: riêng phần đóng góp của OCR — cùng QLoRA, cùng toàn bộ dữ liệu, thêm OCR tăng 3,1 EM.</a:t>
            </a:r>
          </a:p>
          <a:p>
            <a:r>
              <a:t>Dòng dưới: tất cả chỉ train 0,196% tham số; và một adapter dùng chung cho cả hai dataset không kém adapter riêng.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1 · công trình trước &amp; SOTA · ~1 phút]</a:t>
            </a:r>
          </a:p>
          <a:p>
            <a:r>
              <a:t>ViTextVQA: BLIP-2 15,58 EM; PreSTU 22,64; ViTextBLIP-2 — SOTA — 25,48 EM / 53,95 F1; con người 88. ViVQA: các công trình dùng accuracy phân loại trên tập nhãn cố định (71,04 và 62,41).</a:t>
            </a:r>
          </a:p>
          <a:p>
            <a:r>
              <a:t>Lưu ý: metric và thiết lập khác nhau nên chỉ để định vị, không so trực tiếp.</a:t>
            </a:r>
          </a:p>
          <a:p>
            <a:r>
              <a:t>Bài học: ViTextBLIP-2 chỉ train khoảng 5% tham số mà vẫn thắng mô hình full fine-tune → ủng hộ hướng PEFT của nhóm.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2 · dữ liệu benchmark có nhiễu · ~1 phút]</a:t>
            </a:r>
          </a:p>
          <a:p>
            <a:r>
              <a:t>ViVQA được tạo từ COCO-QA: câu hỏi sinh tự động rồi dịch bằng Google Translate → các điểm nhiễu N1–N4 (ví dụ purple dịch thành "tía").</a:t>
            </a:r>
          </a:p>
          <a:p>
            <a:r>
              <a:t>Kiểm tra rò rỉ: ở ViVQA, 1.274/2.789 ảnh test cũng có trong train, 99,4% đáp án test thuộc 333 đáp án của train — từ vựng đóng. ViTextVQA không có ảnh trùng → phép thử tổng quát hoá sạch hơn. Vì vậy nhóm luôn báo cáo thêm phần test sạch của ViVQA (slide 35).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4 · kiến trúc baseline · ~1,5 phút — góp ý của thầy Trí]</a:t>
            </a:r>
          </a:p>
          <a:p>
            <a:r>
              <a:t>Đi theo luồng dữ liệu bên phải. (1) Ảnh vào ViT: tối đa 401.408 pixel, cắt patch 14×14, qua 32 khối. (2) Patch merger gộp 2×2 patch thành 1 token → 256–512 token ảnh. (3) Prompt: chat template + token ảnh + câu hỏi tiếng Việt. (4) Decoder Qwen2.5, 36 lớp, sinh tham lam tối đa 32 token, rồi chuẩn hoá và chấm.</a:t>
            </a:r>
          </a:p>
          <a:p>
            <a:r>
              <a:t>Ô vàng: phần được train là LoRA r = 16, α = 32 trên q, k, v, o — 7,37 triệu tham số, 29,5 MB; còn lại đóng băng, LLM 4-bit NF4.</a:t>
            </a:r>
          </a:p>
          <a:p>
            <a:r>
              <a:t>Baseline không dùng OCR; OCR là cải tiến B3 (slide 28).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5 · giao thức đánh giá · ~45 giây]</a:t>
            </a:r>
          </a:p>
          <a:p>
            <a:r>
              <a:t>Trước khi chạy baseline, nhóm chốt một giao thức cố định cho mọi run: bf16, 4-bit NF4, tối đa 512 token ảnh, greedy 32 token, seed 42, GPU L4.</a:t>
            </a:r>
          </a:p>
          <a:p>
            <a:r>
              <a:t>Metric chính EM, VQA-Acc, ANLS; F1 để so với paper. Chuẩn hoá tiếng Việt đối xứng cho dự đoán và đáp án, giữ dấu thanh.</a:t>
            </a:r>
          </a:p>
          <a:p>
            <a:r>
              <a:t>Thống kê: McNemar ghép cặp cho EM, CI95 bootstrap cho ANLS; luật kết luận chốt trước mỗi run.</a:t>
            </a:r>
          </a:p>
          <a:p>
            <a:r>
              <a:t>Nếu bị hỏi: hai dataset chỉ có một đáp án mỗi câu nên VQA-Acc trùng EM — nhóm vẫn báo cáo cột này vì là metric bắt buộc.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7 · baseline zero-shot B1 · ~1 phút]</a:t>
            </a:r>
          </a:p>
          <a:p>
            <a:r>
              <a:t>EM 22,1 ở ViVQA, khoảng 29 ở ViTextVQA. Lỗi chính không phải "không hiểu" mà là định dạng: trả lời dài gần gấp đôi đáp án chuẩn; 19% câu trả lời ViTextVQA chứa đáp án nhưng vẫn trượt EM (ví dụ "Lịch tết năm 2021" so với "2021"). Ngoài ra có chen tiếng Anh, hallucination và đáp án chuẩn nhiễu.</a:t>
            </a:r>
          </a:p>
          <a:p>
            <a:r>
              <a:t>Biểu đồ: ViVQA zero-shot gần 0 ở câu hỏi vị trí và vật thể. Đây chính là điểm yếu V2 mà phương pháp phải sửa.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System 8 · có nên dùng model lớn hơn? · ~1 phút]</a:t>
            </a:r>
          </a:p>
          <a:p>
            <a:r>
              <a:t>Paper ViTextVQA báo QwenVL-7B zero-shot 28 EM. Nhóm chạy Qwen2-VL-7B trong cùng điều kiện: chỉ 16,2 EM, thấp hơn 3B 12,6 điểm, p ≈ 10⁻³³; tăng độ phân giải cũng không giúp.</a:t>
            </a:r>
          </a:p>
          <a:p>
            <a:r>
              <a:t>Lý do: 7B trả lời dài 8,2 từ so với đáp án 3,7 từ — EM trượt dù đọc đúng chữ. Table 7 của paper chỉ có 100 câu (±9 EM) nên không đủ để quyết định.</a:t>
            </a:r>
          </a:p>
          <a:p>
            <a:r>
              <a:t>Kết luận phần Existing System: giữ Qwen2.5-VL-3B; điểm yếu là định dạng câu trả lời và đọc chữ → chuyển sang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1 · lộ trình · ~45 giây]</a:t>
            </a:r>
          </a:p>
          <a:p>
            <a:r>
              <a:t>Phương pháp đi bốn bước, mỗi bước chỉ đổi một yếu tố so với bước trước; khởi điểm là B1 zero-shot.</a:t>
            </a:r>
          </a:p>
          <a:p>
            <a:r>
              <a:t>B2: thêm QLoRA — PEFT có hơn zero-shot không. B3: thêm một dòng OCR vào prompt khi train và test — dạy model dùng chữ OCR có giúp không (trên tập con 8.000 câu để tiết kiệm). B3F (B3-full): cùng công thức trên toàn bộ dữ liệu — đủ dữ liệu OCR còn giúp không. SH: một adapter cho cả hai dataset — để làm prototype.</a:t>
            </a:r>
          </a:p>
          <a:p>
            <a:r>
              <a:t>Luật kết luận của từng bước được chốt trước khi chạy.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2 · QLoRA B2 · ~45 giây]</a:t>
            </a:r>
          </a:p>
          <a:p>
            <a:r>
              <a:t>Biểu đồ: ViVQA 22,1 → 73,8 EM; ViTextVQA 29,1 → 50,3 trên full test. Luật chốt trước: cải thiện nếu EM tăng và McNemar p &lt; 0,05 → đạt trên cả hai dataset.</a:t>
            </a:r>
          </a:p>
          <a:p>
            <a:r>
              <a:t>Chi phí: 3 giờ (ViVQA) và 12 giờ (ViTextVQA) trên một L4, VRAM tối đa 6,9 GB. H1 được ủng hộ.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3 · B2 còn sai ở đâu · ~1 phút]</a:t>
            </a:r>
          </a:p>
          <a:p>
            <a:r>
              <a:t>Nhóm chọn cải tiến dựa trên lỗi thật, không đoán. Duyệt tay 200 lỗi: 54% thực ra đúng ý nhưng EM quá khắt khe; 12,5% đáp án chuẩn nhiễu.</a:t>
            </a:r>
          </a:p>
          <a:p>
            <a:r>
              <a:t>Lỗi thật ở ViTextVQA: đọc sai chữ 28%, nhầm vùng chữ 23%, sai dấu 8% → đọc chữ là điểm yếu lớn nhất → động lực cho OCR (B3). Hallucination chỉ 7% số lỗi. Nhãn có kiểm độ đồng thuận κ = 0,62.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4 · phương pháp đề xuất B3 · ~1 phút]</a:t>
            </a:r>
          </a:p>
          <a:p>
            <a:r>
              <a:t>Ảnh → PaddleOCR dò dòng chữ → VietOCR đọc tiếng Việt, giữ dấu → một dòng "Văn bản đọc được trong ảnh: …" đặt trước câu hỏi → Qwen2.5-VL + LoRA train cùng dòng OCR.</a:t>
            </a:r>
          </a:p>
          <a:p>
            <a:r>
              <a:t>VietOCR được chọn theo luật trên dev300: đáp án nằm trong văn bản OCR 37,7% so với 27,0% của PaddleOCR (bản Latin làm rơi dấu).</a:t>
            </a:r>
          </a:p>
          <a:p>
            <a:r>
              <a:t>Mọi thứ khác y hệt B2. Phép thử có kiểm soát: tập con 8.000 câu, so với B2-sub cùng tập nhưng không OCR.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5 · ablation 2×2 · ~1 phút — slide quan trọng nhất về OCR]</a:t>
            </a:r>
          </a:p>
          <a:p>
            <a:r>
              <a:t>OCR lúc train × OCR lúc test, trên test2000. Chỉ thêm OCR lúc test: không giúp. Chỉ lúc train: không giúp. Cả hai: +4,35 EM. Tương tác +4,9 EM, CI95 từ +3,2 đến +6,6.</a:t>
            </a:r>
          </a:p>
          <a:p>
            <a:r>
              <a:t>Kết luận: đóng góp không phải "nhét OCR vào prompt", mà là dùng QLoRA dạy model khi nào tin chữ OCR, khi nào tin ảnh. Lặp lại với 3 seed 42, 43, 44: B3 hơn B2-sub trung bình 3,57 ± 0,76 EM, cả ba seed đều có p nhỏ hơn 1,4 nhân 10 mũ trừ 4 — chi tiết ở phụ lục.</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 6 · B3-full (W10) · ~1 phút]</a:t>
            </a:r>
          </a:p>
          <a:p>
            <a:r>
              <a:t>B3-full = công thức B3 y hệt, trên toàn bộ 35.159 câu train. Bảng 2×2 dữ liệu × OCR trên full test: không OCR 46,56 → 50,26 khi thêm dữ liệu; có OCR 49,10 → 53,35.</a:t>
            </a:r>
          </a:p>
          <a:p>
            <a:r>
              <a:t>So sánh chính B2 → B3-full: +3,09 EM; 705 câu chỉ B3-full đúng so với 395 câu chỉ B2 đúng; p = 7 × 10⁻²¹ → theo luật ghi trước: OCR-aware vượt B2 khi đủ dữ liệu. Tương tác +0,55 không có ý nghĩa: lợi ích của OCR không giảm khi thêm dữ liệu.</a:t>
            </a:r>
          </a:p>
          <a:p>
            <a:r>
              <a:t>B3-full là mô hình ViTextVQA chính thức: 53,35 EM — gấp đôi SOTA công bố.</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 thuyết · ~45 giây] H1 ủng hộ: QLoRA tăng 51,7 EM ở ViVQA và 21,1 ở ViTextVQA. H2 một phần: OCR cộng hưởng với QLoRA — tương tác +4,9 EM, và +3,1 EM khi đủ dữ liệu — nhưng ANLS chỉ +1,87, chưa tới ngưỡng +3. H3 chưa ủng hộ: few-shot làm giảm EM. H4 một phần: trên POPE tiếng Việt, 500 ảnh chưa thấy khi train, B3-full không làm tăng hallucination; còn C3, model QLoRA trên ViVQA, chưa kết luận được vì 91% câu trả lời không theo dạng có/không — model quên định dạng sau khi train trên ViVQA không có câu yes/no. Ablation A1, A2 đã làm: giữ r = 16 trên q, k, v, 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[Bước tiếp theo · ~30 giây] Đo hallucination và phân tích lỗi đã xong, H4 ủng hộ một phần. Việc tiếp theo: sửa thiên vị trả lời 'có' của adapter dùng chung trước khi làm prototype; prototype web chạy OCR trước, trả lời kèm chữ OCR và độ tin cậy; Review 3 thêm Phần C gồm kết quả cuối, lỗi, hallucination và demo.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 ~10 giây]</a:t>
            </a:r>
          </a:p>
          <a:p>
            <a:r>
              <a:t>"Nhóm em xin cảm ơn thầy cô và rất mong nhận được góp ý." Mọi con số trong bài đều có log và tái lập được.</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P1 · đối chứng · ~1 phút]</a:t>
            </a:r>
          </a:p>
          <a:p>
            <a:r>
              <a:t>Mức tăng có thật không? Hai đối chứng.</a:t>
            </a:r>
          </a:p>
          <a:p>
            <a:r>
              <a:t>(1) Rò rỉ ViVQA: chỉ tính phần test sạch (ảnh và cặp hỏi–đáp chưa thấy, n = 1.219) vẫn 25,0 → 69,1; mốc đoán theo phân bố đáp án chỉ 14,4. ViTextVQA không trùng ảnh mà vẫn +21,1.</a:t>
            </a:r>
          </a:p>
          <a:p>
            <a:r>
              <a:t>(2) Few-shot FS5: cho 5 ví dụ trong prompt để model học định dạng — câu trả lời ngắn lại nhưng mất nội dung, EM còn giảm. B2 vượt FS5 rõ → QLoRA học nhiều hơn định dạng. Đây cũng là bằng chứng H3 chưa được ủng hộ.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P2 · so với SOTA · ~45 giây]</a:t>
            </a:r>
          </a:p>
          <a:p>
            <a:r>
              <a:t>Luật: chỉ nói "cao hơn" khi cận dưới CI95 của nhóm lớn hơn số công bố. B1 zero-shot đã cao hơn về EM; B2 cao hơn cả EM và F1.</a:t>
            </a:r>
          </a:p>
          <a:p>
            <a:r>
              <a:t>Giới hạn: paper không công bố cách chuẩn hoá đáp án nên phép so giả định cách chấm tương đương. Kết quả của phương pháp đề xuất B3-full (53,35 EM) ở slide 30.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P3 · SOTA khác nhóm ở đâu · ~45 giây]</a:t>
            </a:r>
          </a:p>
          <a:p>
            <a:r>
              <a:t>ViTextBLIP-2 dùng OCR ngoài (SwinTextSpotter), LM tiếng Việt ViT5 đóng băng, chỉ train Q-Former. Nhóm dùng VLM đa ngôn ngữ tự đọc chữ, chỉ train LoRA 0,196%. Hai bên cùng train trên toàn bộ train ViTextVQA.</a:t>
            </a:r>
          </a:p>
          <a:p>
            <a:r>
              <a:t>Điểm rút ra: SOTA có dùng OCR — một gợi ý cho bước B3 của nhóm.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P4 · độ vững · ~45 giây]</a:t>
            </a:r>
          </a:p>
          <a:p>
            <a:r>
              <a:t>Ba seed: +3,57 ± 0,76 EM, cả ba seed p ≤ 1,4 × 10⁻⁴. Full test 10.028 câu: B3 49,10 so với B2-sub 46,56, p = 10⁻¹⁴, cao hơn ViTextBLIP-2.</a:t>
            </a:r>
          </a:p>
          <a:p>
            <a:r>
              <a:t>Nói trung thực: với 23% dữ liệu, B3 vẫn thấp hơn B2 dữ liệu đầy đủ 1,16 EM — câu hỏi "đủ dữ liệu thì OCR còn giúp không?" được trả lời ở slide tiếp theo.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P5 · ablation LoRA (W10) · ~45 giây]</a:t>
            </a:r>
          </a:p>
          <a:p>
            <a:r>
              <a:t>Cấu hình LoRA đã hợp lý chưa? Hai ablation trên công thức B3.</a:t>
            </a:r>
          </a:p>
          <a:p>
            <a:r>
              <a:t>A1: gắn LoRA thêm vào các lớp MLP, giữ cùng ngân sách tham số (r = 4): −0,55 EM, p = 0,34 → không cải thiện, lại chậm hơn 17,5%. A2: tăng rank lên 64: +1,05 EM nhưng p = 0,07 → không khác có ý nghĩa, adapter lớn gấp 4.</a:t>
            </a:r>
          </a:p>
          <a:p>
            <a:r>
              <a:t>Quyết định: giữ r = 16 trên q, k, v, o. B3-full dùng cấu hình B3 bất kể kết quả ablation — không chọn cấu hình bằng test.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P6 · ViVQA: số epoch · ~45 giây]</a:t>
            </a:r>
          </a:p>
          <a:p>
            <a:r>
              <a:t>Với ViVQA, train 1 hay 2 epoch? Chọn trên val sạch, vì 512/1.200 câu val dùng chung ảnh với train — train lâu sẽ làm val thường bị thiên vị. Luật: giữ 1 epoch trừ khi 2 epoch hơn có ý nghĩa → chọn C3 (2 epoch).</a:t>
            </a:r>
          </a:p>
          <a:p>
            <a:r>
              <a:t>Chạm test một lần: 73,8 → 76,6, p = 4,6 × 10⁻⁹; trên phần test sạch vẫn +3,2 → không phải nhớ ảnh. C3 là mô hình ViVQA chính thức.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P7 · adapter dùng chung SH (W11) · ~1 phút]</a:t>
            </a:r>
          </a:p>
          <a:p>
            <a:r>
              <a:t>Một adapter train trộn ViVQA + ViTextVQA (8k), mọi câu dùng prompt có OCR — đúng như cách demo chạy thật, vì demo không biết trước câu hỏi thuộc loại nào.</a:t>
            </a:r>
          </a:p>
          <a:p>
            <a:r>
              <a:t>Luật không kém δ = 1,5 EM: so với C1 trên ViVQA −0,27, CI95 [−1,13; +0,60]; so với B3 trên ViTextVQA +0,25, CI95 [−0,95; +1,45] → ĐẠT trên cả hai.</a:t>
            </a:r>
          </a:p>
          <a:p>
            <a:r>
              <a:t>44% câu ViVQA có dòng OCR vô nghĩa (ảnh COCO, chữ tiếng Anh) nhưng không bị hại (+0,15); chép nhầm chữ OCR chỉ 0,3%.</a:t>
            </a:r>
          </a:p>
          <a:p>
            <a:r>
              <a:t>Đánh đổi: SH là bản rẻ nên thấp hơn C3 và B3-full khoảng 3–4 EM → bảng kết quả chính giữ C3/B3-full, prototype dùng SH.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[Phụ lục P8 · theo loại câu hỏi (W11) · ~1 phút]</a:t>
            </a:r>
          </a:p>
          <a:p>
            <a:r>
              <a:t>ViTextVQA không có nhãn loại câu hỏi, nên nhóm viết bộ phân loại bằng luật từ khoá trên dev, đóng băng trước khi chạy test, rồi kiểm bằng 150 câu gán tay mù: khớp 80,7%.</a:t>
            </a:r>
          </a:p>
          <a:p>
            <a:r>
              <a:t>Kết quả: OCR giúp nhiều nhất ở câu phải chép đúng từng ký tự — số điện thoại, website +8,6 EM; tên người +6,4. Gần như không giúp ở watermark nguồn ảnh (+0,9). Loại khó nhất là sản phẩm/dịch vụ và địa điểm — phải suy ra từ chữ — là trọng tâm phân tích lỗi tiếp theo.</a:t>
            </a:r>
          </a:p>
          <a:p>
            <a:r>
              <a:t>Ba loại có dấu ⚠ có nhãn kém tin cậy, chỉ dùng để mô tả.</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 ~1 phút] Baseline của nhóm là Qwen2.5-VL-3B-Instruct. Hình bên trái là kiến trúc trong cấu hình của nhóm: ảnh được cắt thành patch 14×14 qua 32 khối ViT, patch merger gộp 2×2 patch thành một token, tối đa 512 token ảnh; token ảnh ghép với câu hỏi đưa vào LLM decoder 36 lớp, nén 4-bit và đóng băng, sinh câu trả lời. Nhóm chọn model này vì là VLM mở, đa ngôn ngữ, đọc chữ trong ảnh tốt, và với 3 tỉ tham số thì nén 4-bit vừa một GPU Colab. Mọi run dùng chung cấu hình: 4-bit NF4, tối đa 512 token ảnh, sinh greedy tối đa 32 token; khi train QLoRA chỉ thêm LoRA hạng 16 ở q, k, v, o — 0,196% tham số. Bằng chứng tái lập chi tiết ở slide 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png"/><Relationship Id="rId8" Type="http://schemas.openxmlformats.org/officeDocument/2006/relationships/notesSlide" Target="../notesSlides/notesSlide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4.jpe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6.png"/><Relationship Id="rId9" Type="http://schemas.openxmlformats.org/officeDocument/2006/relationships/notesSlide" Target="../notesSlides/notesSlide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3.png"/><Relationship Id="rId5" Type="http://schemas.openxmlformats.org/officeDocument/2006/relationships/image" Target="../media/image5.jpeg"/><Relationship Id="rId6" Type="http://schemas.openxmlformats.org/officeDocument/2006/relationships/image" Target="../media/image6.png"/><Relationship Id="rId7" Type="http://schemas.openxmlformats.org/officeDocument/2006/relationships/notesSlide" Target="../notesSlides/notesSlide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15.png"/><Relationship Id="rId5" Type="http://schemas.openxmlformats.org/officeDocument/2006/relationships/image" Target="../media/image16.svg"/><Relationship Id="rId6" Type="http://schemas.openxmlformats.org/officeDocument/2006/relationships/image" Target="../media/image17.png"/><Relationship Id="rId7" Type="http://schemas.openxmlformats.org/officeDocument/2006/relationships/image" Target="../media/image18.sv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6.png"/><Relationship Id="rId13" Type="http://schemas.openxmlformats.org/officeDocument/2006/relationships/image" Target="../media/image4.jpeg"/><Relationship Id="rId14" Type="http://schemas.openxmlformats.org/officeDocument/2006/relationships/notesSlide" Target="../notesSlides/notesSlide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eg"/><Relationship Id="rId3" Type="http://schemas.openxmlformats.org/officeDocument/2006/relationships/image" Target="../media/image5.jpeg"/><Relationship Id="rId4" Type="http://schemas.openxmlformats.org/officeDocument/2006/relationships/image" Target="../media/image6.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4.jpeg"/><Relationship Id="rId10" Type="http://schemas.openxmlformats.org/officeDocument/2006/relationships/notesSlide" Target="../notesSlides/notes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28.png"/><Relationship Id="rId4" Type="http://schemas.openxmlformats.org/officeDocument/2006/relationships/image" Target="../media/image29.svg"/><Relationship Id="rId5" Type="http://schemas.openxmlformats.org/officeDocument/2006/relationships/image" Target="../media/image4.jpeg"/><Relationship Id="rId6" Type="http://schemas.openxmlformats.org/officeDocument/2006/relationships/hyperlink" Target="https://arxiv.org/pdf/2509.23661" TargetMode="External"/><Relationship Id="rId7" Type="http://schemas.openxmlformats.org/officeDocument/2006/relationships/hyperlink" Target="https://arxiv.org/pdf/2404.10652" TargetMode="External"/><Relationship Id="rId8" Type="http://schemas.openxmlformats.org/officeDocument/2006/relationships/image" Target="../media/image30.png"/><Relationship Id="rId9" Type="http://schemas.openxmlformats.org/officeDocument/2006/relationships/image" Target="../media/image31.svg"/><Relationship Id="rId10" Type="http://schemas.openxmlformats.org/officeDocument/2006/relationships/hyperlink" Target="https://arxiv.org/pdf/2305.10355" TargetMode="External"/><Relationship Id="rId11" Type="http://schemas.openxmlformats.org/officeDocument/2006/relationships/image" Target="../media/image6.png"/><Relationship Id="rId12"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eg"/><Relationship Id="rId3" Type="http://schemas.openxmlformats.org/officeDocument/2006/relationships/image" Target="../media/image5.jpeg"/><Relationship Id="rId4" Type="http://schemas.openxmlformats.org/officeDocument/2006/relationships/image" Target="../media/image6.png"/><Relationship Id="rId5" Type="http://schemas.openxmlformats.org/officeDocument/2006/relationships/image" Target="../media/image4.jpeg"/><Relationship Id="rId6" Type="http://schemas.openxmlformats.org/officeDocument/2006/relationships/notesSlide" Target="../notesSlides/notesSlide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32.png"/><Relationship Id="rId4" Type="http://schemas.openxmlformats.org/officeDocument/2006/relationships/image" Target="../media/image33.svg"/><Relationship Id="rId5" Type="http://schemas.openxmlformats.org/officeDocument/2006/relationships/image" Target="../media/image4.jpeg"/><Relationship Id="rId6" Type="http://schemas.openxmlformats.org/officeDocument/2006/relationships/image" Target="../media/image34.png"/><Relationship Id="rId7" Type="http://schemas.openxmlformats.org/officeDocument/2006/relationships/image" Target="../media/image35.svg"/><Relationship Id="rId8" Type="http://schemas.openxmlformats.org/officeDocument/2006/relationships/image" Target="../media/image6.png"/><Relationship Id="rId9"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eg"/><Relationship Id="rId3" Type="http://schemas.openxmlformats.org/officeDocument/2006/relationships/image" Target="../media/image5.jpeg"/><Relationship Id="rId4" Type="http://schemas.openxmlformats.org/officeDocument/2006/relationships/image" Target="../media/image6.png"/><Relationship Id="rId5" Type="http://schemas.openxmlformats.org/officeDocument/2006/relationships/image" Target="../media/image4.jpeg"/><Relationship Id="rId6"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6.png"/><Relationship Id="rId4" Type="http://schemas.openxmlformats.org/officeDocument/2006/relationships/image" Target="../media/image37.svg"/><Relationship Id="rId5" Type="http://schemas.openxmlformats.org/officeDocument/2006/relationships/hyperlink" Target="https://aclanthology.org/2021.paclic-1.72/" TargetMode="External"/><Relationship Id="rId6" Type="http://schemas.openxmlformats.org/officeDocument/2006/relationships/image" Target="../media/image38.png"/><Relationship Id="rId7" Type="http://schemas.openxmlformats.org/officeDocument/2006/relationships/image" Target="../media/image39.svg"/><Relationship Id="rId8" Type="http://schemas.openxmlformats.org/officeDocument/2006/relationships/hyperlink" Target="https://arxiv.org/abs/2404.10652" TargetMode="External"/><Relationship Id="rId9" Type="http://schemas.openxmlformats.org/officeDocument/2006/relationships/image" Target="../media/image40.png"/><Relationship Id="rId10" Type="http://schemas.openxmlformats.org/officeDocument/2006/relationships/image" Target="../media/image41.svg"/><Relationship Id="rId11" Type="http://schemas.openxmlformats.org/officeDocument/2006/relationships/image" Target="../media/image5.jpeg"/><Relationship Id="rId12" Type="http://schemas.openxmlformats.org/officeDocument/2006/relationships/image" Target="../media/image4.jpeg"/><Relationship Id="rId13" Type="http://schemas.openxmlformats.org/officeDocument/2006/relationships/image" Target="../media/image42.png"/><Relationship Id="rId14" Type="http://schemas.openxmlformats.org/officeDocument/2006/relationships/image" Target="../media/image43.svg"/><Relationship Id="rId15" Type="http://schemas.openxmlformats.org/officeDocument/2006/relationships/image" Target="../media/image44.png"/><Relationship Id="rId16" Type="http://schemas.openxmlformats.org/officeDocument/2006/relationships/image" Target="../media/image45.svg"/><Relationship Id="rId17"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eg"/><Relationship Id="rId3" Type="http://schemas.openxmlformats.org/officeDocument/2006/relationships/image" Target="../media/image5.jpeg"/><Relationship Id="rId4" Type="http://schemas.openxmlformats.org/officeDocument/2006/relationships/image" Target="../media/image6.png"/><Relationship Id="rId5" Type="http://schemas.openxmlformats.org/officeDocument/2006/relationships/image" Target="../media/image46.png"/><Relationship Id="rId6" Type="http://schemas.openxmlformats.org/officeDocument/2006/relationships/hyperlink" Target="https://arxiv.org/abs/2502.13923" TargetMode="External"/><Relationship Id="rId7" Type="http://schemas.openxmlformats.org/officeDocument/2006/relationships/image" Target="../media/image4.jpeg"/><Relationship Id="rId8" Type="http://schemas.openxmlformats.org/officeDocument/2006/relationships/notesSlide" Target="../notesSlides/notesSlide4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47.png"/><Relationship Id="rId4" Type="http://schemas.openxmlformats.org/officeDocument/2006/relationships/image" Target="../media/image48.svg"/><Relationship Id="rId5" Type="http://schemas.openxmlformats.org/officeDocument/2006/relationships/image" Target="../media/image4.jpeg"/><Relationship Id="rId6" Type="http://schemas.openxmlformats.org/officeDocument/2006/relationships/image" Target="../media/image49.png"/><Relationship Id="rId7" Type="http://schemas.openxmlformats.org/officeDocument/2006/relationships/image" Target="../media/image50.svg"/><Relationship Id="rId8" Type="http://schemas.openxmlformats.org/officeDocument/2006/relationships/image" Target="../media/image51.png"/><Relationship Id="rId9" Type="http://schemas.openxmlformats.org/officeDocument/2006/relationships/image" Target="../media/image52.svg"/><Relationship Id="rId10" Type="http://schemas.openxmlformats.org/officeDocument/2006/relationships/image" Target="../media/image53.png"/><Relationship Id="rId11" Type="http://schemas.openxmlformats.org/officeDocument/2006/relationships/image" Target="../media/image54.svg"/><Relationship Id="rId12" Type="http://schemas.openxmlformats.org/officeDocument/2006/relationships/image" Target="../media/image55.png"/><Relationship Id="rId13" Type="http://schemas.openxmlformats.org/officeDocument/2006/relationships/image" Target="../media/image56.svg"/><Relationship Id="rId14" Type="http://schemas.openxmlformats.org/officeDocument/2006/relationships/image" Target="../media/image57.png"/><Relationship Id="rId15" Type="http://schemas.openxmlformats.org/officeDocument/2006/relationships/image" Target="../media/image58.svg"/><Relationship Id="rId16" Type="http://schemas.openxmlformats.org/officeDocument/2006/relationships/image" Target="../media/image59.png"/><Relationship Id="rId17" Type="http://schemas.openxmlformats.org/officeDocument/2006/relationships/image" Target="../media/image60.svg"/><Relationship Id="rId18" Type="http://schemas.openxmlformats.org/officeDocument/2006/relationships/image" Target="../media/image61.png"/><Relationship Id="rId19" Type="http://schemas.openxmlformats.org/officeDocument/2006/relationships/image" Target="../media/image62.svg"/><Relationship Id="rId20" Type="http://schemas.openxmlformats.org/officeDocument/2006/relationships/image" Target="../media/image63.png"/><Relationship Id="rId21" Type="http://schemas.openxmlformats.org/officeDocument/2006/relationships/image" Target="../media/image64.svg"/><Relationship Id="rId22" Type="http://schemas.openxmlformats.org/officeDocument/2006/relationships/image" Target="../media/image65.png"/><Relationship Id="rId23" Type="http://schemas.openxmlformats.org/officeDocument/2006/relationships/image" Target="../media/image66.svg"/><Relationship Id="rId24" Type="http://schemas.openxmlformats.org/officeDocument/2006/relationships/image" Target="../media/image67.png"/><Relationship Id="rId25" Type="http://schemas.openxmlformats.org/officeDocument/2006/relationships/image" Target="../media/image68.svg"/><Relationship Id="rId26" Type="http://schemas.openxmlformats.org/officeDocument/2006/relationships/image" Target="../media/image69.png"/><Relationship Id="rId27" Type="http://schemas.openxmlformats.org/officeDocument/2006/relationships/image" Target="../media/image70.svg"/><Relationship Id="rId28" Type="http://schemas.openxmlformats.org/officeDocument/2006/relationships/image" Target="../media/image71.png"/><Relationship Id="rId29" Type="http://schemas.openxmlformats.org/officeDocument/2006/relationships/image" Target="../media/image72.svg"/><Relationship Id="rId30" Type="http://schemas.openxmlformats.org/officeDocument/2006/relationships/image" Target="../media/image6.png"/><Relationship Id="rId31"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image" Target="../media/image76.svg"/><Relationship Id="rId7" Type="http://schemas.openxmlformats.org/officeDocument/2006/relationships/image" Target="../media/image77.png"/><Relationship Id="rId8" Type="http://schemas.openxmlformats.org/officeDocument/2006/relationships/image" Target="../media/image78.svg"/><Relationship Id="rId9" Type="http://schemas.openxmlformats.org/officeDocument/2006/relationships/image" Target="../media/image79.png"/><Relationship Id="rId10" Type="http://schemas.openxmlformats.org/officeDocument/2006/relationships/image" Target="../media/image80.svg"/><Relationship Id="rId11" Type="http://schemas.openxmlformats.org/officeDocument/2006/relationships/image" Target="../media/image6.png"/><Relationship Id="rId12" Type="http://schemas.openxmlformats.org/officeDocument/2006/relationships/image" Target="../media/image4.jpeg"/><Relationship Id="rId1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svg"/><Relationship Id="rId4" Type="http://schemas.openxmlformats.org/officeDocument/2006/relationships/image" Target="../media/image3.png"/><Relationship Id="rId5" Type="http://schemas.openxmlformats.org/officeDocument/2006/relationships/image" Target="../media/image5.jpeg"/><Relationship Id="rId6" Type="http://schemas.openxmlformats.org/officeDocument/2006/relationships/image" Target="../media/image6.png"/><Relationship Id="rId7"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4.jpeg"/><Relationship Id="rId4" Type="http://schemas.openxmlformats.org/officeDocument/2006/relationships/image" Target="../media/image83.png"/><Relationship Id="rId5" Type="http://schemas.openxmlformats.org/officeDocument/2006/relationships/image" Target="../media/image84.svg"/><Relationship Id="rId6" Type="http://schemas.openxmlformats.org/officeDocument/2006/relationships/image" Target="../media/image85.png"/><Relationship Id="rId7" Type="http://schemas.openxmlformats.org/officeDocument/2006/relationships/image" Target="../media/image86.svg"/><Relationship Id="rId8" Type="http://schemas.openxmlformats.org/officeDocument/2006/relationships/image" Target="../media/image87.png"/><Relationship Id="rId9" Type="http://schemas.openxmlformats.org/officeDocument/2006/relationships/image" Target="../media/image88.svg"/><Relationship Id="rId10" Type="http://schemas.openxmlformats.org/officeDocument/2006/relationships/image" Target="../media/image6.png"/><Relationship Id="rId11"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89.png"/><Relationship Id="rId4" Type="http://schemas.openxmlformats.org/officeDocument/2006/relationships/image" Target="../media/image90.svg"/><Relationship Id="rId5" Type="http://schemas.openxmlformats.org/officeDocument/2006/relationships/image" Target="../media/image4.jpeg"/><Relationship Id="rId6" Type="http://schemas.openxmlformats.org/officeDocument/2006/relationships/image" Target="../media/image6.png"/><Relationship Id="rId7"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svg"/><Relationship Id="rId7" Type="http://schemas.openxmlformats.org/officeDocument/2006/relationships/image" Target="../media/image4.jpeg"/><Relationship Id="rId8" Type="http://schemas.openxmlformats.org/officeDocument/2006/relationships/image" Target="../media/image94.png"/><Relationship Id="rId9" Type="http://schemas.openxmlformats.org/officeDocument/2006/relationships/image" Target="../media/image95.svg"/><Relationship Id="rId10"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1.jpg"/><Relationship Id="rId6" Type="http://schemas.openxmlformats.org/officeDocument/2006/relationships/image" Target="../media/image182.jpg"/><Relationship Id="rId7" Type="http://schemas.openxmlformats.org/officeDocument/2006/relationships/image" Target="../media/image183.jpg"/><Relationship Id="rId8" Type="http://schemas.openxmlformats.org/officeDocument/2006/relationships/notesSlide" Target="../notesSlides/notesSlide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97.png"/><Relationship Id="rId4" Type="http://schemas.openxmlformats.org/officeDocument/2006/relationships/image" Target="../media/image98.svg"/><Relationship Id="rId5" Type="http://schemas.openxmlformats.org/officeDocument/2006/relationships/image" Target="../media/image99.png"/><Relationship Id="rId6" Type="http://schemas.openxmlformats.org/officeDocument/2006/relationships/image" Target="../media/image100.svg"/><Relationship Id="rId7" Type="http://schemas.openxmlformats.org/officeDocument/2006/relationships/image" Target="../media/image6.png"/><Relationship Id="rId8" Type="http://schemas.openxmlformats.org/officeDocument/2006/relationships/image" Target="../media/image4.jpeg"/><Relationship Id="rId9"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svg"/><Relationship Id="rId6" Type="http://schemas.openxmlformats.org/officeDocument/2006/relationships/image" Target="../media/image4.jpeg"/><Relationship Id="rId7" Type="http://schemas.openxmlformats.org/officeDocument/2006/relationships/image" Target="../media/image6.png"/><Relationship Id="rId8"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4.jpe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svg"/><Relationship Id="rId7" Type="http://schemas.openxmlformats.org/officeDocument/2006/relationships/image" Target="../media/image107.png"/><Relationship Id="rId8" Type="http://schemas.openxmlformats.org/officeDocument/2006/relationships/image" Target="../media/image108.svg"/><Relationship Id="rId9" Type="http://schemas.openxmlformats.org/officeDocument/2006/relationships/image" Target="../media/image6.png"/><Relationship Id="rId10" Type="http://schemas.openxmlformats.org/officeDocument/2006/relationships/hyperlink" Target="https://arxiv.org/abs/2502.13923" TargetMode="External"/><Relationship Id="rId11" Type="http://schemas.openxmlformats.org/officeDocument/2006/relationships/image" Target="../media/image184.png"/><Relationship Id="rId12" Type="http://schemas.openxmlformats.org/officeDocument/2006/relationships/image" Target="../media/image185.png"/><Relationship Id="rId13"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4.jpeg"/><Relationship Id="rId4" Type="http://schemas.openxmlformats.org/officeDocument/2006/relationships/image" Target="../media/image109.png"/><Relationship Id="rId5" Type="http://schemas.openxmlformats.org/officeDocument/2006/relationships/image" Target="../media/image110.svg"/><Relationship Id="rId6" Type="http://schemas.openxmlformats.org/officeDocument/2006/relationships/image" Target="../media/image111.png"/><Relationship Id="rId7" Type="http://schemas.openxmlformats.org/officeDocument/2006/relationships/image" Target="../media/image112.png"/><Relationship Id="rId8" Type="http://schemas.openxmlformats.org/officeDocument/2006/relationships/image" Target="../media/image113.svg"/><Relationship Id="rId9" Type="http://schemas.openxmlformats.org/officeDocument/2006/relationships/image" Target="../media/image6.png"/><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114.png"/><Relationship Id="rId4" Type="http://schemas.openxmlformats.org/officeDocument/2006/relationships/image" Target="../media/image115.svg"/><Relationship Id="rId5" Type="http://schemas.openxmlformats.org/officeDocument/2006/relationships/image" Target="../media/image116.png"/><Relationship Id="rId6" Type="http://schemas.openxmlformats.org/officeDocument/2006/relationships/image" Target="../media/image117.svg"/><Relationship Id="rId7" Type="http://schemas.openxmlformats.org/officeDocument/2006/relationships/image" Target="../media/image5.jpeg"/><Relationship Id="rId8" Type="http://schemas.openxmlformats.org/officeDocument/2006/relationships/hyperlink" Target="https://arxiv.org/pdf/2502.13923" TargetMode="External"/><Relationship Id="rId9" Type="http://schemas.openxmlformats.org/officeDocument/2006/relationships/hyperlink" Target="https://arxiv.org/pdf/2404.10652" TargetMode="External"/><Relationship Id="rId10" Type="http://schemas.openxmlformats.org/officeDocument/2006/relationships/hyperlink" Target="https://arxiv.org/pdf/2404.10652" TargetMode="External"/><Relationship Id="rId11" Type="http://schemas.openxmlformats.org/officeDocument/2006/relationships/image" Target="../media/image6.pn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118.png"/><Relationship Id="rId4" Type="http://schemas.openxmlformats.org/officeDocument/2006/relationships/image" Target="../media/image119.svg"/><Relationship Id="rId5" Type="http://schemas.openxmlformats.org/officeDocument/2006/relationships/image" Target="../media/image120.png"/><Relationship Id="rId6" Type="http://schemas.openxmlformats.org/officeDocument/2006/relationships/image" Target="../media/image121.svg"/><Relationship Id="rId7" Type="http://schemas.openxmlformats.org/officeDocument/2006/relationships/image" Target="../media/image4.jpeg"/><Relationship Id="rId8" Type="http://schemas.openxmlformats.org/officeDocument/2006/relationships/image" Target="../media/image122.png"/><Relationship Id="rId9" Type="http://schemas.openxmlformats.org/officeDocument/2006/relationships/image" Target="../media/image123.svg"/><Relationship Id="rId10" Type="http://schemas.openxmlformats.org/officeDocument/2006/relationships/image" Target="../media/image124.png"/><Relationship Id="rId11" Type="http://schemas.openxmlformats.org/officeDocument/2006/relationships/image" Target="../media/image125.svg"/><Relationship Id="rId12" Type="http://schemas.openxmlformats.org/officeDocument/2006/relationships/image" Target="../media/image6.png"/><Relationship Id="rId1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4.jpe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svg"/><Relationship Id="rId7" Type="http://schemas.openxmlformats.org/officeDocument/2006/relationships/image" Target="../media/image6.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svg"/><Relationship Id="rId6" Type="http://schemas.openxmlformats.org/officeDocument/2006/relationships/image" Target="../media/image4.jpeg"/><Relationship Id="rId7" Type="http://schemas.openxmlformats.org/officeDocument/2006/relationships/image" Target="../media/image6.png"/><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139.png"/><Relationship Id="rId4" Type="http://schemas.openxmlformats.org/officeDocument/2006/relationships/image" Target="../media/image140.svg"/><Relationship Id="rId5" Type="http://schemas.openxmlformats.org/officeDocument/2006/relationships/image" Target="../media/image141.png"/><Relationship Id="rId6" Type="http://schemas.openxmlformats.org/officeDocument/2006/relationships/image" Target="../media/image142.svg"/><Relationship Id="rId7" Type="http://schemas.openxmlformats.org/officeDocument/2006/relationships/image" Target="../media/image143.png"/><Relationship Id="rId8" Type="http://schemas.openxmlformats.org/officeDocument/2006/relationships/image" Target="../media/image144.svg"/><Relationship Id="rId9" Type="http://schemas.openxmlformats.org/officeDocument/2006/relationships/image" Target="../media/image145.png"/><Relationship Id="rId10" Type="http://schemas.openxmlformats.org/officeDocument/2006/relationships/image" Target="../media/image146.svg"/><Relationship Id="rId11" Type="http://schemas.openxmlformats.org/officeDocument/2006/relationships/image" Target="../media/image147.png"/><Relationship Id="rId12" Type="http://schemas.openxmlformats.org/officeDocument/2006/relationships/image" Target="../media/image148.svg"/><Relationship Id="rId13" Type="http://schemas.openxmlformats.org/officeDocument/2006/relationships/image" Target="../media/image4.jpeg"/><Relationship Id="rId14" Type="http://schemas.openxmlformats.org/officeDocument/2006/relationships/image" Target="../media/image149.png"/><Relationship Id="rId15" Type="http://schemas.openxmlformats.org/officeDocument/2006/relationships/image" Target="../media/image150.svg"/><Relationship Id="rId16" Type="http://schemas.openxmlformats.org/officeDocument/2006/relationships/image" Target="../media/image151.png"/><Relationship Id="rId17" Type="http://schemas.openxmlformats.org/officeDocument/2006/relationships/image" Target="../media/image152.svg"/><Relationship Id="rId18" Type="http://schemas.openxmlformats.org/officeDocument/2006/relationships/image" Target="../media/image6.png"/><Relationship Id="rId1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4.jpeg"/><Relationship Id="rId4" Type="http://schemas.openxmlformats.org/officeDocument/2006/relationships/image" Target="../media/image153.png"/><Relationship Id="rId5" Type="http://schemas.openxmlformats.org/officeDocument/2006/relationships/image" Target="../media/image154.svg"/><Relationship Id="rId6" Type="http://schemas.openxmlformats.org/officeDocument/2006/relationships/image" Target="../media/image155.png"/><Relationship Id="rId7" Type="http://schemas.openxmlformats.org/officeDocument/2006/relationships/image" Target="../media/image156.svg"/><Relationship Id="rId8" Type="http://schemas.openxmlformats.org/officeDocument/2006/relationships/image" Target="../media/image157.png"/><Relationship Id="rId9" Type="http://schemas.openxmlformats.org/officeDocument/2006/relationships/image" Target="../media/image158.svg"/><Relationship Id="rId10" Type="http://schemas.openxmlformats.org/officeDocument/2006/relationships/image" Target="../media/image159.png"/><Relationship Id="rId11" Type="http://schemas.openxmlformats.org/officeDocument/2006/relationships/image" Target="../media/image160.svg"/><Relationship Id="rId12" Type="http://schemas.openxmlformats.org/officeDocument/2006/relationships/image" Target="../media/image161.png"/><Relationship Id="rId13" Type="http://schemas.openxmlformats.org/officeDocument/2006/relationships/image" Target="../media/image162.svg"/><Relationship Id="rId14" Type="http://schemas.openxmlformats.org/officeDocument/2006/relationships/image" Target="../media/image6.png"/><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image" Target="../media/image153.png"/><Relationship Id="rId6" Type="http://schemas.openxmlformats.org/officeDocument/2006/relationships/image" Target="../media/image154.svg"/><Relationship Id="rId7" Type="http://schemas.openxmlformats.org/officeDocument/2006/relationships/image" Target="../media/image155.png"/><Relationship Id="rId8" Type="http://schemas.openxmlformats.org/officeDocument/2006/relationships/image" Target="../media/image156.svg"/><Relationship Id="rId9" Type="http://schemas.openxmlformats.org/officeDocument/2006/relationships/image" Target="../media/image157.png"/><Relationship Id="rId10" Type="http://schemas.openxmlformats.org/officeDocument/2006/relationships/image" Target="../media/image158.svg"/><Relationship Id="rId11" Type="http://schemas.openxmlformats.org/officeDocument/2006/relationships/image" Target="../media/image159.png"/><Relationship Id="rId12" Type="http://schemas.openxmlformats.org/officeDocument/2006/relationships/image" Target="../media/image160.svg"/><Relationship Id="rId13" Type="http://schemas.openxmlformats.org/officeDocument/2006/relationships/image" Target="../media/image161.png"/><Relationship Id="rId14" Type="http://schemas.openxmlformats.org/officeDocument/2006/relationships/image" Target="../media/image162.svg"/><Relationship Id="rId1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179.png"/><Relationship Id="rId4" Type="http://schemas.openxmlformats.org/officeDocument/2006/relationships/image" Target="../media/image180.svg"/><Relationship Id="rId5" Type="http://schemas.openxmlformats.org/officeDocument/2006/relationships/image" Target="../media/image4.jpeg"/><Relationship Id="rId6" Type="http://schemas.openxmlformats.org/officeDocument/2006/relationships/image" Target="../media/image6.png"/><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118.png"/><Relationship Id="rId4" Type="http://schemas.openxmlformats.org/officeDocument/2006/relationships/image" Target="../media/image119.svg"/><Relationship Id="rId5" Type="http://schemas.openxmlformats.org/officeDocument/2006/relationships/image" Target="../media/image120.png"/><Relationship Id="rId6" Type="http://schemas.openxmlformats.org/officeDocument/2006/relationships/image" Target="../media/image121.svg"/><Relationship Id="rId7" Type="http://schemas.openxmlformats.org/officeDocument/2006/relationships/image" Target="../media/image4.jpeg"/><Relationship Id="rId8" Type="http://schemas.openxmlformats.org/officeDocument/2006/relationships/image" Target="../media/image122.png"/><Relationship Id="rId9" Type="http://schemas.openxmlformats.org/officeDocument/2006/relationships/image" Target="../media/image123.svg"/><Relationship Id="rId10" Type="http://schemas.openxmlformats.org/officeDocument/2006/relationships/image" Target="../media/image124.png"/><Relationship Id="rId11" Type="http://schemas.openxmlformats.org/officeDocument/2006/relationships/image" Target="../media/image125.svg"/><Relationship Id="rId12" Type="http://schemas.openxmlformats.org/officeDocument/2006/relationships/image" Target="../media/image6.png"/><Relationship Id="rId1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5.jpeg"/><Relationship Id="rId6" Type="http://schemas.openxmlformats.org/officeDocument/2006/relationships/image" Target="../media/image6.pn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svg"/><Relationship Id="rId4" Type="http://schemas.openxmlformats.org/officeDocument/2006/relationships/image" Target="../media/image3.png"/><Relationship Id="rId5" Type="http://schemas.openxmlformats.org/officeDocument/2006/relationships/image" Target="../media/image5.jpe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129.png"/><Relationship Id="rId5" Type="http://schemas.openxmlformats.org/officeDocument/2006/relationships/image" Target="../media/image130.svg"/><Relationship Id="rId6" Type="http://schemas.openxmlformats.org/officeDocument/2006/relationships/image" Target="../media/image131.png"/><Relationship Id="rId7" Type="http://schemas.openxmlformats.org/officeDocument/2006/relationships/image" Target="../media/image132.svg"/><Relationship Id="rId8" Type="http://schemas.openxmlformats.org/officeDocument/2006/relationships/image" Target="../media/image133.png"/><Relationship Id="rId9" Type="http://schemas.openxmlformats.org/officeDocument/2006/relationships/image" Target="../media/image4.jpeg"/><Relationship Id="rId10"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114.png"/><Relationship Id="rId4" Type="http://schemas.openxmlformats.org/officeDocument/2006/relationships/image" Target="../media/image115.svg"/><Relationship Id="rId5" Type="http://schemas.openxmlformats.org/officeDocument/2006/relationships/image" Target="../media/image134.png"/><Relationship Id="rId6" Type="http://schemas.openxmlformats.org/officeDocument/2006/relationships/image" Target="../media/image135.svg"/><Relationship Id="rId7" Type="http://schemas.openxmlformats.org/officeDocument/2006/relationships/image" Target="../media/image4.jpeg"/><Relationship Id="rId8" Type="http://schemas.openxmlformats.org/officeDocument/2006/relationships/hyperlink" Target="https://arxiv.org/pdf/2404.10652" TargetMode="External"/><Relationship Id="rId9" Type="http://schemas.openxmlformats.org/officeDocument/2006/relationships/image" Target="../media/image6.png"/><Relationship Id="rId10"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4.jpeg"/><Relationship Id="rId4" Type="http://schemas.openxmlformats.org/officeDocument/2006/relationships/hyperlink" Target="https://arxiv.org/pdf/2404.10652" TargetMode="External"/><Relationship Id="rId5" Type="http://schemas.openxmlformats.org/officeDocument/2006/relationships/hyperlink" Target="https://arxiv.org/pdf/2203.10209" TargetMode="External"/><Relationship Id="rId6" Type="http://schemas.openxmlformats.org/officeDocument/2006/relationships/hyperlink" Target="https://aclanthology.org/2022.naacl-srw.18.pdf" TargetMode="External"/><Relationship Id="rId7" Type="http://schemas.openxmlformats.org/officeDocument/2006/relationships/image" Target="../media/image6.png"/><Relationship Id="rId8"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svg"/><Relationship Id="rId6" Type="http://schemas.openxmlformats.org/officeDocument/2006/relationships/image" Target="../media/image4.jpeg"/><Relationship Id="rId7" Type="http://schemas.openxmlformats.org/officeDocument/2006/relationships/image" Target="../media/image166.png"/><Relationship Id="rId8" Type="http://schemas.openxmlformats.org/officeDocument/2006/relationships/image" Target="../media/image167.svg"/><Relationship Id="rId9" Type="http://schemas.openxmlformats.org/officeDocument/2006/relationships/image" Target="../media/image6.png"/><Relationship Id="rId10"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114.png"/><Relationship Id="rId4" Type="http://schemas.openxmlformats.org/officeDocument/2006/relationships/image" Target="../media/image115.svg"/><Relationship Id="rId5" Type="http://schemas.openxmlformats.org/officeDocument/2006/relationships/image" Target="../media/image116.png"/><Relationship Id="rId6" Type="http://schemas.openxmlformats.org/officeDocument/2006/relationships/image" Target="../media/image117.svg"/><Relationship Id="rId7" Type="http://schemas.openxmlformats.org/officeDocument/2006/relationships/image" Target="../media/image4.jpeg"/><Relationship Id="rId8" Type="http://schemas.openxmlformats.org/officeDocument/2006/relationships/image" Target="../media/image6.png"/><Relationship Id="rId9"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168.png"/><Relationship Id="rId5" Type="http://schemas.openxmlformats.org/officeDocument/2006/relationships/image" Target="../media/image169.png"/><Relationship Id="rId6" Type="http://schemas.openxmlformats.org/officeDocument/2006/relationships/image" Target="../media/image170.svg"/><Relationship Id="rId7" Type="http://schemas.openxmlformats.org/officeDocument/2006/relationships/image" Target="../media/image4.jpeg"/><Relationship Id="rId8" Type="http://schemas.openxmlformats.org/officeDocument/2006/relationships/image" Target="../media/image171.png"/><Relationship Id="rId9" Type="http://schemas.openxmlformats.org/officeDocument/2006/relationships/image" Target="../media/image172.svg"/><Relationship Id="rId10" Type="http://schemas.openxmlformats.org/officeDocument/2006/relationships/image" Target="../media/image173.png"/><Relationship Id="rId11" Type="http://schemas.openxmlformats.org/officeDocument/2006/relationships/image" Target="../media/image174.svg"/><Relationship Id="rId1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7.png"/><Relationship Id="rId8" Type="http://schemas.openxmlformats.org/officeDocument/2006/relationships/image" Target="../media/image88.svg"/><Relationship Id="rId9" Type="http://schemas.openxmlformats.org/officeDocument/2006/relationships/image" Target="../media/image4.jpeg"/><Relationship Id="rId10" Type="http://schemas.openxmlformats.org/officeDocument/2006/relationships/image" Target="../media/image6.png"/><Relationship Id="rId11"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175.png"/><Relationship Id="rId5" Type="http://schemas.openxmlformats.org/officeDocument/2006/relationships/image" Target="../media/image176.svg"/><Relationship Id="rId6" Type="http://schemas.openxmlformats.org/officeDocument/2006/relationships/image" Target="../media/image177.png"/><Relationship Id="rId7" Type="http://schemas.openxmlformats.org/officeDocument/2006/relationships/image" Target="../media/image178.svg"/><Relationship Id="rId8" Type="http://schemas.openxmlformats.org/officeDocument/2006/relationships/image" Target="../media/image4.jpeg"/><Relationship Id="rId9" Type="http://schemas.openxmlformats.org/officeDocument/2006/relationships/notesSlide" Target="../notesSlides/notesSlide41.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606011" y="-1422978"/>
            <a:ext cx="18946825" cy="13987367"/>
          </a:xfrm>
          <a:custGeom>
            <a:avLst/>
            <a:gdLst/>
            <a:ahLst/>
            <a:cxnLst/>
            <a:rect r="r" b="b" t="t" l="l"/>
            <a:pathLst>
              <a:path h="13987367" w="18946825">
                <a:moveTo>
                  <a:pt x="0" y="0"/>
                </a:moveTo>
                <a:lnTo>
                  <a:pt x="18946825" y="0"/>
                </a:lnTo>
                <a:lnTo>
                  <a:pt x="18946825" y="13987367"/>
                </a:lnTo>
                <a:lnTo>
                  <a:pt x="0" y="139873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grpSp>
        <p:nvGrpSpPr>
          <p:cNvPr name="Group 3" id="3"/>
          <p:cNvGrpSpPr/>
          <p:nvPr/>
        </p:nvGrpSpPr>
        <p:grpSpPr>
          <a:xfrm rot="0">
            <a:off x="1152144" y="2425551"/>
            <a:ext cx="16184880" cy="1636395"/>
            <a:chOff x="0" y="0"/>
            <a:chExt cx="21579840" cy="2181860"/>
          </a:xfrm>
        </p:grpSpPr>
        <p:sp>
          <p:nvSpPr>
            <p:cNvPr name="Freeform 4" id="4"/>
            <p:cNvSpPr/>
            <p:nvPr/>
          </p:nvSpPr>
          <p:spPr>
            <a:xfrm flipH="false" flipV="false" rot="0">
              <a:off x="0" y="0"/>
              <a:ext cx="21579839" cy="2181860"/>
            </a:xfrm>
            <a:custGeom>
              <a:avLst/>
              <a:gdLst/>
              <a:ahLst/>
              <a:cxnLst/>
              <a:rect r="r" b="b" t="t" l="l"/>
              <a:pathLst>
                <a:path h="2181860" w="21579839">
                  <a:moveTo>
                    <a:pt x="0" y="0"/>
                  </a:moveTo>
                  <a:lnTo>
                    <a:pt x="21579839" y="0"/>
                  </a:lnTo>
                  <a:lnTo>
                    <a:pt x="21579839" y="2181860"/>
                  </a:lnTo>
                  <a:lnTo>
                    <a:pt x="0" y="2181860"/>
                  </a:lnTo>
                  <a:close/>
                </a:path>
              </a:pathLst>
            </a:custGeom>
            <a:blipFill>
              <a:blip r:embed="rId4">
                <a:alphaModFix amt="0"/>
              </a:blip>
              <a:stretch>
                <a:fillRect l="0" t="-365236" r="0" b="-365236"/>
              </a:stretch>
            </a:blipFill>
          </p:spPr>
          <p:txBody>
            <a:bodyPr/>
            <a:p/>
          </p:txBody>
        </p:sp>
      </p:grpSp>
      <p:grpSp>
        <p:nvGrpSpPr>
          <p:cNvPr name="Group 5" id="5"/>
          <p:cNvGrpSpPr/>
          <p:nvPr/>
        </p:nvGrpSpPr>
        <p:grpSpPr>
          <a:xfrm rot="0">
            <a:off x="1152144" y="2425551"/>
            <a:ext cx="16184880" cy="1636395"/>
            <a:chOff x="0" y="0"/>
            <a:chExt cx="21579840" cy="2181860"/>
          </a:xfrm>
        </p:grpSpPr>
        <p:sp>
          <p:nvSpPr>
            <p:cNvPr name="Freeform 6" id="6"/>
            <p:cNvSpPr/>
            <p:nvPr/>
          </p:nvSpPr>
          <p:spPr>
            <a:xfrm flipH="false" flipV="false" rot="0">
              <a:off x="0" y="0"/>
              <a:ext cx="21579839" cy="2181857"/>
            </a:xfrm>
            <a:custGeom>
              <a:avLst/>
              <a:gdLst/>
              <a:ahLst/>
              <a:cxnLst/>
              <a:rect r="r" b="b" t="t" l="l"/>
              <a:pathLst>
                <a:path h="2181857" w="21579839">
                  <a:moveTo>
                    <a:pt x="0" y="0"/>
                  </a:moveTo>
                  <a:lnTo>
                    <a:pt x="21579839" y="0"/>
                  </a:lnTo>
                  <a:lnTo>
                    <a:pt x="21579839" y="2181857"/>
                  </a:lnTo>
                  <a:lnTo>
                    <a:pt x="0" y="2181857"/>
                  </a:lnTo>
                  <a:close/>
                </a:path>
              </a:pathLst>
            </a:custGeom>
            <a:blipFill>
              <a:blip r:embed="rId5">
                <a:alphaModFix amt="0"/>
              </a:blip>
              <a:stretch>
                <a:fillRect l="0" t="-142718" r="0" b="-142718"/>
              </a:stretch>
            </a:blipFill>
          </p:spPr>
          <p:txBody>
            <a:bodyPr/>
            <a:p/>
          </p:txBody>
        </p:sp>
        <p:sp>
          <p:nvSpPr>
            <p:cNvPr name="TextBox 7" id="7"/>
            <p:cNvSpPr txBox="true"/>
            <p:nvPr/>
          </p:nvSpPr>
          <p:spPr>
            <a:xfrm>
              <a:off x="0" y="0"/>
              <a:ext cx="21579840" cy="2181860"/>
            </a:xfrm>
            <a:prstGeom prst="rect">
              <a:avLst/>
            </a:prstGeom>
          </p:spPr>
          <p:txBody>
            <a:bodyPr anchor="ctr" rtlCol="false" tIns="0" lIns="0" bIns="0" rIns="0"/>
            <a:lstStyle/>
            <a:p>
              <a:pPr algn="l">
                <a:lnSpc>
                  <a:spcPts val="9900"/>
                </a:lnSpc>
              </a:pPr>
              <a:r>
                <a:rPr lang="en-US" sz="8250" b="true">
                  <a:solidFill>
                    <a:srgbClr val="FFFFFF"/>
                  </a:solidFill>
                  <a:latin typeface="Noto Sans Bold"/>
                  <a:ea typeface="Noto Sans Bold"/>
                  <a:cs typeface="Noto Sans Bold"/>
                  <a:sym typeface="Noto Sans Bold"/>
                </a:rPr>
                <a:t>ViVQA–VLM</a:t>
              </a:r>
            </a:p>
          </p:txBody>
        </p:sp>
      </p:grpSp>
      <p:grpSp>
        <p:nvGrpSpPr>
          <p:cNvPr name="Group 8" id="8"/>
          <p:cNvGrpSpPr/>
          <p:nvPr/>
        </p:nvGrpSpPr>
        <p:grpSpPr>
          <a:xfrm rot="0">
            <a:off x="1152144" y="4061936"/>
            <a:ext cx="15636240" cy="1508760"/>
            <a:chOff x="0" y="0"/>
            <a:chExt cx="20848320" cy="2011680"/>
          </a:xfrm>
        </p:grpSpPr>
        <p:sp>
          <p:nvSpPr>
            <p:cNvPr name="Freeform 9" id="9"/>
            <p:cNvSpPr/>
            <p:nvPr/>
          </p:nvSpPr>
          <p:spPr>
            <a:xfrm flipH="false" flipV="false" rot="0">
              <a:off x="0" y="0"/>
              <a:ext cx="20848320" cy="2011680"/>
            </a:xfrm>
            <a:custGeom>
              <a:avLst/>
              <a:gdLst/>
              <a:ahLst/>
              <a:cxnLst/>
              <a:rect r="r" b="b" t="t" l="l"/>
              <a:pathLst>
                <a:path h="2011680" w="20848320">
                  <a:moveTo>
                    <a:pt x="0" y="0"/>
                  </a:moveTo>
                  <a:lnTo>
                    <a:pt x="20848320" y="0"/>
                  </a:lnTo>
                  <a:lnTo>
                    <a:pt x="20848320" y="2011680"/>
                  </a:lnTo>
                  <a:lnTo>
                    <a:pt x="0" y="2011680"/>
                  </a:lnTo>
                  <a:close/>
                </a:path>
              </a:pathLst>
            </a:custGeom>
            <a:blipFill>
              <a:blip r:embed="rId4">
                <a:alphaModFix amt="0"/>
              </a:blip>
              <a:stretch>
                <a:fillRect l="0" t="-385097" r="0" b="-385097"/>
              </a:stretch>
            </a:blipFill>
          </p:spPr>
          <p:txBody>
            <a:bodyPr/>
            <a:p/>
          </p:txBody>
        </p:sp>
      </p:grpSp>
      <p:grpSp>
        <p:nvGrpSpPr>
          <p:cNvPr name="Group 10" id="10"/>
          <p:cNvGrpSpPr/>
          <p:nvPr/>
        </p:nvGrpSpPr>
        <p:grpSpPr>
          <a:xfrm rot="0">
            <a:off x="1152144" y="4069080"/>
            <a:ext cx="15636240" cy="1501616"/>
            <a:chOff x="0" y="0"/>
            <a:chExt cx="20848320" cy="2002155"/>
          </a:xfrm>
        </p:grpSpPr>
        <p:sp>
          <p:nvSpPr>
            <p:cNvPr name="Freeform 11" id="11"/>
            <p:cNvSpPr/>
            <p:nvPr/>
          </p:nvSpPr>
          <p:spPr>
            <a:xfrm flipH="false" flipV="false" rot="0">
              <a:off x="0" y="0"/>
              <a:ext cx="20848320" cy="2002155"/>
            </a:xfrm>
            <a:custGeom>
              <a:avLst/>
              <a:gdLst/>
              <a:ahLst/>
              <a:cxnLst/>
              <a:rect r="r" b="b" t="t" l="l"/>
              <a:pathLst>
                <a:path h="2002155" w="20848320">
                  <a:moveTo>
                    <a:pt x="0" y="0"/>
                  </a:moveTo>
                  <a:lnTo>
                    <a:pt x="20848320" y="0"/>
                  </a:lnTo>
                  <a:lnTo>
                    <a:pt x="20848320" y="2002155"/>
                  </a:lnTo>
                  <a:lnTo>
                    <a:pt x="0" y="2002155"/>
                  </a:lnTo>
                  <a:close/>
                </a:path>
              </a:pathLst>
            </a:custGeom>
            <a:blipFill>
              <a:blip r:embed="rId5">
                <a:alphaModFix amt="0"/>
              </a:blip>
              <a:stretch>
                <a:fillRect l="0" t="-152896" r="0" b="-152896"/>
              </a:stretch>
            </a:blipFill>
          </p:spPr>
          <p:txBody>
            <a:bodyPr/>
            <a:p/>
          </p:txBody>
        </p:sp>
        <p:sp>
          <p:nvSpPr>
            <p:cNvPr name="TextBox 12" id="12"/>
            <p:cNvSpPr txBox="true"/>
            <p:nvPr/>
          </p:nvSpPr>
          <p:spPr>
            <a:xfrm>
              <a:off x="0" y="9525"/>
              <a:ext cx="20848320" cy="1992630"/>
            </a:xfrm>
            <a:prstGeom prst="rect">
              <a:avLst/>
            </a:prstGeom>
          </p:spPr>
          <p:txBody>
            <a:bodyPr anchor="ctr" rtlCol="false" tIns="0" lIns="0" bIns="0" rIns="0"/>
            <a:lstStyle/>
            <a:p>
              <a:pPr algn="l">
                <a:lnSpc>
                  <a:spcPts val="4284"/>
                </a:lnSpc>
              </a:pPr>
              <a:r>
                <a:rPr lang="en-US" sz="3570">
                  <a:solidFill>
                    <a:srgbClr val="FFFFFF"/>
                  </a:solidFill>
                  <a:latin typeface="Noto Sans"/>
                  <a:ea typeface="Noto Sans"/>
                  <a:cs typeface="Noto Sans"/>
                  <a:sym typeface="Noto Sans"/>
                </a:rPr>
                <a:t>Efficient Vietnamese Visual Question Answering</a:t>
              </a:r>
            </a:p>
            <a:p>
              <a:pPr algn="l">
                <a:lnSpc>
                  <a:spcPts val="4284"/>
                </a:lnSpc>
              </a:pPr>
              <a:r>
                <a:rPr lang="en-US" sz="3570">
                  <a:solidFill>
                    <a:srgbClr val="FFFFFF"/>
                  </a:solidFill>
                  <a:latin typeface="Noto Sans"/>
                  <a:ea typeface="Noto Sans"/>
                  <a:cs typeface="Noto Sans"/>
                  <a:sym typeface="Noto Sans"/>
                </a:rPr>
                <a:t>using Vision–Language Models</a:t>
              </a:r>
            </a:p>
          </p:txBody>
        </p:sp>
      </p:grpSp>
      <p:grpSp>
        <p:nvGrpSpPr>
          <p:cNvPr name="Group 13" id="13"/>
          <p:cNvGrpSpPr/>
          <p:nvPr/>
        </p:nvGrpSpPr>
        <p:grpSpPr>
          <a:xfrm rot="0">
            <a:off x="1152144" y="5788352"/>
            <a:ext cx="11795760" cy="559584"/>
            <a:chOff x="0" y="0"/>
            <a:chExt cx="15727680" cy="746112"/>
          </a:xfrm>
        </p:grpSpPr>
        <p:sp>
          <p:nvSpPr>
            <p:cNvPr name="Freeform 14" id="14"/>
            <p:cNvSpPr/>
            <p:nvPr/>
          </p:nvSpPr>
          <p:spPr>
            <a:xfrm flipH="false" flipV="false" rot="0">
              <a:off x="0" y="0"/>
              <a:ext cx="15727680" cy="746125"/>
            </a:xfrm>
            <a:custGeom>
              <a:avLst/>
              <a:gdLst/>
              <a:ahLst/>
              <a:cxnLst/>
              <a:rect r="r" b="b" t="t" l="l"/>
              <a:pathLst>
                <a:path h="746125" w="15727680">
                  <a:moveTo>
                    <a:pt x="0" y="0"/>
                  </a:moveTo>
                  <a:lnTo>
                    <a:pt x="15727680" y="0"/>
                  </a:lnTo>
                  <a:lnTo>
                    <a:pt x="15727680" y="746125"/>
                  </a:lnTo>
                  <a:lnTo>
                    <a:pt x="0" y="746125"/>
                  </a:lnTo>
                  <a:close/>
                </a:path>
              </a:pathLst>
            </a:custGeom>
            <a:blipFill>
              <a:blip r:embed="rId6">
                <a:alphaModFix amt="0"/>
              </a:blip>
              <a:stretch>
                <a:fillRect l="0" t="-360442" r="0" b="-360442"/>
              </a:stretch>
            </a:blipFill>
          </p:spPr>
          <p:txBody>
            <a:bodyPr/>
            <a:p/>
          </p:txBody>
        </p:sp>
      </p:grpSp>
      <p:grpSp>
        <p:nvGrpSpPr>
          <p:cNvPr name="Group 15" id="15"/>
          <p:cNvGrpSpPr/>
          <p:nvPr/>
        </p:nvGrpSpPr>
        <p:grpSpPr>
          <a:xfrm rot="0">
            <a:off x="1152144" y="5788352"/>
            <a:ext cx="11795760" cy="559584"/>
            <a:chOff x="0" y="0"/>
            <a:chExt cx="15727680" cy="746112"/>
          </a:xfrm>
        </p:grpSpPr>
        <p:sp>
          <p:nvSpPr>
            <p:cNvPr name="Freeform 16" id="16"/>
            <p:cNvSpPr/>
            <p:nvPr/>
          </p:nvSpPr>
          <p:spPr>
            <a:xfrm flipH="false" flipV="false" rot="0">
              <a:off x="0" y="0"/>
              <a:ext cx="15727680" cy="746112"/>
            </a:xfrm>
            <a:custGeom>
              <a:avLst/>
              <a:gdLst/>
              <a:ahLst/>
              <a:cxnLst/>
              <a:rect r="r" b="b" t="t" l="l"/>
              <a:pathLst>
                <a:path h="746112" w="15727680">
                  <a:moveTo>
                    <a:pt x="0" y="0"/>
                  </a:moveTo>
                  <a:lnTo>
                    <a:pt x="15727680" y="0"/>
                  </a:lnTo>
                  <a:lnTo>
                    <a:pt x="15727680" y="746112"/>
                  </a:lnTo>
                  <a:lnTo>
                    <a:pt x="0" y="746112"/>
                  </a:lnTo>
                  <a:close/>
                </a:path>
              </a:pathLst>
            </a:custGeom>
            <a:blipFill>
              <a:blip r:embed="rId5">
                <a:alphaModFix amt="0"/>
              </a:blip>
              <a:stretch>
                <a:fillRect l="0" t="-360735" r="0" b="-360735"/>
              </a:stretch>
            </a:blipFill>
          </p:spPr>
          <p:txBody>
            <a:bodyPr/>
            <a:p/>
          </p:txBody>
        </p:sp>
        <p:sp>
          <p:nvSpPr>
            <p:cNvPr name="TextBox 17" id="17"/>
            <p:cNvSpPr txBox="true"/>
            <p:nvPr/>
          </p:nvSpPr>
          <p:spPr>
            <a:xfrm>
              <a:off x="0" y="0"/>
              <a:ext cx="15727680" cy="746112"/>
            </a:xfrm>
            <a:prstGeom prst="rect">
              <a:avLst/>
            </a:prstGeom>
          </p:spPr>
          <p:txBody>
            <a:bodyPr anchor="ctr" rtlCol="false" tIns="0" lIns="0" bIns="0" rIns="0"/>
            <a:lstStyle/>
            <a:p>
              <a:pPr algn="l">
                <a:lnSpc>
                  <a:spcPts val="3419"/>
                </a:lnSpc>
              </a:pPr>
              <a:r>
                <a:rPr lang="en-US" sz="2849" b="true">
                  <a:solidFill>
                    <a:srgbClr val="FFFFFF"/>
                  </a:solidFill>
                  <a:latin typeface="Noto Sans Bold"/>
                  <a:ea typeface="Noto Sans Bold"/>
                  <a:cs typeface="Noto Sans Bold"/>
                  <a:sym typeface="Noto Sans Bold"/>
                </a:rPr>
                <a:t>GFA26AI35  </a:t>
              </a:r>
            </a:p>
          </p:txBody>
        </p:sp>
      </p:grpSp>
      <p:grpSp>
        <p:nvGrpSpPr>
          <p:cNvPr name="Group 18" id="18"/>
          <p:cNvGrpSpPr/>
          <p:nvPr/>
        </p:nvGrpSpPr>
        <p:grpSpPr>
          <a:xfrm rot="0">
            <a:off x="1152144" y="6531216"/>
            <a:ext cx="14538960" cy="523427"/>
            <a:chOff x="0" y="0"/>
            <a:chExt cx="19385280" cy="697903"/>
          </a:xfrm>
        </p:grpSpPr>
        <p:sp>
          <p:nvSpPr>
            <p:cNvPr name="Freeform 19" id="19"/>
            <p:cNvSpPr/>
            <p:nvPr/>
          </p:nvSpPr>
          <p:spPr>
            <a:xfrm flipH="false" flipV="false" rot="0">
              <a:off x="0" y="0"/>
              <a:ext cx="19385280" cy="697865"/>
            </a:xfrm>
            <a:custGeom>
              <a:avLst/>
              <a:gdLst/>
              <a:ahLst/>
              <a:cxnLst/>
              <a:rect r="r" b="b" t="t" l="l"/>
              <a:pathLst>
                <a:path h="697865" w="19385280">
                  <a:moveTo>
                    <a:pt x="0" y="0"/>
                  </a:moveTo>
                  <a:lnTo>
                    <a:pt x="19385280" y="0"/>
                  </a:lnTo>
                  <a:lnTo>
                    <a:pt x="19385280" y="697865"/>
                  </a:lnTo>
                  <a:lnTo>
                    <a:pt x="0" y="697865"/>
                  </a:lnTo>
                  <a:close/>
                </a:path>
              </a:pathLst>
            </a:custGeom>
            <a:blipFill>
              <a:blip r:embed="rId4">
                <a:alphaModFix amt="0"/>
              </a:blip>
              <a:stretch>
                <a:fillRect l="0" t="-1116203" r="0" b="-1116209"/>
              </a:stretch>
            </a:blipFill>
          </p:spPr>
          <p:txBody>
            <a:bodyPr/>
            <a:p/>
          </p:txBody>
        </p:sp>
      </p:grpSp>
      <p:grpSp>
        <p:nvGrpSpPr>
          <p:cNvPr name="Group 20" id="20"/>
          <p:cNvGrpSpPr/>
          <p:nvPr/>
        </p:nvGrpSpPr>
        <p:grpSpPr>
          <a:xfrm rot="0">
            <a:off x="1152144" y="6524073"/>
            <a:ext cx="14538960" cy="530571"/>
            <a:chOff x="0" y="0"/>
            <a:chExt cx="19385280" cy="707428"/>
          </a:xfrm>
        </p:grpSpPr>
        <p:sp>
          <p:nvSpPr>
            <p:cNvPr name="Freeform 21" id="21"/>
            <p:cNvSpPr/>
            <p:nvPr/>
          </p:nvSpPr>
          <p:spPr>
            <a:xfrm flipH="false" flipV="false" rot="0">
              <a:off x="0" y="0"/>
              <a:ext cx="19385280" cy="707428"/>
            </a:xfrm>
            <a:custGeom>
              <a:avLst/>
              <a:gdLst/>
              <a:ahLst/>
              <a:cxnLst/>
              <a:rect r="r" b="b" t="t" l="l"/>
              <a:pathLst>
                <a:path h="707428" w="19385280">
                  <a:moveTo>
                    <a:pt x="0" y="0"/>
                  </a:moveTo>
                  <a:lnTo>
                    <a:pt x="19385280" y="0"/>
                  </a:lnTo>
                  <a:lnTo>
                    <a:pt x="19385280" y="707428"/>
                  </a:lnTo>
                  <a:lnTo>
                    <a:pt x="0" y="707428"/>
                  </a:lnTo>
                  <a:close/>
                </a:path>
              </a:pathLst>
            </a:custGeom>
            <a:blipFill>
              <a:blip r:embed="rId5">
                <a:alphaModFix amt="0"/>
              </a:blip>
              <a:stretch>
                <a:fillRect l="0" t="-483938" r="0" b="-483938"/>
              </a:stretch>
            </a:blipFill>
          </p:spPr>
          <p:txBody>
            <a:bodyPr/>
            <a:p/>
          </p:txBody>
        </p:sp>
        <p:sp>
          <p:nvSpPr>
            <p:cNvPr name="TextBox 22" id="22"/>
            <p:cNvSpPr txBox="true"/>
            <p:nvPr/>
          </p:nvSpPr>
          <p:spPr>
            <a:xfrm>
              <a:off x="0" y="-9525"/>
              <a:ext cx="19385280" cy="716953"/>
            </a:xfrm>
            <a:prstGeom prst="rect">
              <a:avLst/>
            </a:prstGeom>
          </p:spPr>
          <p:txBody>
            <a:bodyPr anchor="ctr" rtlCol="false" tIns="0" lIns="0" bIns="0" rIns="0"/>
            <a:lstStyle/>
            <a:p>
              <a:pPr algn="l">
                <a:lnSpc>
                  <a:spcPts val="3220"/>
                </a:lnSpc>
              </a:pPr>
              <a:r>
                <a:rPr lang="en-US" sz="2684">
                  <a:solidFill>
                    <a:srgbClr val="FFFFFF"/>
                  </a:solidFill>
                  <a:latin typeface="Noto Sans"/>
                  <a:ea typeface="Noto Sans"/>
                  <a:cs typeface="Noto Sans"/>
                  <a:sym typeface="Noto Sans"/>
                </a:rPr>
                <a:t>Supervisors: Đặng Ngọc Minh Đức · Phạm Minh Trí</a:t>
              </a:r>
            </a:p>
          </p:txBody>
        </p:sp>
      </p:grpSp>
      <p:grpSp>
        <p:nvGrpSpPr>
          <p:cNvPr name="Group 23" id="23"/>
          <p:cNvGrpSpPr/>
          <p:nvPr/>
        </p:nvGrpSpPr>
        <p:grpSpPr>
          <a:xfrm rot="0">
            <a:off x="0" y="0"/>
            <a:ext cx="2829268" cy="1184338"/>
            <a:chOff x="0" y="0"/>
            <a:chExt cx="3772357" cy="1579118"/>
          </a:xfrm>
        </p:grpSpPr>
        <p:sp>
          <p:nvSpPr>
            <p:cNvPr name="Freeform 24" id="24"/>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7"/>
              <a:stretch>
                <a:fillRect l="0" t="0" r="1" b="0"/>
              </a:stretch>
            </a:blipFill>
          </p:spPr>
          <p:txBody>
            <a:bodyPr/>
            <a:p/>
          </p:txBody>
        </p:sp>
      </p:grpSp>
      <p:grpSp>
        <p:nvGrpSpPr>
          <p:cNvPr name="Group 25" id="25"/>
          <p:cNvGrpSpPr/>
          <p:nvPr/>
        </p:nvGrpSpPr>
        <p:grpSpPr>
          <a:xfrm rot="0">
            <a:off x="1152144" y="7273719"/>
            <a:ext cx="14538960" cy="523427"/>
            <a:chOff x="0" y="0"/>
            <a:chExt cx="19385280" cy="697903"/>
          </a:xfrm>
        </p:grpSpPr>
        <p:sp>
          <p:nvSpPr>
            <p:cNvPr name="Freeform 26" id="26"/>
            <p:cNvSpPr/>
            <p:nvPr/>
          </p:nvSpPr>
          <p:spPr>
            <a:xfrm flipH="false" flipV="false" rot="0">
              <a:off x="0" y="0"/>
              <a:ext cx="19385280" cy="697865"/>
            </a:xfrm>
            <a:custGeom>
              <a:avLst/>
              <a:gdLst/>
              <a:ahLst/>
              <a:cxnLst/>
              <a:rect r="r" b="b" t="t" l="l"/>
              <a:pathLst>
                <a:path h="697865" w="19385280">
                  <a:moveTo>
                    <a:pt x="0" y="0"/>
                  </a:moveTo>
                  <a:lnTo>
                    <a:pt x="19385280" y="0"/>
                  </a:lnTo>
                  <a:lnTo>
                    <a:pt x="19385280" y="697865"/>
                  </a:lnTo>
                  <a:lnTo>
                    <a:pt x="0" y="697865"/>
                  </a:lnTo>
                  <a:close/>
                </a:path>
              </a:pathLst>
            </a:custGeom>
            <a:blipFill>
              <a:blip r:embed="rId6">
                <a:alphaModFix amt="0"/>
              </a:blip>
              <a:stretch>
                <a:fillRect l="0" t="-490875" r="0" b="-490882"/>
              </a:stretch>
            </a:blipFill>
          </p:spPr>
          <p:txBody>
            <a:bodyPr/>
            <a:p/>
          </p:txBody>
        </p:sp>
      </p:grpSp>
      <p:grpSp>
        <p:nvGrpSpPr>
          <p:cNvPr name="Group 27" id="27"/>
          <p:cNvGrpSpPr/>
          <p:nvPr/>
        </p:nvGrpSpPr>
        <p:grpSpPr>
          <a:xfrm rot="0">
            <a:off x="1152144" y="7266575"/>
            <a:ext cx="14538960" cy="530571"/>
            <a:chOff x="0" y="0"/>
            <a:chExt cx="19385280" cy="707428"/>
          </a:xfrm>
        </p:grpSpPr>
        <p:sp>
          <p:nvSpPr>
            <p:cNvPr name="Freeform 28" id="28"/>
            <p:cNvSpPr/>
            <p:nvPr/>
          </p:nvSpPr>
          <p:spPr>
            <a:xfrm flipH="false" flipV="false" rot="0">
              <a:off x="0" y="0"/>
              <a:ext cx="19385280" cy="707428"/>
            </a:xfrm>
            <a:custGeom>
              <a:avLst/>
              <a:gdLst/>
              <a:ahLst/>
              <a:cxnLst/>
              <a:rect r="r" b="b" t="t" l="l"/>
              <a:pathLst>
                <a:path h="707428" w="19385280">
                  <a:moveTo>
                    <a:pt x="0" y="0"/>
                  </a:moveTo>
                  <a:lnTo>
                    <a:pt x="19385280" y="0"/>
                  </a:lnTo>
                  <a:lnTo>
                    <a:pt x="19385280" y="707428"/>
                  </a:lnTo>
                  <a:lnTo>
                    <a:pt x="0" y="707428"/>
                  </a:lnTo>
                  <a:close/>
                </a:path>
              </a:pathLst>
            </a:custGeom>
            <a:blipFill>
              <a:blip r:embed="rId5">
                <a:alphaModFix amt="0"/>
              </a:blip>
              <a:stretch>
                <a:fillRect l="0" t="-483938" r="0" b="-483938"/>
              </a:stretch>
            </a:blipFill>
          </p:spPr>
          <p:txBody>
            <a:bodyPr/>
            <a:p/>
          </p:txBody>
        </p:sp>
        <p:sp>
          <p:nvSpPr>
            <p:cNvPr name="TextBox 29" id="29"/>
            <p:cNvSpPr txBox="true"/>
            <p:nvPr/>
          </p:nvSpPr>
          <p:spPr>
            <a:xfrm>
              <a:off x="0" y="-9525"/>
              <a:ext cx="19385280" cy="716953"/>
            </a:xfrm>
            <a:prstGeom prst="rect">
              <a:avLst/>
            </a:prstGeom>
          </p:spPr>
          <p:txBody>
            <a:bodyPr anchor="ctr" rtlCol="false" tIns="0" lIns="0" bIns="0" rIns="0"/>
            <a:lstStyle/>
            <a:p>
              <a:pPr algn="l">
                <a:lnSpc>
                  <a:spcPts val="3220"/>
                </a:lnSpc>
              </a:pPr>
              <a:r>
                <a:rPr lang="en-US" sz="2684">
                  <a:solidFill>
                    <a:srgbClr val="FFFFFF"/>
                  </a:solidFill>
                  <a:latin typeface="Noto Sans"/>
                  <a:ea typeface="Noto Sans"/>
                  <a:cs typeface="Noto Sans"/>
                  <a:sym typeface="Noto Sans"/>
                </a:rPr>
                <a:t>Team: Phạm Lê Huy Hoàng (Leader), Hồ Đắc Toàn, Trần Quốc Huân, Văn Quang Trường</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7325" r="0" b="-557325"/>
              </a:stretch>
            </a:blipFill>
          </p:spPr>
          <p:txBody>
            <a:bodyPr/>
            <a:p/>
          </p:txBody>
        </p:sp>
        <p:sp>
          <p:nvSpPr>
            <p:cNvPr name="TextBox 6" id="6"/>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GFA26AI35 · Đại học FPT</a:t>
              </a:r>
            </a:p>
          </p:txBody>
        </p:sp>
      </p:grpSp>
      <p:sp>
        <p:nvSpPr>
          <p:cNvPr name="TextBox 7" id="7"/>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NỘI DUNG</a:t>
            </a:r>
          </a:p>
        </p:txBody>
      </p:sp>
      <p:sp>
        <p:nvSpPr>
          <p:cNvPr name="TextBox 8" id="8"/>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Hai phần, một bộ slide cộng dồn</a:t>
            </a:r>
          </a:p>
        </p:txBody>
      </p:sp>
      <p:sp>
        <p:nvSpPr>
          <p:cNvPr name="Freeform 9" id="9"/>
          <p:cNvSpPr/>
          <p:nvPr/>
        </p:nvSpPr>
        <p:spPr>
          <a:xfrm flipH="false" flipV="false" rot="0">
            <a:off x="806291" y="2177891"/>
            <a:ext cx="8079867" cy="5519737"/>
          </a:xfrm>
          <a:custGeom>
            <a:avLst/>
            <a:gdLst/>
            <a:ahLst/>
            <a:cxnLst/>
            <a:rect r="r" b="b" t="t" l="l"/>
            <a:pathLst>
              <a:path h="5519737" w="8079867">
                <a:moveTo>
                  <a:pt x="0" y="0"/>
                </a:moveTo>
                <a:lnTo>
                  <a:pt x="8079867" y="0"/>
                </a:lnTo>
                <a:lnTo>
                  <a:pt x="8079867" y="5519738"/>
                </a:lnTo>
                <a:lnTo>
                  <a:pt x="0" y="551973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10" id="10"/>
          <p:cNvSpPr txBox="true"/>
          <p:nvPr/>
        </p:nvSpPr>
        <p:spPr>
          <a:xfrm rot="0">
            <a:off x="1234440" y="2449830"/>
            <a:ext cx="5303291" cy="773430"/>
          </a:xfrm>
          <a:prstGeom prst="rect">
            <a:avLst/>
          </a:prstGeom>
        </p:spPr>
        <p:txBody>
          <a:bodyPr anchor="t" rtlCol="false" tIns="0" lIns="0" bIns="0" rIns="0">
            <a:spAutoFit/>
          </a:bodyPr>
          <a:lstStyle/>
          <a:p>
            <a:pPr algn="l">
              <a:lnSpc>
                <a:spcPts val="3960"/>
              </a:lnSpc>
            </a:pPr>
            <a:r>
              <a:rPr lang="en-US" sz="3300" b="true">
                <a:solidFill>
                  <a:srgbClr val="13294B"/>
                </a:solidFill>
                <a:latin typeface="Cambria Bold"/>
                <a:ea typeface="Cambria Bold"/>
                <a:cs typeface="Cambria Bold"/>
                <a:sym typeface="Cambria Bold"/>
              </a:rPr>
              <a:t>Phần A · Review 1</a:t>
            </a:r>
          </a:p>
        </p:txBody>
      </p:sp>
      <p:sp>
        <p:nvSpPr>
          <p:cNvPr name="TextBox 11" id="11"/>
          <p:cNvSpPr txBox="true"/>
          <p:nvPr/>
        </p:nvSpPr>
        <p:spPr>
          <a:xfrm rot="0">
            <a:off x="6263411" y="2442210"/>
            <a:ext cx="2194560" cy="781050"/>
          </a:xfrm>
          <a:prstGeom prst="rect">
            <a:avLst/>
          </a:prstGeom>
        </p:spPr>
        <p:txBody>
          <a:bodyPr anchor="t" rtlCol="false" tIns="0" lIns="0" bIns="0" rIns="0">
            <a:spAutoFit/>
          </a:bodyPr>
          <a:lstStyle/>
          <a:p>
            <a:pPr algn="r">
              <a:lnSpc>
                <a:spcPts val="2520"/>
              </a:lnSpc>
            </a:pPr>
            <a:r>
              <a:rPr lang="en-US" sz="2100" b="true">
                <a:solidFill>
                  <a:srgbClr val="1C7293"/>
                </a:solidFill>
                <a:latin typeface="Calibri (MS) Bold"/>
                <a:ea typeface="Calibri (MS) Bold"/>
                <a:cs typeface="Calibri (MS) Bold"/>
                <a:sym typeface="Calibri (MS) Bold"/>
              </a:rPr>
              <a:t>slide 3–14</a:t>
            </a:r>
          </a:p>
        </p:txBody>
      </p:sp>
      <p:sp>
        <p:nvSpPr>
          <p:cNvPr name="TextBox 12" id="12"/>
          <p:cNvSpPr txBox="true"/>
          <p:nvPr/>
        </p:nvSpPr>
        <p:spPr>
          <a:xfrm rot="0">
            <a:off x="1234440" y="3470910"/>
            <a:ext cx="7223531" cy="3935730"/>
          </a:xfrm>
          <a:prstGeom prst="rect">
            <a:avLst/>
          </a:prstGeom>
        </p:spPr>
        <p:txBody>
          <a:bodyPr anchor="t" rtlCol="false" tIns="0" lIns="0" bIns="0" rIns="0">
            <a:spAutoFit/>
          </a:bodyPr>
          <a:lstStyle/>
          <a:p>
            <a:pPr algn="l" marL="538799" indent="-179600" lvl="2">
              <a:lnSpc>
                <a:spcPts val="3060"/>
              </a:lnSpc>
              <a:buFont typeface="Arial"/>
              <a:buChar char="⚬"/>
            </a:pPr>
            <a:r>
              <a:rPr lang="en-US" sz="2550">
                <a:solidFill>
                  <a:srgbClr val="243044"/>
                </a:solidFill>
                <a:latin typeface="Calibri (MS)"/>
                <a:ea typeface="Calibri (MS)"/>
                <a:cs typeface="Calibri (MS)"/>
                <a:sym typeface="Calibri (MS)"/>
              </a:rPr>
              <a:t>Phạm vi bài toán: input → output, V1–V4</a:t>
            </a:r>
          </a:p>
          <a:p>
            <a:pPr algn="l" marL="538799" indent="-179600" lvl="2">
              <a:lnSpc>
                <a:spcPts val="3060"/>
              </a:lnSpc>
              <a:buFont typeface="Arial"/>
              <a:buChar char="⚬"/>
            </a:pPr>
            <a:r>
              <a:rPr lang="en-US" sz="2550">
                <a:solidFill>
                  <a:srgbClr val="243044"/>
                </a:solidFill>
                <a:latin typeface="Calibri (MS)"/>
                <a:ea typeface="Calibri (MS)"/>
                <a:cs typeface="Calibri (MS)"/>
                <a:sym typeface="Calibri (MS)"/>
              </a:rPr>
              <a:t>Khoảng trống G1–G4; trong / ngoài phạm vi</a:t>
            </a:r>
          </a:p>
          <a:p>
            <a:pPr algn="l" marL="538799" indent="-179600" lvl="2">
              <a:lnSpc>
                <a:spcPts val="3060"/>
              </a:lnSpc>
              <a:buFont typeface="Arial"/>
              <a:buChar char="⚬"/>
            </a:pPr>
            <a:r>
              <a:rPr lang="en-US" sz="2550">
                <a:solidFill>
                  <a:srgbClr val="243044"/>
                </a:solidFill>
                <a:latin typeface="Calibri (MS)"/>
                <a:ea typeface="Calibri (MS)"/>
                <a:cs typeface="Calibri (MS)"/>
                <a:sym typeface="Calibri (MS)"/>
              </a:rPr>
              <a:t>RQ1–RQ4, giả thuyết H1–H4</a:t>
            </a:r>
          </a:p>
          <a:p>
            <a:pPr algn="l" marL="538799" indent="-179600" lvl="2">
              <a:lnSpc>
                <a:spcPts val="3060"/>
              </a:lnSpc>
              <a:buFont typeface="Arial"/>
              <a:buChar char="⚬"/>
            </a:pPr>
            <a:r>
              <a:rPr lang="en-US" sz="2550">
                <a:solidFill>
                  <a:srgbClr val="243044"/>
                </a:solidFill>
                <a:latin typeface="Calibri (MS)"/>
                <a:ea typeface="Calibri (MS)"/>
                <a:cs typeface="Calibri (MS)"/>
                <a:sym typeface="Calibri (MS)"/>
              </a:rPr>
              <a:t>Dữ liệu, baseline, phương pháp đề xuất</a:t>
            </a:r>
          </a:p>
          <a:p>
            <a:pPr algn="l" marL="538799" indent="-179600" lvl="2">
              <a:lnSpc>
                <a:spcPts val="3060"/>
              </a:lnSpc>
              <a:buFont typeface="Arial"/>
              <a:buChar char="⚬"/>
            </a:pPr>
            <a:r>
              <a:rPr lang="en-US" sz="2550">
                <a:solidFill>
                  <a:srgbClr val="243044"/>
                </a:solidFill>
                <a:latin typeface="Calibri (MS)"/>
                <a:ea typeface="Calibri (MS)"/>
                <a:cs typeface="Calibri (MS)"/>
                <a:sym typeface="Calibri (MS)"/>
              </a:rPr>
              <a:t>Sản phẩm &amp; giá trị, kế hoạch 15 tuần</a:t>
            </a:r>
          </a:p>
        </p:txBody>
      </p:sp>
      <p:sp>
        <p:nvSpPr>
          <p:cNvPr name="Freeform 13" id="13"/>
          <p:cNvSpPr/>
          <p:nvPr/>
        </p:nvSpPr>
        <p:spPr>
          <a:xfrm flipH="false" flipV="false" rot="0">
            <a:off x="9401423" y="2177891"/>
            <a:ext cx="8079867" cy="5519737"/>
          </a:xfrm>
          <a:custGeom>
            <a:avLst/>
            <a:gdLst/>
            <a:ahLst/>
            <a:cxnLst/>
            <a:rect r="r" b="b" t="t" l="l"/>
            <a:pathLst>
              <a:path h="5519737" w="8079867">
                <a:moveTo>
                  <a:pt x="0" y="0"/>
                </a:moveTo>
                <a:lnTo>
                  <a:pt x="8079867" y="0"/>
                </a:lnTo>
                <a:lnTo>
                  <a:pt x="8079867" y="5519738"/>
                </a:lnTo>
                <a:lnTo>
                  <a:pt x="0" y="551973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TextBox 14" id="14"/>
          <p:cNvSpPr txBox="true"/>
          <p:nvPr/>
        </p:nvSpPr>
        <p:spPr>
          <a:xfrm rot="0">
            <a:off x="9829571" y="2449830"/>
            <a:ext cx="5303291" cy="773430"/>
          </a:xfrm>
          <a:prstGeom prst="rect">
            <a:avLst/>
          </a:prstGeom>
        </p:spPr>
        <p:txBody>
          <a:bodyPr anchor="t" rtlCol="false" tIns="0" lIns="0" bIns="0" rIns="0">
            <a:spAutoFit/>
          </a:bodyPr>
          <a:lstStyle/>
          <a:p>
            <a:pPr algn="l">
              <a:lnSpc>
                <a:spcPts val="3960"/>
              </a:lnSpc>
            </a:pPr>
            <a:r>
              <a:rPr lang="en-US" sz="3300" b="true">
                <a:solidFill>
                  <a:srgbClr val="13294B"/>
                </a:solidFill>
                <a:latin typeface="Cambria Bold"/>
                <a:ea typeface="Cambria Bold"/>
                <a:cs typeface="Cambria Bold"/>
                <a:sym typeface="Cambria Bold"/>
              </a:rPr>
              <a:t>Phần B · Review 2</a:t>
            </a:r>
          </a:p>
        </p:txBody>
      </p:sp>
      <p:sp>
        <p:nvSpPr>
          <p:cNvPr name="TextBox 15" id="15"/>
          <p:cNvSpPr txBox="true"/>
          <p:nvPr/>
        </p:nvSpPr>
        <p:spPr>
          <a:xfrm rot="0">
            <a:off x="14858543" y="2442210"/>
            <a:ext cx="2194560" cy="781050"/>
          </a:xfrm>
          <a:prstGeom prst="rect">
            <a:avLst/>
          </a:prstGeom>
        </p:spPr>
        <p:txBody>
          <a:bodyPr anchor="t" rtlCol="false" tIns="0" lIns="0" bIns="0" rIns="0">
            <a:spAutoFit/>
          </a:bodyPr>
          <a:lstStyle/>
          <a:p>
            <a:pPr algn="r">
              <a:lnSpc>
                <a:spcPts val="2520"/>
              </a:lnSpc>
            </a:pPr>
            <a:r>
              <a:rPr lang="en-US" sz="2100" b="true">
                <a:solidFill>
                  <a:srgbClr val="1C7293"/>
                </a:solidFill>
                <a:latin typeface="Calibri (MS) Bold"/>
                <a:ea typeface="Calibri (MS) Bold"/>
                <a:cs typeface="Calibri (MS) Bold"/>
                <a:sym typeface="Calibri (MS) Bold"/>
              </a:rPr>
              <a:t>slide 15–33</a:t>
            </a:r>
          </a:p>
        </p:txBody>
      </p:sp>
      <p:sp>
        <p:nvSpPr>
          <p:cNvPr name="TextBox 16" id="16"/>
          <p:cNvSpPr txBox="true"/>
          <p:nvPr/>
        </p:nvSpPr>
        <p:spPr>
          <a:xfrm rot="0">
            <a:off x="9829571" y="3470910"/>
            <a:ext cx="7223531" cy="3935730"/>
          </a:xfrm>
          <a:prstGeom prst="rect">
            <a:avLst/>
          </a:prstGeom>
        </p:spPr>
        <p:txBody>
          <a:bodyPr anchor="t" rtlCol="false" tIns="0" lIns="0" bIns="0" rIns="0">
            <a:spAutoFit/>
          </a:bodyPr>
          <a:lstStyle/>
          <a:p>
            <a:pPr algn="l" marL="538799" indent="-179600" lvl="2">
              <a:lnSpc>
                <a:spcPts val="3060"/>
              </a:lnSpc>
              <a:buFont typeface="Arial"/>
              <a:buChar char="⚬"/>
            </a:pPr>
            <a:r>
              <a:rPr lang="en-US" sz="2550">
                <a:solidFill>
                  <a:srgbClr val="243044"/>
                </a:solidFill>
                <a:latin typeface="Calibri (MS)"/>
                <a:ea typeface="Calibri (MS)"/>
                <a:cs typeface="Calibri (MS)"/>
                <a:sym typeface="Calibri (MS)"/>
              </a:rPr>
              <a:t>Tóm tắt bốn kết quả chính</a:t>
            </a:r>
          </a:p>
          <a:p>
            <a:pPr algn="l" marL="538799" indent="-179600" lvl="2">
              <a:lnSpc>
                <a:spcPts val="3060"/>
              </a:lnSpc>
              <a:buFont typeface="Arial"/>
              <a:buChar char="⚬"/>
            </a:pPr>
            <a:r>
              <a:rPr lang="en-US" sz="2550">
                <a:solidFill>
                  <a:srgbClr val="243044"/>
                </a:solidFill>
                <a:latin typeface="Calibri (MS)"/>
                <a:ea typeface="Calibri (MS)"/>
                <a:cs typeface="Calibri (MS)"/>
                <a:sym typeface="Calibri (MS)"/>
              </a:rPr>
              <a:t>Existing System: SOTA, dữ liệu &amp; xử lý dữ liệu, kiến trúc baseline, R0, B1, R1</a:t>
            </a:r>
          </a:p>
          <a:p>
            <a:pPr algn="l" marL="538799" indent="-179600" lvl="2">
              <a:lnSpc>
                <a:spcPts val="3060"/>
              </a:lnSpc>
              <a:buFont typeface="Arial"/>
              <a:buChar char="⚬"/>
            </a:pPr>
            <a:r>
              <a:rPr lang="en-US" sz="2550">
                <a:solidFill>
                  <a:srgbClr val="243044"/>
                </a:solidFill>
                <a:latin typeface="Calibri (MS)"/>
                <a:ea typeface="Calibri (MS)"/>
                <a:cs typeface="Calibri (MS)"/>
                <a:sym typeface="Calibri (MS)"/>
              </a:rPr>
              <a:t>Methodology: QLoRA (B2) → lỗi còn lại → QLoRA nhận biết OCR (B3, B3-full)</a:t>
            </a:r>
          </a:p>
          <a:p>
            <a:pPr algn="l" marL="538799" indent="-179600" lvl="2">
              <a:lnSpc>
                <a:spcPts val="3060"/>
              </a:lnSpc>
              <a:buFont typeface="Arial"/>
              <a:buChar char="⚬"/>
            </a:pPr>
            <a:r>
              <a:rPr lang="en-US" sz="2550">
                <a:solidFill>
                  <a:srgbClr val="243044"/>
                </a:solidFill>
                <a:latin typeface="Calibri (MS)"/>
                <a:ea typeface="Calibri (MS)"/>
                <a:cs typeface="Calibri (MS)"/>
                <a:sym typeface="Calibri (MS)"/>
              </a:rPr>
              <a:t>Giả thuyết H1–H4, bước tiếp theo</a:t>
            </a:r>
          </a:p>
          <a:p>
            <a:pPr algn="l" marL="538799" indent="-179600" lvl="2">
              <a:lnSpc>
                <a:spcPts val="3060"/>
              </a:lnSpc>
              <a:buFont typeface="Arial"/>
              <a:buChar char="⚬"/>
            </a:pPr>
            <a:r>
              <a:rPr lang="en-US" sz="2550">
                <a:solidFill>
                  <a:srgbClr val="243044"/>
                </a:solidFill>
                <a:latin typeface="Calibri (MS)"/>
                <a:ea typeface="Calibri (MS)"/>
                <a:cs typeface="Calibri (MS)"/>
                <a:sym typeface="Calibri (MS)"/>
              </a:rPr>
              <a:t>Phụ lục (slide 34–42): đối chứng, SOTA, độ vững, LoRA, epoch, adapter chung, loại câu hỏi</a:t>
            </a:r>
          </a:p>
        </p:txBody>
      </p:sp>
      <p:sp>
        <p:nvSpPr>
          <p:cNvPr name="TextBox 17" id="17"/>
          <p:cNvSpPr txBox="true"/>
          <p:nvPr/>
        </p:nvSpPr>
        <p:spPr>
          <a:xfrm rot="0">
            <a:off x="822960" y="8545830"/>
            <a:ext cx="16641623" cy="849630"/>
          </a:xfrm>
          <a:prstGeom prst="rect">
            <a:avLst/>
          </a:prstGeom>
        </p:spPr>
        <p:txBody>
          <a:bodyPr anchor="t" rtlCol="false" tIns="0" lIns="0" bIns="0" rIns="0">
            <a:spAutoFit/>
          </a:bodyPr>
          <a:lstStyle/>
          <a:p>
            <a:pPr algn="l">
              <a:lnSpc>
                <a:spcPts val="2340"/>
              </a:lnSpc>
            </a:pPr>
            <a:r>
              <a:rPr lang="en-US" sz="1950">
                <a:solidFill>
                  <a:srgbClr val="6B7280"/>
                </a:solidFill>
                <a:latin typeface="Calibri (MS)"/>
                <a:ea typeface="Calibri (MS)"/>
                <a:cs typeface="Calibri (MS)"/>
                <a:sym typeface="Calibri (MS)"/>
              </a:rPr>
              <a:t>Phần A trả lời: làm bài toán gì, trong giới hạn nào. Phần B trả lời: hệ thống hiện có làm được đến đâu, và nhóm cải tiến bằng phương pháp nào. Phần C (Review 3) và D (bảo vệ cuối) sẽ nối thêm.</a:t>
            </a:r>
          </a:p>
        </p:txBody>
      </p:sp>
      <p:grpSp>
        <p:nvGrpSpPr>
          <p:cNvPr name="Group 18" id="18"/>
          <p:cNvGrpSpPr/>
          <p:nvPr/>
        </p:nvGrpSpPr>
        <p:grpSpPr>
          <a:xfrm rot="0">
            <a:off x="15458732" y="0"/>
            <a:ext cx="2829268" cy="1184338"/>
            <a:chOff x="0" y="0"/>
            <a:chExt cx="3772357" cy="1579118"/>
          </a:xfrm>
        </p:grpSpPr>
        <p:sp>
          <p:nvSpPr>
            <p:cNvPr name="Freeform 19" id="19"/>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8"/>
              <a:stretch>
                <a:fillRect l="0" t="0" r="1" b="0"/>
              </a:stretch>
            </a:blipFill>
          </p:spPr>
          <p:txBody>
            <a:bodyP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606011" y="-1422978"/>
            <a:ext cx="18946825" cy="13987367"/>
          </a:xfrm>
          <a:custGeom>
            <a:avLst/>
            <a:gdLst/>
            <a:ahLst/>
            <a:cxnLst/>
            <a:rect r="r" b="b" t="t" l="l"/>
            <a:pathLst>
              <a:path h="13987367" w="18946825">
                <a:moveTo>
                  <a:pt x="0" y="0"/>
                </a:moveTo>
                <a:lnTo>
                  <a:pt x="18946825" y="0"/>
                </a:lnTo>
                <a:lnTo>
                  <a:pt x="18946825" y="13987367"/>
                </a:lnTo>
                <a:lnTo>
                  <a:pt x="0" y="139873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grpSp>
        <p:nvGrpSpPr>
          <p:cNvPr name="Group 3" id="3"/>
          <p:cNvGrpSpPr/>
          <p:nvPr/>
        </p:nvGrpSpPr>
        <p:grpSpPr>
          <a:xfrm rot="0">
            <a:off x="1152144" y="2425551"/>
            <a:ext cx="16184880" cy="1636395"/>
            <a:chOff x="0" y="0"/>
            <a:chExt cx="21579840" cy="2181860"/>
          </a:xfrm>
        </p:grpSpPr>
        <p:sp>
          <p:nvSpPr>
            <p:cNvPr name="Freeform 4" id="4"/>
            <p:cNvSpPr/>
            <p:nvPr/>
          </p:nvSpPr>
          <p:spPr>
            <a:xfrm flipH="false" flipV="false" rot="0">
              <a:off x="0" y="0"/>
              <a:ext cx="21579839" cy="2181860"/>
            </a:xfrm>
            <a:custGeom>
              <a:avLst/>
              <a:gdLst/>
              <a:ahLst/>
              <a:cxnLst/>
              <a:rect r="r" b="b" t="t" l="l"/>
              <a:pathLst>
                <a:path h="2181860" w="21579839">
                  <a:moveTo>
                    <a:pt x="0" y="0"/>
                  </a:moveTo>
                  <a:lnTo>
                    <a:pt x="21579839" y="0"/>
                  </a:lnTo>
                  <a:lnTo>
                    <a:pt x="21579839" y="2181860"/>
                  </a:lnTo>
                  <a:lnTo>
                    <a:pt x="0" y="2181860"/>
                  </a:lnTo>
                  <a:close/>
                </a:path>
              </a:pathLst>
            </a:custGeom>
            <a:blipFill>
              <a:blip r:embed="rId4">
                <a:alphaModFix amt="0"/>
              </a:blip>
              <a:stretch>
                <a:fillRect l="0" t="-365236" r="0" b="-365236"/>
              </a:stretch>
            </a:blipFill>
          </p:spPr>
          <p:txBody>
            <a:bodyPr/>
            <a:p/>
          </p:txBody>
        </p:sp>
      </p:grpSp>
      <p:grpSp>
        <p:nvGrpSpPr>
          <p:cNvPr name="Group 5" id="5"/>
          <p:cNvGrpSpPr/>
          <p:nvPr/>
        </p:nvGrpSpPr>
        <p:grpSpPr>
          <a:xfrm rot="0">
            <a:off x="1152144" y="4061936"/>
            <a:ext cx="15636240" cy="1508760"/>
            <a:chOff x="0" y="0"/>
            <a:chExt cx="20848320" cy="2011680"/>
          </a:xfrm>
        </p:grpSpPr>
        <p:sp>
          <p:nvSpPr>
            <p:cNvPr name="Freeform 6" id="6"/>
            <p:cNvSpPr/>
            <p:nvPr/>
          </p:nvSpPr>
          <p:spPr>
            <a:xfrm flipH="false" flipV="false" rot="0">
              <a:off x="0" y="0"/>
              <a:ext cx="20848320" cy="2011680"/>
            </a:xfrm>
            <a:custGeom>
              <a:avLst/>
              <a:gdLst/>
              <a:ahLst/>
              <a:cxnLst/>
              <a:rect r="r" b="b" t="t" l="l"/>
              <a:pathLst>
                <a:path h="2011680" w="20848320">
                  <a:moveTo>
                    <a:pt x="0" y="0"/>
                  </a:moveTo>
                  <a:lnTo>
                    <a:pt x="20848320" y="0"/>
                  </a:lnTo>
                  <a:lnTo>
                    <a:pt x="20848320" y="2011680"/>
                  </a:lnTo>
                  <a:lnTo>
                    <a:pt x="0" y="2011680"/>
                  </a:lnTo>
                  <a:close/>
                </a:path>
              </a:pathLst>
            </a:custGeom>
            <a:blipFill>
              <a:blip r:embed="rId4">
                <a:alphaModFix amt="0"/>
              </a:blip>
              <a:stretch>
                <a:fillRect l="0" t="-385097" r="0" b="-385097"/>
              </a:stretch>
            </a:blipFill>
          </p:spPr>
          <p:txBody>
            <a:bodyPr/>
            <a:p/>
          </p:txBody>
        </p:sp>
      </p:grpSp>
      <p:grpSp>
        <p:nvGrpSpPr>
          <p:cNvPr name="Group 7" id="7"/>
          <p:cNvGrpSpPr/>
          <p:nvPr/>
        </p:nvGrpSpPr>
        <p:grpSpPr>
          <a:xfrm rot="0">
            <a:off x="1152144" y="5788352"/>
            <a:ext cx="11795760" cy="559584"/>
            <a:chOff x="0" y="0"/>
            <a:chExt cx="15727680" cy="746112"/>
          </a:xfrm>
        </p:grpSpPr>
        <p:sp>
          <p:nvSpPr>
            <p:cNvPr name="Freeform 8" id="8"/>
            <p:cNvSpPr/>
            <p:nvPr/>
          </p:nvSpPr>
          <p:spPr>
            <a:xfrm flipH="false" flipV="false" rot="0">
              <a:off x="0" y="0"/>
              <a:ext cx="15727680" cy="746125"/>
            </a:xfrm>
            <a:custGeom>
              <a:avLst/>
              <a:gdLst/>
              <a:ahLst/>
              <a:cxnLst/>
              <a:rect r="r" b="b" t="t" l="l"/>
              <a:pathLst>
                <a:path h="746125" w="15727680">
                  <a:moveTo>
                    <a:pt x="0" y="0"/>
                  </a:moveTo>
                  <a:lnTo>
                    <a:pt x="15727680" y="0"/>
                  </a:lnTo>
                  <a:lnTo>
                    <a:pt x="15727680" y="746125"/>
                  </a:lnTo>
                  <a:lnTo>
                    <a:pt x="0" y="746125"/>
                  </a:lnTo>
                  <a:close/>
                </a:path>
              </a:pathLst>
            </a:custGeom>
            <a:blipFill>
              <a:blip r:embed="rId5">
                <a:alphaModFix amt="0"/>
              </a:blip>
              <a:stretch>
                <a:fillRect l="0" t="-360442" r="0" b="-360442"/>
              </a:stretch>
            </a:blipFill>
          </p:spPr>
          <p:txBody>
            <a:bodyPr/>
            <a:p/>
          </p:txBody>
        </p:sp>
      </p:grpSp>
      <p:grpSp>
        <p:nvGrpSpPr>
          <p:cNvPr name="Group 9" id="9"/>
          <p:cNvGrpSpPr/>
          <p:nvPr/>
        </p:nvGrpSpPr>
        <p:grpSpPr>
          <a:xfrm rot="0">
            <a:off x="1152144" y="6531216"/>
            <a:ext cx="14538960" cy="523427"/>
            <a:chOff x="0" y="0"/>
            <a:chExt cx="19385280" cy="697903"/>
          </a:xfrm>
        </p:grpSpPr>
        <p:sp>
          <p:nvSpPr>
            <p:cNvPr name="Freeform 10" id="10"/>
            <p:cNvSpPr/>
            <p:nvPr/>
          </p:nvSpPr>
          <p:spPr>
            <a:xfrm flipH="false" flipV="false" rot="0">
              <a:off x="0" y="0"/>
              <a:ext cx="19385280" cy="697865"/>
            </a:xfrm>
            <a:custGeom>
              <a:avLst/>
              <a:gdLst/>
              <a:ahLst/>
              <a:cxnLst/>
              <a:rect r="r" b="b" t="t" l="l"/>
              <a:pathLst>
                <a:path h="697865" w="19385280">
                  <a:moveTo>
                    <a:pt x="0" y="0"/>
                  </a:moveTo>
                  <a:lnTo>
                    <a:pt x="19385280" y="0"/>
                  </a:lnTo>
                  <a:lnTo>
                    <a:pt x="19385280" y="697865"/>
                  </a:lnTo>
                  <a:lnTo>
                    <a:pt x="0" y="697865"/>
                  </a:lnTo>
                  <a:close/>
                </a:path>
              </a:pathLst>
            </a:custGeom>
            <a:blipFill>
              <a:blip r:embed="rId4">
                <a:alphaModFix amt="0"/>
              </a:blip>
              <a:stretch>
                <a:fillRect l="0" t="-1116203" r="0" b="-1116209"/>
              </a:stretch>
            </a:blipFill>
          </p:spPr>
          <p:txBody>
            <a:bodyPr/>
            <a:p/>
          </p:txBody>
        </p:sp>
      </p:grpSp>
      <p:grpSp>
        <p:nvGrpSpPr>
          <p:cNvPr name="Group 11" id="11"/>
          <p:cNvGrpSpPr/>
          <p:nvPr/>
        </p:nvGrpSpPr>
        <p:grpSpPr>
          <a:xfrm rot="0">
            <a:off x="0" y="0"/>
            <a:ext cx="2829268" cy="1184338"/>
            <a:chOff x="0" y="0"/>
            <a:chExt cx="3772357" cy="1579118"/>
          </a:xfrm>
        </p:grpSpPr>
        <p:sp>
          <p:nvSpPr>
            <p:cNvPr name="Freeform 12" id="12"/>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6"/>
              <a:stretch>
                <a:fillRect l="0" t="0" r="1" b="0"/>
              </a:stretch>
            </a:blipFill>
          </p:spPr>
          <p:txBody>
            <a:bodyPr/>
            <a:p/>
          </p:txBody>
        </p:sp>
      </p:grpSp>
      <p:grpSp>
        <p:nvGrpSpPr>
          <p:cNvPr name="Group 13" id="13"/>
          <p:cNvGrpSpPr/>
          <p:nvPr/>
        </p:nvGrpSpPr>
        <p:grpSpPr>
          <a:xfrm rot="0">
            <a:off x="1152144" y="7273719"/>
            <a:ext cx="14538960" cy="523427"/>
            <a:chOff x="0" y="0"/>
            <a:chExt cx="19385280" cy="697903"/>
          </a:xfrm>
        </p:grpSpPr>
        <p:sp>
          <p:nvSpPr>
            <p:cNvPr name="Freeform 14" id="14"/>
            <p:cNvSpPr/>
            <p:nvPr/>
          </p:nvSpPr>
          <p:spPr>
            <a:xfrm flipH="false" flipV="false" rot="0">
              <a:off x="0" y="0"/>
              <a:ext cx="19385280" cy="697865"/>
            </a:xfrm>
            <a:custGeom>
              <a:avLst/>
              <a:gdLst/>
              <a:ahLst/>
              <a:cxnLst/>
              <a:rect r="r" b="b" t="t" l="l"/>
              <a:pathLst>
                <a:path h="697865" w="19385280">
                  <a:moveTo>
                    <a:pt x="0" y="0"/>
                  </a:moveTo>
                  <a:lnTo>
                    <a:pt x="19385280" y="0"/>
                  </a:lnTo>
                  <a:lnTo>
                    <a:pt x="19385280" y="697865"/>
                  </a:lnTo>
                  <a:lnTo>
                    <a:pt x="0" y="697865"/>
                  </a:lnTo>
                  <a:close/>
                </a:path>
              </a:pathLst>
            </a:custGeom>
            <a:blipFill>
              <a:blip r:embed="rId5">
                <a:alphaModFix amt="0"/>
              </a:blip>
              <a:stretch>
                <a:fillRect l="0" t="-490875" r="0" b="-490882"/>
              </a:stretch>
            </a:blipFill>
          </p:spPr>
          <p:txBody>
            <a:bodyPr/>
            <a:p/>
          </p:txBody>
        </p:sp>
      </p:grpSp>
      <p:sp>
        <p:nvSpPr>
          <p:cNvPr name="TextBox 15" id="15"/>
          <p:cNvSpPr txBox="true"/>
          <p:nvPr/>
        </p:nvSpPr>
        <p:spPr>
          <a:xfrm rot="0">
            <a:off x="1028700" y="2806494"/>
            <a:ext cx="15033779" cy="5314950"/>
          </a:xfrm>
          <a:prstGeom prst="rect">
            <a:avLst/>
          </a:prstGeom>
        </p:spPr>
        <p:txBody>
          <a:bodyPr anchor="t" rtlCol="false" tIns="0" lIns="0" bIns="0" rIns="0">
            <a:spAutoFit/>
          </a:bodyPr>
          <a:lstStyle/>
          <a:p>
            <a:pPr algn="l">
              <a:lnSpc>
                <a:spcPts val="8408"/>
              </a:lnSpc>
            </a:pPr>
            <a:r>
              <a:rPr lang="en-US" sz="7007" b="true">
                <a:solidFill>
                  <a:srgbClr val="FFFFFF"/>
                </a:solidFill>
                <a:latin typeface="Noto Sans Bold"/>
                <a:ea typeface="Noto Sans Bold"/>
                <a:cs typeface="Noto Sans Bold"/>
                <a:sym typeface="Noto Sans Bold"/>
              </a:rPr>
              <a:t>Phạm vi bài toán</a:t>
            </a:r>
          </a:p>
          <a:p>
            <a:pPr algn="l">
              <a:lnSpc>
                <a:spcPts val="6728"/>
              </a:lnSpc>
            </a:pPr>
            <a:r>
              <a:rPr lang="en-US" sz="5607">
                <a:solidFill>
                  <a:srgbClr val="FFFFFF"/>
                </a:solidFill>
                <a:latin typeface="Noto Sans"/>
                <a:ea typeface="Noto Sans"/>
                <a:cs typeface="Noto Sans"/>
                <a:sym typeface="Noto Sans"/>
              </a:rPr>
              <a:t> </a:t>
            </a:r>
          </a:p>
          <a:p>
            <a:pPr algn="l" marL="1210652" indent="-605326" lvl="1">
              <a:lnSpc>
                <a:spcPts val="6728"/>
              </a:lnSpc>
              <a:buFont typeface="Arial"/>
              <a:buChar char="•"/>
            </a:pPr>
            <a:r>
              <a:rPr lang="en-US" sz="5607">
                <a:solidFill>
                  <a:srgbClr val="FFFFFF"/>
                </a:solidFill>
                <a:latin typeface="Noto Sans"/>
                <a:ea typeface="Noto Sans"/>
                <a:cs typeface="Noto Sans"/>
                <a:sym typeface="Noto Sans"/>
              </a:rPr>
              <a:t>Bài toán gì</a:t>
            </a:r>
          </a:p>
          <a:p>
            <a:pPr algn="l" marL="1210652" indent="-605326" lvl="1">
              <a:lnSpc>
                <a:spcPts val="6728"/>
              </a:lnSpc>
              <a:buFont typeface="Arial"/>
              <a:buChar char="•"/>
            </a:pPr>
            <a:r>
              <a:rPr lang="en-US" sz="5607">
                <a:solidFill>
                  <a:srgbClr val="FFFFFF"/>
                </a:solidFill>
                <a:latin typeface="Noto Sans"/>
                <a:ea typeface="Noto Sans"/>
                <a:cs typeface="Noto Sans"/>
                <a:sym typeface="Noto Sans"/>
              </a:rPr>
              <a:t>Vì sao khó với tiếng Việt</a:t>
            </a:r>
          </a:p>
          <a:p>
            <a:pPr algn="l" marL="1210652" indent="-605326" lvl="1">
              <a:lnSpc>
                <a:spcPts val="6728"/>
              </a:lnSpc>
              <a:buFont typeface="Arial"/>
              <a:buChar char="•"/>
            </a:pPr>
            <a:r>
              <a:rPr lang="en-US" sz="5607">
                <a:solidFill>
                  <a:srgbClr val="FFFFFF"/>
                </a:solidFill>
                <a:latin typeface="Noto Sans"/>
                <a:ea typeface="Noto Sans"/>
                <a:cs typeface="Noto Sans"/>
                <a:sym typeface="Noto Sans"/>
              </a:rPr>
              <a:t>Làm trong giới hạn nào, đo bằng gì </a:t>
            </a:r>
          </a:p>
          <a:p>
            <a:pPr algn="l" marL="1210652" indent="-605326" lvl="1">
              <a:lnSpc>
                <a:spcPts val="6728"/>
              </a:lnSpc>
              <a:buFont typeface="Arial"/>
              <a:buChar char="•"/>
            </a:pPr>
            <a:r>
              <a:rPr lang="en-US" sz="5607">
                <a:solidFill>
                  <a:srgbClr val="FFFFFF"/>
                </a:solidFill>
                <a:latin typeface="Noto Sans"/>
                <a:ea typeface="Noto Sans"/>
                <a:cs typeface="Noto Sans"/>
                <a:sym typeface="Noto Sans"/>
              </a:rPr>
              <a:t>Kế hoạch thực hiện.</a:t>
            </a:r>
          </a:p>
        </p:txBody>
      </p:sp>
      <p:sp>
        <p:nvSpPr>
          <p:cNvPr name="TextBox 16" id="16"/>
          <p:cNvSpPr txBox="true"/>
          <p:nvPr/>
        </p:nvSpPr>
        <p:spPr>
          <a:xfrm rot="0">
            <a:off x="9139238" y="4905375"/>
            <a:ext cx="9525" cy="238125"/>
          </a:xfrm>
          <a:prstGeom prst="rect">
            <a:avLst/>
          </a:prstGeom>
        </p:spPr>
        <p:txBody>
          <a:bodyPr anchor="t" rtlCol="false" tIns="0" lIns="0" bIns="0" rIns="0">
            <a:spAutoFit/>
          </a:bodyPr>
          <a:lstStyle/>
          <a:p>
            <a:pPr algn="ctr">
              <a:lnSpc>
                <a:spcPts val="1889"/>
              </a:lnSpc>
              <a:spcBef>
                <a:spcPct val="0"/>
              </a:spcBef>
            </a:pPr>
          </a:p>
        </p:txBody>
      </p:sp>
      <p:sp>
        <p:nvSpPr>
          <p:cNvPr name="TextBox 17" id="17"/>
          <p:cNvSpPr txBox="true"/>
          <p:nvPr/>
        </p:nvSpPr>
        <p:spPr>
          <a:xfrm rot="0">
            <a:off x="1028700" y="1638229"/>
            <a:ext cx="2738310" cy="723900"/>
          </a:xfrm>
          <a:prstGeom prst="rect">
            <a:avLst/>
          </a:prstGeom>
        </p:spPr>
        <p:txBody>
          <a:bodyPr anchor="t" rtlCol="false" tIns="0" lIns="0" bIns="0" rIns="0">
            <a:spAutoFit/>
          </a:bodyPr>
          <a:lstStyle/>
          <a:p>
            <a:pPr algn="ctr">
              <a:lnSpc>
                <a:spcPts val="5729"/>
              </a:lnSpc>
              <a:spcBef>
                <a:spcPct val="0"/>
              </a:spcBef>
            </a:pPr>
            <a:r>
              <a:rPr lang="en-US" b="true" sz="4774">
                <a:solidFill>
                  <a:srgbClr val="FFFFFF"/>
                </a:solidFill>
                <a:latin typeface="Noto Sans Bold"/>
                <a:ea typeface="Noto Sans Bold"/>
                <a:cs typeface="Noto Sans Bold"/>
                <a:sym typeface="Noto Sans Bold"/>
              </a:rPr>
              <a:t>Review 1</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00100" y="1885950"/>
            <a:ext cx="16687800" cy="1114425"/>
            <a:chOff x="0" y="0"/>
            <a:chExt cx="22250400" cy="1485900"/>
          </a:xfrm>
        </p:grpSpPr>
        <p:sp>
          <p:nvSpPr>
            <p:cNvPr name="Freeform 3" id="3"/>
            <p:cNvSpPr/>
            <p:nvPr/>
          </p:nvSpPr>
          <p:spPr>
            <a:xfrm flipH="false" flipV="false" rot="0">
              <a:off x="0" y="0"/>
              <a:ext cx="22250400" cy="1485900"/>
            </a:xfrm>
            <a:custGeom>
              <a:avLst/>
              <a:gdLst/>
              <a:ahLst/>
              <a:cxnLst/>
              <a:rect r="r" b="b" t="t" l="l"/>
              <a:pathLst>
                <a:path h="1485900" w="22250400">
                  <a:moveTo>
                    <a:pt x="0" y="190500"/>
                  </a:moveTo>
                  <a:cubicBezTo>
                    <a:pt x="0" y="85344"/>
                    <a:pt x="85344" y="0"/>
                    <a:pt x="190500" y="0"/>
                  </a:cubicBezTo>
                  <a:lnTo>
                    <a:pt x="22059900" y="0"/>
                  </a:lnTo>
                  <a:cubicBezTo>
                    <a:pt x="22165056" y="0"/>
                    <a:pt x="22250400" y="85344"/>
                    <a:pt x="22250400" y="190500"/>
                  </a:cubicBezTo>
                  <a:lnTo>
                    <a:pt x="22250400" y="1295400"/>
                  </a:lnTo>
                  <a:cubicBezTo>
                    <a:pt x="22250400" y="1400556"/>
                    <a:pt x="22165056" y="1485900"/>
                    <a:pt x="22059900" y="1485900"/>
                  </a:cubicBezTo>
                  <a:lnTo>
                    <a:pt x="190500" y="1485900"/>
                  </a:lnTo>
                  <a:cubicBezTo>
                    <a:pt x="85344" y="1485900"/>
                    <a:pt x="0" y="1400556"/>
                    <a:pt x="0" y="1295400"/>
                  </a:cubicBezTo>
                  <a:close/>
                </a:path>
              </a:pathLst>
            </a:custGeom>
            <a:solidFill>
              <a:srgbClr val="E9F1F5"/>
            </a:solidFill>
          </p:spPr>
          <p:txBody>
            <a:bodyPr/>
            <a:p/>
          </p:txBody>
        </p:sp>
      </p:grpSp>
      <p:sp>
        <p:nvSpPr>
          <p:cNvPr name="Freeform 4" id="4"/>
          <p:cNvSpPr/>
          <p:nvPr/>
        </p:nvSpPr>
        <p:spPr>
          <a:xfrm flipH="false" flipV="false" rot="0">
            <a:off x="9017194" y="3752250"/>
            <a:ext cx="3568303" cy="5997178"/>
          </a:xfrm>
          <a:custGeom>
            <a:avLst/>
            <a:gdLst/>
            <a:ahLst/>
            <a:cxnLst/>
            <a:rect r="r" b="b" t="t" l="l"/>
            <a:pathLst>
              <a:path h="5997178" w="3568303">
                <a:moveTo>
                  <a:pt x="0" y="0"/>
                </a:moveTo>
                <a:lnTo>
                  <a:pt x="3568303" y="0"/>
                </a:lnTo>
                <a:lnTo>
                  <a:pt x="3568303" y="5997178"/>
                </a:lnTo>
                <a:lnTo>
                  <a:pt x="0" y="599717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sp>
        <p:nvSpPr>
          <p:cNvPr name="Freeform 5" id="5"/>
          <p:cNvSpPr/>
          <p:nvPr/>
        </p:nvSpPr>
        <p:spPr>
          <a:xfrm flipH="false" flipV="false" rot="0">
            <a:off x="787594" y="3752250"/>
            <a:ext cx="7454503" cy="2882503"/>
          </a:xfrm>
          <a:custGeom>
            <a:avLst/>
            <a:gdLst/>
            <a:ahLst/>
            <a:cxnLst/>
            <a:rect r="r" b="b" t="t" l="l"/>
            <a:pathLst>
              <a:path h="2882503" w="7454503">
                <a:moveTo>
                  <a:pt x="0" y="0"/>
                </a:moveTo>
                <a:lnTo>
                  <a:pt x="7454503" y="0"/>
                </a:lnTo>
                <a:lnTo>
                  <a:pt x="7454503" y="2882503"/>
                </a:lnTo>
                <a:lnTo>
                  <a:pt x="0" y="288250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Freeform 6" id="6"/>
          <p:cNvSpPr/>
          <p:nvPr/>
        </p:nvSpPr>
        <p:spPr>
          <a:xfrm flipH="false" flipV="false" rot="0">
            <a:off x="787594" y="6866934"/>
            <a:ext cx="7454503" cy="2882503"/>
          </a:xfrm>
          <a:custGeom>
            <a:avLst/>
            <a:gdLst/>
            <a:ahLst/>
            <a:cxnLst/>
            <a:rect r="r" b="b" t="t" l="l"/>
            <a:pathLst>
              <a:path h="2882503" w="7454503">
                <a:moveTo>
                  <a:pt x="0" y="0"/>
                </a:moveTo>
                <a:lnTo>
                  <a:pt x="7454503" y="0"/>
                </a:lnTo>
                <a:lnTo>
                  <a:pt x="7454503" y="2882504"/>
                </a:lnTo>
                <a:lnTo>
                  <a:pt x="0" y="288250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Freeform 7" id="7"/>
          <p:cNvSpPr/>
          <p:nvPr/>
        </p:nvSpPr>
        <p:spPr>
          <a:xfrm flipH="false" flipV="false" rot="0">
            <a:off x="13360594" y="3752250"/>
            <a:ext cx="4139803" cy="2882503"/>
          </a:xfrm>
          <a:custGeom>
            <a:avLst/>
            <a:gdLst/>
            <a:ahLst/>
            <a:cxnLst/>
            <a:rect r="r" b="b" t="t" l="l"/>
            <a:pathLst>
              <a:path h="2882503" w="4139803">
                <a:moveTo>
                  <a:pt x="0" y="0"/>
                </a:moveTo>
                <a:lnTo>
                  <a:pt x="4139803" y="0"/>
                </a:lnTo>
                <a:lnTo>
                  <a:pt x="4139803" y="2882503"/>
                </a:lnTo>
                <a:lnTo>
                  <a:pt x="0" y="288250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Freeform 8" id="8"/>
          <p:cNvSpPr/>
          <p:nvPr/>
        </p:nvSpPr>
        <p:spPr>
          <a:xfrm flipH="false" flipV="false" rot="0">
            <a:off x="13360594" y="6866934"/>
            <a:ext cx="4139803" cy="2882503"/>
          </a:xfrm>
          <a:custGeom>
            <a:avLst/>
            <a:gdLst/>
            <a:ahLst/>
            <a:cxnLst/>
            <a:rect r="r" b="b" t="t" l="l"/>
            <a:pathLst>
              <a:path h="2882503" w="4139803">
                <a:moveTo>
                  <a:pt x="0" y="0"/>
                </a:moveTo>
                <a:lnTo>
                  <a:pt x="4139803" y="0"/>
                </a:lnTo>
                <a:lnTo>
                  <a:pt x="4139803" y="2882504"/>
                </a:lnTo>
                <a:lnTo>
                  <a:pt x="0" y="288250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grpSp>
        <p:nvGrpSpPr>
          <p:cNvPr name="Group 9" id="9"/>
          <p:cNvGrpSpPr/>
          <p:nvPr/>
        </p:nvGrpSpPr>
        <p:grpSpPr>
          <a:xfrm rot="0">
            <a:off x="8451056" y="5057775"/>
            <a:ext cx="357188" cy="400050"/>
            <a:chOff x="0" y="0"/>
            <a:chExt cx="476250" cy="533400"/>
          </a:xfrm>
        </p:grpSpPr>
        <p:sp>
          <p:nvSpPr>
            <p:cNvPr name="Freeform 10" id="10" descr="image.png"/>
            <p:cNvSpPr/>
            <p:nvPr/>
          </p:nvSpPr>
          <p:spPr>
            <a:xfrm flipH="false" flipV="false" rot="0">
              <a:off x="0" y="0"/>
              <a:ext cx="476250" cy="533400"/>
            </a:xfrm>
            <a:custGeom>
              <a:avLst/>
              <a:gdLst/>
              <a:ahLst/>
              <a:cxnLst/>
              <a:rect r="r" b="b" t="t" l="l"/>
              <a:pathLst>
                <a:path h="533400" w="476250">
                  <a:moveTo>
                    <a:pt x="0" y="0"/>
                  </a:moveTo>
                  <a:lnTo>
                    <a:pt x="476250" y="0"/>
                  </a:lnTo>
                  <a:lnTo>
                    <a:pt x="476250" y="533400"/>
                  </a:lnTo>
                  <a:lnTo>
                    <a:pt x="0" y="533400"/>
                  </a:lnTo>
                  <a:lnTo>
                    <a:pt x="0" y="0"/>
                  </a:lnTo>
                  <a:close/>
                </a:path>
              </a:pathLst>
            </a:custGeom>
            <a:blipFill>
              <a:blip r:embed="rId8"/>
              <a:stretch>
                <a:fillRect l="-2000" t="0" r="-2000" b="0"/>
              </a:stretch>
            </a:blipFill>
          </p:spPr>
          <p:txBody>
            <a:bodyPr/>
            <a:p/>
          </p:txBody>
        </p:sp>
      </p:grpSp>
      <p:grpSp>
        <p:nvGrpSpPr>
          <p:cNvPr name="Group 11" id="11"/>
          <p:cNvGrpSpPr/>
          <p:nvPr/>
        </p:nvGrpSpPr>
        <p:grpSpPr>
          <a:xfrm rot="0">
            <a:off x="8451056" y="8043862"/>
            <a:ext cx="357188" cy="400050"/>
            <a:chOff x="0" y="0"/>
            <a:chExt cx="476250" cy="533400"/>
          </a:xfrm>
        </p:grpSpPr>
        <p:sp>
          <p:nvSpPr>
            <p:cNvPr name="Freeform 12" id="12" descr="image.png"/>
            <p:cNvSpPr/>
            <p:nvPr/>
          </p:nvSpPr>
          <p:spPr>
            <a:xfrm flipH="false" flipV="false" rot="0">
              <a:off x="0" y="0"/>
              <a:ext cx="476250" cy="533400"/>
            </a:xfrm>
            <a:custGeom>
              <a:avLst/>
              <a:gdLst/>
              <a:ahLst/>
              <a:cxnLst/>
              <a:rect r="r" b="b" t="t" l="l"/>
              <a:pathLst>
                <a:path h="533400" w="476250">
                  <a:moveTo>
                    <a:pt x="0" y="0"/>
                  </a:moveTo>
                  <a:lnTo>
                    <a:pt x="476250" y="0"/>
                  </a:lnTo>
                  <a:lnTo>
                    <a:pt x="476250" y="533400"/>
                  </a:lnTo>
                  <a:lnTo>
                    <a:pt x="0" y="533400"/>
                  </a:lnTo>
                  <a:lnTo>
                    <a:pt x="0" y="0"/>
                  </a:lnTo>
                  <a:close/>
                </a:path>
              </a:pathLst>
            </a:custGeom>
            <a:blipFill>
              <a:blip r:embed="rId8"/>
              <a:stretch>
                <a:fillRect l="-2000" t="0" r="-2000" b="0"/>
              </a:stretch>
            </a:blipFill>
          </p:spPr>
          <p:txBody>
            <a:bodyPr/>
            <a:p/>
          </p:txBody>
        </p:sp>
      </p:grpSp>
      <p:grpSp>
        <p:nvGrpSpPr>
          <p:cNvPr name="Group 13" id="13"/>
          <p:cNvGrpSpPr/>
          <p:nvPr/>
        </p:nvGrpSpPr>
        <p:grpSpPr>
          <a:xfrm rot="0">
            <a:off x="12794456" y="5057775"/>
            <a:ext cx="357188" cy="400050"/>
            <a:chOff x="0" y="0"/>
            <a:chExt cx="476250" cy="533400"/>
          </a:xfrm>
        </p:grpSpPr>
        <p:sp>
          <p:nvSpPr>
            <p:cNvPr name="Freeform 14" id="14" descr="image.png"/>
            <p:cNvSpPr/>
            <p:nvPr/>
          </p:nvSpPr>
          <p:spPr>
            <a:xfrm flipH="false" flipV="false" rot="0">
              <a:off x="0" y="0"/>
              <a:ext cx="476250" cy="533400"/>
            </a:xfrm>
            <a:custGeom>
              <a:avLst/>
              <a:gdLst/>
              <a:ahLst/>
              <a:cxnLst/>
              <a:rect r="r" b="b" t="t" l="l"/>
              <a:pathLst>
                <a:path h="533400" w="476250">
                  <a:moveTo>
                    <a:pt x="0" y="0"/>
                  </a:moveTo>
                  <a:lnTo>
                    <a:pt x="476250" y="0"/>
                  </a:lnTo>
                  <a:lnTo>
                    <a:pt x="476250" y="533400"/>
                  </a:lnTo>
                  <a:lnTo>
                    <a:pt x="0" y="533400"/>
                  </a:lnTo>
                  <a:lnTo>
                    <a:pt x="0" y="0"/>
                  </a:lnTo>
                  <a:close/>
                </a:path>
              </a:pathLst>
            </a:custGeom>
            <a:blipFill>
              <a:blip r:embed="rId8"/>
              <a:stretch>
                <a:fillRect l="-2000" t="0" r="-2000" b="0"/>
              </a:stretch>
            </a:blipFill>
          </p:spPr>
          <p:txBody>
            <a:bodyPr/>
            <a:p/>
          </p:txBody>
        </p:sp>
      </p:grpSp>
      <p:grpSp>
        <p:nvGrpSpPr>
          <p:cNvPr name="Group 15" id="15"/>
          <p:cNvGrpSpPr/>
          <p:nvPr/>
        </p:nvGrpSpPr>
        <p:grpSpPr>
          <a:xfrm rot="0">
            <a:off x="12794456" y="8043862"/>
            <a:ext cx="357188" cy="400050"/>
            <a:chOff x="0" y="0"/>
            <a:chExt cx="476250" cy="533400"/>
          </a:xfrm>
        </p:grpSpPr>
        <p:sp>
          <p:nvSpPr>
            <p:cNvPr name="Freeform 16" id="16" descr="image.png"/>
            <p:cNvSpPr/>
            <p:nvPr/>
          </p:nvSpPr>
          <p:spPr>
            <a:xfrm flipH="false" flipV="false" rot="0">
              <a:off x="0" y="0"/>
              <a:ext cx="476250" cy="533400"/>
            </a:xfrm>
            <a:custGeom>
              <a:avLst/>
              <a:gdLst/>
              <a:ahLst/>
              <a:cxnLst/>
              <a:rect r="r" b="b" t="t" l="l"/>
              <a:pathLst>
                <a:path h="533400" w="476250">
                  <a:moveTo>
                    <a:pt x="0" y="0"/>
                  </a:moveTo>
                  <a:lnTo>
                    <a:pt x="476250" y="0"/>
                  </a:lnTo>
                  <a:lnTo>
                    <a:pt x="476250" y="533400"/>
                  </a:lnTo>
                  <a:lnTo>
                    <a:pt x="0" y="533400"/>
                  </a:lnTo>
                  <a:lnTo>
                    <a:pt x="0" y="0"/>
                  </a:lnTo>
                  <a:close/>
                </a:path>
              </a:pathLst>
            </a:custGeom>
            <a:blipFill>
              <a:blip r:embed="rId8"/>
              <a:stretch>
                <a:fillRect l="-2000" t="0" r="-2000" b="0"/>
              </a:stretch>
            </a:blipFill>
          </p:spPr>
          <p:txBody>
            <a:bodyPr/>
            <a:p/>
          </p:txBody>
        </p:sp>
      </p:grpSp>
      <p:grpSp>
        <p:nvGrpSpPr>
          <p:cNvPr name="Group 17" id="17"/>
          <p:cNvGrpSpPr/>
          <p:nvPr/>
        </p:nvGrpSpPr>
        <p:grpSpPr>
          <a:xfrm rot="0">
            <a:off x="1014412" y="3979069"/>
            <a:ext cx="3429000" cy="2428875"/>
            <a:chOff x="0" y="0"/>
            <a:chExt cx="4572000" cy="3238500"/>
          </a:xfrm>
        </p:grpSpPr>
        <p:sp>
          <p:nvSpPr>
            <p:cNvPr name="Freeform 18" id="18" descr="image.png"/>
            <p:cNvSpPr/>
            <p:nvPr/>
          </p:nvSpPr>
          <p:spPr>
            <a:xfrm flipH="false" flipV="false" rot="0">
              <a:off x="0" y="0"/>
              <a:ext cx="4572000" cy="3238500"/>
            </a:xfrm>
            <a:custGeom>
              <a:avLst/>
              <a:gdLst/>
              <a:ahLst/>
              <a:cxnLst/>
              <a:rect r="r" b="b" t="t" l="l"/>
              <a:pathLst>
                <a:path h="3238500" w="4572000">
                  <a:moveTo>
                    <a:pt x="0" y="0"/>
                  </a:moveTo>
                  <a:lnTo>
                    <a:pt x="4572000" y="0"/>
                  </a:lnTo>
                  <a:lnTo>
                    <a:pt x="4572000" y="3238500"/>
                  </a:lnTo>
                  <a:lnTo>
                    <a:pt x="0" y="3238500"/>
                  </a:lnTo>
                  <a:lnTo>
                    <a:pt x="0" y="0"/>
                  </a:lnTo>
                  <a:close/>
                </a:path>
              </a:pathLst>
            </a:custGeom>
            <a:blipFill>
              <a:blip r:embed="rId9"/>
              <a:stretch>
                <a:fillRect l="0" t="-294" r="0" b="-294"/>
              </a:stretch>
            </a:blipFill>
          </p:spPr>
          <p:txBody>
            <a:bodyPr/>
            <a:p/>
          </p:txBody>
        </p:sp>
      </p:grpSp>
      <p:grpSp>
        <p:nvGrpSpPr>
          <p:cNvPr name="Group 19" id="19"/>
          <p:cNvGrpSpPr/>
          <p:nvPr/>
        </p:nvGrpSpPr>
        <p:grpSpPr>
          <a:xfrm rot="0">
            <a:off x="1014412" y="7093744"/>
            <a:ext cx="3429000" cy="2428875"/>
            <a:chOff x="0" y="0"/>
            <a:chExt cx="4572000" cy="3238500"/>
          </a:xfrm>
        </p:grpSpPr>
        <p:sp>
          <p:nvSpPr>
            <p:cNvPr name="Freeform 20" id="20" descr="image.png"/>
            <p:cNvSpPr/>
            <p:nvPr/>
          </p:nvSpPr>
          <p:spPr>
            <a:xfrm flipH="false" flipV="false" rot="0">
              <a:off x="0" y="0"/>
              <a:ext cx="4572000" cy="3238500"/>
            </a:xfrm>
            <a:custGeom>
              <a:avLst/>
              <a:gdLst/>
              <a:ahLst/>
              <a:cxnLst/>
              <a:rect r="r" b="b" t="t" l="l"/>
              <a:pathLst>
                <a:path h="3238500" w="4572000">
                  <a:moveTo>
                    <a:pt x="0" y="0"/>
                  </a:moveTo>
                  <a:lnTo>
                    <a:pt x="4572000" y="0"/>
                  </a:lnTo>
                  <a:lnTo>
                    <a:pt x="4572000" y="3238500"/>
                  </a:lnTo>
                  <a:lnTo>
                    <a:pt x="0" y="3238500"/>
                  </a:lnTo>
                  <a:lnTo>
                    <a:pt x="0" y="0"/>
                  </a:lnTo>
                  <a:close/>
                </a:path>
              </a:pathLst>
            </a:custGeom>
            <a:blipFill>
              <a:blip r:embed="rId9"/>
              <a:stretch>
                <a:fillRect l="0" t="-294" r="0" b="-294"/>
              </a:stretch>
            </a:blipFill>
          </p:spPr>
          <p:txBody>
            <a:bodyPr/>
            <a:p/>
          </p:txBody>
        </p:sp>
      </p:grpSp>
      <p:grpSp>
        <p:nvGrpSpPr>
          <p:cNvPr name="Group 21" id="21"/>
          <p:cNvGrpSpPr/>
          <p:nvPr/>
        </p:nvGrpSpPr>
        <p:grpSpPr>
          <a:xfrm rot="0">
            <a:off x="1014412" y="3979069"/>
            <a:ext cx="3429000" cy="2428875"/>
            <a:chOff x="0" y="0"/>
            <a:chExt cx="4572000" cy="3238500"/>
          </a:xfrm>
        </p:grpSpPr>
        <p:sp>
          <p:nvSpPr>
            <p:cNvPr name="Freeform 22" id="22" descr="image.png"/>
            <p:cNvSpPr/>
            <p:nvPr/>
          </p:nvSpPr>
          <p:spPr>
            <a:xfrm flipH="false" flipV="false" rot="0">
              <a:off x="0" y="0"/>
              <a:ext cx="4572000" cy="3238500"/>
            </a:xfrm>
            <a:custGeom>
              <a:avLst/>
              <a:gdLst/>
              <a:ahLst/>
              <a:cxnLst/>
              <a:rect r="r" b="b" t="t" l="l"/>
              <a:pathLst>
                <a:path h="3238500" w="4572000">
                  <a:moveTo>
                    <a:pt x="0" y="0"/>
                  </a:moveTo>
                  <a:lnTo>
                    <a:pt x="4572000" y="0"/>
                  </a:lnTo>
                  <a:lnTo>
                    <a:pt x="4572000" y="3238500"/>
                  </a:lnTo>
                  <a:lnTo>
                    <a:pt x="0" y="3238500"/>
                  </a:lnTo>
                  <a:lnTo>
                    <a:pt x="0" y="0"/>
                  </a:lnTo>
                  <a:close/>
                </a:path>
              </a:pathLst>
            </a:custGeom>
            <a:blipFill>
              <a:blip r:embed="rId10"/>
              <a:stretch>
                <a:fillRect l="0" t="-294" r="0" b="-294"/>
              </a:stretch>
            </a:blipFill>
          </p:spPr>
          <p:txBody>
            <a:bodyPr/>
            <a:p/>
          </p:txBody>
        </p:sp>
      </p:grpSp>
      <p:grpSp>
        <p:nvGrpSpPr>
          <p:cNvPr name="Group 23" id="23"/>
          <p:cNvGrpSpPr/>
          <p:nvPr/>
        </p:nvGrpSpPr>
        <p:grpSpPr>
          <a:xfrm rot="0">
            <a:off x="1014412" y="7093744"/>
            <a:ext cx="3429000" cy="2428875"/>
            <a:chOff x="0" y="0"/>
            <a:chExt cx="4572000" cy="3238500"/>
          </a:xfrm>
        </p:grpSpPr>
        <p:sp>
          <p:nvSpPr>
            <p:cNvPr name="Freeform 24" id="24" descr="image.png"/>
            <p:cNvSpPr/>
            <p:nvPr/>
          </p:nvSpPr>
          <p:spPr>
            <a:xfrm flipH="false" flipV="false" rot="0">
              <a:off x="0" y="0"/>
              <a:ext cx="4572000" cy="3238500"/>
            </a:xfrm>
            <a:custGeom>
              <a:avLst/>
              <a:gdLst/>
              <a:ahLst/>
              <a:cxnLst/>
              <a:rect r="r" b="b" t="t" l="l"/>
              <a:pathLst>
                <a:path h="3238500" w="4572000">
                  <a:moveTo>
                    <a:pt x="0" y="0"/>
                  </a:moveTo>
                  <a:lnTo>
                    <a:pt x="4572000" y="0"/>
                  </a:lnTo>
                  <a:lnTo>
                    <a:pt x="4572000" y="3238500"/>
                  </a:lnTo>
                  <a:lnTo>
                    <a:pt x="0" y="3238500"/>
                  </a:lnTo>
                  <a:lnTo>
                    <a:pt x="0" y="0"/>
                  </a:lnTo>
                  <a:close/>
                </a:path>
              </a:pathLst>
            </a:custGeom>
            <a:blipFill>
              <a:blip r:embed="rId11"/>
              <a:stretch>
                <a:fillRect l="0" t="-294" r="0" b="-294"/>
              </a:stretch>
            </a:blipFill>
          </p:spPr>
          <p:txBody>
            <a:bodyPr/>
            <a:p/>
          </p:txBody>
        </p:sp>
      </p:grpSp>
      <p:sp>
        <p:nvSpPr>
          <p:cNvPr name="TextBox 25" id="25"/>
          <p:cNvSpPr txBox="true"/>
          <p:nvPr/>
        </p:nvSpPr>
        <p:spPr>
          <a:xfrm rot="0">
            <a:off x="800100" y="514350"/>
            <a:ext cx="17487900" cy="242888"/>
          </a:xfrm>
          <a:prstGeom prst="rect">
            <a:avLst/>
          </a:prstGeom>
        </p:spPr>
        <p:txBody>
          <a:bodyPr anchor="t" rtlCol="false" tIns="0" lIns="0" bIns="0" rIns="0">
            <a:spAutoFit/>
          </a:bodyPr>
          <a:lstStyle/>
          <a:p>
            <a:pPr algn="l">
              <a:lnSpc>
                <a:spcPts val="1889"/>
              </a:lnSpc>
            </a:pPr>
            <a:r>
              <a:rPr lang="en-US" sz="1575" b="true">
                <a:solidFill>
                  <a:srgbClr val="1D638C"/>
                </a:solidFill>
                <a:latin typeface="Inter Bold"/>
                <a:ea typeface="Inter Bold"/>
                <a:cs typeface="Inter Bold"/>
                <a:sym typeface="Inter Bold"/>
              </a:rPr>
              <a:t>REVIEW 1 · PHẠM VI · 01 · BÀI TOÁN</a:t>
            </a:r>
          </a:p>
        </p:txBody>
      </p:sp>
      <p:sp>
        <p:nvSpPr>
          <p:cNvPr name="TextBox 26" id="26"/>
          <p:cNvSpPr txBox="true"/>
          <p:nvPr/>
        </p:nvSpPr>
        <p:spPr>
          <a:xfrm rot="0">
            <a:off x="800100" y="871538"/>
            <a:ext cx="17487900" cy="728662"/>
          </a:xfrm>
          <a:prstGeom prst="rect">
            <a:avLst/>
          </a:prstGeom>
        </p:spPr>
        <p:txBody>
          <a:bodyPr anchor="t" rtlCol="false" tIns="0" lIns="0" bIns="0" rIns="0">
            <a:spAutoFit/>
          </a:bodyPr>
          <a:lstStyle/>
          <a:p>
            <a:pPr algn="l">
              <a:lnSpc>
                <a:spcPts val="5400"/>
              </a:lnSpc>
            </a:pPr>
            <a:r>
              <a:rPr lang="en-US" sz="4500" b="true">
                <a:solidFill>
                  <a:srgbClr val="0F2B46"/>
                </a:solidFill>
                <a:latin typeface="Lora Bold"/>
                <a:ea typeface="Lora Bold"/>
                <a:cs typeface="Lora Bold"/>
                <a:sym typeface="Lora Bold"/>
              </a:rPr>
              <a:t>Phát biểu bài toán: input → mô hình → output</a:t>
            </a:r>
          </a:p>
        </p:txBody>
      </p:sp>
      <p:sp>
        <p:nvSpPr>
          <p:cNvPr name="TextBox 27" id="27"/>
          <p:cNvSpPr txBox="true"/>
          <p:nvPr/>
        </p:nvSpPr>
        <p:spPr>
          <a:xfrm rot="0">
            <a:off x="1143000" y="2124075"/>
            <a:ext cx="16144875" cy="619125"/>
          </a:xfrm>
          <a:prstGeom prst="rect">
            <a:avLst/>
          </a:prstGeom>
        </p:spPr>
        <p:txBody>
          <a:bodyPr anchor="t" rtlCol="false" tIns="0" lIns="0" bIns="0" rIns="0">
            <a:spAutoFit/>
          </a:bodyPr>
          <a:lstStyle/>
          <a:p>
            <a:pPr algn="l">
              <a:lnSpc>
                <a:spcPts val="2430"/>
              </a:lnSpc>
            </a:pPr>
            <a:r>
              <a:rPr lang="en-US" sz="2025" b="true">
                <a:solidFill>
                  <a:srgbClr val="1E293B"/>
                </a:solidFill>
                <a:latin typeface="Inter Bold"/>
                <a:ea typeface="Inter Bold"/>
                <a:cs typeface="Inter Bold"/>
                <a:sym typeface="Inter Bold"/>
              </a:rPr>
              <a:t>Bài toán</a:t>
            </a:r>
            <a:r>
              <a:rPr lang="en-US" sz="2025">
                <a:solidFill>
                  <a:srgbClr val="1E293B"/>
                </a:solidFill>
                <a:latin typeface="Inter"/>
                <a:ea typeface="Inter"/>
                <a:cs typeface="Inter"/>
                <a:sym typeface="Inter"/>
              </a:rPr>
              <a:t>  Cho một ảnh và một câu hỏi tiếng Việt về ảnh, sinh câu trả lời tiếng Việt ngắn, đúng nội dung ảnh và đúng chính tả có dấu — bằng cách thích nghi một VLM mở (Qwen2.5-VL-3B) chỉ với PEFT (QLoRA), trên một GPU Colab.</a:t>
            </a:r>
          </a:p>
        </p:txBody>
      </p:sp>
      <p:sp>
        <p:nvSpPr>
          <p:cNvPr name="TextBox 28" id="28"/>
          <p:cNvSpPr txBox="true"/>
          <p:nvPr/>
        </p:nvSpPr>
        <p:spPr>
          <a:xfrm rot="0">
            <a:off x="800100" y="3314700"/>
            <a:ext cx="9286875" cy="271462"/>
          </a:xfrm>
          <a:prstGeom prst="rect">
            <a:avLst/>
          </a:prstGeom>
        </p:spPr>
        <p:txBody>
          <a:bodyPr anchor="t" rtlCol="false" tIns="0" lIns="0" bIns="0" rIns="0">
            <a:spAutoFit/>
          </a:bodyPr>
          <a:lstStyle/>
          <a:p>
            <a:pPr algn="l">
              <a:lnSpc>
                <a:spcPts val="2025"/>
              </a:lnSpc>
            </a:pPr>
            <a:r>
              <a:rPr lang="en-US" sz="1685" b="true">
                <a:solidFill>
                  <a:srgbClr val="1D638C"/>
                </a:solidFill>
                <a:latin typeface="Inter Bold"/>
                <a:ea typeface="Inter Bold"/>
                <a:cs typeface="Inter Bold"/>
                <a:sym typeface="Inter Bold"/>
              </a:rPr>
              <a:t>INPUT · ảnh + câu hỏi tiếng Việt</a:t>
            </a:r>
          </a:p>
        </p:txBody>
      </p:sp>
      <p:sp>
        <p:nvSpPr>
          <p:cNvPr name="TextBox 29" id="29"/>
          <p:cNvSpPr txBox="true"/>
          <p:nvPr/>
        </p:nvSpPr>
        <p:spPr>
          <a:xfrm rot="0">
            <a:off x="8586788" y="3314700"/>
            <a:ext cx="4429125" cy="271462"/>
          </a:xfrm>
          <a:prstGeom prst="rect">
            <a:avLst/>
          </a:prstGeom>
        </p:spPr>
        <p:txBody>
          <a:bodyPr anchor="t" rtlCol="false" tIns="0" lIns="0" bIns="0" rIns="0">
            <a:spAutoFit/>
          </a:bodyPr>
          <a:lstStyle/>
          <a:p>
            <a:pPr algn="ctr">
              <a:lnSpc>
                <a:spcPts val="2025"/>
              </a:lnSpc>
            </a:pPr>
            <a:r>
              <a:rPr lang="en-US" sz="1685" b="true">
                <a:solidFill>
                  <a:srgbClr val="1D638C"/>
                </a:solidFill>
                <a:latin typeface="Inter Bold"/>
                <a:ea typeface="Inter Bold"/>
                <a:cs typeface="Inter Bold"/>
                <a:sym typeface="Inter Bold"/>
              </a:rPr>
              <a:t>MÔ HÌNH</a:t>
            </a:r>
          </a:p>
        </p:txBody>
      </p:sp>
      <p:sp>
        <p:nvSpPr>
          <p:cNvPr name="TextBox 30" id="30"/>
          <p:cNvSpPr txBox="true"/>
          <p:nvPr/>
        </p:nvSpPr>
        <p:spPr>
          <a:xfrm rot="0">
            <a:off x="13373100" y="3314700"/>
            <a:ext cx="4914900" cy="271462"/>
          </a:xfrm>
          <a:prstGeom prst="rect">
            <a:avLst/>
          </a:prstGeom>
        </p:spPr>
        <p:txBody>
          <a:bodyPr anchor="t" rtlCol="false" tIns="0" lIns="0" bIns="0" rIns="0">
            <a:spAutoFit/>
          </a:bodyPr>
          <a:lstStyle/>
          <a:p>
            <a:pPr algn="l">
              <a:lnSpc>
                <a:spcPts val="2025"/>
              </a:lnSpc>
            </a:pPr>
            <a:r>
              <a:rPr lang="en-US" sz="1685" b="true">
                <a:solidFill>
                  <a:srgbClr val="1D638C"/>
                </a:solidFill>
                <a:latin typeface="Inter Bold"/>
                <a:ea typeface="Inter Bold"/>
                <a:cs typeface="Inter Bold"/>
                <a:sym typeface="Inter Bold"/>
              </a:rPr>
              <a:t>OUTPUT · câu trả lời ngắn</a:t>
            </a:r>
          </a:p>
        </p:txBody>
      </p:sp>
      <p:sp>
        <p:nvSpPr>
          <p:cNvPr name="TextBox 31" id="31"/>
          <p:cNvSpPr txBox="true"/>
          <p:nvPr/>
        </p:nvSpPr>
        <p:spPr>
          <a:xfrm rot="0">
            <a:off x="9179271" y="5745956"/>
            <a:ext cx="3244158" cy="390525"/>
          </a:xfrm>
          <a:prstGeom prst="rect">
            <a:avLst/>
          </a:prstGeom>
        </p:spPr>
        <p:txBody>
          <a:bodyPr anchor="t" rtlCol="false" tIns="0" lIns="0" bIns="0" rIns="0">
            <a:spAutoFit/>
          </a:bodyPr>
          <a:lstStyle/>
          <a:p>
            <a:pPr algn="ctr">
              <a:lnSpc>
                <a:spcPts val="2970"/>
              </a:lnSpc>
            </a:pPr>
            <a:r>
              <a:rPr lang="en-US" sz="2475" b="true">
                <a:solidFill>
                  <a:srgbClr val="0F2B46"/>
                </a:solidFill>
                <a:latin typeface="Inter Bold"/>
                <a:ea typeface="Inter Bold"/>
                <a:cs typeface="Inter Bold"/>
                <a:sym typeface="Inter Bold"/>
              </a:rPr>
              <a:t>Qwen2.5-VL-3B</a:t>
            </a:r>
          </a:p>
        </p:txBody>
      </p:sp>
      <p:sp>
        <p:nvSpPr>
          <p:cNvPr name="TextBox 32" id="32"/>
          <p:cNvSpPr txBox="true"/>
          <p:nvPr/>
        </p:nvSpPr>
        <p:spPr>
          <a:xfrm rot="0">
            <a:off x="10001250" y="6250781"/>
            <a:ext cx="1600200" cy="271462"/>
          </a:xfrm>
          <a:prstGeom prst="rect">
            <a:avLst/>
          </a:prstGeom>
        </p:spPr>
        <p:txBody>
          <a:bodyPr anchor="t" rtlCol="false" tIns="0" lIns="0" bIns="0" rIns="0">
            <a:spAutoFit/>
          </a:bodyPr>
          <a:lstStyle/>
          <a:p>
            <a:pPr algn="ctr">
              <a:lnSpc>
                <a:spcPts val="2025"/>
              </a:lnSpc>
            </a:pPr>
            <a:r>
              <a:rPr lang="en-US" sz="1685">
                <a:solidFill>
                  <a:srgbClr val="334155"/>
                </a:solidFill>
                <a:latin typeface="Inter"/>
                <a:ea typeface="Inter"/>
                <a:cs typeface="Inter"/>
                <a:sym typeface="Inter"/>
              </a:rPr>
              <a:t>3 tỉ tham số</a:t>
            </a:r>
          </a:p>
        </p:txBody>
      </p:sp>
      <p:sp>
        <p:nvSpPr>
          <p:cNvPr name="TextBox 33" id="33"/>
          <p:cNvSpPr txBox="true"/>
          <p:nvPr/>
        </p:nvSpPr>
        <p:spPr>
          <a:xfrm rot="0">
            <a:off x="8926116" y="6579394"/>
            <a:ext cx="3750469" cy="271462"/>
          </a:xfrm>
          <a:prstGeom prst="rect">
            <a:avLst/>
          </a:prstGeom>
        </p:spPr>
        <p:txBody>
          <a:bodyPr anchor="t" rtlCol="false" tIns="0" lIns="0" bIns="0" rIns="0">
            <a:spAutoFit/>
          </a:bodyPr>
          <a:lstStyle/>
          <a:p>
            <a:pPr algn="ctr">
              <a:lnSpc>
                <a:spcPts val="2025"/>
              </a:lnSpc>
            </a:pPr>
            <a:r>
              <a:rPr lang="en-US" sz="1685">
                <a:solidFill>
                  <a:srgbClr val="334155"/>
                </a:solidFill>
                <a:latin typeface="Inter"/>
                <a:ea typeface="Inter"/>
                <a:cs typeface="Inter"/>
                <a:sym typeface="Inter"/>
              </a:rPr>
              <a:t>lượng tử hoá 4-bit, đóng băng</a:t>
            </a:r>
          </a:p>
        </p:txBody>
      </p:sp>
      <p:sp>
        <p:nvSpPr>
          <p:cNvPr name="TextBox 34" id="34"/>
          <p:cNvSpPr txBox="true"/>
          <p:nvPr/>
        </p:nvSpPr>
        <p:spPr>
          <a:xfrm rot="0">
            <a:off x="9488681" y="7088981"/>
            <a:ext cx="2625328" cy="319087"/>
          </a:xfrm>
          <a:prstGeom prst="rect">
            <a:avLst/>
          </a:prstGeom>
        </p:spPr>
        <p:txBody>
          <a:bodyPr anchor="t" rtlCol="false" tIns="0" lIns="0" bIns="0" rIns="0">
            <a:spAutoFit/>
          </a:bodyPr>
          <a:lstStyle/>
          <a:p>
            <a:pPr algn="ctr">
              <a:lnSpc>
                <a:spcPts val="2430"/>
              </a:lnSpc>
            </a:pPr>
            <a:r>
              <a:rPr lang="en-US" sz="2025" b="true">
                <a:solidFill>
                  <a:srgbClr val="B45309"/>
                </a:solidFill>
                <a:latin typeface="Inter Bold"/>
                <a:ea typeface="Inter Bold"/>
                <a:cs typeface="Inter Bold"/>
                <a:sym typeface="Inter Bold"/>
              </a:rPr>
              <a:t>+ adapter QLoRA</a:t>
            </a:r>
          </a:p>
        </p:txBody>
      </p:sp>
      <p:sp>
        <p:nvSpPr>
          <p:cNvPr name="TextBox 35" id="35"/>
          <p:cNvSpPr txBox="true"/>
          <p:nvPr/>
        </p:nvSpPr>
        <p:spPr>
          <a:xfrm rot="0">
            <a:off x="9256509" y="7465219"/>
            <a:ext cx="3089672" cy="271462"/>
          </a:xfrm>
          <a:prstGeom prst="rect">
            <a:avLst/>
          </a:prstGeom>
        </p:spPr>
        <p:txBody>
          <a:bodyPr anchor="t" rtlCol="false" tIns="0" lIns="0" bIns="0" rIns="0">
            <a:spAutoFit/>
          </a:bodyPr>
          <a:lstStyle/>
          <a:p>
            <a:pPr algn="ctr">
              <a:lnSpc>
                <a:spcPts val="2025"/>
              </a:lnSpc>
            </a:pPr>
            <a:r>
              <a:rPr lang="en-US" sz="1685">
                <a:solidFill>
                  <a:srgbClr val="334155"/>
                </a:solidFill>
                <a:latin typeface="Inter"/>
                <a:ea typeface="Inter"/>
                <a:cs typeface="Inter"/>
                <a:sym typeface="Inter"/>
              </a:rPr>
              <a:t>chỉ train 0,196% tham số</a:t>
            </a:r>
          </a:p>
        </p:txBody>
      </p:sp>
      <p:sp>
        <p:nvSpPr>
          <p:cNvPr name="TextBox 36" id="36"/>
          <p:cNvSpPr txBox="true"/>
          <p:nvPr/>
        </p:nvSpPr>
        <p:spPr>
          <a:xfrm rot="0">
            <a:off x="13701712" y="4464844"/>
            <a:ext cx="4321969" cy="242888"/>
          </a:xfrm>
          <a:prstGeom prst="rect">
            <a:avLst/>
          </a:prstGeom>
        </p:spPr>
        <p:txBody>
          <a:bodyPr anchor="t" rtlCol="false" tIns="0" lIns="0" bIns="0" rIns="0">
            <a:spAutoFit/>
          </a:bodyPr>
          <a:lstStyle/>
          <a:p>
            <a:pPr algn="l">
              <a:lnSpc>
                <a:spcPts val="1889"/>
              </a:lnSpc>
            </a:pPr>
            <a:r>
              <a:rPr lang="en-US" sz="1575">
                <a:solidFill>
                  <a:srgbClr val="64748B"/>
                </a:solidFill>
                <a:latin typeface="Inter"/>
                <a:ea typeface="Inter"/>
                <a:cs typeface="Inter"/>
                <a:sym typeface="Inter"/>
              </a:rPr>
              <a:t>Đáp án chuẩn</a:t>
            </a:r>
          </a:p>
        </p:txBody>
      </p:sp>
      <p:sp>
        <p:nvSpPr>
          <p:cNvPr name="TextBox 37" id="37"/>
          <p:cNvSpPr txBox="true"/>
          <p:nvPr/>
        </p:nvSpPr>
        <p:spPr>
          <a:xfrm rot="0">
            <a:off x="13701712" y="4793456"/>
            <a:ext cx="4538062" cy="414338"/>
          </a:xfrm>
          <a:prstGeom prst="rect">
            <a:avLst/>
          </a:prstGeom>
        </p:spPr>
        <p:txBody>
          <a:bodyPr anchor="t" rtlCol="false" tIns="0" lIns="0" bIns="0" rIns="0">
            <a:spAutoFit/>
          </a:bodyPr>
          <a:lstStyle/>
          <a:p>
            <a:pPr algn="l">
              <a:lnSpc>
                <a:spcPts val="3240"/>
              </a:lnSpc>
            </a:pPr>
            <a:r>
              <a:rPr lang="en-US" sz="2700" b="true">
                <a:solidFill>
                  <a:srgbClr val="0F2B46"/>
                </a:solidFill>
                <a:latin typeface="Inter Bold"/>
                <a:ea typeface="Inter Bold"/>
                <a:cs typeface="Inter Bold"/>
                <a:sym typeface="Inter Bold"/>
              </a:rPr>
              <a:t>màu đỏ</a:t>
            </a:r>
          </a:p>
        </p:txBody>
      </p:sp>
      <p:sp>
        <p:nvSpPr>
          <p:cNvPr name="TextBox 38" id="38"/>
          <p:cNvSpPr txBox="true"/>
          <p:nvPr/>
        </p:nvSpPr>
        <p:spPr>
          <a:xfrm rot="0">
            <a:off x="13701712" y="5322094"/>
            <a:ext cx="4321969" cy="242888"/>
          </a:xfrm>
          <a:prstGeom prst="rect">
            <a:avLst/>
          </a:prstGeom>
        </p:spPr>
        <p:txBody>
          <a:bodyPr anchor="t" rtlCol="false" tIns="0" lIns="0" bIns="0" rIns="0">
            <a:spAutoFit/>
          </a:bodyPr>
          <a:lstStyle/>
          <a:p>
            <a:pPr algn="l">
              <a:lnSpc>
                <a:spcPts val="1889"/>
              </a:lnSpc>
            </a:pPr>
            <a:r>
              <a:rPr lang="en-US" sz="1575">
                <a:solidFill>
                  <a:srgbClr val="475569"/>
                </a:solidFill>
                <a:latin typeface="Inter"/>
                <a:ea typeface="Inter"/>
                <a:cs typeface="Inter"/>
                <a:sym typeface="Inter"/>
              </a:rPr>
              <a:t>99,83% đáp án ≤ 3 từ</a:t>
            </a:r>
          </a:p>
        </p:txBody>
      </p:sp>
      <p:sp>
        <p:nvSpPr>
          <p:cNvPr name="TextBox 39" id="39"/>
          <p:cNvSpPr txBox="true"/>
          <p:nvPr/>
        </p:nvSpPr>
        <p:spPr>
          <a:xfrm rot="0">
            <a:off x="13701712" y="5650706"/>
            <a:ext cx="4321969" cy="271462"/>
          </a:xfrm>
          <a:prstGeom prst="rect">
            <a:avLst/>
          </a:prstGeom>
        </p:spPr>
        <p:txBody>
          <a:bodyPr anchor="t" rtlCol="false" tIns="0" lIns="0" bIns="0" rIns="0">
            <a:spAutoFit/>
          </a:bodyPr>
          <a:lstStyle/>
          <a:p>
            <a:pPr algn="l">
              <a:lnSpc>
                <a:spcPts val="2025"/>
              </a:lnSpc>
            </a:pPr>
            <a:r>
              <a:rPr lang="en-US" sz="1685" b="true">
                <a:solidFill>
                  <a:srgbClr val="1D638C"/>
                </a:solidFill>
                <a:latin typeface="Inter Bold"/>
                <a:ea typeface="Inter Bold"/>
                <a:cs typeface="Inter Bold"/>
                <a:sym typeface="Inter Bold"/>
              </a:rPr>
              <a:t>→ chấm EM · VQA-Acc</a:t>
            </a:r>
          </a:p>
        </p:txBody>
      </p:sp>
      <p:sp>
        <p:nvSpPr>
          <p:cNvPr name="TextBox 40" id="40"/>
          <p:cNvSpPr txBox="true"/>
          <p:nvPr/>
        </p:nvSpPr>
        <p:spPr>
          <a:xfrm rot="0">
            <a:off x="13701712" y="7372350"/>
            <a:ext cx="4321969" cy="242888"/>
          </a:xfrm>
          <a:prstGeom prst="rect">
            <a:avLst/>
          </a:prstGeom>
        </p:spPr>
        <p:txBody>
          <a:bodyPr anchor="t" rtlCol="false" tIns="0" lIns="0" bIns="0" rIns="0">
            <a:spAutoFit/>
          </a:bodyPr>
          <a:lstStyle/>
          <a:p>
            <a:pPr algn="l">
              <a:lnSpc>
                <a:spcPts val="1889"/>
              </a:lnSpc>
            </a:pPr>
            <a:r>
              <a:rPr lang="en-US" sz="1575">
                <a:solidFill>
                  <a:srgbClr val="64748B"/>
                </a:solidFill>
                <a:latin typeface="Inter"/>
                <a:ea typeface="Inter"/>
                <a:cs typeface="Inter"/>
                <a:sym typeface="Inter"/>
              </a:rPr>
              <a:t>Đáp án chuẩn</a:t>
            </a:r>
          </a:p>
        </p:txBody>
      </p:sp>
      <p:sp>
        <p:nvSpPr>
          <p:cNvPr name="TextBox 41" id="41"/>
          <p:cNvSpPr txBox="true"/>
          <p:nvPr/>
        </p:nvSpPr>
        <p:spPr>
          <a:xfrm rot="0">
            <a:off x="13701712" y="7700962"/>
            <a:ext cx="3780472" cy="828675"/>
          </a:xfrm>
          <a:prstGeom prst="rect">
            <a:avLst/>
          </a:prstGeom>
        </p:spPr>
        <p:txBody>
          <a:bodyPr anchor="t" rtlCol="false" tIns="0" lIns="0" bIns="0" rIns="0">
            <a:spAutoFit/>
          </a:bodyPr>
          <a:lstStyle/>
          <a:p>
            <a:pPr algn="l">
              <a:lnSpc>
                <a:spcPts val="3240"/>
              </a:lnSpc>
            </a:pPr>
            <a:r>
              <a:rPr lang="en-US" sz="2700" b="true">
                <a:solidFill>
                  <a:srgbClr val="0F2B46"/>
                </a:solidFill>
                <a:latin typeface="Inter Bold"/>
                <a:ea typeface="Inter Bold"/>
                <a:cs typeface="Inter Bold"/>
                <a:sym typeface="Inter Bold"/>
              </a:rPr>
              <a:t>đại lý xổ số miền bắc</a:t>
            </a:r>
          </a:p>
        </p:txBody>
      </p:sp>
      <p:sp>
        <p:nvSpPr>
          <p:cNvPr name="TextBox 42" id="42"/>
          <p:cNvSpPr txBox="true"/>
          <p:nvPr/>
        </p:nvSpPr>
        <p:spPr>
          <a:xfrm rot="0">
            <a:off x="13701712" y="8643938"/>
            <a:ext cx="4321969" cy="242888"/>
          </a:xfrm>
          <a:prstGeom prst="rect">
            <a:avLst/>
          </a:prstGeom>
        </p:spPr>
        <p:txBody>
          <a:bodyPr anchor="t" rtlCol="false" tIns="0" lIns="0" bIns="0" rIns="0">
            <a:spAutoFit/>
          </a:bodyPr>
          <a:lstStyle/>
          <a:p>
            <a:pPr algn="l">
              <a:lnSpc>
                <a:spcPts val="1889"/>
              </a:lnSpc>
            </a:pPr>
            <a:r>
              <a:rPr lang="en-US" sz="1575">
                <a:solidFill>
                  <a:srgbClr val="475569"/>
                </a:solidFill>
                <a:latin typeface="Inter"/>
                <a:ea typeface="Inter"/>
                <a:cs typeface="Inter"/>
                <a:sym typeface="Inter"/>
              </a:rPr>
              <a:t>đáp án là chữ trong ảnh (TB 4,18 từ)</a:t>
            </a:r>
          </a:p>
        </p:txBody>
      </p:sp>
      <p:sp>
        <p:nvSpPr>
          <p:cNvPr name="TextBox 43" id="43"/>
          <p:cNvSpPr txBox="true"/>
          <p:nvPr/>
        </p:nvSpPr>
        <p:spPr>
          <a:xfrm rot="0">
            <a:off x="13701712" y="8972550"/>
            <a:ext cx="4321969" cy="271462"/>
          </a:xfrm>
          <a:prstGeom prst="rect">
            <a:avLst/>
          </a:prstGeom>
        </p:spPr>
        <p:txBody>
          <a:bodyPr anchor="t" rtlCol="false" tIns="0" lIns="0" bIns="0" rIns="0">
            <a:spAutoFit/>
          </a:bodyPr>
          <a:lstStyle/>
          <a:p>
            <a:pPr algn="l">
              <a:lnSpc>
                <a:spcPts val="2025"/>
              </a:lnSpc>
            </a:pPr>
            <a:r>
              <a:rPr lang="en-US" sz="1685" b="true">
                <a:solidFill>
                  <a:srgbClr val="1D638C"/>
                </a:solidFill>
                <a:latin typeface="Inter Bold"/>
                <a:ea typeface="Inter Bold"/>
                <a:cs typeface="Inter Bold"/>
                <a:sym typeface="Inter Bold"/>
              </a:rPr>
              <a:t>→ chấm ANLS · EM</a:t>
            </a:r>
          </a:p>
        </p:txBody>
      </p:sp>
      <p:sp>
        <p:nvSpPr>
          <p:cNvPr name="TextBox 44" id="44"/>
          <p:cNvSpPr txBox="true"/>
          <p:nvPr/>
        </p:nvSpPr>
        <p:spPr>
          <a:xfrm rot="0">
            <a:off x="4672012" y="4474369"/>
            <a:ext cx="3394177" cy="319087"/>
          </a:xfrm>
          <a:prstGeom prst="rect">
            <a:avLst/>
          </a:prstGeom>
        </p:spPr>
        <p:txBody>
          <a:bodyPr anchor="t" rtlCol="false" tIns="0" lIns="0" bIns="0" rIns="0">
            <a:spAutoFit/>
          </a:bodyPr>
          <a:lstStyle/>
          <a:p>
            <a:pPr algn="l">
              <a:lnSpc>
                <a:spcPts val="2430"/>
              </a:lnSpc>
            </a:pPr>
            <a:r>
              <a:rPr lang="en-US" sz="2025" b="true">
                <a:solidFill>
                  <a:srgbClr val="0F2B46"/>
                </a:solidFill>
                <a:latin typeface="Inter Bold"/>
                <a:ea typeface="Inter Bold"/>
                <a:cs typeface="Inter Bold"/>
                <a:sym typeface="Inter Bold"/>
              </a:rPr>
              <a:t>ViVQA</a:t>
            </a:r>
          </a:p>
        </p:txBody>
      </p:sp>
      <p:sp>
        <p:nvSpPr>
          <p:cNvPr name="TextBox 45" id="45"/>
          <p:cNvSpPr txBox="true"/>
          <p:nvPr/>
        </p:nvSpPr>
        <p:spPr>
          <a:xfrm rot="0">
            <a:off x="4672012" y="4850606"/>
            <a:ext cx="3232547" cy="242888"/>
          </a:xfrm>
          <a:prstGeom prst="rect">
            <a:avLst/>
          </a:prstGeom>
        </p:spPr>
        <p:txBody>
          <a:bodyPr anchor="t" rtlCol="false" tIns="0" lIns="0" bIns="0" rIns="0">
            <a:spAutoFit/>
          </a:bodyPr>
          <a:lstStyle/>
          <a:p>
            <a:pPr algn="l">
              <a:lnSpc>
                <a:spcPts val="1889"/>
              </a:lnSpc>
            </a:pPr>
            <a:r>
              <a:rPr lang="en-US" sz="1575">
                <a:solidFill>
                  <a:srgbClr val="64748B"/>
                </a:solidFill>
                <a:latin typeface="Inter"/>
                <a:ea typeface="Inter"/>
                <a:cs typeface="Inter"/>
                <a:sym typeface="Inter"/>
              </a:rPr>
              <a:t>ảnh đời thường (MS COCO)</a:t>
            </a:r>
          </a:p>
        </p:txBody>
      </p:sp>
      <p:sp>
        <p:nvSpPr>
          <p:cNvPr name="TextBox 46" id="46"/>
          <p:cNvSpPr txBox="true"/>
          <p:nvPr/>
        </p:nvSpPr>
        <p:spPr>
          <a:xfrm rot="0">
            <a:off x="4672012" y="5264944"/>
            <a:ext cx="3232547" cy="285750"/>
          </a:xfrm>
          <a:prstGeom prst="rect">
            <a:avLst/>
          </a:prstGeom>
        </p:spPr>
        <p:txBody>
          <a:bodyPr anchor="t" rtlCol="false" tIns="0" lIns="0" bIns="0" rIns="0">
            <a:spAutoFit/>
          </a:bodyPr>
          <a:lstStyle/>
          <a:p>
            <a:pPr algn="l">
              <a:lnSpc>
                <a:spcPts val="2160"/>
              </a:lnSpc>
            </a:pPr>
            <a:r>
              <a:rPr lang="en-US" sz="1800" b="true">
                <a:solidFill>
                  <a:srgbClr val="0F2B46"/>
                </a:solidFill>
                <a:latin typeface="Inter Bold"/>
                <a:ea typeface="Inter Bold"/>
                <a:cs typeface="Inter Bold"/>
                <a:sym typeface="Inter Bold"/>
              </a:rPr>
              <a:t>Câu hỏi:</a:t>
            </a:r>
          </a:p>
        </p:txBody>
      </p:sp>
      <p:sp>
        <p:nvSpPr>
          <p:cNvPr name="TextBox 47" id="47"/>
          <p:cNvSpPr txBox="true"/>
          <p:nvPr/>
        </p:nvSpPr>
        <p:spPr>
          <a:xfrm rot="0">
            <a:off x="4672012" y="5607844"/>
            <a:ext cx="3232547" cy="285750"/>
          </a:xfrm>
          <a:prstGeom prst="rect">
            <a:avLst/>
          </a:prstGeom>
        </p:spPr>
        <p:txBody>
          <a:bodyPr anchor="t" rtlCol="false" tIns="0" lIns="0" bIns="0" rIns="0">
            <a:spAutoFit/>
          </a:bodyPr>
          <a:lstStyle/>
          <a:p>
            <a:pPr algn="l">
              <a:lnSpc>
                <a:spcPts val="2160"/>
              </a:lnSpc>
            </a:pPr>
            <a:r>
              <a:rPr lang="en-US" sz="1800">
                <a:solidFill>
                  <a:srgbClr val="1E293B"/>
                </a:solidFill>
                <a:latin typeface="Inter"/>
                <a:ea typeface="Inter"/>
                <a:cs typeface="Inter"/>
                <a:sym typeface="Inter"/>
              </a:rPr>
              <a:t>màu của xe đạp là gì?</a:t>
            </a:r>
          </a:p>
        </p:txBody>
      </p:sp>
      <p:sp>
        <p:nvSpPr>
          <p:cNvPr name="TextBox 48" id="48"/>
          <p:cNvSpPr txBox="true"/>
          <p:nvPr/>
        </p:nvSpPr>
        <p:spPr>
          <a:xfrm rot="0">
            <a:off x="4672012" y="7446169"/>
            <a:ext cx="4388044" cy="319087"/>
          </a:xfrm>
          <a:prstGeom prst="rect">
            <a:avLst/>
          </a:prstGeom>
        </p:spPr>
        <p:txBody>
          <a:bodyPr anchor="t" rtlCol="false" tIns="0" lIns="0" bIns="0" rIns="0">
            <a:spAutoFit/>
          </a:bodyPr>
          <a:lstStyle/>
          <a:p>
            <a:pPr algn="l">
              <a:lnSpc>
                <a:spcPts val="2430"/>
              </a:lnSpc>
            </a:pPr>
            <a:r>
              <a:rPr lang="en-US" sz="2025" b="true">
                <a:solidFill>
                  <a:srgbClr val="0F2B46"/>
                </a:solidFill>
                <a:latin typeface="Inter Bold"/>
                <a:ea typeface="Inter Bold"/>
                <a:cs typeface="Inter Bold"/>
                <a:sym typeface="Inter Bold"/>
              </a:rPr>
              <a:t>ViTextVQA</a:t>
            </a:r>
          </a:p>
        </p:txBody>
      </p:sp>
      <p:sp>
        <p:nvSpPr>
          <p:cNvPr name="TextBox 49" id="49"/>
          <p:cNvSpPr txBox="true"/>
          <p:nvPr/>
        </p:nvSpPr>
        <p:spPr>
          <a:xfrm rot="0">
            <a:off x="4672012" y="7822406"/>
            <a:ext cx="4179094" cy="242888"/>
          </a:xfrm>
          <a:prstGeom prst="rect">
            <a:avLst/>
          </a:prstGeom>
        </p:spPr>
        <p:txBody>
          <a:bodyPr anchor="t" rtlCol="false" tIns="0" lIns="0" bIns="0" rIns="0">
            <a:spAutoFit/>
          </a:bodyPr>
          <a:lstStyle/>
          <a:p>
            <a:pPr algn="l">
              <a:lnSpc>
                <a:spcPts val="1889"/>
              </a:lnSpc>
            </a:pPr>
            <a:r>
              <a:rPr lang="en-US" sz="1575">
                <a:solidFill>
                  <a:srgbClr val="64748B"/>
                </a:solidFill>
                <a:latin typeface="Inter"/>
                <a:ea typeface="Inter"/>
                <a:cs typeface="Inter"/>
                <a:sym typeface="Inter"/>
              </a:rPr>
              <a:t>ảnh có chữ tiếng Việt</a:t>
            </a:r>
          </a:p>
        </p:txBody>
      </p:sp>
      <p:sp>
        <p:nvSpPr>
          <p:cNvPr name="TextBox 50" id="50"/>
          <p:cNvSpPr txBox="true"/>
          <p:nvPr/>
        </p:nvSpPr>
        <p:spPr>
          <a:xfrm rot="0">
            <a:off x="4672012" y="8236744"/>
            <a:ext cx="4179094" cy="285750"/>
          </a:xfrm>
          <a:prstGeom prst="rect">
            <a:avLst/>
          </a:prstGeom>
        </p:spPr>
        <p:txBody>
          <a:bodyPr anchor="t" rtlCol="false" tIns="0" lIns="0" bIns="0" rIns="0">
            <a:spAutoFit/>
          </a:bodyPr>
          <a:lstStyle/>
          <a:p>
            <a:pPr algn="l">
              <a:lnSpc>
                <a:spcPts val="2160"/>
              </a:lnSpc>
            </a:pPr>
            <a:r>
              <a:rPr lang="en-US" sz="1800" b="true">
                <a:solidFill>
                  <a:srgbClr val="0F2B46"/>
                </a:solidFill>
                <a:latin typeface="Inter Bold"/>
                <a:ea typeface="Inter Bold"/>
                <a:cs typeface="Inter Bold"/>
                <a:sym typeface="Inter Bold"/>
              </a:rPr>
              <a:t>Câu hỏi:</a:t>
            </a:r>
          </a:p>
        </p:txBody>
      </p:sp>
      <p:sp>
        <p:nvSpPr>
          <p:cNvPr name="TextBox 51" id="51"/>
          <p:cNvSpPr txBox="true"/>
          <p:nvPr/>
        </p:nvSpPr>
        <p:spPr>
          <a:xfrm rot="0">
            <a:off x="4672012" y="8579644"/>
            <a:ext cx="3486150" cy="571500"/>
          </a:xfrm>
          <a:prstGeom prst="rect">
            <a:avLst/>
          </a:prstGeom>
        </p:spPr>
        <p:txBody>
          <a:bodyPr anchor="t" rtlCol="false" tIns="0" lIns="0" bIns="0" rIns="0">
            <a:spAutoFit/>
          </a:bodyPr>
          <a:lstStyle/>
          <a:p>
            <a:pPr algn="l">
              <a:lnSpc>
                <a:spcPts val="2160"/>
              </a:lnSpc>
            </a:pPr>
            <a:r>
              <a:rPr lang="en-US" sz="1800">
                <a:solidFill>
                  <a:srgbClr val="1E293B"/>
                </a:solidFill>
                <a:latin typeface="Inter"/>
                <a:ea typeface="Inter"/>
                <a:cs typeface="Inter"/>
                <a:sym typeface="Inter"/>
              </a:rPr>
              <a:t>cửa hàng có biển màu vàng là nơi nào?</a:t>
            </a:r>
          </a:p>
        </p:txBody>
      </p:sp>
      <p:grpSp>
        <p:nvGrpSpPr>
          <p:cNvPr name="Group 52" id="52"/>
          <p:cNvGrpSpPr/>
          <p:nvPr/>
        </p:nvGrpSpPr>
        <p:grpSpPr>
          <a:xfrm rot="0">
            <a:off x="15458732" y="0"/>
            <a:ext cx="2829268" cy="1184338"/>
            <a:chOff x="0" y="0"/>
            <a:chExt cx="3772357" cy="1579118"/>
          </a:xfrm>
        </p:grpSpPr>
        <p:sp>
          <p:nvSpPr>
            <p:cNvPr name="Freeform 53" id="53"/>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2"/>
              <a:stretch>
                <a:fillRect l="0" t="0" r="1" b="0"/>
              </a:stretch>
            </a:blipFill>
          </p:spPr>
          <p:txBody>
            <a:bodyPr/>
            <a:p/>
          </p:txBody>
        </p:sp>
      </p:grpSp>
      <p:grpSp>
        <p:nvGrpSpPr>
          <p:cNvPr name="Group 54" id="54"/>
          <p:cNvGrpSpPr/>
          <p:nvPr/>
        </p:nvGrpSpPr>
        <p:grpSpPr>
          <a:xfrm rot="0">
            <a:off x="822960" y="9655969"/>
            <a:ext cx="13716000" cy="360320"/>
            <a:chOff x="0" y="0"/>
            <a:chExt cx="18288000" cy="480427"/>
          </a:xfrm>
        </p:grpSpPr>
        <p:sp>
          <p:nvSpPr>
            <p:cNvPr name="Freeform 55" id="55"/>
            <p:cNvSpPr/>
            <p:nvPr/>
          </p:nvSpPr>
          <p:spPr>
            <a:xfrm flipH="false" flipV="false" rot="0">
              <a:off x="0" y="0"/>
              <a:ext cx="18288000" cy="480427"/>
            </a:xfrm>
            <a:custGeom>
              <a:avLst/>
              <a:gdLst/>
              <a:ahLst/>
              <a:cxnLst/>
              <a:rect r="r" b="b" t="t" l="l"/>
              <a:pathLst>
                <a:path h="480427" w="18288000">
                  <a:moveTo>
                    <a:pt x="0" y="0"/>
                  </a:moveTo>
                  <a:lnTo>
                    <a:pt x="18288000" y="0"/>
                  </a:lnTo>
                  <a:lnTo>
                    <a:pt x="18288000" y="480427"/>
                  </a:lnTo>
                  <a:lnTo>
                    <a:pt x="0" y="480427"/>
                  </a:lnTo>
                  <a:close/>
                </a:path>
              </a:pathLst>
            </a:custGeom>
            <a:blipFill>
              <a:blip r:embed="rId13">
                <a:alphaModFix amt="0"/>
              </a:blip>
              <a:stretch>
                <a:fillRect l="0" t="-680655" r="0" b="-702784"/>
              </a:stretch>
            </a:blipFill>
          </p:spPr>
          <p:txBody>
            <a:bodyPr/>
            <a:p/>
          </p:txBody>
        </p:sp>
        <p:sp>
          <p:nvSpPr>
            <p:cNvPr name="TextBox 56" id="56"/>
            <p:cNvSpPr txBox="true"/>
            <p:nvPr/>
          </p:nvSpPr>
          <p:spPr>
            <a:xfrm>
              <a:off x="0" y="-38100"/>
              <a:ext cx="18288000" cy="518527"/>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sp>
        <p:nvSpPr>
          <p:cNvPr name="TextBox 6" id="6"/>
          <p:cNvSpPr txBox="true"/>
          <p:nvPr/>
        </p:nvSpPr>
        <p:spPr>
          <a:xfrm rot="0">
            <a:off x="822960" y="353187"/>
            <a:ext cx="16641623" cy="497205"/>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1 · PHẠM VI · 02 · TIẾNG VIỆT KHÁC Ở ĐÂU</a:t>
            </a:r>
          </a:p>
        </p:txBody>
      </p:sp>
      <p:sp>
        <p:nvSpPr>
          <p:cNvPr name="TextBox 7" id="7"/>
          <p:cNvSpPr txBox="true"/>
          <p:nvPr/>
        </p:nvSpPr>
        <p:spPr>
          <a:xfrm rot="0">
            <a:off x="822960" y="821817"/>
            <a:ext cx="16641623" cy="988695"/>
          </a:xfrm>
          <a:prstGeom prst="rect">
            <a:avLst/>
          </a:prstGeom>
        </p:spPr>
        <p:txBody>
          <a:bodyPr anchor="t" rtlCol="false" tIns="0" lIns="0" bIns="0" rIns="0">
            <a:spAutoFit/>
          </a:bodyPr>
          <a:lstStyle/>
          <a:p>
            <a:pPr algn="l">
              <a:lnSpc>
                <a:spcPts val="5758"/>
              </a:lnSpc>
            </a:pPr>
            <a:r>
              <a:rPr lang="en-US" sz="4800" b="true">
                <a:solidFill>
                  <a:srgbClr val="13294B"/>
                </a:solidFill>
                <a:latin typeface="Cambria Bold"/>
                <a:ea typeface="Cambria Bold"/>
                <a:cs typeface="Cambria Bold"/>
                <a:sym typeface="Cambria Bold"/>
              </a:rPr>
              <a:t>Bốn vấn đề riêng của tiếng Việt (V1–V4)</a:t>
            </a:r>
          </a:p>
        </p:txBody>
      </p:sp>
      <p:grpSp>
        <p:nvGrpSpPr>
          <p:cNvPr name="Group 8" id="8"/>
          <p:cNvGrpSpPr/>
          <p:nvPr/>
        </p:nvGrpSpPr>
        <p:grpSpPr>
          <a:xfrm rot="0">
            <a:off x="804672" y="2039112"/>
            <a:ext cx="3886200" cy="7360920"/>
            <a:chOff x="0" y="0"/>
            <a:chExt cx="5181600" cy="9814560"/>
          </a:xfrm>
        </p:grpSpPr>
        <p:sp>
          <p:nvSpPr>
            <p:cNvPr name="Freeform 9" id="9"/>
            <p:cNvSpPr/>
            <p:nvPr/>
          </p:nvSpPr>
          <p:spPr>
            <a:xfrm flipH="false" flipV="false" rot="0">
              <a:off x="0" y="0"/>
              <a:ext cx="5181600" cy="9814560"/>
            </a:xfrm>
            <a:custGeom>
              <a:avLst/>
              <a:gdLst/>
              <a:ahLst/>
              <a:cxnLst/>
              <a:rect r="r" b="b" t="t" l="l"/>
              <a:pathLst>
                <a:path h="9814560" w="5181600">
                  <a:moveTo>
                    <a:pt x="0" y="207264"/>
                  </a:moveTo>
                  <a:cubicBezTo>
                    <a:pt x="0" y="92837"/>
                    <a:pt x="92837" y="0"/>
                    <a:pt x="207264" y="0"/>
                  </a:cubicBezTo>
                  <a:lnTo>
                    <a:pt x="4974336" y="0"/>
                  </a:lnTo>
                  <a:cubicBezTo>
                    <a:pt x="5088763" y="0"/>
                    <a:pt x="5181600" y="92837"/>
                    <a:pt x="5181600" y="207264"/>
                  </a:cubicBezTo>
                  <a:lnTo>
                    <a:pt x="5181600" y="9607296"/>
                  </a:lnTo>
                  <a:cubicBezTo>
                    <a:pt x="5181600" y="9721723"/>
                    <a:pt x="5088763" y="9814560"/>
                    <a:pt x="4974336" y="9814560"/>
                  </a:cubicBezTo>
                  <a:lnTo>
                    <a:pt x="207264" y="9814560"/>
                  </a:lnTo>
                  <a:cubicBezTo>
                    <a:pt x="92837" y="9814560"/>
                    <a:pt x="0" y="9721723"/>
                    <a:pt x="0" y="9607296"/>
                  </a:cubicBezTo>
                  <a:close/>
                </a:path>
              </a:pathLst>
            </a:custGeom>
            <a:solidFill>
              <a:srgbClr val="FBF0DA"/>
            </a:solidFill>
          </p:spPr>
          <p:txBody>
            <a:bodyPr/>
            <a:p/>
          </p:txBody>
        </p:sp>
      </p:grpSp>
      <p:sp>
        <p:nvSpPr>
          <p:cNvPr name="TextBox 10" id="10"/>
          <p:cNvSpPr txBox="true"/>
          <p:nvPr/>
        </p:nvSpPr>
        <p:spPr>
          <a:xfrm rot="0">
            <a:off x="1165860" y="2205990"/>
            <a:ext cx="1371600" cy="742950"/>
          </a:xfrm>
          <a:prstGeom prst="rect">
            <a:avLst/>
          </a:prstGeom>
        </p:spPr>
        <p:txBody>
          <a:bodyPr anchor="t" rtlCol="false" tIns="0" lIns="0" bIns="0" rIns="0">
            <a:spAutoFit/>
          </a:bodyPr>
          <a:lstStyle/>
          <a:p>
            <a:pPr algn="l">
              <a:lnSpc>
                <a:spcPts val="4320"/>
              </a:lnSpc>
            </a:pPr>
            <a:r>
              <a:rPr lang="en-US" sz="3600" b="true">
                <a:solidFill>
                  <a:srgbClr val="E8A33D"/>
                </a:solidFill>
                <a:latin typeface="Cambria Bold"/>
                <a:ea typeface="Cambria Bold"/>
                <a:cs typeface="Cambria Bold"/>
                <a:sym typeface="Cambria Bold"/>
              </a:rPr>
              <a:t>V1</a:t>
            </a:r>
          </a:p>
        </p:txBody>
      </p:sp>
      <p:sp>
        <p:nvSpPr>
          <p:cNvPr name="TextBox 11" id="11"/>
          <p:cNvSpPr txBox="true"/>
          <p:nvPr/>
        </p:nvSpPr>
        <p:spPr>
          <a:xfrm rot="0">
            <a:off x="1165860" y="2806065"/>
            <a:ext cx="3165996" cy="1034415"/>
          </a:xfrm>
          <a:prstGeom prst="rect">
            <a:avLst/>
          </a:prstGeom>
        </p:spPr>
        <p:txBody>
          <a:bodyPr anchor="t" rtlCol="false" tIns="0" lIns="0" bIns="0" rIns="0">
            <a:spAutoFit/>
          </a:bodyPr>
          <a:lstStyle/>
          <a:p>
            <a:pPr algn="l">
              <a:lnSpc>
                <a:spcPts val="2520"/>
              </a:lnSpc>
            </a:pPr>
            <a:r>
              <a:rPr lang="en-US" sz="2100" b="true">
                <a:solidFill>
                  <a:srgbClr val="13294B"/>
                </a:solidFill>
                <a:latin typeface="Calibri (MS) Bold"/>
                <a:ea typeface="Calibri (MS) Bold"/>
                <a:cs typeface="Calibri (MS) Bold"/>
                <a:sym typeface="Calibri (MS) Bold"/>
              </a:rPr>
              <a:t>Đọc chữ có dấu trong ảnh</a:t>
            </a:r>
          </a:p>
        </p:txBody>
      </p:sp>
      <p:grpSp>
        <p:nvGrpSpPr>
          <p:cNvPr name="Group 12" id="12"/>
          <p:cNvGrpSpPr/>
          <p:nvPr/>
        </p:nvGrpSpPr>
        <p:grpSpPr>
          <a:xfrm rot="0">
            <a:off x="5065776" y="2039112"/>
            <a:ext cx="3886200" cy="7360920"/>
            <a:chOff x="0" y="0"/>
            <a:chExt cx="5181600" cy="9814560"/>
          </a:xfrm>
        </p:grpSpPr>
        <p:sp>
          <p:nvSpPr>
            <p:cNvPr name="Freeform 13" id="13"/>
            <p:cNvSpPr/>
            <p:nvPr/>
          </p:nvSpPr>
          <p:spPr>
            <a:xfrm flipH="false" flipV="false" rot="0">
              <a:off x="0" y="0"/>
              <a:ext cx="5181600" cy="9814560"/>
            </a:xfrm>
            <a:custGeom>
              <a:avLst/>
              <a:gdLst/>
              <a:ahLst/>
              <a:cxnLst/>
              <a:rect r="r" b="b" t="t" l="l"/>
              <a:pathLst>
                <a:path h="9814560" w="5181600">
                  <a:moveTo>
                    <a:pt x="0" y="207264"/>
                  </a:moveTo>
                  <a:cubicBezTo>
                    <a:pt x="0" y="92837"/>
                    <a:pt x="92837" y="0"/>
                    <a:pt x="207264" y="0"/>
                  </a:cubicBezTo>
                  <a:lnTo>
                    <a:pt x="4974336" y="0"/>
                  </a:lnTo>
                  <a:cubicBezTo>
                    <a:pt x="5088763" y="0"/>
                    <a:pt x="5181600" y="92837"/>
                    <a:pt x="5181600" y="207264"/>
                  </a:cubicBezTo>
                  <a:lnTo>
                    <a:pt x="5181600" y="9607296"/>
                  </a:lnTo>
                  <a:cubicBezTo>
                    <a:pt x="5181600" y="9721723"/>
                    <a:pt x="5088763" y="9814560"/>
                    <a:pt x="4974336" y="9814560"/>
                  </a:cubicBezTo>
                  <a:lnTo>
                    <a:pt x="207264" y="9814560"/>
                  </a:lnTo>
                  <a:cubicBezTo>
                    <a:pt x="92837" y="9814560"/>
                    <a:pt x="0" y="9721723"/>
                    <a:pt x="0" y="9607296"/>
                  </a:cubicBezTo>
                  <a:close/>
                </a:path>
              </a:pathLst>
            </a:custGeom>
            <a:solidFill>
              <a:srgbClr val="F3F5F8"/>
            </a:solidFill>
          </p:spPr>
          <p:txBody>
            <a:bodyPr/>
            <a:p/>
          </p:txBody>
        </p:sp>
      </p:grpSp>
      <p:sp>
        <p:nvSpPr>
          <p:cNvPr name="TextBox 14" id="14"/>
          <p:cNvSpPr txBox="true"/>
          <p:nvPr/>
        </p:nvSpPr>
        <p:spPr>
          <a:xfrm rot="0">
            <a:off x="5429136" y="2205990"/>
            <a:ext cx="1371600" cy="742950"/>
          </a:xfrm>
          <a:prstGeom prst="rect">
            <a:avLst/>
          </a:prstGeom>
        </p:spPr>
        <p:txBody>
          <a:bodyPr anchor="t" rtlCol="false" tIns="0" lIns="0" bIns="0" rIns="0">
            <a:spAutoFit/>
          </a:bodyPr>
          <a:lstStyle/>
          <a:p>
            <a:pPr algn="l">
              <a:lnSpc>
                <a:spcPts val="4320"/>
              </a:lnSpc>
            </a:pPr>
            <a:r>
              <a:rPr lang="en-US" sz="3600" b="true">
                <a:solidFill>
                  <a:srgbClr val="1C7293"/>
                </a:solidFill>
                <a:latin typeface="Cambria Bold"/>
                <a:ea typeface="Cambria Bold"/>
                <a:cs typeface="Cambria Bold"/>
                <a:sym typeface="Cambria Bold"/>
              </a:rPr>
              <a:t>V2</a:t>
            </a:r>
          </a:p>
        </p:txBody>
      </p:sp>
      <p:sp>
        <p:nvSpPr>
          <p:cNvPr name="TextBox 15" id="15"/>
          <p:cNvSpPr txBox="true"/>
          <p:nvPr/>
        </p:nvSpPr>
        <p:spPr>
          <a:xfrm rot="0">
            <a:off x="5429136" y="2806065"/>
            <a:ext cx="3165996" cy="1034415"/>
          </a:xfrm>
          <a:prstGeom prst="rect">
            <a:avLst/>
          </a:prstGeom>
        </p:spPr>
        <p:txBody>
          <a:bodyPr anchor="t" rtlCol="false" tIns="0" lIns="0" bIns="0" rIns="0">
            <a:spAutoFit/>
          </a:bodyPr>
          <a:lstStyle/>
          <a:p>
            <a:pPr algn="l">
              <a:lnSpc>
                <a:spcPts val="2520"/>
              </a:lnSpc>
            </a:pPr>
            <a:r>
              <a:rPr lang="en-US" sz="2100" b="true">
                <a:solidFill>
                  <a:srgbClr val="13294B"/>
                </a:solidFill>
                <a:latin typeface="Calibri (MS) Bold"/>
                <a:ea typeface="Calibri (MS) Bold"/>
                <a:cs typeface="Calibri (MS) Bold"/>
                <a:sym typeface="Calibri (MS) Bold"/>
              </a:rPr>
              <a:t>Sai ngôn ngữ hoặc sai định dạng</a:t>
            </a:r>
          </a:p>
        </p:txBody>
      </p:sp>
      <p:grpSp>
        <p:nvGrpSpPr>
          <p:cNvPr name="Group 16" id="16"/>
          <p:cNvGrpSpPr/>
          <p:nvPr/>
        </p:nvGrpSpPr>
        <p:grpSpPr>
          <a:xfrm rot="0">
            <a:off x="9336024" y="2039112"/>
            <a:ext cx="3886200" cy="7360920"/>
            <a:chOff x="0" y="0"/>
            <a:chExt cx="5181600" cy="9814560"/>
          </a:xfrm>
        </p:grpSpPr>
        <p:sp>
          <p:nvSpPr>
            <p:cNvPr name="Freeform 17" id="17"/>
            <p:cNvSpPr/>
            <p:nvPr/>
          </p:nvSpPr>
          <p:spPr>
            <a:xfrm flipH="false" flipV="false" rot="0">
              <a:off x="0" y="0"/>
              <a:ext cx="5181600" cy="9814560"/>
            </a:xfrm>
            <a:custGeom>
              <a:avLst/>
              <a:gdLst/>
              <a:ahLst/>
              <a:cxnLst/>
              <a:rect r="r" b="b" t="t" l="l"/>
              <a:pathLst>
                <a:path h="9814560" w="5181600">
                  <a:moveTo>
                    <a:pt x="0" y="207264"/>
                  </a:moveTo>
                  <a:cubicBezTo>
                    <a:pt x="0" y="92837"/>
                    <a:pt x="92837" y="0"/>
                    <a:pt x="207264" y="0"/>
                  </a:cubicBezTo>
                  <a:lnTo>
                    <a:pt x="4974336" y="0"/>
                  </a:lnTo>
                  <a:cubicBezTo>
                    <a:pt x="5088763" y="0"/>
                    <a:pt x="5181600" y="92837"/>
                    <a:pt x="5181600" y="207264"/>
                  </a:cubicBezTo>
                  <a:lnTo>
                    <a:pt x="5181600" y="9607296"/>
                  </a:lnTo>
                  <a:cubicBezTo>
                    <a:pt x="5181600" y="9721723"/>
                    <a:pt x="5088763" y="9814560"/>
                    <a:pt x="4974336" y="9814560"/>
                  </a:cubicBezTo>
                  <a:lnTo>
                    <a:pt x="207264" y="9814560"/>
                  </a:lnTo>
                  <a:cubicBezTo>
                    <a:pt x="92837" y="9814560"/>
                    <a:pt x="0" y="9721723"/>
                    <a:pt x="0" y="9607296"/>
                  </a:cubicBezTo>
                  <a:close/>
                </a:path>
              </a:pathLst>
            </a:custGeom>
            <a:solidFill>
              <a:srgbClr val="F3F5F8"/>
            </a:solidFill>
          </p:spPr>
          <p:txBody>
            <a:bodyPr/>
            <a:p/>
          </p:txBody>
        </p:sp>
      </p:grpSp>
      <p:sp>
        <p:nvSpPr>
          <p:cNvPr name="TextBox 18" id="18"/>
          <p:cNvSpPr txBox="true"/>
          <p:nvPr/>
        </p:nvSpPr>
        <p:spPr>
          <a:xfrm rot="0">
            <a:off x="9692411" y="2205990"/>
            <a:ext cx="1371600" cy="742950"/>
          </a:xfrm>
          <a:prstGeom prst="rect">
            <a:avLst/>
          </a:prstGeom>
        </p:spPr>
        <p:txBody>
          <a:bodyPr anchor="t" rtlCol="false" tIns="0" lIns="0" bIns="0" rIns="0">
            <a:spAutoFit/>
          </a:bodyPr>
          <a:lstStyle/>
          <a:p>
            <a:pPr algn="l">
              <a:lnSpc>
                <a:spcPts val="4320"/>
              </a:lnSpc>
            </a:pPr>
            <a:r>
              <a:rPr lang="en-US" sz="3600" b="true">
                <a:solidFill>
                  <a:srgbClr val="1C7293"/>
                </a:solidFill>
                <a:latin typeface="Cambria Bold"/>
                <a:ea typeface="Cambria Bold"/>
                <a:cs typeface="Cambria Bold"/>
                <a:sym typeface="Cambria Bold"/>
              </a:rPr>
              <a:t>V3</a:t>
            </a:r>
          </a:p>
        </p:txBody>
      </p:sp>
      <p:sp>
        <p:nvSpPr>
          <p:cNvPr name="TextBox 19" id="19"/>
          <p:cNvSpPr txBox="true"/>
          <p:nvPr/>
        </p:nvSpPr>
        <p:spPr>
          <a:xfrm rot="0">
            <a:off x="9692411" y="2806065"/>
            <a:ext cx="3165996" cy="1034415"/>
          </a:xfrm>
          <a:prstGeom prst="rect">
            <a:avLst/>
          </a:prstGeom>
        </p:spPr>
        <p:txBody>
          <a:bodyPr anchor="t" rtlCol="false" tIns="0" lIns="0" bIns="0" rIns="0">
            <a:spAutoFit/>
          </a:bodyPr>
          <a:lstStyle/>
          <a:p>
            <a:pPr algn="l">
              <a:lnSpc>
                <a:spcPts val="2520"/>
              </a:lnSpc>
            </a:pPr>
            <a:r>
              <a:rPr lang="en-US" sz="2100" b="true">
                <a:solidFill>
                  <a:srgbClr val="13294B"/>
                </a:solidFill>
                <a:latin typeface="Calibri (MS) Bold"/>
                <a:ea typeface="Calibri (MS) Bold"/>
                <a:cs typeface="Calibri (MS) Bold"/>
                <a:sym typeface="Calibri (MS) Bold"/>
              </a:rPr>
              <a:t>Thứ tự chữ và ranh giới từ</a:t>
            </a:r>
          </a:p>
        </p:txBody>
      </p:sp>
      <p:grpSp>
        <p:nvGrpSpPr>
          <p:cNvPr name="Group 20" id="20"/>
          <p:cNvGrpSpPr/>
          <p:nvPr/>
        </p:nvGrpSpPr>
        <p:grpSpPr>
          <a:xfrm rot="0">
            <a:off x="13597128" y="2039112"/>
            <a:ext cx="3886200" cy="7360920"/>
            <a:chOff x="0" y="0"/>
            <a:chExt cx="5181600" cy="9814560"/>
          </a:xfrm>
        </p:grpSpPr>
        <p:sp>
          <p:nvSpPr>
            <p:cNvPr name="Freeform 21" id="21"/>
            <p:cNvSpPr/>
            <p:nvPr/>
          </p:nvSpPr>
          <p:spPr>
            <a:xfrm flipH="false" flipV="false" rot="0">
              <a:off x="0" y="0"/>
              <a:ext cx="5181600" cy="9814560"/>
            </a:xfrm>
            <a:custGeom>
              <a:avLst/>
              <a:gdLst/>
              <a:ahLst/>
              <a:cxnLst/>
              <a:rect r="r" b="b" t="t" l="l"/>
              <a:pathLst>
                <a:path h="9814560" w="5181600">
                  <a:moveTo>
                    <a:pt x="0" y="207264"/>
                  </a:moveTo>
                  <a:cubicBezTo>
                    <a:pt x="0" y="92837"/>
                    <a:pt x="92837" y="0"/>
                    <a:pt x="207264" y="0"/>
                  </a:cubicBezTo>
                  <a:lnTo>
                    <a:pt x="4974336" y="0"/>
                  </a:lnTo>
                  <a:cubicBezTo>
                    <a:pt x="5088763" y="0"/>
                    <a:pt x="5181600" y="92837"/>
                    <a:pt x="5181600" y="207264"/>
                  </a:cubicBezTo>
                  <a:lnTo>
                    <a:pt x="5181600" y="9607296"/>
                  </a:lnTo>
                  <a:cubicBezTo>
                    <a:pt x="5181600" y="9721723"/>
                    <a:pt x="5088763" y="9814560"/>
                    <a:pt x="4974336" y="9814560"/>
                  </a:cubicBezTo>
                  <a:lnTo>
                    <a:pt x="207264" y="9814560"/>
                  </a:lnTo>
                  <a:cubicBezTo>
                    <a:pt x="92837" y="9814560"/>
                    <a:pt x="0" y="9721723"/>
                    <a:pt x="0" y="9607296"/>
                  </a:cubicBezTo>
                  <a:close/>
                </a:path>
              </a:pathLst>
            </a:custGeom>
            <a:solidFill>
              <a:srgbClr val="F3F5F8"/>
            </a:solidFill>
          </p:spPr>
          <p:txBody>
            <a:bodyPr/>
            <a:p/>
          </p:txBody>
        </p:sp>
      </p:grpSp>
      <p:sp>
        <p:nvSpPr>
          <p:cNvPr name="TextBox 22" id="22"/>
          <p:cNvSpPr txBox="true"/>
          <p:nvPr/>
        </p:nvSpPr>
        <p:spPr>
          <a:xfrm rot="0">
            <a:off x="13955687" y="2205990"/>
            <a:ext cx="1371600" cy="742950"/>
          </a:xfrm>
          <a:prstGeom prst="rect">
            <a:avLst/>
          </a:prstGeom>
        </p:spPr>
        <p:txBody>
          <a:bodyPr anchor="t" rtlCol="false" tIns="0" lIns="0" bIns="0" rIns="0">
            <a:spAutoFit/>
          </a:bodyPr>
          <a:lstStyle/>
          <a:p>
            <a:pPr algn="l">
              <a:lnSpc>
                <a:spcPts val="4320"/>
              </a:lnSpc>
            </a:pPr>
            <a:r>
              <a:rPr lang="en-US" sz="3600" b="true">
                <a:solidFill>
                  <a:srgbClr val="1C7293"/>
                </a:solidFill>
                <a:latin typeface="Cambria Bold"/>
                <a:ea typeface="Cambria Bold"/>
                <a:cs typeface="Cambria Bold"/>
                <a:sym typeface="Cambria Bold"/>
              </a:rPr>
              <a:t>V4</a:t>
            </a:r>
          </a:p>
        </p:txBody>
      </p:sp>
      <p:sp>
        <p:nvSpPr>
          <p:cNvPr name="TextBox 23" id="23"/>
          <p:cNvSpPr txBox="true"/>
          <p:nvPr/>
        </p:nvSpPr>
        <p:spPr>
          <a:xfrm rot="0">
            <a:off x="13955687" y="2806065"/>
            <a:ext cx="3165996" cy="1034415"/>
          </a:xfrm>
          <a:prstGeom prst="rect">
            <a:avLst/>
          </a:prstGeom>
        </p:spPr>
        <p:txBody>
          <a:bodyPr anchor="t" rtlCol="false" tIns="0" lIns="0" bIns="0" rIns="0">
            <a:spAutoFit/>
          </a:bodyPr>
          <a:lstStyle/>
          <a:p>
            <a:pPr algn="l">
              <a:lnSpc>
                <a:spcPts val="2520"/>
              </a:lnSpc>
            </a:pPr>
            <a:r>
              <a:rPr lang="en-US" sz="2100" b="true">
                <a:solidFill>
                  <a:srgbClr val="13294B"/>
                </a:solidFill>
                <a:latin typeface="Calibri (MS) Bold"/>
                <a:ea typeface="Calibri (MS) Bold"/>
                <a:cs typeface="Calibri (MS) Bold"/>
                <a:sym typeface="Calibri (MS) Bold"/>
              </a:rPr>
              <a:t>Hallucination</a:t>
            </a:r>
          </a:p>
        </p:txBody>
      </p:sp>
      <p:grpSp>
        <p:nvGrpSpPr>
          <p:cNvPr name="Group 24" id="24"/>
          <p:cNvGrpSpPr/>
          <p:nvPr/>
        </p:nvGrpSpPr>
        <p:grpSpPr>
          <a:xfrm rot="0">
            <a:off x="15458732" y="0"/>
            <a:ext cx="2829306" cy="1184338"/>
            <a:chOff x="0" y="0"/>
            <a:chExt cx="3772408" cy="1579118"/>
          </a:xfrm>
        </p:grpSpPr>
        <p:sp>
          <p:nvSpPr>
            <p:cNvPr name="Freeform 25" id="25"/>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4"/>
              <a:stretch>
                <a:fillRect l="0" t="0" r="0" b="0"/>
              </a:stretch>
            </a:blipFill>
          </p:spPr>
          <p:txBody>
            <a:bodyPr/>
            <a:p/>
          </p:txBody>
        </p:sp>
      </p:grpSp>
      <p:grpSp>
        <p:nvGrpSpPr>
          <p:cNvPr name="Group 26" id="26"/>
          <p:cNvGrpSpPr/>
          <p:nvPr/>
        </p:nvGrpSpPr>
        <p:grpSpPr>
          <a:xfrm rot="0">
            <a:off x="1005840" y="3794760"/>
            <a:ext cx="3483864" cy="2276123"/>
            <a:chOff x="0" y="0"/>
            <a:chExt cx="4645152" cy="3034830"/>
          </a:xfrm>
        </p:grpSpPr>
        <p:sp>
          <p:nvSpPr>
            <p:cNvPr name="Freeform 27" id="27" descr="V1.png"/>
            <p:cNvSpPr/>
            <p:nvPr/>
          </p:nvSpPr>
          <p:spPr>
            <a:xfrm flipH="false" flipV="false" rot="0">
              <a:off x="0" y="0"/>
              <a:ext cx="4645152" cy="3034792"/>
            </a:xfrm>
            <a:custGeom>
              <a:avLst/>
              <a:gdLst/>
              <a:ahLst/>
              <a:cxnLst/>
              <a:rect r="r" b="b" t="t" l="l"/>
              <a:pathLst>
                <a:path h="3034792" w="4645152">
                  <a:moveTo>
                    <a:pt x="0" y="0"/>
                  </a:moveTo>
                  <a:lnTo>
                    <a:pt x="4645152" y="0"/>
                  </a:lnTo>
                  <a:lnTo>
                    <a:pt x="4645152" y="3034792"/>
                  </a:lnTo>
                  <a:lnTo>
                    <a:pt x="0" y="3034792"/>
                  </a:lnTo>
                  <a:lnTo>
                    <a:pt x="0" y="0"/>
                  </a:lnTo>
                  <a:close/>
                </a:path>
              </a:pathLst>
            </a:custGeom>
            <a:blipFill>
              <a:blip r:embed="rId5"/>
              <a:stretch>
                <a:fillRect l="0" t="0" r="0" b="-1"/>
              </a:stretch>
            </a:blipFill>
          </p:spPr>
          <p:txBody>
            <a:bodyPr/>
            <a:p/>
          </p:txBody>
        </p:sp>
      </p:grpSp>
      <p:sp>
        <p:nvSpPr>
          <p:cNvPr name="TextBox 28" id="28"/>
          <p:cNvSpPr txBox="true"/>
          <p:nvPr/>
        </p:nvSpPr>
        <p:spPr>
          <a:xfrm rot="0">
            <a:off x="1133856" y="6196613"/>
            <a:ext cx="3282696" cy="1245870"/>
          </a:xfrm>
          <a:prstGeom prst="rect">
            <a:avLst/>
          </a:prstGeom>
        </p:spPr>
        <p:txBody>
          <a:bodyPr anchor="t" rtlCol="false" tIns="0" lIns="0" bIns="0" rIns="0">
            <a:spAutoFit/>
          </a:bodyPr>
          <a:lstStyle/>
          <a:p>
            <a:pPr algn="l">
              <a:lnSpc>
                <a:spcPts val="2332"/>
              </a:lnSpc>
            </a:pPr>
            <a:r>
              <a:rPr lang="en-US" sz="1800">
                <a:solidFill>
                  <a:srgbClr val="243044"/>
                </a:solidFill>
                <a:latin typeface="Calibri (MS)"/>
                <a:ea typeface="Calibri (MS)"/>
                <a:cs typeface="Calibri (MS)"/>
                <a:sym typeface="Calibri (MS)"/>
              </a:rPr>
              <a:t>Dấu thanh là nét rất nhỏ; đọc sai một dấu là đổi nghĩa.</a:t>
            </a:r>
          </a:p>
        </p:txBody>
      </p:sp>
      <p:grpSp>
        <p:nvGrpSpPr>
          <p:cNvPr name="Group 29" id="29"/>
          <p:cNvGrpSpPr/>
          <p:nvPr/>
        </p:nvGrpSpPr>
        <p:grpSpPr>
          <a:xfrm rot="0">
            <a:off x="997906" y="7535866"/>
            <a:ext cx="3499742" cy="1680086"/>
            <a:chOff x="0" y="0"/>
            <a:chExt cx="4666323" cy="2240115"/>
          </a:xfrm>
        </p:grpSpPr>
        <p:sp>
          <p:nvSpPr>
            <p:cNvPr name="Freeform 30" id="30"/>
            <p:cNvSpPr/>
            <p:nvPr/>
          </p:nvSpPr>
          <p:spPr>
            <a:xfrm flipH="false" flipV="false" rot="0">
              <a:off x="0" y="0"/>
              <a:ext cx="4666234" cy="2240153"/>
            </a:xfrm>
            <a:custGeom>
              <a:avLst/>
              <a:gdLst/>
              <a:ahLst/>
              <a:cxnLst/>
              <a:rect r="r" b="b" t="t" l="l"/>
              <a:pathLst>
                <a:path h="2240153" w="4666234">
                  <a:moveTo>
                    <a:pt x="0" y="179197"/>
                  </a:moveTo>
                  <a:cubicBezTo>
                    <a:pt x="0" y="80264"/>
                    <a:pt x="80264" y="0"/>
                    <a:pt x="179197" y="0"/>
                  </a:cubicBezTo>
                  <a:lnTo>
                    <a:pt x="4487037" y="0"/>
                  </a:lnTo>
                  <a:cubicBezTo>
                    <a:pt x="4585970" y="0"/>
                    <a:pt x="4666234" y="80264"/>
                    <a:pt x="4666234" y="179197"/>
                  </a:cubicBezTo>
                  <a:lnTo>
                    <a:pt x="4666234" y="2060956"/>
                  </a:lnTo>
                  <a:cubicBezTo>
                    <a:pt x="4666234" y="2159889"/>
                    <a:pt x="4585970" y="2240153"/>
                    <a:pt x="4487037" y="2240153"/>
                  </a:cubicBezTo>
                  <a:lnTo>
                    <a:pt x="179197" y="2240153"/>
                  </a:lnTo>
                  <a:cubicBezTo>
                    <a:pt x="80264" y="2240153"/>
                    <a:pt x="0" y="2159889"/>
                    <a:pt x="0" y="2060956"/>
                  </a:cubicBezTo>
                  <a:close/>
                </a:path>
              </a:pathLst>
            </a:custGeom>
            <a:solidFill>
              <a:srgbClr val="FFFFFF"/>
            </a:solidFill>
            <a:ln w="15875" cap="sq">
              <a:solidFill>
                <a:srgbClr val="E2E7EE"/>
              </a:solidFill>
              <a:prstDash val="solid"/>
              <a:miter/>
            </a:ln>
          </p:spPr>
          <p:txBody>
            <a:bodyPr/>
            <a:p/>
          </p:txBody>
        </p:sp>
      </p:grpSp>
      <p:sp>
        <p:nvSpPr>
          <p:cNvPr name="TextBox 31" id="31"/>
          <p:cNvSpPr txBox="true"/>
          <p:nvPr/>
        </p:nvSpPr>
        <p:spPr>
          <a:xfrm rot="0">
            <a:off x="1188720" y="7615047"/>
            <a:ext cx="3118104" cy="1510665"/>
          </a:xfrm>
          <a:prstGeom prst="rect">
            <a:avLst/>
          </a:prstGeom>
        </p:spPr>
        <p:txBody>
          <a:bodyPr anchor="t" rtlCol="false" tIns="0" lIns="0" bIns="0" rIns="0">
            <a:spAutoFit/>
          </a:bodyPr>
          <a:lstStyle/>
          <a:p>
            <a:pPr algn="l">
              <a:lnSpc>
                <a:spcPts val="1879"/>
              </a:lnSpc>
            </a:pPr>
            <a:r>
              <a:rPr lang="en-US" sz="1449" b="true">
                <a:solidFill>
                  <a:srgbClr val="B86E0E"/>
                </a:solidFill>
                <a:latin typeface="Calibri (MS) Bold"/>
                <a:ea typeface="Calibri (MS) Bold"/>
                <a:cs typeface="Calibri (MS) Bold"/>
                <a:sym typeface="Calibri (MS) Bold"/>
              </a:rPr>
              <a:t>Ví dụ</a:t>
            </a:r>
          </a:p>
          <a:p>
            <a:pPr algn="l">
              <a:lnSpc>
                <a:spcPts val="2203"/>
              </a:lnSpc>
            </a:pPr>
            <a:r>
              <a:rPr lang="en-US" sz="1700">
                <a:solidFill>
                  <a:srgbClr val="243044"/>
                </a:solidFill>
                <a:latin typeface="Calibri (MS)"/>
                <a:ea typeface="Calibri (MS)"/>
                <a:cs typeface="Calibri (MS)"/>
                <a:sym typeface="Calibri (MS)"/>
              </a:rPr>
              <a:t>Biển “BÁNH MÌ” đọc thành “banh mi” → sai đáp án.</a:t>
            </a:r>
          </a:p>
        </p:txBody>
      </p:sp>
      <p:grpSp>
        <p:nvGrpSpPr>
          <p:cNvPr name="Group 32" id="32"/>
          <p:cNvGrpSpPr/>
          <p:nvPr/>
        </p:nvGrpSpPr>
        <p:grpSpPr>
          <a:xfrm rot="0">
            <a:off x="5266944" y="3794760"/>
            <a:ext cx="3483864" cy="2276123"/>
            <a:chOff x="0" y="0"/>
            <a:chExt cx="4645152" cy="3034830"/>
          </a:xfrm>
        </p:grpSpPr>
        <p:sp>
          <p:nvSpPr>
            <p:cNvPr name="Freeform 33" id="33" descr="V2.png"/>
            <p:cNvSpPr/>
            <p:nvPr/>
          </p:nvSpPr>
          <p:spPr>
            <a:xfrm flipH="false" flipV="false" rot="0">
              <a:off x="0" y="0"/>
              <a:ext cx="4645152" cy="3034792"/>
            </a:xfrm>
            <a:custGeom>
              <a:avLst/>
              <a:gdLst/>
              <a:ahLst/>
              <a:cxnLst/>
              <a:rect r="r" b="b" t="t" l="l"/>
              <a:pathLst>
                <a:path h="3034792" w="4645152">
                  <a:moveTo>
                    <a:pt x="0" y="0"/>
                  </a:moveTo>
                  <a:lnTo>
                    <a:pt x="4645152" y="0"/>
                  </a:lnTo>
                  <a:lnTo>
                    <a:pt x="4645152" y="3034792"/>
                  </a:lnTo>
                  <a:lnTo>
                    <a:pt x="0" y="3034792"/>
                  </a:lnTo>
                  <a:lnTo>
                    <a:pt x="0" y="0"/>
                  </a:lnTo>
                  <a:close/>
                </a:path>
              </a:pathLst>
            </a:custGeom>
            <a:blipFill>
              <a:blip r:embed="rId6"/>
              <a:stretch>
                <a:fillRect l="0" t="0" r="0" b="-1"/>
              </a:stretch>
            </a:blipFill>
          </p:spPr>
          <p:txBody>
            <a:bodyPr/>
            <a:p/>
          </p:txBody>
        </p:sp>
      </p:grpSp>
      <p:sp>
        <p:nvSpPr>
          <p:cNvPr name="TextBox 34" id="34"/>
          <p:cNvSpPr txBox="true"/>
          <p:nvPr/>
        </p:nvSpPr>
        <p:spPr>
          <a:xfrm rot="0">
            <a:off x="5394960" y="6196613"/>
            <a:ext cx="3282696" cy="1245870"/>
          </a:xfrm>
          <a:prstGeom prst="rect">
            <a:avLst/>
          </a:prstGeom>
        </p:spPr>
        <p:txBody>
          <a:bodyPr anchor="t" rtlCol="false" tIns="0" lIns="0" bIns="0" rIns="0">
            <a:spAutoFit/>
          </a:bodyPr>
          <a:lstStyle/>
          <a:p>
            <a:pPr algn="l">
              <a:lnSpc>
                <a:spcPts val="2332"/>
              </a:lnSpc>
            </a:pPr>
            <a:r>
              <a:rPr lang="en-US" sz="1800">
                <a:solidFill>
                  <a:srgbClr val="243044"/>
                </a:solidFill>
                <a:latin typeface="Calibri (MS)"/>
                <a:ea typeface="Calibri (MS)"/>
                <a:cs typeface="Calibri (MS)"/>
                <a:sym typeface="Calibri (MS)"/>
              </a:rPr>
              <a:t>VLM học chủ yếu tiếng Anh/Trung nên hay trả lời tiếng Anh hoặc dài dòng.</a:t>
            </a:r>
          </a:p>
        </p:txBody>
      </p:sp>
      <p:grpSp>
        <p:nvGrpSpPr>
          <p:cNvPr name="Group 35" id="35"/>
          <p:cNvGrpSpPr/>
          <p:nvPr/>
        </p:nvGrpSpPr>
        <p:grpSpPr>
          <a:xfrm rot="0">
            <a:off x="5259010" y="7535866"/>
            <a:ext cx="3499742" cy="1680086"/>
            <a:chOff x="0" y="0"/>
            <a:chExt cx="4666323" cy="2240115"/>
          </a:xfrm>
        </p:grpSpPr>
        <p:sp>
          <p:nvSpPr>
            <p:cNvPr name="Freeform 36" id="36"/>
            <p:cNvSpPr/>
            <p:nvPr/>
          </p:nvSpPr>
          <p:spPr>
            <a:xfrm flipH="false" flipV="false" rot="0">
              <a:off x="0" y="0"/>
              <a:ext cx="4666234" cy="2240153"/>
            </a:xfrm>
            <a:custGeom>
              <a:avLst/>
              <a:gdLst/>
              <a:ahLst/>
              <a:cxnLst/>
              <a:rect r="r" b="b" t="t" l="l"/>
              <a:pathLst>
                <a:path h="2240153" w="4666234">
                  <a:moveTo>
                    <a:pt x="0" y="179197"/>
                  </a:moveTo>
                  <a:cubicBezTo>
                    <a:pt x="0" y="80264"/>
                    <a:pt x="80264" y="0"/>
                    <a:pt x="179197" y="0"/>
                  </a:cubicBezTo>
                  <a:lnTo>
                    <a:pt x="4487037" y="0"/>
                  </a:lnTo>
                  <a:cubicBezTo>
                    <a:pt x="4585970" y="0"/>
                    <a:pt x="4666234" y="80264"/>
                    <a:pt x="4666234" y="179197"/>
                  </a:cubicBezTo>
                  <a:lnTo>
                    <a:pt x="4666234" y="2060956"/>
                  </a:lnTo>
                  <a:cubicBezTo>
                    <a:pt x="4666234" y="2159889"/>
                    <a:pt x="4585970" y="2240153"/>
                    <a:pt x="4487037" y="2240153"/>
                  </a:cubicBezTo>
                  <a:lnTo>
                    <a:pt x="179197" y="2240153"/>
                  </a:lnTo>
                  <a:cubicBezTo>
                    <a:pt x="80264" y="2240153"/>
                    <a:pt x="0" y="2159889"/>
                    <a:pt x="0" y="2060956"/>
                  </a:cubicBezTo>
                  <a:close/>
                </a:path>
              </a:pathLst>
            </a:custGeom>
            <a:solidFill>
              <a:srgbClr val="FFFFFF"/>
            </a:solidFill>
            <a:ln w="15875" cap="sq">
              <a:solidFill>
                <a:srgbClr val="E2E7EE"/>
              </a:solidFill>
              <a:prstDash val="solid"/>
              <a:miter/>
            </a:ln>
          </p:spPr>
          <p:txBody>
            <a:bodyPr/>
            <a:p/>
          </p:txBody>
        </p:sp>
      </p:grpSp>
      <p:sp>
        <p:nvSpPr>
          <p:cNvPr name="TextBox 37" id="37"/>
          <p:cNvSpPr txBox="true"/>
          <p:nvPr/>
        </p:nvSpPr>
        <p:spPr>
          <a:xfrm rot="0">
            <a:off x="5449824" y="7615047"/>
            <a:ext cx="3118104" cy="1510665"/>
          </a:xfrm>
          <a:prstGeom prst="rect">
            <a:avLst/>
          </a:prstGeom>
        </p:spPr>
        <p:txBody>
          <a:bodyPr anchor="t" rtlCol="false" tIns="0" lIns="0" bIns="0" rIns="0">
            <a:spAutoFit/>
          </a:bodyPr>
          <a:lstStyle/>
          <a:p>
            <a:pPr algn="l">
              <a:lnSpc>
                <a:spcPts val="1879"/>
              </a:lnSpc>
            </a:pPr>
            <a:r>
              <a:rPr lang="en-US" sz="1449" b="true">
                <a:solidFill>
                  <a:srgbClr val="1C7293"/>
                </a:solidFill>
                <a:latin typeface="Calibri (MS) Bold"/>
                <a:ea typeface="Calibri (MS) Bold"/>
                <a:cs typeface="Calibri (MS) Bold"/>
                <a:sym typeface="Calibri (MS) Bold"/>
              </a:rPr>
              <a:t>Ví dụ minh hoạ</a:t>
            </a:r>
          </a:p>
          <a:p>
            <a:pPr algn="l">
              <a:lnSpc>
                <a:spcPts val="2203"/>
              </a:lnSpc>
            </a:pPr>
            <a:r>
              <a:rPr lang="en-US" sz="1700">
                <a:solidFill>
                  <a:srgbClr val="243044"/>
                </a:solidFill>
                <a:latin typeface="Calibri (MS)"/>
                <a:ea typeface="Calibri (MS)"/>
                <a:cs typeface="Calibri (MS)"/>
                <a:sym typeface="Calibri (MS)"/>
              </a:rPr>
              <a:t>Hiểu đúng ý nhưng sai ngôn ngữ → EM = 0.</a:t>
            </a:r>
          </a:p>
        </p:txBody>
      </p:sp>
      <p:grpSp>
        <p:nvGrpSpPr>
          <p:cNvPr name="Group 38" id="38"/>
          <p:cNvGrpSpPr/>
          <p:nvPr/>
        </p:nvGrpSpPr>
        <p:grpSpPr>
          <a:xfrm rot="0">
            <a:off x="9537192" y="3794760"/>
            <a:ext cx="3483864" cy="2276123"/>
            <a:chOff x="0" y="0"/>
            <a:chExt cx="4645152" cy="3034830"/>
          </a:xfrm>
        </p:grpSpPr>
        <p:sp>
          <p:nvSpPr>
            <p:cNvPr name="Freeform 39" id="39" descr="V3.png"/>
            <p:cNvSpPr/>
            <p:nvPr/>
          </p:nvSpPr>
          <p:spPr>
            <a:xfrm flipH="false" flipV="false" rot="0">
              <a:off x="0" y="0"/>
              <a:ext cx="4645152" cy="3034792"/>
            </a:xfrm>
            <a:custGeom>
              <a:avLst/>
              <a:gdLst/>
              <a:ahLst/>
              <a:cxnLst/>
              <a:rect r="r" b="b" t="t" l="l"/>
              <a:pathLst>
                <a:path h="3034792" w="4645152">
                  <a:moveTo>
                    <a:pt x="0" y="0"/>
                  </a:moveTo>
                  <a:lnTo>
                    <a:pt x="4645152" y="0"/>
                  </a:lnTo>
                  <a:lnTo>
                    <a:pt x="4645152" y="3034792"/>
                  </a:lnTo>
                  <a:lnTo>
                    <a:pt x="0" y="3034792"/>
                  </a:lnTo>
                  <a:lnTo>
                    <a:pt x="0" y="0"/>
                  </a:lnTo>
                  <a:close/>
                </a:path>
              </a:pathLst>
            </a:custGeom>
            <a:blipFill>
              <a:blip r:embed="rId7"/>
              <a:stretch>
                <a:fillRect l="0" t="0" r="0" b="-1"/>
              </a:stretch>
            </a:blipFill>
          </p:spPr>
          <p:txBody>
            <a:bodyPr/>
            <a:p/>
          </p:txBody>
        </p:sp>
      </p:grpSp>
      <p:sp>
        <p:nvSpPr>
          <p:cNvPr name="TextBox 40" id="40"/>
          <p:cNvSpPr txBox="true"/>
          <p:nvPr/>
        </p:nvSpPr>
        <p:spPr>
          <a:xfrm rot="0">
            <a:off x="9665208" y="6196613"/>
            <a:ext cx="3282696" cy="1245870"/>
          </a:xfrm>
          <a:prstGeom prst="rect">
            <a:avLst/>
          </a:prstGeom>
        </p:spPr>
        <p:txBody>
          <a:bodyPr anchor="t" rtlCol="false" tIns="0" lIns="0" bIns="0" rIns="0">
            <a:spAutoFit/>
          </a:bodyPr>
          <a:lstStyle/>
          <a:p>
            <a:pPr algn="l">
              <a:lnSpc>
                <a:spcPts val="2332"/>
              </a:lnSpc>
            </a:pPr>
            <a:r>
              <a:rPr lang="en-US" sz="1800">
                <a:solidFill>
                  <a:srgbClr val="243044"/>
                </a:solidFill>
                <a:latin typeface="Calibri (MS)"/>
                <a:ea typeface="Calibri (MS)"/>
                <a:cs typeface="Calibri (MS)"/>
                <a:sym typeface="Calibri (MS)"/>
              </a:rPr>
              <a:t>Khoảng trắng tách âm tiết, không tách từ; đọc sai thứ tự là vỡ từ.</a:t>
            </a:r>
          </a:p>
        </p:txBody>
      </p:sp>
      <p:grpSp>
        <p:nvGrpSpPr>
          <p:cNvPr name="Group 41" id="41"/>
          <p:cNvGrpSpPr/>
          <p:nvPr/>
        </p:nvGrpSpPr>
        <p:grpSpPr>
          <a:xfrm rot="0">
            <a:off x="9529258" y="7535866"/>
            <a:ext cx="3499742" cy="1680086"/>
            <a:chOff x="0" y="0"/>
            <a:chExt cx="4666323" cy="2240115"/>
          </a:xfrm>
        </p:grpSpPr>
        <p:sp>
          <p:nvSpPr>
            <p:cNvPr name="Freeform 42" id="42"/>
            <p:cNvSpPr/>
            <p:nvPr/>
          </p:nvSpPr>
          <p:spPr>
            <a:xfrm flipH="false" flipV="false" rot="0">
              <a:off x="0" y="0"/>
              <a:ext cx="4666234" cy="2240153"/>
            </a:xfrm>
            <a:custGeom>
              <a:avLst/>
              <a:gdLst/>
              <a:ahLst/>
              <a:cxnLst/>
              <a:rect r="r" b="b" t="t" l="l"/>
              <a:pathLst>
                <a:path h="2240153" w="4666234">
                  <a:moveTo>
                    <a:pt x="0" y="179197"/>
                  </a:moveTo>
                  <a:cubicBezTo>
                    <a:pt x="0" y="80264"/>
                    <a:pt x="80264" y="0"/>
                    <a:pt x="179197" y="0"/>
                  </a:cubicBezTo>
                  <a:lnTo>
                    <a:pt x="4487037" y="0"/>
                  </a:lnTo>
                  <a:cubicBezTo>
                    <a:pt x="4585970" y="0"/>
                    <a:pt x="4666234" y="80264"/>
                    <a:pt x="4666234" y="179197"/>
                  </a:cubicBezTo>
                  <a:lnTo>
                    <a:pt x="4666234" y="2060956"/>
                  </a:lnTo>
                  <a:cubicBezTo>
                    <a:pt x="4666234" y="2159889"/>
                    <a:pt x="4585970" y="2240153"/>
                    <a:pt x="4487037" y="2240153"/>
                  </a:cubicBezTo>
                  <a:lnTo>
                    <a:pt x="179197" y="2240153"/>
                  </a:lnTo>
                  <a:cubicBezTo>
                    <a:pt x="80264" y="2240153"/>
                    <a:pt x="0" y="2159889"/>
                    <a:pt x="0" y="2060956"/>
                  </a:cubicBezTo>
                  <a:close/>
                </a:path>
              </a:pathLst>
            </a:custGeom>
            <a:solidFill>
              <a:srgbClr val="FFFFFF"/>
            </a:solidFill>
            <a:ln w="15875" cap="sq">
              <a:solidFill>
                <a:srgbClr val="E2E7EE"/>
              </a:solidFill>
              <a:prstDash val="solid"/>
              <a:miter/>
            </a:ln>
          </p:spPr>
          <p:txBody>
            <a:bodyPr/>
            <a:p/>
          </p:txBody>
        </p:sp>
      </p:grpSp>
      <p:sp>
        <p:nvSpPr>
          <p:cNvPr name="TextBox 43" id="43"/>
          <p:cNvSpPr txBox="true"/>
          <p:nvPr/>
        </p:nvSpPr>
        <p:spPr>
          <a:xfrm rot="0">
            <a:off x="9720072" y="7615047"/>
            <a:ext cx="3118104" cy="1510665"/>
          </a:xfrm>
          <a:prstGeom prst="rect">
            <a:avLst/>
          </a:prstGeom>
        </p:spPr>
        <p:txBody>
          <a:bodyPr anchor="t" rtlCol="false" tIns="0" lIns="0" bIns="0" rIns="0">
            <a:spAutoFit/>
          </a:bodyPr>
          <a:lstStyle/>
          <a:p>
            <a:pPr algn="l">
              <a:lnSpc>
                <a:spcPts val="1879"/>
              </a:lnSpc>
            </a:pPr>
            <a:r>
              <a:rPr lang="en-US" sz="1449" b="true">
                <a:solidFill>
                  <a:srgbClr val="1C7293"/>
                </a:solidFill>
                <a:latin typeface="Calibri (MS) Bold"/>
                <a:ea typeface="Calibri (MS) Bold"/>
                <a:cs typeface="Calibri (MS) Bold"/>
                <a:sym typeface="Calibri (MS) Bold"/>
              </a:rPr>
              <a:t>Ví dụ</a:t>
            </a:r>
          </a:p>
          <a:p>
            <a:pPr algn="l">
              <a:lnSpc>
                <a:spcPts val="2203"/>
              </a:lnSpc>
            </a:pPr>
            <a:r>
              <a:rPr lang="en-US" sz="1700">
                <a:solidFill>
                  <a:srgbClr val="243044"/>
                </a:solidFill>
                <a:latin typeface="Calibri (MS)"/>
                <a:ea typeface="Calibri (MS)"/>
                <a:cs typeface="Calibri (MS)"/>
                <a:sym typeface="Calibri (MS)"/>
              </a:rPr>
              <a:t>Đúng: cửa hàng điện thoại</a:t>
            </a:r>
          </a:p>
          <a:p>
            <a:pPr algn="l">
              <a:lnSpc>
                <a:spcPts val="2203"/>
              </a:lnSpc>
            </a:pPr>
            <a:r>
              <a:rPr lang="en-US" sz="1700">
                <a:solidFill>
                  <a:srgbClr val="243044"/>
                </a:solidFill>
                <a:latin typeface="Calibri (MS)"/>
                <a:ea typeface="Calibri (MS)"/>
                <a:cs typeface="Calibri (MS)"/>
                <a:sym typeface="Calibri (MS)"/>
              </a:rPr>
              <a:t>Sai: cửa điện hàng thoại</a:t>
            </a:r>
          </a:p>
        </p:txBody>
      </p:sp>
      <p:grpSp>
        <p:nvGrpSpPr>
          <p:cNvPr name="Group 44" id="44"/>
          <p:cNvGrpSpPr/>
          <p:nvPr/>
        </p:nvGrpSpPr>
        <p:grpSpPr>
          <a:xfrm rot="0">
            <a:off x="13798296" y="3794760"/>
            <a:ext cx="3483864" cy="2276123"/>
            <a:chOff x="0" y="0"/>
            <a:chExt cx="4645152" cy="3034830"/>
          </a:xfrm>
        </p:grpSpPr>
        <p:sp>
          <p:nvSpPr>
            <p:cNvPr name="Freeform 45" id="45" descr="V4.png"/>
            <p:cNvSpPr/>
            <p:nvPr/>
          </p:nvSpPr>
          <p:spPr>
            <a:xfrm flipH="false" flipV="false" rot="0">
              <a:off x="0" y="0"/>
              <a:ext cx="4645152" cy="3034792"/>
            </a:xfrm>
            <a:custGeom>
              <a:avLst/>
              <a:gdLst/>
              <a:ahLst/>
              <a:cxnLst/>
              <a:rect r="r" b="b" t="t" l="l"/>
              <a:pathLst>
                <a:path h="3034792" w="4645152">
                  <a:moveTo>
                    <a:pt x="0" y="0"/>
                  </a:moveTo>
                  <a:lnTo>
                    <a:pt x="4645152" y="0"/>
                  </a:lnTo>
                  <a:lnTo>
                    <a:pt x="4645152" y="3034792"/>
                  </a:lnTo>
                  <a:lnTo>
                    <a:pt x="0" y="3034792"/>
                  </a:lnTo>
                  <a:lnTo>
                    <a:pt x="0" y="0"/>
                  </a:lnTo>
                  <a:close/>
                </a:path>
              </a:pathLst>
            </a:custGeom>
            <a:blipFill>
              <a:blip r:embed="rId8"/>
              <a:stretch>
                <a:fillRect l="0" t="0" r="0" b="-1"/>
              </a:stretch>
            </a:blipFill>
          </p:spPr>
          <p:txBody>
            <a:bodyPr/>
            <a:p/>
          </p:txBody>
        </p:sp>
      </p:grpSp>
      <p:sp>
        <p:nvSpPr>
          <p:cNvPr name="TextBox 46" id="46"/>
          <p:cNvSpPr txBox="true"/>
          <p:nvPr/>
        </p:nvSpPr>
        <p:spPr>
          <a:xfrm rot="0">
            <a:off x="13926312" y="6196613"/>
            <a:ext cx="3282696" cy="1245870"/>
          </a:xfrm>
          <a:prstGeom prst="rect">
            <a:avLst/>
          </a:prstGeom>
        </p:spPr>
        <p:txBody>
          <a:bodyPr anchor="t" rtlCol="false" tIns="0" lIns="0" bIns="0" rIns="0">
            <a:spAutoFit/>
          </a:bodyPr>
          <a:lstStyle/>
          <a:p>
            <a:pPr algn="l">
              <a:lnSpc>
                <a:spcPts val="2332"/>
              </a:lnSpc>
            </a:pPr>
            <a:r>
              <a:rPr lang="en-US" sz="1800">
                <a:solidFill>
                  <a:srgbClr val="243044"/>
                </a:solidFill>
                <a:latin typeface="Calibri (MS)"/>
                <a:ea typeface="Calibri (MS)"/>
                <a:cs typeface="Calibri (MS)"/>
                <a:sym typeface="Calibri (MS)"/>
              </a:rPr>
              <a:t>Trả lời trôi chảy nhưng nội dung không có trong ảnh.</a:t>
            </a:r>
          </a:p>
        </p:txBody>
      </p:sp>
      <p:grpSp>
        <p:nvGrpSpPr>
          <p:cNvPr name="Group 47" id="47"/>
          <p:cNvGrpSpPr/>
          <p:nvPr/>
        </p:nvGrpSpPr>
        <p:grpSpPr>
          <a:xfrm rot="0">
            <a:off x="13790362" y="7535866"/>
            <a:ext cx="3499742" cy="1680086"/>
            <a:chOff x="0" y="0"/>
            <a:chExt cx="4666323" cy="2240115"/>
          </a:xfrm>
        </p:grpSpPr>
        <p:sp>
          <p:nvSpPr>
            <p:cNvPr name="Freeform 48" id="48"/>
            <p:cNvSpPr/>
            <p:nvPr/>
          </p:nvSpPr>
          <p:spPr>
            <a:xfrm flipH="false" flipV="false" rot="0">
              <a:off x="0" y="0"/>
              <a:ext cx="4666234" cy="2240153"/>
            </a:xfrm>
            <a:custGeom>
              <a:avLst/>
              <a:gdLst/>
              <a:ahLst/>
              <a:cxnLst/>
              <a:rect r="r" b="b" t="t" l="l"/>
              <a:pathLst>
                <a:path h="2240153" w="4666234">
                  <a:moveTo>
                    <a:pt x="0" y="179197"/>
                  </a:moveTo>
                  <a:cubicBezTo>
                    <a:pt x="0" y="80264"/>
                    <a:pt x="80264" y="0"/>
                    <a:pt x="179197" y="0"/>
                  </a:cubicBezTo>
                  <a:lnTo>
                    <a:pt x="4487037" y="0"/>
                  </a:lnTo>
                  <a:cubicBezTo>
                    <a:pt x="4585970" y="0"/>
                    <a:pt x="4666234" y="80264"/>
                    <a:pt x="4666234" y="179197"/>
                  </a:cubicBezTo>
                  <a:lnTo>
                    <a:pt x="4666234" y="2060956"/>
                  </a:lnTo>
                  <a:cubicBezTo>
                    <a:pt x="4666234" y="2159889"/>
                    <a:pt x="4585970" y="2240153"/>
                    <a:pt x="4487037" y="2240153"/>
                  </a:cubicBezTo>
                  <a:lnTo>
                    <a:pt x="179197" y="2240153"/>
                  </a:lnTo>
                  <a:cubicBezTo>
                    <a:pt x="80264" y="2240153"/>
                    <a:pt x="0" y="2159889"/>
                    <a:pt x="0" y="2060956"/>
                  </a:cubicBezTo>
                  <a:close/>
                </a:path>
              </a:pathLst>
            </a:custGeom>
            <a:solidFill>
              <a:srgbClr val="FFFFFF"/>
            </a:solidFill>
            <a:ln w="15875" cap="sq">
              <a:solidFill>
                <a:srgbClr val="E2E7EE"/>
              </a:solidFill>
              <a:prstDash val="solid"/>
              <a:miter/>
            </a:ln>
          </p:spPr>
          <p:txBody>
            <a:bodyPr/>
            <a:p/>
          </p:txBody>
        </p:sp>
      </p:grpSp>
      <p:sp>
        <p:nvSpPr>
          <p:cNvPr name="TextBox 49" id="49"/>
          <p:cNvSpPr txBox="true"/>
          <p:nvPr/>
        </p:nvSpPr>
        <p:spPr>
          <a:xfrm rot="0">
            <a:off x="13981176" y="7615047"/>
            <a:ext cx="3118104" cy="1510665"/>
          </a:xfrm>
          <a:prstGeom prst="rect">
            <a:avLst/>
          </a:prstGeom>
        </p:spPr>
        <p:txBody>
          <a:bodyPr anchor="t" rtlCol="false" tIns="0" lIns="0" bIns="0" rIns="0">
            <a:spAutoFit/>
          </a:bodyPr>
          <a:lstStyle/>
          <a:p>
            <a:pPr algn="l">
              <a:lnSpc>
                <a:spcPts val="1879"/>
              </a:lnSpc>
            </a:pPr>
            <a:r>
              <a:rPr lang="en-US" sz="1449" b="true">
                <a:solidFill>
                  <a:srgbClr val="1C7293"/>
                </a:solidFill>
                <a:latin typeface="Calibri (MS) Bold"/>
                <a:ea typeface="Calibri (MS) Bold"/>
                <a:cs typeface="Calibri (MS) Bold"/>
                <a:sym typeface="Calibri (MS) Bold"/>
              </a:rPr>
              <a:t>Ví dụ minh hoạ</a:t>
            </a:r>
          </a:p>
          <a:p>
            <a:pPr algn="l">
              <a:lnSpc>
                <a:spcPts val="2203"/>
              </a:lnSpc>
            </a:pPr>
            <a:r>
              <a:rPr lang="en-US" sz="1700">
                <a:solidFill>
                  <a:srgbClr val="243044"/>
                </a:solidFill>
                <a:latin typeface="Calibri (MS)"/>
                <a:ea typeface="Calibri (MS)"/>
                <a:cs typeface="Calibri (MS)"/>
                <a:sym typeface="Calibri (MS)"/>
              </a:rPr>
              <a:t>Hỏi “Người đạp xe mặc áo màu gì?” → “áo xanh” ✗</a:t>
            </a:r>
          </a:p>
        </p:txBody>
      </p:sp>
      <p:grpSp>
        <p:nvGrpSpPr>
          <p:cNvPr name="Group 50" id="50"/>
          <p:cNvGrpSpPr/>
          <p:nvPr/>
        </p:nvGrpSpPr>
        <p:grpSpPr>
          <a:xfrm rot="0">
            <a:off x="822960" y="9655969"/>
            <a:ext cx="13716000" cy="360320"/>
            <a:chOff x="0" y="0"/>
            <a:chExt cx="18288000" cy="480427"/>
          </a:xfrm>
        </p:grpSpPr>
        <p:sp>
          <p:nvSpPr>
            <p:cNvPr name="Freeform 51" id="51"/>
            <p:cNvSpPr/>
            <p:nvPr/>
          </p:nvSpPr>
          <p:spPr>
            <a:xfrm flipH="false" flipV="false" rot="0">
              <a:off x="0" y="0"/>
              <a:ext cx="18288000" cy="480427"/>
            </a:xfrm>
            <a:custGeom>
              <a:avLst/>
              <a:gdLst/>
              <a:ahLst/>
              <a:cxnLst/>
              <a:rect r="r" b="b" t="t" l="l"/>
              <a:pathLst>
                <a:path h="480427" w="18288000">
                  <a:moveTo>
                    <a:pt x="0" y="0"/>
                  </a:moveTo>
                  <a:lnTo>
                    <a:pt x="18288000" y="0"/>
                  </a:lnTo>
                  <a:lnTo>
                    <a:pt x="18288000" y="480427"/>
                  </a:lnTo>
                  <a:lnTo>
                    <a:pt x="0" y="480427"/>
                  </a:lnTo>
                  <a:close/>
                </a:path>
              </a:pathLst>
            </a:custGeom>
            <a:blipFill>
              <a:blip r:embed="rId9">
                <a:alphaModFix amt="0"/>
              </a:blip>
              <a:stretch>
                <a:fillRect l="0" t="-680655" r="0" b="-702784"/>
              </a:stretch>
            </a:blipFill>
          </p:spPr>
          <p:txBody>
            <a:bodyPr/>
            <a:p/>
          </p:txBody>
        </p:sp>
        <p:sp>
          <p:nvSpPr>
            <p:cNvPr name="TextBox 52" id="52"/>
            <p:cNvSpPr txBox="true"/>
            <p:nvPr/>
          </p:nvSpPr>
          <p:spPr>
            <a:xfrm>
              <a:off x="0" y="-38100"/>
              <a:ext cx="18288000" cy="518527"/>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1 · PHẠM VI · 03 · KHOẢNG TRỐNG NGHIÊN CỨU</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Bốn khoảng trống — G3 là trọng tâm</a:t>
            </a:r>
          </a:p>
        </p:txBody>
      </p:sp>
      <p:sp>
        <p:nvSpPr>
          <p:cNvPr name="Freeform 6" id="6"/>
          <p:cNvSpPr/>
          <p:nvPr/>
        </p:nvSpPr>
        <p:spPr>
          <a:xfrm flipH="false" flipV="false" rot="0">
            <a:off x="806291" y="2040731"/>
            <a:ext cx="3885152" cy="6342697"/>
          </a:xfrm>
          <a:custGeom>
            <a:avLst/>
            <a:gdLst/>
            <a:ahLst/>
            <a:cxnLst/>
            <a:rect r="r" b="b" t="t" l="l"/>
            <a:pathLst>
              <a:path h="6342697" w="3885152">
                <a:moveTo>
                  <a:pt x="0" y="0"/>
                </a:moveTo>
                <a:lnTo>
                  <a:pt x="3885153" y="0"/>
                </a:lnTo>
                <a:lnTo>
                  <a:pt x="3885153" y="6342698"/>
                </a:lnTo>
                <a:lnTo>
                  <a:pt x="0" y="634269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7" id="7"/>
          <p:cNvSpPr txBox="true"/>
          <p:nvPr/>
        </p:nvSpPr>
        <p:spPr>
          <a:xfrm rot="0">
            <a:off x="1165860" y="2312670"/>
            <a:ext cx="3165996" cy="704850"/>
          </a:xfrm>
          <a:prstGeom prst="rect">
            <a:avLst/>
          </a:prstGeom>
        </p:spPr>
        <p:txBody>
          <a:bodyPr anchor="t" rtlCol="false" tIns="0" lIns="0" bIns="0" rIns="0">
            <a:spAutoFit/>
          </a:bodyPr>
          <a:lstStyle/>
          <a:p>
            <a:pPr algn="l">
              <a:lnSpc>
                <a:spcPts val="3960"/>
              </a:lnSpc>
            </a:pPr>
            <a:r>
              <a:rPr lang="en-US" sz="3300" b="true">
                <a:solidFill>
                  <a:srgbClr val="1C7293"/>
                </a:solidFill>
                <a:latin typeface="Cambria Bold"/>
                <a:ea typeface="Cambria Bold"/>
                <a:cs typeface="Cambria Bold"/>
                <a:sym typeface="Cambria Bold"/>
              </a:rPr>
              <a:t>G1</a:t>
            </a:r>
          </a:p>
        </p:txBody>
      </p:sp>
      <p:sp>
        <p:nvSpPr>
          <p:cNvPr name="TextBox 8" id="8"/>
          <p:cNvSpPr txBox="true"/>
          <p:nvPr/>
        </p:nvSpPr>
        <p:spPr>
          <a:xfrm rot="0">
            <a:off x="1165860" y="3040380"/>
            <a:ext cx="3165996" cy="1280160"/>
          </a:xfrm>
          <a:prstGeom prst="rect">
            <a:avLst/>
          </a:prstGeom>
        </p:spPr>
        <p:txBody>
          <a:bodyPr anchor="t" rtlCol="false" tIns="0" lIns="0" bIns="0" rIns="0">
            <a:spAutoFit/>
          </a:bodyPr>
          <a:lstStyle/>
          <a:p>
            <a:pPr algn="l">
              <a:lnSpc>
                <a:spcPts val="2700"/>
              </a:lnSpc>
            </a:pPr>
            <a:r>
              <a:rPr lang="en-US" sz="2250" b="true">
                <a:solidFill>
                  <a:srgbClr val="13294B"/>
                </a:solidFill>
                <a:latin typeface="Calibri (MS) Bold"/>
                <a:ea typeface="Calibri (MS) Bold"/>
                <a:cs typeface="Calibri (MS) Bold"/>
                <a:sym typeface="Calibri (MS) Bold"/>
              </a:rPr>
              <a:t>Tiền huấn luyện thiên lệch tiếng Anh</a:t>
            </a:r>
          </a:p>
        </p:txBody>
      </p:sp>
      <p:sp>
        <p:nvSpPr>
          <p:cNvPr name="TextBox 9" id="9"/>
          <p:cNvSpPr txBox="true"/>
          <p:nvPr/>
        </p:nvSpPr>
        <p:spPr>
          <a:xfrm rot="0">
            <a:off x="1165860" y="4293870"/>
            <a:ext cx="3165996" cy="2975610"/>
          </a:xfrm>
          <a:prstGeom prst="rect">
            <a:avLst/>
          </a:prstGeom>
        </p:spPr>
        <p:txBody>
          <a:bodyPr anchor="t" rtlCol="false" tIns="0" lIns="0" bIns="0" rIns="0">
            <a:spAutoFit/>
          </a:bodyPr>
          <a:lstStyle/>
          <a:p>
            <a:pPr algn="l">
              <a:lnSpc>
                <a:spcPts val="2610"/>
              </a:lnSpc>
            </a:pPr>
            <a:r>
              <a:rPr lang="en-US" sz="2175">
                <a:solidFill>
                  <a:srgbClr val="243044"/>
                </a:solidFill>
                <a:latin typeface="Calibri (MS)"/>
                <a:ea typeface="Calibri (MS)"/>
                <a:cs typeface="Calibri (MS)"/>
                <a:sym typeface="Calibri (MS)"/>
              </a:rPr>
              <a:t>Alignment của VLM tối ưu cho tiếng Anh; chuyển giao sang tiếng Việt chưa được nghiên cứu kỹ.</a:t>
            </a:r>
          </a:p>
        </p:txBody>
      </p:sp>
      <p:grpSp>
        <p:nvGrpSpPr>
          <p:cNvPr name="Group 10" id="10"/>
          <p:cNvGrpSpPr/>
          <p:nvPr/>
        </p:nvGrpSpPr>
        <p:grpSpPr>
          <a:xfrm rot="0">
            <a:off x="1165860" y="7475220"/>
            <a:ext cx="3165996" cy="685800"/>
            <a:chOff x="0" y="0"/>
            <a:chExt cx="4221328" cy="914400"/>
          </a:xfrm>
        </p:grpSpPr>
        <p:sp>
          <p:nvSpPr>
            <p:cNvPr name="Freeform 11" id="11"/>
            <p:cNvSpPr/>
            <p:nvPr/>
          </p:nvSpPr>
          <p:spPr>
            <a:xfrm flipH="false" flipV="false" rot="0">
              <a:off x="0" y="0"/>
              <a:ext cx="4221353" cy="914400"/>
            </a:xfrm>
            <a:custGeom>
              <a:avLst/>
              <a:gdLst/>
              <a:ahLst/>
              <a:cxnLst/>
              <a:rect r="r" b="b" t="t" l="l"/>
              <a:pathLst>
                <a:path h="914400" w="4221353">
                  <a:moveTo>
                    <a:pt x="0" y="0"/>
                  </a:moveTo>
                  <a:lnTo>
                    <a:pt x="4221353" y="0"/>
                  </a:lnTo>
                  <a:lnTo>
                    <a:pt x="4221353" y="914400"/>
                  </a:lnTo>
                  <a:lnTo>
                    <a:pt x="0" y="914400"/>
                  </a:lnTo>
                  <a:close/>
                </a:path>
              </a:pathLst>
            </a:custGeom>
            <a:blipFill>
              <a:blip r:embed="rId2">
                <a:alphaModFix amt="0"/>
              </a:blip>
              <a:stretch>
                <a:fillRect l="0" t="-39890" r="0" b="-39890"/>
              </a:stretch>
            </a:blipFill>
          </p:spPr>
          <p:txBody>
            <a:bodyPr/>
            <a:p/>
          </p:txBody>
        </p:sp>
      </p:grpSp>
      <p:grpSp>
        <p:nvGrpSpPr>
          <p:cNvPr name="Group 12" id="12"/>
          <p:cNvGrpSpPr/>
          <p:nvPr/>
        </p:nvGrpSpPr>
        <p:grpSpPr>
          <a:xfrm rot="0">
            <a:off x="1165860" y="7460932"/>
            <a:ext cx="3165996" cy="700088"/>
            <a:chOff x="0" y="0"/>
            <a:chExt cx="4221328" cy="933450"/>
          </a:xfrm>
        </p:grpSpPr>
        <p:sp>
          <p:nvSpPr>
            <p:cNvPr name="Freeform 13" id="13"/>
            <p:cNvSpPr/>
            <p:nvPr/>
          </p:nvSpPr>
          <p:spPr>
            <a:xfrm flipH="false" flipV="false" rot="0">
              <a:off x="0" y="0"/>
              <a:ext cx="4221328" cy="933450"/>
            </a:xfrm>
            <a:custGeom>
              <a:avLst/>
              <a:gdLst/>
              <a:ahLst/>
              <a:cxnLst/>
              <a:rect r="r" b="b" t="t" l="l"/>
              <a:pathLst>
                <a:path h="933450" w="4221328">
                  <a:moveTo>
                    <a:pt x="0" y="0"/>
                  </a:moveTo>
                  <a:lnTo>
                    <a:pt x="4221328" y="0"/>
                  </a:lnTo>
                  <a:lnTo>
                    <a:pt x="4221328" y="933450"/>
                  </a:lnTo>
                  <a:lnTo>
                    <a:pt x="0" y="933450"/>
                  </a:lnTo>
                  <a:close/>
                </a:path>
              </a:pathLst>
            </a:custGeom>
            <a:blipFill>
              <a:blip r:embed="rId5">
                <a:alphaModFix amt="0"/>
              </a:blip>
              <a:stretch>
                <a:fillRect l="0" t="-38116" r="0" b="-38116"/>
              </a:stretch>
            </a:blipFill>
          </p:spPr>
          <p:txBody>
            <a:bodyPr/>
            <a:p/>
          </p:txBody>
        </p:sp>
        <p:sp>
          <p:nvSpPr>
            <p:cNvPr name="TextBox 14" id="14"/>
            <p:cNvSpPr txBox="true"/>
            <p:nvPr/>
          </p:nvSpPr>
          <p:spPr>
            <a:xfrm>
              <a:off x="0" y="-19050"/>
              <a:ext cx="4221328" cy="952500"/>
            </a:xfrm>
            <a:prstGeom prst="rect">
              <a:avLst/>
            </a:prstGeom>
          </p:spPr>
          <p:txBody>
            <a:bodyPr anchor="b" rtlCol="false" tIns="0" lIns="0" bIns="0" rIns="0"/>
            <a:lstStyle/>
            <a:p>
              <a:pPr algn="l">
                <a:lnSpc>
                  <a:spcPts val="1889"/>
                </a:lnSpc>
              </a:pPr>
              <a:r>
                <a:rPr lang="en-US" sz="1575" i="true" u="sng">
                  <a:solidFill>
                    <a:srgbClr val="6B7280"/>
                  </a:solidFill>
                  <a:latin typeface="Calibri (MS) Italics"/>
                  <a:ea typeface="Calibri (MS) Italics"/>
                  <a:cs typeface="Calibri (MS) Italics"/>
                  <a:sym typeface="Calibri (MS) Italics"/>
                  <a:hlinkClick r:id="rId6" tooltip="https://arxiv.org/pdf/2509.23661"/>
                </a:rPr>
                <a:t>LLaVA-1.5 (Liu et al., CVPR 2024)</a:t>
              </a:r>
            </a:p>
          </p:txBody>
        </p:sp>
      </p:grpSp>
      <p:sp>
        <p:nvSpPr>
          <p:cNvPr name="Freeform 15" id="15"/>
          <p:cNvSpPr/>
          <p:nvPr/>
        </p:nvSpPr>
        <p:spPr>
          <a:xfrm flipH="false" flipV="false" rot="0">
            <a:off x="5069567" y="2040731"/>
            <a:ext cx="3885152" cy="6342697"/>
          </a:xfrm>
          <a:custGeom>
            <a:avLst/>
            <a:gdLst/>
            <a:ahLst/>
            <a:cxnLst/>
            <a:rect r="r" b="b" t="t" l="l"/>
            <a:pathLst>
              <a:path h="6342697" w="3885152">
                <a:moveTo>
                  <a:pt x="0" y="0"/>
                </a:moveTo>
                <a:lnTo>
                  <a:pt x="3885152" y="0"/>
                </a:lnTo>
                <a:lnTo>
                  <a:pt x="3885152" y="6342698"/>
                </a:lnTo>
                <a:lnTo>
                  <a:pt x="0" y="634269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6" id="16"/>
          <p:cNvSpPr txBox="true"/>
          <p:nvPr/>
        </p:nvSpPr>
        <p:spPr>
          <a:xfrm rot="0">
            <a:off x="5429136" y="2312670"/>
            <a:ext cx="3165996" cy="704850"/>
          </a:xfrm>
          <a:prstGeom prst="rect">
            <a:avLst/>
          </a:prstGeom>
        </p:spPr>
        <p:txBody>
          <a:bodyPr anchor="t" rtlCol="false" tIns="0" lIns="0" bIns="0" rIns="0">
            <a:spAutoFit/>
          </a:bodyPr>
          <a:lstStyle/>
          <a:p>
            <a:pPr algn="l">
              <a:lnSpc>
                <a:spcPts val="3960"/>
              </a:lnSpc>
            </a:pPr>
            <a:r>
              <a:rPr lang="en-US" sz="3300" b="true">
                <a:solidFill>
                  <a:srgbClr val="1C7293"/>
                </a:solidFill>
                <a:latin typeface="Cambria Bold"/>
                <a:ea typeface="Cambria Bold"/>
                <a:cs typeface="Cambria Bold"/>
                <a:sym typeface="Cambria Bold"/>
              </a:rPr>
              <a:t>G2</a:t>
            </a:r>
          </a:p>
        </p:txBody>
      </p:sp>
      <p:sp>
        <p:nvSpPr>
          <p:cNvPr name="TextBox 17" id="17"/>
          <p:cNvSpPr txBox="true"/>
          <p:nvPr/>
        </p:nvSpPr>
        <p:spPr>
          <a:xfrm rot="0">
            <a:off x="5429136" y="3040380"/>
            <a:ext cx="3165996" cy="1280160"/>
          </a:xfrm>
          <a:prstGeom prst="rect">
            <a:avLst/>
          </a:prstGeom>
        </p:spPr>
        <p:txBody>
          <a:bodyPr anchor="t" rtlCol="false" tIns="0" lIns="0" bIns="0" rIns="0">
            <a:spAutoFit/>
          </a:bodyPr>
          <a:lstStyle/>
          <a:p>
            <a:pPr algn="l">
              <a:lnSpc>
                <a:spcPts val="2700"/>
              </a:lnSpc>
            </a:pPr>
            <a:r>
              <a:rPr lang="en-US" sz="2250" b="true">
                <a:solidFill>
                  <a:srgbClr val="13294B"/>
                </a:solidFill>
                <a:latin typeface="Calibri (MS) Bold"/>
                <a:ea typeface="Calibri (MS) Bold"/>
                <a:cs typeface="Calibri (MS) Bold"/>
                <a:sym typeface="Calibri (MS) Bold"/>
              </a:rPr>
              <a:t>VQA tiếng Việt yếu, nhất là scene-text</a:t>
            </a:r>
          </a:p>
        </p:txBody>
      </p:sp>
      <p:sp>
        <p:nvSpPr>
          <p:cNvPr name="TextBox 18" id="18"/>
          <p:cNvSpPr txBox="true"/>
          <p:nvPr/>
        </p:nvSpPr>
        <p:spPr>
          <a:xfrm rot="0">
            <a:off x="5429136" y="4293870"/>
            <a:ext cx="3165996" cy="2975610"/>
          </a:xfrm>
          <a:prstGeom prst="rect">
            <a:avLst/>
          </a:prstGeom>
        </p:spPr>
        <p:txBody>
          <a:bodyPr anchor="t" rtlCol="false" tIns="0" lIns="0" bIns="0" rIns="0">
            <a:spAutoFit/>
          </a:bodyPr>
          <a:lstStyle/>
          <a:p>
            <a:pPr algn="l">
              <a:lnSpc>
                <a:spcPts val="2610"/>
              </a:lnSpc>
            </a:pPr>
            <a:r>
              <a:rPr lang="en-US" sz="2175">
                <a:solidFill>
                  <a:srgbClr val="243044"/>
                </a:solidFill>
                <a:latin typeface="Calibri (MS)"/>
                <a:ea typeface="Calibri (MS)"/>
                <a:cs typeface="Calibri (MS)"/>
                <a:sym typeface="Calibri (MS)"/>
              </a:rPr>
              <a:t>EM công bố cao nhất trên ViTextVQA là 25,48 so với 88,00 của con người; OCR, dấu thanh, code-switching còn mở.</a:t>
            </a:r>
          </a:p>
        </p:txBody>
      </p:sp>
      <p:grpSp>
        <p:nvGrpSpPr>
          <p:cNvPr name="Group 19" id="19"/>
          <p:cNvGrpSpPr/>
          <p:nvPr/>
        </p:nvGrpSpPr>
        <p:grpSpPr>
          <a:xfrm rot="0">
            <a:off x="5429136" y="7475220"/>
            <a:ext cx="3165996" cy="685800"/>
            <a:chOff x="0" y="0"/>
            <a:chExt cx="4221328" cy="914400"/>
          </a:xfrm>
        </p:grpSpPr>
        <p:sp>
          <p:nvSpPr>
            <p:cNvPr name="Freeform 20" id="20"/>
            <p:cNvSpPr/>
            <p:nvPr/>
          </p:nvSpPr>
          <p:spPr>
            <a:xfrm flipH="false" flipV="false" rot="0">
              <a:off x="0" y="0"/>
              <a:ext cx="4221353" cy="914400"/>
            </a:xfrm>
            <a:custGeom>
              <a:avLst/>
              <a:gdLst/>
              <a:ahLst/>
              <a:cxnLst/>
              <a:rect r="r" b="b" t="t" l="l"/>
              <a:pathLst>
                <a:path h="914400" w="4221353">
                  <a:moveTo>
                    <a:pt x="0" y="0"/>
                  </a:moveTo>
                  <a:lnTo>
                    <a:pt x="4221353" y="0"/>
                  </a:lnTo>
                  <a:lnTo>
                    <a:pt x="4221353" y="914400"/>
                  </a:lnTo>
                  <a:lnTo>
                    <a:pt x="0" y="914400"/>
                  </a:lnTo>
                  <a:close/>
                </a:path>
              </a:pathLst>
            </a:custGeom>
            <a:blipFill>
              <a:blip r:embed="rId2">
                <a:alphaModFix amt="0"/>
              </a:blip>
              <a:stretch>
                <a:fillRect l="0" t="-39890" r="0" b="-39890"/>
              </a:stretch>
            </a:blipFill>
          </p:spPr>
          <p:txBody>
            <a:bodyPr/>
            <a:p/>
          </p:txBody>
        </p:sp>
      </p:grpSp>
      <p:grpSp>
        <p:nvGrpSpPr>
          <p:cNvPr name="Group 21" id="21"/>
          <p:cNvGrpSpPr/>
          <p:nvPr/>
        </p:nvGrpSpPr>
        <p:grpSpPr>
          <a:xfrm rot="0">
            <a:off x="5429136" y="7460932"/>
            <a:ext cx="3165996" cy="700088"/>
            <a:chOff x="0" y="0"/>
            <a:chExt cx="4221328" cy="933450"/>
          </a:xfrm>
        </p:grpSpPr>
        <p:sp>
          <p:nvSpPr>
            <p:cNvPr name="Freeform 22" id="22"/>
            <p:cNvSpPr/>
            <p:nvPr/>
          </p:nvSpPr>
          <p:spPr>
            <a:xfrm flipH="false" flipV="false" rot="0">
              <a:off x="0" y="0"/>
              <a:ext cx="4221328" cy="933450"/>
            </a:xfrm>
            <a:custGeom>
              <a:avLst/>
              <a:gdLst/>
              <a:ahLst/>
              <a:cxnLst/>
              <a:rect r="r" b="b" t="t" l="l"/>
              <a:pathLst>
                <a:path h="933450" w="4221328">
                  <a:moveTo>
                    <a:pt x="0" y="0"/>
                  </a:moveTo>
                  <a:lnTo>
                    <a:pt x="4221328" y="0"/>
                  </a:lnTo>
                  <a:lnTo>
                    <a:pt x="4221328" y="933450"/>
                  </a:lnTo>
                  <a:lnTo>
                    <a:pt x="0" y="933450"/>
                  </a:lnTo>
                  <a:close/>
                </a:path>
              </a:pathLst>
            </a:custGeom>
            <a:blipFill>
              <a:blip r:embed="rId5">
                <a:alphaModFix amt="0"/>
              </a:blip>
              <a:stretch>
                <a:fillRect l="0" t="-38116" r="0" b="-38116"/>
              </a:stretch>
            </a:blipFill>
          </p:spPr>
          <p:txBody>
            <a:bodyPr/>
            <a:p/>
          </p:txBody>
        </p:sp>
        <p:sp>
          <p:nvSpPr>
            <p:cNvPr name="TextBox 23" id="23"/>
            <p:cNvSpPr txBox="true"/>
            <p:nvPr/>
          </p:nvSpPr>
          <p:spPr>
            <a:xfrm>
              <a:off x="0" y="-19050"/>
              <a:ext cx="4221328" cy="952500"/>
            </a:xfrm>
            <a:prstGeom prst="rect">
              <a:avLst/>
            </a:prstGeom>
          </p:spPr>
          <p:txBody>
            <a:bodyPr anchor="b" rtlCol="false" tIns="0" lIns="0" bIns="0" rIns="0"/>
            <a:lstStyle/>
            <a:p>
              <a:pPr algn="l">
                <a:lnSpc>
                  <a:spcPts val="1889"/>
                </a:lnSpc>
              </a:pPr>
              <a:r>
                <a:rPr lang="en-US" sz="1575" i="true" u="sng">
                  <a:solidFill>
                    <a:srgbClr val="6B7280"/>
                  </a:solidFill>
                  <a:latin typeface="Calibri (MS) Italics"/>
                  <a:ea typeface="Calibri (MS) Italics"/>
                  <a:cs typeface="Calibri (MS) Italics"/>
                  <a:sym typeface="Calibri (MS) Italics"/>
                  <a:hlinkClick r:id="rId7" tooltip="https://arxiv.org/pdf/2404.10652"/>
                </a:rPr>
                <a:t>ViTextVQA (Nguyen et al., 2024)</a:t>
              </a:r>
            </a:p>
          </p:txBody>
        </p:sp>
      </p:grpSp>
      <p:sp>
        <p:nvSpPr>
          <p:cNvPr name="Freeform 24" id="24"/>
          <p:cNvSpPr/>
          <p:nvPr/>
        </p:nvSpPr>
        <p:spPr>
          <a:xfrm flipH="false" flipV="false" rot="0">
            <a:off x="9332843" y="2040731"/>
            <a:ext cx="3885152" cy="6342697"/>
          </a:xfrm>
          <a:custGeom>
            <a:avLst/>
            <a:gdLst/>
            <a:ahLst/>
            <a:cxnLst/>
            <a:rect r="r" b="b" t="t" l="l"/>
            <a:pathLst>
              <a:path h="6342697" w="3885152">
                <a:moveTo>
                  <a:pt x="0" y="0"/>
                </a:moveTo>
                <a:lnTo>
                  <a:pt x="3885152" y="0"/>
                </a:lnTo>
                <a:lnTo>
                  <a:pt x="3885152" y="6342698"/>
                </a:lnTo>
                <a:lnTo>
                  <a:pt x="0" y="634269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sp>
        <p:nvSpPr>
          <p:cNvPr name="TextBox 25" id="25"/>
          <p:cNvSpPr txBox="true"/>
          <p:nvPr/>
        </p:nvSpPr>
        <p:spPr>
          <a:xfrm rot="0">
            <a:off x="9692411" y="2312670"/>
            <a:ext cx="3165996" cy="704850"/>
          </a:xfrm>
          <a:prstGeom prst="rect">
            <a:avLst/>
          </a:prstGeom>
        </p:spPr>
        <p:txBody>
          <a:bodyPr anchor="t" rtlCol="false" tIns="0" lIns="0" bIns="0" rIns="0">
            <a:spAutoFit/>
          </a:bodyPr>
          <a:lstStyle/>
          <a:p>
            <a:pPr algn="l">
              <a:lnSpc>
                <a:spcPts val="3960"/>
              </a:lnSpc>
            </a:pPr>
            <a:r>
              <a:rPr lang="en-US" sz="3300" b="true">
                <a:solidFill>
                  <a:srgbClr val="E8A33D"/>
                </a:solidFill>
                <a:latin typeface="Cambria Bold"/>
                <a:ea typeface="Cambria Bold"/>
                <a:cs typeface="Cambria Bold"/>
                <a:sym typeface="Cambria Bold"/>
              </a:rPr>
              <a:t>G3</a:t>
            </a:r>
          </a:p>
        </p:txBody>
      </p:sp>
      <p:sp>
        <p:nvSpPr>
          <p:cNvPr name="TextBox 26" id="26"/>
          <p:cNvSpPr txBox="true"/>
          <p:nvPr/>
        </p:nvSpPr>
        <p:spPr>
          <a:xfrm rot="0">
            <a:off x="9692411" y="3040380"/>
            <a:ext cx="3165996" cy="1280160"/>
          </a:xfrm>
          <a:prstGeom prst="rect">
            <a:avLst/>
          </a:prstGeom>
        </p:spPr>
        <p:txBody>
          <a:bodyPr anchor="t" rtlCol="false" tIns="0" lIns="0" bIns="0" rIns="0">
            <a:spAutoFit/>
          </a:bodyPr>
          <a:lstStyle/>
          <a:p>
            <a:pPr algn="l">
              <a:lnSpc>
                <a:spcPts val="2700"/>
              </a:lnSpc>
            </a:pPr>
            <a:r>
              <a:rPr lang="en-US" sz="2250" b="true">
                <a:solidFill>
                  <a:srgbClr val="13294B"/>
                </a:solidFill>
                <a:latin typeface="Calibri (MS) Bold"/>
                <a:ea typeface="Calibri (MS) Bold"/>
                <a:cs typeface="Calibri (MS) Bold"/>
                <a:sym typeface="Calibri (MS) Bold"/>
              </a:rPr>
              <a:t>PEFT cho VLM tiếng Việt chưa được khai thác</a:t>
            </a:r>
          </a:p>
        </p:txBody>
      </p:sp>
      <p:sp>
        <p:nvSpPr>
          <p:cNvPr name="TextBox 27" id="27"/>
          <p:cNvSpPr txBox="true"/>
          <p:nvPr/>
        </p:nvSpPr>
        <p:spPr>
          <a:xfrm rot="0">
            <a:off x="9692411" y="4293870"/>
            <a:ext cx="3165996" cy="2975610"/>
          </a:xfrm>
          <a:prstGeom prst="rect">
            <a:avLst/>
          </a:prstGeom>
        </p:spPr>
        <p:txBody>
          <a:bodyPr anchor="t" rtlCol="false" tIns="0" lIns="0" bIns="0" rIns="0">
            <a:spAutoFit/>
          </a:bodyPr>
          <a:lstStyle/>
          <a:p>
            <a:pPr algn="l">
              <a:lnSpc>
                <a:spcPts val="2610"/>
              </a:lnSpc>
            </a:pPr>
            <a:r>
              <a:rPr lang="en-US" sz="2175">
                <a:solidFill>
                  <a:srgbClr val="243044"/>
                </a:solidFill>
                <a:latin typeface="Calibri (MS)"/>
                <a:ea typeface="Calibri (MS)"/>
                <a:cs typeface="Calibri (MS)"/>
                <a:sym typeface="Calibri (MS)"/>
              </a:rPr>
              <a:t>Chưa có nghiên cứu hệ thống áp dụng LoRA/QLoRA cho VLM trên VQA tiếng Việt — ba paper VQA tiếng Việt nhóm khảo sát đều không dùng PEFT.</a:t>
            </a:r>
          </a:p>
        </p:txBody>
      </p:sp>
      <p:grpSp>
        <p:nvGrpSpPr>
          <p:cNvPr name="Group 28" id="28"/>
          <p:cNvGrpSpPr/>
          <p:nvPr/>
        </p:nvGrpSpPr>
        <p:grpSpPr>
          <a:xfrm rot="0">
            <a:off x="9692411" y="7475220"/>
            <a:ext cx="3165996" cy="685800"/>
            <a:chOff x="0" y="0"/>
            <a:chExt cx="4221328" cy="914400"/>
          </a:xfrm>
        </p:grpSpPr>
        <p:sp>
          <p:nvSpPr>
            <p:cNvPr name="Freeform 29" id="29"/>
            <p:cNvSpPr/>
            <p:nvPr/>
          </p:nvSpPr>
          <p:spPr>
            <a:xfrm flipH="false" flipV="false" rot="0">
              <a:off x="0" y="0"/>
              <a:ext cx="4221353" cy="914400"/>
            </a:xfrm>
            <a:custGeom>
              <a:avLst/>
              <a:gdLst/>
              <a:ahLst/>
              <a:cxnLst/>
              <a:rect r="r" b="b" t="t" l="l"/>
              <a:pathLst>
                <a:path h="914400" w="4221353">
                  <a:moveTo>
                    <a:pt x="0" y="0"/>
                  </a:moveTo>
                  <a:lnTo>
                    <a:pt x="4221353" y="0"/>
                  </a:lnTo>
                  <a:lnTo>
                    <a:pt x="4221353" y="914400"/>
                  </a:lnTo>
                  <a:lnTo>
                    <a:pt x="0" y="914400"/>
                  </a:lnTo>
                  <a:close/>
                </a:path>
              </a:pathLst>
            </a:custGeom>
            <a:blipFill>
              <a:blip r:embed="rId2">
                <a:alphaModFix amt="0"/>
              </a:blip>
              <a:stretch>
                <a:fillRect l="0" t="-39890" r="0" b="-39890"/>
              </a:stretch>
            </a:blipFill>
          </p:spPr>
          <p:txBody>
            <a:bodyPr/>
            <a:p/>
          </p:txBody>
        </p:sp>
      </p:grpSp>
      <p:grpSp>
        <p:nvGrpSpPr>
          <p:cNvPr name="Group 30" id="30"/>
          <p:cNvGrpSpPr/>
          <p:nvPr/>
        </p:nvGrpSpPr>
        <p:grpSpPr>
          <a:xfrm rot="0">
            <a:off x="9692411" y="7460932"/>
            <a:ext cx="3165996" cy="700088"/>
            <a:chOff x="0" y="0"/>
            <a:chExt cx="4221328" cy="933450"/>
          </a:xfrm>
        </p:grpSpPr>
        <p:sp>
          <p:nvSpPr>
            <p:cNvPr name="Freeform 31" id="31"/>
            <p:cNvSpPr/>
            <p:nvPr/>
          </p:nvSpPr>
          <p:spPr>
            <a:xfrm flipH="false" flipV="false" rot="0">
              <a:off x="0" y="0"/>
              <a:ext cx="4221328" cy="933450"/>
            </a:xfrm>
            <a:custGeom>
              <a:avLst/>
              <a:gdLst/>
              <a:ahLst/>
              <a:cxnLst/>
              <a:rect r="r" b="b" t="t" l="l"/>
              <a:pathLst>
                <a:path h="933450" w="4221328">
                  <a:moveTo>
                    <a:pt x="0" y="0"/>
                  </a:moveTo>
                  <a:lnTo>
                    <a:pt x="4221328" y="0"/>
                  </a:lnTo>
                  <a:lnTo>
                    <a:pt x="4221328" y="933450"/>
                  </a:lnTo>
                  <a:lnTo>
                    <a:pt x="0" y="933450"/>
                  </a:lnTo>
                  <a:close/>
                </a:path>
              </a:pathLst>
            </a:custGeom>
            <a:blipFill>
              <a:blip r:embed="rId5">
                <a:alphaModFix amt="0"/>
              </a:blip>
              <a:stretch>
                <a:fillRect l="0" t="-38116" r="0" b="-38116"/>
              </a:stretch>
            </a:blipFill>
          </p:spPr>
          <p:txBody>
            <a:bodyPr/>
            <a:p/>
          </p:txBody>
        </p:sp>
        <p:sp>
          <p:nvSpPr>
            <p:cNvPr name="TextBox 32" id="32"/>
            <p:cNvSpPr txBox="true"/>
            <p:nvPr/>
          </p:nvSpPr>
          <p:spPr>
            <a:xfrm>
              <a:off x="0" y="-19050"/>
              <a:ext cx="4221328" cy="952500"/>
            </a:xfrm>
            <a:prstGeom prst="rect">
              <a:avLst/>
            </a:prstGeom>
          </p:spPr>
          <p:txBody>
            <a:bodyPr anchor="b" rtlCol="false" tIns="0" lIns="0" bIns="0" rIns="0"/>
            <a:lstStyle/>
            <a:p>
              <a:pPr algn="l">
                <a:lnSpc>
                  <a:spcPts val="1889"/>
                </a:lnSpc>
              </a:pPr>
              <a:r>
                <a:rPr lang="en-US" sz="1575" i="true">
                  <a:solidFill>
                    <a:srgbClr val="6B7280"/>
                  </a:solidFill>
                  <a:latin typeface="Calibri (MS) Italics"/>
                  <a:ea typeface="Calibri (MS) Italics"/>
                  <a:cs typeface="Calibri (MS) Italics"/>
                  <a:sym typeface="Calibri (MS) Italics"/>
                </a:rPr>
                <a:t>Literature Matrix (W2)</a:t>
              </a:r>
            </a:p>
          </p:txBody>
        </p:sp>
      </p:grpSp>
      <p:sp>
        <p:nvSpPr>
          <p:cNvPr name="Freeform 33" id="33"/>
          <p:cNvSpPr/>
          <p:nvPr/>
        </p:nvSpPr>
        <p:spPr>
          <a:xfrm flipH="false" flipV="false" rot="0">
            <a:off x="13596118" y="2040731"/>
            <a:ext cx="3885152" cy="6342697"/>
          </a:xfrm>
          <a:custGeom>
            <a:avLst/>
            <a:gdLst/>
            <a:ahLst/>
            <a:cxnLst/>
            <a:rect r="r" b="b" t="t" l="l"/>
            <a:pathLst>
              <a:path h="6342697" w="3885152">
                <a:moveTo>
                  <a:pt x="0" y="0"/>
                </a:moveTo>
                <a:lnTo>
                  <a:pt x="3885153" y="0"/>
                </a:lnTo>
                <a:lnTo>
                  <a:pt x="3885153" y="6342698"/>
                </a:lnTo>
                <a:lnTo>
                  <a:pt x="0" y="634269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34" id="34"/>
          <p:cNvSpPr txBox="true"/>
          <p:nvPr/>
        </p:nvSpPr>
        <p:spPr>
          <a:xfrm rot="0">
            <a:off x="13955687" y="2312670"/>
            <a:ext cx="3165996" cy="704850"/>
          </a:xfrm>
          <a:prstGeom prst="rect">
            <a:avLst/>
          </a:prstGeom>
        </p:spPr>
        <p:txBody>
          <a:bodyPr anchor="t" rtlCol="false" tIns="0" lIns="0" bIns="0" rIns="0">
            <a:spAutoFit/>
          </a:bodyPr>
          <a:lstStyle/>
          <a:p>
            <a:pPr algn="l">
              <a:lnSpc>
                <a:spcPts val="3960"/>
              </a:lnSpc>
            </a:pPr>
            <a:r>
              <a:rPr lang="en-US" sz="3300" b="true">
                <a:solidFill>
                  <a:srgbClr val="1C7293"/>
                </a:solidFill>
                <a:latin typeface="Cambria Bold"/>
                <a:ea typeface="Cambria Bold"/>
                <a:cs typeface="Cambria Bold"/>
                <a:sym typeface="Cambria Bold"/>
              </a:rPr>
              <a:t>G4</a:t>
            </a:r>
          </a:p>
        </p:txBody>
      </p:sp>
      <p:sp>
        <p:nvSpPr>
          <p:cNvPr name="TextBox 35" id="35"/>
          <p:cNvSpPr txBox="true"/>
          <p:nvPr/>
        </p:nvSpPr>
        <p:spPr>
          <a:xfrm rot="0">
            <a:off x="13955687" y="3040380"/>
            <a:ext cx="3165996" cy="1280160"/>
          </a:xfrm>
          <a:prstGeom prst="rect">
            <a:avLst/>
          </a:prstGeom>
        </p:spPr>
        <p:txBody>
          <a:bodyPr anchor="t" rtlCol="false" tIns="0" lIns="0" bIns="0" rIns="0">
            <a:spAutoFit/>
          </a:bodyPr>
          <a:lstStyle/>
          <a:p>
            <a:pPr algn="l">
              <a:lnSpc>
                <a:spcPts val="2700"/>
              </a:lnSpc>
            </a:pPr>
            <a:r>
              <a:rPr lang="en-US" sz="2250" b="true">
                <a:solidFill>
                  <a:srgbClr val="13294B"/>
                </a:solidFill>
                <a:latin typeface="Calibri (MS) Bold"/>
                <a:ea typeface="Calibri (MS) Bold"/>
                <a:cs typeface="Calibri (MS) Bold"/>
                <a:sym typeface="Calibri (MS) Bold"/>
              </a:rPr>
              <a:t>Chưa đo hallucination cho tiếng Việt</a:t>
            </a:r>
          </a:p>
        </p:txBody>
      </p:sp>
      <p:sp>
        <p:nvSpPr>
          <p:cNvPr name="TextBox 36" id="36"/>
          <p:cNvSpPr txBox="true"/>
          <p:nvPr/>
        </p:nvSpPr>
        <p:spPr>
          <a:xfrm rot="0">
            <a:off x="13955687" y="4293870"/>
            <a:ext cx="3165996" cy="2975610"/>
          </a:xfrm>
          <a:prstGeom prst="rect">
            <a:avLst/>
          </a:prstGeom>
        </p:spPr>
        <p:txBody>
          <a:bodyPr anchor="t" rtlCol="false" tIns="0" lIns="0" bIns="0" rIns="0">
            <a:spAutoFit/>
          </a:bodyPr>
          <a:lstStyle/>
          <a:p>
            <a:pPr algn="l">
              <a:lnSpc>
                <a:spcPts val="2610"/>
              </a:lnSpc>
            </a:pPr>
            <a:r>
              <a:rPr lang="en-US" sz="2175">
                <a:solidFill>
                  <a:srgbClr val="243044"/>
                </a:solidFill>
                <a:latin typeface="Calibri (MS)"/>
                <a:ea typeface="Calibri (MS)"/>
                <a:cs typeface="Calibri (MS)"/>
                <a:sym typeface="Calibri (MS)"/>
              </a:rPr>
              <a:t>Chưa có benchmark hallucination kiểu POPE nào được đánh giá trên dữ liệu VQA tiếng Việt.</a:t>
            </a:r>
          </a:p>
        </p:txBody>
      </p:sp>
      <p:grpSp>
        <p:nvGrpSpPr>
          <p:cNvPr name="Group 37" id="37"/>
          <p:cNvGrpSpPr/>
          <p:nvPr/>
        </p:nvGrpSpPr>
        <p:grpSpPr>
          <a:xfrm rot="0">
            <a:off x="13955687" y="7475220"/>
            <a:ext cx="3165996" cy="685800"/>
            <a:chOff x="0" y="0"/>
            <a:chExt cx="4221328" cy="914400"/>
          </a:xfrm>
        </p:grpSpPr>
        <p:sp>
          <p:nvSpPr>
            <p:cNvPr name="Freeform 38" id="38"/>
            <p:cNvSpPr/>
            <p:nvPr/>
          </p:nvSpPr>
          <p:spPr>
            <a:xfrm flipH="false" flipV="false" rot="0">
              <a:off x="0" y="0"/>
              <a:ext cx="4221353" cy="914400"/>
            </a:xfrm>
            <a:custGeom>
              <a:avLst/>
              <a:gdLst/>
              <a:ahLst/>
              <a:cxnLst/>
              <a:rect r="r" b="b" t="t" l="l"/>
              <a:pathLst>
                <a:path h="914400" w="4221353">
                  <a:moveTo>
                    <a:pt x="0" y="0"/>
                  </a:moveTo>
                  <a:lnTo>
                    <a:pt x="4221353" y="0"/>
                  </a:lnTo>
                  <a:lnTo>
                    <a:pt x="4221353" y="914400"/>
                  </a:lnTo>
                  <a:lnTo>
                    <a:pt x="0" y="914400"/>
                  </a:lnTo>
                  <a:close/>
                </a:path>
              </a:pathLst>
            </a:custGeom>
            <a:blipFill>
              <a:blip r:embed="rId2">
                <a:alphaModFix amt="0"/>
              </a:blip>
              <a:stretch>
                <a:fillRect l="0" t="-39890" r="0" b="-39890"/>
              </a:stretch>
            </a:blipFill>
          </p:spPr>
          <p:txBody>
            <a:bodyPr/>
            <a:p/>
          </p:txBody>
        </p:sp>
      </p:grpSp>
      <p:grpSp>
        <p:nvGrpSpPr>
          <p:cNvPr name="Group 39" id="39"/>
          <p:cNvGrpSpPr/>
          <p:nvPr/>
        </p:nvGrpSpPr>
        <p:grpSpPr>
          <a:xfrm rot="0">
            <a:off x="13955687" y="7460932"/>
            <a:ext cx="3165996" cy="700088"/>
            <a:chOff x="0" y="0"/>
            <a:chExt cx="4221328" cy="933450"/>
          </a:xfrm>
        </p:grpSpPr>
        <p:sp>
          <p:nvSpPr>
            <p:cNvPr name="Freeform 40" id="40"/>
            <p:cNvSpPr/>
            <p:nvPr/>
          </p:nvSpPr>
          <p:spPr>
            <a:xfrm flipH="false" flipV="false" rot="0">
              <a:off x="0" y="0"/>
              <a:ext cx="4221328" cy="933450"/>
            </a:xfrm>
            <a:custGeom>
              <a:avLst/>
              <a:gdLst/>
              <a:ahLst/>
              <a:cxnLst/>
              <a:rect r="r" b="b" t="t" l="l"/>
              <a:pathLst>
                <a:path h="933450" w="4221328">
                  <a:moveTo>
                    <a:pt x="0" y="0"/>
                  </a:moveTo>
                  <a:lnTo>
                    <a:pt x="4221328" y="0"/>
                  </a:lnTo>
                  <a:lnTo>
                    <a:pt x="4221328" y="933450"/>
                  </a:lnTo>
                  <a:lnTo>
                    <a:pt x="0" y="933450"/>
                  </a:lnTo>
                  <a:close/>
                </a:path>
              </a:pathLst>
            </a:custGeom>
            <a:blipFill>
              <a:blip r:embed="rId5">
                <a:alphaModFix amt="0"/>
              </a:blip>
              <a:stretch>
                <a:fillRect l="0" t="-38116" r="0" b="-38116"/>
              </a:stretch>
            </a:blipFill>
          </p:spPr>
          <p:txBody>
            <a:bodyPr/>
            <a:p/>
          </p:txBody>
        </p:sp>
        <p:sp>
          <p:nvSpPr>
            <p:cNvPr name="TextBox 41" id="41"/>
            <p:cNvSpPr txBox="true"/>
            <p:nvPr/>
          </p:nvSpPr>
          <p:spPr>
            <a:xfrm>
              <a:off x="0" y="-19050"/>
              <a:ext cx="4221328" cy="952500"/>
            </a:xfrm>
            <a:prstGeom prst="rect">
              <a:avLst/>
            </a:prstGeom>
          </p:spPr>
          <p:txBody>
            <a:bodyPr anchor="b" rtlCol="false" tIns="0" lIns="0" bIns="0" rIns="0"/>
            <a:lstStyle/>
            <a:p>
              <a:pPr algn="l">
                <a:lnSpc>
                  <a:spcPts val="1889"/>
                </a:lnSpc>
              </a:pPr>
              <a:r>
                <a:rPr lang="en-US" sz="1575" i="true" u="sng">
                  <a:solidFill>
                    <a:srgbClr val="6B7280"/>
                  </a:solidFill>
                  <a:latin typeface="Calibri (MS) Italics"/>
                  <a:ea typeface="Calibri (MS) Italics"/>
                  <a:cs typeface="Calibri (MS) Italics"/>
                  <a:sym typeface="Calibri (MS) Italics"/>
                  <a:hlinkClick r:id="rId10" tooltip="https://arxiv.org/pdf/2305.10355"/>
                </a:rPr>
                <a:t>POPE (Li et al., EMNLP 2023)</a:t>
              </a:r>
            </a:p>
          </p:txBody>
        </p:sp>
      </p:grpSp>
      <p:grpSp>
        <p:nvGrpSpPr>
          <p:cNvPr name="Group 42" id="42"/>
          <p:cNvGrpSpPr/>
          <p:nvPr/>
        </p:nvGrpSpPr>
        <p:grpSpPr>
          <a:xfrm rot="0">
            <a:off x="15458732" y="0"/>
            <a:ext cx="2829268" cy="1184338"/>
            <a:chOff x="0" y="0"/>
            <a:chExt cx="3772357" cy="1579118"/>
          </a:xfrm>
        </p:grpSpPr>
        <p:sp>
          <p:nvSpPr>
            <p:cNvPr name="Freeform 43" id="43"/>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1"/>
              <a:stretch>
                <a:fillRect l="0" t="0" r="1" b="0"/>
              </a:stretch>
            </a:blipFill>
          </p:spPr>
          <p:txBody>
            <a:bodyPr/>
            <a:p/>
          </p:txBody>
        </p:sp>
      </p:grpSp>
      <p:grpSp>
        <p:nvGrpSpPr>
          <p:cNvPr name="Group 44" id="44"/>
          <p:cNvGrpSpPr/>
          <p:nvPr/>
        </p:nvGrpSpPr>
        <p:grpSpPr>
          <a:xfrm rot="0">
            <a:off x="822960" y="9655969"/>
            <a:ext cx="13716000" cy="360320"/>
            <a:chOff x="0" y="0"/>
            <a:chExt cx="18288000" cy="480427"/>
          </a:xfrm>
        </p:grpSpPr>
        <p:sp>
          <p:nvSpPr>
            <p:cNvPr name="Freeform 45" id="45"/>
            <p:cNvSpPr/>
            <p:nvPr/>
          </p:nvSpPr>
          <p:spPr>
            <a:xfrm flipH="false" flipV="false" rot="0">
              <a:off x="0" y="0"/>
              <a:ext cx="18288000" cy="480427"/>
            </a:xfrm>
            <a:custGeom>
              <a:avLst/>
              <a:gdLst/>
              <a:ahLst/>
              <a:cxnLst/>
              <a:rect r="r" b="b" t="t" l="l"/>
              <a:pathLst>
                <a:path h="480427" w="18288000">
                  <a:moveTo>
                    <a:pt x="0" y="0"/>
                  </a:moveTo>
                  <a:lnTo>
                    <a:pt x="18288000" y="0"/>
                  </a:lnTo>
                  <a:lnTo>
                    <a:pt x="18288000" y="480427"/>
                  </a:lnTo>
                  <a:lnTo>
                    <a:pt x="0" y="480427"/>
                  </a:lnTo>
                  <a:close/>
                </a:path>
              </a:pathLst>
            </a:custGeom>
            <a:blipFill>
              <a:blip r:embed="rId5">
                <a:alphaModFix amt="0"/>
              </a:blip>
              <a:stretch>
                <a:fillRect l="0" t="-680655" r="0" b="-702784"/>
              </a:stretch>
            </a:blipFill>
          </p:spPr>
          <p:txBody>
            <a:bodyPr/>
            <a:p/>
          </p:txBody>
        </p:sp>
        <p:sp>
          <p:nvSpPr>
            <p:cNvPr name="TextBox 46" id="46"/>
            <p:cNvSpPr txBox="true"/>
            <p:nvPr/>
          </p:nvSpPr>
          <p:spPr>
            <a:xfrm>
              <a:off x="0" y="-38100"/>
              <a:ext cx="18288000" cy="518527"/>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sp>
        <p:nvSpPr>
          <p:cNvPr name="TextBox 6" id="6"/>
          <p:cNvSpPr txBox="true"/>
          <p:nvPr/>
        </p:nvSpPr>
        <p:spPr>
          <a:xfrm rot="0">
            <a:off x="822960" y="353187"/>
            <a:ext cx="16641623" cy="497205"/>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1 · PHẠM VI · 04 · TRONG VÀ NGOÀI PHẠM VI</a:t>
            </a:r>
          </a:p>
        </p:txBody>
      </p:sp>
      <p:sp>
        <p:nvSpPr>
          <p:cNvPr name="TextBox 7" id="7"/>
          <p:cNvSpPr txBox="true"/>
          <p:nvPr/>
        </p:nvSpPr>
        <p:spPr>
          <a:xfrm rot="0">
            <a:off x="822960" y="821817"/>
            <a:ext cx="16641623" cy="988695"/>
          </a:xfrm>
          <a:prstGeom prst="rect">
            <a:avLst/>
          </a:prstGeom>
        </p:spPr>
        <p:txBody>
          <a:bodyPr anchor="t" rtlCol="false" tIns="0" lIns="0" bIns="0" rIns="0">
            <a:spAutoFit/>
          </a:bodyPr>
          <a:lstStyle/>
          <a:p>
            <a:pPr algn="l">
              <a:lnSpc>
                <a:spcPts val="5758"/>
              </a:lnSpc>
            </a:pPr>
            <a:r>
              <a:rPr lang="en-US" sz="4800" b="true">
                <a:solidFill>
                  <a:srgbClr val="13294B"/>
                </a:solidFill>
                <a:latin typeface="Cambria Bold"/>
                <a:ea typeface="Cambria Bold"/>
                <a:cs typeface="Cambria Bold"/>
                <a:sym typeface="Cambria Bold"/>
              </a:rPr>
              <a:t>Trong và ngoài phạm vi đề tài</a:t>
            </a:r>
          </a:p>
        </p:txBody>
      </p:sp>
      <p:grpSp>
        <p:nvGrpSpPr>
          <p:cNvPr name="Group 8" id="8"/>
          <p:cNvGrpSpPr/>
          <p:nvPr/>
        </p:nvGrpSpPr>
        <p:grpSpPr>
          <a:xfrm rot="0">
            <a:off x="806291" y="2039112"/>
            <a:ext cx="5260467" cy="3566160"/>
            <a:chOff x="0" y="0"/>
            <a:chExt cx="7013956" cy="4754880"/>
          </a:xfrm>
        </p:grpSpPr>
        <p:sp>
          <p:nvSpPr>
            <p:cNvPr name="Freeform 9" id="9"/>
            <p:cNvSpPr/>
            <p:nvPr/>
          </p:nvSpPr>
          <p:spPr>
            <a:xfrm flipH="false" flipV="false" rot="0">
              <a:off x="0" y="0"/>
              <a:ext cx="7013956" cy="4754880"/>
            </a:xfrm>
            <a:custGeom>
              <a:avLst/>
              <a:gdLst/>
              <a:ahLst/>
              <a:cxnLst/>
              <a:rect r="r" b="b" t="t" l="l"/>
              <a:pathLst>
                <a:path h="4754880" w="7013956">
                  <a:moveTo>
                    <a:pt x="0" y="237744"/>
                  </a:moveTo>
                  <a:cubicBezTo>
                    <a:pt x="0" y="106426"/>
                    <a:pt x="106426" y="0"/>
                    <a:pt x="237744" y="0"/>
                  </a:cubicBezTo>
                  <a:lnTo>
                    <a:pt x="6776212" y="0"/>
                  </a:lnTo>
                  <a:cubicBezTo>
                    <a:pt x="6907530" y="0"/>
                    <a:pt x="7013956" y="106426"/>
                    <a:pt x="7013956" y="237744"/>
                  </a:cubicBezTo>
                  <a:lnTo>
                    <a:pt x="7013956" y="4517136"/>
                  </a:lnTo>
                  <a:cubicBezTo>
                    <a:pt x="7013956" y="4648454"/>
                    <a:pt x="6907530" y="4754880"/>
                    <a:pt x="6776212" y="4754880"/>
                  </a:cubicBezTo>
                  <a:lnTo>
                    <a:pt x="237744" y="4754880"/>
                  </a:lnTo>
                  <a:cubicBezTo>
                    <a:pt x="106426" y="4754880"/>
                    <a:pt x="0" y="4648454"/>
                    <a:pt x="0" y="4517136"/>
                  </a:cubicBezTo>
                  <a:close/>
                </a:path>
              </a:pathLst>
            </a:custGeom>
            <a:solidFill>
              <a:srgbClr val="FBF0DA"/>
            </a:solidFill>
          </p:spPr>
          <p:txBody>
            <a:bodyPr/>
            <a:p/>
          </p:txBody>
        </p:sp>
      </p:grpSp>
      <p:sp>
        <p:nvSpPr>
          <p:cNvPr name="TextBox 10" id="10"/>
          <p:cNvSpPr txBox="true"/>
          <p:nvPr/>
        </p:nvSpPr>
        <p:spPr>
          <a:xfrm rot="0">
            <a:off x="1165860" y="2202180"/>
            <a:ext cx="4541368" cy="750570"/>
          </a:xfrm>
          <a:prstGeom prst="rect">
            <a:avLst/>
          </a:prstGeom>
        </p:spPr>
        <p:txBody>
          <a:bodyPr anchor="t" rtlCol="false" tIns="0" lIns="0" bIns="0" rIns="0">
            <a:spAutoFit/>
          </a:bodyPr>
          <a:lstStyle/>
          <a:p>
            <a:pPr algn="l">
              <a:lnSpc>
                <a:spcPts val="3059"/>
              </a:lnSpc>
            </a:pPr>
            <a:r>
              <a:rPr lang="en-US" sz="2700" b="true">
                <a:solidFill>
                  <a:srgbClr val="13294B"/>
                </a:solidFill>
                <a:latin typeface="Calibri (MS) Bold"/>
                <a:ea typeface="Calibri (MS) Bold"/>
                <a:cs typeface="Calibri (MS) Bold"/>
                <a:sym typeface="Calibri (MS) Bold"/>
              </a:rPr>
              <a:t>Dữ liệu</a:t>
            </a:r>
          </a:p>
        </p:txBody>
      </p:sp>
      <p:sp>
        <p:nvSpPr>
          <p:cNvPr name="TextBox 11" id="11"/>
          <p:cNvSpPr txBox="true"/>
          <p:nvPr/>
        </p:nvSpPr>
        <p:spPr>
          <a:xfrm rot="0">
            <a:off x="1165860" y="2907030"/>
            <a:ext cx="4541368" cy="2122170"/>
          </a:xfrm>
          <a:prstGeom prst="rect">
            <a:avLst/>
          </a:prstGeom>
        </p:spPr>
        <p:txBody>
          <a:bodyPr anchor="t" rtlCol="false" tIns="0" lIns="0" bIns="0" rIns="0">
            <a:spAutoFit/>
          </a:bodyPr>
          <a:lstStyle/>
          <a:p>
            <a:pPr algn="l">
              <a:lnSpc>
                <a:spcPts val="2699"/>
              </a:lnSpc>
            </a:pPr>
            <a:r>
              <a:rPr lang="en-US" sz="2499">
                <a:solidFill>
                  <a:srgbClr val="243044"/>
                </a:solidFill>
                <a:latin typeface="Calibri (MS)"/>
                <a:ea typeface="Calibri (MS)"/>
                <a:cs typeface="Calibri (MS)"/>
                <a:sym typeface="Calibri (MS)"/>
              </a:rPr>
              <a:t>ViVQA (ảnh đời thường) và ViTextVQA (ảnh có chữ tiếng Việt); split cố định; câu trả lời ngắn</a:t>
            </a:r>
          </a:p>
        </p:txBody>
      </p:sp>
      <p:grpSp>
        <p:nvGrpSpPr>
          <p:cNvPr name="Group 12" id="12"/>
          <p:cNvGrpSpPr/>
          <p:nvPr/>
        </p:nvGrpSpPr>
        <p:grpSpPr>
          <a:xfrm rot="0">
            <a:off x="6513519" y="2039112"/>
            <a:ext cx="5260467" cy="3566160"/>
            <a:chOff x="0" y="0"/>
            <a:chExt cx="7013956" cy="4754880"/>
          </a:xfrm>
        </p:grpSpPr>
        <p:sp>
          <p:nvSpPr>
            <p:cNvPr name="Freeform 13" id="13"/>
            <p:cNvSpPr/>
            <p:nvPr/>
          </p:nvSpPr>
          <p:spPr>
            <a:xfrm flipH="false" flipV="false" rot="0">
              <a:off x="0" y="0"/>
              <a:ext cx="7013956" cy="4754880"/>
            </a:xfrm>
            <a:custGeom>
              <a:avLst/>
              <a:gdLst/>
              <a:ahLst/>
              <a:cxnLst/>
              <a:rect r="r" b="b" t="t" l="l"/>
              <a:pathLst>
                <a:path h="4754880" w="7013956">
                  <a:moveTo>
                    <a:pt x="0" y="237744"/>
                  </a:moveTo>
                  <a:cubicBezTo>
                    <a:pt x="0" y="106426"/>
                    <a:pt x="106426" y="0"/>
                    <a:pt x="237744" y="0"/>
                  </a:cubicBezTo>
                  <a:lnTo>
                    <a:pt x="6776212" y="0"/>
                  </a:lnTo>
                  <a:cubicBezTo>
                    <a:pt x="6907530" y="0"/>
                    <a:pt x="7013956" y="106426"/>
                    <a:pt x="7013956" y="237744"/>
                  </a:cubicBezTo>
                  <a:lnTo>
                    <a:pt x="7013956" y="4517136"/>
                  </a:lnTo>
                  <a:cubicBezTo>
                    <a:pt x="7013956" y="4648454"/>
                    <a:pt x="6907530" y="4754880"/>
                    <a:pt x="6776212" y="4754880"/>
                  </a:cubicBezTo>
                  <a:lnTo>
                    <a:pt x="237744" y="4754880"/>
                  </a:lnTo>
                  <a:cubicBezTo>
                    <a:pt x="106426" y="4754880"/>
                    <a:pt x="0" y="4648454"/>
                    <a:pt x="0" y="4517136"/>
                  </a:cubicBezTo>
                  <a:close/>
                </a:path>
              </a:pathLst>
            </a:custGeom>
            <a:solidFill>
              <a:srgbClr val="F3F5F8"/>
            </a:solidFill>
          </p:spPr>
          <p:txBody>
            <a:bodyPr/>
            <a:p/>
          </p:txBody>
        </p:sp>
      </p:grpSp>
      <p:sp>
        <p:nvSpPr>
          <p:cNvPr name="TextBox 14" id="14"/>
          <p:cNvSpPr txBox="true"/>
          <p:nvPr/>
        </p:nvSpPr>
        <p:spPr>
          <a:xfrm rot="0">
            <a:off x="6873088" y="2202180"/>
            <a:ext cx="4541368" cy="750570"/>
          </a:xfrm>
          <a:prstGeom prst="rect">
            <a:avLst/>
          </a:prstGeom>
        </p:spPr>
        <p:txBody>
          <a:bodyPr anchor="t" rtlCol="false" tIns="0" lIns="0" bIns="0" rIns="0">
            <a:spAutoFit/>
          </a:bodyPr>
          <a:lstStyle/>
          <a:p>
            <a:pPr algn="l">
              <a:lnSpc>
                <a:spcPts val="3059"/>
              </a:lnSpc>
            </a:pPr>
            <a:r>
              <a:rPr lang="en-US" sz="2700" b="true">
                <a:solidFill>
                  <a:srgbClr val="13294B"/>
                </a:solidFill>
                <a:latin typeface="Calibri (MS) Bold"/>
                <a:ea typeface="Calibri (MS) Bold"/>
                <a:cs typeface="Calibri (MS) Bold"/>
                <a:sym typeface="Calibri (MS) Bold"/>
              </a:rPr>
              <a:t>Mô hình &amp; cách thích nghi</a:t>
            </a:r>
          </a:p>
        </p:txBody>
      </p:sp>
      <p:sp>
        <p:nvSpPr>
          <p:cNvPr name="TextBox 15" id="15"/>
          <p:cNvSpPr txBox="true"/>
          <p:nvPr/>
        </p:nvSpPr>
        <p:spPr>
          <a:xfrm rot="0">
            <a:off x="6873088" y="2907030"/>
            <a:ext cx="4541368" cy="2122170"/>
          </a:xfrm>
          <a:prstGeom prst="rect">
            <a:avLst/>
          </a:prstGeom>
        </p:spPr>
        <p:txBody>
          <a:bodyPr anchor="t" rtlCol="false" tIns="0" lIns="0" bIns="0" rIns="0">
            <a:spAutoFit/>
          </a:bodyPr>
          <a:lstStyle/>
          <a:p>
            <a:pPr algn="l">
              <a:lnSpc>
                <a:spcPts val="2699"/>
              </a:lnSpc>
            </a:pPr>
            <a:r>
              <a:rPr lang="en-US" sz="2499">
                <a:solidFill>
                  <a:srgbClr val="243044"/>
                </a:solidFill>
                <a:latin typeface="Calibri (MS)"/>
                <a:ea typeface="Calibri (MS)"/>
                <a:cs typeface="Calibri (MS)"/>
                <a:sym typeface="Calibri (MS)"/>
              </a:rPr>
              <a:t>Một baseline mở: Qwen2.5-VL-3B-Instruct; chỉ PEFT (QLoRA 4-bit); chữ OCR làm đầu vào phụ</a:t>
            </a:r>
          </a:p>
        </p:txBody>
      </p:sp>
      <p:grpSp>
        <p:nvGrpSpPr>
          <p:cNvPr name="Group 16" id="16"/>
          <p:cNvGrpSpPr/>
          <p:nvPr/>
        </p:nvGrpSpPr>
        <p:grpSpPr>
          <a:xfrm rot="0">
            <a:off x="12220746" y="2039112"/>
            <a:ext cx="5260467" cy="3566160"/>
            <a:chOff x="0" y="0"/>
            <a:chExt cx="7013956" cy="4754880"/>
          </a:xfrm>
        </p:grpSpPr>
        <p:sp>
          <p:nvSpPr>
            <p:cNvPr name="Freeform 17" id="17"/>
            <p:cNvSpPr/>
            <p:nvPr/>
          </p:nvSpPr>
          <p:spPr>
            <a:xfrm flipH="false" flipV="false" rot="0">
              <a:off x="0" y="0"/>
              <a:ext cx="7013956" cy="4754880"/>
            </a:xfrm>
            <a:custGeom>
              <a:avLst/>
              <a:gdLst/>
              <a:ahLst/>
              <a:cxnLst/>
              <a:rect r="r" b="b" t="t" l="l"/>
              <a:pathLst>
                <a:path h="4754880" w="7013956">
                  <a:moveTo>
                    <a:pt x="0" y="237744"/>
                  </a:moveTo>
                  <a:cubicBezTo>
                    <a:pt x="0" y="106426"/>
                    <a:pt x="106426" y="0"/>
                    <a:pt x="237744" y="0"/>
                  </a:cubicBezTo>
                  <a:lnTo>
                    <a:pt x="6776212" y="0"/>
                  </a:lnTo>
                  <a:cubicBezTo>
                    <a:pt x="6907530" y="0"/>
                    <a:pt x="7013956" y="106426"/>
                    <a:pt x="7013956" y="237744"/>
                  </a:cubicBezTo>
                  <a:lnTo>
                    <a:pt x="7013956" y="4517136"/>
                  </a:lnTo>
                  <a:cubicBezTo>
                    <a:pt x="7013956" y="4648454"/>
                    <a:pt x="6907530" y="4754880"/>
                    <a:pt x="6776212" y="4754880"/>
                  </a:cubicBezTo>
                  <a:lnTo>
                    <a:pt x="237744" y="4754880"/>
                  </a:lnTo>
                  <a:cubicBezTo>
                    <a:pt x="106426" y="4754880"/>
                    <a:pt x="0" y="4648454"/>
                    <a:pt x="0" y="4517136"/>
                  </a:cubicBezTo>
                  <a:close/>
                </a:path>
              </a:pathLst>
            </a:custGeom>
            <a:solidFill>
              <a:srgbClr val="F3F5F8"/>
            </a:solidFill>
          </p:spPr>
          <p:txBody>
            <a:bodyPr/>
            <a:p/>
          </p:txBody>
        </p:sp>
      </p:grpSp>
      <p:sp>
        <p:nvSpPr>
          <p:cNvPr name="TextBox 18" id="18"/>
          <p:cNvSpPr txBox="true"/>
          <p:nvPr/>
        </p:nvSpPr>
        <p:spPr>
          <a:xfrm rot="0">
            <a:off x="12580315" y="2202180"/>
            <a:ext cx="4541368" cy="750570"/>
          </a:xfrm>
          <a:prstGeom prst="rect">
            <a:avLst/>
          </a:prstGeom>
        </p:spPr>
        <p:txBody>
          <a:bodyPr anchor="t" rtlCol="false" tIns="0" lIns="0" bIns="0" rIns="0">
            <a:spAutoFit/>
          </a:bodyPr>
          <a:lstStyle/>
          <a:p>
            <a:pPr algn="l">
              <a:lnSpc>
                <a:spcPts val="3059"/>
              </a:lnSpc>
            </a:pPr>
            <a:r>
              <a:rPr lang="en-US" sz="2700" b="true">
                <a:solidFill>
                  <a:srgbClr val="13294B"/>
                </a:solidFill>
                <a:latin typeface="Calibri (MS) Bold"/>
                <a:ea typeface="Calibri (MS) Bold"/>
                <a:cs typeface="Calibri (MS) Bold"/>
                <a:sym typeface="Calibri (MS) Bold"/>
              </a:rPr>
              <a:t>Đánh giá &amp; tài nguyên</a:t>
            </a:r>
          </a:p>
        </p:txBody>
      </p:sp>
      <p:sp>
        <p:nvSpPr>
          <p:cNvPr name="TextBox 19" id="19"/>
          <p:cNvSpPr txBox="true"/>
          <p:nvPr/>
        </p:nvSpPr>
        <p:spPr>
          <a:xfrm rot="0">
            <a:off x="12580315" y="2907030"/>
            <a:ext cx="4541368" cy="2122170"/>
          </a:xfrm>
          <a:prstGeom prst="rect">
            <a:avLst/>
          </a:prstGeom>
        </p:spPr>
        <p:txBody>
          <a:bodyPr anchor="t" rtlCol="false" tIns="0" lIns="0" bIns="0" rIns="0">
            <a:spAutoFit/>
          </a:bodyPr>
          <a:lstStyle/>
          <a:p>
            <a:pPr algn="l">
              <a:lnSpc>
                <a:spcPts val="2699"/>
              </a:lnSpc>
            </a:pPr>
            <a:r>
              <a:rPr lang="en-US" sz="2499">
                <a:solidFill>
                  <a:srgbClr val="243044"/>
                </a:solidFill>
                <a:latin typeface="Calibri (MS)"/>
                <a:ea typeface="Calibri (MS)"/>
                <a:cs typeface="Calibri (MS)"/>
                <a:sym typeface="Calibri (MS)"/>
              </a:rPr>
              <a:t>EM, VQA-Acc, ANLS (+F1); ablation, phân tích lỗi, hallucination; một GPU Colab</a:t>
            </a:r>
          </a:p>
        </p:txBody>
      </p:sp>
      <p:grpSp>
        <p:nvGrpSpPr>
          <p:cNvPr name="Group 20" id="20"/>
          <p:cNvGrpSpPr/>
          <p:nvPr/>
        </p:nvGrpSpPr>
        <p:grpSpPr>
          <a:xfrm rot="0">
            <a:off x="804672" y="5943600"/>
            <a:ext cx="16678656" cy="3429000"/>
            <a:chOff x="0" y="0"/>
            <a:chExt cx="22238208" cy="4572000"/>
          </a:xfrm>
        </p:grpSpPr>
        <p:sp>
          <p:nvSpPr>
            <p:cNvPr name="Freeform 21" id="21"/>
            <p:cNvSpPr/>
            <p:nvPr/>
          </p:nvSpPr>
          <p:spPr>
            <a:xfrm flipH="false" flipV="false" rot="0">
              <a:off x="0" y="0"/>
              <a:ext cx="22238208" cy="4572000"/>
            </a:xfrm>
            <a:custGeom>
              <a:avLst/>
              <a:gdLst/>
              <a:ahLst/>
              <a:cxnLst/>
              <a:rect r="r" b="b" t="t" l="l"/>
              <a:pathLst>
                <a:path h="4572000" w="22238208">
                  <a:moveTo>
                    <a:pt x="0" y="182880"/>
                  </a:moveTo>
                  <a:cubicBezTo>
                    <a:pt x="0" y="81915"/>
                    <a:pt x="81915" y="0"/>
                    <a:pt x="182880" y="0"/>
                  </a:cubicBezTo>
                  <a:lnTo>
                    <a:pt x="22055328" y="0"/>
                  </a:lnTo>
                  <a:cubicBezTo>
                    <a:pt x="22156293" y="0"/>
                    <a:pt x="22238208" y="81915"/>
                    <a:pt x="22238208" y="182880"/>
                  </a:cubicBezTo>
                  <a:lnTo>
                    <a:pt x="22238208" y="4389120"/>
                  </a:lnTo>
                  <a:cubicBezTo>
                    <a:pt x="22238208" y="4490085"/>
                    <a:pt x="22156293" y="4572000"/>
                    <a:pt x="22055328" y="4572000"/>
                  </a:cubicBezTo>
                  <a:lnTo>
                    <a:pt x="182880" y="4572000"/>
                  </a:lnTo>
                  <a:cubicBezTo>
                    <a:pt x="81915" y="4572000"/>
                    <a:pt x="0" y="4490085"/>
                    <a:pt x="0" y="4389120"/>
                  </a:cubicBezTo>
                  <a:close/>
                </a:path>
              </a:pathLst>
            </a:custGeom>
            <a:solidFill>
              <a:srgbClr val="F3F5F8"/>
            </a:solidFill>
          </p:spPr>
          <p:txBody>
            <a:bodyPr/>
            <a:p/>
          </p:txBody>
        </p:sp>
      </p:grpSp>
      <p:sp>
        <p:nvSpPr>
          <p:cNvPr name="TextBox 22" id="22"/>
          <p:cNvSpPr txBox="true"/>
          <p:nvPr/>
        </p:nvSpPr>
        <p:spPr>
          <a:xfrm rot="0">
            <a:off x="1165860" y="6106668"/>
            <a:ext cx="15910560" cy="681990"/>
          </a:xfrm>
          <a:prstGeom prst="rect">
            <a:avLst/>
          </a:prstGeom>
        </p:spPr>
        <p:txBody>
          <a:bodyPr anchor="t" rtlCol="false" tIns="0" lIns="0" bIns="0" rIns="0">
            <a:spAutoFit/>
          </a:bodyPr>
          <a:lstStyle/>
          <a:p>
            <a:pPr algn="l">
              <a:lnSpc>
                <a:spcPts val="3059"/>
              </a:lnSpc>
            </a:pPr>
            <a:r>
              <a:rPr lang="en-US" sz="2700" b="true">
                <a:solidFill>
                  <a:srgbClr val="13294B"/>
                </a:solidFill>
                <a:latin typeface="Calibri (MS) Bold"/>
                <a:ea typeface="Calibri (MS) Bold"/>
                <a:cs typeface="Calibri (MS) Bold"/>
                <a:sym typeface="Calibri (MS) Bold"/>
              </a:rPr>
              <a:t>Ngoài phạm vi</a:t>
            </a:r>
          </a:p>
        </p:txBody>
      </p:sp>
      <p:sp>
        <p:nvSpPr>
          <p:cNvPr name="TextBox 23" id="23"/>
          <p:cNvSpPr txBox="true"/>
          <p:nvPr/>
        </p:nvSpPr>
        <p:spPr>
          <a:xfrm rot="0">
            <a:off x="1165860" y="6930390"/>
            <a:ext cx="7680960" cy="2739390"/>
          </a:xfrm>
          <a:prstGeom prst="rect">
            <a:avLst/>
          </a:prstGeom>
        </p:spPr>
        <p:txBody>
          <a:bodyPr anchor="t" rtlCol="false" tIns="0" lIns="0" bIns="0" rIns="0">
            <a:spAutoFit/>
          </a:bodyPr>
          <a:lstStyle/>
          <a:p>
            <a:pPr algn="l" marL="618064" indent="-154516" lvl="3">
              <a:lnSpc>
                <a:spcPts val="2699"/>
              </a:lnSpc>
              <a:buFont typeface="Arial"/>
              <a:buChar char="￭"/>
            </a:pPr>
            <a:r>
              <a:rPr lang="en-US" sz="2499">
                <a:solidFill>
                  <a:srgbClr val="243044"/>
                </a:solidFill>
                <a:latin typeface="Calibri (MS)"/>
                <a:ea typeface="Calibri (MS)"/>
                <a:cs typeface="Calibri (MS)"/>
                <a:sym typeface="Calibri (MS)"/>
              </a:rPr>
              <a:t>Full fine-tuning; train VLM từ đầu</a:t>
            </a:r>
          </a:p>
          <a:p>
            <a:pPr algn="l" marL="618064" indent="-154516" lvl="3">
              <a:lnSpc>
                <a:spcPts val="2699"/>
              </a:lnSpc>
              <a:buFont typeface="Arial"/>
              <a:buChar char="￭"/>
            </a:pPr>
            <a:r>
              <a:rPr lang="en-US" sz="2499">
                <a:solidFill>
                  <a:srgbClr val="243044"/>
                </a:solidFill>
                <a:latin typeface="Calibri (MS)"/>
                <a:ea typeface="Calibri (MS)"/>
                <a:cs typeface="Calibri (MS)"/>
                <a:sym typeface="Calibri (MS)"/>
              </a:rPr>
              <a:t>Câu trả lời dài, giải thích, hội thoại nhiều lượt</a:t>
            </a:r>
          </a:p>
        </p:txBody>
      </p:sp>
      <p:sp>
        <p:nvSpPr>
          <p:cNvPr name="TextBox 24" id="24"/>
          <p:cNvSpPr txBox="true"/>
          <p:nvPr/>
        </p:nvSpPr>
        <p:spPr>
          <a:xfrm rot="0">
            <a:off x="9326880" y="6930390"/>
            <a:ext cx="8001000" cy="2739390"/>
          </a:xfrm>
          <a:prstGeom prst="rect">
            <a:avLst/>
          </a:prstGeom>
        </p:spPr>
        <p:txBody>
          <a:bodyPr anchor="t" rtlCol="false" tIns="0" lIns="0" bIns="0" rIns="0">
            <a:spAutoFit/>
          </a:bodyPr>
          <a:lstStyle/>
          <a:p>
            <a:pPr algn="l" marL="618064" indent="-154516" lvl="3">
              <a:lnSpc>
                <a:spcPts val="2699"/>
              </a:lnSpc>
              <a:buFont typeface="Arial"/>
              <a:buChar char="￭"/>
            </a:pPr>
            <a:r>
              <a:rPr lang="en-US" sz="2499">
                <a:solidFill>
                  <a:srgbClr val="243044"/>
                </a:solidFill>
                <a:latin typeface="Calibri (MS)"/>
                <a:ea typeface="Calibri (MS)"/>
                <a:cs typeface="Calibri (MS)"/>
                <a:sym typeface="Calibri (MS)"/>
              </a:rPr>
              <a:t>Video; ngôn ngữ khác; train lại OCR</a:t>
            </a:r>
          </a:p>
          <a:p>
            <a:pPr algn="l" marL="618064" indent="-154516" lvl="3">
              <a:lnSpc>
                <a:spcPts val="2699"/>
              </a:lnSpc>
              <a:buFont typeface="Arial"/>
              <a:buChar char="￭"/>
            </a:pPr>
            <a:r>
              <a:rPr lang="en-US" sz="2499">
                <a:solidFill>
                  <a:srgbClr val="243044"/>
                </a:solidFill>
                <a:latin typeface="Calibri (MS)"/>
                <a:ea typeface="Calibri (MS)"/>
                <a:cs typeface="Calibri (MS)"/>
                <a:sym typeface="Calibri (MS)"/>
              </a:rPr>
              <a:t>RAG tri thức ngoài — chỉ khi phân tích lỗi đòi hỏi</a:t>
            </a:r>
          </a:p>
        </p:txBody>
      </p:sp>
      <p:grpSp>
        <p:nvGrpSpPr>
          <p:cNvPr name="Group 25" id="25"/>
          <p:cNvGrpSpPr/>
          <p:nvPr/>
        </p:nvGrpSpPr>
        <p:grpSpPr>
          <a:xfrm rot="0">
            <a:off x="15458732" y="0"/>
            <a:ext cx="2829306" cy="1184338"/>
            <a:chOff x="0" y="0"/>
            <a:chExt cx="3772408" cy="1579118"/>
          </a:xfrm>
        </p:grpSpPr>
        <p:sp>
          <p:nvSpPr>
            <p:cNvPr name="Freeform 26" id="2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4"/>
              <a:stretch>
                <a:fillRect l="0" t="0" r="0" b="0"/>
              </a:stretch>
            </a:blipFill>
          </p:spPr>
          <p:txBody>
            <a:bodyPr/>
            <a:p/>
          </p:txBody>
        </p:sp>
      </p:grpSp>
      <p:grpSp>
        <p:nvGrpSpPr>
          <p:cNvPr name="Group 27" id="27"/>
          <p:cNvGrpSpPr/>
          <p:nvPr/>
        </p:nvGrpSpPr>
        <p:grpSpPr>
          <a:xfrm rot="0">
            <a:off x="822960" y="9655969"/>
            <a:ext cx="13716000" cy="360320"/>
            <a:chOff x="0" y="0"/>
            <a:chExt cx="18288000" cy="480427"/>
          </a:xfrm>
        </p:grpSpPr>
        <p:sp>
          <p:nvSpPr>
            <p:cNvPr name="Freeform 28" id="28"/>
            <p:cNvSpPr/>
            <p:nvPr/>
          </p:nvSpPr>
          <p:spPr>
            <a:xfrm flipH="false" flipV="false" rot="0">
              <a:off x="0" y="0"/>
              <a:ext cx="18288000" cy="480427"/>
            </a:xfrm>
            <a:custGeom>
              <a:avLst/>
              <a:gdLst/>
              <a:ahLst/>
              <a:cxnLst/>
              <a:rect r="r" b="b" t="t" l="l"/>
              <a:pathLst>
                <a:path h="480427" w="18288000">
                  <a:moveTo>
                    <a:pt x="0" y="0"/>
                  </a:moveTo>
                  <a:lnTo>
                    <a:pt x="18288000" y="0"/>
                  </a:lnTo>
                  <a:lnTo>
                    <a:pt x="18288000" y="480427"/>
                  </a:lnTo>
                  <a:lnTo>
                    <a:pt x="0" y="480427"/>
                  </a:lnTo>
                  <a:close/>
                </a:path>
              </a:pathLst>
            </a:custGeom>
            <a:blipFill>
              <a:blip r:embed="rId5">
                <a:alphaModFix amt="0"/>
              </a:blip>
              <a:stretch>
                <a:fillRect l="0" t="-680655" r="0" b="-702784"/>
              </a:stretch>
            </a:blipFill>
          </p:spPr>
          <p:txBody>
            <a:bodyPr/>
            <a:p/>
          </p:txBody>
        </p:sp>
        <p:sp>
          <p:nvSpPr>
            <p:cNvPr name="TextBox 29" id="29"/>
            <p:cNvSpPr txBox="true"/>
            <p:nvPr/>
          </p:nvSpPr>
          <p:spPr>
            <a:xfrm>
              <a:off x="0" y="-38100"/>
              <a:ext cx="18288000" cy="518527"/>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1 · PHẠM VI · 05 · CÂU HỎI NGHIÊN CỨU</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Bốn câu hỏi nghiên cứu — RQ2 là trung tâm</a:t>
            </a:r>
          </a:p>
        </p:txBody>
      </p:sp>
      <p:sp>
        <p:nvSpPr>
          <p:cNvPr name="Freeform 6" id="6"/>
          <p:cNvSpPr/>
          <p:nvPr/>
        </p:nvSpPr>
        <p:spPr>
          <a:xfrm flipH="false" flipV="false" rot="0">
            <a:off x="806291" y="2040731"/>
            <a:ext cx="8079867" cy="3325178"/>
          </a:xfrm>
          <a:custGeom>
            <a:avLst/>
            <a:gdLst/>
            <a:ahLst/>
            <a:cxnLst/>
            <a:rect r="r" b="b" t="t" l="l"/>
            <a:pathLst>
              <a:path h="3325178" w="8079867">
                <a:moveTo>
                  <a:pt x="0" y="0"/>
                </a:moveTo>
                <a:lnTo>
                  <a:pt x="8079867" y="0"/>
                </a:lnTo>
                <a:lnTo>
                  <a:pt x="8079867" y="3325178"/>
                </a:lnTo>
                <a:lnTo>
                  <a:pt x="0" y="332517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7" id="7"/>
          <p:cNvSpPr txBox="true"/>
          <p:nvPr/>
        </p:nvSpPr>
        <p:spPr>
          <a:xfrm rot="0">
            <a:off x="1234440" y="2331720"/>
            <a:ext cx="1783080" cy="754380"/>
          </a:xfrm>
          <a:prstGeom prst="rect">
            <a:avLst/>
          </a:prstGeom>
        </p:spPr>
        <p:txBody>
          <a:bodyPr anchor="t" rtlCol="false" tIns="0" lIns="0" bIns="0" rIns="0">
            <a:spAutoFit/>
          </a:bodyPr>
          <a:lstStyle/>
          <a:p>
            <a:pPr algn="l">
              <a:lnSpc>
                <a:spcPts val="4680"/>
              </a:lnSpc>
            </a:pPr>
            <a:r>
              <a:rPr lang="en-US" sz="3900" b="true">
                <a:solidFill>
                  <a:srgbClr val="1C7293"/>
                </a:solidFill>
                <a:latin typeface="Cambria Bold"/>
                <a:ea typeface="Cambria Bold"/>
                <a:cs typeface="Cambria Bold"/>
                <a:sym typeface="Cambria Bold"/>
              </a:rPr>
              <a:t>RQ1</a:t>
            </a:r>
          </a:p>
        </p:txBody>
      </p:sp>
      <p:grpSp>
        <p:nvGrpSpPr>
          <p:cNvPr name="Group 8" id="8"/>
          <p:cNvGrpSpPr/>
          <p:nvPr/>
        </p:nvGrpSpPr>
        <p:grpSpPr>
          <a:xfrm rot="0">
            <a:off x="3017520" y="2400300"/>
            <a:ext cx="5440451" cy="685800"/>
            <a:chOff x="0" y="0"/>
            <a:chExt cx="7253935" cy="914400"/>
          </a:xfrm>
        </p:grpSpPr>
        <p:sp>
          <p:nvSpPr>
            <p:cNvPr name="Freeform 9" id="9"/>
            <p:cNvSpPr/>
            <p:nvPr/>
          </p:nvSpPr>
          <p:spPr>
            <a:xfrm flipH="false" flipV="false" rot="0">
              <a:off x="0" y="0"/>
              <a:ext cx="7253986" cy="914400"/>
            </a:xfrm>
            <a:custGeom>
              <a:avLst/>
              <a:gdLst/>
              <a:ahLst/>
              <a:cxnLst/>
              <a:rect r="r" b="b" t="t" l="l"/>
              <a:pathLst>
                <a:path h="914400" w="7253986">
                  <a:moveTo>
                    <a:pt x="0" y="0"/>
                  </a:moveTo>
                  <a:lnTo>
                    <a:pt x="7253986" y="0"/>
                  </a:lnTo>
                  <a:lnTo>
                    <a:pt x="7253986" y="914400"/>
                  </a:lnTo>
                  <a:lnTo>
                    <a:pt x="0" y="914400"/>
                  </a:lnTo>
                  <a:close/>
                </a:path>
              </a:pathLst>
            </a:custGeom>
            <a:blipFill>
              <a:blip r:embed="rId2">
                <a:alphaModFix amt="0"/>
              </a:blip>
              <a:stretch>
                <a:fillRect l="0" t="-104466" r="0" b="-104468"/>
              </a:stretch>
            </a:blipFill>
          </p:spPr>
          <p:txBody>
            <a:bodyPr/>
            <a:p/>
          </p:txBody>
        </p:sp>
      </p:grpSp>
      <p:grpSp>
        <p:nvGrpSpPr>
          <p:cNvPr name="Group 10" id="10"/>
          <p:cNvGrpSpPr/>
          <p:nvPr/>
        </p:nvGrpSpPr>
        <p:grpSpPr>
          <a:xfrm rot="0">
            <a:off x="3017520" y="2371725"/>
            <a:ext cx="5440451" cy="714375"/>
            <a:chOff x="0" y="0"/>
            <a:chExt cx="7253935" cy="952500"/>
          </a:xfrm>
        </p:grpSpPr>
        <p:sp>
          <p:nvSpPr>
            <p:cNvPr name="Freeform 11" id="11"/>
            <p:cNvSpPr/>
            <p:nvPr/>
          </p:nvSpPr>
          <p:spPr>
            <a:xfrm flipH="false" flipV="false" rot="0">
              <a:off x="0" y="0"/>
              <a:ext cx="7253935" cy="952500"/>
            </a:xfrm>
            <a:custGeom>
              <a:avLst/>
              <a:gdLst/>
              <a:ahLst/>
              <a:cxnLst/>
              <a:rect r="r" b="b" t="t" l="l"/>
              <a:pathLst>
                <a:path h="952500" w="7253935">
                  <a:moveTo>
                    <a:pt x="0" y="0"/>
                  </a:moveTo>
                  <a:lnTo>
                    <a:pt x="7253935" y="0"/>
                  </a:lnTo>
                  <a:lnTo>
                    <a:pt x="7253935" y="952500"/>
                  </a:lnTo>
                  <a:lnTo>
                    <a:pt x="0" y="952500"/>
                  </a:lnTo>
                  <a:close/>
                </a:path>
              </a:pathLst>
            </a:custGeom>
            <a:blipFill>
              <a:blip r:embed="rId5">
                <a:alphaModFix amt="0"/>
              </a:blip>
              <a:stretch>
                <a:fillRect l="0" t="-98391" r="0" b="-98391"/>
              </a:stretch>
            </a:blipFill>
          </p:spPr>
          <p:txBody>
            <a:bodyPr/>
            <a:p/>
          </p:txBody>
        </p:sp>
        <p:sp>
          <p:nvSpPr>
            <p:cNvPr name="TextBox 12" id="12"/>
            <p:cNvSpPr txBox="true"/>
            <p:nvPr/>
          </p:nvSpPr>
          <p:spPr>
            <a:xfrm>
              <a:off x="0" y="-38100"/>
              <a:ext cx="7253935" cy="990600"/>
            </a:xfrm>
            <a:prstGeom prst="rect">
              <a:avLst/>
            </a:prstGeom>
          </p:spPr>
          <p:txBody>
            <a:bodyPr anchor="ctr" rtlCol="false" tIns="0" lIns="0" bIns="0" rIns="0"/>
            <a:lstStyle/>
            <a:p>
              <a:pPr algn="l">
                <a:lnSpc>
                  <a:spcPts val="2879"/>
                </a:lnSpc>
              </a:pPr>
              <a:r>
                <a:rPr lang="en-US" sz="2400" b="true">
                  <a:solidFill>
                    <a:srgbClr val="13294B"/>
                  </a:solidFill>
                  <a:latin typeface="Calibri (MS) Bold"/>
                  <a:ea typeface="Calibri (MS) Bold"/>
                  <a:cs typeface="Calibri (MS) Bold"/>
                  <a:sym typeface="Calibri (MS) Bold"/>
                </a:rPr>
                <a:t>Zero-shot &amp; prompting</a:t>
              </a:r>
            </a:p>
          </p:txBody>
        </p:sp>
      </p:grpSp>
      <p:sp>
        <p:nvSpPr>
          <p:cNvPr name="TextBox 13" id="13"/>
          <p:cNvSpPr txBox="true"/>
          <p:nvPr/>
        </p:nvSpPr>
        <p:spPr>
          <a:xfrm rot="0">
            <a:off x="1234440" y="3196590"/>
            <a:ext cx="7223531" cy="146685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VLM đạt bao nhiêu khi zero-shot trên ViVQA / ViTextVQA, lỗi tiếng Việt nào (V1–V3) chiếm ưu thế, prompt tiếng Việt giúp được đến đâu?</a:t>
            </a:r>
          </a:p>
        </p:txBody>
      </p:sp>
      <p:sp>
        <p:nvSpPr>
          <p:cNvPr name="TextBox 14" id="14"/>
          <p:cNvSpPr txBox="true"/>
          <p:nvPr/>
        </p:nvSpPr>
        <p:spPr>
          <a:xfrm rot="0">
            <a:off x="1234440" y="4587240"/>
            <a:ext cx="7223531" cy="556260"/>
          </a:xfrm>
          <a:prstGeom prst="rect">
            <a:avLst/>
          </a:prstGeom>
        </p:spPr>
        <p:txBody>
          <a:bodyPr anchor="t" rtlCol="false" tIns="0" lIns="0" bIns="0" rIns="0">
            <a:spAutoFit/>
          </a:bodyPr>
          <a:lstStyle/>
          <a:p>
            <a:pPr algn="l">
              <a:lnSpc>
                <a:spcPts val="2160"/>
              </a:lnSpc>
            </a:pPr>
            <a:r>
              <a:rPr lang="en-US" sz="1800" i="true">
                <a:solidFill>
                  <a:srgbClr val="6B7280"/>
                </a:solidFill>
                <a:latin typeface="Calibri (MS) Italics"/>
                <a:ea typeface="Calibri (MS) Italics"/>
                <a:cs typeface="Calibri (MS) Italics"/>
                <a:sym typeface="Calibri (MS) Italics"/>
              </a:rPr>
              <a:t>Đo bằng: EM · VQA-Acc · ANLS</a:t>
            </a:r>
          </a:p>
        </p:txBody>
      </p:sp>
      <p:sp>
        <p:nvSpPr>
          <p:cNvPr name="Freeform 15" id="15"/>
          <p:cNvSpPr/>
          <p:nvPr/>
        </p:nvSpPr>
        <p:spPr>
          <a:xfrm flipH="false" flipV="false" rot="0">
            <a:off x="9401423" y="2040731"/>
            <a:ext cx="8079867" cy="3325178"/>
          </a:xfrm>
          <a:custGeom>
            <a:avLst/>
            <a:gdLst/>
            <a:ahLst/>
            <a:cxnLst/>
            <a:rect r="r" b="b" t="t" l="l"/>
            <a:pathLst>
              <a:path h="3325178" w="8079867">
                <a:moveTo>
                  <a:pt x="0" y="0"/>
                </a:moveTo>
                <a:lnTo>
                  <a:pt x="8079867" y="0"/>
                </a:lnTo>
                <a:lnTo>
                  <a:pt x="8079867" y="3325178"/>
                </a:lnTo>
                <a:lnTo>
                  <a:pt x="0" y="332517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TextBox 16" id="16"/>
          <p:cNvSpPr txBox="true"/>
          <p:nvPr/>
        </p:nvSpPr>
        <p:spPr>
          <a:xfrm rot="0">
            <a:off x="9829571" y="2331720"/>
            <a:ext cx="1783080" cy="754380"/>
          </a:xfrm>
          <a:prstGeom prst="rect">
            <a:avLst/>
          </a:prstGeom>
        </p:spPr>
        <p:txBody>
          <a:bodyPr anchor="t" rtlCol="false" tIns="0" lIns="0" bIns="0" rIns="0">
            <a:spAutoFit/>
          </a:bodyPr>
          <a:lstStyle/>
          <a:p>
            <a:pPr algn="l">
              <a:lnSpc>
                <a:spcPts val="4680"/>
              </a:lnSpc>
            </a:pPr>
            <a:r>
              <a:rPr lang="en-US" sz="3900" b="true">
                <a:solidFill>
                  <a:srgbClr val="E8A33D"/>
                </a:solidFill>
                <a:latin typeface="Cambria Bold"/>
                <a:ea typeface="Cambria Bold"/>
                <a:cs typeface="Cambria Bold"/>
                <a:sym typeface="Cambria Bold"/>
              </a:rPr>
              <a:t>RQ2</a:t>
            </a:r>
          </a:p>
        </p:txBody>
      </p:sp>
      <p:grpSp>
        <p:nvGrpSpPr>
          <p:cNvPr name="Group 17" id="17"/>
          <p:cNvGrpSpPr/>
          <p:nvPr/>
        </p:nvGrpSpPr>
        <p:grpSpPr>
          <a:xfrm rot="0">
            <a:off x="11612651" y="2400300"/>
            <a:ext cx="5440451" cy="685800"/>
            <a:chOff x="0" y="0"/>
            <a:chExt cx="7253935" cy="914400"/>
          </a:xfrm>
        </p:grpSpPr>
        <p:sp>
          <p:nvSpPr>
            <p:cNvPr name="Freeform 18" id="18"/>
            <p:cNvSpPr/>
            <p:nvPr/>
          </p:nvSpPr>
          <p:spPr>
            <a:xfrm flipH="false" flipV="false" rot="0">
              <a:off x="0" y="0"/>
              <a:ext cx="7253986" cy="914400"/>
            </a:xfrm>
            <a:custGeom>
              <a:avLst/>
              <a:gdLst/>
              <a:ahLst/>
              <a:cxnLst/>
              <a:rect r="r" b="b" t="t" l="l"/>
              <a:pathLst>
                <a:path h="914400" w="7253986">
                  <a:moveTo>
                    <a:pt x="0" y="0"/>
                  </a:moveTo>
                  <a:lnTo>
                    <a:pt x="7253986" y="0"/>
                  </a:lnTo>
                  <a:lnTo>
                    <a:pt x="7253986" y="914400"/>
                  </a:lnTo>
                  <a:lnTo>
                    <a:pt x="0" y="914400"/>
                  </a:lnTo>
                  <a:close/>
                </a:path>
              </a:pathLst>
            </a:custGeom>
            <a:blipFill>
              <a:blip r:embed="rId2">
                <a:alphaModFix amt="0"/>
              </a:blip>
              <a:stretch>
                <a:fillRect l="0" t="-104466" r="0" b="-104468"/>
              </a:stretch>
            </a:blipFill>
          </p:spPr>
          <p:txBody>
            <a:bodyPr/>
            <a:p/>
          </p:txBody>
        </p:sp>
      </p:grpSp>
      <p:grpSp>
        <p:nvGrpSpPr>
          <p:cNvPr name="Group 19" id="19"/>
          <p:cNvGrpSpPr/>
          <p:nvPr/>
        </p:nvGrpSpPr>
        <p:grpSpPr>
          <a:xfrm rot="0">
            <a:off x="11612651" y="2371725"/>
            <a:ext cx="5440451" cy="714375"/>
            <a:chOff x="0" y="0"/>
            <a:chExt cx="7253935" cy="952500"/>
          </a:xfrm>
        </p:grpSpPr>
        <p:sp>
          <p:nvSpPr>
            <p:cNvPr name="Freeform 20" id="20"/>
            <p:cNvSpPr/>
            <p:nvPr/>
          </p:nvSpPr>
          <p:spPr>
            <a:xfrm flipH="false" flipV="false" rot="0">
              <a:off x="0" y="0"/>
              <a:ext cx="7253935" cy="952500"/>
            </a:xfrm>
            <a:custGeom>
              <a:avLst/>
              <a:gdLst/>
              <a:ahLst/>
              <a:cxnLst/>
              <a:rect r="r" b="b" t="t" l="l"/>
              <a:pathLst>
                <a:path h="952500" w="7253935">
                  <a:moveTo>
                    <a:pt x="0" y="0"/>
                  </a:moveTo>
                  <a:lnTo>
                    <a:pt x="7253935" y="0"/>
                  </a:lnTo>
                  <a:lnTo>
                    <a:pt x="7253935" y="952500"/>
                  </a:lnTo>
                  <a:lnTo>
                    <a:pt x="0" y="952500"/>
                  </a:lnTo>
                  <a:close/>
                </a:path>
              </a:pathLst>
            </a:custGeom>
            <a:blipFill>
              <a:blip r:embed="rId5">
                <a:alphaModFix amt="0"/>
              </a:blip>
              <a:stretch>
                <a:fillRect l="0" t="-98391" r="0" b="-98391"/>
              </a:stretch>
            </a:blipFill>
          </p:spPr>
          <p:txBody>
            <a:bodyPr/>
            <a:p/>
          </p:txBody>
        </p:sp>
        <p:sp>
          <p:nvSpPr>
            <p:cNvPr name="TextBox 21" id="21"/>
            <p:cNvSpPr txBox="true"/>
            <p:nvPr/>
          </p:nvSpPr>
          <p:spPr>
            <a:xfrm>
              <a:off x="0" y="-38100"/>
              <a:ext cx="7253935" cy="990600"/>
            </a:xfrm>
            <a:prstGeom prst="rect">
              <a:avLst/>
            </a:prstGeom>
          </p:spPr>
          <p:txBody>
            <a:bodyPr anchor="ctr" rtlCol="false" tIns="0" lIns="0" bIns="0" rIns="0"/>
            <a:lstStyle/>
            <a:p>
              <a:pPr algn="l">
                <a:lnSpc>
                  <a:spcPts val="2879"/>
                </a:lnSpc>
              </a:pPr>
              <a:r>
                <a:rPr lang="en-US" sz="2400" b="true">
                  <a:solidFill>
                    <a:srgbClr val="13294B"/>
                  </a:solidFill>
                  <a:latin typeface="Calibri (MS) Bold"/>
                  <a:ea typeface="Calibri (MS) Bold"/>
                  <a:cs typeface="Calibri (MS) Bold"/>
                  <a:sym typeface="Calibri (MS) Bold"/>
                </a:rPr>
                <a:t>PEFT (QLoRA) so với zero-shot — trung tâm</a:t>
              </a:r>
            </a:p>
          </p:txBody>
        </p:sp>
      </p:grpSp>
      <p:sp>
        <p:nvSpPr>
          <p:cNvPr name="TextBox 22" id="22"/>
          <p:cNvSpPr txBox="true"/>
          <p:nvPr/>
        </p:nvSpPr>
        <p:spPr>
          <a:xfrm rot="0">
            <a:off x="9829571" y="3196590"/>
            <a:ext cx="7223531" cy="146685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QLoRA cải thiện bao nhiêu so với zero-shot / prompting, không full fine-tuning?</a:t>
            </a:r>
          </a:p>
        </p:txBody>
      </p:sp>
      <p:sp>
        <p:nvSpPr>
          <p:cNvPr name="TextBox 23" id="23"/>
          <p:cNvSpPr txBox="true"/>
          <p:nvPr/>
        </p:nvSpPr>
        <p:spPr>
          <a:xfrm rot="0">
            <a:off x="9829571" y="4587240"/>
            <a:ext cx="7223531" cy="556260"/>
          </a:xfrm>
          <a:prstGeom prst="rect">
            <a:avLst/>
          </a:prstGeom>
        </p:spPr>
        <p:txBody>
          <a:bodyPr anchor="t" rtlCol="false" tIns="0" lIns="0" bIns="0" rIns="0">
            <a:spAutoFit/>
          </a:bodyPr>
          <a:lstStyle/>
          <a:p>
            <a:pPr algn="l">
              <a:lnSpc>
                <a:spcPts val="2160"/>
              </a:lnSpc>
            </a:pPr>
            <a:r>
              <a:rPr lang="en-US" sz="1800" i="true">
                <a:solidFill>
                  <a:srgbClr val="6B7280"/>
                </a:solidFill>
                <a:latin typeface="Calibri (MS) Italics"/>
                <a:ea typeface="Calibri (MS) Italics"/>
                <a:cs typeface="Calibri (MS) Italics"/>
                <a:sym typeface="Calibri (MS) Italics"/>
              </a:rPr>
              <a:t>Đo bằng: EM · VQA-Acc · ANLS</a:t>
            </a:r>
          </a:p>
        </p:txBody>
      </p:sp>
      <p:sp>
        <p:nvSpPr>
          <p:cNvPr name="Freeform 24" id="24"/>
          <p:cNvSpPr/>
          <p:nvPr/>
        </p:nvSpPr>
        <p:spPr>
          <a:xfrm flipH="false" flipV="false" rot="0">
            <a:off x="806291" y="5744051"/>
            <a:ext cx="8079867" cy="3325178"/>
          </a:xfrm>
          <a:custGeom>
            <a:avLst/>
            <a:gdLst/>
            <a:ahLst/>
            <a:cxnLst/>
            <a:rect r="r" b="b" t="t" l="l"/>
            <a:pathLst>
              <a:path h="3325178" w="8079867">
                <a:moveTo>
                  <a:pt x="0" y="0"/>
                </a:moveTo>
                <a:lnTo>
                  <a:pt x="8079867" y="0"/>
                </a:lnTo>
                <a:lnTo>
                  <a:pt x="8079867" y="3325178"/>
                </a:lnTo>
                <a:lnTo>
                  <a:pt x="0" y="332517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25" id="25"/>
          <p:cNvSpPr txBox="true"/>
          <p:nvPr/>
        </p:nvSpPr>
        <p:spPr>
          <a:xfrm rot="0">
            <a:off x="1234440" y="6035040"/>
            <a:ext cx="1783080" cy="754380"/>
          </a:xfrm>
          <a:prstGeom prst="rect">
            <a:avLst/>
          </a:prstGeom>
        </p:spPr>
        <p:txBody>
          <a:bodyPr anchor="t" rtlCol="false" tIns="0" lIns="0" bIns="0" rIns="0">
            <a:spAutoFit/>
          </a:bodyPr>
          <a:lstStyle/>
          <a:p>
            <a:pPr algn="l">
              <a:lnSpc>
                <a:spcPts val="4680"/>
              </a:lnSpc>
            </a:pPr>
            <a:r>
              <a:rPr lang="en-US" sz="3900" b="true">
                <a:solidFill>
                  <a:srgbClr val="1C7293"/>
                </a:solidFill>
                <a:latin typeface="Cambria Bold"/>
                <a:ea typeface="Cambria Bold"/>
                <a:cs typeface="Cambria Bold"/>
                <a:sym typeface="Cambria Bold"/>
              </a:rPr>
              <a:t>RQ3</a:t>
            </a:r>
          </a:p>
        </p:txBody>
      </p:sp>
      <p:grpSp>
        <p:nvGrpSpPr>
          <p:cNvPr name="Group 26" id="26"/>
          <p:cNvGrpSpPr/>
          <p:nvPr/>
        </p:nvGrpSpPr>
        <p:grpSpPr>
          <a:xfrm rot="0">
            <a:off x="3017520" y="6103620"/>
            <a:ext cx="5440451" cy="685800"/>
            <a:chOff x="0" y="0"/>
            <a:chExt cx="7253935" cy="914400"/>
          </a:xfrm>
        </p:grpSpPr>
        <p:sp>
          <p:nvSpPr>
            <p:cNvPr name="Freeform 27" id="27"/>
            <p:cNvSpPr/>
            <p:nvPr/>
          </p:nvSpPr>
          <p:spPr>
            <a:xfrm flipH="false" flipV="false" rot="0">
              <a:off x="0" y="0"/>
              <a:ext cx="7253986" cy="914400"/>
            </a:xfrm>
            <a:custGeom>
              <a:avLst/>
              <a:gdLst/>
              <a:ahLst/>
              <a:cxnLst/>
              <a:rect r="r" b="b" t="t" l="l"/>
              <a:pathLst>
                <a:path h="914400" w="7253986">
                  <a:moveTo>
                    <a:pt x="0" y="0"/>
                  </a:moveTo>
                  <a:lnTo>
                    <a:pt x="7253986" y="0"/>
                  </a:lnTo>
                  <a:lnTo>
                    <a:pt x="7253986" y="914400"/>
                  </a:lnTo>
                  <a:lnTo>
                    <a:pt x="0" y="914400"/>
                  </a:lnTo>
                  <a:close/>
                </a:path>
              </a:pathLst>
            </a:custGeom>
            <a:blipFill>
              <a:blip r:embed="rId2">
                <a:alphaModFix amt="0"/>
              </a:blip>
              <a:stretch>
                <a:fillRect l="0" t="-104466" r="0" b="-104468"/>
              </a:stretch>
            </a:blipFill>
          </p:spPr>
          <p:txBody>
            <a:bodyPr/>
            <a:p/>
          </p:txBody>
        </p:sp>
      </p:grpSp>
      <p:grpSp>
        <p:nvGrpSpPr>
          <p:cNvPr name="Group 28" id="28"/>
          <p:cNvGrpSpPr/>
          <p:nvPr/>
        </p:nvGrpSpPr>
        <p:grpSpPr>
          <a:xfrm rot="0">
            <a:off x="3017520" y="6075045"/>
            <a:ext cx="5440451" cy="714375"/>
            <a:chOff x="0" y="0"/>
            <a:chExt cx="7253935" cy="952500"/>
          </a:xfrm>
        </p:grpSpPr>
        <p:sp>
          <p:nvSpPr>
            <p:cNvPr name="Freeform 29" id="29"/>
            <p:cNvSpPr/>
            <p:nvPr/>
          </p:nvSpPr>
          <p:spPr>
            <a:xfrm flipH="false" flipV="false" rot="0">
              <a:off x="0" y="0"/>
              <a:ext cx="7253935" cy="952500"/>
            </a:xfrm>
            <a:custGeom>
              <a:avLst/>
              <a:gdLst/>
              <a:ahLst/>
              <a:cxnLst/>
              <a:rect r="r" b="b" t="t" l="l"/>
              <a:pathLst>
                <a:path h="952500" w="7253935">
                  <a:moveTo>
                    <a:pt x="0" y="0"/>
                  </a:moveTo>
                  <a:lnTo>
                    <a:pt x="7253935" y="0"/>
                  </a:lnTo>
                  <a:lnTo>
                    <a:pt x="7253935" y="952500"/>
                  </a:lnTo>
                  <a:lnTo>
                    <a:pt x="0" y="952500"/>
                  </a:lnTo>
                  <a:close/>
                </a:path>
              </a:pathLst>
            </a:custGeom>
            <a:blipFill>
              <a:blip r:embed="rId5">
                <a:alphaModFix amt="0"/>
              </a:blip>
              <a:stretch>
                <a:fillRect l="0" t="-98391" r="0" b="-98391"/>
              </a:stretch>
            </a:blipFill>
          </p:spPr>
          <p:txBody>
            <a:bodyPr/>
            <a:p/>
          </p:txBody>
        </p:sp>
        <p:sp>
          <p:nvSpPr>
            <p:cNvPr name="TextBox 30" id="30"/>
            <p:cNvSpPr txBox="true"/>
            <p:nvPr/>
          </p:nvSpPr>
          <p:spPr>
            <a:xfrm>
              <a:off x="0" y="-38100"/>
              <a:ext cx="7253935" cy="990600"/>
            </a:xfrm>
            <a:prstGeom prst="rect">
              <a:avLst/>
            </a:prstGeom>
          </p:spPr>
          <p:txBody>
            <a:bodyPr anchor="ctr" rtlCol="false" tIns="0" lIns="0" bIns="0" rIns="0"/>
            <a:lstStyle/>
            <a:p>
              <a:pPr algn="l">
                <a:lnSpc>
                  <a:spcPts val="2879"/>
                </a:lnSpc>
              </a:pPr>
              <a:r>
                <a:rPr lang="en-US" sz="2400" b="true">
                  <a:solidFill>
                    <a:srgbClr val="13294B"/>
                  </a:solidFill>
                  <a:latin typeface="Calibri (MS) Bold"/>
                  <a:ea typeface="Calibri (MS) Bold"/>
                  <a:cs typeface="Calibri (MS) Bold"/>
                  <a:sym typeface="Calibri (MS) Bold"/>
                </a:rPr>
                <a:t>OCR tiếng Việt × QLoRA trên ViTextVQA</a:t>
              </a:r>
            </a:p>
          </p:txBody>
        </p:sp>
      </p:grpSp>
      <p:sp>
        <p:nvSpPr>
          <p:cNvPr name="TextBox 31" id="31"/>
          <p:cNvSpPr txBox="true"/>
          <p:nvPr/>
        </p:nvSpPr>
        <p:spPr>
          <a:xfrm rot="0">
            <a:off x="1234440" y="6899910"/>
            <a:ext cx="7223531" cy="146685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Chữ OCR có dấu, sắp trái-trên → phải-dưới, có giúp đọc chữ trong ảnh không, và có cộng hưởng với QLoRA không?</a:t>
            </a:r>
          </a:p>
        </p:txBody>
      </p:sp>
      <p:sp>
        <p:nvSpPr>
          <p:cNvPr name="TextBox 32" id="32"/>
          <p:cNvSpPr txBox="true"/>
          <p:nvPr/>
        </p:nvSpPr>
        <p:spPr>
          <a:xfrm rot="0">
            <a:off x="1234440" y="8290560"/>
            <a:ext cx="7223531" cy="556260"/>
          </a:xfrm>
          <a:prstGeom prst="rect">
            <a:avLst/>
          </a:prstGeom>
        </p:spPr>
        <p:txBody>
          <a:bodyPr anchor="t" rtlCol="false" tIns="0" lIns="0" bIns="0" rIns="0">
            <a:spAutoFit/>
          </a:bodyPr>
          <a:lstStyle/>
          <a:p>
            <a:pPr algn="l">
              <a:lnSpc>
                <a:spcPts val="2160"/>
              </a:lnSpc>
            </a:pPr>
            <a:r>
              <a:rPr lang="en-US" sz="1800" i="true">
                <a:solidFill>
                  <a:srgbClr val="6B7280"/>
                </a:solidFill>
                <a:latin typeface="Calibri (MS) Italics"/>
                <a:ea typeface="Calibri (MS) Italics"/>
                <a:cs typeface="Calibri (MS) Italics"/>
                <a:sym typeface="Calibri (MS) Italics"/>
              </a:rPr>
              <a:t>Đo bằng: ANLS · EM</a:t>
            </a:r>
          </a:p>
        </p:txBody>
      </p:sp>
      <p:sp>
        <p:nvSpPr>
          <p:cNvPr name="Freeform 33" id="33"/>
          <p:cNvSpPr/>
          <p:nvPr/>
        </p:nvSpPr>
        <p:spPr>
          <a:xfrm flipH="false" flipV="false" rot="0">
            <a:off x="9401423" y="5744051"/>
            <a:ext cx="8079867" cy="3325178"/>
          </a:xfrm>
          <a:custGeom>
            <a:avLst/>
            <a:gdLst/>
            <a:ahLst/>
            <a:cxnLst/>
            <a:rect r="r" b="b" t="t" l="l"/>
            <a:pathLst>
              <a:path h="3325178" w="8079867">
                <a:moveTo>
                  <a:pt x="0" y="0"/>
                </a:moveTo>
                <a:lnTo>
                  <a:pt x="8079867" y="0"/>
                </a:lnTo>
                <a:lnTo>
                  <a:pt x="8079867" y="3325178"/>
                </a:lnTo>
                <a:lnTo>
                  <a:pt x="0" y="332517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34" id="34"/>
          <p:cNvSpPr txBox="true"/>
          <p:nvPr/>
        </p:nvSpPr>
        <p:spPr>
          <a:xfrm rot="0">
            <a:off x="9829571" y="6035040"/>
            <a:ext cx="1783080" cy="754380"/>
          </a:xfrm>
          <a:prstGeom prst="rect">
            <a:avLst/>
          </a:prstGeom>
        </p:spPr>
        <p:txBody>
          <a:bodyPr anchor="t" rtlCol="false" tIns="0" lIns="0" bIns="0" rIns="0">
            <a:spAutoFit/>
          </a:bodyPr>
          <a:lstStyle/>
          <a:p>
            <a:pPr algn="l">
              <a:lnSpc>
                <a:spcPts val="4680"/>
              </a:lnSpc>
            </a:pPr>
            <a:r>
              <a:rPr lang="en-US" sz="3900" b="true">
                <a:solidFill>
                  <a:srgbClr val="1C7293"/>
                </a:solidFill>
                <a:latin typeface="Cambria Bold"/>
                <a:ea typeface="Cambria Bold"/>
                <a:cs typeface="Cambria Bold"/>
                <a:sym typeface="Cambria Bold"/>
              </a:rPr>
              <a:t>RQ4</a:t>
            </a:r>
          </a:p>
        </p:txBody>
      </p:sp>
      <p:grpSp>
        <p:nvGrpSpPr>
          <p:cNvPr name="Group 35" id="35"/>
          <p:cNvGrpSpPr/>
          <p:nvPr/>
        </p:nvGrpSpPr>
        <p:grpSpPr>
          <a:xfrm rot="0">
            <a:off x="11612651" y="6103620"/>
            <a:ext cx="5440451" cy="685800"/>
            <a:chOff x="0" y="0"/>
            <a:chExt cx="7253935" cy="914400"/>
          </a:xfrm>
        </p:grpSpPr>
        <p:sp>
          <p:nvSpPr>
            <p:cNvPr name="Freeform 36" id="36"/>
            <p:cNvSpPr/>
            <p:nvPr/>
          </p:nvSpPr>
          <p:spPr>
            <a:xfrm flipH="false" flipV="false" rot="0">
              <a:off x="0" y="0"/>
              <a:ext cx="7253986" cy="914400"/>
            </a:xfrm>
            <a:custGeom>
              <a:avLst/>
              <a:gdLst/>
              <a:ahLst/>
              <a:cxnLst/>
              <a:rect r="r" b="b" t="t" l="l"/>
              <a:pathLst>
                <a:path h="914400" w="7253986">
                  <a:moveTo>
                    <a:pt x="0" y="0"/>
                  </a:moveTo>
                  <a:lnTo>
                    <a:pt x="7253986" y="0"/>
                  </a:lnTo>
                  <a:lnTo>
                    <a:pt x="7253986" y="914400"/>
                  </a:lnTo>
                  <a:lnTo>
                    <a:pt x="0" y="914400"/>
                  </a:lnTo>
                  <a:close/>
                </a:path>
              </a:pathLst>
            </a:custGeom>
            <a:blipFill>
              <a:blip r:embed="rId2">
                <a:alphaModFix amt="0"/>
              </a:blip>
              <a:stretch>
                <a:fillRect l="0" t="-104466" r="0" b="-104468"/>
              </a:stretch>
            </a:blipFill>
          </p:spPr>
          <p:txBody>
            <a:bodyPr/>
            <a:p/>
          </p:txBody>
        </p:sp>
      </p:grpSp>
      <p:grpSp>
        <p:nvGrpSpPr>
          <p:cNvPr name="Group 37" id="37"/>
          <p:cNvGrpSpPr/>
          <p:nvPr/>
        </p:nvGrpSpPr>
        <p:grpSpPr>
          <a:xfrm rot="0">
            <a:off x="11612651" y="6075045"/>
            <a:ext cx="5440451" cy="714375"/>
            <a:chOff x="0" y="0"/>
            <a:chExt cx="7253935" cy="952500"/>
          </a:xfrm>
        </p:grpSpPr>
        <p:sp>
          <p:nvSpPr>
            <p:cNvPr name="Freeform 38" id="38"/>
            <p:cNvSpPr/>
            <p:nvPr/>
          </p:nvSpPr>
          <p:spPr>
            <a:xfrm flipH="false" flipV="false" rot="0">
              <a:off x="0" y="0"/>
              <a:ext cx="7253935" cy="952500"/>
            </a:xfrm>
            <a:custGeom>
              <a:avLst/>
              <a:gdLst/>
              <a:ahLst/>
              <a:cxnLst/>
              <a:rect r="r" b="b" t="t" l="l"/>
              <a:pathLst>
                <a:path h="952500" w="7253935">
                  <a:moveTo>
                    <a:pt x="0" y="0"/>
                  </a:moveTo>
                  <a:lnTo>
                    <a:pt x="7253935" y="0"/>
                  </a:lnTo>
                  <a:lnTo>
                    <a:pt x="7253935" y="952500"/>
                  </a:lnTo>
                  <a:lnTo>
                    <a:pt x="0" y="952500"/>
                  </a:lnTo>
                  <a:close/>
                </a:path>
              </a:pathLst>
            </a:custGeom>
            <a:blipFill>
              <a:blip r:embed="rId5">
                <a:alphaModFix amt="0"/>
              </a:blip>
              <a:stretch>
                <a:fillRect l="0" t="-98391" r="0" b="-98391"/>
              </a:stretch>
            </a:blipFill>
          </p:spPr>
          <p:txBody>
            <a:bodyPr/>
            <a:p/>
          </p:txBody>
        </p:sp>
        <p:sp>
          <p:nvSpPr>
            <p:cNvPr name="TextBox 39" id="39"/>
            <p:cNvSpPr txBox="true"/>
            <p:nvPr/>
          </p:nvSpPr>
          <p:spPr>
            <a:xfrm>
              <a:off x="0" y="-38100"/>
              <a:ext cx="7253935" cy="990600"/>
            </a:xfrm>
            <a:prstGeom prst="rect">
              <a:avLst/>
            </a:prstGeom>
          </p:spPr>
          <p:txBody>
            <a:bodyPr anchor="ctr" rtlCol="false" tIns="0" lIns="0" bIns="0" rIns="0"/>
            <a:lstStyle/>
            <a:p>
              <a:pPr algn="l">
                <a:lnSpc>
                  <a:spcPts val="2879"/>
                </a:lnSpc>
              </a:pPr>
              <a:r>
                <a:rPr lang="en-US" sz="2400" b="true">
                  <a:solidFill>
                    <a:srgbClr val="13294B"/>
                  </a:solidFill>
                  <a:latin typeface="Calibri (MS) Bold"/>
                  <a:ea typeface="Calibri (MS) Bold"/>
                  <a:cs typeface="Calibri (MS) Bold"/>
                  <a:sym typeface="Calibri (MS) Bold"/>
                </a:rPr>
                <a:t>QLoRA và hallucination</a:t>
              </a:r>
            </a:p>
          </p:txBody>
        </p:sp>
      </p:grpSp>
      <p:sp>
        <p:nvSpPr>
          <p:cNvPr name="TextBox 40" id="40"/>
          <p:cNvSpPr txBox="true"/>
          <p:nvPr/>
        </p:nvSpPr>
        <p:spPr>
          <a:xfrm rot="0">
            <a:off x="9829571" y="6899910"/>
            <a:ext cx="7223531" cy="146685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Sau khi thích nghi bằng QLoRA, model bịa nội dung nhiều hơn hay ít hơn?</a:t>
            </a:r>
          </a:p>
        </p:txBody>
      </p:sp>
      <p:sp>
        <p:nvSpPr>
          <p:cNvPr name="TextBox 41" id="41"/>
          <p:cNvSpPr txBox="true"/>
          <p:nvPr/>
        </p:nvSpPr>
        <p:spPr>
          <a:xfrm rot="0">
            <a:off x="9829571" y="8290560"/>
            <a:ext cx="7223531" cy="556260"/>
          </a:xfrm>
          <a:prstGeom prst="rect">
            <a:avLst/>
          </a:prstGeom>
        </p:spPr>
        <p:txBody>
          <a:bodyPr anchor="t" rtlCol="false" tIns="0" lIns="0" bIns="0" rIns="0">
            <a:spAutoFit/>
          </a:bodyPr>
          <a:lstStyle/>
          <a:p>
            <a:pPr algn="l">
              <a:lnSpc>
                <a:spcPts val="2160"/>
              </a:lnSpc>
            </a:pPr>
            <a:r>
              <a:rPr lang="en-US" sz="1800" i="true">
                <a:solidFill>
                  <a:srgbClr val="6B7280"/>
                </a:solidFill>
                <a:latin typeface="Calibri (MS) Italics"/>
                <a:ea typeface="Calibri (MS) Italics"/>
                <a:cs typeface="Calibri (MS) Italics"/>
                <a:sym typeface="Calibri (MS) Italics"/>
              </a:rPr>
              <a:t>Đo bằng: Kiểu POPE (vi) + duyệt tay</a:t>
            </a:r>
          </a:p>
        </p:txBody>
      </p:sp>
      <p:grpSp>
        <p:nvGrpSpPr>
          <p:cNvPr name="Group 42" id="42"/>
          <p:cNvGrpSpPr/>
          <p:nvPr/>
        </p:nvGrpSpPr>
        <p:grpSpPr>
          <a:xfrm rot="0">
            <a:off x="15458732" y="0"/>
            <a:ext cx="2829268" cy="1184338"/>
            <a:chOff x="0" y="0"/>
            <a:chExt cx="3772357" cy="1579118"/>
          </a:xfrm>
        </p:grpSpPr>
        <p:sp>
          <p:nvSpPr>
            <p:cNvPr name="Freeform 43" id="43"/>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8"/>
              <a:stretch>
                <a:fillRect l="0" t="0" r="1" b="0"/>
              </a:stretch>
            </a:blipFill>
          </p:spPr>
          <p:txBody>
            <a:bodyPr/>
            <a:p/>
          </p:txBody>
        </p:sp>
      </p:grpSp>
      <p:grpSp>
        <p:nvGrpSpPr>
          <p:cNvPr name="Group 44" id="44"/>
          <p:cNvGrpSpPr/>
          <p:nvPr/>
        </p:nvGrpSpPr>
        <p:grpSpPr>
          <a:xfrm rot="0">
            <a:off x="822960" y="9655969"/>
            <a:ext cx="13716000" cy="360320"/>
            <a:chOff x="0" y="0"/>
            <a:chExt cx="18288000" cy="480427"/>
          </a:xfrm>
        </p:grpSpPr>
        <p:sp>
          <p:nvSpPr>
            <p:cNvPr name="Freeform 45" id="45"/>
            <p:cNvSpPr/>
            <p:nvPr/>
          </p:nvSpPr>
          <p:spPr>
            <a:xfrm flipH="false" flipV="false" rot="0">
              <a:off x="0" y="0"/>
              <a:ext cx="18288000" cy="480427"/>
            </a:xfrm>
            <a:custGeom>
              <a:avLst/>
              <a:gdLst/>
              <a:ahLst/>
              <a:cxnLst/>
              <a:rect r="r" b="b" t="t" l="l"/>
              <a:pathLst>
                <a:path h="480427" w="18288000">
                  <a:moveTo>
                    <a:pt x="0" y="0"/>
                  </a:moveTo>
                  <a:lnTo>
                    <a:pt x="18288000" y="0"/>
                  </a:lnTo>
                  <a:lnTo>
                    <a:pt x="18288000" y="480427"/>
                  </a:lnTo>
                  <a:lnTo>
                    <a:pt x="0" y="480427"/>
                  </a:lnTo>
                  <a:close/>
                </a:path>
              </a:pathLst>
            </a:custGeom>
            <a:blipFill>
              <a:blip r:embed="rId5">
                <a:alphaModFix amt="0"/>
              </a:blip>
              <a:stretch>
                <a:fillRect l="0" t="-680655" r="0" b="-702784"/>
              </a:stretch>
            </a:blipFill>
          </p:spPr>
          <p:txBody>
            <a:bodyPr/>
            <a:p/>
          </p:txBody>
        </p:sp>
        <p:sp>
          <p:nvSpPr>
            <p:cNvPr name="TextBox 46" id="46"/>
            <p:cNvSpPr txBox="true"/>
            <p:nvPr/>
          </p:nvSpPr>
          <p:spPr>
            <a:xfrm>
              <a:off x="0" y="-38100"/>
              <a:ext cx="18288000" cy="518527"/>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sp>
        <p:nvSpPr>
          <p:cNvPr name="TextBox 6" id="6"/>
          <p:cNvSpPr txBox="true"/>
          <p:nvPr/>
        </p:nvSpPr>
        <p:spPr>
          <a:xfrm rot="0">
            <a:off x="822960" y="353187"/>
            <a:ext cx="16641623" cy="497205"/>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1 · PHẠM VI · 06 · GIẢ THUYẾT</a:t>
            </a:r>
          </a:p>
        </p:txBody>
      </p:sp>
      <p:grpSp>
        <p:nvGrpSpPr>
          <p:cNvPr name="Group 7" id="7"/>
          <p:cNvGrpSpPr/>
          <p:nvPr/>
        </p:nvGrpSpPr>
        <p:grpSpPr>
          <a:xfrm rot="0">
            <a:off x="16075562" y="0"/>
            <a:ext cx="2212467" cy="926125"/>
            <a:chOff x="0" y="0"/>
            <a:chExt cx="2949956" cy="1234834"/>
          </a:xfrm>
        </p:grpSpPr>
        <p:sp>
          <p:nvSpPr>
            <p:cNvPr name="Freeform 8" id="8"/>
            <p:cNvSpPr/>
            <p:nvPr/>
          </p:nvSpPr>
          <p:spPr>
            <a:xfrm flipH="false" flipV="false" rot="0">
              <a:off x="0" y="0"/>
              <a:ext cx="2949956" cy="1234821"/>
            </a:xfrm>
            <a:custGeom>
              <a:avLst/>
              <a:gdLst/>
              <a:ahLst/>
              <a:cxnLst/>
              <a:rect r="r" b="b" t="t" l="l"/>
              <a:pathLst>
                <a:path h="1234821" w="2949956">
                  <a:moveTo>
                    <a:pt x="0" y="0"/>
                  </a:moveTo>
                  <a:lnTo>
                    <a:pt x="2949956" y="0"/>
                  </a:lnTo>
                  <a:lnTo>
                    <a:pt x="2949956" y="1234821"/>
                  </a:lnTo>
                  <a:lnTo>
                    <a:pt x="0" y="1234821"/>
                  </a:lnTo>
                  <a:lnTo>
                    <a:pt x="0" y="0"/>
                  </a:lnTo>
                  <a:close/>
                </a:path>
              </a:pathLst>
            </a:custGeom>
            <a:blipFill>
              <a:blip r:embed="rId4"/>
              <a:stretch>
                <a:fillRect l="0" t="0" r="0" b="-2"/>
              </a:stretch>
            </a:blipFill>
          </p:spPr>
          <p:txBody>
            <a:bodyPr/>
            <a:p/>
          </p:txBody>
        </p:sp>
      </p:grpSp>
      <p:sp>
        <p:nvSpPr>
          <p:cNvPr name="TextBox 9" id="9"/>
          <p:cNvSpPr txBox="true"/>
          <p:nvPr/>
        </p:nvSpPr>
        <p:spPr>
          <a:xfrm rot="0">
            <a:off x="822960" y="821817"/>
            <a:ext cx="16641623" cy="742950"/>
          </a:xfrm>
          <a:prstGeom prst="rect">
            <a:avLst/>
          </a:prstGeom>
        </p:spPr>
        <p:txBody>
          <a:bodyPr anchor="t" rtlCol="false" tIns="0" lIns="0" bIns="0" rIns="0">
            <a:spAutoFit/>
          </a:bodyPr>
          <a:lstStyle/>
          <a:p>
            <a:pPr algn="l">
              <a:lnSpc>
                <a:spcPts val="5758"/>
              </a:lnSpc>
            </a:pPr>
            <a:r>
              <a:rPr lang="en-US" sz="4800" b="true">
                <a:solidFill>
                  <a:srgbClr val="13294B"/>
                </a:solidFill>
                <a:latin typeface="Cambria Bold"/>
                <a:ea typeface="Cambria Bold"/>
                <a:cs typeface="Cambria Bold"/>
                <a:sym typeface="Cambria Bold"/>
              </a:rPr>
              <a:t>Bốn giả thuyết, mỗi giả thuyết gắn một vấn đề tiếng Việt</a:t>
            </a:r>
          </a:p>
        </p:txBody>
      </p:sp>
      <p:graphicFrame>
        <p:nvGraphicFramePr>
          <p:cNvPr name="Table 10" id="10"/>
          <p:cNvGraphicFramePr>
            <a:graphicFrameLocks noGrp="true"/>
          </p:cNvGraphicFramePr>
          <p:nvPr/>
        </p:nvGraphicFramePr>
        <p:xfrm>
          <a:off x="822960" y="2057400"/>
          <a:ext cx="16586200" cy="7162800"/>
        </p:xfrm>
        <a:graphic>
          <a:graphicData uri="http://schemas.openxmlformats.org/drawingml/2006/table">
            <a:tbl>
              <a:tblPr/>
              <a:tblGrid>
                <a:gridCol w="1146844"/>
                <a:gridCol w="12671258"/>
                <a:gridCol w="2768098"/>
              </a:tblGrid>
              <a:tr h="915816">
                <a:tc>
                  <a:txBody>
                    <a:bodyPr anchor="t" rtlCol="false"/>
                    <a:lstStyle/>
                    <a:p>
                      <a:pPr algn="l">
                        <a:lnSpc>
                          <a:spcPts val="2340"/>
                        </a:lnSpc>
                        <a:defRPr/>
                      </a:pPr>
                      <a:r>
                        <a:rPr lang="en-US" sz="2199" b="true">
                          <a:solidFill>
                            <a:srgbClr val="FFFFFF"/>
                          </a:solidFill>
                          <a:latin typeface="Calibri (MS) Bold"/>
                          <a:ea typeface="Calibri (MS) Bold"/>
                          <a:cs typeface="Calibri (MS) Bold"/>
                          <a:sym typeface="Calibri (MS) Bold"/>
                        </a:rPr>
                        <a:t>ID</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2199" b="true">
                          <a:solidFill>
                            <a:srgbClr val="FFFFFF"/>
                          </a:solidFill>
                          <a:latin typeface="Calibri (MS) Bold"/>
                          <a:ea typeface="Calibri (MS) Bold"/>
                          <a:cs typeface="Calibri (MS) Bold"/>
                          <a:sym typeface="Calibri (MS) Bold"/>
                        </a:rPr>
                        <a:t>Giả thuyết (ngưỡng chốt trước khi chạy)</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2199" b="true">
                          <a:solidFill>
                            <a:srgbClr val="FFFFFF"/>
                          </a:solidFill>
                          <a:latin typeface="Calibri (MS) Bold"/>
                          <a:ea typeface="Calibri (MS) Bold"/>
                          <a:cs typeface="Calibri (MS) Bold"/>
                          <a:sym typeface="Calibri (MS) Bold"/>
                        </a:rPr>
                        <a:t>Trả lời</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1561746">
                <a:tc>
                  <a:txBody>
                    <a:bodyPr anchor="t" rtlCol="false"/>
                    <a:lstStyle/>
                    <a:p>
                      <a:pPr algn="l">
                        <a:lnSpc>
                          <a:spcPts val="2429"/>
                        </a:lnSpc>
                        <a:defRPr/>
                      </a:pPr>
                      <a:r>
                        <a:rPr lang="en-US" sz="2300" b="true">
                          <a:solidFill>
                            <a:srgbClr val="1C7293"/>
                          </a:solidFill>
                          <a:latin typeface="Calibri (MS) Bold"/>
                          <a:ea typeface="Calibri (MS) Bold"/>
                          <a:cs typeface="Calibri (MS) Bold"/>
                          <a:sym typeface="Calibri (MS) Bold"/>
                        </a:rPr>
                        <a:t>H1</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QLoRA trên Qwen2.5-VL-3B tăng EM ≥ +5 so với chính model đó zero-shot</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RQ2 · V1–V3</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1561746">
                <a:tc>
                  <a:txBody>
                    <a:bodyPr anchor="t" rtlCol="false"/>
                    <a:lstStyle/>
                    <a:p>
                      <a:pPr algn="l">
                        <a:lnSpc>
                          <a:spcPts val="2429"/>
                        </a:lnSpc>
                        <a:defRPr/>
                      </a:pPr>
                      <a:r>
                        <a:rPr lang="en-US" sz="2300" b="true">
                          <a:solidFill>
                            <a:srgbClr val="1C7293"/>
                          </a:solidFill>
                          <a:latin typeface="Calibri (MS) Bold"/>
                          <a:ea typeface="Calibri (MS) Bold"/>
                          <a:cs typeface="Calibri (MS) Bold"/>
                          <a:sym typeface="Calibri (MS) Bold"/>
                        </a:rPr>
                        <a:t>H2</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Chữ OCR có dấu (trái-trên → phải-dưới) trong prompt tăng ≥ +3 ANLS trên ViTextVQA; kết hợp QLoRA cho kết quả cao nhất</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RQ3 · V1, V3</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1561746">
                <a:tc>
                  <a:txBody>
                    <a:bodyPr anchor="t" rtlCol="false"/>
                    <a:lstStyle/>
                    <a:p>
                      <a:pPr algn="l">
                        <a:lnSpc>
                          <a:spcPts val="2429"/>
                        </a:lnSpc>
                        <a:defRPr/>
                      </a:pPr>
                      <a:r>
                        <a:rPr lang="en-US" sz="2300" b="true">
                          <a:solidFill>
                            <a:srgbClr val="1C7293"/>
                          </a:solidFill>
                          <a:latin typeface="Calibri (MS) Bold"/>
                          <a:ea typeface="Calibri (MS) Bold"/>
                          <a:cs typeface="Calibri (MS) Bold"/>
                          <a:sym typeface="Calibri (MS) Bold"/>
                        </a:rPr>
                        <a:t>H3</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Prompt định dạng tiếng Việt (trả lời ngắn, có dấu) tăng ≥ +3 EM và giảm câu trả lời sai ngôn ngữ / mất dấu</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RQ1 · V2</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1561746">
                <a:tc>
                  <a:txBody>
                    <a:bodyPr anchor="t" rtlCol="false"/>
                    <a:lstStyle/>
                    <a:p>
                      <a:pPr algn="l">
                        <a:lnSpc>
                          <a:spcPts val="2429"/>
                        </a:lnSpc>
                        <a:defRPr/>
                      </a:pPr>
                      <a:r>
                        <a:rPr lang="en-US" sz="2300" b="true">
                          <a:solidFill>
                            <a:srgbClr val="1C7293"/>
                          </a:solidFill>
                          <a:latin typeface="Calibri (MS) Bold"/>
                          <a:ea typeface="Calibri (MS) Bold"/>
                          <a:cs typeface="Calibri (MS) Bold"/>
                          <a:sym typeface="Calibri (MS) Bold"/>
                        </a:rPr>
                        <a:t>H4</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QLoRA không làm tăng tỉ lệ hallucination so với zero-shot</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429"/>
                        </a:lnSpc>
                        <a:defRPr/>
                      </a:pPr>
                      <a:r>
                        <a:rPr lang="en-US" sz="2300">
                          <a:solidFill>
                            <a:srgbClr val="243044"/>
                          </a:solidFill>
                          <a:latin typeface="Calibri (MS)"/>
                          <a:ea typeface="Calibri (MS)"/>
                          <a:cs typeface="Calibri (MS)"/>
                          <a:sym typeface="Calibri (MS)"/>
                        </a:rPr>
                        <a:t>RQ4 · V4</a:t>
                      </a:r>
                      <a:endParaRPr lang="en-US" sz="1100"/>
                    </a:p>
                  </a:txBody>
                  <a:tcPr marL="76200" marR="76200" marT="76200" marB="76200" anchor="ctr">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grpSp>
        <p:nvGrpSpPr>
          <p:cNvPr name="Group 11" id="11"/>
          <p:cNvGrpSpPr/>
          <p:nvPr/>
        </p:nvGrpSpPr>
        <p:grpSpPr>
          <a:xfrm rot="0">
            <a:off x="822960" y="9655969"/>
            <a:ext cx="13716000" cy="360320"/>
            <a:chOff x="0" y="0"/>
            <a:chExt cx="18288000" cy="480427"/>
          </a:xfrm>
        </p:grpSpPr>
        <p:sp>
          <p:nvSpPr>
            <p:cNvPr name="Freeform 12" id="12"/>
            <p:cNvSpPr/>
            <p:nvPr/>
          </p:nvSpPr>
          <p:spPr>
            <a:xfrm flipH="false" flipV="false" rot="0">
              <a:off x="0" y="0"/>
              <a:ext cx="18288000" cy="480427"/>
            </a:xfrm>
            <a:custGeom>
              <a:avLst/>
              <a:gdLst/>
              <a:ahLst/>
              <a:cxnLst/>
              <a:rect r="r" b="b" t="t" l="l"/>
              <a:pathLst>
                <a:path h="480427" w="18288000">
                  <a:moveTo>
                    <a:pt x="0" y="0"/>
                  </a:moveTo>
                  <a:lnTo>
                    <a:pt x="18288000" y="0"/>
                  </a:lnTo>
                  <a:lnTo>
                    <a:pt x="18288000" y="480427"/>
                  </a:lnTo>
                  <a:lnTo>
                    <a:pt x="0" y="480427"/>
                  </a:lnTo>
                  <a:close/>
                </a:path>
              </a:pathLst>
            </a:custGeom>
            <a:blipFill>
              <a:blip r:embed="rId5">
                <a:alphaModFix amt="0"/>
              </a:blip>
              <a:stretch>
                <a:fillRect l="0" t="-680655" r="0" b="-702784"/>
              </a:stretch>
            </a:blipFill>
          </p:spPr>
          <p:txBody>
            <a:bodyPr/>
            <a:p/>
          </p:txBody>
        </p:sp>
        <p:sp>
          <p:nvSpPr>
            <p:cNvPr name="TextBox 13" id="13"/>
            <p:cNvSpPr txBox="true"/>
            <p:nvPr/>
          </p:nvSpPr>
          <p:spPr>
            <a:xfrm>
              <a:off x="0" y="-38100"/>
              <a:ext cx="18288000" cy="518527"/>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1 · PHẠM VI · 07 · DỮ LIỆU</a:t>
            </a:r>
          </a:p>
        </p:txBody>
      </p:sp>
      <p:grpSp>
        <p:nvGrpSpPr>
          <p:cNvPr name="Group 3" id="3"/>
          <p:cNvGrpSpPr/>
          <p:nvPr/>
        </p:nvGrpSpPr>
        <p:grpSpPr>
          <a:xfrm rot="0">
            <a:off x="15458732" y="0"/>
            <a:ext cx="2829268" cy="1184338"/>
            <a:chOff x="0" y="0"/>
            <a:chExt cx="3772357" cy="1579118"/>
          </a:xfrm>
        </p:grpSpPr>
        <p:sp>
          <p:nvSpPr>
            <p:cNvPr name="Freeform 4" id="4"/>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2"/>
              <a:stretch>
                <a:fillRect l="0" t="0" r="1" b="0"/>
              </a:stretch>
            </a:blipFill>
          </p:spPr>
          <p:txBody>
            <a:bodyPr/>
            <a:p/>
          </p:txBody>
        </p:sp>
      </p:gr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Hai bộ benchmark, split cố định, tiền xử lý trước khi chia</a:t>
            </a:r>
          </a:p>
        </p:txBody>
      </p:sp>
      <p:sp>
        <p:nvSpPr>
          <p:cNvPr name="Freeform 6" id="6"/>
          <p:cNvSpPr/>
          <p:nvPr/>
        </p:nvSpPr>
        <p:spPr>
          <a:xfrm flipH="false" flipV="false" rot="0">
            <a:off x="806291" y="2040731"/>
            <a:ext cx="8079867" cy="5176838"/>
          </a:xfrm>
          <a:custGeom>
            <a:avLst/>
            <a:gdLst/>
            <a:ahLst/>
            <a:cxnLst/>
            <a:rect r="r" b="b" t="t" l="l"/>
            <a:pathLst>
              <a:path h="5176838" w="8079867">
                <a:moveTo>
                  <a:pt x="0" y="0"/>
                </a:moveTo>
                <a:lnTo>
                  <a:pt x="8079867" y="0"/>
                </a:lnTo>
                <a:lnTo>
                  <a:pt x="8079867" y="5176838"/>
                </a:lnTo>
                <a:lnTo>
                  <a:pt x="0" y="51768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7" id="7"/>
          <p:cNvSpPr txBox="true"/>
          <p:nvPr/>
        </p:nvSpPr>
        <p:spPr>
          <a:xfrm rot="0">
            <a:off x="1234440" y="2244090"/>
            <a:ext cx="7223531" cy="704850"/>
          </a:xfrm>
          <a:prstGeom prst="rect">
            <a:avLst/>
          </a:prstGeom>
        </p:spPr>
        <p:txBody>
          <a:bodyPr anchor="t" rtlCol="false" tIns="0" lIns="0" bIns="0" rIns="0">
            <a:spAutoFit/>
          </a:bodyPr>
          <a:lstStyle/>
          <a:p>
            <a:pPr algn="l">
              <a:lnSpc>
                <a:spcPts val="3960"/>
              </a:lnSpc>
            </a:pPr>
            <a:r>
              <a:rPr lang="en-US" sz="3300" b="true">
                <a:solidFill>
                  <a:srgbClr val="13294B"/>
                </a:solidFill>
                <a:latin typeface="Cambria Bold"/>
                <a:ea typeface="Cambria Bold"/>
                <a:cs typeface="Cambria Bold"/>
                <a:sym typeface="Cambria Bold"/>
              </a:rPr>
              <a:t>ViVQA</a:t>
            </a:r>
          </a:p>
        </p:txBody>
      </p:sp>
      <p:sp>
        <p:nvSpPr>
          <p:cNvPr name="TextBox 8" id="8"/>
          <p:cNvSpPr txBox="true"/>
          <p:nvPr/>
        </p:nvSpPr>
        <p:spPr>
          <a:xfrm rot="0">
            <a:off x="1234440" y="2845308"/>
            <a:ext cx="7223531" cy="487680"/>
          </a:xfrm>
          <a:prstGeom prst="rect">
            <a:avLst/>
          </a:prstGeom>
        </p:spPr>
        <p:txBody>
          <a:bodyPr anchor="t" rtlCol="false" tIns="0" lIns="0" bIns="0" rIns="0">
            <a:spAutoFit/>
          </a:bodyPr>
          <a:lstStyle/>
          <a:p>
            <a:pPr algn="l">
              <a:lnSpc>
                <a:spcPts val="2160"/>
              </a:lnSpc>
            </a:pPr>
            <a:r>
              <a:rPr lang="en-US" sz="1800" u="sng">
                <a:solidFill>
                  <a:srgbClr val="0000FF"/>
                </a:solidFill>
                <a:latin typeface="Calibri (MS)"/>
                <a:ea typeface="Calibri (MS)"/>
                <a:cs typeface="Calibri (MS)"/>
                <a:sym typeface="Calibri (MS)"/>
                <a:hlinkClick r:id="rId5" tooltip="https://aclanthology.org/2021.paclic-1.72/"/>
              </a:rPr>
              <a:t>Paper: ViVQA (Tran et al., PACLIC 2021) ↗</a:t>
            </a:r>
          </a:p>
        </p:txBody>
      </p:sp>
      <p:sp>
        <p:nvSpPr>
          <p:cNvPr name="TextBox 9" id="9"/>
          <p:cNvSpPr txBox="true"/>
          <p:nvPr/>
        </p:nvSpPr>
        <p:spPr>
          <a:xfrm rot="0">
            <a:off x="1234440" y="3459480"/>
            <a:ext cx="3474606" cy="1135380"/>
          </a:xfrm>
          <a:prstGeom prst="rect">
            <a:avLst/>
          </a:prstGeom>
        </p:spPr>
        <p:txBody>
          <a:bodyPr anchor="t" rtlCol="false" tIns="0" lIns="0" bIns="0" rIns="0">
            <a:spAutoFit/>
          </a:bodyPr>
          <a:lstStyle/>
          <a:p>
            <a:pPr algn="l">
              <a:lnSpc>
                <a:spcPts val="5400"/>
              </a:lnSpc>
            </a:pPr>
            <a:r>
              <a:rPr lang="en-US" sz="4500" b="true">
                <a:solidFill>
                  <a:srgbClr val="13294B"/>
                </a:solidFill>
                <a:latin typeface="Cambria Bold"/>
                <a:ea typeface="Cambria Bold"/>
                <a:cs typeface="Cambria Bold"/>
                <a:sym typeface="Cambria Bold"/>
              </a:rPr>
              <a:t>15.000</a:t>
            </a:r>
          </a:p>
        </p:txBody>
      </p:sp>
      <p:sp>
        <p:nvSpPr>
          <p:cNvPr name="TextBox 10" id="10"/>
          <p:cNvSpPr txBox="true"/>
          <p:nvPr/>
        </p:nvSpPr>
        <p:spPr>
          <a:xfrm rot="0">
            <a:off x="1234440" y="4431030"/>
            <a:ext cx="3474606" cy="57531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cặp hỏi–đáp</a:t>
            </a:r>
          </a:p>
        </p:txBody>
      </p:sp>
      <p:sp>
        <p:nvSpPr>
          <p:cNvPr name="TextBox 11" id="11"/>
          <p:cNvSpPr txBox="true"/>
          <p:nvPr/>
        </p:nvSpPr>
        <p:spPr>
          <a:xfrm rot="0">
            <a:off x="4846206" y="3459480"/>
            <a:ext cx="3474606" cy="1135380"/>
          </a:xfrm>
          <a:prstGeom prst="rect">
            <a:avLst/>
          </a:prstGeom>
        </p:spPr>
        <p:txBody>
          <a:bodyPr anchor="t" rtlCol="false" tIns="0" lIns="0" bIns="0" rIns="0">
            <a:spAutoFit/>
          </a:bodyPr>
          <a:lstStyle/>
          <a:p>
            <a:pPr algn="l">
              <a:lnSpc>
                <a:spcPts val="5400"/>
              </a:lnSpc>
            </a:pPr>
            <a:r>
              <a:rPr lang="en-US" sz="4500" b="true">
                <a:solidFill>
                  <a:srgbClr val="13294B"/>
                </a:solidFill>
                <a:latin typeface="Cambria Bold"/>
                <a:ea typeface="Cambria Bold"/>
                <a:cs typeface="Cambria Bold"/>
                <a:sym typeface="Cambria Bold"/>
              </a:rPr>
              <a:t>10.328</a:t>
            </a:r>
          </a:p>
        </p:txBody>
      </p:sp>
      <p:sp>
        <p:nvSpPr>
          <p:cNvPr name="TextBox 12" id="12"/>
          <p:cNvSpPr txBox="true"/>
          <p:nvPr/>
        </p:nvSpPr>
        <p:spPr>
          <a:xfrm rot="0">
            <a:off x="4846206" y="4431030"/>
            <a:ext cx="3474606" cy="57531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ảnh (MS COCO)</a:t>
            </a:r>
          </a:p>
        </p:txBody>
      </p:sp>
      <p:sp>
        <p:nvSpPr>
          <p:cNvPr name="TextBox 13" id="13"/>
          <p:cNvSpPr txBox="true"/>
          <p:nvPr/>
        </p:nvSpPr>
        <p:spPr>
          <a:xfrm rot="0">
            <a:off x="1234440" y="5048250"/>
            <a:ext cx="7223531" cy="712470"/>
          </a:xfrm>
          <a:prstGeom prst="rect">
            <a:avLst/>
          </a:prstGeom>
        </p:spPr>
        <p:txBody>
          <a:bodyPr anchor="t" rtlCol="false" tIns="0" lIns="0" bIns="0" rIns="0">
            <a:spAutoFit/>
          </a:bodyPr>
          <a:lstStyle/>
          <a:p>
            <a:pPr algn="l">
              <a:lnSpc>
                <a:spcPts val="2340"/>
              </a:lnSpc>
            </a:pPr>
            <a:r>
              <a:rPr lang="en-US" sz="1950" b="true">
                <a:solidFill>
                  <a:srgbClr val="13294B"/>
                </a:solidFill>
                <a:latin typeface="Calibri (MS) Bold"/>
                <a:ea typeface="Calibri (MS) Bold"/>
                <a:cs typeface="Calibri (MS) Bold"/>
                <a:sym typeface="Calibri (MS) Bold"/>
              </a:rPr>
              <a:t>Split: train 10.799</a:t>
            </a:r>
            <a:r>
              <a:rPr lang="en-US" sz="1950">
                <a:solidFill>
                  <a:srgbClr val="5B677A"/>
                </a:solidFill>
                <a:latin typeface="Calibri (MS)"/>
                <a:ea typeface="Calibri (MS)"/>
                <a:cs typeface="Calibri (MS)"/>
                <a:sym typeface="Calibri (MS)"/>
              </a:rPr>
              <a:t>  ·  </a:t>
            </a:r>
            <a:r>
              <a:rPr lang="en-US" sz="1950" b="true">
                <a:solidFill>
                  <a:srgbClr val="13294B"/>
                </a:solidFill>
                <a:latin typeface="Calibri (MS) Bold"/>
                <a:ea typeface="Calibri (MS) Bold"/>
                <a:cs typeface="Calibri (MS) Bold"/>
                <a:sym typeface="Calibri (MS) Bold"/>
              </a:rPr>
              <a:t>val 1.200</a:t>
            </a:r>
            <a:r>
              <a:rPr lang="en-US" sz="1950">
                <a:solidFill>
                  <a:srgbClr val="5B677A"/>
                </a:solidFill>
                <a:latin typeface="Calibri (MS)"/>
                <a:ea typeface="Calibri (MS)"/>
                <a:cs typeface="Calibri (MS)"/>
                <a:sym typeface="Calibri (MS)"/>
              </a:rPr>
              <a:t>  ·  </a:t>
            </a:r>
            <a:r>
              <a:rPr lang="en-US" sz="1950" b="true">
                <a:solidFill>
                  <a:srgbClr val="13294B"/>
                </a:solidFill>
                <a:latin typeface="Calibri (MS) Bold"/>
                <a:ea typeface="Calibri (MS) Bold"/>
                <a:cs typeface="Calibri (MS) Bold"/>
                <a:sym typeface="Calibri (MS) Bold"/>
              </a:rPr>
              <a:t>test 3.001</a:t>
            </a:r>
          </a:p>
          <a:p>
            <a:pPr algn="l">
              <a:lnSpc>
                <a:spcPts val="1980"/>
              </a:lnSpc>
            </a:pPr>
            <a:r>
              <a:rPr lang="en-US" sz="1650">
                <a:solidFill>
                  <a:srgbClr val="5B677A"/>
                </a:solidFill>
                <a:latin typeface="Calibri (MS)"/>
                <a:ea typeface="Calibri (MS)"/>
                <a:cs typeface="Calibri (MS)"/>
                <a:sym typeface="Calibri (MS)"/>
              </a:rPr>
              <a:t>val tách từ train (seed 42); bản gốc chỉ có train/test</a:t>
            </a:r>
          </a:p>
        </p:txBody>
      </p:sp>
      <p:sp>
        <p:nvSpPr>
          <p:cNvPr name="TextBox 14" id="14"/>
          <p:cNvSpPr txBox="true"/>
          <p:nvPr/>
        </p:nvSpPr>
        <p:spPr>
          <a:xfrm rot="0">
            <a:off x="1234440" y="6378702"/>
            <a:ext cx="7223531" cy="712470"/>
          </a:xfrm>
          <a:prstGeom prst="rect">
            <a:avLst/>
          </a:prstGeom>
        </p:spPr>
        <p:txBody>
          <a:bodyPr anchor="t" rtlCol="false" tIns="0" lIns="0" bIns="0" rIns="0">
            <a:spAutoFit/>
          </a:bodyPr>
          <a:lstStyle/>
          <a:p>
            <a:pPr algn="l">
              <a:lnSpc>
                <a:spcPts val="2340"/>
              </a:lnSpc>
            </a:pPr>
            <a:r>
              <a:rPr lang="en-US" sz="1950">
                <a:solidFill>
                  <a:srgbClr val="243044"/>
                </a:solidFill>
                <a:latin typeface="Calibri (MS)"/>
                <a:ea typeface="Calibri (MS)"/>
                <a:cs typeface="Calibri (MS)"/>
                <a:sym typeface="Calibri (MS)"/>
              </a:rPr>
              <a:t>99,83% đáp án ≤ 3 từ → EM / VQA-Acc</a:t>
            </a:r>
          </a:p>
        </p:txBody>
      </p:sp>
      <p:sp>
        <p:nvSpPr>
          <p:cNvPr name="Freeform 15" id="15"/>
          <p:cNvSpPr/>
          <p:nvPr/>
        </p:nvSpPr>
        <p:spPr>
          <a:xfrm flipH="false" flipV="false" rot="0">
            <a:off x="9401423" y="2040731"/>
            <a:ext cx="8079867" cy="5176838"/>
          </a:xfrm>
          <a:custGeom>
            <a:avLst/>
            <a:gdLst/>
            <a:ahLst/>
            <a:cxnLst/>
            <a:rect r="r" b="b" t="t" l="l"/>
            <a:pathLst>
              <a:path h="5176838" w="8079867">
                <a:moveTo>
                  <a:pt x="0" y="0"/>
                </a:moveTo>
                <a:lnTo>
                  <a:pt x="8079867" y="0"/>
                </a:lnTo>
                <a:lnTo>
                  <a:pt x="8079867" y="5176838"/>
                </a:lnTo>
                <a:lnTo>
                  <a:pt x="0" y="517683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TextBox 16" id="16"/>
          <p:cNvSpPr txBox="true"/>
          <p:nvPr/>
        </p:nvSpPr>
        <p:spPr>
          <a:xfrm rot="0">
            <a:off x="9829571" y="2244090"/>
            <a:ext cx="7223531" cy="704850"/>
          </a:xfrm>
          <a:prstGeom prst="rect">
            <a:avLst/>
          </a:prstGeom>
        </p:spPr>
        <p:txBody>
          <a:bodyPr anchor="t" rtlCol="false" tIns="0" lIns="0" bIns="0" rIns="0">
            <a:spAutoFit/>
          </a:bodyPr>
          <a:lstStyle/>
          <a:p>
            <a:pPr algn="l">
              <a:lnSpc>
                <a:spcPts val="3960"/>
              </a:lnSpc>
            </a:pPr>
            <a:r>
              <a:rPr lang="en-US" sz="3300" b="true">
                <a:solidFill>
                  <a:srgbClr val="13294B"/>
                </a:solidFill>
                <a:latin typeface="Cambria Bold"/>
                <a:ea typeface="Cambria Bold"/>
                <a:cs typeface="Cambria Bold"/>
                <a:sym typeface="Cambria Bold"/>
              </a:rPr>
              <a:t>ViTextVQA</a:t>
            </a:r>
          </a:p>
        </p:txBody>
      </p:sp>
      <p:sp>
        <p:nvSpPr>
          <p:cNvPr name="TextBox 17" id="17"/>
          <p:cNvSpPr txBox="true"/>
          <p:nvPr/>
        </p:nvSpPr>
        <p:spPr>
          <a:xfrm rot="0">
            <a:off x="9829571" y="2845308"/>
            <a:ext cx="7223531" cy="487680"/>
          </a:xfrm>
          <a:prstGeom prst="rect">
            <a:avLst/>
          </a:prstGeom>
        </p:spPr>
        <p:txBody>
          <a:bodyPr anchor="t" rtlCol="false" tIns="0" lIns="0" bIns="0" rIns="0">
            <a:spAutoFit/>
          </a:bodyPr>
          <a:lstStyle/>
          <a:p>
            <a:pPr algn="l">
              <a:lnSpc>
                <a:spcPts val="2160"/>
              </a:lnSpc>
            </a:pPr>
            <a:r>
              <a:rPr lang="en-US" sz="1800" u="sng">
                <a:solidFill>
                  <a:srgbClr val="0000FF"/>
                </a:solidFill>
                <a:latin typeface="Calibri (MS)"/>
                <a:ea typeface="Calibri (MS)"/>
                <a:cs typeface="Calibri (MS)"/>
                <a:sym typeface="Calibri (MS)"/>
                <a:hlinkClick r:id="rId8" tooltip="https://arxiv.org/abs/2404.10652"/>
              </a:rPr>
              <a:t>Paper: ViTextVQA (Nguyen et al., 2024 · arXiv 2404.10652) ↗</a:t>
            </a:r>
          </a:p>
        </p:txBody>
      </p:sp>
      <p:sp>
        <p:nvSpPr>
          <p:cNvPr name="TextBox 18" id="18"/>
          <p:cNvSpPr txBox="true"/>
          <p:nvPr/>
        </p:nvSpPr>
        <p:spPr>
          <a:xfrm rot="0">
            <a:off x="9829571" y="3459480"/>
            <a:ext cx="3474606" cy="1135380"/>
          </a:xfrm>
          <a:prstGeom prst="rect">
            <a:avLst/>
          </a:prstGeom>
        </p:spPr>
        <p:txBody>
          <a:bodyPr anchor="t" rtlCol="false" tIns="0" lIns="0" bIns="0" rIns="0">
            <a:spAutoFit/>
          </a:bodyPr>
          <a:lstStyle/>
          <a:p>
            <a:pPr algn="l">
              <a:lnSpc>
                <a:spcPts val="5400"/>
              </a:lnSpc>
            </a:pPr>
            <a:r>
              <a:rPr lang="en-US" sz="4500" b="true">
                <a:solidFill>
                  <a:srgbClr val="13294B"/>
                </a:solidFill>
                <a:latin typeface="Cambria Bold"/>
                <a:ea typeface="Cambria Bold"/>
                <a:cs typeface="Cambria Bold"/>
                <a:sym typeface="Cambria Bold"/>
              </a:rPr>
              <a:t>50.342</a:t>
            </a:r>
          </a:p>
        </p:txBody>
      </p:sp>
      <p:sp>
        <p:nvSpPr>
          <p:cNvPr name="TextBox 19" id="19"/>
          <p:cNvSpPr txBox="true"/>
          <p:nvPr/>
        </p:nvSpPr>
        <p:spPr>
          <a:xfrm rot="0">
            <a:off x="9829571" y="4431030"/>
            <a:ext cx="3474606" cy="57531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cặp hỏi–đáp</a:t>
            </a:r>
          </a:p>
        </p:txBody>
      </p:sp>
      <p:sp>
        <p:nvSpPr>
          <p:cNvPr name="TextBox 20" id="20"/>
          <p:cNvSpPr txBox="true"/>
          <p:nvPr/>
        </p:nvSpPr>
        <p:spPr>
          <a:xfrm rot="0">
            <a:off x="13441337" y="3459480"/>
            <a:ext cx="3474606" cy="1135380"/>
          </a:xfrm>
          <a:prstGeom prst="rect">
            <a:avLst/>
          </a:prstGeom>
        </p:spPr>
        <p:txBody>
          <a:bodyPr anchor="t" rtlCol="false" tIns="0" lIns="0" bIns="0" rIns="0">
            <a:spAutoFit/>
          </a:bodyPr>
          <a:lstStyle/>
          <a:p>
            <a:pPr algn="l">
              <a:lnSpc>
                <a:spcPts val="5400"/>
              </a:lnSpc>
            </a:pPr>
            <a:r>
              <a:rPr lang="en-US" sz="4500" b="true">
                <a:solidFill>
                  <a:srgbClr val="13294B"/>
                </a:solidFill>
                <a:latin typeface="Cambria Bold"/>
                <a:ea typeface="Cambria Bold"/>
                <a:cs typeface="Cambria Bold"/>
                <a:sym typeface="Cambria Bold"/>
              </a:rPr>
              <a:t>16.762</a:t>
            </a:r>
          </a:p>
        </p:txBody>
      </p:sp>
      <p:sp>
        <p:nvSpPr>
          <p:cNvPr name="TextBox 21" id="21"/>
          <p:cNvSpPr txBox="true"/>
          <p:nvPr/>
        </p:nvSpPr>
        <p:spPr>
          <a:xfrm rot="0">
            <a:off x="13441337" y="4431030"/>
            <a:ext cx="3474606" cy="57531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ảnh có chữ tiếng Việt</a:t>
            </a:r>
          </a:p>
        </p:txBody>
      </p:sp>
      <p:sp>
        <p:nvSpPr>
          <p:cNvPr name="TextBox 22" id="22"/>
          <p:cNvSpPr txBox="true"/>
          <p:nvPr/>
        </p:nvSpPr>
        <p:spPr>
          <a:xfrm rot="0">
            <a:off x="9829571" y="5048250"/>
            <a:ext cx="7223531" cy="712470"/>
          </a:xfrm>
          <a:prstGeom prst="rect">
            <a:avLst/>
          </a:prstGeom>
        </p:spPr>
        <p:txBody>
          <a:bodyPr anchor="t" rtlCol="false" tIns="0" lIns="0" bIns="0" rIns="0">
            <a:spAutoFit/>
          </a:bodyPr>
          <a:lstStyle/>
          <a:p>
            <a:pPr algn="l">
              <a:lnSpc>
                <a:spcPts val="2340"/>
              </a:lnSpc>
            </a:pPr>
            <a:r>
              <a:rPr lang="en-US" sz="1950" b="true">
                <a:solidFill>
                  <a:srgbClr val="13294B"/>
                </a:solidFill>
                <a:latin typeface="Calibri (MS) Bold"/>
                <a:ea typeface="Calibri (MS) Bold"/>
                <a:cs typeface="Calibri (MS) Bold"/>
                <a:sym typeface="Calibri (MS) Bold"/>
              </a:rPr>
              <a:t>Split: train 35.159</a:t>
            </a:r>
            <a:r>
              <a:rPr lang="en-US" sz="1950">
                <a:solidFill>
                  <a:srgbClr val="5B677A"/>
                </a:solidFill>
                <a:latin typeface="Calibri (MS)"/>
                <a:ea typeface="Calibri (MS)"/>
                <a:cs typeface="Calibri (MS)"/>
                <a:sym typeface="Calibri (MS)"/>
              </a:rPr>
              <a:t>  ·  </a:t>
            </a:r>
            <a:r>
              <a:rPr lang="en-US" sz="1950" b="true">
                <a:solidFill>
                  <a:srgbClr val="13294B"/>
                </a:solidFill>
                <a:latin typeface="Calibri (MS) Bold"/>
                <a:ea typeface="Calibri (MS) Bold"/>
                <a:cs typeface="Calibri (MS) Bold"/>
                <a:sym typeface="Calibri (MS) Bold"/>
              </a:rPr>
              <a:t>dev 5.155</a:t>
            </a:r>
            <a:r>
              <a:rPr lang="en-US" sz="1950">
                <a:solidFill>
                  <a:srgbClr val="5B677A"/>
                </a:solidFill>
                <a:latin typeface="Calibri (MS)"/>
                <a:ea typeface="Calibri (MS)"/>
                <a:cs typeface="Calibri (MS)"/>
                <a:sym typeface="Calibri (MS)"/>
              </a:rPr>
              <a:t>  ·  </a:t>
            </a:r>
            <a:r>
              <a:rPr lang="en-US" sz="1950" b="true">
                <a:solidFill>
                  <a:srgbClr val="13294B"/>
                </a:solidFill>
                <a:latin typeface="Calibri (MS) Bold"/>
                <a:ea typeface="Calibri (MS) Bold"/>
                <a:cs typeface="Calibri (MS) Bold"/>
                <a:sym typeface="Calibri (MS) Bold"/>
              </a:rPr>
              <a:t>test 10.028</a:t>
            </a:r>
          </a:p>
          <a:p>
            <a:pPr algn="l">
              <a:lnSpc>
                <a:spcPts val="1980"/>
              </a:lnSpc>
            </a:pPr>
            <a:r>
              <a:rPr lang="en-US" sz="1650">
                <a:solidFill>
                  <a:srgbClr val="5B677A"/>
                </a:solidFill>
                <a:latin typeface="Calibri (MS)"/>
                <a:ea typeface="Calibri (MS)"/>
                <a:cs typeface="Calibri (MS)"/>
                <a:sym typeface="Calibri (MS)"/>
              </a:rPr>
              <a:t>split chính thức của tác giả; dev = tập validation</a:t>
            </a:r>
          </a:p>
        </p:txBody>
      </p:sp>
      <p:sp>
        <p:nvSpPr>
          <p:cNvPr name="TextBox 23" id="23"/>
          <p:cNvSpPr txBox="true"/>
          <p:nvPr/>
        </p:nvSpPr>
        <p:spPr>
          <a:xfrm rot="0">
            <a:off x="9829571" y="6378702"/>
            <a:ext cx="7223531" cy="712470"/>
          </a:xfrm>
          <a:prstGeom prst="rect">
            <a:avLst/>
          </a:prstGeom>
        </p:spPr>
        <p:txBody>
          <a:bodyPr anchor="t" rtlCol="false" tIns="0" lIns="0" bIns="0" rIns="0">
            <a:spAutoFit/>
          </a:bodyPr>
          <a:lstStyle/>
          <a:p>
            <a:pPr algn="l">
              <a:lnSpc>
                <a:spcPts val="2340"/>
              </a:lnSpc>
            </a:pPr>
            <a:r>
              <a:rPr lang="en-US" sz="1950">
                <a:solidFill>
                  <a:srgbClr val="243044"/>
                </a:solidFill>
                <a:latin typeface="Calibri (MS)"/>
                <a:ea typeface="Calibri (MS)"/>
                <a:cs typeface="Calibri (MS)"/>
                <a:sym typeface="Calibri (MS)"/>
              </a:rPr>
              <a:t>Đáp án trung bình 4,18 từ, đọc từ ảnh → ANLS (chịu lỗi ký tự)</a:t>
            </a:r>
          </a:p>
        </p:txBody>
      </p:sp>
      <p:sp>
        <p:nvSpPr>
          <p:cNvPr name="Freeform 24" id="24"/>
          <p:cNvSpPr/>
          <p:nvPr/>
        </p:nvSpPr>
        <p:spPr>
          <a:xfrm flipH="false" flipV="false" rot="0">
            <a:off x="806291" y="7527131"/>
            <a:ext cx="3627977" cy="1199197"/>
          </a:xfrm>
          <a:custGeom>
            <a:avLst/>
            <a:gdLst/>
            <a:ahLst/>
            <a:cxnLst/>
            <a:rect r="r" b="b" t="t" l="l"/>
            <a:pathLst>
              <a:path h="1199197" w="3627977">
                <a:moveTo>
                  <a:pt x="0" y="0"/>
                </a:moveTo>
                <a:lnTo>
                  <a:pt x="3627977" y="0"/>
                </a:lnTo>
                <a:lnTo>
                  <a:pt x="3627977" y="1199198"/>
                </a:lnTo>
                <a:lnTo>
                  <a:pt x="0" y="119919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25" id="25"/>
          <p:cNvGrpSpPr/>
          <p:nvPr/>
        </p:nvGrpSpPr>
        <p:grpSpPr>
          <a:xfrm rot="0">
            <a:off x="918972" y="7543800"/>
            <a:ext cx="3402597" cy="1165860"/>
            <a:chOff x="0" y="0"/>
            <a:chExt cx="4536796" cy="1554480"/>
          </a:xfrm>
        </p:grpSpPr>
        <p:sp>
          <p:nvSpPr>
            <p:cNvPr name="Freeform 26" id="26"/>
            <p:cNvSpPr/>
            <p:nvPr/>
          </p:nvSpPr>
          <p:spPr>
            <a:xfrm flipH="false" flipV="false" rot="0">
              <a:off x="0" y="0"/>
              <a:ext cx="4536821" cy="1554480"/>
            </a:xfrm>
            <a:custGeom>
              <a:avLst/>
              <a:gdLst/>
              <a:ahLst/>
              <a:cxnLst/>
              <a:rect r="r" b="b" t="t" l="l"/>
              <a:pathLst>
                <a:path h="1554480" w="4536821">
                  <a:moveTo>
                    <a:pt x="0" y="0"/>
                  </a:moveTo>
                  <a:lnTo>
                    <a:pt x="4536821" y="0"/>
                  </a:lnTo>
                  <a:lnTo>
                    <a:pt x="4536821" y="1554480"/>
                  </a:lnTo>
                  <a:lnTo>
                    <a:pt x="0" y="1554480"/>
                  </a:lnTo>
                  <a:close/>
                </a:path>
              </a:pathLst>
            </a:custGeom>
            <a:blipFill>
              <a:blip r:embed="rId11">
                <a:alphaModFix amt="0"/>
              </a:blip>
              <a:stretch>
                <a:fillRect l="0" t="-6828" r="0" b="-6827"/>
              </a:stretch>
            </a:blipFill>
          </p:spPr>
          <p:txBody>
            <a:bodyPr/>
            <a:p/>
          </p:txBody>
        </p:sp>
      </p:grpSp>
      <p:grpSp>
        <p:nvGrpSpPr>
          <p:cNvPr name="Group 27" id="27"/>
          <p:cNvGrpSpPr/>
          <p:nvPr/>
        </p:nvGrpSpPr>
        <p:grpSpPr>
          <a:xfrm rot="0">
            <a:off x="918972" y="7508081"/>
            <a:ext cx="3402597" cy="1201579"/>
            <a:chOff x="0" y="0"/>
            <a:chExt cx="4536796" cy="1602105"/>
          </a:xfrm>
        </p:grpSpPr>
        <p:sp>
          <p:nvSpPr>
            <p:cNvPr name="Freeform 28" id="28"/>
            <p:cNvSpPr/>
            <p:nvPr/>
          </p:nvSpPr>
          <p:spPr>
            <a:xfrm flipH="false" flipV="false" rot="0">
              <a:off x="0" y="0"/>
              <a:ext cx="4536796" cy="1602105"/>
            </a:xfrm>
            <a:custGeom>
              <a:avLst/>
              <a:gdLst/>
              <a:ahLst/>
              <a:cxnLst/>
              <a:rect r="r" b="b" t="t" l="l"/>
              <a:pathLst>
                <a:path h="1602105" w="4536796">
                  <a:moveTo>
                    <a:pt x="0" y="0"/>
                  </a:moveTo>
                  <a:lnTo>
                    <a:pt x="4536796" y="0"/>
                  </a:lnTo>
                  <a:lnTo>
                    <a:pt x="4536796" y="1602105"/>
                  </a:lnTo>
                  <a:lnTo>
                    <a:pt x="0" y="1602105"/>
                  </a:lnTo>
                  <a:close/>
                </a:path>
              </a:pathLst>
            </a:custGeom>
            <a:blipFill>
              <a:blip r:embed="rId12">
                <a:alphaModFix amt="0"/>
              </a:blip>
              <a:stretch>
                <a:fillRect l="0" t="-5177" r="0" b="-5177"/>
              </a:stretch>
            </a:blipFill>
          </p:spPr>
          <p:txBody>
            <a:bodyPr/>
            <a:p/>
          </p:txBody>
        </p:sp>
        <p:sp>
          <p:nvSpPr>
            <p:cNvPr name="TextBox 29" id="29"/>
            <p:cNvSpPr txBox="true"/>
            <p:nvPr/>
          </p:nvSpPr>
          <p:spPr>
            <a:xfrm>
              <a:off x="0" y="-47625"/>
              <a:ext cx="4536796" cy="1649730"/>
            </a:xfrm>
            <a:prstGeom prst="rect">
              <a:avLst/>
            </a:prstGeom>
          </p:spPr>
          <p:txBody>
            <a:bodyPr anchor="ctr" rtlCol="false" tIns="0" lIns="0" bIns="0" rIns="0"/>
            <a:lstStyle/>
            <a:p>
              <a:pPr algn="ctr">
                <a:lnSpc>
                  <a:spcPts val="2340"/>
                </a:lnSpc>
              </a:pPr>
              <a:r>
                <a:rPr lang="en-US" sz="1950" b="true">
                  <a:solidFill>
                    <a:srgbClr val="13294B"/>
                  </a:solidFill>
                  <a:latin typeface="Calibri (MS) Bold"/>
                  <a:ea typeface="Calibri (MS) Bold"/>
                  <a:cs typeface="Calibri (MS) Bold"/>
                  <a:sym typeface="Calibri (MS) Bold"/>
                </a:rPr>
                <a:t>1 · Tiền xử lý</a:t>
              </a:r>
            </a:p>
            <a:p>
              <a:pPr algn="ctr">
                <a:lnSpc>
                  <a:spcPts val="1889"/>
                </a:lnSpc>
              </a:pPr>
              <a:r>
                <a:rPr lang="en-US" sz="1575">
                  <a:solidFill>
                    <a:srgbClr val="5B677A"/>
                  </a:solidFill>
                  <a:latin typeface="Calibri (MS)"/>
                  <a:ea typeface="Calibri (MS)"/>
                  <a:cs typeface="Calibri (MS)"/>
                  <a:sym typeface="Calibri (MS)"/>
                </a:rPr>
                <a:t>chữ: NFC, chữ thường · ảnh: RGB, resize</a:t>
              </a:r>
            </a:p>
          </p:txBody>
        </p:sp>
      </p:grpSp>
      <p:sp>
        <p:nvSpPr>
          <p:cNvPr name="Freeform 30" id="30"/>
          <p:cNvSpPr/>
          <p:nvPr/>
        </p:nvSpPr>
        <p:spPr>
          <a:xfrm flipH="false" flipV="false" rot="0">
            <a:off x="4538072" y="7911179"/>
            <a:ext cx="513398" cy="444817"/>
          </a:xfrm>
          <a:custGeom>
            <a:avLst/>
            <a:gdLst/>
            <a:ahLst/>
            <a:cxnLst/>
            <a:rect r="r" b="b" t="t" l="l"/>
            <a:pathLst>
              <a:path h="444817" w="513398">
                <a:moveTo>
                  <a:pt x="0" y="0"/>
                </a:moveTo>
                <a:lnTo>
                  <a:pt x="513397" y="0"/>
                </a:lnTo>
                <a:lnTo>
                  <a:pt x="513397" y="444818"/>
                </a:lnTo>
                <a:lnTo>
                  <a:pt x="0" y="444818"/>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txBody>
          <a:bodyPr/>
          <a:p/>
        </p:txBody>
      </p:sp>
      <p:sp>
        <p:nvSpPr>
          <p:cNvPr name="Freeform 31" id="31"/>
          <p:cNvSpPr/>
          <p:nvPr/>
        </p:nvSpPr>
        <p:spPr>
          <a:xfrm flipH="false" flipV="false" rot="0">
            <a:off x="5155292" y="7527131"/>
            <a:ext cx="3627977" cy="1199197"/>
          </a:xfrm>
          <a:custGeom>
            <a:avLst/>
            <a:gdLst/>
            <a:ahLst/>
            <a:cxnLst/>
            <a:rect r="r" b="b" t="t" l="l"/>
            <a:pathLst>
              <a:path h="1199197" w="3627977">
                <a:moveTo>
                  <a:pt x="0" y="0"/>
                </a:moveTo>
                <a:lnTo>
                  <a:pt x="3627977" y="0"/>
                </a:lnTo>
                <a:lnTo>
                  <a:pt x="3627977" y="1199198"/>
                </a:lnTo>
                <a:lnTo>
                  <a:pt x="0" y="119919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32" id="32"/>
          <p:cNvGrpSpPr/>
          <p:nvPr/>
        </p:nvGrpSpPr>
        <p:grpSpPr>
          <a:xfrm rot="0">
            <a:off x="5267973" y="7543800"/>
            <a:ext cx="3402597" cy="1165860"/>
            <a:chOff x="0" y="0"/>
            <a:chExt cx="4536796" cy="1554480"/>
          </a:xfrm>
        </p:grpSpPr>
        <p:sp>
          <p:nvSpPr>
            <p:cNvPr name="Freeform 33" id="33"/>
            <p:cNvSpPr/>
            <p:nvPr/>
          </p:nvSpPr>
          <p:spPr>
            <a:xfrm flipH="false" flipV="false" rot="0">
              <a:off x="0" y="0"/>
              <a:ext cx="4536821" cy="1554480"/>
            </a:xfrm>
            <a:custGeom>
              <a:avLst/>
              <a:gdLst/>
              <a:ahLst/>
              <a:cxnLst/>
              <a:rect r="r" b="b" t="t" l="l"/>
              <a:pathLst>
                <a:path h="1554480" w="4536821">
                  <a:moveTo>
                    <a:pt x="0" y="0"/>
                  </a:moveTo>
                  <a:lnTo>
                    <a:pt x="4536821" y="0"/>
                  </a:lnTo>
                  <a:lnTo>
                    <a:pt x="4536821" y="1554480"/>
                  </a:lnTo>
                  <a:lnTo>
                    <a:pt x="0" y="1554480"/>
                  </a:lnTo>
                  <a:close/>
                </a:path>
              </a:pathLst>
            </a:custGeom>
            <a:blipFill>
              <a:blip r:embed="rId11">
                <a:alphaModFix amt="0"/>
              </a:blip>
              <a:stretch>
                <a:fillRect l="0" t="-6828" r="0" b="-6827"/>
              </a:stretch>
            </a:blipFill>
          </p:spPr>
          <p:txBody>
            <a:bodyPr/>
            <a:p/>
          </p:txBody>
        </p:sp>
      </p:grpSp>
      <p:grpSp>
        <p:nvGrpSpPr>
          <p:cNvPr name="Group 34" id="34"/>
          <p:cNvGrpSpPr/>
          <p:nvPr/>
        </p:nvGrpSpPr>
        <p:grpSpPr>
          <a:xfrm rot="0">
            <a:off x="5267973" y="7508081"/>
            <a:ext cx="3402597" cy="1201579"/>
            <a:chOff x="0" y="0"/>
            <a:chExt cx="4536796" cy="1602105"/>
          </a:xfrm>
        </p:grpSpPr>
        <p:sp>
          <p:nvSpPr>
            <p:cNvPr name="Freeform 35" id="35"/>
            <p:cNvSpPr/>
            <p:nvPr/>
          </p:nvSpPr>
          <p:spPr>
            <a:xfrm flipH="false" flipV="false" rot="0">
              <a:off x="0" y="0"/>
              <a:ext cx="4536796" cy="1602105"/>
            </a:xfrm>
            <a:custGeom>
              <a:avLst/>
              <a:gdLst/>
              <a:ahLst/>
              <a:cxnLst/>
              <a:rect r="r" b="b" t="t" l="l"/>
              <a:pathLst>
                <a:path h="1602105" w="4536796">
                  <a:moveTo>
                    <a:pt x="0" y="0"/>
                  </a:moveTo>
                  <a:lnTo>
                    <a:pt x="4536796" y="0"/>
                  </a:lnTo>
                  <a:lnTo>
                    <a:pt x="4536796" y="1602105"/>
                  </a:lnTo>
                  <a:lnTo>
                    <a:pt x="0" y="1602105"/>
                  </a:lnTo>
                  <a:close/>
                </a:path>
              </a:pathLst>
            </a:custGeom>
            <a:blipFill>
              <a:blip r:embed="rId12">
                <a:alphaModFix amt="0"/>
              </a:blip>
              <a:stretch>
                <a:fillRect l="0" t="-5177" r="0" b="-5177"/>
              </a:stretch>
            </a:blipFill>
          </p:spPr>
          <p:txBody>
            <a:bodyPr/>
            <a:p/>
          </p:txBody>
        </p:sp>
        <p:sp>
          <p:nvSpPr>
            <p:cNvPr name="TextBox 36" id="36"/>
            <p:cNvSpPr txBox="true"/>
            <p:nvPr/>
          </p:nvSpPr>
          <p:spPr>
            <a:xfrm>
              <a:off x="0" y="-47625"/>
              <a:ext cx="4536796" cy="1649730"/>
            </a:xfrm>
            <a:prstGeom prst="rect">
              <a:avLst/>
            </a:prstGeom>
          </p:spPr>
          <p:txBody>
            <a:bodyPr anchor="ctr" rtlCol="false" tIns="0" lIns="0" bIns="0" rIns="0"/>
            <a:lstStyle/>
            <a:p>
              <a:pPr algn="ctr">
                <a:lnSpc>
                  <a:spcPts val="2340"/>
                </a:lnSpc>
              </a:pPr>
              <a:r>
                <a:rPr lang="en-US" sz="1950" b="true">
                  <a:solidFill>
                    <a:srgbClr val="13294B"/>
                  </a:solidFill>
                  <a:latin typeface="Calibri (MS) Bold"/>
                  <a:ea typeface="Calibri (MS) Bold"/>
                  <a:cs typeface="Calibri (MS) Bold"/>
                  <a:sym typeface="Calibri (MS) Bold"/>
                </a:rPr>
                <a:t>2 · Cố định split</a:t>
              </a:r>
            </a:p>
            <a:p>
              <a:pPr algn="ctr">
                <a:lnSpc>
                  <a:spcPts val="1889"/>
                </a:lnSpc>
              </a:pPr>
              <a:r>
                <a:rPr lang="en-US" sz="1575">
                  <a:solidFill>
                    <a:srgbClr val="5B677A"/>
                  </a:solidFill>
                  <a:latin typeface="Calibri (MS)"/>
                  <a:ea typeface="Calibri (MS)"/>
                  <a:cs typeface="Calibri (MS)"/>
                  <a:sym typeface="Calibri (MS)"/>
                </a:rPr>
                <a:t>seed 42 / split chính thức</a:t>
              </a:r>
            </a:p>
          </p:txBody>
        </p:sp>
      </p:grpSp>
      <p:sp>
        <p:nvSpPr>
          <p:cNvPr name="Freeform 37" id="37"/>
          <p:cNvSpPr/>
          <p:nvPr/>
        </p:nvSpPr>
        <p:spPr>
          <a:xfrm flipH="false" flipV="false" rot="0">
            <a:off x="8887073" y="7911179"/>
            <a:ext cx="513397" cy="444817"/>
          </a:xfrm>
          <a:custGeom>
            <a:avLst/>
            <a:gdLst/>
            <a:ahLst/>
            <a:cxnLst/>
            <a:rect r="r" b="b" t="t" l="l"/>
            <a:pathLst>
              <a:path h="444817" w="513397">
                <a:moveTo>
                  <a:pt x="0" y="0"/>
                </a:moveTo>
                <a:lnTo>
                  <a:pt x="513397" y="0"/>
                </a:lnTo>
                <a:lnTo>
                  <a:pt x="513397" y="444818"/>
                </a:lnTo>
                <a:lnTo>
                  <a:pt x="0" y="444818"/>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txBody>
          <a:bodyPr/>
          <a:p/>
        </p:txBody>
      </p:sp>
      <p:sp>
        <p:nvSpPr>
          <p:cNvPr name="Freeform 38" id="38"/>
          <p:cNvSpPr/>
          <p:nvPr/>
        </p:nvSpPr>
        <p:spPr>
          <a:xfrm flipH="false" flipV="false" rot="0">
            <a:off x="9504293" y="7527131"/>
            <a:ext cx="3627977" cy="1199197"/>
          </a:xfrm>
          <a:custGeom>
            <a:avLst/>
            <a:gdLst/>
            <a:ahLst/>
            <a:cxnLst/>
            <a:rect r="r" b="b" t="t" l="l"/>
            <a:pathLst>
              <a:path h="1199197" w="3627977">
                <a:moveTo>
                  <a:pt x="0" y="0"/>
                </a:moveTo>
                <a:lnTo>
                  <a:pt x="3627977" y="0"/>
                </a:lnTo>
                <a:lnTo>
                  <a:pt x="3627977" y="1199198"/>
                </a:lnTo>
                <a:lnTo>
                  <a:pt x="0" y="119919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39" id="39"/>
          <p:cNvGrpSpPr/>
          <p:nvPr/>
        </p:nvGrpSpPr>
        <p:grpSpPr>
          <a:xfrm rot="0">
            <a:off x="9616973" y="7543800"/>
            <a:ext cx="3402597" cy="1165860"/>
            <a:chOff x="0" y="0"/>
            <a:chExt cx="4536796" cy="1554480"/>
          </a:xfrm>
        </p:grpSpPr>
        <p:sp>
          <p:nvSpPr>
            <p:cNvPr name="Freeform 40" id="40"/>
            <p:cNvSpPr/>
            <p:nvPr/>
          </p:nvSpPr>
          <p:spPr>
            <a:xfrm flipH="false" flipV="false" rot="0">
              <a:off x="0" y="0"/>
              <a:ext cx="4536821" cy="1554480"/>
            </a:xfrm>
            <a:custGeom>
              <a:avLst/>
              <a:gdLst/>
              <a:ahLst/>
              <a:cxnLst/>
              <a:rect r="r" b="b" t="t" l="l"/>
              <a:pathLst>
                <a:path h="1554480" w="4536821">
                  <a:moveTo>
                    <a:pt x="0" y="0"/>
                  </a:moveTo>
                  <a:lnTo>
                    <a:pt x="4536821" y="0"/>
                  </a:lnTo>
                  <a:lnTo>
                    <a:pt x="4536821" y="1554480"/>
                  </a:lnTo>
                  <a:lnTo>
                    <a:pt x="0" y="1554480"/>
                  </a:lnTo>
                  <a:close/>
                </a:path>
              </a:pathLst>
            </a:custGeom>
            <a:blipFill>
              <a:blip r:embed="rId11">
                <a:alphaModFix amt="0"/>
              </a:blip>
              <a:stretch>
                <a:fillRect l="0" t="-6828" r="0" b="-6827"/>
              </a:stretch>
            </a:blipFill>
          </p:spPr>
          <p:txBody>
            <a:bodyPr/>
            <a:p/>
          </p:txBody>
        </p:sp>
      </p:grpSp>
      <p:grpSp>
        <p:nvGrpSpPr>
          <p:cNvPr name="Group 41" id="41"/>
          <p:cNvGrpSpPr/>
          <p:nvPr/>
        </p:nvGrpSpPr>
        <p:grpSpPr>
          <a:xfrm rot="0">
            <a:off x="9616973" y="7508081"/>
            <a:ext cx="3402597" cy="1201579"/>
            <a:chOff x="0" y="0"/>
            <a:chExt cx="4536796" cy="1602105"/>
          </a:xfrm>
        </p:grpSpPr>
        <p:sp>
          <p:nvSpPr>
            <p:cNvPr name="Freeform 42" id="42"/>
            <p:cNvSpPr/>
            <p:nvPr/>
          </p:nvSpPr>
          <p:spPr>
            <a:xfrm flipH="false" flipV="false" rot="0">
              <a:off x="0" y="0"/>
              <a:ext cx="4536796" cy="1602105"/>
            </a:xfrm>
            <a:custGeom>
              <a:avLst/>
              <a:gdLst/>
              <a:ahLst/>
              <a:cxnLst/>
              <a:rect r="r" b="b" t="t" l="l"/>
              <a:pathLst>
                <a:path h="1602105" w="4536796">
                  <a:moveTo>
                    <a:pt x="0" y="0"/>
                  </a:moveTo>
                  <a:lnTo>
                    <a:pt x="4536796" y="0"/>
                  </a:lnTo>
                  <a:lnTo>
                    <a:pt x="4536796" y="1602105"/>
                  </a:lnTo>
                  <a:lnTo>
                    <a:pt x="0" y="1602105"/>
                  </a:lnTo>
                  <a:close/>
                </a:path>
              </a:pathLst>
            </a:custGeom>
            <a:blipFill>
              <a:blip r:embed="rId12">
                <a:alphaModFix amt="0"/>
              </a:blip>
              <a:stretch>
                <a:fillRect l="0" t="-5177" r="0" b="-5177"/>
              </a:stretch>
            </a:blipFill>
          </p:spPr>
          <p:txBody>
            <a:bodyPr/>
            <a:p/>
          </p:txBody>
        </p:sp>
        <p:sp>
          <p:nvSpPr>
            <p:cNvPr name="TextBox 43" id="43"/>
            <p:cNvSpPr txBox="true"/>
            <p:nvPr/>
          </p:nvSpPr>
          <p:spPr>
            <a:xfrm>
              <a:off x="0" y="-47625"/>
              <a:ext cx="4536796" cy="1649730"/>
            </a:xfrm>
            <a:prstGeom prst="rect">
              <a:avLst/>
            </a:prstGeom>
          </p:spPr>
          <p:txBody>
            <a:bodyPr anchor="ctr" rtlCol="false" tIns="0" lIns="0" bIns="0" rIns="0"/>
            <a:lstStyle/>
            <a:p>
              <a:pPr algn="ctr">
                <a:lnSpc>
                  <a:spcPts val="2340"/>
                </a:lnSpc>
              </a:pPr>
              <a:r>
                <a:rPr lang="en-US" sz="1950" b="true">
                  <a:solidFill>
                    <a:srgbClr val="13294B"/>
                  </a:solidFill>
                  <a:latin typeface="Calibri (MS) Bold"/>
                  <a:ea typeface="Calibri (MS) Bold"/>
                  <a:cs typeface="Calibri (MS) Bold"/>
                  <a:sym typeface="Calibri (MS) Bold"/>
                </a:rPr>
                <a:t>3 · Chọn cấu hình</a:t>
              </a:r>
            </a:p>
            <a:p>
              <a:pPr algn="ctr">
                <a:lnSpc>
                  <a:spcPts val="1889"/>
                </a:lnSpc>
              </a:pPr>
              <a:r>
                <a:rPr lang="en-US" sz="1575">
                  <a:solidFill>
                    <a:srgbClr val="5B677A"/>
                  </a:solidFill>
                  <a:latin typeface="Calibri (MS)"/>
                  <a:ea typeface="Calibri (MS)"/>
                  <a:cs typeface="Calibri (MS)"/>
                  <a:sym typeface="Calibri (MS)"/>
                </a:rPr>
                <a:t>trên val / dev (vd: epoch, cấu hình OCR)</a:t>
              </a:r>
            </a:p>
          </p:txBody>
        </p:sp>
      </p:grpSp>
      <p:sp>
        <p:nvSpPr>
          <p:cNvPr name="Freeform 44" id="44"/>
          <p:cNvSpPr/>
          <p:nvPr/>
        </p:nvSpPr>
        <p:spPr>
          <a:xfrm flipH="false" flipV="false" rot="0">
            <a:off x="13236073" y="7911179"/>
            <a:ext cx="513397" cy="444817"/>
          </a:xfrm>
          <a:custGeom>
            <a:avLst/>
            <a:gdLst/>
            <a:ahLst/>
            <a:cxnLst/>
            <a:rect r="r" b="b" t="t" l="l"/>
            <a:pathLst>
              <a:path h="444817" w="513397">
                <a:moveTo>
                  <a:pt x="0" y="0"/>
                </a:moveTo>
                <a:lnTo>
                  <a:pt x="513398" y="0"/>
                </a:lnTo>
                <a:lnTo>
                  <a:pt x="513398" y="444818"/>
                </a:lnTo>
                <a:lnTo>
                  <a:pt x="0" y="444818"/>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txBody>
          <a:bodyPr/>
          <a:p/>
        </p:txBody>
      </p:sp>
      <p:sp>
        <p:nvSpPr>
          <p:cNvPr name="Freeform 45" id="45"/>
          <p:cNvSpPr/>
          <p:nvPr/>
        </p:nvSpPr>
        <p:spPr>
          <a:xfrm flipH="false" flipV="false" rot="0">
            <a:off x="13853293" y="7527131"/>
            <a:ext cx="3627977" cy="1199197"/>
          </a:xfrm>
          <a:custGeom>
            <a:avLst/>
            <a:gdLst/>
            <a:ahLst/>
            <a:cxnLst/>
            <a:rect r="r" b="b" t="t" l="l"/>
            <a:pathLst>
              <a:path h="1199197" w="3627977">
                <a:moveTo>
                  <a:pt x="0" y="0"/>
                </a:moveTo>
                <a:lnTo>
                  <a:pt x="3627978" y="0"/>
                </a:lnTo>
                <a:lnTo>
                  <a:pt x="3627978" y="1199198"/>
                </a:lnTo>
                <a:lnTo>
                  <a:pt x="0" y="1199198"/>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p:spPr>
        <p:txBody>
          <a:bodyPr/>
          <a:p/>
        </p:txBody>
      </p:sp>
      <p:grpSp>
        <p:nvGrpSpPr>
          <p:cNvPr name="Group 46" id="46"/>
          <p:cNvGrpSpPr/>
          <p:nvPr/>
        </p:nvGrpSpPr>
        <p:grpSpPr>
          <a:xfrm rot="0">
            <a:off x="13965974" y="7543800"/>
            <a:ext cx="3402597" cy="1165860"/>
            <a:chOff x="0" y="0"/>
            <a:chExt cx="4536796" cy="1554480"/>
          </a:xfrm>
        </p:grpSpPr>
        <p:sp>
          <p:nvSpPr>
            <p:cNvPr name="Freeform 47" id="47"/>
            <p:cNvSpPr/>
            <p:nvPr/>
          </p:nvSpPr>
          <p:spPr>
            <a:xfrm flipH="false" flipV="false" rot="0">
              <a:off x="0" y="0"/>
              <a:ext cx="4536821" cy="1554480"/>
            </a:xfrm>
            <a:custGeom>
              <a:avLst/>
              <a:gdLst/>
              <a:ahLst/>
              <a:cxnLst/>
              <a:rect r="r" b="b" t="t" l="l"/>
              <a:pathLst>
                <a:path h="1554480" w="4536821">
                  <a:moveTo>
                    <a:pt x="0" y="0"/>
                  </a:moveTo>
                  <a:lnTo>
                    <a:pt x="4536821" y="0"/>
                  </a:lnTo>
                  <a:lnTo>
                    <a:pt x="4536821" y="1554480"/>
                  </a:lnTo>
                  <a:lnTo>
                    <a:pt x="0" y="1554480"/>
                  </a:lnTo>
                  <a:close/>
                </a:path>
              </a:pathLst>
            </a:custGeom>
            <a:blipFill>
              <a:blip r:embed="rId11">
                <a:alphaModFix amt="0"/>
              </a:blip>
              <a:stretch>
                <a:fillRect l="0" t="-6828" r="0" b="-6827"/>
              </a:stretch>
            </a:blipFill>
          </p:spPr>
          <p:txBody>
            <a:bodyPr/>
            <a:p/>
          </p:txBody>
        </p:sp>
      </p:grpSp>
      <p:grpSp>
        <p:nvGrpSpPr>
          <p:cNvPr name="Group 48" id="48"/>
          <p:cNvGrpSpPr/>
          <p:nvPr/>
        </p:nvGrpSpPr>
        <p:grpSpPr>
          <a:xfrm rot="0">
            <a:off x="13965974" y="7508081"/>
            <a:ext cx="3402597" cy="1201579"/>
            <a:chOff x="0" y="0"/>
            <a:chExt cx="4536796" cy="1602105"/>
          </a:xfrm>
        </p:grpSpPr>
        <p:sp>
          <p:nvSpPr>
            <p:cNvPr name="Freeform 49" id="49"/>
            <p:cNvSpPr/>
            <p:nvPr/>
          </p:nvSpPr>
          <p:spPr>
            <a:xfrm flipH="false" flipV="false" rot="0">
              <a:off x="0" y="0"/>
              <a:ext cx="4536796" cy="1602105"/>
            </a:xfrm>
            <a:custGeom>
              <a:avLst/>
              <a:gdLst/>
              <a:ahLst/>
              <a:cxnLst/>
              <a:rect r="r" b="b" t="t" l="l"/>
              <a:pathLst>
                <a:path h="1602105" w="4536796">
                  <a:moveTo>
                    <a:pt x="0" y="0"/>
                  </a:moveTo>
                  <a:lnTo>
                    <a:pt x="4536796" y="0"/>
                  </a:lnTo>
                  <a:lnTo>
                    <a:pt x="4536796" y="1602105"/>
                  </a:lnTo>
                  <a:lnTo>
                    <a:pt x="0" y="1602105"/>
                  </a:lnTo>
                  <a:close/>
                </a:path>
              </a:pathLst>
            </a:custGeom>
            <a:blipFill>
              <a:blip r:embed="rId12">
                <a:alphaModFix amt="0"/>
              </a:blip>
              <a:stretch>
                <a:fillRect l="0" t="-5177" r="0" b="-5177"/>
              </a:stretch>
            </a:blipFill>
          </p:spPr>
          <p:txBody>
            <a:bodyPr/>
            <a:p/>
          </p:txBody>
        </p:sp>
        <p:sp>
          <p:nvSpPr>
            <p:cNvPr name="TextBox 50" id="50"/>
            <p:cNvSpPr txBox="true"/>
            <p:nvPr/>
          </p:nvSpPr>
          <p:spPr>
            <a:xfrm>
              <a:off x="0" y="-47625"/>
              <a:ext cx="4536796" cy="1649730"/>
            </a:xfrm>
            <a:prstGeom prst="rect">
              <a:avLst/>
            </a:prstGeom>
          </p:spPr>
          <p:txBody>
            <a:bodyPr anchor="ctr" rtlCol="false" tIns="0" lIns="0" bIns="0" rIns="0"/>
            <a:lstStyle/>
            <a:p>
              <a:pPr algn="ctr">
                <a:lnSpc>
                  <a:spcPts val="2340"/>
                </a:lnSpc>
              </a:pPr>
              <a:r>
                <a:rPr lang="en-US" sz="1950" b="true">
                  <a:solidFill>
                    <a:srgbClr val="13294B"/>
                  </a:solidFill>
                  <a:latin typeface="Calibri (MS) Bold"/>
                  <a:ea typeface="Calibri (MS) Bold"/>
                  <a:cs typeface="Calibri (MS) Bold"/>
                  <a:sym typeface="Calibri (MS) Bold"/>
                </a:rPr>
                <a:t>4 · Báo cáo</a:t>
              </a:r>
            </a:p>
            <a:p>
              <a:pPr algn="ctr">
                <a:lnSpc>
                  <a:spcPts val="1889"/>
                </a:lnSpc>
              </a:pPr>
              <a:r>
                <a:rPr lang="en-US" sz="1575">
                  <a:solidFill>
                    <a:srgbClr val="5B677A"/>
                  </a:solidFill>
                  <a:latin typeface="Calibri (MS)"/>
                  <a:ea typeface="Calibri (MS)"/>
                  <a:cs typeface="Calibri (MS)"/>
                  <a:sym typeface="Calibri (MS)"/>
                </a:rPr>
                <a:t>trên test — không dùng để chọn</a:t>
              </a:r>
            </a:p>
          </p:txBody>
        </p:sp>
      </p:grpSp>
      <p:grpSp>
        <p:nvGrpSpPr>
          <p:cNvPr name="Group 51" id="51"/>
          <p:cNvGrpSpPr/>
          <p:nvPr/>
        </p:nvGrpSpPr>
        <p:grpSpPr>
          <a:xfrm rot="0">
            <a:off x="1209437" y="5831729"/>
            <a:ext cx="5253895" cy="488918"/>
            <a:chOff x="0" y="0"/>
            <a:chExt cx="7005193" cy="651891"/>
          </a:xfrm>
        </p:grpSpPr>
        <p:sp>
          <p:nvSpPr>
            <p:cNvPr name="Freeform 52" id="52"/>
            <p:cNvSpPr/>
            <p:nvPr/>
          </p:nvSpPr>
          <p:spPr>
            <a:xfrm flipH="false" flipV="false" rot="0">
              <a:off x="0" y="0"/>
              <a:ext cx="7005193" cy="651891"/>
            </a:xfrm>
            <a:custGeom>
              <a:avLst/>
              <a:gdLst/>
              <a:ahLst/>
              <a:cxnLst/>
              <a:rect r="r" b="b" t="t" l="l"/>
              <a:pathLst>
                <a:path h="651891" w="7005193">
                  <a:moveTo>
                    <a:pt x="0" y="0"/>
                  </a:moveTo>
                  <a:lnTo>
                    <a:pt x="7005193" y="0"/>
                  </a:lnTo>
                  <a:lnTo>
                    <a:pt x="7005193" y="651891"/>
                  </a:lnTo>
                  <a:lnTo>
                    <a:pt x="0" y="651891"/>
                  </a:lnTo>
                  <a:close/>
                </a:path>
              </a:pathLst>
            </a:custGeom>
            <a:solidFill>
              <a:srgbClr val="13294B"/>
            </a:solidFill>
            <a:ln w="28575" cap="sq">
              <a:solidFill>
                <a:srgbClr val="FFFFFF"/>
              </a:solidFill>
              <a:prstDash val="solid"/>
              <a:miter/>
            </a:ln>
          </p:spPr>
          <p:txBody>
            <a:bodyPr/>
            <a:p/>
          </p:txBody>
        </p:sp>
      </p:grpSp>
      <p:grpSp>
        <p:nvGrpSpPr>
          <p:cNvPr name="Group 53" id="53"/>
          <p:cNvGrpSpPr/>
          <p:nvPr/>
        </p:nvGrpSpPr>
        <p:grpSpPr>
          <a:xfrm rot="0">
            <a:off x="1220152" y="5821013"/>
            <a:ext cx="5232492" cy="488918"/>
            <a:chOff x="0" y="0"/>
            <a:chExt cx="6976656" cy="651891"/>
          </a:xfrm>
        </p:grpSpPr>
        <p:sp>
          <p:nvSpPr>
            <p:cNvPr name="Freeform 54" id="54"/>
            <p:cNvSpPr/>
            <p:nvPr/>
          </p:nvSpPr>
          <p:spPr>
            <a:xfrm flipH="false" flipV="false" rot="0">
              <a:off x="0" y="0"/>
              <a:ext cx="6976656" cy="651891"/>
            </a:xfrm>
            <a:custGeom>
              <a:avLst/>
              <a:gdLst/>
              <a:ahLst/>
              <a:cxnLst/>
              <a:rect r="r" b="b" t="t" l="l"/>
              <a:pathLst>
                <a:path h="651891" w="6976656">
                  <a:moveTo>
                    <a:pt x="0" y="0"/>
                  </a:moveTo>
                  <a:lnTo>
                    <a:pt x="6976656" y="0"/>
                  </a:lnTo>
                  <a:lnTo>
                    <a:pt x="6976656" y="651891"/>
                  </a:lnTo>
                  <a:lnTo>
                    <a:pt x="0" y="651891"/>
                  </a:lnTo>
                  <a:close/>
                </a:path>
              </a:pathLst>
            </a:custGeom>
            <a:blipFill>
              <a:blip r:embed="rId12">
                <a:alphaModFix amt="0"/>
              </a:blip>
              <a:stretch>
                <a:fillRect l="0" t="-158532" r="0" b="-158532"/>
              </a:stretch>
            </a:blipFill>
          </p:spPr>
          <p:txBody>
            <a:bodyPr/>
            <a:p/>
          </p:txBody>
        </p:sp>
        <p:sp>
          <p:nvSpPr>
            <p:cNvPr name="TextBox 55" id="55"/>
            <p:cNvSpPr txBox="true"/>
            <p:nvPr/>
          </p:nvSpPr>
          <p:spPr>
            <a:xfrm>
              <a:off x="0" y="-28575"/>
              <a:ext cx="6976656" cy="680466"/>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train 72%</a:t>
              </a:r>
            </a:p>
          </p:txBody>
        </p:sp>
      </p:grpSp>
      <p:grpSp>
        <p:nvGrpSpPr>
          <p:cNvPr name="Group 56" id="56"/>
          <p:cNvGrpSpPr/>
          <p:nvPr/>
        </p:nvGrpSpPr>
        <p:grpSpPr>
          <a:xfrm rot="0">
            <a:off x="6413354" y="5831729"/>
            <a:ext cx="628269" cy="488918"/>
            <a:chOff x="0" y="0"/>
            <a:chExt cx="837692" cy="651891"/>
          </a:xfrm>
        </p:grpSpPr>
        <p:sp>
          <p:nvSpPr>
            <p:cNvPr name="Freeform 57" id="57"/>
            <p:cNvSpPr/>
            <p:nvPr/>
          </p:nvSpPr>
          <p:spPr>
            <a:xfrm flipH="false" flipV="false" rot="0">
              <a:off x="0" y="0"/>
              <a:ext cx="837692" cy="651891"/>
            </a:xfrm>
            <a:custGeom>
              <a:avLst/>
              <a:gdLst/>
              <a:ahLst/>
              <a:cxnLst/>
              <a:rect r="r" b="b" t="t" l="l"/>
              <a:pathLst>
                <a:path h="651891" w="837692">
                  <a:moveTo>
                    <a:pt x="0" y="0"/>
                  </a:moveTo>
                  <a:lnTo>
                    <a:pt x="837692" y="0"/>
                  </a:lnTo>
                  <a:lnTo>
                    <a:pt x="837692" y="651891"/>
                  </a:lnTo>
                  <a:lnTo>
                    <a:pt x="0" y="651891"/>
                  </a:lnTo>
                  <a:close/>
                </a:path>
              </a:pathLst>
            </a:custGeom>
            <a:solidFill>
              <a:srgbClr val="E8A33D"/>
            </a:solidFill>
            <a:ln w="28575" cap="sq">
              <a:solidFill>
                <a:srgbClr val="FFFFFF"/>
              </a:solidFill>
              <a:prstDash val="solid"/>
              <a:miter/>
            </a:ln>
          </p:spPr>
          <p:txBody>
            <a:bodyPr/>
            <a:p/>
          </p:txBody>
        </p:sp>
      </p:grpSp>
      <p:grpSp>
        <p:nvGrpSpPr>
          <p:cNvPr name="Group 58" id="58"/>
          <p:cNvGrpSpPr/>
          <p:nvPr/>
        </p:nvGrpSpPr>
        <p:grpSpPr>
          <a:xfrm rot="0">
            <a:off x="6424070" y="5821013"/>
            <a:ext cx="606838" cy="488918"/>
            <a:chOff x="0" y="0"/>
            <a:chExt cx="809117" cy="651891"/>
          </a:xfrm>
        </p:grpSpPr>
        <p:sp>
          <p:nvSpPr>
            <p:cNvPr name="Freeform 59" id="59"/>
            <p:cNvSpPr/>
            <p:nvPr/>
          </p:nvSpPr>
          <p:spPr>
            <a:xfrm flipH="false" flipV="false" rot="0">
              <a:off x="0" y="0"/>
              <a:ext cx="809117" cy="651891"/>
            </a:xfrm>
            <a:custGeom>
              <a:avLst/>
              <a:gdLst/>
              <a:ahLst/>
              <a:cxnLst/>
              <a:rect r="r" b="b" t="t" l="l"/>
              <a:pathLst>
                <a:path h="651891" w="809117">
                  <a:moveTo>
                    <a:pt x="0" y="0"/>
                  </a:moveTo>
                  <a:lnTo>
                    <a:pt x="809117" y="0"/>
                  </a:lnTo>
                  <a:lnTo>
                    <a:pt x="809117" y="651891"/>
                  </a:lnTo>
                  <a:lnTo>
                    <a:pt x="0" y="651891"/>
                  </a:lnTo>
                  <a:close/>
                </a:path>
              </a:pathLst>
            </a:custGeom>
            <a:blipFill>
              <a:blip r:embed="rId12">
                <a:alphaModFix amt="0"/>
              </a:blip>
              <a:stretch>
                <a:fillRect l="-53371" t="0" r="-53371" b="0"/>
              </a:stretch>
            </a:blipFill>
          </p:spPr>
          <p:txBody>
            <a:bodyPr/>
            <a:p/>
          </p:txBody>
        </p:sp>
        <p:sp>
          <p:nvSpPr>
            <p:cNvPr name="TextBox 60" id="60"/>
            <p:cNvSpPr txBox="true"/>
            <p:nvPr/>
          </p:nvSpPr>
          <p:spPr>
            <a:xfrm>
              <a:off x="0" y="-28575"/>
              <a:ext cx="809117" cy="680466"/>
            </a:xfrm>
            <a:prstGeom prst="rect">
              <a:avLst/>
            </a:prstGeom>
          </p:spPr>
          <p:txBody>
            <a:bodyPr anchor="ctr" rtlCol="false" tIns="0" lIns="0" bIns="0" rIns="0"/>
            <a:lstStyle/>
            <a:p>
              <a:pPr algn="ctr">
                <a:lnSpc>
                  <a:spcPts val="1620"/>
                </a:lnSpc>
              </a:pPr>
              <a:r>
                <a:rPr lang="en-US" sz="1350" b="true">
                  <a:solidFill>
                    <a:srgbClr val="FFFFFF"/>
                  </a:solidFill>
                  <a:latin typeface="Calibri (MS) Bold"/>
                  <a:ea typeface="Calibri (MS) Bold"/>
                  <a:cs typeface="Calibri (MS) Bold"/>
                  <a:sym typeface="Calibri (MS) Bold"/>
                </a:rPr>
                <a:t>val 8%</a:t>
              </a:r>
            </a:p>
          </p:txBody>
        </p:sp>
      </p:grpSp>
      <p:grpSp>
        <p:nvGrpSpPr>
          <p:cNvPr name="Group 61" id="61"/>
          <p:cNvGrpSpPr/>
          <p:nvPr/>
        </p:nvGrpSpPr>
        <p:grpSpPr>
          <a:xfrm rot="0">
            <a:off x="6991617" y="5831729"/>
            <a:ext cx="1496187" cy="488918"/>
            <a:chOff x="0" y="0"/>
            <a:chExt cx="1994916" cy="651891"/>
          </a:xfrm>
        </p:grpSpPr>
        <p:sp>
          <p:nvSpPr>
            <p:cNvPr name="Freeform 62" id="62"/>
            <p:cNvSpPr/>
            <p:nvPr/>
          </p:nvSpPr>
          <p:spPr>
            <a:xfrm flipH="false" flipV="false" rot="0">
              <a:off x="0" y="0"/>
              <a:ext cx="1994916" cy="651891"/>
            </a:xfrm>
            <a:custGeom>
              <a:avLst/>
              <a:gdLst/>
              <a:ahLst/>
              <a:cxnLst/>
              <a:rect r="r" b="b" t="t" l="l"/>
              <a:pathLst>
                <a:path h="651891" w="1994916">
                  <a:moveTo>
                    <a:pt x="0" y="0"/>
                  </a:moveTo>
                  <a:lnTo>
                    <a:pt x="1994916" y="0"/>
                  </a:lnTo>
                  <a:lnTo>
                    <a:pt x="1994916" y="651891"/>
                  </a:lnTo>
                  <a:lnTo>
                    <a:pt x="0" y="651891"/>
                  </a:lnTo>
                  <a:close/>
                </a:path>
              </a:pathLst>
            </a:custGeom>
            <a:solidFill>
              <a:srgbClr val="1C7293"/>
            </a:solidFill>
            <a:ln w="28575" cap="sq">
              <a:solidFill>
                <a:srgbClr val="FFFFFF"/>
              </a:solidFill>
              <a:prstDash val="solid"/>
              <a:miter/>
            </a:ln>
          </p:spPr>
          <p:txBody>
            <a:bodyPr/>
            <a:p/>
          </p:txBody>
        </p:sp>
      </p:grpSp>
      <p:grpSp>
        <p:nvGrpSpPr>
          <p:cNvPr name="Group 63" id="63"/>
          <p:cNvGrpSpPr/>
          <p:nvPr/>
        </p:nvGrpSpPr>
        <p:grpSpPr>
          <a:xfrm rot="0">
            <a:off x="7002332" y="5821013"/>
            <a:ext cx="1474718" cy="488918"/>
            <a:chOff x="0" y="0"/>
            <a:chExt cx="1966290" cy="651891"/>
          </a:xfrm>
        </p:grpSpPr>
        <p:sp>
          <p:nvSpPr>
            <p:cNvPr name="Freeform 64" id="64"/>
            <p:cNvSpPr/>
            <p:nvPr/>
          </p:nvSpPr>
          <p:spPr>
            <a:xfrm flipH="false" flipV="false" rot="0">
              <a:off x="0" y="0"/>
              <a:ext cx="1966291" cy="651891"/>
            </a:xfrm>
            <a:custGeom>
              <a:avLst/>
              <a:gdLst/>
              <a:ahLst/>
              <a:cxnLst/>
              <a:rect r="r" b="b" t="t" l="l"/>
              <a:pathLst>
                <a:path h="651891" w="1966291">
                  <a:moveTo>
                    <a:pt x="0" y="0"/>
                  </a:moveTo>
                  <a:lnTo>
                    <a:pt x="1966291" y="0"/>
                  </a:lnTo>
                  <a:lnTo>
                    <a:pt x="1966291" y="651891"/>
                  </a:lnTo>
                  <a:lnTo>
                    <a:pt x="0" y="651891"/>
                  </a:lnTo>
                  <a:close/>
                </a:path>
              </a:pathLst>
            </a:custGeom>
            <a:blipFill>
              <a:blip r:embed="rId12">
                <a:alphaModFix amt="0"/>
              </a:blip>
              <a:stretch>
                <a:fillRect l="0" t="-8772" r="0" b="-8772"/>
              </a:stretch>
            </a:blipFill>
          </p:spPr>
          <p:txBody>
            <a:bodyPr/>
            <a:p/>
          </p:txBody>
        </p:sp>
        <p:sp>
          <p:nvSpPr>
            <p:cNvPr name="TextBox 65" id="65"/>
            <p:cNvSpPr txBox="true"/>
            <p:nvPr/>
          </p:nvSpPr>
          <p:spPr>
            <a:xfrm>
              <a:off x="0" y="-28575"/>
              <a:ext cx="1966290" cy="680466"/>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test 20%</a:t>
              </a:r>
            </a:p>
          </p:txBody>
        </p:sp>
      </p:grpSp>
      <p:grpSp>
        <p:nvGrpSpPr>
          <p:cNvPr name="Group 66" id="66"/>
          <p:cNvGrpSpPr/>
          <p:nvPr/>
        </p:nvGrpSpPr>
        <p:grpSpPr>
          <a:xfrm rot="0">
            <a:off x="9809369" y="5831729"/>
            <a:ext cx="5098256" cy="488918"/>
            <a:chOff x="0" y="0"/>
            <a:chExt cx="6797675" cy="651891"/>
          </a:xfrm>
        </p:grpSpPr>
        <p:sp>
          <p:nvSpPr>
            <p:cNvPr name="Freeform 67" id="67"/>
            <p:cNvSpPr/>
            <p:nvPr/>
          </p:nvSpPr>
          <p:spPr>
            <a:xfrm flipH="false" flipV="false" rot="0">
              <a:off x="0" y="0"/>
              <a:ext cx="6797675" cy="651891"/>
            </a:xfrm>
            <a:custGeom>
              <a:avLst/>
              <a:gdLst/>
              <a:ahLst/>
              <a:cxnLst/>
              <a:rect r="r" b="b" t="t" l="l"/>
              <a:pathLst>
                <a:path h="651891" w="6797675">
                  <a:moveTo>
                    <a:pt x="0" y="0"/>
                  </a:moveTo>
                  <a:lnTo>
                    <a:pt x="6797675" y="0"/>
                  </a:lnTo>
                  <a:lnTo>
                    <a:pt x="6797675" y="651891"/>
                  </a:lnTo>
                  <a:lnTo>
                    <a:pt x="0" y="651891"/>
                  </a:lnTo>
                  <a:close/>
                </a:path>
              </a:pathLst>
            </a:custGeom>
            <a:solidFill>
              <a:srgbClr val="13294B"/>
            </a:solidFill>
            <a:ln w="28575" cap="sq">
              <a:solidFill>
                <a:srgbClr val="FFFFFF"/>
              </a:solidFill>
              <a:prstDash val="solid"/>
              <a:miter/>
            </a:ln>
          </p:spPr>
          <p:txBody>
            <a:bodyPr/>
            <a:p/>
          </p:txBody>
        </p:sp>
      </p:grpSp>
      <p:grpSp>
        <p:nvGrpSpPr>
          <p:cNvPr name="Group 68" id="68"/>
          <p:cNvGrpSpPr/>
          <p:nvPr/>
        </p:nvGrpSpPr>
        <p:grpSpPr>
          <a:xfrm rot="0">
            <a:off x="9820084" y="5821013"/>
            <a:ext cx="5076863" cy="488918"/>
            <a:chOff x="0" y="0"/>
            <a:chExt cx="6769151" cy="651891"/>
          </a:xfrm>
        </p:grpSpPr>
        <p:sp>
          <p:nvSpPr>
            <p:cNvPr name="Freeform 69" id="69"/>
            <p:cNvSpPr/>
            <p:nvPr/>
          </p:nvSpPr>
          <p:spPr>
            <a:xfrm flipH="false" flipV="false" rot="0">
              <a:off x="0" y="0"/>
              <a:ext cx="6769150" cy="651891"/>
            </a:xfrm>
            <a:custGeom>
              <a:avLst/>
              <a:gdLst/>
              <a:ahLst/>
              <a:cxnLst/>
              <a:rect r="r" b="b" t="t" l="l"/>
              <a:pathLst>
                <a:path h="651891" w="6769150">
                  <a:moveTo>
                    <a:pt x="0" y="0"/>
                  </a:moveTo>
                  <a:lnTo>
                    <a:pt x="6769150" y="0"/>
                  </a:lnTo>
                  <a:lnTo>
                    <a:pt x="6769150" y="651891"/>
                  </a:lnTo>
                  <a:lnTo>
                    <a:pt x="0" y="651891"/>
                  </a:lnTo>
                  <a:close/>
                </a:path>
              </a:pathLst>
            </a:custGeom>
            <a:blipFill>
              <a:blip r:embed="rId12">
                <a:alphaModFix amt="0"/>
              </a:blip>
              <a:stretch>
                <a:fillRect l="0" t="-152330" r="0" b="-152330"/>
              </a:stretch>
            </a:blipFill>
          </p:spPr>
          <p:txBody>
            <a:bodyPr/>
            <a:p/>
          </p:txBody>
        </p:sp>
        <p:sp>
          <p:nvSpPr>
            <p:cNvPr name="TextBox 70" id="70"/>
            <p:cNvSpPr txBox="true"/>
            <p:nvPr/>
          </p:nvSpPr>
          <p:spPr>
            <a:xfrm>
              <a:off x="0" y="-28575"/>
              <a:ext cx="6769151" cy="680466"/>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train 70%</a:t>
              </a:r>
            </a:p>
          </p:txBody>
        </p:sp>
      </p:grpSp>
      <p:grpSp>
        <p:nvGrpSpPr>
          <p:cNvPr name="Group 71" id="71"/>
          <p:cNvGrpSpPr/>
          <p:nvPr/>
        </p:nvGrpSpPr>
        <p:grpSpPr>
          <a:xfrm rot="0">
            <a:off x="14857657" y="5831729"/>
            <a:ext cx="790194" cy="488918"/>
            <a:chOff x="0" y="0"/>
            <a:chExt cx="1053592" cy="651891"/>
          </a:xfrm>
        </p:grpSpPr>
        <p:sp>
          <p:nvSpPr>
            <p:cNvPr name="Freeform 72" id="72"/>
            <p:cNvSpPr/>
            <p:nvPr/>
          </p:nvSpPr>
          <p:spPr>
            <a:xfrm flipH="false" flipV="false" rot="0">
              <a:off x="0" y="0"/>
              <a:ext cx="1053592" cy="651891"/>
            </a:xfrm>
            <a:custGeom>
              <a:avLst/>
              <a:gdLst/>
              <a:ahLst/>
              <a:cxnLst/>
              <a:rect r="r" b="b" t="t" l="l"/>
              <a:pathLst>
                <a:path h="651891" w="1053592">
                  <a:moveTo>
                    <a:pt x="0" y="0"/>
                  </a:moveTo>
                  <a:lnTo>
                    <a:pt x="1053592" y="0"/>
                  </a:lnTo>
                  <a:lnTo>
                    <a:pt x="1053592" y="651891"/>
                  </a:lnTo>
                  <a:lnTo>
                    <a:pt x="0" y="651891"/>
                  </a:lnTo>
                  <a:close/>
                </a:path>
              </a:pathLst>
            </a:custGeom>
            <a:solidFill>
              <a:srgbClr val="E8A33D"/>
            </a:solidFill>
            <a:ln w="28575" cap="sq">
              <a:solidFill>
                <a:srgbClr val="FFFFFF"/>
              </a:solidFill>
              <a:prstDash val="solid"/>
              <a:miter/>
            </a:ln>
          </p:spPr>
          <p:txBody>
            <a:bodyPr/>
            <a:p/>
          </p:txBody>
        </p:sp>
      </p:grpSp>
      <p:grpSp>
        <p:nvGrpSpPr>
          <p:cNvPr name="Group 73" id="73"/>
          <p:cNvGrpSpPr/>
          <p:nvPr/>
        </p:nvGrpSpPr>
        <p:grpSpPr>
          <a:xfrm rot="0">
            <a:off x="14868373" y="5821013"/>
            <a:ext cx="768753" cy="488918"/>
            <a:chOff x="0" y="0"/>
            <a:chExt cx="1025004" cy="651891"/>
          </a:xfrm>
        </p:grpSpPr>
        <p:sp>
          <p:nvSpPr>
            <p:cNvPr name="Freeform 74" id="74"/>
            <p:cNvSpPr/>
            <p:nvPr/>
          </p:nvSpPr>
          <p:spPr>
            <a:xfrm flipH="false" flipV="false" rot="0">
              <a:off x="0" y="0"/>
              <a:ext cx="1025004" cy="651891"/>
            </a:xfrm>
            <a:custGeom>
              <a:avLst/>
              <a:gdLst/>
              <a:ahLst/>
              <a:cxnLst/>
              <a:rect r="r" b="b" t="t" l="l"/>
              <a:pathLst>
                <a:path h="651891" w="1025004">
                  <a:moveTo>
                    <a:pt x="0" y="0"/>
                  </a:moveTo>
                  <a:lnTo>
                    <a:pt x="1025004" y="0"/>
                  </a:lnTo>
                  <a:lnTo>
                    <a:pt x="1025004" y="651891"/>
                  </a:lnTo>
                  <a:lnTo>
                    <a:pt x="0" y="651891"/>
                  </a:lnTo>
                  <a:close/>
                </a:path>
              </a:pathLst>
            </a:custGeom>
            <a:blipFill>
              <a:blip r:embed="rId12">
                <a:alphaModFix amt="0"/>
              </a:blip>
              <a:stretch>
                <a:fillRect l="-31599" t="0" r="-31599" b="0"/>
              </a:stretch>
            </a:blipFill>
          </p:spPr>
          <p:txBody>
            <a:bodyPr/>
            <a:p/>
          </p:txBody>
        </p:sp>
        <p:sp>
          <p:nvSpPr>
            <p:cNvPr name="TextBox 75" id="75"/>
            <p:cNvSpPr txBox="true"/>
            <p:nvPr/>
          </p:nvSpPr>
          <p:spPr>
            <a:xfrm>
              <a:off x="0" y="-28575"/>
              <a:ext cx="1025004" cy="680466"/>
            </a:xfrm>
            <a:prstGeom prst="rect">
              <a:avLst/>
            </a:prstGeom>
          </p:spPr>
          <p:txBody>
            <a:bodyPr anchor="ctr" rtlCol="false" tIns="0" lIns="0" bIns="0" rIns="0"/>
            <a:lstStyle/>
            <a:p>
              <a:pPr algn="ctr">
                <a:lnSpc>
                  <a:spcPts val="1620"/>
                </a:lnSpc>
              </a:pPr>
              <a:r>
                <a:rPr lang="en-US" sz="1350" b="true">
                  <a:solidFill>
                    <a:srgbClr val="FFFFFF"/>
                  </a:solidFill>
                  <a:latin typeface="Calibri (MS) Bold"/>
                  <a:ea typeface="Calibri (MS) Bold"/>
                  <a:cs typeface="Calibri (MS) Bold"/>
                  <a:sym typeface="Calibri (MS) Bold"/>
                </a:rPr>
                <a:t>dev 10%</a:t>
              </a:r>
            </a:p>
          </p:txBody>
        </p:sp>
      </p:grpSp>
      <p:grpSp>
        <p:nvGrpSpPr>
          <p:cNvPr name="Group 76" id="76"/>
          <p:cNvGrpSpPr/>
          <p:nvPr/>
        </p:nvGrpSpPr>
        <p:grpSpPr>
          <a:xfrm rot="0">
            <a:off x="15597835" y="5831729"/>
            <a:ext cx="1489900" cy="488918"/>
            <a:chOff x="0" y="0"/>
            <a:chExt cx="1986534" cy="651891"/>
          </a:xfrm>
        </p:grpSpPr>
        <p:sp>
          <p:nvSpPr>
            <p:cNvPr name="Freeform 77" id="77"/>
            <p:cNvSpPr/>
            <p:nvPr/>
          </p:nvSpPr>
          <p:spPr>
            <a:xfrm flipH="false" flipV="false" rot="0">
              <a:off x="0" y="0"/>
              <a:ext cx="1986534" cy="651891"/>
            </a:xfrm>
            <a:custGeom>
              <a:avLst/>
              <a:gdLst/>
              <a:ahLst/>
              <a:cxnLst/>
              <a:rect r="r" b="b" t="t" l="l"/>
              <a:pathLst>
                <a:path h="651891" w="1986534">
                  <a:moveTo>
                    <a:pt x="0" y="0"/>
                  </a:moveTo>
                  <a:lnTo>
                    <a:pt x="1986534" y="0"/>
                  </a:lnTo>
                  <a:lnTo>
                    <a:pt x="1986534" y="651891"/>
                  </a:lnTo>
                  <a:lnTo>
                    <a:pt x="0" y="651891"/>
                  </a:lnTo>
                  <a:close/>
                </a:path>
              </a:pathLst>
            </a:custGeom>
            <a:solidFill>
              <a:srgbClr val="1C7293"/>
            </a:solidFill>
            <a:ln w="28575" cap="sq">
              <a:solidFill>
                <a:srgbClr val="FFFFFF"/>
              </a:solidFill>
              <a:prstDash val="solid"/>
              <a:miter/>
            </a:ln>
          </p:spPr>
          <p:txBody>
            <a:bodyPr/>
            <a:p/>
          </p:txBody>
        </p:sp>
      </p:grpSp>
      <p:grpSp>
        <p:nvGrpSpPr>
          <p:cNvPr name="Group 78" id="78"/>
          <p:cNvGrpSpPr/>
          <p:nvPr/>
        </p:nvGrpSpPr>
        <p:grpSpPr>
          <a:xfrm rot="0">
            <a:off x="15608551" y="5821013"/>
            <a:ext cx="1468441" cy="488918"/>
            <a:chOff x="0" y="0"/>
            <a:chExt cx="1957921" cy="651891"/>
          </a:xfrm>
        </p:grpSpPr>
        <p:sp>
          <p:nvSpPr>
            <p:cNvPr name="Freeform 79" id="79"/>
            <p:cNvSpPr/>
            <p:nvPr/>
          </p:nvSpPr>
          <p:spPr>
            <a:xfrm flipH="false" flipV="false" rot="0">
              <a:off x="0" y="0"/>
              <a:ext cx="1957921" cy="651891"/>
            </a:xfrm>
            <a:custGeom>
              <a:avLst/>
              <a:gdLst/>
              <a:ahLst/>
              <a:cxnLst/>
              <a:rect r="r" b="b" t="t" l="l"/>
              <a:pathLst>
                <a:path h="651891" w="1957921">
                  <a:moveTo>
                    <a:pt x="0" y="0"/>
                  </a:moveTo>
                  <a:lnTo>
                    <a:pt x="1957921" y="0"/>
                  </a:lnTo>
                  <a:lnTo>
                    <a:pt x="1957921" y="651891"/>
                  </a:lnTo>
                  <a:lnTo>
                    <a:pt x="0" y="651891"/>
                  </a:lnTo>
                  <a:close/>
                </a:path>
              </a:pathLst>
            </a:custGeom>
            <a:blipFill>
              <a:blip r:embed="rId12">
                <a:alphaModFix amt="0"/>
              </a:blip>
              <a:stretch>
                <a:fillRect l="0" t="-8522" r="0" b="-8522"/>
              </a:stretch>
            </a:blipFill>
          </p:spPr>
          <p:txBody>
            <a:bodyPr/>
            <a:p/>
          </p:txBody>
        </p:sp>
        <p:sp>
          <p:nvSpPr>
            <p:cNvPr name="TextBox 80" id="80"/>
            <p:cNvSpPr txBox="true"/>
            <p:nvPr/>
          </p:nvSpPr>
          <p:spPr>
            <a:xfrm>
              <a:off x="0" y="-28575"/>
              <a:ext cx="1957921" cy="680466"/>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test 20%</a:t>
              </a:r>
            </a:p>
          </p:txBody>
        </p:sp>
      </p:grpSp>
      <p:grpSp>
        <p:nvGrpSpPr>
          <p:cNvPr name="Group 81" id="81"/>
          <p:cNvGrpSpPr/>
          <p:nvPr/>
        </p:nvGrpSpPr>
        <p:grpSpPr>
          <a:xfrm rot="0">
            <a:off x="822960" y="9655969"/>
            <a:ext cx="13716000" cy="360320"/>
            <a:chOff x="0" y="0"/>
            <a:chExt cx="18288000" cy="480427"/>
          </a:xfrm>
        </p:grpSpPr>
        <p:sp>
          <p:nvSpPr>
            <p:cNvPr name="Freeform 82" id="82"/>
            <p:cNvSpPr/>
            <p:nvPr/>
          </p:nvSpPr>
          <p:spPr>
            <a:xfrm flipH="false" flipV="false" rot="0">
              <a:off x="0" y="0"/>
              <a:ext cx="18288000" cy="480427"/>
            </a:xfrm>
            <a:custGeom>
              <a:avLst/>
              <a:gdLst/>
              <a:ahLst/>
              <a:cxnLst/>
              <a:rect r="r" b="b" t="t" l="l"/>
              <a:pathLst>
                <a:path h="480427" w="18288000">
                  <a:moveTo>
                    <a:pt x="0" y="0"/>
                  </a:moveTo>
                  <a:lnTo>
                    <a:pt x="18288000" y="0"/>
                  </a:lnTo>
                  <a:lnTo>
                    <a:pt x="18288000" y="480427"/>
                  </a:lnTo>
                  <a:lnTo>
                    <a:pt x="0" y="480427"/>
                  </a:lnTo>
                  <a:close/>
                </a:path>
              </a:pathLst>
            </a:custGeom>
            <a:blipFill>
              <a:blip r:embed="rId12">
                <a:alphaModFix amt="0"/>
              </a:blip>
              <a:stretch>
                <a:fillRect l="0" t="-680655" r="0" b="-702784"/>
              </a:stretch>
            </a:blipFill>
          </p:spPr>
          <p:txBody>
            <a:bodyPr/>
            <a:p/>
          </p:txBody>
        </p:sp>
        <p:sp>
          <p:nvSpPr>
            <p:cNvPr name="TextBox 83" id="83"/>
            <p:cNvSpPr txBox="true"/>
            <p:nvPr/>
          </p:nvSpPr>
          <p:spPr>
            <a:xfrm>
              <a:off x="0" y="-38100"/>
              <a:ext cx="18288000" cy="518527"/>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6902" r="0" b="-556904"/>
              </a:stretch>
            </a:blipFill>
          </p:spPr>
          <p:txBody>
            <a:bodyPr/>
            <a:p/>
          </p:txBody>
        </p:sp>
      </p:grpSp>
      <p:sp>
        <p:nvSpPr>
          <p:cNvPr name="TextBox 6" id="6"/>
          <p:cNvSpPr txBox="true"/>
          <p:nvPr/>
        </p:nvSpPr>
        <p:spPr>
          <a:xfrm rot="0">
            <a:off x="822960" y="353187"/>
            <a:ext cx="16641623" cy="497205"/>
          </a:xfrm>
          <a:prstGeom prst="rect">
            <a:avLst/>
          </a:prstGeom>
        </p:spPr>
        <p:txBody>
          <a:bodyPr anchor="t" rtlCol="false" tIns="0" lIns="0" bIns="0" rIns="0">
            <a:spAutoFit/>
          </a:bodyPr>
          <a:lstStyle/>
          <a:p>
            <a:pPr algn="l">
              <a:lnSpc>
                <a:spcPts val="1980"/>
              </a:lnSpc>
            </a:pPr>
            <a:r>
              <a:rPr lang="en-US" b="true" sz="1650" spc="297">
                <a:solidFill>
                  <a:srgbClr val="1C7293"/>
                </a:solidFill>
                <a:latin typeface="Calibri (MS) Bold"/>
                <a:ea typeface="Calibri (MS) Bold"/>
                <a:cs typeface="Calibri (MS) Bold"/>
                <a:sym typeface="Calibri (MS) Bold"/>
              </a:rPr>
              <a:t>REVIEW 1 · PHẠM VI · 08 · BASELINE</a:t>
            </a:r>
          </a:p>
        </p:txBody>
      </p:sp>
      <p:sp>
        <p:nvSpPr>
          <p:cNvPr name="TextBox 7" id="7"/>
          <p:cNvSpPr txBox="true"/>
          <p:nvPr/>
        </p:nvSpPr>
        <p:spPr>
          <a:xfrm rot="0">
            <a:off x="822960" y="821817"/>
            <a:ext cx="16641623" cy="988695"/>
          </a:xfrm>
          <a:prstGeom prst="rect">
            <a:avLst/>
          </a:prstGeom>
        </p:spPr>
        <p:txBody>
          <a:bodyPr anchor="t" rtlCol="false" tIns="0" lIns="0" bIns="0" rIns="0">
            <a:spAutoFit/>
          </a:bodyPr>
          <a:lstStyle/>
          <a:p>
            <a:pPr algn="l">
              <a:lnSpc>
                <a:spcPts val="5758"/>
              </a:lnSpc>
            </a:pPr>
            <a:r>
              <a:rPr lang="en-US" sz="4800" b="true">
                <a:solidFill>
                  <a:srgbClr val="13294B"/>
                </a:solidFill>
                <a:latin typeface="Cambria Bold"/>
                <a:ea typeface="Cambria Bold"/>
                <a:cs typeface="Cambria Bold"/>
                <a:sym typeface="Cambria Bold"/>
              </a:rPr>
              <a:t>Baseline: Qwen2.5-VL-3B-Instruct</a:t>
            </a:r>
          </a:p>
        </p:txBody>
      </p:sp>
      <p:grpSp>
        <p:nvGrpSpPr>
          <p:cNvPr name="Group 8" id="8"/>
          <p:cNvGrpSpPr/>
          <p:nvPr/>
        </p:nvGrpSpPr>
        <p:grpSpPr>
          <a:xfrm rot="0">
            <a:off x="15458732" y="0"/>
            <a:ext cx="2829306" cy="1184338"/>
            <a:chOff x="0" y="0"/>
            <a:chExt cx="3772408" cy="1579118"/>
          </a:xfrm>
        </p:grpSpPr>
        <p:sp>
          <p:nvSpPr>
            <p:cNvPr name="Freeform 9" id="9"/>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4"/>
              <a:stretch>
                <a:fillRect l="0" t="0" r="0" b="0"/>
              </a:stretch>
            </a:blipFill>
          </p:spPr>
          <p:txBody>
            <a:bodyPr/>
            <a:p/>
          </p:txBody>
        </p:sp>
      </p:grpSp>
      <p:grpSp>
        <p:nvGrpSpPr>
          <p:cNvPr name="Group 10" id="10"/>
          <p:cNvGrpSpPr/>
          <p:nvPr/>
        </p:nvGrpSpPr>
        <p:grpSpPr>
          <a:xfrm rot="0">
            <a:off x="816607" y="2051047"/>
            <a:ext cx="10391137" cy="5192058"/>
            <a:chOff x="0" y="0"/>
            <a:chExt cx="13854849" cy="6922745"/>
          </a:xfrm>
        </p:grpSpPr>
        <p:sp>
          <p:nvSpPr>
            <p:cNvPr name="Freeform 11" id="11" descr="fig7a_crop.png"/>
            <p:cNvSpPr/>
            <p:nvPr/>
          </p:nvSpPr>
          <p:spPr>
            <a:xfrm flipH="false" flipV="false" rot="0">
              <a:off x="0" y="0"/>
              <a:ext cx="13854812" cy="6922770"/>
            </a:xfrm>
            <a:custGeom>
              <a:avLst/>
              <a:gdLst/>
              <a:ahLst/>
              <a:cxnLst/>
              <a:rect r="r" b="b" t="t" l="l"/>
              <a:pathLst>
                <a:path h="6922770" w="13854812">
                  <a:moveTo>
                    <a:pt x="0" y="0"/>
                  </a:moveTo>
                  <a:lnTo>
                    <a:pt x="13854812" y="0"/>
                  </a:lnTo>
                  <a:lnTo>
                    <a:pt x="13854812" y="6922770"/>
                  </a:lnTo>
                  <a:lnTo>
                    <a:pt x="0" y="6922770"/>
                  </a:lnTo>
                  <a:lnTo>
                    <a:pt x="0" y="0"/>
                  </a:lnTo>
                  <a:close/>
                </a:path>
              </a:pathLst>
            </a:custGeom>
            <a:blipFill>
              <a:blip r:embed="rId5"/>
              <a:stretch>
                <a:fillRect l="-61" t="0" r="-61" b="0"/>
              </a:stretch>
            </a:blipFill>
          </p:spPr>
          <p:txBody>
            <a:bodyPr/>
            <a:p/>
          </p:txBody>
        </p:sp>
      </p:grpSp>
      <p:sp>
        <p:nvSpPr>
          <p:cNvPr name="TextBox 12" id="12"/>
          <p:cNvSpPr txBox="true"/>
          <p:nvPr/>
        </p:nvSpPr>
        <p:spPr>
          <a:xfrm rot="0">
            <a:off x="822960" y="7326287"/>
            <a:ext cx="10378440" cy="870585"/>
          </a:xfrm>
          <a:prstGeom prst="rect">
            <a:avLst/>
          </a:prstGeom>
        </p:spPr>
        <p:txBody>
          <a:bodyPr anchor="t" rtlCol="false" tIns="0" lIns="0" bIns="0" rIns="0">
            <a:spAutoFit/>
          </a:bodyPr>
          <a:lstStyle/>
          <a:p>
            <a:pPr algn="l">
              <a:lnSpc>
                <a:spcPts val="1944"/>
              </a:lnSpc>
            </a:pPr>
            <a:r>
              <a:rPr lang="en-US" sz="1500">
                <a:solidFill>
                  <a:srgbClr val="5B677A"/>
                </a:solidFill>
                <a:latin typeface="Calibri (MS)"/>
                <a:ea typeface="Calibri (MS)"/>
                <a:cs typeface="Calibri (MS)"/>
                <a:sym typeface="Calibri (MS)"/>
              </a:rPr>
              <a:t>Kiến trúc Qwen2.5-VL-3B trong cấu hình của nhóm: ảnh → vision encoder → token ảnh, ghép với câu hỏi → LLM decoder → câu trả lời. Ô cam = adapter LoRA (≈ 29,5 MB, chỉ có khi QLoRA). Mỗi token ảnh phủ 28×28 px → 256–512 token.</a:t>
            </a:r>
          </a:p>
          <a:p>
            <a:pPr algn="l">
              <a:lnSpc>
                <a:spcPts val="1944"/>
              </a:lnSpc>
            </a:pPr>
            <a:r>
              <a:rPr lang="en-US" sz="1500" u="sng">
                <a:solidFill>
                  <a:srgbClr val="0000FF"/>
                </a:solidFill>
                <a:latin typeface="Calibri (MS)"/>
                <a:ea typeface="Calibri (MS)"/>
                <a:cs typeface="Calibri (MS)"/>
                <a:sym typeface="Calibri (MS)"/>
                <a:hlinkClick r:id="rId6" tooltip="https://arxiv.org/abs/2502.13923"/>
              </a:rPr>
              <a:t>Nguồn: Bai et al., Qwen2.5-VL Technical Report, 2025 (arXiv 2502.13923) ↗</a:t>
            </a:r>
          </a:p>
        </p:txBody>
      </p:sp>
      <p:grpSp>
        <p:nvGrpSpPr>
          <p:cNvPr name="Group 13" id="13"/>
          <p:cNvGrpSpPr/>
          <p:nvPr/>
        </p:nvGrpSpPr>
        <p:grpSpPr>
          <a:xfrm rot="0">
            <a:off x="11521440" y="2057400"/>
            <a:ext cx="5943600" cy="2514600"/>
            <a:chOff x="0" y="0"/>
            <a:chExt cx="7924800" cy="3352800"/>
          </a:xfrm>
        </p:grpSpPr>
        <p:sp>
          <p:nvSpPr>
            <p:cNvPr name="Freeform 14" id="14"/>
            <p:cNvSpPr/>
            <p:nvPr/>
          </p:nvSpPr>
          <p:spPr>
            <a:xfrm flipH="false" flipV="false" rot="0">
              <a:off x="0" y="0"/>
              <a:ext cx="7924800" cy="3352800"/>
            </a:xfrm>
            <a:custGeom>
              <a:avLst/>
              <a:gdLst/>
              <a:ahLst/>
              <a:cxnLst/>
              <a:rect r="r" b="b" t="t" l="l"/>
              <a:pathLst>
                <a:path h="3352800" w="7924800">
                  <a:moveTo>
                    <a:pt x="0" y="201168"/>
                  </a:moveTo>
                  <a:cubicBezTo>
                    <a:pt x="0" y="90043"/>
                    <a:pt x="90043" y="0"/>
                    <a:pt x="201168" y="0"/>
                  </a:cubicBezTo>
                  <a:lnTo>
                    <a:pt x="7723632" y="0"/>
                  </a:lnTo>
                  <a:cubicBezTo>
                    <a:pt x="7834757" y="0"/>
                    <a:pt x="7924800" y="90043"/>
                    <a:pt x="7924800" y="201168"/>
                  </a:cubicBezTo>
                  <a:lnTo>
                    <a:pt x="7924800" y="3151632"/>
                  </a:lnTo>
                  <a:cubicBezTo>
                    <a:pt x="7924800" y="3262757"/>
                    <a:pt x="7834757" y="3352800"/>
                    <a:pt x="7723632" y="3352800"/>
                  </a:cubicBezTo>
                  <a:lnTo>
                    <a:pt x="201168" y="3352800"/>
                  </a:lnTo>
                  <a:cubicBezTo>
                    <a:pt x="90043" y="3352800"/>
                    <a:pt x="0" y="3262757"/>
                    <a:pt x="0" y="3151632"/>
                  </a:cubicBezTo>
                  <a:close/>
                </a:path>
              </a:pathLst>
            </a:custGeom>
            <a:solidFill>
              <a:srgbClr val="F3F5F8"/>
            </a:solidFill>
          </p:spPr>
          <p:txBody>
            <a:bodyPr/>
            <a:p/>
          </p:txBody>
        </p:sp>
      </p:grpSp>
      <p:sp>
        <p:nvSpPr>
          <p:cNvPr name="TextBox 15" id="15"/>
          <p:cNvSpPr txBox="true"/>
          <p:nvPr/>
        </p:nvSpPr>
        <p:spPr>
          <a:xfrm rot="0">
            <a:off x="11841480" y="2191893"/>
            <a:ext cx="5394960" cy="2261235"/>
          </a:xfrm>
          <a:prstGeom prst="rect">
            <a:avLst/>
          </a:prstGeom>
        </p:spPr>
        <p:txBody>
          <a:bodyPr anchor="t" rtlCol="false" tIns="0" lIns="0" bIns="0" rIns="0">
            <a:spAutoFit/>
          </a:bodyPr>
          <a:lstStyle/>
          <a:p>
            <a:pPr algn="l">
              <a:lnSpc>
                <a:spcPts val="2721"/>
              </a:lnSpc>
            </a:pPr>
            <a:r>
              <a:rPr lang="en-US" sz="2100" b="true">
                <a:solidFill>
                  <a:srgbClr val="13294B"/>
                </a:solidFill>
                <a:latin typeface="Calibri (MS) Bold"/>
                <a:ea typeface="Calibri (MS) Bold"/>
                <a:cs typeface="Calibri (MS) Bold"/>
                <a:sym typeface="Calibri (MS) Bold"/>
              </a:rPr>
              <a:t>Vì sao chọn làm baseline</a:t>
            </a:r>
          </a:p>
          <a:p>
            <a:pPr algn="l">
              <a:lnSpc>
                <a:spcPts val="2267"/>
              </a:lnSpc>
            </a:pPr>
            <a:r>
              <a:rPr lang="en-US" sz="1749">
                <a:solidFill>
                  <a:srgbClr val="243044"/>
                </a:solidFill>
                <a:latin typeface="Calibri (MS)"/>
                <a:ea typeface="Calibri (MS)"/>
                <a:cs typeface="Calibri (MS)"/>
                <a:sym typeface="Calibri (MS)"/>
              </a:rPr>
              <a:t>•  VLM mở, đa ngôn ngữ, mạnh về đọc chữ trong ảnh</a:t>
            </a:r>
          </a:p>
          <a:p>
            <a:pPr algn="l">
              <a:lnSpc>
                <a:spcPts val="2267"/>
              </a:lnSpc>
            </a:pPr>
            <a:r>
              <a:rPr lang="en-US" sz="1749">
                <a:solidFill>
                  <a:srgbClr val="243044"/>
                </a:solidFill>
                <a:latin typeface="Calibri (MS)"/>
                <a:ea typeface="Calibri (MS)"/>
                <a:cs typeface="Calibri (MS)"/>
                <a:sym typeface="Calibri (MS)"/>
              </a:rPr>
              <a:t>•  3B tham số: vừa một GPU Colab khi nén 4-bit</a:t>
            </a:r>
          </a:p>
          <a:p>
            <a:pPr algn="l">
              <a:lnSpc>
                <a:spcPts val="2267"/>
              </a:lnSpc>
            </a:pPr>
            <a:r>
              <a:rPr lang="en-US" sz="1749">
                <a:solidFill>
                  <a:srgbClr val="243044"/>
                </a:solidFill>
                <a:latin typeface="Calibri (MS)"/>
                <a:ea typeface="Calibri (MS)"/>
                <a:cs typeface="Calibri (MS)"/>
                <a:sym typeface="Calibri (MS)"/>
              </a:rPr>
              <a:t>•  Một trong ba baseline đề cương cho phép</a:t>
            </a:r>
          </a:p>
        </p:txBody>
      </p:sp>
      <p:grpSp>
        <p:nvGrpSpPr>
          <p:cNvPr name="Group 16" id="16"/>
          <p:cNvGrpSpPr/>
          <p:nvPr/>
        </p:nvGrpSpPr>
        <p:grpSpPr>
          <a:xfrm rot="0">
            <a:off x="11521440" y="4754880"/>
            <a:ext cx="5943600" cy="2743200"/>
            <a:chOff x="0" y="0"/>
            <a:chExt cx="7924800" cy="3657600"/>
          </a:xfrm>
        </p:grpSpPr>
        <p:sp>
          <p:nvSpPr>
            <p:cNvPr name="Freeform 17" id="17"/>
            <p:cNvSpPr/>
            <p:nvPr/>
          </p:nvSpPr>
          <p:spPr>
            <a:xfrm flipH="false" flipV="false" rot="0">
              <a:off x="0" y="0"/>
              <a:ext cx="7924800" cy="3657600"/>
            </a:xfrm>
            <a:custGeom>
              <a:avLst/>
              <a:gdLst/>
              <a:ahLst/>
              <a:cxnLst/>
              <a:rect r="r" b="b" t="t" l="l"/>
              <a:pathLst>
                <a:path h="3657600" w="7924800">
                  <a:moveTo>
                    <a:pt x="0" y="219456"/>
                  </a:moveTo>
                  <a:cubicBezTo>
                    <a:pt x="0" y="98298"/>
                    <a:pt x="98298" y="0"/>
                    <a:pt x="219456" y="0"/>
                  </a:cubicBezTo>
                  <a:lnTo>
                    <a:pt x="7705344" y="0"/>
                  </a:lnTo>
                  <a:cubicBezTo>
                    <a:pt x="7826502" y="0"/>
                    <a:pt x="7924800" y="98298"/>
                    <a:pt x="7924800" y="219456"/>
                  </a:cubicBezTo>
                  <a:lnTo>
                    <a:pt x="7924800" y="3438144"/>
                  </a:lnTo>
                  <a:cubicBezTo>
                    <a:pt x="7924800" y="3559302"/>
                    <a:pt x="7826502" y="3657600"/>
                    <a:pt x="7705344" y="3657600"/>
                  </a:cubicBezTo>
                  <a:lnTo>
                    <a:pt x="219456" y="3657600"/>
                  </a:lnTo>
                  <a:cubicBezTo>
                    <a:pt x="98298" y="3657600"/>
                    <a:pt x="0" y="3559302"/>
                    <a:pt x="0" y="3438144"/>
                  </a:cubicBezTo>
                  <a:close/>
                </a:path>
              </a:pathLst>
            </a:custGeom>
            <a:solidFill>
              <a:srgbClr val="FBF0DA"/>
            </a:solidFill>
          </p:spPr>
          <p:txBody>
            <a:bodyPr/>
            <a:p/>
          </p:txBody>
        </p:sp>
      </p:grpSp>
      <p:sp>
        <p:nvSpPr>
          <p:cNvPr name="TextBox 18" id="18"/>
          <p:cNvSpPr txBox="true"/>
          <p:nvPr/>
        </p:nvSpPr>
        <p:spPr>
          <a:xfrm rot="0">
            <a:off x="11841480" y="4889373"/>
            <a:ext cx="5394960" cy="2489835"/>
          </a:xfrm>
          <a:prstGeom prst="rect">
            <a:avLst/>
          </a:prstGeom>
        </p:spPr>
        <p:txBody>
          <a:bodyPr anchor="t" rtlCol="false" tIns="0" lIns="0" bIns="0" rIns="0">
            <a:spAutoFit/>
          </a:bodyPr>
          <a:lstStyle/>
          <a:p>
            <a:pPr algn="l">
              <a:lnSpc>
                <a:spcPts val="2721"/>
              </a:lnSpc>
            </a:pPr>
            <a:r>
              <a:rPr lang="en-US" sz="2100" b="true">
                <a:solidFill>
                  <a:srgbClr val="B86E0E"/>
                </a:solidFill>
                <a:latin typeface="Calibri (MS) Bold"/>
                <a:ea typeface="Calibri (MS) Bold"/>
                <a:cs typeface="Calibri (MS) Bold"/>
                <a:sym typeface="Calibri (MS) Bold"/>
              </a:rPr>
              <a:t>Cấu hình cố định cho mọi run</a:t>
            </a:r>
          </a:p>
          <a:p>
            <a:pPr algn="l">
              <a:lnSpc>
                <a:spcPts val="2267"/>
              </a:lnSpc>
            </a:pPr>
            <a:r>
              <a:rPr lang="en-US" sz="1749">
                <a:solidFill>
                  <a:srgbClr val="243044"/>
                </a:solidFill>
                <a:latin typeface="Calibri (MS)"/>
                <a:ea typeface="Calibri (MS)"/>
                <a:cs typeface="Calibri (MS)"/>
                <a:sym typeface="Calibri (MS)"/>
              </a:rPr>
              <a:t>•  Trọng số gốc 4-bit NF4, đóng băng</a:t>
            </a:r>
          </a:p>
          <a:p>
            <a:pPr algn="l">
              <a:lnSpc>
                <a:spcPts val="2267"/>
              </a:lnSpc>
            </a:pPr>
            <a:r>
              <a:rPr lang="en-US" sz="1749">
                <a:solidFill>
                  <a:srgbClr val="243044"/>
                </a:solidFill>
                <a:latin typeface="Calibri (MS)"/>
                <a:ea typeface="Calibri (MS)"/>
                <a:cs typeface="Calibri (MS)"/>
                <a:sym typeface="Calibri (MS)"/>
              </a:rPr>
              <a:t>•  Tối đa 512 token ảnh mỗi mẫu</a:t>
            </a:r>
          </a:p>
          <a:p>
            <a:pPr algn="l">
              <a:lnSpc>
                <a:spcPts val="2267"/>
              </a:lnSpc>
            </a:pPr>
            <a:r>
              <a:rPr lang="en-US" sz="1749">
                <a:solidFill>
                  <a:srgbClr val="243044"/>
                </a:solidFill>
                <a:latin typeface="Calibri (MS)"/>
                <a:ea typeface="Calibri (MS)"/>
                <a:cs typeface="Calibri (MS)"/>
                <a:sym typeface="Calibri (MS)"/>
              </a:rPr>
              <a:t>•  Sinh greedy, tối đa 32 token</a:t>
            </a:r>
          </a:p>
          <a:p>
            <a:pPr algn="l">
              <a:lnSpc>
                <a:spcPts val="2267"/>
              </a:lnSpc>
            </a:pPr>
            <a:r>
              <a:rPr lang="en-US" sz="1749">
                <a:solidFill>
                  <a:srgbClr val="243044"/>
                </a:solidFill>
                <a:latin typeface="Calibri (MS)"/>
                <a:ea typeface="Calibri (MS)"/>
                <a:cs typeface="Calibri (MS)"/>
                <a:sym typeface="Calibri (MS)"/>
              </a:rPr>
              <a:t>•  QLoRA: LoRA r = 16 trên q, k, v, o (0,196% tham số)</a:t>
            </a:r>
          </a:p>
        </p:txBody>
      </p:sp>
      <p:grpSp>
        <p:nvGrpSpPr>
          <p:cNvPr name="Group 19" id="19"/>
          <p:cNvGrpSpPr/>
          <p:nvPr/>
        </p:nvGrpSpPr>
        <p:grpSpPr>
          <a:xfrm rot="0">
            <a:off x="11521440" y="7680960"/>
            <a:ext cx="5943600" cy="1691640"/>
            <a:chOff x="0" y="0"/>
            <a:chExt cx="7924800" cy="2255520"/>
          </a:xfrm>
        </p:grpSpPr>
        <p:sp>
          <p:nvSpPr>
            <p:cNvPr name="Freeform 20" id="20"/>
            <p:cNvSpPr/>
            <p:nvPr/>
          </p:nvSpPr>
          <p:spPr>
            <a:xfrm flipH="false" flipV="false" rot="0">
              <a:off x="0" y="0"/>
              <a:ext cx="7924800" cy="2255520"/>
            </a:xfrm>
            <a:custGeom>
              <a:avLst/>
              <a:gdLst/>
              <a:ahLst/>
              <a:cxnLst/>
              <a:rect r="r" b="b" t="t" l="l"/>
              <a:pathLst>
                <a:path h="2255520" w="7924800">
                  <a:moveTo>
                    <a:pt x="0" y="180467"/>
                  </a:moveTo>
                  <a:cubicBezTo>
                    <a:pt x="0" y="80772"/>
                    <a:pt x="80772" y="0"/>
                    <a:pt x="180467" y="0"/>
                  </a:cubicBezTo>
                  <a:lnTo>
                    <a:pt x="7744333" y="0"/>
                  </a:lnTo>
                  <a:cubicBezTo>
                    <a:pt x="7844028" y="0"/>
                    <a:pt x="7924800" y="80772"/>
                    <a:pt x="7924800" y="180467"/>
                  </a:cubicBezTo>
                  <a:lnTo>
                    <a:pt x="7924800" y="2075053"/>
                  </a:lnTo>
                  <a:cubicBezTo>
                    <a:pt x="7924800" y="2174748"/>
                    <a:pt x="7844028" y="2255520"/>
                    <a:pt x="7744333" y="2255520"/>
                  </a:cubicBezTo>
                  <a:lnTo>
                    <a:pt x="180467" y="2255520"/>
                  </a:lnTo>
                  <a:cubicBezTo>
                    <a:pt x="80772" y="2255520"/>
                    <a:pt x="0" y="2174748"/>
                    <a:pt x="0" y="2075053"/>
                  </a:cubicBezTo>
                  <a:close/>
                </a:path>
              </a:pathLst>
            </a:custGeom>
            <a:solidFill>
              <a:srgbClr val="E7F0F3"/>
            </a:solidFill>
          </p:spPr>
          <p:txBody>
            <a:bodyPr/>
            <a:p/>
          </p:txBody>
        </p:sp>
      </p:grpSp>
      <p:grpSp>
        <p:nvGrpSpPr>
          <p:cNvPr name="Group 21" id="21"/>
          <p:cNvGrpSpPr/>
          <p:nvPr/>
        </p:nvGrpSpPr>
        <p:grpSpPr>
          <a:xfrm rot="0">
            <a:off x="11841480" y="7772400"/>
            <a:ext cx="1828800" cy="1508760"/>
            <a:chOff x="0" y="0"/>
            <a:chExt cx="2438400" cy="2011680"/>
          </a:xfrm>
        </p:grpSpPr>
        <p:sp>
          <p:nvSpPr>
            <p:cNvPr name="Freeform 22" id="22"/>
            <p:cNvSpPr/>
            <p:nvPr/>
          </p:nvSpPr>
          <p:spPr>
            <a:xfrm flipH="false" flipV="false" rot="0">
              <a:off x="0" y="0"/>
              <a:ext cx="2438400" cy="2011680"/>
            </a:xfrm>
            <a:custGeom>
              <a:avLst/>
              <a:gdLst/>
              <a:ahLst/>
              <a:cxnLst/>
              <a:rect r="r" b="b" t="t" l="l"/>
              <a:pathLst>
                <a:path h="2011680" w="2438400">
                  <a:moveTo>
                    <a:pt x="0" y="0"/>
                  </a:moveTo>
                  <a:lnTo>
                    <a:pt x="2438400" y="0"/>
                  </a:lnTo>
                  <a:lnTo>
                    <a:pt x="2438400" y="2011680"/>
                  </a:lnTo>
                  <a:lnTo>
                    <a:pt x="0" y="2011680"/>
                  </a:lnTo>
                  <a:close/>
                </a:path>
              </a:pathLst>
            </a:custGeom>
            <a:blipFill>
              <a:blip r:embed="rId7">
                <a:alphaModFix amt="0"/>
              </a:blip>
              <a:stretch>
                <a:fillRect l="-55850" t="0" r="-55850" b="0"/>
              </a:stretch>
            </a:blipFill>
          </p:spPr>
          <p:txBody>
            <a:bodyPr/>
            <a:p/>
          </p:txBody>
        </p:sp>
        <p:sp>
          <p:nvSpPr>
            <p:cNvPr name="TextBox 23" id="23"/>
            <p:cNvSpPr txBox="true"/>
            <p:nvPr/>
          </p:nvSpPr>
          <p:spPr>
            <a:xfrm>
              <a:off x="0" y="-123825"/>
              <a:ext cx="2438400" cy="2135505"/>
            </a:xfrm>
            <a:prstGeom prst="rect">
              <a:avLst/>
            </a:prstGeom>
          </p:spPr>
          <p:txBody>
            <a:bodyPr anchor="ctr" rtlCol="false" tIns="0" lIns="0" bIns="0" rIns="0"/>
            <a:lstStyle/>
            <a:p>
              <a:pPr algn="l">
                <a:lnSpc>
                  <a:spcPts val="5702"/>
                </a:lnSpc>
              </a:pPr>
              <a:r>
                <a:rPr lang="en-US" sz="4400" b="true">
                  <a:solidFill>
                    <a:srgbClr val="1C7293"/>
                  </a:solidFill>
                  <a:latin typeface="Calibri (MS) Bold"/>
                  <a:ea typeface="Calibri (MS) Bold"/>
                  <a:cs typeface="Calibri (MS) Bold"/>
                  <a:sym typeface="Calibri (MS) Bold"/>
                </a:rPr>
                <a:t>79,6</a:t>
              </a:r>
            </a:p>
            <a:p>
              <a:pPr algn="l">
                <a:lnSpc>
                  <a:spcPts val="1814"/>
                </a:lnSpc>
              </a:pPr>
              <a:r>
                <a:rPr lang="en-US" sz="1400">
                  <a:solidFill>
                    <a:srgbClr val="5B677A"/>
                  </a:solidFill>
                  <a:latin typeface="Calibri (MS)"/>
                  <a:ea typeface="Calibri (MS)"/>
                  <a:cs typeface="Calibri (MS)"/>
                  <a:sym typeface="Calibri (MS)"/>
                </a:rPr>
                <a:t>vs 79,3 công bố</a:t>
              </a:r>
            </a:p>
          </p:txBody>
        </p:sp>
      </p:grpSp>
      <p:grpSp>
        <p:nvGrpSpPr>
          <p:cNvPr name="Group 24" id="24"/>
          <p:cNvGrpSpPr/>
          <p:nvPr/>
        </p:nvGrpSpPr>
        <p:grpSpPr>
          <a:xfrm rot="0">
            <a:off x="13761720" y="7818120"/>
            <a:ext cx="3429000" cy="1463040"/>
            <a:chOff x="0" y="0"/>
            <a:chExt cx="4572000" cy="1950720"/>
          </a:xfrm>
        </p:grpSpPr>
        <p:sp>
          <p:nvSpPr>
            <p:cNvPr name="Freeform 25" id="25"/>
            <p:cNvSpPr/>
            <p:nvPr/>
          </p:nvSpPr>
          <p:spPr>
            <a:xfrm flipH="false" flipV="false" rot="0">
              <a:off x="0" y="0"/>
              <a:ext cx="4572000" cy="1950720"/>
            </a:xfrm>
            <a:custGeom>
              <a:avLst/>
              <a:gdLst/>
              <a:ahLst/>
              <a:cxnLst/>
              <a:rect r="r" b="b" t="t" l="l"/>
              <a:pathLst>
                <a:path h="1950720" w="4572000">
                  <a:moveTo>
                    <a:pt x="0" y="0"/>
                  </a:moveTo>
                  <a:lnTo>
                    <a:pt x="4572000" y="0"/>
                  </a:lnTo>
                  <a:lnTo>
                    <a:pt x="4572000" y="1950720"/>
                  </a:lnTo>
                  <a:lnTo>
                    <a:pt x="0" y="1950720"/>
                  </a:lnTo>
                  <a:close/>
                </a:path>
              </a:pathLst>
            </a:custGeom>
            <a:blipFill>
              <a:blip r:embed="rId7">
                <a:alphaModFix amt="0"/>
              </a:blip>
              <a:stretch>
                <a:fillRect l="-4742" t="0" r="-4742" b="0"/>
              </a:stretch>
            </a:blipFill>
          </p:spPr>
          <p:txBody>
            <a:bodyPr/>
            <a:p/>
          </p:txBody>
        </p:sp>
        <p:sp>
          <p:nvSpPr>
            <p:cNvPr name="TextBox 26" id="26"/>
            <p:cNvSpPr txBox="true"/>
            <p:nvPr/>
          </p:nvSpPr>
          <p:spPr>
            <a:xfrm>
              <a:off x="0" y="-57150"/>
              <a:ext cx="4572000" cy="2007870"/>
            </a:xfrm>
            <a:prstGeom prst="rect">
              <a:avLst/>
            </a:prstGeom>
          </p:spPr>
          <p:txBody>
            <a:bodyPr anchor="ctr" rtlCol="false" tIns="0" lIns="0" bIns="0" rIns="0"/>
            <a:lstStyle/>
            <a:p>
              <a:pPr algn="l">
                <a:lnSpc>
                  <a:spcPts val="2462"/>
                </a:lnSpc>
              </a:pPr>
              <a:r>
                <a:rPr lang="en-US" sz="1899" b="true">
                  <a:solidFill>
                    <a:srgbClr val="13294B"/>
                  </a:solidFill>
                  <a:latin typeface="Calibri (MS) Bold"/>
                  <a:ea typeface="Calibri (MS) Bold"/>
                  <a:cs typeface="Calibri (MS) Bold"/>
                  <a:sym typeface="Calibri (MS) Bold"/>
                </a:rPr>
                <a:t>Đã tái lập được</a:t>
              </a:r>
            </a:p>
            <a:p>
              <a:pPr algn="l">
                <a:lnSpc>
                  <a:spcPts val="2008"/>
                </a:lnSpc>
              </a:pPr>
              <a:r>
                <a:rPr lang="en-US" sz="1550">
                  <a:solidFill>
                    <a:srgbClr val="243044"/>
                  </a:solidFill>
                  <a:latin typeface="Calibri (MS)"/>
                  <a:ea typeface="Calibri (MS)"/>
                  <a:cs typeface="Calibri (MS)"/>
                  <a:sym typeface="Calibri (MS)"/>
                </a:rPr>
                <a:t>TextVQA val, chạy bằng pipeline của nhóm; nằm trong ngưỡng ±2 điểm chốt trước.</a:t>
              </a:r>
            </a:p>
          </p:txBody>
        </p:sp>
      </p:grpSp>
      <p:grpSp>
        <p:nvGrpSpPr>
          <p:cNvPr name="Group 27" id="27"/>
          <p:cNvGrpSpPr/>
          <p:nvPr/>
        </p:nvGrpSpPr>
        <p:grpSpPr>
          <a:xfrm rot="0">
            <a:off x="822960" y="9655969"/>
            <a:ext cx="13716000" cy="360320"/>
            <a:chOff x="0" y="0"/>
            <a:chExt cx="18288000" cy="480427"/>
          </a:xfrm>
        </p:grpSpPr>
        <p:sp>
          <p:nvSpPr>
            <p:cNvPr name="Freeform 28" id="28"/>
            <p:cNvSpPr/>
            <p:nvPr/>
          </p:nvSpPr>
          <p:spPr>
            <a:xfrm flipH="false" flipV="false" rot="0">
              <a:off x="0" y="0"/>
              <a:ext cx="18288000" cy="480427"/>
            </a:xfrm>
            <a:custGeom>
              <a:avLst/>
              <a:gdLst/>
              <a:ahLst/>
              <a:cxnLst/>
              <a:rect r="r" b="b" t="t" l="l"/>
              <a:pathLst>
                <a:path h="480427" w="18288000">
                  <a:moveTo>
                    <a:pt x="0" y="0"/>
                  </a:moveTo>
                  <a:lnTo>
                    <a:pt x="18288000" y="0"/>
                  </a:lnTo>
                  <a:lnTo>
                    <a:pt x="18288000" y="480427"/>
                  </a:lnTo>
                  <a:lnTo>
                    <a:pt x="0" y="480427"/>
                  </a:lnTo>
                  <a:close/>
                </a:path>
              </a:pathLst>
            </a:custGeom>
            <a:blipFill>
              <a:blip r:embed="rId7">
                <a:alphaModFix amt="0"/>
              </a:blip>
              <a:stretch>
                <a:fillRect l="0" t="-680655" r="0" b="-702784"/>
              </a:stretch>
            </a:blipFill>
          </p:spPr>
          <p:txBody>
            <a:bodyPr/>
            <a:p/>
          </p:txBody>
        </p:sp>
        <p:sp>
          <p:nvSpPr>
            <p:cNvPr name="TextBox 29" id="29"/>
            <p:cNvSpPr txBox="true"/>
            <p:nvPr/>
          </p:nvSpPr>
          <p:spPr>
            <a:xfrm>
              <a:off x="0" y="-38100"/>
              <a:ext cx="18288000" cy="518527"/>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1 · PHẠM VI · 09 · PHƯƠNG PHÁP ĐỀ XUẤT</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Một phương pháp đề xuất, pipeline 8 bước</a:t>
            </a:r>
          </a:p>
        </p:txBody>
      </p:sp>
      <p:sp>
        <p:nvSpPr>
          <p:cNvPr name="Freeform 6" id="6"/>
          <p:cNvSpPr/>
          <p:nvPr/>
        </p:nvSpPr>
        <p:spPr>
          <a:xfrm flipH="false" flipV="false" rot="0">
            <a:off x="806291" y="1876139"/>
            <a:ext cx="16670846" cy="938594"/>
          </a:xfrm>
          <a:custGeom>
            <a:avLst/>
            <a:gdLst/>
            <a:ahLst/>
            <a:cxnLst/>
            <a:rect r="r" b="b" t="t" l="l"/>
            <a:pathLst>
              <a:path h="938594" w="16670846">
                <a:moveTo>
                  <a:pt x="0" y="0"/>
                </a:moveTo>
                <a:lnTo>
                  <a:pt x="16670846" y="0"/>
                </a:lnTo>
                <a:lnTo>
                  <a:pt x="16670846" y="938594"/>
                </a:lnTo>
                <a:lnTo>
                  <a:pt x="0" y="93859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grpSp>
        <p:nvGrpSpPr>
          <p:cNvPr name="Group 7" id="7"/>
          <p:cNvGrpSpPr/>
          <p:nvPr/>
        </p:nvGrpSpPr>
        <p:grpSpPr>
          <a:xfrm rot="0">
            <a:off x="1165860" y="1892808"/>
            <a:ext cx="16047720" cy="905256"/>
            <a:chOff x="0" y="0"/>
            <a:chExt cx="21396960" cy="1207008"/>
          </a:xfrm>
        </p:grpSpPr>
        <p:sp>
          <p:nvSpPr>
            <p:cNvPr name="Freeform 8" id="8"/>
            <p:cNvSpPr/>
            <p:nvPr/>
          </p:nvSpPr>
          <p:spPr>
            <a:xfrm flipH="false" flipV="false" rot="0">
              <a:off x="0" y="0"/>
              <a:ext cx="21396961" cy="1207008"/>
            </a:xfrm>
            <a:custGeom>
              <a:avLst/>
              <a:gdLst/>
              <a:ahLst/>
              <a:cxnLst/>
              <a:rect r="r" b="b" t="t" l="l"/>
              <a:pathLst>
                <a:path h="1207008" w="21396961">
                  <a:moveTo>
                    <a:pt x="0" y="0"/>
                  </a:moveTo>
                  <a:lnTo>
                    <a:pt x="21396961" y="0"/>
                  </a:lnTo>
                  <a:lnTo>
                    <a:pt x="21396961" y="1207008"/>
                  </a:lnTo>
                  <a:lnTo>
                    <a:pt x="0" y="1207008"/>
                  </a:lnTo>
                  <a:close/>
                </a:path>
              </a:pathLst>
            </a:custGeom>
            <a:blipFill>
              <a:blip r:embed="rId2">
                <a:alphaModFix amt="0"/>
              </a:blip>
              <a:stretch>
                <a:fillRect l="0" t="-295176" r="0" b="-295175"/>
              </a:stretch>
            </a:blipFill>
          </p:spPr>
          <p:txBody>
            <a:bodyPr/>
            <a:p/>
          </p:txBody>
        </p:sp>
      </p:grpSp>
      <p:grpSp>
        <p:nvGrpSpPr>
          <p:cNvPr name="Group 9" id="9"/>
          <p:cNvGrpSpPr/>
          <p:nvPr/>
        </p:nvGrpSpPr>
        <p:grpSpPr>
          <a:xfrm rot="0">
            <a:off x="1165860" y="1857089"/>
            <a:ext cx="16047720" cy="940975"/>
            <a:chOff x="0" y="0"/>
            <a:chExt cx="21396960" cy="1254633"/>
          </a:xfrm>
        </p:grpSpPr>
        <p:sp>
          <p:nvSpPr>
            <p:cNvPr name="Freeform 10" id="10"/>
            <p:cNvSpPr/>
            <p:nvPr/>
          </p:nvSpPr>
          <p:spPr>
            <a:xfrm flipH="false" flipV="false" rot="0">
              <a:off x="0" y="0"/>
              <a:ext cx="21396961" cy="1254633"/>
            </a:xfrm>
            <a:custGeom>
              <a:avLst/>
              <a:gdLst/>
              <a:ahLst/>
              <a:cxnLst/>
              <a:rect r="r" b="b" t="t" l="l"/>
              <a:pathLst>
                <a:path h="1254633" w="21396961">
                  <a:moveTo>
                    <a:pt x="0" y="0"/>
                  </a:moveTo>
                  <a:lnTo>
                    <a:pt x="21396961" y="0"/>
                  </a:lnTo>
                  <a:lnTo>
                    <a:pt x="21396961" y="1254633"/>
                  </a:lnTo>
                  <a:lnTo>
                    <a:pt x="0" y="1254633"/>
                  </a:lnTo>
                  <a:close/>
                </a:path>
              </a:pathLst>
            </a:custGeom>
            <a:blipFill>
              <a:blip r:embed="rId5">
                <a:alphaModFix amt="0"/>
              </a:blip>
              <a:stretch>
                <a:fillRect l="0" t="-282304" r="0" b="-282304"/>
              </a:stretch>
            </a:blipFill>
          </p:spPr>
          <p:txBody>
            <a:bodyPr/>
            <a:p/>
          </p:txBody>
        </p:sp>
        <p:sp>
          <p:nvSpPr>
            <p:cNvPr name="TextBox 11" id="11"/>
            <p:cNvSpPr txBox="true"/>
            <p:nvPr/>
          </p:nvSpPr>
          <p:spPr>
            <a:xfrm>
              <a:off x="0" y="-47625"/>
              <a:ext cx="21396960" cy="1302258"/>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Phương pháp đề xuất  </a:t>
              </a:r>
              <a:r>
                <a:rPr lang="en-US" sz="1950">
                  <a:solidFill>
                    <a:srgbClr val="1F2A37"/>
                  </a:solidFill>
                  <a:latin typeface="Calibri (MS)"/>
                  <a:ea typeface="Calibri (MS)"/>
                  <a:cs typeface="Calibri (MS)"/>
                  <a:sym typeface="Calibri (MS)"/>
                </a:rPr>
                <a:t>QLoRA trên Qwen2.5-VL-3B-Instruct + prompt tiếng Việt có chữ OCR (ViTextVQA). Model gốc đóng băng 4-bit NF4; chỉ train adapter LoRA. Hiện thực thành QLoRA nhận biết OCR (B3) ở slide 28.</a:t>
              </a:r>
            </a:p>
          </p:txBody>
        </p:sp>
      </p:grpSp>
      <p:grpSp>
        <p:nvGrpSpPr>
          <p:cNvPr name="Group 12" id="12"/>
          <p:cNvGrpSpPr/>
          <p:nvPr/>
        </p:nvGrpSpPr>
        <p:grpSpPr>
          <a:xfrm rot="0">
            <a:off x="822960" y="3017520"/>
            <a:ext cx="5966460" cy="5952744"/>
            <a:chOff x="0" y="0"/>
            <a:chExt cx="7955280" cy="7936992"/>
          </a:xfrm>
        </p:grpSpPr>
        <p:sp>
          <p:nvSpPr>
            <p:cNvPr name="Freeform 13" id="13"/>
            <p:cNvSpPr/>
            <p:nvPr/>
          </p:nvSpPr>
          <p:spPr>
            <a:xfrm flipH="false" flipV="false" rot="0">
              <a:off x="0" y="0"/>
              <a:ext cx="7955280" cy="7936992"/>
            </a:xfrm>
            <a:custGeom>
              <a:avLst/>
              <a:gdLst/>
              <a:ahLst/>
              <a:cxnLst/>
              <a:rect r="r" b="b" t="t" l="l"/>
              <a:pathLst>
                <a:path h="7936992" w="7955280">
                  <a:moveTo>
                    <a:pt x="0" y="317500"/>
                  </a:moveTo>
                  <a:cubicBezTo>
                    <a:pt x="0" y="142113"/>
                    <a:pt x="142113" y="0"/>
                    <a:pt x="317500" y="0"/>
                  </a:cubicBezTo>
                  <a:lnTo>
                    <a:pt x="7637780" y="0"/>
                  </a:lnTo>
                  <a:cubicBezTo>
                    <a:pt x="7813167" y="0"/>
                    <a:pt x="7955280" y="142113"/>
                    <a:pt x="7955280" y="317500"/>
                  </a:cubicBezTo>
                  <a:lnTo>
                    <a:pt x="7955280" y="7619492"/>
                  </a:lnTo>
                  <a:cubicBezTo>
                    <a:pt x="7955280" y="7794879"/>
                    <a:pt x="7813167" y="7936992"/>
                    <a:pt x="7637780" y="7936992"/>
                  </a:cubicBezTo>
                  <a:lnTo>
                    <a:pt x="317500" y="7936992"/>
                  </a:lnTo>
                  <a:cubicBezTo>
                    <a:pt x="142113" y="7936992"/>
                    <a:pt x="0" y="7794879"/>
                    <a:pt x="0" y="7619492"/>
                  </a:cubicBezTo>
                  <a:close/>
                </a:path>
              </a:pathLst>
            </a:custGeom>
            <a:solidFill>
              <a:srgbClr val="F3F5F8"/>
            </a:solidFill>
          </p:spPr>
          <p:txBody>
            <a:bodyPr/>
            <a:p/>
          </p:txBody>
        </p:sp>
      </p:grpSp>
      <p:grpSp>
        <p:nvGrpSpPr>
          <p:cNvPr name="Group 14" id="14"/>
          <p:cNvGrpSpPr/>
          <p:nvPr/>
        </p:nvGrpSpPr>
        <p:grpSpPr>
          <a:xfrm rot="0">
            <a:off x="1069848" y="3113532"/>
            <a:ext cx="5554980" cy="411480"/>
            <a:chOff x="0" y="0"/>
            <a:chExt cx="7406640" cy="548640"/>
          </a:xfrm>
        </p:grpSpPr>
        <p:sp>
          <p:nvSpPr>
            <p:cNvPr name="Freeform 15" id="15"/>
            <p:cNvSpPr/>
            <p:nvPr/>
          </p:nvSpPr>
          <p:spPr>
            <a:xfrm flipH="false" flipV="false" rot="0">
              <a:off x="0" y="0"/>
              <a:ext cx="7406640" cy="548640"/>
            </a:xfrm>
            <a:custGeom>
              <a:avLst/>
              <a:gdLst/>
              <a:ahLst/>
              <a:cxnLst/>
              <a:rect r="r" b="b" t="t" l="l"/>
              <a:pathLst>
                <a:path h="548640" w="7406640">
                  <a:moveTo>
                    <a:pt x="0" y="0"/>
                  </a:moveTo>
                  <a:lnTo>
                    <a:pt x="7406640" y="0"/>
                  </a:lnTo>
                  <a:lnTo>
                    <a:pt x="7406640" y="548640"/>
                  </a:lnTo>
                  <a:lnTo>
                    <a:pt x="0" y="548640"/>
                  </a:lnTo>
                  <a:close/>
                </a:path>
              </a:pathLst>
            </a:custGeom>
            <a:blipFill>
              <a:blip r:embed="rId2">
                <a:alphaModFix amt="0"/>
              </a:blip>
              <a:stretch>
                <a:fillRect l="0" t="-212865" r="0" b="-212863"/>
              </a:stretch>
            </a:blipFill>
          </p:spPr>
          <p:txBody>
            <a:bodyPr/>
            <a:p/>
          </p:txBody>
        </p:sp>
      </p:grpSp>
      <p:grpSp>
        <p:nvGrpSpPr>
          <p:cNvPr name="Group 16" id="16"/>
          <p:cNvGrpSpPr/>
          <p:nvPr/>
        </p:nvGrpSpPr>
        <p:grpSpPr>
          <a:xfrm rot="0">
            <a:off x="1069848" y="3084957"/>
            <a:ext cx="5554980" cy="440055"/>
            <a:chOff x="0" y="0"/>
            <a:chExt cx="7406640" cy="586740"/>
          </a:xfrm>
        </p:grpSpPr>
        <p:sp>
          <p:nvSpPr>
            <p:cNvPr name="Freeform 17" id="17"/>
            <p:cNvSpPr/>
            <p:nvPr/>
          </p:nvSpPr>
          <p:spPr>
            <a:xfrm flipH="false" flipV="false" rot="0">
              <a:off x="0" y="0"/>
              <a:ext cx="7406640" cy="586740"/>
            </a:xfrm>
            <a:custGeom>
              <a:avLst/>
              <a:gdLst/>
              <a:ahLst/>
              <a:cxnLst/>
              <a:rect r="r" b="b" t="t" l="l"/>
              <a:pathLst>
                <a:path h="586740" w="7406640">
                  <a:moveTo>
                    <a:pt x="0" y="0"/>
                  </a:moveTo>
                  <a:lnTo>
                    <a:pt x="7406640" y="0"/>
                  </a:lnTo>
                  <a:lnTo>
                    <a:pt x="7406640" y="586740"/>
                  </a:lnTo>
                  <a:lnTo>
                    <a:pt x="0" y="586740"/>
                  </a:lnTo>
                  <a:close/>
                </a:path>
              </a:pathLst>
            </a:custGeom>
            <a:blipFill>
              <a:blip r:embed="rId5">
                <a:alphaModFix amt="0"/>
              </a:blip>
              <a:stretch>
                <a:fillRect l="0" t="-195966" r="0" b="-195966"/>
              </a:stretch>
            </a:blipFill>
          </p:spPr>
          <p:txBody>
            <a:bodyPr/>
            <a:p/>
          </p:txBody>
        </p:sp>
        <p:sp>
          <p:nvSpPr>
            <p:cNvPr name="TextBox 18" id="18"/>
            <p:cNvSpPr txBox="true"/>
            <p:nvPr/>
          </p:nvSpPr>
          <p:spPr>
            <a:xfrm>
              <a:off x="0" y="-38100"/>
              <a:ext cx="7406640" cy="624840"/>
            </a:xfrm>
            <a:prstGeom prst="rect">
              <a:avLst/>
            </a:prstGeom>
          </p:spPr>
          <p:txBody>
            <a:bodyPr anchor="ctr" rtlCol="false" tIns="0" lIns="0" bIns="0" rIns="0"/>
            <a:lstStyle/>
            <a:p>
              <a:pPr algn="l">
                <a:lnSpc>
                  <a:spcPts val="1800"/>
                </a:lnSpc>
              </a:pPr>
              <a:r>
                <a:rPr lang="en-US" sz="1500" b="true">
                  <a:solidFill>
                    <a:srgbClr val="1C7293"/>
                  </a:solidFill>
                  <a:latin typeface="Calibri (MS) Bold"/>
                  <a:ea typeface="Calibri (MS) Bold"/>
                  <a:cs typeface="Calibri (MS) Bold"/>
                  <a:sym typeface="Calibri (MS) Bold"/>
                </a:rPr>
                <a:t>A · CHUẨN BỊ DỮ LIỆU  —  chạy 1 lần, cache</a:t>
              </a:r>
            </a:p>
          </p:txBody>
        </p:sp>
      </p:grpSp>
      <p:sp>
        <p:nvSpPr>
          <p:cNvPr name="Freeform 19" id="19"/>
          <p:cNvSpPr/>
          <p:nvPr/>
        </p:nvSpPr>
        <p:spPr>
          <a:xfrm flipH="false" flipV="false" rot="0">
            <a:off x="1049017" y="3709921"/>
            <a:ext cx="3360944" cy="1385840"/>
          </a:xfrm>
          <a:custGeom>
            <a:avLst/>
            <a:gdLst/>
            <a:ahLst/>
            <a:cxnLst/>
            <a:rect r="r" b="b" t="t" l="l"/>
            <a:pathLst>
              <a:path h="1385840" w="3360944">
                <a:moveTo>
                  <a:pt x="0" y="0"/>
                </a:moveTo>
                <a:lnTo>
                  <a:pt x="3360944" y="0"/>
                </a:lnTo>
                <a:lnTo>
                  <a:pt x="3360944" y="1385840"/>
                </a:lnTo>
                <a:lnTo>
                  <a:pt x="0" y="138584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Freeform 20" id="20"/>
          <p:cNvSpPr/>
          <p:nvPr/>
        </p:nvSpPr>
        <p:spPr>
          <a:xfrm flipH="false" flipV="false" rot="0">
            <a:off x="1217771" y="3878675"/>
            <a:ext cx="499682" cy="499681"/>
          </a:xfrm>
          <a:custGeom>
            <a:avLst/>
            <a:gdLst/>
            <a:ahLst/>
            <a:cxnLst/>
            <a:rect r="r" b="b" t="t" l="l"/>
            <a:pathLst>
              <a:path h="499681" w="499682">
                <a:moveTo>
                  <a:pt x="0" y="0"/>
                </a:moveTo>
                <a:lnTo>
                  <a:pt x="499682" y="0"/>
                </a:lnTo>
                <a:lnTo>
                  <a:pt x="499682" y="499682"/>
                </a:lnTo>
                <a:lnTo>
                  <a:pt x="0" y="49968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grpSp>
        <p:nvGrpSpPr>
          <p:cNvPr name="Group 21" id="21"/>
          <p:cNvGrpSpPr/>
          <p:nvPr/>
        </p:nvGrpSpPr>
        <p:grpSpPr>
          <a:xfrm rot="0">
            <a:off x="1224915" y="3857244"/>
            <a:ext cx="485394" cy="513969"/>
            <a:chOff x="0" y="0"/>
            <a:chExt cx="647192" cy="685292"/>
          </a:xfrm>
        </p:grpSpPr>
        <p:sp>
          <p:nvSpPr>
            <p:cNvPr name="Freeform 22" id="22"/>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856" t="0" r="-85856" b="0"/>
              </a:stretch>
            </a:blipFill>
          </p:spPr>
          <p:txBody>
            <a:bodyPr/>
            <a:p/>
          </p:txBody>
        </p:sp>
        <p:sp>
          <p:nvSpPr>
            <p:cNvPr name="TextBox 23" id="23"/>
            <p:cNvSpPr txBox="true"/>
            <p:nvPr/>
          </p:nvSpPr>
          <p:spPr>
            <a:xfrm>
              <a:off x="0" y="-38100"/>
              <a:ext cx="647192" cy="7233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1</a:t>
              </a:r>
            </a:p>
          </p:txBody>
        </p:sp>
      </p:grpSp>
      <p:grpSp>
        <p:nvGrpSpPr>
          <p:cNvPr name="Group 24" id="24"/>
          <p:cNvGrpSpPr/>
          <p:nvPr/>
        </p:nvGrpSpPr>
        <p:grpSpPr>
          <a:xfrm rot="0">
            <a:off x="1810512" y="3867912"/>
            <a:ext cx="2468880" cy="521208"/>
            <a:chOff x="0" y="0"/>
            <a:chExt cx="3291840" cy="694944"/>
          </a:xfrm>
        </p:grpSpPr>
        <p:sp>
          <p:nvSpPr>
            <p:cNvPr name="Freeform 25" id="25"/>
            <p:cNvSpPr/>
            <p:nvPr/>
          </p:nvSpPr>
          <p:spPr>
            <a:xfrm flipH="false" flipV="false" rot="0">
              <a:off x="0" y="0"/>
              <a:ext cx="3291840" cy="694944"/>
            </a:xfrm>
            <a:custGeom>
              <a:avLst/>
              <a:gdLst/>
              <a:ahLst/>
              <a:cxnLst/>
              <a:rect r="r" b="b" t="t" l="l"/>
              <a:pathLst>
                <a:path h="694944" w="3291840">
                  <a:moveTo>
                    <a:pt x="0" y="0"/>
                  </a:moveTo>
                  <a:lnTo>
                    <a:pt x="3291840" y="0"/>
                  </a:lnTo>
                  <a:lnTo>
                    <a:pt x="3291840" y="694944"/>
                  </a:lnTo>
                  <a:lnTo>
                    <a:pt x="0" y="694944"/>
                  </a:lnTo>
                  <a:close/>
                </a:path>
              </a:pathLst>
            </a:custGeom>
            <a:blipFill>
              <a:blip r:embed="rId2">
                <a:alphaModFix amt="0"/>
              </a:blip>
              <a:stretch>
                <a:fillRect l="0" t="-42233" r="0" b="-42233"/>
              </a:stretch>
            </a:blipFill>
          </p:spPr>
          <p:txBody>
            <a:bodyPr/>
            <a:p/>
          </p:txBody>
        </p:sp>
      </p:grpSp>
      <p:grpSp>
        <p:nvGrpSpPr>
          <p:cNvPr name="Group 26" id="26"/>
          <p:cNvGrpSpPr/>
          <p:nvPr/>
        </p:nvGrpSpPr>
        <p:grpSpPr>
          <a:xfrm rot="0">
            <a:off x="1810512" y="3832193"/>
            <a:ext cx="2468880" cy="556927"/>
            <a:chOff x="0" y="0"/>
            <a:chExt cx="3291840" cy="742569"/>
          </a:xfrm>
        </p:grpSpPr>
        <p:sp>
          <p:nvSpPr>
            <p:cNvPr name="Freeform 27" id="27"/>
            <p:cNvSpPr/>
            <p:nvPr/>
          </p:nvSpPr>
          <p:spPr>
            <a:xfrm flipH="false" flipV="false" rot="0">
              <a:off x="0" y="0"/>
              <a:ext cx="3291840" cy="742569"/>
            </a:xfrm>
            <a:custGeom>
              <a:avLst/>
              <a:gdLst/>
              <a:ahLst/>
              <a:cxnLst/>
              <a:rect r="r" b="b" t="t" l="l"/>
              <a:pathLst>
                <a:path h="742569" w="3291840">
                  <a:moveTo>
                    <a:pt x="0" y="0"/>
                  </a:moveTo>
                  <a:lnTo>
                    <a:pt x="3291840" y="0"/>
                  </a:lnTo>
                  <a:lnTo>
                    <a:pt x="3291840" y="742569"/>
                  </a:lnTo>
                  <a:lnTo>
                    <a:pt x="0" y="742569"/>
                  </a:lnTo>
                  <a:close/>
                </a:path>
              </a:pathLst>
            </a:custGeom>
            <a:blipFill>
              <a:blip r:embed="rId5">
                <a:alphaModFix amt="0"/>
              </a:blip>
              <a:stretch>
                <a:fillRect l="0" t="-36378" r="0" b="-36378"/>
              </a:stretch>
            </a:blipFill>
          </p:spPr>
          <p:txBody>
            <a:bodyPr/>
            <a:p/>
          </p:txBody>
        </p:sp>
        <p:sp>
          <p:nvSpPr>
            <p:cNvPr name="TextBox 28" id="28"/>
            <p:cNvSpPr txBox="true"/>
            <p:nvPr/>
          </p:nvSpPr>
          <p:spPr>
            <a:xfrm>
              <a:off x="0" y="-47625"/>
              <a:ext cx="3291840" cy="79019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Dữ liệu</a:t>
              </a:r>
            </a:p>
          </p:txBody>
        </p:sp>
      </p:grpSp>
      <p:sp>
        <p:nvSpPr>
          <p:cNvPr name="TextBox 29" id="29"/>
          <p:cNvSpPr txBox="true"/>
          <p:nvPr/>
        </p:nvSpPr>
        <p:spPr>
          <a:xfrm rot="0">
            <a:off x="1261872" y="4405884"/>
            <a:ext cx="2962656" cy="586740"/>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ViVQA + ViTextVQA (bản chính thức)</a:t>
            </a:r>
          </a:p>
        </p:txBody>
      </p:sp>
      <p:sp>
        <p:nvSpPr>
          <p:cNvPr name="Freeform 30" id="30"/>
          <p:cNvSpPr/>
          <p:nvPr/>
        </p:nvSpPr>
        <p:spPr>
          <a:xfrm flipH="false" flipV="false" rot="0">
            <a:off x="1049017" y="5465569"/>
            <a:ext cx="3360944" cy="1385840"/>
          </a:xfrm>
          <a:custGeom>
            <a:avLst/>
            <a:gdLst/>
            <a:ahLst/>
            <a:cxnLst/>
            <a:rect r="r" b="b" t="t" l="l"/>
            <a:pathLst>
              <a:path h="1385840" w="3360944">
                <a:moveTo>
                  <a:pt x="0" y="0"/>
                </a:moveTo>
                <a:lnTo>
                  <a:pt x="3360944" y="0"/>
                </a:lnTo>
                <a:lnTo>
                  <a:pt x="3360944" y="1385840"/>
                </a:lnTo>
                <a:lnTo>
                  <a:pt x="0" y="138584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Freeform 31" id="31"/>
          <p:cNvSpPr/>
          <p:nvPr/>
        </p:nvSpPr>
        <p:spPr>
          <a:xfrm flipH="false" flipV="false" rot="0">
            <a:off x="1217771" y="5634323"/>
            <a:ext cx="499682" cy="499681"/>
          </a:xfrm>
          <a:custGeom>
            <a:avLst/>
            <a:gdLst/>
            <a:ahLst/>
            <a:cxnLst/>
            <a:rect r="r" b="b" t="t" l="l"/>
            <a:pathLst>
              <a:path h="499681" w="499682">
                <a:moveTo>
                  <a:pt x="0" y="0"/>
                </a:moveTo>
                <a:lnTo>
                  <a:pt x="499682" y="0"/>
                </a:lnTo>
                <a:lnTo>
                  <a:pt x="499682" y="499682"/>
                </a:lnTo>
                <a:lnTo>
                  <a:pt x="0" y="49968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grpSp>
        <p:nvGrpSpPr>
          <p:cNvPr name="Group 32" id="32"/>
          <p:cNvGrpSpPr/>
          <p:nvPr/>
        </p:nvGrpSpPr>
        <p:grpSpPr>
          <a:xfrm rot="0">
            <a:off x="1224915" y="5612892"/>
            <a:ext cx="485394" cy="513969"/>
            <a:chOff x="0" y="0"/>
            <a:chExt cx="647192" cy="685292"/>
          </a:xfrm>
        </p:grpSpPr>
        <p:sp>
          <p:nvSpPr>
            <p:cNvPr name="Freeform 33" id="33"/>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856" t="0" r="-85856" b="0"/>
              </a:stretch>
            </a:blipFill>
          </p:spPr>
          <p:txBody>
            <a:bodyPr/>
            <a:p/>
          </p:txBody>
        </p:sp>
        <p:sp>
          <p:nvSpPr>
            <p:cNvPr name="TextBox 34" id="34"/>
            <p:cNvSpPr txBox="true"/>
            <p:nvPr/>
          </p:nvSpPr>
          <p:spPr>
            <a:xfrm>
              <a:off x="0" y="-38100"/>
              <a:ext cx="647192" cy="7233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2</a:t>
              </a:r>
            </a:p>
          </p:txBody>
        </p:sp>
      </p:grpSp>
      <p:grpSp>
        <p:nvGrpSpPr>
          <p:cNvPr name="Group 35" id="35"/>
          <p:cNvGrpSpPr/>
          <p:nvPr/>
        </p:nvGrpSpPr>
        <p:grpSpPr>
          <a:xfrm rot="0">
            <a:off x="1810512" y="5623560"/>
            <a:ext cx="2468880" cy="521208"/>
            <a:chOff x="0" y="0"/>
            <a:chExt cx="3291840" cy="694944"/>
          </a:xfrm>
        </p:grpSpPr>
        <p:sp>
          <p:nvSpPr>
            <p:cNvPr name="Freeform 36" id="36"/>
            <p:cNvSpPr/>
            <p:nvPr/>
          </p:nvSpPr>
          <p:spPr>
            <a:xfrm flipH="false" flipV="false" rot="0">
              <a:off x="0" y="0"/>
              <a:ext cx="3291840" cy="694944"/>
            </a:xfrm>
            <a:custGeom>
              <a:avLst/>
              <a:gdLst/>
              <a:ahLst/>
              <a:cxnLst/>
              <a:rect r="r" b="b" t="t" l="l"/>
              <a:pathLst>
                <a:path h="694944" w="3291840">
                  <a:moveTo>
                    <a:pt x="0" y="0"/>
                  </a:moveTo>
                  <a:lnTo>
                    <a:pt x="3291840" y="0"/>
                  </a:lnTo>
                  <a:lnTo>
                    <a:pt x="3291840" y="694944"/>
                  </a:lnTo>
                  <a:lnTo>
                    <a:pt x="0" y="694944"/>
                  </a:lnTo>
                  <a:close/>
                </a:path>
              </a:pathLst>
            </a:custGeom>
            <a:blipFill>
              <a:blip r:embed="rId2">
                <a:alphaModFix amt="0"/>
              </a:blip>
              <a:stretch>
                <a:fillRect l="0" t="-42233" r="0" b="-42233"/>
              </a:stretch>
            </a:blipFill>
          </p:spPr>
          <p:txBody>
            <a:bodyPr/>
            <a:p/>
          </p:txBody>
        </p:sp>
      </p:grpSp>
      <p:grpSp>
        <p:nvGrpSpPr>
          <p:cNvPr name="Group 37" id="37"/>
          <p:cNvGrpSpPr/>
          <p:nvPr/>
        </p:nvGrpSpPr>
        <p:grpSpPr>
          <a:xfrm rot="0">
            <a:off x="1810512" y="5587841"/>
            <a:ext cx="2468880" cy="556927"/>
            <a:chOff x="0" y="0"/>
            <a:chExt cx="3291840" cy="742569"/>
          </a:xfrm>
        </p:grpSpPr>
        <p:sp>
          <p:nvSpPr>
            <p:cNvPr name="Freeform 38" id="38"/>
            <p:cNvSpPr/>
            <p:nvPr/>
          </p:nvSpPr>
          <p:spPr>
            <a:xfrm flipH="false" flipV="false" rot="0">
              <a:off x="0" y="0"/>
              <a:ext cx="3291840" cy="742569"/>
            </a:xfrm>
            <a:custGeom>
              <a:avLst/>
              <a:gdLst/>
              <a:ahLst/>
              <a:cxnLst/>
              <a:rect r="r" b="b" t="t" l="l"/>
              <a:pathLst>
                <a:path h="742569" w="3291840">
                  <a:moveTo>
                    <a:pt x="0" y="0"/>
                  </a:moveTo>
                  <a:lnTo>
                    <a:pt x="3291840" y="0"/>
                  </a:lnTo>
                  <a:lnTo>
                    <a:pt x="3291840" y="742569"/>
                  </a:lnTo>
                  <a:lnTo>
                    <a:pt x="0" y="742569"/>
                  </a:lnTo>
                  <a:close/>
                </a:path>
              </a:pathLst>
            </a:custGeom>
            <a:blipFill>
              <a:blip r:embed="rId5">
                <a:alphaModFix amt="0"/>
              </a:blip>
              <a:stretch>
                <a:fillRect l="0" t="-36378" r="0" b="-36378"/>
              </a:stretch>
            </a:blipFill>
          </p:spPr>
          <p:txBody>
            <a:bodyPr/>
            <a:p/>
          </p:txBody>
        </p:sp>
        <p:sp>
          <p:nvSpPr>
            <p:cNvPr name="TextBox 39" id="39"/>
            <p:cNvSpPr txBox="true"/>
            <p:nvPr/>
          </p:nvSpPr>
          <p:spPr>
            <a:xfrm>
              <a:off x="0" y="-47625"/>
              <a:ext cx="3291840" cy="79019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Tiền xử lý</a:t>
              </a:r>
            </a:p>
          </p:txBody>
        </p:sp>
      </p:grpSp>
      <p:sp>
        <p:nvSpPr>
          <p:cNvPr name="TextBox 40" id="40"/>
          <p:cNvSpPr txBox="true"/>
          <p:nvPr/>
        </p:nvSpPr>
        <p:spPr>
          <a:xfrm rot="0">
            <a:off x="1261872" y="6161532"/>
            <a:ext cx="2962656" cy="586740"/>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chữ: NFC, chữ thường · ảnh: RGB, resize ≤ 512 token</a:t>
            </a:r>
          </a:p>
        </p:txBody>
      </p:sp>
      <p:sp>
        <p:nvSpPr>
          <p:cNvPr name="Freeform 41" id="41"/>
          <p:cNvSpPr/>
          <p:nvPr/>
        </p:nvSpPr>
        <p:spPr>
          <a:xfrm flipH="false" flipV="false" rot="0">
            <a:off x="4670041" y="5465569"/>
            <a:ext cx="1934480" cy="1385840"/>
          </a:xfrm>
          <a:custGeom>
            <a:avLst/>
            <a:gdLst/>
            <a:ahLst/>
            <a:cxnLst/>
            <a:rect r="r" b="b" t="t" l="l"/>
            <a:pathLst>
              <a:path h="1385840" w="1934480">
                <a:moveTo>
                  <a:pt x="0" y="0"/>
                </a:moveTo>
                <a:lnTo>
                  <a:pt x="1934480" y="0"/>
                </a:lnTo>
                <a:lnTo>
                  <a:pt x="1934480" y="1385840"/>
                </a:lnTo>
                <a:lnTo>
                  <a:pt x="0" y="138584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sp>
        <p:nvSpPr>
          <p:cNvPr name="Freeform 42" id="42"/>
          <p:cNvSpPr/>
          <p:nvPr/>
        </p:nvSpPr>
        <p:spPr>
          <a:xfrm flipH="false" flipV="false" rot="0">
            <a:off x="4838795" y="5634323"/>
            <a:ext cx="499681" cy="499681"/>
          </a:xfrm>
          <a:custGeom>
            <a:avLst/>
            <a:gdLst/>
            <a:ahLst/>
            <a:cxnLst/>
            <a:rect r="r" b="b" t="t" l="l"/>
            <a:pathLst>
              <a:path h="499681" w="499681">
                <a:moveTo>
                  <a:pt x="0" y="0"/>
                </a:moveTo>
                <a:lnTo>
                  <a:pt x="499682" y="0"/>
                </a:lnTo>
                <a:lnTo>
                  <a:pt x="499682" y="499682"/>
                </a:lnTo>
                <a:lnTo>
                  <a:pt x="0" y="499682"/>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txBody>
          <a:bodyPr/>
          <a:p/>
        </p:txBody>
      </p:sp>
      <p:grpSp>
        <p:nvGrpSpPr>
          <p:cNvPr name="Group 43" id="43"/>
          <p:cNvGrpSpPr/>
          <p:nvPr/>
        </p:nvGrpSpPr>
        <p:grpSpPr>
          <a:xfrm rot="0">
            <a:off x="4845939" y="5612892"/>
            <a:ext cx="485394" cy="513969"/>
            <a:chOff x="0" y="0"/>
            <a:chExt cx="647192" cy="685292"/>
          </a:xfrm>
        </p:grpSpPr>
        <p:sp>
          <p:nvSpPr>
            <p:cNvPr name="Freeform 44" id="44"/>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856" t="0" r="-85856" b="0"/>
              </a:stretch>
            </a:blipFill>
          </p:spPr>
          <p:txBody>
            <a:bodyPr/>
            <a:p/>
          </p:txBody>
        </p:sp>
        <p:sp>
          <p:nvSpPr>
            <p:cNvPr name="TextBox 45" id="45"/>
            <p:cNvSpPr txBox="true"/>
            <p:nvPr/>
          </p:nvSpPr>
          <p:spPr>
            <a:xfrm>
              <a:off x="0" y="-38100"/>
              <a:ext cx="647192" cy="7233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3</a:t>
              </a:r>
            </a:p>
          </p:txBody>
        </p:sp>
      </p:grpSp>
      <p:grpSp>
        <p:nvGrpSpPr>
          <p:cNvPr name="Group 46" id="46"/>
          <p:cNvGrpSpPr/>
          <p:nvPr/>
        </p:nvGrpSpPr>
        <p:grpSpPr>
          <a:xfrm rot="0">
            <a:off x="5431536" y="5623560"/>
            <a:ext cx="1042416" cy="521208"/>
            <a:chOff x="0" y="0"/>
            <a:chExt cx="1389888" cy="694944"/>
          </a:xfrm>
        </p:grpSpPr>
        <p:sp>
          <p:nvSpPr>
            <p:cNvPr name="Freeform 47" id="47"/>
            <p:cNvSpPr/>
            <p:nvPr/>
          </p:nvSpPr>
          <p:spPr>
            <a:xfrm flipH="false" flipV="false" rot="0">
              <a:off x="0" y="0"/>
              <a:ext cx="1389888" cy="694944"/>
            </a:xfrm>
            <a:custGeom>
              <a:avLst/>
              <a:gdLst/>
              <a:ahLst/>
              <a:cxnLst/>
              <a:rect r="r" b="b" t="t" l="l"/>
              <a:pathLst>
                <a:path h="694944" w="1389888">
                  <a:moveTo>
                    <a:pt x="0" y="0"/>
                  </a:moveTo>
                  <a:lnTo>
                    <a:pt x="1389888" y="0"/>
                  </a:lnTo>
                  <a:lnTo>
                    <a:pt x="1389888" y="694944"/>
                  </a:lnTo>
                  <a:lnTo>
                    <a:pt x="0" y="694944"/>
                  </a:lnTo>
                  <a:close/>
                </a:path>
              </a:pathLst>
            </a:custGeom>
            <a:blipFill>
              <a:blip r:embed="rId2">
                <a:alphaModFix amt="0"/>
              </a:blip>
              <a:stretch>
                <a:fillRect l="-14196" t="0" r="-14195" b="0"/>
              </a:stretch>
            </a:blipFill>
          </p:spPr>
          <p:txBody>
            <a:bodyPr/>
            <a:p/>
          </p:txBody>
        </p:sp>
      </p:grpSp>
      <p:grpSp>
        <p:nvGrpSpPr>
          <p:cNvPr name="Group 48" id="48"/>
          <p:cNvGrpSpPr/>
          <p:nvPr/>
        </p:nvGrpSpPr>
        <p:grpSpPr>
          <a:xfrm rot="0">
            <a:off x="5431536" y="5587841"/>
            <a:ext cx="1042416" cy="556927"/>
            <a:chOff x="0" y="0"/>
            <a:chExt cx="1389888" cy="742569"/>
          </a:xfrm>
        </p:grpSpPr>
        <p:sp>
          <p:nvSpPr>
            <p:cNvPr name="Freeform 49" id="49"/>
            <p:cNvSpPr/>
            <p:nvPr/>
          </p:nvSpPr>
          <p:spPr>
            <a:xfrm flipH="false" flipV="false" rot="0">
              <a:off x="0" y="0"/>
              <a:ext cx="1389888" cy="742569"/>
            </a:xfrm>
            <a:custGeom>
              <a:avLst/>
              <a:gdLst/>
              <a:ahLst/>
              <a:cxnLst/>
              <a:rect r="r" b="b" t="t" l="l"/>
              <a:pathLst>
                <a:path h="742569" w="1389888">
                  <a:moveTo>
                    <a:pt x="0" y="0"/>
                  </a:moveTo>
                  <a:lnTo>
                    <a:pt x="1389888" y="0"/>
                  </a:lnTo>
                  <a:lnTo>
                    <a:pt x="1389888" y="742569"/>
                  </a:lnTo>
                  <a:lnTo>
                    <a:pt x="0" y="742569"/>
                  </a:lnTo>
                  <a:close/>
                </a:path>
              </a:pathLst>
            </a:custGeom>
            <a:blipFill>
              <a:blip r:embed="rId5">
                <a:alphaModFix amt="0"/>
              </a:blip>
              <a:stretch>
                <a:fillRect l="-18548" t="0" r="-18548" b="0"/>
              </a:stretch>
            </a:blipFill>
          </p:spPr>
          <p:txBody>
            <a:bodyPr/>
            <a:p/>
          </p:txBody>
        </p:sp>
        <p:sp>
          <p:nvSpPr>
            <p:cNvPr name="TextBox 50" id="50"/>
            <p:cNvSpPr txBox="true"/>
            <p:nvPr/>
          </p:nvSpPr>
          <p:spPr>
            <a:xfrm>
              <a:off x="0" y="-47625"/>
              <a:ext cx="1389888" cy="79019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OCR</a:t>
              </a:r>
            </a:p>
          </p:txBody>
        </p:sp>
      </p:grpSp>
      <p:sp>
        <p:nvSpPr>
          <p:cNvPr name="Freeform 51" id="51"/>
          <p:cNvSpPr/>
          <p:nvPr/>
        </p:nvSpPr>
        <p:spPr>
          <a:xfrm flipH="false" flipV="false" rot="0">
            <a:off x="5030819" y="5291423"/>
            <a:ext cx="1432369" cy="376238"/>
          </a:xfrm>
          <a:custGeom>
            <a:avLst/>
            <a:gdLst/>
            <a:ahLst/>
            <a:cxnLst/>
            <a:rect r="r" b="b" t="t" l="l"/>
            <a:pathLst>
              <a:path h="376238" w="1432369">
                <a:moveTo>
                  <a:pt x="0" y="0"/>
                </a:moveTo>
                <a:lnTo>
                  <a:pt x="1432370" y="0"/>
                </a:lnTo>
                <a:lnTo>
                  <a:pt x="1432370" y="376238"/>
                </a:lnTo>
                <a:lnTo>
                  <a:pt x="0" y="376238"/>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txBody>
          <a:bodyPr/>
          <a:p/>
        </p:txBody>
      </p:sp>
      <p:grpSp>
        <p:nvGrpSpPr>
          <p:cNvPr name="Group 52" id="52"/>
          <p:cNvGrpSpPr/>
          <p:nvPr/>
        </p:nvGrpSpPr>
        <p:grpSpPr>
          <a:xfrm rot="0">
            <a:off x="5037963" y="5277136"/>
            <a:ext cx="1418082" cy="383381"/>
            <a:chOff x="0" y="0"/>
            <a:chExt cx="1890776" cy="511175"/>
          </a:xfrm>
        </p:grpSpPr>
        <p:sp>
          <p:nvSpPr>
            <p:cNvPr name="Freeform 53" id="53"/>
            <p:cNvSpPr/>
            <p:nvPr/>
          </p:nvSpPr>
          <p:spPr>
            <a:xfrm flipH="false" flipV="false" rot="0">
              <a:off x="0" y="0"/>
              <a:ext cx="1890776" cy="511175"/>
            </a:xfrm>
            <a:custGeom>
              <a:avLst/>
              <a:gdLst/>
              <a:ahLst/>
              <a:cxnLst/>
              <a:rect r="r" b="b" t="t" l="l"/>
              <a:pathLst>
                <a:path h="511175" w="1890776">
                  <a:moveTo>
                    <a:pt x="0" y="0"/>
                  </a:moveTo>
                  <a:lnTo>
                    <a:pt x="1890776" y="0"/>
                  </a:lnTo>
                  <a:lnTo>
                    <a:pt x="1890776" y="511175"/>
                  </a:lnTo>
                  <a:lnTo>
                    <a:pt x="0" y="511175"/>
                  </a:lnTo>
                  <a:close/>
                </a:path>
              </a:pathLst>
            </a:custGeom>
            <a:blipFill>
              <a:blip r:embed="rId5">
                <a:alphaModFix amt="0"/>
              </a:blip>
              <a:stretch>
                <a:fillRect l="0" t="-22072" r="0" b="-22072"/>
              </a:stretch>
            </a:blipFill>
          </p:spPr>
          <p:txBody>
            <a:bodyPr/>
            <a:p/>
          </p:txBody>
        </p:sp>
        <p:sp>
          <p:nvSpPr>
            <p:cNvPr name="TextBox 54" id="54"/>
            <p:cNvSpPr txBox="true"/>
            <p:nvPr/>
          </p:nvSpPr>
          <p:spPr>
            <a:xfrm>
              <a:off x="0" y="-28575"/>
              <a:ext cx="1890776" cy="539750"/>
            </a:xfrm>
            <a:prstGeom prst="rect">
              <a:avLst/>
            </a:prstGeom>
          </p:spPr>
          <p:txBody>
            <a:bodyPr anchor="ctr" rtlCol="false" tIns="0" lIns="0" bIns="0" rIns="0"/>
            <a:lstStyle/>
            <a:p>
              <a:pPr algn="ctr">
                <a:lnSpc>
                  <a:spcPts val="1620"/>
                </a:lnSpc>
              </a:pPr>
              <a:r>
                <a:rPr lang="en-US" sz="1350" b="true">
                  <a:solidFill>
                    <a:srgbClr val="FFFFFF"/>
                  </a:solidFill>
                  <a:latin typeface="Calibri (MS) Bold"/>
                  <a:ea typeface="Calibri (MS) Bold"/>
                  <a:cs typeface="Calibri (MS) Bold"/>
                  <a:sym typeface="Calibri (MS) Bold"/>
                </a:rPr>
                <a:t>chỉ ViTextVQA</a:t>
              </a:r>
            </a:p>
          </p:txBody>
        </p:sp>
      </p:grpSp>
      <p:sp>
        <p:nvSpPr>
          <p:cNvPr name="TextBox 55" id="55"/>
          <p:cNvSpPr txBox="true"/>
          <p:nvPr/>
        </p:nvSpPr>
        <p:spPr>
          <a:xfrm rot="0">
            <a:off x="4882896" y="6161532"/>
            <a:ext cx="1536192" cy="586740"/>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VietOCR; sắp trái-trên → phải-dưới</a:t>
            </a:r>
          </a:p>
        </p:txBody>
      </p:sp>
      <p:sp>
        <p:nvSpPr>
          <p:cNvPr name="Freeform 56" id="56"/>
          <p:cNvSpPr/>
          <p:nvPr/>
        </p:nvSpPr>
        <p:spPr>
          <a:xfrm flipH="false" flipV="false" rot="0">
            <a:off x="1049017" y="7221217"/>
            <a:ext cx="3360944" cy="1385840"/>
          </a:xfrm>
          <a:custGeom>
            <a:avLst/>
            <a:gdLst/>
            <a:ahLst/>
            <a:cxnLst/>
            <a:rect r="r" b="b" t="t" l="l"/>
            <a:pathLst>
              <a:path h="1385840" w="3360944">
                <a:moveTo>
                  <a:pt x="0" y="0"/>
                </a:moveTo>
                <a:lnTo>
                  <a:pt x="3360944" y="0"/>
                </a:lnTo>
                <a:lnTo>
                  <a:pt x="3360944" y="1385840"/>
                </a:lnTo>
                <a:lnTo>
                  <a:pt x="0" y="138584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Freeform 57" id="57"/>
          <p:cNvSpPr/>
          <p:nvPr/>
        </p:nvSpPr>
        <p:spPr>
          <a:xfrm flipH="false" flipV="false" rot="0">
            <a:off x="1217771" y="7389971"/>
            <a:ext cx="499682" cy="499682"/>
          </a:xfrm>
          <a:custGeom>
            <a:avLst/>
            <a:gdLst/>
            <a:ahLst/>
            <a:cxnLst/>
            <a:rect r="r" b="b" t="t" l="l"/>
            <a:pathLst>
              <a:path h="499682" w="499682">
                <a:moveTo>
                  <a:pt x="0" y="0"/>
                </a:moveTo>
                <a:lnTo>
                  <a:pt x="499682" y="0"/>
                </a:lnTo>
                <a:lnTo>
                  <a:pt x="499682" y="499682"/>
                </a:lnTo>
                <a:lnTo>
                  <a:pt x="0" y="49968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grpSp>
        <p:nvGrpSpPr>
          <p:cNvPr name="Group 58" id="58"/>
          <p:cNvGrpSpPr/>
          <p:nvPr/>
        </p:nvGrpSpPr>
        <p:grpSpPr>
          <a:xfrm rot="0">
            <a:off x="1224915" y="7368540"/>
            <a:ext cx="485394" cy="513969"/>
            <a:chOff x="0" y="0"/>
            <a:chExt cx="647192" cy="685292"/>
          </a:xfrm>
        </p:grpSpPr>
        <p:sp>
          <p:nvSpPr>
            <p:cNvPr name="Freeform 59" id="59"/>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856" t="0" r="-85856" b="0"/>
              </a:stretch>
            </a:blipFill>
          </p:spPr>
          <p:txBody>
            <a:bodyPr/>
            <a:p/>
          </p:txBody>
        </p:sp>
        <p:sp>
          <p:nvSpPr>
            <p:cNvPr name="TextBox 60" id="60"/>
            <p:cNvSpPr txBox="true"/>
            <p:nvPr/>
          </p:nvSpPr>
          <p:spPr>
            <a:xfrm>
              <a:off x="0" y="-38100"/>
              <a:ext cx="647192" cy="7233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4</a:t>
              </a:r>
            </a:p>
          </p:txBody>
        </p:sp>
      </p:grpSp>
      <p:grpSp>
        <p:nvGrpSpPr>
          <p:cNvPr name="Group 61" id="61"/>
          <p:cNvGrpSpPr/>
          <p:nvPr/>
        </p:nvGrpSpPr>
        <p:grpSpPr>
          <a:xfrm rot="0">
            <a:off x="1810512" y="7379208"/>
            <a:ext cx="2468880" cy="521208"/>
            <a:chOff x="0" y="0"/>
            <a:chExt cx="3291840" cy="694944"/>
          </a:xfrm>
        </p:grpSpPr>
        <p:sp>
          <p:nvSpPr>
            <p:cNvPr name="Freeform 62" id="62"/>
            <p:cNvSpPr/>
            <p:nvPr/>
          </p:nvSpPr>
          <p:spPr>
            <a:xfrm flipH="false" flipV="false" rot="0">
              <a:off x="0" y="0"/>
              <a:ext cx="3291840" cy="694944"/>
            </a:xfrm>
            <a:custGeom>
              <a:avLst/>
              <a:gdLst/>
              <a:ahLst/>
              <a:cxnLst/>
              <a:rect r="r" b="b" t="t" l="l"/>
              <a:pathLst>
                <a:path h="694944" w="3291840">
                  <a:moveTo>
                    <a:pt x="0" y="0"/>
                  </a:moveTo>
                  <a:lnTo>
                    <a:pt x="3291840" y="0"/>
                  </a:lnTo>
                  <a:lnTo>
                    <a:pt x="3291840" y="694944"/>
                  </a:lnTo>
                  <a:lnTo>
                    <a:pt x="0" y="694944"/>
                  </a:lnTo>
                  <a:close/>
                </a:path>
              </a:pathLst>
            </a:custGeom>
            <a:blipFill>
              <a:blip r:embed="rId2">
                <a:alphaModFix amt="0"/>
              </a:blip>
              <a:stretch>
                <a:fillRect l="0" t="-42233" r="0" b="-42233"/>
              </a:stretch>
            </a:blipFill>
          </p:spPr>
          <p:txBody>
            <a:bodyPr/>
            <a:p/>
          </p:txBody>
        </p:sp>
      </p:grpSp>
      <p:grpSp>
        <p:nvGrpSpPr>
          <p:cNvPr name="Group 63" id="63"/>
          <p:cNvGrpSpPr/>
          <p:nvPr/>
        </p:nvGrpSpPr>
        <p:grpSpPr>
          <a:xfrm rot="0">
            <a:off x="1810512" y="7343489"/>
            <a:ext cx="2468880" cy="556927"/>
            <a:chOff x="0" y="0"/>
            <a:chExt cx="3291840" cy="742569"/>
          </a:xfrm>
        </p:grpSpPr>
        <p:sp>
          <p:nvSpPr>
            <p:cNvPr name="Freeform 64" id="64"/>
            <p:cNvSpPr/>
            <p:nvPr/>
          </p:nvSpPr>
          <p:spPr>
            <a:xfrm flipH="false" flipV="false" rot="0">
              <a:off x="0" y="0"/>
              <a:ext cx="3291840" cy="742569"/>
            </a:xfrm>
            <a:custGeom>
              <a:avLst/>
              <a:gdLst/>
              <a:ahLst/>
              <a:cxnLst/>
              <a:rect r="r" b="b" t="t" l="l"/>
              <a:pathLst>
                <a:path h="742569" w="3291840">
                  <a:moveTo>
                    <a:pt x="0" y="0"/>
                  </a:moveTo>
                  <a:lnTo>
                    <a:pt x="3291840" y="0"/>
                  </a:lnTo>
                  <a:lnTo>
                    <a:pt x="3291840" y="742569"/>
                  </a:lnTo>
                  <a:lnTo>
                    <a:pt x="0" y="742569"/>
                  </a:lnTo>
                  <a:close/>
                </a:path>
              </a:pathLst>
            </a:custGeom>
            <a:blipFill>
              <a:blip r:embed="rId5">
                <a:alphaModFix amt="0"/>
              </a:blip>
              <a:stretch>
                <a:fillRect l="0" t="-36378" r="0" b="-36378"/>
              </a:stretch>
            </a:blipFill>
          </p:spPr>
          <p:txBody>
            <a:bodyPr/>
            <a:p/>
          </p:txBody>
        </p:sp>
        <p:sp>
          <p:nvSpPr>
            <p:cNvPr name="TextBox 65" id="65"/>
            <p:cNvSpPr txBox="true"/>
            <p:nvPr/>
          </p:nvSpPr>
          <p:spPr>
            <a:xfrm>
              <a:off x="0" y="-47625"/>
              <a:ext cx="3291840" cy="79019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Chia tập cố định</a:t>
              </a:r>
            </a:p>
          </p:txBody>
        </p:sp>
      </p:grpSp>
      <p:sp>
        <p:nvSpPr>
          <p:cNvPr name="TextBox 66" id="66"/>
          <p:cNvSpPr txBox="true"/>
          <p:nvPr/>
        </p:nvSpPr>
        <p:spPr>
          <a:xfrm rot="0">
            <a:off x="1261872" y="7917180"/>
            <a:ext cx="2962656" cy="586740"/>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split chính thức; val ViVQA 1.200; seed 42</a:t>
            </a:r>
          </a:p>
        </p:txBody>
      </p:sp>
      <p:sp>
        <p:nvSpPr>
          <p:cNvPr name="TextBox 67" id="67"/>
          <p:cNvSpPr txBox="true"/>
          <p:nvPr/>
        </p:nvSpPr>
        <p:spPr>
          <a:xfrm rot="0">
            <a:off x="4416552" y="5731002"/>
            <a:ext cx="274320" cy="358902"/>
          </a:xfrm>
          <a:prstGeom prst="rect">
            <a:avLst/>
          </a:prstGeom>
        </p:spPr>
        <p:txBody>
          <a:bodyPr anchor="t" rtlCol="false" tIns="0" lIns="0" bIns="0" rIns="0">
            <a:spAutoFit/>
          </a:bodyPr>
          <a:lstStyle/>
          <a:p>
            <a:pPr algn="l">
              <a:lnSpc>
                <a:spcPts val="1530"/>
              </a:lnSpc>
            </a:pPr>
            <a:r>
              <a:rPr lang="en-US" sz="1275">
                <a:solidFill>
                  <a:srgbClr val="5B677A"/>
                </a:solidFill>
                <a:latin typeface="Calibri (MS)"/>
                <a:ea typeface="Calibri (MS)"/>
                <a:cs typeface="Calibri (MS)"/>
                <a:sym typeface="Calibri (MS)"/>
              </a:rPr>
              <a:t>ảnh</a:t>
            </a:r>
          </a:p>
        </p:txBody>
      </p:sp>
      <p:grpSp>
        <p:nvGrpSpPr>
          <p:cNvPr name="Group 68" id="68"/>
          <p:cNvGrpSpPr/>
          <p:nvPr/>
        </p:nvGrpSpPr>
        <p:grpSpPr>
          <a:xfrm rot="0">
            <a:off x="7063740" y="3017520"/>
            <a:ext cx="5417820" cy="5952744"/>
            <a:chOff x="0" y="0"/>
            <a:chExt cx="7223760" cy="7936992"/>
          </a:xfrm>
        </p:grpSpPr>
        <p:sp>
          <p:nvSpPr>
            <p:cNvPr name="Freeform 69" id="69"/>
            <p:cNvSpPr/>
            <p:nvPr/>
          </p:nvSpPr>
          <p:spPr>
            <a:xfrm flipH="false" flipV="false" rot="0">
              <a:off x="0" y="0"/>
              <a:ext cx="7223760" cy="7936992"/>
            </a:xfrm>
            <a:custGeom>
              <a:avLst/>
              <a:gdLst/>
              <a:ahLst/>
              <a:cxnLst/>
              <a:rect r="r" b="b" t="t" l="l"/>
              <a:pathLst>
                <a:path h="7936992" w="7223760">
                  <a:moveTo>
                    <a:pt x="0" y="288925"/>
                  </a:moveTo>
                  <a:cubicBezTo>
                    <a:pt x="0" y="129413"/>
                    <a:pt x="129413" y="0"/>
                    <a:pt x="288925" y="0"/>
                  </a:cubicBezTo>
                  <a:lnTo>
                    <a:pt x="6934835" y="0"/>
                  </a:lnTo>
                  <a:cubicBezTo>
                    <a:pt x="7094474" y="0"/>
                    <a:pt x="7223760" y="129413"/>
                    <a:pt x="7223760" y="288925"/>
                  </a:cubicBezTo>
                  <a:lnTo>
                    <a:pt x="7223760" y="7648067"/>
                  </a:lnTo>
                  <a:cubicBezTo>
                    <a:pt x="7223760" y="7807706"/>
                    <a:pt x="7094347" y="7936992"/>
                    <a:pt x="6934835" y="7936992"/>
                  </a:cubicBezTo>
                  <a:lnTo>
                    <a:pt x="288925" y="7936992"/>
                  </a:lnTo>
                  <a:cubicBezTo>
                    <a:pt x="129413" y="7936992"/>
                    <a:pt x="0" y="7807579"/>
                    <a:pt x="0" y="7648067"/>
                  </a:cubicBezTo>
                  <a:close/>
                </a:path>
              </a:pathLst>
            </a:custGeom>
            <a:solidFill>
              <a:srgbClr val="FDF8EE"/>
            </a:solidFill>
          </p:spPr>
          <p:txBody>
            <a:bodyPr/>
            <a:p/>
          </p:txBody>
        </p:sp>
      </p:grpSp>
      <p:grpSp>
        <p:nvGrpSpPr>
          <p:cNvPr name="Group 70" id="70"/>
          <p:cNvGrpSpPr/>
          <p:nvPr/>
        </p:nvGrpSpPr>
        <p:grpSpPr>
          <a:xfrm rot="0">
            <a:off x="7310628" y="3113532"/>
            <a:ext cx="5006340" cy="411480"/>
            <a:chOff x="0" y="0"/>
            <a:chExt cx="6675120" cy="548640"/>
          </a:xfrm>
        </p:grpSpPr>
        <p:sp>
          <p:nvSpPr>
            <p:cNvPr name="Freeform 71" id="71"/>
            <p:cNvSpPr/>
            <p:nvPr/>
          </p:nvSpPr>
          <p:spPr>
            <a:xfrm flipH="false" flipV="false" rot="0">
              <a:off x="0" y="0"/>
              <a:ext cx="6675120" cy="548640"/>
            </a:xfrm>
            <a:custGeom>
              <a:avLst/>
              <a:gdLst/>
              <a:ahLst/>
              <a:cxnLst/>
              <a:rect r="r" b="b" t="t" l="l"/>
              <a:pathLst>
                <a:path h="548640" w="6675120">
                  <a:moveTo>
                    <a:pt x="0" y="0"/>
                  </a:moveTo>
                  <a:lnTo>
                    <a:pt x="6675120" y="0"/>
                  </a:lnTo>
                  <a:lnTo>
                    <a:pt x="6675120" y="548640"/>
                  </a:lnTo>
                  <a:lnTo>
                    <a:pt x="0" y="548640"/>
                  </a:lnTo>
                  <a:close/>
                </a:path>
              </a:pathLst>
            </a:custGeom>
            <a:blipFill>
              <a:blip r:embed="rId2">
                <a:alphaModFix amt="0"/>
              </a:blip>
              <a:stretch>
                <a:fillRect l="0" t="-186902" r="0" b="-186902"/>
              </a:stretch>
            </a:blipFill>
          </p:spPr>
          <p:txBody>
            <a:bodyPr/>
            <a:p/>
          </p:txBody>
        </p:sp>
      </p:grpSp>
      <p:grpSp>
        <p:nvGrpSpPr>
          <p:cNvPr name="Group 72" id="72"/>
          <p:cNvGrpSpPr/>
          <p:nvPr/>
        </p:nvGrpSpPr>
        <p:grpSpPr>
          <a:xfrm rot="0">
            <a:off x="7310628" y="3084957"/>
            <a:ext cx="5006340" cy="440055"/>
            <a:chOff x="0" y="0"/>
            <a:chExt cx="6675120" cy="586740"/>
          </a:xfrm>
        </p:grpSpPr>
        <p:sp>
          <p:nvSpPr>
            <p:cNvPr name="Freeform 73" id="73"/>
            <p:cNvSpPr/>
            <p:nvPr/>
          </p:nvSpPr>
          <p:spPr>
            <a:xfrm flipH="false" flipV="false" rot="0">
              <a:off x="0" y="0"/>
              <a:ext cx="6675120" cy="586740"/>
            </a:xfrm>
            <a:custGeom>
              <a:avLst/>
              <a:gdLst/>
              <a:ahLst/>
              <a:cxnLst/>
              <a:rect r="r" b="b" t="t" l="l"/>
              <a:pathLst>
                <a:path h="586740" w="6675120">
                  <a:moveTo>
                    <a:pt x="0" y="0"/>
                  </a:moveTo>
                  <a:lnTo>
                    <a:pt x="6675120" y="0"/>
                  </a:lnTo>
                  <a:lnTo>
                    <a:pt x="6675120" y="586740"/>
                  </a:lnTo>
                  <a:lnTo>
                    <a:pt x="0" y="586740"/>
                  </a:lnTo>
                  <a:close/>
                </a:path>
              </a:pathLst>
            </a:custGeom>
            <a:blipFill>
              <a:blip r:embed="rId5">
                <a:alphaModFix amt="0"/>
              </a:blip>
              <a:stretch>
                <a:fillRect l="0" t="-171673" r="0" b="-171673"/>
              </a:stretch>
            </a:blipFill>
          </p:spPr>
          <p:txBody>
            <a:bodyPr/>
            <a:p/>
          </p:txBody>
        </p:sp>
        <p:sp>
          <p:nvSpPr>
            <p:cNvPr name="TextBox 74" id="74"/>
            <p:cNvSpPr txBox="true"/>
            <p:nvPr/>
          </p:nvSpPr>
          <p:spPr>
            <a:xfrm>
              <a:off x="0" y="-38100"/>
              <a:ext cx="6675120" cy="624840"/>
            </a:xfrm>
            <a:prstGeom prst="rect">
              <a:avLst/>
            </a:prstGeom>
          </p:spPr>
          <p:txBody>
            <a:bodyPr anchor="ctr" rtlCol="false" tIns="0" lIns="0" bIns="0" rIns="0"/>
            <a:lstStyle/>
            <a:p>
              <a:pPr algn="l">
                <a:lnSpc>
                  <a:spcPts val="1800"/>
                </a:lnSpc>
              </a:pPr>
              <a:r>
                <a:rPr lang="en-US" sz="1500" b="true">
                  <a:solidFill>
                    <a:srgbClr val="1C7293"/>
                  </a:solidFill>
                  <a:latin typeface="Calibri (MS) Bold"/>
                  <a:ea typeface="Calibri (MS) Bold"/>
                  <a:cs typeface="Calibri (MS) Bold"/>
                  <a:sym typeface="Calibri (MS) Bold"/>
                </a:rPr>
                <a:t>B · HUẤN LUYỆN &amp; SUY LUẬN  —  giống hệt mọi run</a:t>
              </a:r>
            </a:p>
          </p:txBody>
        </p:sp>
      </p:grpSp>
      <p:sp>
        <p:nvSpPr>
          <p:cNvPr name="Freeform 75" id="75"/>
          <p:cNvSpPr/>
          <p:nvPr/>
        </p:nvSpPr>
        <p:spPr>
          <a:xfrm flipH="false" flipV="false" rot="0">
            <a:off x="7248649" y="3709921"/>
            <a:ext cx="5048012" cy="1385840"/>
          </a:xfrm>
          <a:custGeom>
            <a:avLst/>
            <a:gdLst/>
            <a:ahLst/>
            <a:cxnLst/>
            <a:rect r="r" b="b" t="t" l="l"/>
            <a:pathLst>
              <a:path h="1385840" w="5048012">
                <a:moveTo>
                  <a:pt x="0" y="0"/>
                </a:moveTo>
                <a:lnTo>
                  <a:pt x="5048012" y="0"/>
                </a:lnTo>
                <a:lnTo>
                  <a:pt x="5048012" y="1385840"/>
                </a:lnTo>
                <a:lnTo>
                  <a:pt x="0" y="1385840"/>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txBody>
          <a:bodyPr/>
          <a:p/>
        </p:txBody>
      </p:sp>
      <p:sp>
        <p:nvSpPr>
          <p:cNvPr name="Freeform 76" id="76"/>
          <p:cNvSpPr/>
          <p:nvPr/>
        </p:nvSpPr>
        <p:spPr>
          <a:xfrm flipH="false" flipV="false" rot="0">
            <a:off x="7417403" y="3878675"/>
            <a:ext cx="499682" cy="499681"/>
          </a:xfrm>
          <a:custGeom>
            <a:avLst/>
            <a:gdLst/>
            <a:ahLst/>
            <a:cxnLst/>
            <a:rect r="r" b="b" t="t" l="l"/>
            <a:pathLst>
              <a:path h="499681" w="499682">
                <a:moveTo>
                  <a:pt x="0" y="0"/>
                </a:moveTo>
                <a:lnTo>
                  <a:pt x="499682" y="0"/>
                </a:lnTo>
                <a:lnTo>
                  <a:pt x="499682" y="499682"/>
                </a:lnTo>
                <a:lnTo>
                  <a:pt x="0" y="49968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grpSp>
        <p:nvGrpSpPr>
          <p:cNvPr name="Group 77" id="77"/>
          <p:cNvGrpSpPr/>
          <p:nvPr/>
        </p:nvGrpSpPr>
        <p:grpSpPr>
          <a:xfrm rot="0">
            <a:off x="7424547" y="3857244"/>
            <a:ext cx="485394" cy="513969"/>
            <a:chOff x="0" y="0"/>
            <a:chExt cx="647192" cy="685292"/>
          </a:xfrm>
        </p:grpSpPr>
        <p:sp>
          <p:nvSpPr>
            <p:cNvPr name="Freeform 78" id="78"/>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856" t="0" r="-85856" b="0"/>
              </a:stretch>
            </a:blipFill>
          </p:spPr>
          <p:txBody>
            <a:bodyPr/>
            <a:p/>
          </p:txBody>
        </p:sp>
        <p:sp>
          <p:nvSpPr>
            <p:cNvPr name="TextBox 79" id="79"/>
            <p:cNvSpPr txBox="true"/>
            <p:nvPr/>
          </p:nvSpPr>
          <p:spPr>
            <a:xfrm>
              <a:off x="0" y="-38100"/>
              <a:ext cx="647192" cy="7233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5</a:t>
              </a:r>
            </a:p>
          </p:txBody>
        </p:sp>
      </p:grpSp>
      <p:grpSp>
        <p:nvGrpSpPr>
          <p:cNvPr name="Group 80" id="80"/>
          <p:cNvGrpSpPr/>
          <p:nvPr/>
        </p:nvGrpSpPr>
        <p:grpSpPr>
          <a:xfrm rot="0">
            <a:off x="8010144" y="3867912"/>
            <a:ext cx="4155948" cy="521208"/>
            <a:chOff x="0" y="0"/>
            <a:chExt cx="5541264" cy="694944"/>
          </a:xfrm>
        </p:grpSpPr>
        <p:sp>
          <p:nvSpPr>
            <p:cNvPr name="Freeform 81" id="81"/>
            <p:cNvSpPr/>
            <p:nvPr/>
          </p:nvSpPr>
          <p:spPr>
            <a:xfrm flipH="false" flipV="false" rot="0">
              <a:off x="0" y="0"/>
              <a:ext cx="5541264" cy="694944"/>
            </a:xfrm>
            <a:custGeom>
              <a:avLst/>
              <a:gdLst/>
              <a:ahLst/>
              <a:cxnLst/>
              <a:rect r="r" b="b" t="t" l="l"/>
              <a:pathLst>
                <a:path h="694944" w="5541264">
                  <a:moveTo>
                    <a:pt x="0" y="0"/>
                  </a:moveTo>
                  <a:lnTo>
                    <a:pt x="5541264" y="0"/>
                  </a:lnTo>
                  <a:lnTo>
                    <a:pt x="5541264" y="694944"/>
                  </a:lnTo>
                  <a:lnTo>
                    <a:pt x="0" y="694944"/>
                  </a:lnTo>
                  <a:close/>
                </a:path>
              </a:pathLst>
            </a:custGeom>
            <a:blipFill>
              <a:blip r:embed="rId2">
                <a:alphaModFix amt="0"/>
              </a:blip>
              <a:stretch>
                <a:fillRect l="0" t="-105259" r="0" b="-105259"/>
              </a:stretch>
            </a:blipFill>
          </p:spPr>
          <p:txBody>
            <a:bodyPr/>
            <a:p/>
          </p:txBody>
        </p:sp>
      </p:grpSp>
      <p:grpSp>
        <p:nvGrpSpPr>
          <p:cNvPr name="Group 82" id="82"/>
          <p:cNvGrpSpPr/>
          <p:nvPr/>
        </p:nvGrpSpPr>
        <p:grpSpPr>
          <a:xfrm rot="0">
            <a:off x="8010144" y="3832193"/>
            <a:ext cx="4155948" cy="556927"/>
            <a:chOff x="0" y="0"/>
            <a:chExt cx="5541264" cy="742569"/>
          </a:xfrm>
        </p:grpSpPr>
        <p:sp>
          <p:nvSpPr>
            <p:cNvPr name="Freeform 83" id="83"/>
            <p:cNvSpPr/>
            <p:nvPr/>
          </p:nvSpPr>
          <p:spPr>
            <a:xfrm flipH="false" flipV="false" rot="0">
              <a:off x="0" y="0"/>
              <a:ext cx="5541264" cy="742569"/>
            </a:xfrm>
            <a:custGeom>
              <a:avLst/>
              <a:gdLst/>
              <a:ahLst/>
              <a:cxnLst/>
              <a:rect r="r" b="b" t="t" l="l"/>
              <a:pathLst>
                <a:path h="742569" w="5541264">
                  <a:moveTo>
                    <a:pt x="0" y="0"/>
                  </a:moveTo>
                  <a:lnTo>
                    <a:pt x="5541264" y="0"/>
                  </a:lnTo>
                  <a:lnTo>
                    <a:pt x="5541264" y="742569"/>
                  </a:lnTo>
                  <a:lnTo>
                    <a:pt x="0" y="742569"/>
                  </a:lnTo>
                  <a:close/>
                </a:path>
              </a:pathLst>
            </a:custGeom>
            <a:blipFill>
              <a:blip r:embed="rId5">
                <a:alphaModFix amt="0"/>
              </a:blip>
              <a:stretch>
                <a:fillRect l="0" t="-95402" r="0" b="-95402"/>
              </a:stretch>
            </a:blipFill>
          </p:spPr>
          <p:txBody>
            <a:bodyPr/>
            <a:p/>
          </p:txBody>
        </p:sp>
        <p:sp>
          <p:nvSpPr>
            <p:cNvPr name="TextBox 84" id="84"/>
            <p:cNvSpPr txBox="true"/>
            <p:nvPr/>
          </p:nvSpPr>
          <p:spPr>
            <a:xfrm>
              <a:off x="0" y="-47625"/>
              <a:ext cx="5541264" cy="79019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Ghép prompt</a:t>
              </a:r>
            </a:p>
          </p:txBody>
        </p:sp>
      </p:grpSp>
      <p:sp>
        <p:nvSpPr>
          <p:cNvPr name="TextBox 85" id="85"/>
          <p:cNvSpPr txBox="true"/>
          <p:nvPr/>
        </p:nvSpPr>
        <p:spPr>
          <a:xfrm rot="0">
            <a:off x="7461504" y="4405884"/>
            <a:ext cx="4649724" cy="586740"/>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ảnh + câu hỏi tiếng Việt (+ một dòng chữ OCR)</a:t>
            </a:r>
          </a:p>
        </p:txBody>
      </p:sp>
      <p:sp>
        <p:nvSpPr>
          <p:cNvPr name="Freeform 86" id="86"/>
          <p:cNvSpPr/>
          <p:nvPr/>
        </p:nvSpPr>
        <p:spPr>
          <a:xfrm flipH="false" flipV="false" rot="0">
            <a:off x="7248649" y="5465569"/>
            <a:ext cx="5048012" cy="3141488"/>
          </a:xfrm>
          <a:custGeom>
            <a:avLst/>
            <a:gdLst/>
            <a:ahLst/>
            <a:cxnLst/>
            <a:rect r="r" b="b" t="t" l="l"/>
            <a:pathLst>
              <a:path h="3141488" w="5048012">
                <a:moveTo>
                  <a:pt x="0" y="0"/>
                </a:moveTo>
                <a:lnTo>
                  <a:pt x="5048012" y="0"/>
                </a:lnTo>
                <a:lnTo>
                  <a:pt x="5048012" y="3141488"/>
                </a:lnTo>
                <a:lnTo>
                  <a:pt x="0" y="3141488"/>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txBody>
          <a:bodyPr/>
          <a:p/>
        </p:txBody>
      </p:sp>
      <p:sp>
        <p:nvSpPr>
          <p:cNvPr name="Freeform 87" id="87"/>
          <p:cNvSpPr/>
          <p:nvPr/>
        </p:nvSpPr>
        <p:spPr>
          <a:xfrm flipH="false" flipV="false" rot="0">
            <a:off x="7417403" y="5634323"/>
            <a:ext cx="499682" cy="499681"/>
          </a:xfrm>
          <a:custGeom>
            <a:avLst/>
            <a:gdLst/>
            <a:ahLst/>
            <a:cxnLst/>
            <a:rect r="r" b="b" t="t" l="l"/>
            <a:pathLst>
              <a:path h="499681" w="499682">
                <a:moveTo>
                  <a:pt x="0" y="0"/>
                </a:moveTo>
                <a:lnTo>
                  <a:pt x="499682" y="0"/>
                </a:lnTo>
                <a:lnTo>
                  <a:pt x="499682" y="499682"/>
                </a:lnTo>
                <a:lnTo>
                  <a:pt x="0" y="499682"/>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txBody>
          <a:bodyPr/>
          <a:p/>
        </p:txBody>
      </p:sp>
      <p:grpSp>
        <p:nvGrpSpPr>
          <p:cNvPr name="Group 88" id="88"/>
          <p:cNvGrpSpPr/>
          <p:nvPr/>
        </p:nvGrpSpPr>
        <p:grpSpPr>
          <a:xfrm rot="0">
            <a:off x="7424547" y="5612892"/>
            <a:ext cx="485394" cy="513969"/>
            <a:chOff x="0" y="0"/>
            <a:chExt cx="647192" cy="685292"/>
          </a:xfrm>
        </p:grpSpPr>
        <p:sp>
          <p:nvSpPr>
            <p:cNvPr name="Freeform 89" id="89"/>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856" t="0" r="-85856" b="0"/>
              </a:stretch>
            </a:blipFill>
          </p:spPr>
          <p:txBody>
            <a:bodyPr/>
            <a:p/>
          </p:txBody>
        </p:sp>
        <p:sp>
          <p:nvSpPr>
            <p:cNvPr name="TextBox 90" id="90"/>
            <p:cNvSpPr txBox="true"/>
            <p:nvPr/>
          </p:nvSpPr>
          <p:spPr>
            <a:xfrm>
              <a:off x="0" y="-38100"/>
              <a:ext cx="647192" cy="7233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6</a:t>
              </a:r>
            </a:p>
          </p:txBody>
        </p:sp>
      </p:grpSp>
      <p:grpSp>
        <p:nvGrpSpPr>
          <p:cNvPr name="Group 91" id="91"/>
          <p:cNvGrpSpPr/>
          <p:nvPr/>
        </p:nvGrpSpPr>
        <p:grpSpPr>
          <a:xfrm rot="0">
            <a:off x="8010144" y="5623560"/>
            <a:ext cx="4155948" cy="521208"/>
            <a:chOff x="0" y="0"/>
            <a:chExt cx="5541264" cy="694944"/>
          </a:xfrm>
        </p:grpSpPr>
        <p:sp>
          <p:nvSpPr>
            <p:cNvPr name="Freeform 92" id="92"/>
            <p:cNvSpPr/>
            <p:nvPr/>
          </p:nvSpPr>
          <p:spPr>
            <a:xfrm flipH="false" flipV="false" rot="0">
              <a:off x="0" y="0"/>
              <a:ext cx="5541264" cy="694944"/>
            </a:xfrm>
            <a:custGeom>
              <a:avLst/>
              <a:gdLst/>
              <a:ahLst/>
              <a:cxnLst/>
              <a:rect r="r" b="b" t="t" l="l"/>
              <a:pathLst>
                <a:path h="694944" w="5541264">
                  <a:moveTo>
                    <a:pt x="0" y="0"/>
                  </a:moveTo>
                  <a:lnTo>
                    <a:pt x="5541264" y="0"/>
                  </a:lnTo>
                  <a:lnTo>
                    <a:pt x="5541264" y="694944"/>
                  </a:lnTo>
                  <a:lnTo>
                    <a:pt x="0" y="694944"/>
                  </a:lnTo>
                  <a:close/>
                </a:path>
              </a:pathLst>
            </a:custGeom>
            <a:blipFill>
              <a:blip r:embed="rId2">
                <a:alphaModFix amt="0"/>
              </a:blip>
              <a:stretch>
                <a:fillRect l="0" t="-105259" r="0" b="-105259"/>
              </a:stretch>
            </a:blipFill>
          </p:spPr>
          <p:txBody>
            <a:bodyPr/>
            <a:p/>
          </p:txBody>
        </p:sp>
      </p:grpSp>
      <p:grpSp>
        <p:nvGrpSpPr>
          <p:cNvPr name="Group 93" id="93"/>
          <p:cNvGrpSpPr/>
          <p:nvPr/>
        </p:nvGrpSpPr>
        <p:grpSpPr>
          <a:xfrm rot="0">
            <a:off x="8010144" y="5587841"/>
            <a:ext cx="4155948" cy="556927"/>
            <a:chOff x="0" y="0"/>
            <a:chExt cx="5541264" cy="742569"/>
          </a:xfrm>
        </p:grpSpPr>
        <p:sp>
          <p:nvSpPr>
            <p:cNvPr name="Freeform 94" id="94"/>
            <p:cNvSpPr/>
            <p:nvPr/>
          </p:nvSpPr>
          <p:spPr>
            <a:xfrm flipH="false" flipV="false" rot="0">
              <a:off x="0" y="0"/>
              <a:ext cx="5541264" cy="742569"/>
            </a:xfrm>
            <a:custGeom>
              <a:avLst/>
              <a:gdLst/>
              <a:ahLst/>
              <a:cxnLst/>
              <a:rect r="r" b="b" t="t" l="l"/>
              <a:pathLst>
                <a:path h="742569" w="5541264">
                  <a:moveTo>
                    <a:pt x="0" y="0"/>
                  </a:moveTo>
                  <a:lnTo>
                    <a:pt x="5541264" y="0"/>
                  </a:lnTo>
                  <a:lnTo>
                    <a:pt x="5541264" y="742569"/>
                  </a:lnTo>
                  <a:lnTo>
                    <a:pt x="0" y="742569"/>
                  </a:lnTo>
                  <a:close/>
                </a:path>
              </a:pathLst>
            </a:custGeom>
            <a:blipFill>
              <a:blip r:embed="rId5">
                <a:alphaModFix amt="0"/>
              </a:blip>
              <a:stretch>
                <a:fillRect l="0" t="-95402" r="0" b="-95402"/>
              </a:stretch>
            </a:blipFill>
          </p:spPr>
          <p:txBody>
            <a:bodyPr/>
            <a:p/>
          </p:txBody>
        </p:sp>
        <p:sp>
          <p:nvSpPr>
            <p:cNvPr name="TextBox 95" id="95"/>
            <p:cNvSpPr txBox="true"/>
            <p:nvPr/>
          </p:nvSpPr>
          <p:spPr>
            <a:xfrm>
              <a:off x="0" y="-47625"/>
              <a:ext cx="5541264" cy="79019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Qwen2.5-VL-3B-Instruct</a:t>
              </a:r>
            </a:p>
          </p:txBody>
        </p:sp>
      </p:grpSp>
      <p:sp>
        <p:nvSpPr>
          <p:cNvPr name="Freeform 96" id="96"/>
          <p:cNvSpPr/>
          <p:nvPr/>
        </p:nvSpPr>
        <p:spPr>
          <a:xfrm flipH="false" flipV="false" rot="0">
            <a:off x="7472267" y="6237827"/>
            <a:ext cx="4600766" cy="609410"/>
          </a:xfrm>
          <a:custGeom>
            <a:avLst/>
            <a:gdLst/>
            <a:ahLst/>
            <a:cxnLst/>
            <a:rect r="r" b="b" t="t" l="l"/>
            <a:pathLst>
              <a:path h="609410" w="4600766">
                <a:moveTo>
                  <a:pt x="0" y="0"/>
                </a:moveTo>
                <a:lnTo>
                  <a:pt x="4600766" y="0"/>
                </a:lnTo>
                <a:lnTo>
                  <a:pt x="4600766" y="609410"/>
                </a:lnTo>
                <a:lnTo>
                  <a:pt x="0" y="609410"/>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txBody>
          <a:bodyPr/>
          <a:p/>
        </p:txBody>
      </p:sp>
      <p:grpSp>
        <p:nvGrpSpPr>
          <p:cNvPr name="Group 97" id="97"/>
          <p:cNvGrpSpPr/>
          <p:nvPr/>
        </p:nvGrpSpPr>
        <p:grpSpPr>
          <a:xfrm rot="0">
            <a:off x="7479411" y="6230684"/>
            <a:ext cx="4586478" cy="609410"/>
            <a:chOff x="0" y="0"/>
            <a:chExt cx="6115304" cy="812546"/>
          </a:xfrm>
        </p:grpSpPr>
        <p:sp>
          <p:nvSpPr>
            <p:cNvPr name="Freeform 98" id="98"/>
            <p:cNvSpPr/>
            <p:nvPr/>
          </p:nvSpPr>
          <p:spPr>
            <a:xfrm flipH="false" flipV="false" rot="0">
              <a:off x="0" y="0"/>
              <a:ext cx="6115304" cy="812546"/>
            </a:xfrm>
            <a:custGeom>
              <a:avLst/>
              <a:gdLst/>
              <a:ahLst/>
              <a:cxnLst/>
              <a:rect r="r" b="b" t="t" l="l"/>
              <a:pathLst>
                <a:path h="812546" w="6115304">
                  <a:moveTo>
                    <a:pt x="0" y="0"/>
                  </a:moveTo>
                  <a:lnTo>
                    <a:pt x="6115304" y="0"/>
                  </a:lnTo>
                  <a:lnTo>
                    <a:pt x="6115304" y="812546"/>
                  </a:lnTo>
                  <a:lnTo>
                    <a:pt x="0" y="812546"/>
                  </a:lnTo>
                  <a:close/>
                </a:path>
              </a:pathLst>
            </a:custGeom>
            <a:blipFill>
              <a:blip r:embed="rId5">
                <a:alphaModFix amt="0"/>
              </a:blip>
              <a:stretch>
                <a:fillRect l="0" t="-96646" r="0" b="-96646"/>
              </a:stretch>
            </a:blipFill>
          </p:spPr>
          <p:txBody>
            <a:bodyPr/>
            <a:p/>
          </p:txBody>
        </p:sp>
        <p:sp>
          <p:nvSpPr>
            <p:cNvPr name="TextBox 99" id="99"/>
            <p:cNvSpPr txBox="true"/>
            <p:nvPr/>
          </p:nvSpPr>
          <p:spPr>
            <a:xfrm>
              <a:off x="0" y="-19050"/>
              <a:ext cx="6115304" cy="831596"/>
            </a:xfrm>
            <a:prstGeom prst="rect">
              <a:avLst/>
            </a:prstGeom>
          </p:spPr>
          <p:txBody>
            <a:bodyPr anchor="ctr" rtlCol="false" tIns="0" lIns="0" bIns="0" rIns="0"/>
            <a:lstStyle/>
            <a:p>
              <a:pPr algn="ctr">
                <a:lnSpc>
                  <a:spcPts val="1889"/>
                </a:lnSpc>
              </a:pPr>
              <a:r>
                <a:rPr lang="en-US" sz="1575">
                  <a:solidFill>
                    <a:srgbClr val="1F2A37"/>
                  </a:solidFill>
                  <a:latin typeface="Calibri (MS)"/>
                  <a:ea typeface="Calibri (MS)"/>
                  <a:cs typeface="Calibri (MS)"/>
                  <a:sym typeface="Calibri (MS)"/>
                </a:rPr>
                <a:t>Vision encoder (đóng băng)  ·  ảnh → token ảnh</a:t>
              </a:r>
            </a:p>
          </p:txBody>
        </p:sp>
      </p:grpSp>
      <p:sp>
        <p:nvSpPr>
          <p:cNvPr name="Freeform 100" id="100"/>
          <p:cNvSpPr/>
          <p:nvPr/>
        </p:nvSpPr>
        <p:spPr>
          <a:xfrm flipH="false" flipV="false" rot="0">
            <a:off x="7468105" y="7029193"/>
            <a:ext cx="4609100" cy="672608"/>
          </a:xfrm>
          <a:custGeom>
            <a:avLst/>
            <a:gdLst/>
            <a:ahLst/>
            <a:cxnLst/>
            <a:rect r="r" b="b" t="t" l="l"/>
            <a:pathLst>
              <a:path h="672608" w="4609100">
                <a:moveTo>
                  <a:pt x="0" y="0"/>
                </a:moveTo>
                <a:lnTo>
                  <a:pt x="4609100" y="0"/>
                </a:lnTo>
                <a:lnTo>
                  <a:pt x="4609100" y="672608"/>
                </a:lnTo>
                <a:lnTo>
                  <a:pt x="0" y="672608"/>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txBody>
          <a:bodyPr/>
          <a:p/>
        </p:txBody>
      </p:sp>
      <p:grpSp>
        <p:nvGrpSpPr>
          <p:cNvPr name="Group 101" id="101"/>
          <p:cNvGrpSpPr/>
          <p:nvPr/>
        </p:nvGrpSpPr>
        <p:grpSpPr>
          <a:xfrm rot="0">
            <a:off x="7477030" y="7023830"/>
            <a:ext cx="4591240" cy="669036"/>
            <a:chOff x="0" y="0"/>
            <a:chExt cx="6121654" cy="892048"/>
          </a:xfrm>
        </p:grpSpPr>
        <p:sp>
          <p:nvSpPr>
            <p:cNvPr name="Freeform 102" id="102"/>
            <p:cNvSpPr/>
            <p:nvPr/>
          </p:nvSpPr>
          <p:spPr>
            <a:xfrm flipH="false" flipV="false" rot="0">
              <a:off x="0" y="0"/>
              <a:ext cx="6121653" cy="892047"/>
            </a:xfrm>
            <a:custGeom>
              <a:avLst/>
              <a:gdLst/>
              <a:ahLst/>
              <a:cxnLst/>
              <a:rect r="r" b="b" t="t" l="l"/>
              <a:pathLst>
                <a:path h="892047" w="6121653">
                  <a:moveTo>
                    <a:pt x="0" y="0"/>
                  </a:moveTo>
                  <a:lnTo>
                    <a:pt x="6121653" y="0"/>
                  </a:lnTo>
                  <a:lnTo>
                    <a:pt x="6121653" y="892047"/>
                  </a:lnTo>
                  <a:lnTo>
                    <a:pt x="0" y="892047"/>
                  </a:lnTo>
                  <a:close/>
                </a:path>
              </a:pathLst>
            </a:custGeom>
            <a:blipFill>
              <a:blip r:embed="rId5">
                <a:alphaModFix amt="0"/>
              </a:blip>
              <a:stretch>
                <a:fillRect l="0" t="-83715" r="0" b="-83715"/>
              </a:stretch>
            </a:blipFill>
          </p:spPr>
          <p:txBody>
            <a:bodyPr/>
            <a:p/>
          </p:txBody>
        </p:sp>
        <p:sp>
          <p:nvSpPr>
            <p:cNvPr name="TextBox 103" id="103"/>
            <p:cNvSpPr txBox="true"/>
            <p:nvPr/>
          </p:nvSpPr>
          <p:spPr>
            <a:xfrm>
              <a:off x="0" y="-19050"/>
              <a:ext cx="6121654" cy="911098"/>
            </a:xfrm>
            <a:prstGeom prst="rect">
              <a:avLst/>
            </a:prstGeom>
          </p:spPr>
          <p:txBody>
            <a:bodyPr anchor="ctr" rtlCol="false" tIns="0" lIns="0" bIns="0" rIns="0"/>
            <a:lstStyle/>
            <a:p>
              <a:pPr algn="ctr">
                <a:lnSpc>
                  <a:spcPts val="1889"/>
                </a:lnSpc>
              </a:pPr>
              <a:r>
                <a:rPr lang="en-US" sz="1575">
                  <a:solidFill>
                    <a:srgbClr val="1F2A37"/>
                  </a:solidFill>
                  <a:latin typeface="Calibri (MS)"/>
                  <a:ea typeface="Calibri (MS)"/>
                  <a:cs typeface="Calibri (MS)"/>
                  <a:sym typeface="Calibri (MS)"/>
                </a:rPr>
                <a:t>LLM 4-bit NF4 (đóng băng)  </a:t>
              </a:r>
              <a:r>
                <a:rPr lang="en-US" sz="1575" b="true">
                  <a:solidFill>
                    <a:srgbClr val="B86E0E"/>
                  </a:solidFill>
                  <a:latin typeface="Calibri (MS) Bold"/>
                  <a:ea typeface="Calibri (MS) Bold"/>
                  <a:cs typeface="Calibri (MS) Bold"/>
                  <a:sym typeface="Calibri (MS) Bold"/>
                </a:rPr>
                <a:t>+ LoRA r = 16 (train)</a:t>
              </a:r>
            </a:p>
          </p:txBody>
        </p:sp>
      </p:grpSp>
      <p:sp>
        <p:nvSpPr>
          <p:cNvPr name="TextBox 104" id="104"/>
          <p:cNvSpPr txBox="true"/>
          <p:nvPr/>
        </p:nvSpPr>
        <p:spPr>
          <a:xfrm rot="0">
            <a:off x="7516368" y="7752588"/>
            <a:ext cx="4512564" cy="792480"/>
          </a:xfrm>
          <a:prstGeom prst="rect">
            <a:avLst/>
          </a:prstGeom>
        </p:spPr>
        <p:txBody>
          <a:bodyPr anchor="t" rtlCol="false" tIns="0" lIns="0" bIns="0" rIns="0">
            <a:spAutoFit/>
          </a:bodyPr>
          <a:lstStyle/>
          <a:p>
            <a:pPr algn="l">
              <a:lnSpc>
                <a:spcPts val="1889"/>
              </a:lnSpc>
            </a:pPr>
            <a:r>
              <a:rPr lang="en-US" sz="1575" b="true">
                <a:solidFill>
                  <a:srgbClr val="13294B"/>
                </a:solidFill>
                <a:latin typeface="Calibri (MS) Bold"/>
                <a:ea typeface="Calibri (MS) Bold"/>
                <a:cs typeface="Calibri (MS) Bold"/>
                <a:sym typeface="Calibri (MS) Bold"/>
              </a:rPr>
              <a:t>Train: </a:t>
            </a:r>
            <a:r>
              <a:rPr lang="en-US" sz="1575">
                <a:solidFill>
                  <a:srgbClr val="5B677A"/>
                </a:solidFill>
                <a:latin typeface="Calibri (MS)"/>
                <a:ea typeface="Calibri (MS)"/>
                <a:cs typeface="Calibri (MS)"/>
                <a:sym typeface="Calibri (MS)"/>
              </a:rPr>
              <a:t>loss chỉ trên token đáp án</a:t>
            </a:r>
          </a:p>
          <a:p>
            <a:pPr algn="l">
              <a:lnSpc>
                <a:spcPts val="1889"/>
              </a:lnSpc>
            </a:pPr>
            <a:r>
              <a:rPr lang="en-US" sz="1575" b="true">
                <a:solidFill>
                  <a:srgbClr val="13294B"/>
                </a:solidFill>
                <a:latin typeface="Calibri (MS) Bold"/>
                <a:ea typeface="Calibri (MS) Bold"/>
                <a:cs typeface="Calibri (MS) Bold"/>
                <a:sym typeface="Calibri (MS) Bold"/>
              </a:rPr>
              <a:t>Suy luận: </a:t>
            </a:r>
            <a:r>
              <a:rPr lang="en-US" sz="1575">
                <a:solidFill>
                  <a:srgbClr val="5B677A"/>
                </a:solidFill>
                <a:latin typeface="Calibri (MS)"/>
                <a:ea typeface="Calibri (MS)"/>
                <a:cs typeface="Calibri (MS)"/>
                <a:sym typeface="Calibri (MS)"/>
              </a:rPr>
              <a:t>greedy, câu trả lời ngắn</a:t>
            </a:r>
          </a:p>
        </p:txBody>
      </p:sp>
      <p:grpSp>
        <p:nvGrpSpPr>
          <p:cNvPr name="Group 105" id="105"/>
          <p:cNvGrpSpPr/>
          <p:nvPr/>
        </p:nvGrpSpPr>
        <p:grpSpPr>
          <a:xfrm rot="0">
            <a:off x="4359945" y="4373661"/>
            <a:ext cx="2938701" cy="3569637"/>
            <a:chOff x="0" y="0"/>
            <a:chExt cx="3918267" cy="4759516"/>
          </a:xfrm>
        </p:grpSpPr>
        <p:sp>
          <p:nvSpPr>
            <p:cNvPr name="Freeform 106" id="106"/>
            <p:cNvSpPr/>
            <p:nvPr/>
          </p:nvSpPr>
          <p:spPr>
            <a:xfrm flipH="false" flipV="false" rot="0">
              <a:off x="0" y="0"/>
              <a:ext cx="3918331" cy="4759579"/>
            </a:xfrm>
            <a:custGeom>
              <a:avLst/>
              <a:gdLst/>
              <a:ahLst/>
              <a:cxnLst/>
              <a:rect r="r" b="b" t="t" l="l"/>
              <a:pathLst>
                <a:path h="4759579" w="3918331">
                  <a:moveTo>
                    <a:pt x="0" y="4759579"/>
                  </a:moveTo>
                  <a:lnTo>
                    <a:pt x="3414522" y="4759579"/>
                  </a:lnTo>
                  <a:lnTo>
                    <a:pt x="3414522" y="0"/>
                  </a:lnTo>
                  <a:lnTo>
                    <a:pt x="3918331" y="0"/>
                  </a:lnTo>
                </a:path>
              </a:pathLst>
            </a:custGeom>
            <a:blipFill>
              <a:blip r:embed="rId2">
                <a:alphaModFix amt="0"/>
              </a:blip>
              <a:stretch>
                <a:fillRect l="-105956" t="0" r="-105955" b="1"/>
              </a:stretch>
            </a:blipFill>
            <a:ln w="33338" cap="sq">
              <a:solidFill>
                <a:srgbClr val="1C7293"/>
              </a:solidFill>
              <a:prstDash val="solid"/>
              <a:miter/>
            </a:ln>
          </p:spPr>
          <p:txBody>
            <a:bodyPr/>
            <a:p/>
          </p:txBody>
        </p:sp>
      </p:grpSp>
      <p:sp>
        <p:nvSpPr>
          <p:cNvPr name="TextBox 107" id="107"/>
          <p:cNvSpPr txBox="true"/>
          <p:nvPr/>
        </p:nvSpPr>
        <p:spPr>
          <a:xfrm rot="0">
            <a:off x="4828032" y="6828282"/>
            <a:ext cx="2057400" cy="358902"/>
          </a:xfrm>
          <a:prstGeom prst="rect">
            <a:avLst/>
          </a:prstGeom>
        </p:spPr>
        <p:txBody>
          <a:bodyPr anchor="t" rtlCol="false" tIns="0" lIns="0" bIns="0" rIns="0">
            <a:spAutoFit/>
          </a:bodyPr>
          <a:lstStyle/>
          <a:p>
            <a:pPr algn="l">
              <a:lnSpc>
                <a:spcPts val="1530"/>
              </a:lnSpc>
            </a:pPr>
            <a:r>
              <a:rPr lang="en-US" sz="1275">
                <a:solidFill>
                  <a:srgbClr val="B86E0E"/>
                </a:solidFill>
                <a:latin typeface="Calibri (MS)"/>
                <a:ea typeface="Calibri (MS)"/>
                <a:cs typeface="Calibri (MS)"/>
                <a:sym typeface="Calibri (MS)"/>
              </a:rPr>
              <a:t>chữ OCR → prompt</a:t>
            </a:r>
          </a:p>
        </p:txBody>
      </p:sp>
      <p:grpSp>
        <p:nvGrpSpPr>
          <p:cNvPr name="Group 108" id="108"/>
          <p:cNvGrpSpPr/>
          <p:nvPr/>
        </p:nvGrpSpPr>
        <p:grpSpPr>
          <a:xfrm rot="0">
            <a:off x="12755880" y="3017520"/>
            <a:ext cx="4704588" cy="5952744"/>
            <a:chOff x="0" y="0"/>
            <a:chExt cx="6272784" cy="7936992"/>
          </a:xfrm>
        </p:grpSpPr>
        <p:sp>
          <p:nvSpPr>
            <p:cNvPr name="Freeform 109" id="109"/>
            <p:cNvSpPr/>
            <p:nvPr/>
          </p:nvSpPr>
          <p:spPr>
            <a:xfrm flipH="false" flipV="false" rot="0">
              <a:off x="0" y="0"/>
              <a:ext cx="6272784" cy="7936992"/>
            </a:xfrm>
            <a:custGeom>
              <a:avLst/>
              <a:gdLst/>
              <a:ahLst/>
              <a:cxnLst/>
              <a:rect r="r" b="b" t="t" l="l"/>
              <a:pathLst>
                <a:path h="7936992" w="6272784">
                  <a:moveTo>
                    <a:pt x="0" y="250952"/>
                  </a:moveTo>
                  <a:cubicBezTo>
                    <a:pt x="0" y="112395"/>
                    <a:pt x="112395" y="0"/>
                    <a:pt x="250952" y="0"/>
                  </a:cubicBezTo>
                  <a:lnTo>
                    <a:pt x="6021832" y="0"/>
                  </a:lnTo>
                  <a:cubicBezTo>
                    <a:pt x="6160389" y="0"/>
                    <a:pt x="6272784" y="112395"/>
                    <a:pt x="6272784" y="250952"/>
                  </a:cubicBezTo>
                  <a:lnTo>
                    <a:pt x="6272784" y="7686040"/>
                  </a:lnTo>
                  <a:cubicBezTo>
                    <a:pt x="6272784" y="7824597"/>
                    <a:pt x="6160389" y="7936992"/>
                    <a:pt x="6021832" y="7936992"/>
                  </a:cubicBezTo>
                  <a:lnTo>
                    <a:pt x="250952" y="7936992"/>
                  </a:lnTo>
                  <a:cubicBezTo>
                    <a:pt x="112395" y="7936992"/>
                    <a:pt x="0" y="7824597"/>
                    <a:pt x="0" y="7686040"/>
                  </a:cubicBezTo>
                  <a:close/>
                </a:path>
              </a:pathLst>
            </a:custGeom>
            <a:solidFill>
              <a:srgbClr val="E7F0F3"/>
            </a:solidFill>
          </p:spPr>
          <p:txBody>
            <a:bodyPr/>
            <a:p/>
          </p:txBody>
        </p:sp>
      </p:grpSp>
      <p:grpSp>
        <p:nvGrpSpPr>
          <p:cNvPr name="Group 110" id="110"/>
          <p:cNvGrpSpPr/>
          <p:nvPr/>
        </p:nvGrpSpPr>
        <p:grpSpPr>
          <a:xfrm rot="0">
            <a:off x="13002768" y="3113532"/>
            <a:ext cx="4293108" cy="411480"/>
            <a:chOff x="0" y="0"/>
            <a:chExt cx="5724144" cy="548640"/>
          </a:xfrm>
        </p:grpSpPr>
        <p:sp>
          <p:nvSpPr>
            <p:cNvPr name="Freeform 111" id="111"/>
            <p:cNvSpPr/>
            <p:nvPr/>
          </p:nvSpPr>
          <p:spPr>
            <a:xfrm flipH="false" flipV="false" rot="0">
              <a:off x="0" y="0"/>
              <a:ext cx="5724144" cy="548640"/>
            </a:xfrm>
            <a:custGeom>
              <a:avLst/>
              <a:gdLst/>
              <a:ahLst/>
              <a:cxnLst/>
              <a:rect r="r" b="b" t="t" l="l"/>
              <a:pathLst>
                <a:path h="548640" w="5724144">
                  <a:moveTo>
                    <a:pt x="0" y="0"/>
                  </a:moveTo>
                  <a:lnTo>
                    <a:pt x="5724144" y="0"/>
                  </a:lnTo>
                  <a:lnTo>
                    <a:pt x="5724144" y="548640"/>
                  </a:lnTo>
                  <a:lnTo>
                    <a:pt x="0" y="548640"/>
                  </a:lnTo>
                  <a:close/>
                </a:path>
              </a:pathLst>
            </a:custGeom>
            <a:blipFill>
              <a:blip r:embed="rId2">
                <a:alphaModFix amt="0"/>
              </a:blip>
              <a:stretch>
                <a:fillRect l="0" t="-153152" r="0" b="-153152"/>
              </a:stretch>
            </a:blipFill>
          </p:spPr>
          <p:txBody>
            <a:bodyPr/>
            <a:p/>
          </p:txBody>
        </p:sp>
      </p:grpSp>
      <p:grpSp>
        <p:nvGrpSpPr>
          <p:cNvPr name="Group 112" id="112"/>
          <p:cNvGrpSpPr/>
          <p:nvPr/>
        </p:nvGrpSpPr>
        <p:grpSpPr>
          <a:xfrm rot="0">
            <a:off x="13002768" y="3084957"/>
            <a:ext cx="4293108" cy="440055"/>
            <a:chOff x="0" y="0"/>
            <a:chExt cx="5724144" cy="586740"/>
          </a:xfrm>
        </p:grpSpPr>
        <p:sp>
          <p:nvSpPr>
            <p:cNvPr name="Freeform 113" id="113"/>
            <p:cNvSpPr/>
            <p:nvPr/>
          </p:nvSpPr>
          <p:spPr>
            <a:xfrm flipH="false" flipV="false" rot="0">
              <a:off x="0" y="0"/>
              <a:ext cx="5724144" cy="586740"/>
            </a:xfrm>
            <a:custGeom>
              <a:avLst/>
              <a:gdLst/>
              <a:ahLst/>
              <a:cxnLst/>
              <a:rect r="r" b="b" t="t" l="l"/>
              <a:pathLst>
                <a:path h="586740" w="5724144">
                  <a:moveTo>
                    <a:pt x="0" y="0"/>
                  </a:moveTo>
                  <a:lnTo>
                    <a:pt x="5724144" y="0"/>
                  </a:lnTo>
                  <a:lnTo>
                    <a:pt x="5724144" y="586740"/>
                  </a:lnTo>
                  <a:lnTo>
                    <a:pt x="0" y="586740"/>
                  </a:lnTo>
                  <a:close/>
                </a:path>
              </a:pathLst>
            </a:custGeom>
            <a:blipFill>
              <a:blip r:embed="rId5">
                <a:alphaModFix amt="0"/>
              </a:blip>
              <a:stretch>
                <a:fillRect l="0" t="-140092" r="0" b="-140092"/>
              </a:stretch>
            </a:blipFill>
          </p:spPr>
          <p:txBody>
            <a:bodyPr/>
            <a:p/>
          </p:txBody>
        </p:sp>
        <p:sp>
          <p:nvSpPr>
            <p:cNvPr name="TextBox 114" id="114"/>
            <p:cNvSpPr txBox="true"/>
            <p:nvPr/>
          </p:nvSpPr>
          <p:spPr>
            <a:xfrm>
              <a:off x="0" y="-38100"/>
              <a:ext cx="5724144" cy="624840"/>
            </a:xfrm>
            <a:prstGeom prst="rect">
              <a:avLst/>
            </a:prstGeom>
          </p:spPr>
          <p:txBody>
            <a:bodyPr anchor="ctr" rtlCol="false" tIns="0" lIns="0" bIns="0" rIns="0"/>
            <a:lstStyle/>
            <a:p>
              <a:pPr algn="l">
                <a:lnSpc>
                  <a:spcPts val="1800"/>
                </a:lnSpc>
              </a:pPr>
              <a:r>
                <a:rPr lang="en-US" sz="1500" b="true">
                  <a:solidFill>
                    <a:srgbClr val="1C7293"/>
                  </a:solidFill>
                  <a:latin typeface="Calibri (MS) Bold"/>
                  <a:ea typeface="Calibri (MS) Bold"/>
                  <a:cs typeface="Calibri (MS) Bold"/>
                  <a:sym typeface="Calibri (MS) Bold"/>
                </a:rPr>
                <a:t>C · ĐÁNH GIÁ &amp; SẢN PHẨM</a:t>
              </a:r>
            </a:p>
          </p:txBody>
        </p:sp>
      </p:grpSp>
      <p:sp>
        <p:nvSpPr>
          <p:cNvPr name="Freeform 115" id="115"/>
          <p:cNvSpPr/>
          <p:nvPr/>
        </p:nvSpPr>
        <p:spPr>
          <a:xfrm flipH="false" flipV="false" rot="0">
            <a:off x="12940789" y="3709921"/>
            <a:ext cx="4334780" cy="2647712"/>
          </a:xfrm>
          <a:custGeom>
            <a:avLst/>
            <a:gdLst/>
            <a:ahLst/>
            <a:cxnLst/>
            <a:rect r="r" b="b" t="t" l="l"/>
            <a:pathLst>
              <a:path h="2647712" w="4334780">
                <a:moveTo>
                  <a:pt x="0" y="0"/>
                </a:moveTo>
                <a:lnTo>
                  <a:pt x="4334780" y="0"/>
                </a:lnTo>
                <a:lnTo>
                  <a:pt x="4334780" y="2647712"/>
                </a:lnTo>
                <a:lnTo>
                  <a:pt x="0" y="2647712"/>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txBody>
          <a:bodyPr/>
          <a:p/>
        </p:txBody>
      </p:sp>
      <p:sp>
        <p:nvSpPr>
          <p:cNvPr name="Freeform 116" id="116"/>
          <p:cNvSpPr/>
          <p:nvPr/>
        </p:nvSpPr>
        <p:spPr>
          <a:xfrm flipH="false" flipV="false" rot="0">
            <a:off x="13109543" y="3878675"/>
            <a:ext cx="499682" cy="499681"/>
          </a:xfrm>
          <a:custGeom>
            <a:avLst/>
            <a:gdLst/>
            <a:ahLst/>
            <a:cxnLst/>
            <a:rect r="r" b="b" t="t" l="l"/>
            <a:pathLst>
              <a:path h="499681" w="499682">
                <a:moveTo>
                  <a:pt x="0" y="0"/>
                </a:moveTo>
                <a:lnTo>
                  <a:pt x="499682" y="0"/>
                </a:lnTo>
                <a:lnTo>
                  <a:pt x="499682" y="499682"/>
                </a:lnTo>
                <a:lnTo>
                  <a:pt x="0" y="499682"/>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txBody>
          <a:bodyPr/>
          <a:p/>
        </p:txBody>
      </p:sp>
      <p:grpSp>
        <p:nvGrpSpPr>
          <p:cNvPr name="Group 117" id="117"/>
          <p:cNvGrpSpPr/>
          <p:nvPr/>
        </p:nvGrpSpPr>
        <p:grpSpPr>
          <a:xfrm rot="0">
            <a:off x="13116687" y="3857244"/>
            <a:ext cx="485394" cy="513969"/>
            <a:chOff x="0" y="0"/>
            <a:chExt cx="647192" cy="685292"/>
          </a:xfrm>
        </p:grpSpPr>
        <p:sp>
          <p:nvSpPr>
            <p:cNvPr name="Freeform 118" id="118"/>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856" t="0" r="-85856" b="0"/>
              </a:stretch>
            </a:blipFill>
          </p:spPr>
          <p:txBody>
            <a:bodyPr/>
            <a:p/>
          </p:txBody>
        </p:sp>
        <p:sp>
          <p:nvSpPr>
            <p:cNvPr name="TextBox 119" id="119"/>
            <p:cNvSpPr txBox="true"/>
            <p:nvPr/>
          </p:nvSpPr>
          <p:spPr>
            <a:xfrm>
              <a:off x="0" y="-38100"/>
              <a:ext cx="647192" cy="7233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7</a:t>
              </a:r>
            </a:p>
          </p:txBody>
        </p:sp>
      </p:grpSp>
      <p:grpSp>
        <p:nvGrpSpPr>
          <p:cNvPr name="Group 120" id="120"/>
          <p:cNvGrpSpPr/>
          <p:nvPr/>
        </p:nvGrpSpPr>
        <p:grpSpPr>
          <a:xfrm rot="0">
            <a:off x="13702284" y="3867912"/>
            <a:ext cx="3442716" cy="521208"/>
            <a:chOff x="0" y="0"/>
            <a:chExt cx="4590288" cy="694944"/>
          </a:xfrm>
        </p:grpSpPr>
        <p:sp>
          <p:nvSpPr>
            <p:cNvPr name="Freeform 121" id="121"/>
            <p:cNvSpPr/>
            <p:nvPr/>
          </p:nvSpPr>
          <p:spPr>
            <a:xfrm flipH="false" flipV="false" rot="0">
              <a:off x="0" y="0"/>
              <a:ext cx="4590288" cy="694944"/>
            </a:xfrm>
            <a:custGeom>
              <a:avLst/>
              <a:gdLst/>
              <a:ahLst/>
              <a:cxnLst/>
              <a:rect r="r" b="b" t="t" l="l"/>
              <a:pathLst>
                <a:path h="694944" w="4590288">
                  <a:moveTo>
                    <a:pt x="0" y="0"/>
                  </a:moveTo>
                  <a:lnTo>
                    <a:pt x="4590288" y="0"/>
                  </a:lnTo>
                  <a:lnTo>
                    <a:pt x="4590288" y="694944"/>
                  </a:lnTo>
                  <a:lnTo>
                    <a:pt x="0" y="694944"/>
                  </a:lnTo>
                  <a:close/>
                </a:path>
              </a:pathLst>
            </a:custGeom>
            <a:blipFill>
              <a:blip r:embed="rId2">
                <a:alphaModFix amt="0"/>
              </a:blip>
              <a:stretch>
                <a:fillRect l="0" t="-78614" r="0" b="-78612"/>
              </a:stretch>
            </a:blipFill>
          </p:spPr>
          <p:txBody>
            <a:bodyPr/>
            <a:p/>
          </p:txBody>
        </p:sp>
      </p:grpSp>
      <p:grpSp>
        <p:nvGrpSpPr>
          <p:cNvPr name="Group 122" id="122"/>
          <p:cNvGrpSpPr/>
          <p:nvPr/>
        </p:nvGrpSpPr>
        <p:grpSpPr>
          <a:xfrm rot="0">
            <a:off x="13702284" y="3832193"/>
            <a:ext cx="3442716" cy="556927"/>
            <a:chOff x="0" y="0"/>
            <a:chExt cx="4590288" cy="742569"/>
          </a:xfrm>
        </p:grpSpPr>
        <p:sp>
          <p:nvSpPr>
            <p:cNvPr name="Freeform 123" id="123"/>
            <p:cNvSpPr/>
            <p:nvPr/>
          </p:nvSpPr>
          <p:spPr>
            <a:xfrm flipH="false" flipV="false" rot="0">
              <a:off x="0" y="0"/>
              <a:ext cx="4590288" cy="742569"/>
            </a:xfrm>
            <a:custGeom>
              <a:avLst/>
              <a:gdLst/>
              <a:ahLst/>
              <a:cxnLst/>
              <a:rect r="r" b="b" t="t" l="l"/>
              <a:pathLst>
                <a:path h="742569" w="4590288">
                  <a:moveTo>
                    <a:pt x="0" y="0"/>
                  </a:moveTo>
                  <a:lnTo>
                    <a:pt x="4590288" y="0"/>
                  </a:lnTo>
                  <a:lnTo>
                    <a:pt x="4590288" y="742569"/>
                  </a:lnTo>
                  <a:lnTo>
                    <a:pt x="0" y="742569"/>
                  </a:lnTo>
                  <a:close/>
                </a:path>
              </a:pathLst>
            </a:custGeom>
            <a:blipFill>
              <a:blip r:embed="rId5">
                <a:alphaModFix amt="0"/>
              </a:blip>
              <a:stretch>
                <a:fillRect l="0" t="-70449" r="0" b="-70449"/>
              </a:stretch>
            </a:blipFill>
          </p:spPr>
          <p:txBody>
            <a:bodyPr/>
            <a:p/>
          </p:txBody>
        </p:sp>
        <p:sp>
          <p:nvSpPr>
            <p:cNvPr name="TextBox 124" id="124"/>
            <p:cNvSpPr txBox="true"/>
            <p:nvPr/>
          </p:nvSpPr>
          <p:spPr>
            <a:xfrm>
              <a:off x="0" y="-47625"/>
              <a:ext cx="4590288" cy="79019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Chấm &amp; phân tích</a:t>
              </a:r>
            </a:p>
          </p:txBody>
        </p:sp>
      </p:grpSp>
      <p:sp>
        <p:nvSpPr>
          <p:cNvPr name="TextBox 125" id="125"/>
          <p:cNvSpPr txBox="true"/>
          <p:nvPr/>
        </p:nvSpPr>
        <p:spPr>
          <a:xfrm rot="0">
            <a:off x="13153644" y="4405884"/>
            <a:ext cx="3936492" cy="1848612"/>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 so với đáp án chuẩn sau cùng một bước chuẩn hoá</a:t>
            </a:r>
          </a:p>
          <a:p>
            <a:pPr algn="l">
              <a:lnSpc>
                <a:spcPts val="1889"/>
              </a:lnSpc>
            </a:pPr>
            <a:r>
              <a:rPr lang="en-US" sz="1575">
                <a:solidFill>
                  <a:srgbClr val="5B677A"/>
                </a:solidFill>
                <a:latin typeface="Calibri (MS)"/>
                <a:ea typeface="Calibri (MS)"/>
                <a:cs typeface="Calibri (MS)"/>
                <a:sym typeface="Calibri (MS)"/>
              </a:rPr>
              <a:t>• EM · VQA-Acc · ANLS (+F1)</a:t>
            </a:r>
          </a:p>
          <a:p>
            <a:pPr algn="l">
              <a:lnSpc>
                <a:spcPts val="1889"/>
              </a:lnSpc>
            </a:pPr>
            <a:r>
              <a:rPr lang="en-US" sz="1575">
                <a:solidFill>
                  <a:srgbClr val="5B677A"/>
                </a:solidFill>
                <a:latin typeface="Calibri (MS)"/>
                <a:ea typeface="Calibri (MS)"/>
                <a:cs typeface="Calibri (MS)"/>
                <a:sym typeface="Calibri (MS)"/>
              </a:rPr>
              <a:t>• hallucination; lỗi V1–V4</a:t>
            </a:r>
          </a:p>
          <a:p>
            <a:pPr algn="l">
              <a:lnSpc>
                <a:spcPts val="1889"/>
              </a:lnSpc>
            </a:pPr>
            <a:r>
              <a:rPr lang="en-US" sz="1575">
                <a:solidFill>
                  <a:srgbClr val="5B677A"/>
                </a:solidFill>
                <a:latin typeface="Calibri (MS)"/>
                <a:ea typeface="Calibri (MS)"/>
                <a:cs typeface="Calibri (MS)"/>
                <a:sym typeface="Calibri (MS)"/>
              </a:rPr>
              <a:t>• log seed, VRAM, thời gian</a:t>
            </a:r>
          </a:p>
        </p:txBody>
      </p:sp>
      <p:sp>
        <p:nvSpPr>
          <p:cNvPr name="Freeform 126" id="126"/>
          <p:cNvSpPr/>
          <p:nvPr/>
        </p:nvSpPr>
        <p:spPr>
          <a:xfrm flipH="false" flipV="false" rot="0">
            <a:off x="12940789" y="6837169"/>
            <a:ext cx="4334780" cy="1769888"/>
          </a:xfrm>
          <a:custGeom>
            <a:avLst/>
            <a:gdLst/>
            <a:ahLst/>
            <a:cxnLst/>
            <a:rect r="r" b="b" t="t" l="l"/>
            <a:pathLst>
              <a:path h="1769888" w="4334780">
                <a:moveTo>
                  <a:pt x="0" y="0"/>
                </a:moveTo>
                <a:lnTo>
                  <a:pt x="4334780" y="0"/>
                </a:lnTo>
                <a:lnTo>
                  <a:pt x="4334780" y="1769888"/>
                </a:lnTo>
                <a:lnTo>
                  <a:pt x="0" y="1769888"/>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txBody>
          <a:bodyPr/>
          <a:p/>
        </p:txBody>
      </p:sp>
      <p:sp>
        <p:nvSpPr>
          <p:cNvPr name="Freeform 127" id="127"/>
          <p:cNvSpPr/>
          <p:nvPr/>
        </p:nvSpPr>
        <p:spPr>
          <a:xfrm flipH="false" flipV="false" rot="0">
            <a:off x="13109543" y="7005923"/>
            <a:ext cx="499682" cy="499682"/>
          </a:xfrm>
          <a:custGeom>
            <a:avLst/>
            <a:gdLst/>
            <a:ahLst/>
            <a:cxnLst/>
            <a:rect r="r" b="b" t="t" l="l"/>
            <a:pathLst>
              <a:path h="499682" w="499682">
                <a:moveTo>
                  <a:pt x="0" y="0"/>
                </a:moveTo>
                <a:lnTo>
                  <a:pt x="499682" y="0"/>
                </a:lnTo>
                <a:lnTo>
                  <a:pt x="499682" y="499682"/>
                </a:lnTo>
                <a:lnTo>
                  <a:pt x="0" y="499682"/>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txBody>
          <a:bodyPr/>
          <a:p/>
        </p:txBody>
      </p:sp>
      <p:grpSp>
        <p:nvGrpSpPr>
          <p:cNvPr name="Group 128" id="128"/>
          <p:cNvGrpSpPr/>
          <p:nvPr/>
        </p:nvGrpSpPr>
        <p:grpSpPr>
          <a:xfrm rot="0">
            <a:off x="13116687" y="6984492"/>
            <a:ext cx="485394" cy="513969"/>
            <a:chOff x="0" y="0"/>
            <a:chExt cx="647192" cy="685292"/>
          </a:xfrm>
        </p:grpSpPr>
        <p:sp>
          <p:nvSpPr>
            <p:cNvPr name="Freeform 129" id="129"/>
            <p:cNvSpPr/>
            <p:nvPr/>
          </p:nvSpPr>
          <p:spPr>
            <a:xfrm flipH="false" flipV="false" rot="0">
              <a:off x="0" y="0"/>
              <a:ext cx="647192" cy="685292"/>
            </a:xfrm>
            <a:custGeom>
              <a:avLst/>
              <a:gdLst/>
              <a:ahLst/>
              <a:cxnLst/>
              <a:rect r="r" b="b" t="t" l="l"/>
              <a:pathLst>
                <a:path h="685292" w="647192">
                  <a:moveTo>
                    <a:pt x="0" y="0"/>
                  </a:moveTo>
                  <a:lnTo>
                    <a:pt x="647192" y="0"/>
                  </a:lnTo>
                  <a:lnTo>
                    <a:pt x="647192" y="685292"/>
                  </a:lnTo>
                  <a:lnTo>
                    <a:pt x="0" y="685292"/>
                  </a:lnTo>
                  <a:close/>
                </a:path>
              </a:pathLst>
            </a:custGeom>
            <a:blipFill>
              <a:blip r:embed="rId5">
                <a:alphaModFix amt="0"/>
              </a:blip>
              <a:stretch>
                <a:fillRect l="-85856" t="0" r="-85856" b="0"/>
              </a:stretch>
            </a:blipFill>
          </p:spPr>
          <p:txBody>
            <a:bodyPr/>
            <a:p/>
          </p:txBody>
        </p:sp>
        <p:sp>
          <p:nvSpPr>
            <p:cNvPr name="TextBox 130" id="130"/>
            <p:cNvSpPr txBox="true"/>
            <p:nvPr/>
          </p:nvSpPr>
          <p:spPr>
            <a:xfrm>
              <a:off x="0" y="-38100"/>
              <a:ext cx="647192" cy="723392"/>
            </a:xfrm>
            <a:prstGeom prst="rect">
              <a:avLst/>
            </a:prstGeom>
          </p:spPr>
          <p:txBody>
            <a:bodyPr anchor="ctr" rtlCol="false" tIns="0" lIns="0" bIns="0" rIns="0"/>
            <a:lstStyle/>
            <a:p>
              <a:pPr algn="ctr">
                <a:lnSpc>
                  <a:spcPts val="2160"/>
                </a:lnSpc>
              </a:pPr>
              <a:r>
                <a:rPr lang="en-US" sz="1800" b="true">
                  <a:solidFill>
                    <a:srgbClr val="FFFFFF"/>
                  </a:solidFill>
                  <a:latin typeface="Calibri (MS) Bold"/>
                  <a:ea typeface="Calibri (MS) Bold"/>
                  <a:cs typeface="Calibri (MS) Bold"/>
                  <a:sym typeface="Calibri (MS) Bold"/>
                </a:rPr>
                <a:t>8</a:t>
              </a:r>
            </a:p>
          </p:txBody>
        </p:sp>
      </p:grpSp>
      <p:grpSp>
        <p:nvGrpSpPr>
          <p:cNvPr name="Group 131" id="131"/>
          <p:cNvGrpSpPr/>
          <p:nvPr/>
        </p:nvGrpSpPr>
        <p:grpSpPr>
          <a:xfrm rot="0">
            <a:off x="13702284" y="6995160"/>
            <a:ext cx="3442716" cy="521208"/>
            <a:chOff x="0" y="0"/>
            <a:chExt cx="4590288" cy="694944"/>
          </a:xfrm>
        </p:grpSpPr>
        <p:sp>
          <p:nvSpPr>
            <p:cNvPr name="Freeform 132" id="132"/>
            <p:cNvSpPr/>
            <p:nvPr/>
          </p:nvSpPr>
          <p:spPr>
            <a:xfrm flipH="false" flipV="false" rot="0">
              <a:off x="0" y="0"/>
              <a:ext cx="4590288" cy="694944"/>
            </a:xfrm>
            <a:custGeom>
              <a:avLst/>
              <a:gdLst/>
              <a:ahLst/>
              <a:cxnLst/>
              <a:rect r="r" b="b" t="t" l="l"/>
              <a:pathLst>
                <a:path h="694944" w="4590288">
                  <a:moveTo>
                    <a:pt x="0" y="0"/>
                  </a:moveTo>
                  <a:lnTo>
                    <a:pt x="4590288" y="0"/>
                  </a:lnTo>
                  <a:lnTo>
                    <a:pt x="4590288" y="694944"/>
                  </a:lnTo>
                  <a:lnTo>
                    <a:pt x="0" y="694944"/>
                  </a:lnTo>
                  <a:close/>
                </a:path>
              </a:pathLst>
            </a:custGeom>
            <a:blipFill>
              <a:blip r:embed="rId2">
                <a:alphaModFix amt="0"/>
              </a:blip>
              <a:stretch>
                <a:fillRect l="0" t="-78614" r="0" b="-78612"/>
              </a:stretch>
            </a:blipFill>
          </p:spPr>
          <p:txBody>
            <a:bodyPr/>
            <a:p/>
          </p:txBody>
        </p:sp>
      </p:grpSp>
      <p:grpSp>
        <p:nvGrpSpPr>
          <p:cNvPr name="Group 133" id="133"/>
          <p:cNvGrpSpPr/>
          <p:nvPr/>
        </p:nvGrpSpPr>
        <p:grpSpPr>
          <a:xfrm rot="0">
            <a:off x="13702284" y="6959441"/>
            <a:ext cx="3442716" cy="556927"/>
            <a:chOff x="0" y="0"/>
            <a:chExt cx="4590288" cy="742569"/>
          </a:xfrm>
        </p:grpSpPr>
        <p:sp>
          <p:nvSpPr>
            <p:cNvPr name="Freeform 134" id="134"/>
            <p:cNvSpPr/>
            <p:nvPr/>
          </p:nvSpPr>
          <p:spPr>
            <a:xfrm flipH="false" flipV="false" rot="0">
              <a:off x="0" y="0"/>
              <a:ext cx="4590288" cy="742569"/>
            </a:xfrm>
            <a:custGeom>
              <a:avLst/>
              <a:gdLst/>
              <a:ahLst/>
              <a:cxnLst/>
              <a:rect r="r" b="b" t="t" l="l"/>
              <a:pathLst>
                <a:path h="742569" w="4590288">
                  <a:moveTo>
                    <a:pt x="0" y="0"/>
                  </a:moveTo>
                  <a:lnTo>
                    <a:pt x="4590288" y="0"/>
                  </a:lnTo>
                  <a:lnTo>
                    <a:pt x="4590288" y="742569"/>
                  </a:lnTo>
                  <a:lnTo>
                    <a:pt x="0" y="742569"/>
                  </a:lnTo>
                  <a:close/>
                </a:path>
              </a:pathLst>
            </a:custGeom>
            <a:blipFill>
              <a:blip r:embed="rId5">
                <a:alphaModFix amt="0"/>
              </a:blip>
              <a:stretch>
                <a:fillRect l="0" t="-70449" r="0" b="-70449"/>
              </a:stretch>
            </a:blipFill>
          </p:spPr>
          <p:txBody>
            <a:bodyPr/>
            <a:p/>
          </p:txBody>
        </p:sp>
        <p:sp>
          <p:nvSpPr>
            <p:cNvPr name="TextBox 135" id="135"/>
            <p:cNvSpPr txBox="true"/>
            <p:nvPr/>
          </p:nvSpPr>
          <p:spPr>
            <a:xfrm>
              <a:off x="0" y="-47625"/>
              <a:ext cx="4590288" cy="790194"/>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Prototype web</a:t>
              </a:r>
            </a:p>
          </p:txBody>
        </p:sp>
      </p:grpSp>
      <p:sp>
        <p:nvSpPr>
          <p:cNvPr name="TextBox 136" id="136"/>
          <p:cNvSpPr txBox="true"/>
          <p:nvPr/>
        </p:nvSpPr>
        <p:spPr>
          <a:xfrm rot="0">
            <a:off x="13153644" y="7533132"/>
            <a:ext cx="3936492" cy="970788"/>
          </a:xfrm>
          <a:prstGeom prst="rect">
            <a:avLst/>
          </a:prstGeom>
        </p:spPr>
        <p:txBody>
          <a:bodyPr anchor="t" rtlCol="false" tIns="0" lIns="0" bIns="0" rIns="0">
            <a:spAutoFit/>
          </a:bodyPr>
          <a:lstStyle/>
          <a:p>
            <a:pPr algn="l">
              <a:lnSpc>
                <a:spcPts val="1889"/>
              </a:lnSpc>
            </a:pPr>
            <a:r>
              <a:rPr lang="en-US" sz="1575">
                <a:solidFill>
                  <a:srgbClr val="5B677A"/>
                </a:solidFill>
                <a:latin typeface="Calibri (MS)"/>
                <a:ea typeface="Calibri (MS)"/>
                <a:cs typeface="Calibri (MS)"/>
                <a:sym typeface="Calibri (MS)"/>
              </a:rPr>
              <a:t>• tải ảnh, hỏi tiếng Việt</a:t>
            </a:r>
          </a:p>
          <a:p>
            <a:pPr algn="l">
              <a:lnSpc>
                <a:spcPts val="1889"/>
              </a:lnSpc>
            </a:pPr>
            <a:r>
              <a:rPr lang="en-US" sz="1575">
                <a:solidFill>
                  <a:srgbClr val="5B677A"/>
                </a:solidFill>
                <a:latin typeface="Calibri (MS)"/>
                <a:ea typeface="Calibri (MS)"/>
                <a:cs typeface="Calibri (MS)"/>
                <a:sym typeface="Calibri (MS)"/>
              </a:rPr>
              <a:t>• hiện câu trả lời + chữ OCR làm bằng chứng</a:t>
            </a:r>
          </a:p>
        </p:txBody>
      </p:sp>
      <p:grpSp>
        <p:nvGrpSpPr>
          <p:cNvPr name="Group 137" id="137"/>
          <p:cNvGrpSpPr/>
          <p:nvPr/>
        </p:nvGrpSpPr>
        <p:grpSpPr>
          <a:xfrm rot="0">
            <a:off x="12246645" y="4455957"/>
            <a:ext cx="715566" cy="2441972"/>
            <a:chOff x="0" y="0"/>
            <a:chExt cx="954088" cy="3255962"/>
          </a:xfrm>
        </p:grpSpPr>
        <p:sp>
          <p:nvSpPr>
            <p:cNvPr name="Freeform 138" id="138"/>
            <p:cNvSpPr/>
            <p:nvPr/>
          </p:nvSpPr>
          <p:spPr>
            <a:xfrm flipH="false" flipV="false" rot="0">
              <a:off x="0" y="0"/>
              <a:ext cx="954024" cy="3256026"/>
            </a:xfrm>
            <a:custGeom>
              <a:avLst/>
              <a:gdLst/>
              <a:ahLst/>
              <a:cxnLst/>
              <a:rect r="r" b="b" t="t" l="l"/>
              <a:pathLst>
                <a:path h="3256026" w="954024">
                  <a:moveTo>
                    <a:pt x="0" y="3256026"/>
                  </a:moveTo>
                  <a:lnTo>
                    <a:pt x="477012" y="3256026"/>
                  </a:lnTo>
                  <a:lnTo>
                    <a:pt x="477012" y="0"/>
                  </a:lnTo>
                  <a:lnTo>
                    <a:pt x="954024" y="0"/>
                  </a:lnTo>
                </a:path>
              </a:pathLst>
            </a:custGeom>
            <a:blipFill>
              <a:blip r:embed="rId2">
                <a:alphaModFix amt="0"/>
              </a:blip>
              <a:stretch>
                <a:fillRect l="-388185" t="0" r="-388192" b="1"/>
              </a:stretch>
            </a:blipFill>
            <a:ln w="33338" cap="sq">
              <a:solidFill>
                <a:srgbClr val="1C7293"/>
              </a:solidFill>
              <a:prstDash val="solid"/>
              <a:miter/>
            </a:ln>
          </p:spPr>
          <p:txBody>
            <a:bodyPr/>
            <a:p/>
          </p:txBody>
        </p:sp>
      </p:grpSp>
      <p:sp>
        <p:nvSpPr>
          <p:cNvPr name="TextBox 139" id="139"/>
          <p:cNvSpPr txBox="true"/>
          <p:nvPr/>
        </p:nvSpPr>
        <p:spPr>
          <a:xfrm rot="0">
            <a:off x="822960" y="9003792"/>
            <a:ext cx="16637508" cy="487680"/>
          </a:xfrm>
          <a:prstGeom prst="rect">
            <a:avLst/>
          </a:prstGeom>
        </p:spPr>
        <p:txBody>
          <a:bodyPr anchor="t" rtlCol="false" tIns="0" lIns="0" bIns="0" rIns="0">
            <a:spAutoFit/>
          </a:bodyPr>
          <a:lstStyle/>
          <a:p>
            <a:pPr algn="l">
              <a:lnSpc>
                <a:spcPts val="1709"/>
              </a:lnSpc>
            </a:pPr>
            <a:r>
              <a:rPr lang="en-US" sz="1425">
                <a:solidFill>
                  <a:srgbClr val="5B677A"/>
                </a:solidFill>
                <a:latin typeface="Calibri (MS)"/>
                <a:ea typeface="Calibri (MS)"/>
                <a:cs typeface="Calibri (MS)"/>
                <a:sym typeface="Calibri (MS)"/>
              </a:rPr>
              <a:t>Bước 1–4 chạy một lần và được cache; bước 5–7 giống hệt cho mọi run (giao thức cố định, slide 21). Dạng prompt cuối: slide 28 (một dòng OCR, cùng prompt cho train và test).</a:t>
            </a:r>
          </a:p>
        </p:txBody>
      </p:sp>
      <p:grpSp>
        <p:nvGrpSpPr>
          <p:cNvPr name="Group 140" id="140"/>
          <p:cNvGrpSpPr/>
          <p:nvPr/>
        </p:nvGrpSpPr>
        <p:grpSpPr>
          <a:xfrm rot="0">
            <a:off x="15458732" y="0"/>
            <a:ext cx="2829268" cy="1184338"/>
            <a:chOff x="0" y="0"/>
            <a:chExt cx="3772357" cy="1579118"/>
          </a:xfrm>
        </p:grpSpPr>
        <p:sp>
          <p:nvSpPr>
            <p:cNvPr name="Freeform 141" id="141"/>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0"/>
              <a:stretch>
                <a:fillRect l="0" t="0" r="1" b="0"/>
              </a:stretch>
            </a:blipFill>
          </p:spPr>
          <p:txBody>
            <a:bodyPr/>
            <a:p/>
          </p:txBody>
        </p:sp>
      </p:grpSp>
      <p:grpSp>
        <p:nvGrpSpPr>
          <p:cNvPr name="Group 142" id="142"/>
          <p:cNvGrpSpPr/>
          <p:nvPr/>
        </p:nvGrpSpPr>
        <p:grpSpPr>
          <a:xfrm rot="0">
            <a:off x="822960" y="9655969"/>
            <a:ext cx="13716000" cy="360320"/>
            <a:chOff x="0" y="0"/>
            <a:chExt cx="18288000" cy="480427"/>
          </a:xfrm>
        </p:grpSpPr>
        <p:sp>
          <p:nvSpPr>
            <p:cNvPr name="Freeform 143" id="143"/>
            <p:cNvSpPr/>
            <p:nvPr/>
          </p:nvSpPr>
          <p:spPr>
            <a:xfrm flipH="false" flipV="false" rot="0">
              <a:off x="0" y="0"/>
              <a:ext cx="18288000" cy="480427"/>
            </a:xfrm>
            <a:custGeom>
              <a:avLst/>
              <a:gdLst/>
              <a:ahLst/>
              <a:cxnLst/>
              <a:rect r="r" b="b" t="t" l="l"/>
              <a:pathLst>
                <a:path h="480427" w="18288000">
                  <a:moveTo>
                    <a:pt x="0" y="0"/>
                  </a:moveTo>
                  <a:lnTo>
                    <a:pt x="18288000" y="0"/>
                  </a:lnTo>
                  <a:lnTo>
                    <a:pt x="18288000" y="480427"/>
                  </a:lnTo>
                  <a:lnTo>
                    <a:pt x="0" y="480427"/>
                  </a:lnTo>
                  <a:close/>
                </a:path>
              </a:pathLst>
            </a:custGeom>
            <a:blipFill>
              <a:blip r:embed="rId5">
                <a:alphaModFix amt="0"/>
              </a:blip>
              <a:stretch>
                <a:fillRect l="0" t="-680655" r="0" b="-702784"/>
              </a:stretch>
            </a:blipFill>
          </p:spPr>
          <p:txBody>
            <a:bodyPr/>
            <a:p/>
          </p:txBody>
        </p:sp>
        <p:sp>
          <p:nvSpPr>
            <p:cNvPr name="TextBox 144" id="144"/>
            <p:cNvSpPr txBox="true"/>
            <p:nvPr/>
          </p:nvSpPr>
          <p:spPr>
            <a:xfrm>
              <a:off x="0" y="-38100"/>
              <a:ext cx="18288000" cy="518527"/>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1 · PHẠM VI · 11 · SẢN PHẨM &amp; GIÁ TRỊ</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Sản phẩm dự kiến và giá trị</a:t>
            </a:r>
          </a:p>
        </p:txBody>
      </p:sp>
      <p:sp>
        <p:nvSpPr>
          <p:cNvPr name="Freeform 6" id="6"/>
          <p:cNvSpPr/>
          <p:nvPr/>
        </p:nvSpPr>
        <p:spPr>
          <a:xfrm flipH="false" flipV="false" rot="0">
            <a:off x="806291" y="2040731"/>
            <a:ext cx="5260467" cy="3119438"/>
          </a:xfrm>
          <a:custGeom>
            <a:avLst/>
            <a:gdLst/>
            <a:ahLst/>
            <a:cxnLst/>
            <a:rect r="r" b="b" t="t" l="l"/>
            <a:pathLst>
              <a:path h="3119438" w="5260467">
                <a:moveTo>
                  <a:pt x="0" y="0"/>
                </a:moveTo>
                <a:lnTo>
                  <a:pt x="5260467" y="0"/>
                </a:lnTo>
                <a:lnTo>
                  <a:pt x="5260467" y="3119438"/>
                </a:lnTo>
                <a:lnTo>
                  <a:pt x="0" y="31194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7" id="7"/>
          <p:cNvSpPr txBox="true"/>
          <p:nvPr/>
        </p:nvSpPr>
        <p:spPr>
          <a:xfrm rot="0">
            <a:off x="1165860" y="2167890"/>
            <a:ext cx="4541368" cy="712470"/>
          </a:xfrm>
          <a:prstGeom prst="rect">
            <a:avLst/>
          </a:prstGeom>
        </p:spPr>
        <p:txBody>
          <a:bodyPr anchor="t" rtlCol="false" tIns="0" lIns="0" bIns="0" rIns="0">
            <a:spAutoFit/>
          </a:bodyPr>
          <a:lstStyle/>
          <a:p>
            <a:pPr algn="l">
              <a:lnSpc>
                <a:spcPts val="3060"/>
              </a:lnSpc>
            </a:pPr>
            <a:r>
              <a:rPr lang="en-US" sz="2550" b="true">
                <a:solidFill>
                  <a:srgbClr val="13294B"/>
                </a:solidFill>
                <a:latin typeface="Calibri (MS) Bold"/>
                <a:ea typeface="Calibri (MS) Bold"/>
                <a:cs typeface="Calibri (MS) Bold"/>
                <a:sym typeface="Calibri (MS) Bold"/>
              </a:rPr>
              <a:t>Đóng góp nghiên cứu</a:t>
            </a:r>
          </a:p>
        </p:txBody>
      </p:sp>
      <p:sp>
        <p:nvSpPr>
          <p:cNvPr name="TextBox 8" id="8"/>
          <p:cNvSpPr txBox="true"/>
          <p:nvPr/>
        </p:nvSpPr>
        <p:spPr>
          <a:xfrm rot="0">
            <a:off x="1165860" y="2834640"/>
            <a:ext cx="4541368" cy="2103120"/>
          </a:xfrm>
          <a:prstGeom prst="rect">
            <a:avLst/>
          </a:prstGeom>
        </p:spPr>
        <p:txBody>
          <a:bodyPr anchor="t" rtlCol="false" tIns="0" lIns="0" bIns="0" rIns="0">
            <a:spAutoFit/>
          </a:bodyPr>
          <a:lstStyle/>
          <a:p>
            <a:pPr algn="l">
              <a:lnSpc>
                <a:spcPts val="2700"/>
              </a:lnSpc>
            </a:pPr>
            <a:r>
              <a:rPr lang="en-US" sz="2250">
                <a:solidFill>
                  <a:srgbClr val="243044"/>
                </a:solidFill>
                <a:latin typeface="Calibri (MS)"/>
                <a:ea typeface="Calibri (MS)"/>
                <a:cs typeface="Calibri (MS)"/>
                <a:sym typeface="Calibri (MS)"/>
              </a:rPr>
              <a:t>≥ 1 cải tiến PEFT đã kiểm chứng so với baseline tái lập, kèm ablation, phân tích lỗi và hallucination</a:t>
            </a:r>
          </a:p>
        </p:txBody>
      </p:sp>
      <p:sp>
        <p:nvSpPr>
          <p:cNvPr name="Freeform 9" id="9"/>
          <p:cNvSpPr/>
          <p:nvPr/>
        </p:nvSpPr>
        <p:spPr>
          <a:xfrm flipH="false" flipV="false" rot="0">
            <a:off x="6513519" y="2040731"/>
            <a:ext cx="5260467" cy="3119438"/>
          </a:xfrm>
          <a:custGeom>
            <a:avLst/>
            <a:gdLst/>
            <a:ahLst/>
            <a:cxnLst/>
            <a:rect r="r" b="b" t="t" l="l"/>
            <a:pathLst>
              <a:path h="3119438" w="5260467">
                <a:moveTo>
                  <a:pt x="0" y="0"/>
                </a:moveTo>
                <a:lnTo>
                  <a:pt x="5260467" y="0"/>
                </a:lnTo>
                <a:lnTo>
                  <a:pt x="5260467" y="3119438"/>
                </a:lnTo>
                <a:lnTo>
                  <a:pt x="0" y="311943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TextBox 10" id="10"/>
          <p:cNvSpPr txBox="true"/>
          <p:nvPr/>
        </p:nvSpPr>
        <p:spPr>
          <a:xfrm rot="0">
            <a:off x="6873088" y="2167890"/>
            <a:ext cx="4541368" cy="712470"/>
          </a:xfrm>
          <a:prstGeom prst="rect">
            <a:avLst/>
          </a:prstGeom>
        </p:spPr>
        <p:txBody>
          <a:bodyPr anchor="t" rtlCol="false" tIns="0" lIns="0" bIns="0" rIns="0">
            <a:spAutoFit/>
          </a:bodyPr>
          <a:lstStyle/>
          <a:p>
            <a:pPr algn="l">
              <a:lnSpc>
                <a:spcPts val="3060"/>
              </a:lnSpc>
            </a:pPr>
            <a:r>
              <a:rPr lang="en-US" sz="2550" b="true">
                <a:solidFill>
                  <a:srgbClr val="13294B"/>
                </a:solidFill>
                <a:latin typeface="Calibri (MS) Bold"/>
                <a:ea typeface="Calibri (MS) Bold"/>
                <a:cs typeface="Calibri (MS) Bold"/>
                <a:sym typeface="Calibri (MS) Bold"/>
              </a:rPr>
              <a:t>Prototype web</a:t>
            </a:r>
          </a:p>
        </p:txBody>
      </p:sp>
      <p:sp>
        <p:nvSpPr>
          <p:cNvPr name="TextBox 11" id="11"/>
          <p:cNvSpPr txBox="true"/>
          <p:nvPr/>
        </p:nvSpPr>
        <p:spPr>
          <a:xfrm rot="0">
            <a:off x="6873088" y="2834640"/>
            <a:ext cx="4541368" cy="2103120"/>
          </a:xfrm>
          <a:prstGeom prst="rect">
            <a:avLst/>
          </a:prstGeom>
        </p:spPr>
        <p:txBody>
          <a:bodyPr anchor="t" rtlCol="false" tIns="0" lIns="0" bIns="0" rIns="0">
            <a:spAutoFit/>
          </a:bodyPr>
          <a:lstStyle/>
          <a:p>
            <a:pPr algn="l">
              <a:lnSpc>
                <a:spcPts val="2700"/>
              </a:lnSpc>
            </a:pPr>
            <a:r>
              <a:rPr lang="en-US" sz="2250">
                <a:solidFill>
                  <a:srgbClr val="243044"/>
                </a:solidFill>
                <a:latin typeface="Calibri (MS)"/>
                <a:ea typeface="Calibri (MS)"/>
                <a:cs typeface="Calibri (MS)"/>
                <a:sym typeface="Calibri (MS)"/>
              </a:rPr>
              <a:t>Tải ảnh, hỏi tiếng Việt, nhận câu trả lời kèm chữ OCR làm bằng chứng</a:t>
            </a:r>
          </a:p>
        </p:txBody>
      </p:sp>
      <p:sp>
        <p:nvSpPr>
          <p:cNvPr name="Freeform 12" id="12"/>
          <p:cNvSpPr/>
          <p:nvPr/>
        </p:nvSpPr>
        <p:spPr>
          <a:xfrm flipH="false" flipV="false" rot="0">
            <a:off x="12220746" y="2040731"/>
            <a:ext cx="5260467" cy="3119438"/>
          </a:xfrm>
          <a:custGeom>
            <a:avLst/>
            <a:gdLst/>
            <a:ahLst/>
            <a:cxnLst/>
            <a:rect r="r" b="b" t="t" l="l"/>
            <a:pathLst>
              <a:path h="3119438" w="5260467">
                <a:moveTo>
                  <a:pt x="0" y="0"/>
                </a:moveTo>
                <a:lnTo>
                  <a:pt x="5260467" y="0"/>
                </a:lnTo>
                <a:lnTo>
                  <a:pt x="5260467" y="3119438"/>
                </a:lnTo>
                <a:lnTo>
                  <a:pt x="0" y="311943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TextBox 13" id="13"/>
          <p:cNvSpPr txBox="true"/>
          <p:nvPr/>
        </p:nvSpPr>
        <p:spPr>
          <a:xfrm rot="0">
            <a:off x="12580315" y="2167890"/>
            <a:ext cx="4541368" cy="712470"/>
          </a:xfrm>
          <a:prstGeom prst="rect">
            <a:avLst/>
          </a:prstGeom>
        </p:spPr>
        <p:txBody>
          <a:bodyPr anchor="t" rtlCol="false" tIns="0" lIns="0" bIns="0" rIns="0">
            <a:spAutoFit/>
          </a:bodyPr>
          <a:lstStyle/>
          <a:p>
            <a:pPr algn="l">
              <a:lnSpc>
                <a:spcPts val="3060"/>
              </a:lnSpc>
            </a:pPr>
            <a:r>
              <a:rPr lang="en-US" sz="2550" b="true">
                <a:solidFill>
                  <a:srgbClr val="13294B"/>
                </a:solidFill>
                <a:latin typeface="Calibri (MS) Bold"/>
                <a:ea typeface="Calibri (MS) Bold"/>
                <a:cs typeface="Calibri (MS) Bold"/>
                <a:sym typeface="Calibri (MS) Bold"/>
              </a:rPr>
              <a:t>Luận văn + gói tái lập</a:t>
            </a:r>
          </a:p>
        </p:txBody>
      </p:sp>
      <p:sp>
        <p:nvSpPr>
          <p:cNvPr name="TextBox 14" id="14"/>
          <p:cNvSpPr txBox="true"/>
          <p:nvPr/>
        </p:nvSpPr>
        <p:spPr>
          <a:xfrm rot="0">
            <a:off x="12580315" y="2834640"/>
            <a:ext cx="4541368" cy="2103120"/>
          </a:xfrm>
          <a:prstGeom prst="rect">
            <a:avLst/>
          </a:prstGeom>
        </p:spPr>
        <p:txBody>
          <a:bodyPr anchor="t" rtlCol="false" tIns="0" lIns="0" bIns="0" rIns="0">
            <a:spAutoFit/>
          </a:bodyPr>
          <a:lstStyle/>
          <a:p>
            <a:pPr algn="l">
              <a:lnSpc>
                <a:spcPts val="2700"/>
              </a:lnSpc>
            </a:pPr>
            <a:r>
              <a:rPr lang="en-US" sz="2250">
                <a:solidFill>
                  <a:srgbClr val="243044"/>
                </a:solidFill>
                <a:latin typeface="Calibri (MS)"/>
                <a:ea typeface="Calibri (MS)"/>
                <a:cs typeface="Calibri (MS)"/>
                <a:sym typeface="Calibri (MS)"/>
              </a:rPr>
              <a:t>Code, adapter LoRA, config, script suy luận, log thí nghiệm</a:t>
            </a:r>
          </a:p>
        </p:txBody>
      </p:sp>
      <p:sp>
        <p:nvSpPr>
          <p:cNvPr name="Freeform 15" id="15"/>
          <p:cNvSpPr/>
          <p:nvPr/>
        </p:nvSpPr>
        <p:spPr>
          <a:xfrm flipH="false" flipV="false" rot="0">
            <a:off x="806291" y="5538311"/>
            <a:ext cx="8079772" cy="3736657"/>
          </a:xfrm>
          <a:custGeom>
            <a:avLst/>
            <a:gdLst/>
            <a:ahLst/>
            <a:cxnLst/>
            <a:rect r="r" b="b" t="t" l="l"/>
            <a:pathLst>
              <a:path h="3736657" w="8079772">
                <a:moveTo>
                  <a:pt x="0" y="0"/>
                </a:moveTo>
                <a:lnTo>
                  <a:pt x="8079772" y="0"/>
                </a:lnTo>
                <a:lnTo>
                  <a:pt x="8079772" y="3736658"/>
                </a:lnTo>
                <a:lnTo>
                  <a:pt x="0" y="37366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sp>
        <p:nvSpPr>
          <p:cNvPr name="TextBox 16" id="16"/>
          <p:cNvSpPr txBox="true"/>
          <p:nvPr/>
        </p:nvSpPr>
        <p:spPr>
          <a:xfrm rot="0">
            <a:off x="1165860" y="5665470"/>
            <a:ext cx="7360691" cy="643890"/>
          </a:xfrm>
          <a:prstGeom prst="rect">
            <a:avLst/>
          </a:prstGeom>
        </p:spPr>
        <p:txBody>
          <a:bodyPr anchor="t" rtlCol="false" tIns="0" lIns="0" bIns="0" rIns="0">
            <a:spAutoFit/>
          </a:bodyPr>
          <a:lstStyle/>
          <a:p>
            <a:pPr algn="l">
              <a:lnSpc>
                <a:spcPts val="3060"/>
              </a:lnSpc>
            </a:pPr>
            <a:r>
              <a:rPr lang="en-US" sz="2550" b="true">
                <a:solidFill>
                  <a:srgbClr val="13294B"/>
                </a:solidFill>
                <a:latin typeface="Calibri (MS) Bold"/>
                <a:ea typeface="Calibri (MS) Bold"/>
                <a:cs typeface="Calibri (MS) Bold"/>
                <a:sym typeface="Calibri (MS) Bold"/>
              </a:rPr>
              <a:t>Giá trị thực tiễn</a:t>
            </a:r>
          </a:p>
        </p:txBody>
      </p:sp>
      <p:sp>
        <p:nvSpPr>
          <p:cNvPr name="TextBox 17" id="17"/>
          <p:cNvSpPr txBox="true"/>
          <p:nvPr/>
        </p:nvSpPr>
        <p:spPr>
          <a:xfrm rot="0">
            <a:off x="1165860" y="6332220"/>
            <a:ext cx="7360691" cy="2720340"/>
          </a:xfrm>
          <a:prstGeom prst="rect">
            <a:avLst/>
          </a:prstGeom>
        </p:spPr>
        <p:txBody>
          <a:bodyPr anchor="t" rtlCol="false" tIns="0" lIns="0" bIns="0" rIns="0">
            <a:spAutoFit/>
          </a:bodyPr>
          <a:lstStyle/>
          <a:p>
            <a:pPr algn="l" marL="474662" indent="-158221" lvl="2">
              <a:lnSpc>
                <a:spcPts val="2700"/>
              </a:lnSpc>
              <a:buFont typeface="Arial"/>
              <a:buChar char="⚬"/>
            </a:pPr>
            <a:r>
              <a:rPr lang="en-US" sz="2250">
                <a:solidFill>
                  <a:srgbClr val="243044"/>
                </a:solidFill>
                <a:latin typeface="Calibri (MS)"/>
                <a:ea typeface="Calibri (MS)"/>
                <a:cs typeface="Calibri (MS)"/>
                <a:sym typeface="Calibri (MS)"/>
              </a:rPr>
              <a:t>Đọc biển hiệu, nhãn hàng, giá cả trong ảnh tiếng Việt</a:t>
            </a:r>
          </a:p>
          <a:p>
            <a:pPr algn="l" marL="474662" indent="-158221" lvl="2">
              <a:lnSpc>
                <a:spcPts val="2700"/>
              </a:lnSpc>
              <a:buFont typeface="Arial"/>
              <a:buChar char="⚬"/>
            </a:pPr>
            <a:r>
              <a:rPr lang="en-US" sz="2250">
                <a:solidFill>
                  <a:srgbClr val="243044"/>
                </a:solidFill>
                <a:latin typeface="Calibri (MS)"/>
                <a:ea typeface="Calibri (MS)"/>
                <a:cs typeface="Calibri (MS)"/>
                <a:sym typeface="Calibri (MS)"/>
              </a:rPr>
              <a:t>Công nghệ hỗ trợ người khiếm thị</a:t>
            </a:r>
          </a:p>
          <a:p>
            <a:pPr algn="l" marL="474662" indent="-158221" lvl="2">
              <a:lnSpc>
                <a:spcPts val="2700"/>
              </a:lnSpc>
              <a:buFont typeface="Arial"/>
              <a:buChar char="⚬"/>
            </a:pPr>
            <a:r>
              <a:rPr lang="en-US" sz="2250">
                <a:solidFill>
                  <a:srgbClr val="243044"/>
                </a:solidFill>
                <a:latin typeface="Calibri (MS)"/>
                <a:ea typeface="Calibri (MS)"/>
                <a:cs typeface="Calibri (MS)"/>
                <a:sym typeface="Calibri (MS)"/>
              </a:rPr>
              <a:t>Thực đơn, biểu mẫu, tài liệu tiếng Việt</a:t>
            </a:r>
          </a:p>
        </p:txBody>
      </p:sp>
      <p:sp>
        <p:nvSpPr>
          <p:cNvPr name="Freeform 18" id="18"/>
          <p:cNvSpPr/>
          <p:nvPr/>
        </p:nvSpPr>
        <p:spPr>
          <a:xfrm flipH="false" flipV="false" rot="0">
            <a:off x="9401423" y="5538311"/>
            <a:ext cx="8079772" cy="3736657"/>
          </a:xfrm>
          <a:custGeom>
            <a:avLst/>
            <a:gdLst/>
            <a:ahLst/>
            <a:cxnLst/>
            <a:rect r="r" b="b" t="t" l="l"/>
            <a:pathLst>
              <a:path h="3736657" w="8079772">
                <a:moveTo>
                  <a:pt x="0" y="0"/>
                </a:moveTo>
                <a:lnTo>
                  <a:pt x="8079771" y="0"/>
                </a:lnTo>
                <a:lnTo>
                  <a:pt x="8079771" y="3736658"/>
                </a:lnTo>
                <a:lnTo>
                  <a:pt x="0" y="373665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sp>
        <p:nvSpPr>
          <p:cNvPr name="TextBox 19" id="19"/>
          <p:cNvSpPr txBox="true"/>
          <p:nvPr/>
        </p:nvSpPr>
        <p:spPr>
          <a:xfrm rot="0">
            <a:off x="9760991" y="5665470"/>
            <a:ext cx="7360691" cy="643890"/>
          </a:xfrm>
          <a:prstGeom prst="rect">
            <a:avLst/>
          </a:prstGeom>
        </p:spPr>
        <p:txBody>
          <a:bodyPr anchor="t" rtlCol="false" tIns="0" lIns="0" bIns="0" rIns="0">
            <a:spAutoFit/>
          </a:bodyPr>
          <a:lstStyle/>
          <a:p>
            <a:pPr algn="l">
              <a:lnSpc>
                <a:spcPts val="3060"/>
              </a:lnSpc>
            </a:pPr>
            <a:r>
              <a:rPr lang="en-US" sz="2550" b="true">
                <a:solidFill>
                  <a:srgbClr val="13294B"/>
                </a:solidFill>
                <a:latin typeface="Calibri (MS) Bold"/>
                <a:ea typeface="Calibri (MS) Bold"/>
                <a:cs typeface="Calibri (MS) Bold"/>
                <a:sym typeface="Calibri (MS) Bold"/>
              </a:rPr>
              <a:t>Ý nghĩa khoa học</a:t>
            </a:r>
          </a:p>
        </p:txBody>
      </p:sp>
      <p:sp>
        <p:nvSpPr>
          <p:cNvPr name="TextBox 20" id="20"/>
          <p:cNvSpPr txBox="true"/>
          <p:nvPr/>
        </p:nvSpPr>
        <p:spPr>
          <a:xfrm rot="0">
            <a:off x="9760991" y="6332220"/>
            <a:ext cx="7360691" cy="2720340"/>
          </a:xfrm>
          <a:prstGeom prst="rect">
            <a:avLst/>
          </a:prstGeom>
        </p:spPr>
        <p:txBody>
          <a:bodyPr anchor="t" rtlCol="false" tIns="0" lIns="0" bIns="0" rIns="0">
            <a:spAutoFit/>
          </a:bodyPr>
          <a:lstStyle/>
          <a:p>
            <a:pPr algn="l" marL="474662" indent="-158221" lvl="2">
              <a:lnSpc>
                <a:spcPts val="2700"/>
              </a:lnSpc>
              <a:buFont typeface="Arial"/>
              <a:buChar char="⚬"/>
            </a:pPr>
            <a:r>
              <a:rPr lang="en-US" sz="2250">
                <a:solidFill>
                  <a:srgbClr val="243044"/>
                </a:solidFill>
                <a:latin typeface="Calibri (MS)"/>
                <a:ea typeface="Calibri (MS)"/>
                <a:cs typeface="Calibri (MS)"/>
                <a:sym typeface="Calibri (MS)"/>
              </a:rPr>
              <a:t>Nghiên cứu PEFT có hệ thống cho VLM tiếng Việt</a:t>
            </a:r>
          </a:p>
          <a:p>
            <a:pPr algn="l" marL="474662" indent="-158221" lvl="2">
              <a:lnSpc>
                <a:spcPts val="2700"/>
              </a:lnSpc>
              <a:buFont typeface="Arial"/>
              <a:buChar char="⚬"/>
            </a:pPr>
            <a:r>
              <a:rPr lang="en-US" sz="2250">
                <a:solidFill>
                  <a:srgbClr val="243044"/>
                </a:solidFill>
                <a:latin typeface="Calibri (MS)"/>
                <a:ea typeface="Calibri (MS)"/>
                <a:cs typeface="Calibri (MS)"/>
                <a:sym typeface="Calibri (MS)"/>
              </a:rPr>
              <a:t>Xử lý đặc thù tiếng Việt: dấu, ngôn ngữ đầu ra, thứ tự OCR</a:t>
            </a:r>
          </a:p>
          <a:p>
            <a:pPr algn="l" marL="474662" indent="-158221" lvl="2">
              <a:lnSpc>
                <a:spcPts val="2700"/>
              </a:lnSpc>
              <a:buFont typeface="Arial"/>
              <a:buChar char="⚬"/>
            </a:pPr>
            <a:r>
              <a:rPr lang="en-US" sz="2250">
                <a:solidFill>
                  <a:srgbClr val="243044"/>
                </a:solidFill>
                <a:latin typeface="Calibri (MS)"/>
                <a:ea typeface="Calibri (MS)"/>
                <a:cs typeface="Calibri (MS)"/>
                <a:sym typeface="Calibri (MS)"/>
              </a:rPr>
              <a:t>Đo hallucination cho VQA tiếng Việt; quy trình tái lập được</a:t>
            </a:r>
          </a:p>
        </p:txBody>
      </p:sp>
      <p:grpSp>
        <p:nvGrpSpPr>
          <p:cNvPr name="Group 21" id="21"/>
          <p:cNvGrpSpPr/>
          <p:nvPr/>
        </p:nvGrpSpPr>
        <p:grpSpPr>
          <a:xfrm rot="0">
            <a:off x="15458732" y="0"/>
            <a:ext cx="2829268" cy="1184338"/>
            <a:chOff x="0" y="0"/>
            <a:chExt cx="3772357" cy="1579118"/>
          </a:xfrm>
        </p:grpSpPr>
        <p:sp>
          <p:nvSpPr>
            <p:cNvPr name="Freeform 22" id="22"/>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1"/>
              <a:stretch>
                <a:fillRect l="0" t="0" r="1" b="0"/>
              </a:stretch>
            </a:blipFill>
          </p:spPr>
          <p:txBody>
            <a:bodyPr/>
            <a:p/>
          </p:txBody>
        </p:sp>
      </p:grpSp>
      <p:grpSp>
        <p:nvGrpSpPr>
          <p:cNvPr name="Group 23" id="23"/>
          <p:cNvGrpSpPr/>
          <p:nvPr/>
        </p:nvGrpSpPr>
        <p:grpSpPr>
          <a:xfrm rot="0">
            <a:off x="822960" y="9655969"/>
            <a:ext cx="13716000" cy="360320"/>
            <a:chOff x="0" y="0"/>
            <a:chExt cx="18288000" cy="480427"/>
          </a:xfrm>
        </p:grpSpPr>
        <p:sp>
          <p:nvSpPr>
            <p:cNvPr name="Freeform 24" id="24"/>
            <p:cNvSpPr/>
            <p:nvPr/>
          </p:nvSpPr>
          <p:spPr>
            <a:xfrm flipH="false" flipV="false" rot="0">
              <a:off x="0" y="0"/>
              <a:ext cx="18288000" cy="480427"/>
            </a:xfrm>
            <a:custGeom>
              <a:avLst/>
              <a:gdLst/>
              <a:ahLst/>
              <a:cxnLst/>
              <a:rect r="r" b="b" t="t" l="l"/>
              <a:pathLst>
                <a:path h="480427" w="18288000">
                  <a:moveTo>
                    <a:pt x="0" y="0"/>
                  </a:moveTo>
                  <a:lnTo>
                    <a:pt x="18288000" y="0"/>
                  </a:lnTo>
                  <a:lnTo>
                    <a:pt x="18288000" y="480427"/>
                  </a:lnTo>
                  <a:lnTo>
                    <a:pt x="0" y="480427"/>
                  </a:lnTo>
                  <a:close/>
                </a:path>
              </a:pathLst>
            </a:custGeom>
            <a:blipFill>
              <a:blip r:embed="rId12">
                <a:alphaModFix amt="0"/>
              </a:blip>
              <a:stretch>
                <a:fillRect l="0" t="-680655" r="0" b="-702784"/>
              </a:stretch>
            </a:blipFill>
          </p:spPr>
          <p:txBody>
            <a:bodyPr/>
            <a:p/>
          </p:txBody>
        </p:sp>
        <p:sp>
          <p:nvSpPr>
            <p:cNvPr name="TextBox 25" id="25"/>
            <p:cNvSpPr txBox="true"/>
            <p:nvPr/>
          </p:nvSpPr>
          <p:spPr>
            <a:xfrm>
              <a:off x="0" y="-38100"/>
              <a:ext cx="18288000" cy="518527"/>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1 · PHẠM VI · 12 · KẾ HOẠCH</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Kế hoạch 15 tuần — đầu ra và trạng thái</a:t>
            </a:r>
          </a:p>
        </p:txBody>
      </p:sp>
      <p:graphicFrame>
        <p:nvGraphicFramePr>
          <p:cNvPr name="Table 6" id="6"/>
          <p:cNvGraphicFramePr>
            <a:graphicFrameLocks noGrp="true"/>
          </p:cNvGraphicFramePr>
          <p:nvPr/>
        </p:nvGraphicFramePr>
        <p:xfrm>
          <a:off x="822960" y="1920240"/>
          <a:ext cx="16598900" cy="7315200"/>
        </p:xfrm>
        <a:graphic>
          <a:graphicData uri="http://schemas.openxmlformats.org/drawingml/2006/table">
            <a:tbl>
              <a:tblPr/>
              <a:tblGrid>
                <a:gridCol w="1384569"/>
                <a:gridCol w="6664900"/>
                <a:gridCol w="8549431"/>
              </a:tblGrid>
              <a:tr h="457200">
                <a:tc>
                  <a:txBody>
                    <a:bodyPr anchor="t" rtlCol="false"/>
                    <a:lstStyle/>
                    <a:p>
                      <a:pPr algn="l">
                        <a:lnSpc>
                          <a:spcPts val="2430"/>
                        </a:lnSpc>
                        <a:defRPr/>
                      </a:pPr>
                      <a:r>
                        <a:rPr lang="en-US" sz="2025" b="true">
                          <a:solidFill>
                            <a:srgbClr val="FFFFFF"/>
                          </a:solidFill>
                          <a:latin typeface="Calibri (MS) Bold"/>
                          <a:ea typeface="Calibri (MS) Bold"/>
                          <a:cs typeface="Calibri (MS) Bold"/>
                          <a:sym typeface="Calibri (MS) Bold"/>
                        </a:rPr>
                        <a:t>Tuần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430"/>
                        </a:lnSpc>
                        <a:defRPr/>
                      </a:pPr>
                      <a:r>
                        <a:rPr lang="en-US" sz="2025" b="true">
                          <a:solidFill>
                            <a:srgbClr val="FFFFFF"/>
                          </a:solidFill>
                          <a:latin typeface="Calibri (MS) Bold"/>
                          <a:ea typeface="Calibri (MS) Bold"/>
                          <a:cs typeface="Calibri (MS) Bold"/>
                          <a:sym typeface="Calibri (MS) Bold"/>
                        </a:rPr>
                        <a:t>Công việc</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430"/>
                        </a:lnSpc>
                        <a:defRPr/>
                      </a:pPr>
                      <a:r>
                        <a:rPr lang="en-US" sz="2025" b="true">
                          <a:solidFill>
                            <a:srgbClr val="FFFFFF"/>
                          </a:solidFill>
                          <a:latin typeface="Calibri (MS) Bold"/>
                          <a:ea typeface="Calibri (MS) Bold"/>
                          <a:cs typeface="Calibri (MS) Bold"/>
                          <a:sym typeface="Calibri (MS) Bold"/>
                        </a:rPr>
                        <a:t>Đầu ra · trạng thái (tại Review 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Research orientation + Planning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Đề cương, phân vai, kế hoạch 15 tuần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Literature + Dataset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Literature matrix 10 paper; thống kê 2 dataset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Review 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Deck + checklist Review 1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Baseline (khởi động)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Zero-shot đầu tiên; chốt Qwen2.5-VL-3B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Baseline reproduce hoàn chỉnh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B1 trên 2 dataset; ViTextVQA bản chính thức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Baseline → Method (Report 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Chốt cấu hình; smoke test QLoRA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QLoRA (B2) + chuẩn bị Review 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B2; R0 tái lập 79,6; duyệt 200 lỗi ✓</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Review 2 · OCR-enhanced prompting + củng cố B3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B3 + ablation OCR 2×2, 3 seed ✓ · Review 2 (29/10)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B3 full data + LoRA ablation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B3-full +3,1 EM; ablation A1, A2 ✓ (làm sớm)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Full evaluation + shared adapter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Bảng 23 run; adapter dùng chung đạt ✓ (làm sớm)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Error analysis + hallucination analysis</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H4 (POPE tiếng Việt), lỗi theo loại → dời lên W9–W10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Tổng hợp kết quả + Report 6–7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Report 6–7; bảng kết quả cuối</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Review 3 · Hội đồng cấp Khoa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Deck cộng dồn + demo</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Prototype web + viết thesis</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340"/>
                        </a:lnSpc>
                        <a:defRPr/>
                      </a:pPr>
                      <a:r>
                        <a:rPr lang="en-US" sz="1950">
                          <a:solidFill>
                            <a:srgbClr val="243044"/>
                          </a:solidFill>
                          <a:latin typeface="Calibri (MS)"/>
                          <a:ea typeface="Calibri (MS)"/>
                          <a:cs typeface="Calibri (MS)"/>
                          <a:sym typeface="Calibri (MS)"/>
                        </a:rPr>
                        <a:t>Web demo → dời lên W11–12; bản thảo thesis</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457200">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W15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Final defense + gói tái lập</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l">
                        <a:lnSpc>
                          <a:spcPts val="2340"/>
                        </a:lnSpc>
                        <a:defRPr/>
                      </a:pPr>
                      <a:r>
                        <a:rPr lang="en-US" sz="1950" b="true">
                          <a:solidFill>
                            <a:srgbClr val="243044"/>
                          </a:solidFill>
                          <a:latin typeface="Calibri (MS) Bold"/>
                          <a:ea typeface="Calibri (MS) Bold"/>
                          <a:cs typeface="Calibri (MS) Bold"/>
                          <a:sym typeface="Calibri (MS) Bold"/>
                        </a:rPr>
                        <a:t>Thesis, code, adapter, log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r>
            </a:tbl>
          </a:graphicData>
        </a:graphic>
      </p:graphicFrame>
      <p:grpSp>
        <p:nvGrpSpPr>
          <p:cNvPr name="Group 7" id="7"/>
          <p:cNvGrpSpPr/>
          <p:nvPr/>
        </p:nvGrpSpPr>
        <p:grpSpPr>
          <a:xfrm rot="0">
            <a:off x="15458732" y="0"/>
            <a:ext cx="2829268" cy="1184338"/>
            <a:chOff x="0" y="0"/>
            <a:chExt cx="3772357" cy="1579118"/>
          </a:xfrm>
        </p:grpSpPr>
        <p:sp>
          <p:nvSpPr>
            <p:cNvPr name="Freeform 8" id="8"/>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1" b="0"/>
              </a:stretch>
            </a:blipFill>
          </p:spPr>
          <p:txBody>
            <a:bodyPr/>
            <a:p/>
          </p:txBody>
        </p:sp>
      </p:grpSp>
      <p:grpSp>
        <p:nvGrpSpPr>
          <p:cNvPr name="Group 9" id="9"/>
          <p:cNvGrpSpPr/>
          <p:nvPr/>
        </p:nvGrpSpPr>
        <p:grpSpPr>
          <a:xfrm rot="0">
            <a:off x="822960" y="9655969"/>
            <a:ext cx="13716000" cy="360320"/>
            <a:chOff x="0" y="0"/>
            <a:chExt cx="18288000" cy="480427"/>
          </a:xfrm>
        </p:grpSpPr>
        <p:sp>
          <p:nvSpPr>
            <p:cNvPr name="Freeform 10" id="10"/>
            <p:cNvSpPr/>
            <p:nvPr/>
          </p:nvSpPr>
          <p:spPr>
            <a:xfrm flipH="false" flipV="false" rot="0">
              <a:off x="0" y="0"/>
              <a:ext cx="18288000" cy="480427"/>
            </a:xfrm>
            <a:custGeom>
              <a:avLst/>
              <a:gdLst/>
              <a:ahLst/>
              <a:cxnLst/>
              <a:rect r="r" b="b" t="t" l="l"/>
              <a:pathLst>
                <a:path h="480427" w="18288000">
                  <a:moveTo>
                    <a:pt x="0" y="0"/>
                  </a:moveTo>
                  <a:lnTo>
                    <a:pt x="18288000" y="0"/>
                  </a:lnTo>
                  <a:lnTo>
                    <a:pt x="18288000" y="480427"/>
                  </a:lnTo>
                  <a:lnTo>
                    <a:pt x="0" y="480427"/>
                  </a:lnTo>
                  <a:close/>
                </a:path>
              </a:pathLst>
            </a:custGeom>
            <a:blipFill>
              <a:blip r:embed="rId4">
                <a:alphaModFix amt="0"/>
              </a:blip>
              <a:stretch>
                <a:fillRect l="0" t="-680655" r="0" b="-702784"/>
              </a:stretch>
            </a:blipFill>
          </p:spPr>
          <p:txBody>
            <a:bodyPr/>
            <a:p/>
          </p:txBody>
        </p:sp>
        <p:sp>
          <p:nvSpPr>
            <p:cNvPr name="TextBox 11" id="11"/>
            <p:cNvSpPr txBox="true"/>
            <p:nvPr/>
          </p:nvSpPr>
          <p:spPr>
            <a:xfrm>
              <a:off x="0" y="-38100"/>
              <a:ext cx="18288000" cy="518527"/>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GFA26AI35 · Đại học FPT</a:t>
              </a:r>
            </a:p>
          </p:txBody>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606011" y="-1422978"/>
            <a:ext cx="18946825" cy="13987367"/>
          </a:xfrm>
          <a:custGeom>
            <a:avLst/>
            <a:gdLst/>
            <a:ahLst/>
            <a:cxnLst/>
            <a:rect r="r" b="b" t="t" l="l"/>
            <a:pathLst>
              <a:path h="13987367" w="18946825">
                <a:moveTo>
                  <a:pt x="0" y="0"/>
                </a:moveTo>
                <a:lnTo>
                  <a:pt x="18946825" y="0"/>
                </a:lnTo>
                <a:lnTo>
                  <a:pt x="18946825" y="13987367"/>
                </a:lnTo>
                <a:lnTo>
                  <a:pt x="0" y="139873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grpSp>
        <p:nvGrpSpPr>
          <p:cNvPr name="Group 3" id="3"/>
          <p:cNvGrpSpPr/>
          <p:nvPr/>
        </p:nvGrpSpPr>
        <p:grpSpPr>
          <a:xfrm rot="0">
            <a:off x="1152144" y="2425551"/>
            <a:ext cx="16184880" cy="1636395"/>
            <a:chOff x="0" y="0"/>
            <a:chExt cx="21579840" cy="2181860"/>
          </a:xfrm>
        </p:grpSpPr>
        <p:sp>
          <p:nvSpPr>
            <p:cNvPr name="Freeform 4" id="4"/>
            <p:cNvSpPr/>
            <p:nvPr/>
          </p:nvSpPr>
          <p:spPr>
            <a:xfrm flipH="false" flipV="false" rot="0">
              <a:off x="0" y="0"/>
              <a:ext cx="21579839" cy="2181860"/>
            </a:xfrm>
            <a:custGeom>
              <a:avLst/>
              <a:gdLst/>
              <a:ahLst/>
              <a:cxnLst/>
              <a:rect r="r" b="b" t="t" l="l"/>
              <a:pathLst>
                <a:path h="2181860" w="21579839">
                  <a:moveTo>
                    <a:pt x="0" y="0"/>
                  </a:moveTo>
                  <a:lnTo>
                    <a:pt x="21579839" y="0"/>
                  </a:lnTo>
                  <a:lnTo>
                    <a:pt x="21579839" y="2181860"/>
                  </a:lnTo>
                  <a:lnTo>
                    <a:pt x="0" y="2181860"/>
                  </a:lnTo>
                  <a:close/>
                </a:path>
              </a:pathLst>
            </a:custGeom>
            <a:blipFill>
              <a:blip r:embed="rId4">
                <a:alphaModFix amt="0"/>
              </a:blip>
              <a:stretch>
                <a:fillRect l="0" t="-365236" r="0" b="-365236"/>
              </a:stretch>
            </a:blipFill>
          </p:spPr>
          <p:txBody>
            <a:bodyPr/>
            <a:p/>
          </p:txBody>
        </p:sp>
      </p:grpSp>
      <p:grpSp>
        <p:nvGrpSpPr>
          <p:cNvPr name="Group 5" id="5"/>
          <p:cNvGrpSpPr/>
          <p:nvPr/>
        </p:nvGrpSpPr>
        <p:grpSpPr>
          <a:xfrm rot="0">
            <a:off x="1152144" y="4061936"/>
            <a:ext cx="15636240" cy="1508760"/>
            <a:chOff x="0" y="0"/>
            <a:chExt cx="20848320" cy="2011680"/>
          </a:xfrm>
        </p:grpSpPr>
        <p:sp>
          <p:nvSpPr>
            <p:cNvPr name="Freeform 6" id="6"/>
            <p:cNvSpPr/>
            <p:nvPr/>
          </p:nvSpPr>
          <p:spPr>
            <a:xfrm flipH="false" flipV="false" rot="0">
              <a:off x="0" y="0"/>
              <a:ext cx="20848320" cy="2011680"/>
            </a:xfrm>
            <a:custGeom>
              <a:avLst/>
              <a:gdLst/>
              <a:ahLst/>
              <a:cxnLst/>
              <a:rect r="r" b="b" t="t" l="l"/>
              <a:pathLst>
                <a:path h="2011680" w="20848320">
                  <a:moveTo>
                    <a:pt x="0" y="0"/>
                  </a:moveTo>
                  <a:lnTo>
                    <a:pt x="20848320" y="0"/>
                  </a:lnTo>
                  <a:lnTo>
                    <a:pt x="20848320" y="2011680"/>
                  </a:lnTo>
                  <a:lnTo>
                    <a:pt x="0" y="2011680"/>
                  </a:lnTo>
                  <a:close/>
                </a:path>
              </a:pathLst>
            </a:custGeom>
            <a:blipFill>
              <a:blip r:embed="rId4">
                <a:alphaModFix amt="0"/>
              </a:blip>
              <a:stretch>
                <a:fillRect l="0" t="-385097" r="0" b="-385097"/>
              </a:stretch>
            </a:blipFill>
          </p:spPr>
          <p:txBody>
            <a:bodyPr/>
            <a:p/>
          </p:txBody>
        </p:sp>
      </p:grpSp>
      <p:grpSp>
        <p:nvGrpSpPr>
          <p:cNvPr name="Group 7" id="7"/>
          <p:cNvGrpSpPr/>
          <p:nvPr/>
        </p:nvGrpSpPr>
        <p:grpSpPr>
          <a:xfrm rot="0">
            <a:off x="1152144" y="5788352"/>
            <a:ext cx="11795760" cy="559584"/>
            <a:chOff x="0" y="0"/>
            <a:chExt cx="15727680" cy="746112"/>
          </a:xfrm>
        </p:grpSpPr>
        <p:sp>
          <p:nvSpPr>
            <p:cNvPr name="Freeform 8" id="8"/>
            <p:cNvSpPr/>
            <p:nvPr/>
          </p:nvSpPr>
          <p:spPr>
            <a:xfrm flipH="false" flipV="false" rot="0">
              <a:off x="0" y="0"/>
              <a:ext cx="15727680" cy="746125"/>
            </a:xfrm>
            <a:custGeom>
              <a:avLst/>
              <a:gdLst/>
              <a:ahLst/>
              <a:cxnLst/>
              <a:rect r="r" b="b" t="t" l="l"/>
              <a:pathLst>
                <a:path h="746125" w="15727680">
                  <a:moveTo>
                    <a:pt x="0" y="0"/>
                  </a:moveTo>
                  <a:lnTo>
                    <a:pt x="15727680" y="0"/>
                  </a:lnTo>
                  <a:lnTo>
                    <a:pt x="15727680" y="746125"/>
                  </a:lnTo>
                  <a:lnTo>
                    <a:pt x="0" y="746125"/>
                  </a:lnTo>
                  <a:close/>
                </a:path>
              </a:pathLst>
            </a:custGeom>
            <a:blipFill>
              <a:blip r:embed="rId5">
                <a:alphaModFix amt="0"/>
              </a:blip>
              <a:stretch>
                <a:fillRect l="0" t="-360442" r="0" b="-360442"/>
              </a:stretch>
            </a:blipFill>
          </p:spPr>
          <p:txBody>
            <a:bodyPr/>
            <a:p/>
          </p:txBody>
        </p:sp>
      </p:grpSp>
      <p:grpSp>
        <p:nvGrpSpPr>
          <p:cNvPr name="Group 9" id="9"/>
          <p:cNvGrpSpPr/>
          <p:nvPr/>
        </p:nvGrpSpPr>
        <p:grpSpPr>
          <a:xfrm rot="0">
            <a:off x="1152144" y="6531216"/>
            <a:ext cx="14538960" cy="523427"/>
            <a:chOff x="0" y="0"/>
            <a:chExt cx="19385280" cy="697903"/>
          </a:xfrm>
        </p:grpSpPr>
        <p:sp>
          <p:nvSpPr>
            <p:cNvPr name="Freeform 10" id="10"/>
            <p:cNvSpPr/>
            <p:nvPr/>
          </p:nvSpPr>
          <p:spPr>
            <a:xfrm flipH="false" flipV="false" rot="0">
              <a:off x="0" y="0"/>
              <a:ext cx="19385280" cy="697865"/>
            </a:xfrm>
            <a:custGeom>
              <a:avLst/>
              <a:gdLst/>
              <a:ahLst/>
              <a:cxnLst/>
              <a:rect r="r" b="b" t="t" l="l"/>
              <a:pathLst>
                <a:path h="697865" w="19385280">
                  <a:moveTo>
                    <a:pt x="0" y="0"/>
                  </a:moveTo>
                  <a:lnTo>
                    <a:pt x="19385280" y="0"/>
                  </a:lnTo>
                  <a:lnTo>
                    <a:pt x="19385280" y="697865"/>
                  </a:lnTo>
                  <a:lnTo>
                    <a:pt x="0" y="697865"/>
                  </a:lnTo>
                  <a:close/>
                </a:path>
              </a:pathLst>
            </a:custGeom>
            <a:blipFill>
              <a:blip r:embed="rId4">
                <a:alphaModFix amt="0"/>
              </a:blip>
              <a:stretch>
                <a:fillRect l="0" t="-1116203" r="0" b="-1116209"/>
              </a:stretch>
            </a:blipFill>
          </p:spPr>
          <p:txBody>
            <a:bodyPr/>
            <a:p/>
          </p:txBody>
        </p:sp>
      </p:grpSp>
      <p:grpSp>
        <p:nvGrpSpPr>
          <p:cNvPr name="Group 11" id="11"/>
          <p:cNvGrpSpPr/>
          <p:nvPr/>
        </p:nvGrpSpPr>
        <p:grpSpPr>
          <a:xfrm rot="0">
            <a:off x="0" y="0"/>
            <a:ext cx="2829268" cy="1184338"/>
            <a:chOff x="0" y="0"/>
            <a:chExt cx="3772357" cy="1579118"/>
          </a:xfrm>
        </p:grpSpPr>
        <p:sp>
          <p:nvSpPr>
            <p:cNvPr name="Freeform 12" id="12"/>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6"/>
              <a:stretch>
                <a:fillRect l="0" t="0" r="1" b="0"/>
              </a:stretch>
            </a:blipFill>
          </p:spPr>
          <p:txBody>
            <a:bodyPr/>
            <a:p/>
          </p:txBody>
        </p:sp>
      </p:grpSp>
      <p:grpSp>
        <p:nvGrpSpPr>
          <p:cNvPr name="Group 13" id="13"/>
          <p:cNvGrpSpPr/>
          <p:nvPr/>
        </p:nvGrpSpPr>
        <p:grpSpPr>
          <a:xfrm rot="0">
            <a:off x="1152144" y="7273719"/>
            <a:ext cx="14538960" cy="523427"/>
            <a:chOff x="0" y="0"/>
            <a:chExt cx="19385280" cy="697903"/>
          </a:xfrm>
        </p:grpSpPr>
        <p:sp>
          <p:nvSpPr>
            <p:cNvPr name="Freeform 14" id="14"/>
            <p:cNvSpPr/>
            <p:nvPr/>
          </p:nvSpPr>
          <p:spPr>
            <a:xfrm flipH="false" flipV="false" rot="0">
              <a:off x="0" y="0"/>
              <a:ext cx="19385280" cy="697865"/>
            </a:xfrm>
            <a:custGeom>
              <a:avLst/>
              <a:gdLst/>
              <a:ahLst/>
              <a:cxnLst/>
              <a:rect r="r" b="b" t="t" l="l"/>
              <a:pathLst>
                <a:path h="697865" w="19385280">
                  <a:moveTo>
                    <a:pt x="0" y="0"/>
                  </a:moveTo>
                  <a:lnTo>
                    <a:pt x="19385280" y="0"/>
                  </a:lnTo>
                  <a:lnTo>
                    <a:pt x="19385280" y="697865"/>
                  </a:lnTo>
                  <a:lnTo>
                    <a:pt x="0" y="697865"/>
                  </a:lnTo>
                  <a:close/>
                </a:path>
              </a:pathLst>
            </a:custGeom>
            <a:blipFill>
              <a:blip r:embed="rId5">
                <a:alphaModFix amt="0"/>
              </a:blip>
              <a:stretch>
                <a:fillRect l="0" t="-490875" r="0" b="-490882"/>
              </a:stretch>
            </a:blipFill>
          </p:spPr>
          <p:txBody>
            <a:bodyPr/>
            <a:p/>
          </p:txBody>
        </p:sp>
      </p:grpSp>
      <p:sp>
        <p:nvSpPr>
          <p:cNvPr name="TextBox 15" id="15"/>
          <p:cNvSpPr txBox="true"/>
          <p:nvPr/>
        </p:nvSpPr>
        <p:spPr>
          <a:xfrm rot="0">
            <a:off x="768816" y="2584609"/>
            <a:ext cx="13565793" cy="5972175"/>
          </a:xfrm>
          <a:prstGeom prst="rect">
            <a:avLst/>
          </a:prstGeom>
        </p:spPr>
        <p:txBody>
          <a:bodyPr anchor="t" rtlCol="false" tIns="0" lIns="0" bIns="0" rIns="0">
            <a:spAutoFit/>
          </a:bodyPr>
          <a:lstStyle/>
          <a:p>
            <a:pPr algn="l">
              <a:lnSpc>
                <a:spcPts val="8074"/>
              </a:lnSpc>
            </a:pPr>
            <a:r>
              <a:rPr lang="en-US" sz="6728" b="true">
                <a:solidFill>
                  <a:srgbClr val="FFFFFF"/>
                </a:solidFill>
                <a:latin typeface="Noto Sans Bold"/>
                <a:ea typeface="Noto Sans Bold"/>
                <a:cs typeface="Noto Sans Bold"/>
                <a:sym typeface="Noto Sans Bold"/>
              </a:rPr>
              <a:t>Existing System + Methodology</a:t>
            </a:r>
          </a:p>
          <a:p>
            <a:pPr algn="l">
              <a:lnSpc>
                <a:spcPts val="7354"/>
              </a:lnSpc>
            </a:pPr>
            <a:r>
              <a:rPr lang="en-US" sz="6128" b="true">
                <a:solidFill>
                  <a:srgbClr val="FFFFFF"/>
                </a:solidFill>
                <a:latin typeface="Noto Sans Bold"/>
                <a:ea typeface="Noto Sans Bold"/>
                <a:cs typeface="Noto Sans Bold"/>
                <a:sym typeface="Noto Sans Bold"/>
              </a:rPr>
              <a:t> </a:t>
            </a:r>
          </a:p>
          <a:p>
            <a:pPr algn="l" marL="1172112" indent="-586056" lvl="1">
              <a:lnSpc>
                <a:spcPts val="6514"/>
              </a:lnSpc>
              <a:buFont typeface="Arial"/>
              <a:buChar char="•"/>
            </a:pPr>
            <a:r>
              <a:rPr lang="en-US" sz="5428">
                <a:solidFill>
                  <a:srgbClr val="FFFFFF"/>
                </a:solidFill>
                <a:latin typeface="Noto Sans"/>
                <a:ea typeface="Noto Sans"/>
                <a:cs typeface="Noto Sans"/>
                <a:sym typeface="Noto Sans"/>
              </a:rPr>
              <a:t>Hệ thống hiện có làm được đến đâu </a:t>
            </a:r>
          </a:p>
          <a:p>
            <a:pPr algn="l" marL="1172112" indent="-586056" lvl="1">
              <a:lnSpc>
                <a:spcPts val="6514"/>
              </a:lnSpc>
              <a:buFont typeface="Arial"/>
              <a:buChar char="•"/>
            </a:pPr>
            <a:r>
              <a:rPr lang="en-US" sz="5428">
                <a:solidFill>
                  <a:srgbClr val="FFFFFF"/>
                </a:solidFill>
                <a:latin typeface="Noto Sans"/>
                <a:ea typeface="Noto Sans"/>
                <a:cs typeface="Noto Sans"/>
                <a:sym typeface="Noto Sans"/>
              </a:rPr>
              <a:t>Baseline của nhóm điểm mạnh và yếu</a:t>
            </a:r>
          </a:p>
          <a:p>
            <a:pPr algn="l" marL="1172112" indent="-586056" lvl="1">
              <a:lnSpc>
                <a:spcPts val="6514"/>
              </a:lnSpc>
              <a:buFont typeface="Arial"/>
              <a:buChar char="•"/>
            </a:pPr>
            <a:r>
              <a:rPr lang="en-US" sz="5428">
                <a:solidFill>
                  <a:srgbClr val="FFFFFF"/>
                </a:solidFill>
                <a:latin typeface="Noto Sans"/>
                <a:ea typeface="Noto Sans"/>
                <a:cs typeface="Noto Sans"/>
                <a:sym typeface="Noto Sans"/>
              </a:rPr>
              <a:t>Cải tiến bằng phương pháp nào, với bằng chứng gì.</a:t>
            </a:r>
          </a:p>
          <a:p>
            <a:pPr algn="l">
              <a:lnSpc>
                <a:spcPts val="5885"/>
              </a:lnSpc>
            </a:pPr>
          </a:p>
        </p:txBody>
      </p:sp>
      <p:sp>
        <p:nvSpPr>
          <p:cNvPr name="TextBox 16" id="16"/>
          <p:cNvSpPr txBox="true"/>
          <p:nvPr/>
        </p:nvSpPr>
        <p:spPr>
          <a:xfrm rot="0">
            <a:off x="638874" y="1375525"/>
            <a:ext cx="2712601" cy="695325"/>
          </a:xfrm>
          <a:prstGeom prst="rect">
            <a:avLst/>
          </a:prstGeom>
        </p:spPr>
        <p:txBody>
          <a:bodyPr anchor="t" rtlCol="false" tIns="0" lIns="0" bIns="0" rIns="0">
            <a:spAutoFit/>
          </a:bodyPr>
          <a:lstStyle/>
          <a:p>
            <a:pPr algn="ctr">
              <a:lnSpc>
                <a:spcPts val="5519"/>
              </a:lnSpc>
              <a:spcBef>
                <a:spcPct val="0"/>
              </a:spcBef>
            </a:pPr>
            <a:r>
              <a:rPr lang="en-US" b="true" sz="4599">
                <a:solidFill>
                  <a:srgbClr val="FFFFFF"/>
                </a:solidFill>
                <a:latin typeface="Noto Sans Bold"/>
                <a:ea typeface="Noto Sans Bold"/>
                <a:cs typeface="Noto Sans Bold"/>
                <a:sym typeface="Noto Sans Bold"/>
              </a:rPr>
              <a:t> Review 2</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7325" r="0" b="-557325"/>
              </a:stretch>
            </a:blipFill>
          </p:spPr>
          <p:txBody>
            <a:bodyPr/>
            <a:p/>
          </p:txBody>
        </p:sp>
        <p:sp>
          <p:nvSpPr>
            <p:cNvPr name="TextBox 6" id="6"/>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
        <p:nvSpPr>
          <p:cNvPr name="TextBox 7" id="7"/>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TÓM TẮT</a:t>
            </a:r>
          </a:p>
        </p:txBody>
      </p:sp>
      <p:sp>
        <p:nvSpPr>
          <p:cNvPr name="TextBox 8" id="8"/>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Bốn kết quả chính của mốc này</a:t>
            </a:r>
          </a:p>
        </p:txBody>
      </p:sp>
      <p:sp>
        <p:nvSpPr>
          <p:cNvPr name="Freeform 9" id="9"/>
          <p:cNvSpPr/>
          <p:nvPr/>
        </p:nvSpPr>
        <p:spPr>
          <a:xfrm flipH="false" flipV="false" rot="0">
            <a:off x="806291" y="2383631"/>
            <a:ext cx="3833717" cy="4010978"/>
          </a:xfrm>
          <a:custGeom>
            <a:avLst/>
            <a:gdLst/>
            <a:ahLst/>
            <a:cxnLst/>
            <a:rect r="r" b="b" t="t" l="l"/>
            <a:pathLst>
              <a:path h="4010978" w="3833717">
                <a:moveTo>
                  <a:pt x="0" y="0"/>
                </a:moveTo>
                <a:lnTo>
                  <a:pt x="3833717" y="0"/>
                </a:lnTo>
                <a:lnTo>
                  <a:pt x="3833717" y="4010978"/>
                </a:lnTo>
                <a:lnTo>
                  <a:pt x="0" y="401097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10" id="10"/>
          <p:cNvSpPr txBox="true"/>
          <p:nvPr/>
        </p:nvSpPr>
        <p:spPr>
          <a:xfrm rot="0">
            <a:off x="1234440" y="2998470"/>
            <a:ext cx="2977401" cy="1253490"/>
          </a:xfrm>
          <a:prstGeom prst="rect">
            <a:avLst/>
          </a:prstGeom>
        </p:spPr>
        <p:txBody>
          <a:bodyPr anchor="t" rtlCol="false" tIns="0" lIns="0" bIns="0" rIns="0">
            <a:spAutoFit/>
          </a:bodyPr>
          <a:lstStyle/>
          <a:p>
            <a:pPr algn="l">
              <a:lnSpc>
                <a:spcPts val="6480"/>
              </a:lnSpc>
            </a:pPr>
            <a:r>
              <a:rPr lang="en-US" sz="5400" b="true">
                <a:solidFill>
                  <a:srgbClr val="1C7293"/>
                </a:solidFill>
                <a:latin typeface="Cambria Bold"/>
                <a:ea typeface="Cambria Bold"/>
                <a:cs typeface="Cambria Bold"/>
                <a:sym typeface="Cambria Bold"/>
              </a:rPr>
              <a:t>79,6</a:t>
            </a:r>
          </a:p>
        </p:txBody>
      </p:sp>
      <p:sp>
        <p:nvSpPr>
          <p:cNvPr name="TextBox 11" id="11"/>
          <p:cNvSpPr txBox="true"/>
          <p:nvPr/>
        </p:nvSpPr>
        <p:spPr>
          <a:xfrm rot="0">
            <a:off x="1234440" y="4225290"/>
            <a:ext cx="2977401" cy="132969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Kiểm chứng pipeline — TextVQA val, Qwen2.5-VL-3B; báo cáo chính thức ghi 79,3</a:t>
            </a:r>
          </a:p>
        </p:txBody>
      </p:sp>
      <p:sp>
        <p:nvSpPr>
          <p:cNvPr name="Freeform 12" id="12"/>
          <p:cNvSpPr/>
          <p:nvPr/>
        </p:nvSpPr>
        <p:spPr>
          <a:xfrm flipH="false" flipV="false" rot="0">
            <a:off x="5086712" y="2383631"/>
            <a:ext cx="3833717" cy="4010978"/>
          </a:xfrm>
          <a:custGeom>
            <a:avLst/>
            <a:gdLst/>
            <a:ahLst/>
            <a:cxnLst/>
            <a:rect r="r" b="b" t="t" l="l"/>
            <a:pathLst>
              <a:path h="4010978" w="3833717">
                <a:moveTo>
                  <a:pt x="0" y="0"/>
                </a:moveTo>
                <a:lnTo>
                  <a:pt x="3833717" y="0"/>
                </a:lnTo>
                <a:lnTo>
                  <a:pt x="3833717" y="4010978"/>
                </a:lnTo>
                <a:lnTo>
                  <a:pt x="0" y="401097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13" id="13"/>
          <p:cNvSpPr txBox="true"/>
          <p:nvPr/>
        </p:nvSpPr>
        <p:spPr>
          <a:xfrm rot="0">
            <a:off x="5514861" y="2998470"/>
            <a:ext cx="2977401" cy="1253490"/>
          </a:xfrm>
          <a:prstGeom prst="rect">
            <a:avLst/>
          </a:prstGeom>
        </p:spPr>
        <p:txBody>
          <a:bodyPr anchor="t" rtlCol="false" tIns="0" lIns="0" bIns="0" rIns="0">
            <a:spAutoFit/>
          </a:bodyPr>
          <a:lstStyle/>
          <a:p>
            <a:pPr algn="l">
              <a:lnSpc>
                <a:spcPts val="6480"/>
              </a:lnSpc>
            </a:pPr>
            <a:r>
              <a:rPr lang="en-US" sz="5400" b="true">
                <a:solidFill>
                  <a:srgbClr val="13294B"/>
                </a:solidFill>
                <a:latin typeface="Cambria Bold"/>
                <a:ea typeface="Cambria Bold"/>
                <a:cs typeface="Cambria Bold"/>
                <a:sym typeface="Cambria Bold"/>
              </a:rPr>
              <a:t>+21,1</a:t>
            </a:r>
          </a:p>
        </p:txBody>
      </p:sp>
      <p:sp>
        <p:nvSpPr>
          <p:cNvPr name="TextBox 14" id="14"/>
          <p:cNvSpPr txBox="true"/>
          <p:nvPr/>
        </p:nvSpPr>
        <p:spPr>
          <a:xfrm rot="0">
            <a:off x="5514861" y="4225290"/>
            <a:ext cx="2977401" cy="132969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EM nhờ QLoRA so với zero-shot, full test ViTextVQA (+51,7 ở ViVQA); p ≈ 0</a:t>
            </a:r>
          </a:p>
        </p:txBody>
      </p:sp>
      <p:sp>
        <p:nvSpPr>
          <p:cNvPr name="Freeform 15" id="15"/>
          <p:cNvSpPr/>
          <p:nvPr/>
        </p:nvSpPr>
        <p:spPr>
          <a:xfrm flipH="false" flipV="false" rot="0">
            <a:off x="9367133" y="2383631"/>
            <a:ext cx="3833717" cy="4010978"/>
          </a:xfrm>
          <a:custGeom>
            <a:avLst/>
            <a:gdLst/>
            <a:ahLst/>
            <a:cxnLst/>
            <a:rect r="r" b="b" t="t" l="l"/>
            <a:pathLst>
              <a:path h="4010978" w="3833717">
                <a:moveTo>
                  <a:pt x="0" y="0"/>
                </a:moveTo>
                <a:lnTo>
                  <a:pt x="3833717" y="0"/>
                </a:lnTo>
                <a:lnTo>
                  <a:pt x="3833717" y="4010978"/>
                </a:lnTo>
                <a:lnTo>
                  <a:pt x="0" y="401097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16" id="16"/>
          <p:cNvSpPr txBox="true"/>
          <p:nvPr/>
        </p:nvSpPr>
        <p:spPr>
          <a:xfrm rot="0">
            <a:off x="9795281" y="2998470"/>
            <a:ext cx="2977401" cy="1253490"/>
          </a:xfrm>
          <a:prstGeom prst="rect">
            <a:avLst/>
          </a:prstGeom>
        </p:spPr>
        <p:txBody>
          <a:bodyPr anchor="t" rtlCol="false" tIns="0" lIns="0" bIns="0" rIns="0">
            <a:spAutoFit/>
          </a:bodyPr>
          <a:lstStyle/>
          <a:p>
            <a:pPr algn="l">
              <a:lnSpc>
                <a:spcPts val="6480"/>
              </a:lnSpc>
            </a:pPr>
            <a:r>
              <a:rPr lang="en-US" sz="5400" b="true">
                <a:solidFill>
                  <a:srgbClr val="13294B"/>
                </a:solidFill>
                <a:latin typeface="Cambria Bold"/>
                <a:ea typeface="Cambria Bold"/>
                <a:cs typeface="Cambria Bold"/>
                <a:sym typeface="Cambria Bold"/>
              </a:rPr>
              <a:t>53,4</a:t>
            </a:r>
          </a:p>
        </p:txBody>
      </p:sp>
      <p:sp>
        <p:nvSpPr>
          <p:cNvPr name="TextBox 17" id="17"/>
          <p:cNvSpPr txBox="true"/>
          <p:nvPr/>
        </p:nvSpPr>
        <p:spPr>
          <a:xfrm rot="0">
            <a:off x="9795281" y="4225290"/>
            <a:ext cx="2977401" cy="132969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EM của phương pháp đề xuất (B3-full), full test ViTextVQA, so với 25,5 của SOTA công bố</a:t>
            </a:r>
          </a:p>
        </p:txBody>
      </p:sp>
      <p:sp>
        <p:nvSpPr>
          <p:cNvPr name="Freeform 18" id="18"/>
          <p:cNvSpPr/>
          <p:nvPr/>
        </p:nvSpPr>
        <p:spPr>
          <a:xfrm flipH="false" flipV="false" rot="0">
            <a:off x="13647553" y="2383631"/>
            <a:ext cx="3833717" cy="4010978"/>
          </a:xfrm>
          <a:custGeom>
            <a:avLst/>
            <a:gdLst/>
            <a:ahLst/>
            <a:cxnLst/>
            <a:rect r="r" b="b" t="t" l="l"/>
            <a:pathLst>
              <a:path h="4010978" w="3833717">
                <a:moveTo>
                  <a:pt x="0" y="0"/>
                </a:moveTo>
                <a:lnTo>
                  <a:pt x="3833718" y="0"/>
                </a:lnTo>
                <a:lnTo>
                  <a:pt x="3833718" y="4010978"/>
                </a:lnTo>
                <a:lnTo>
                  <a:pt x="0" y="401097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TextBox 19" id="19"/>
          <p:cNvSpPr txBox="true"/>
          <p:nvPr/>
        </p:nvSpPr>
        <p:spPr>
          <a:xfrm rot="0">
            <a:off x="14075702" y="2998470"/>
            <a:ext cx="2977401" cy="1253490"/>
          </a:xfrm>
          <a:prstGeom prst="rect">
            <a:avLst/>
          </a:prstGeom>
        </p:spPr>
        <p:txBody>
          <a:bodyPr anchor="t" rtlCol="false" tIns="0" lIns="0" bIns="0" rIns="0">
            <a:spAutoFit/>
          </a:bodyPr>
          <a:lstStyle/>
          <a:p>
            <a:pPr algn="l">
              <a:lnSpc>
                <a:spcPts val="6480"/>
              </a:lnSpc>
            </a:pPr>
            <a:r>
              <a:rPr lang="en-US" sz="5400" b="true">
                <a:solidFill>
                  <a:srgbClr val="E8A33D"/>
                </a:solidFill>
                <a:latin typeface="Cambria Bold"/>
                <a:ea typeface="Cambria Bold"/>
                <a:cs typeface="Cambria Bold"/>
                <a:sym typeface="Cambria Bold"/>
              </a:rPr>
              <a:t>+3,1</a:t>
            </a:r>
          </a:p>
        </p:txBody>
      </p:sp>
      <p:sp>
        <p:nvSpPr>
          <p:cNvPr name="TextBox 20" id="20"/>
          <p:cNvSpPr txBox="true"/>
          <p:nvPr/>
        </p:nvSpPr>
        <p:spPr>
          <a:xfrm rot="0">
            <a:off x="14075702" y="4225290"/>
            <a:ext cx="2977401" cy="132969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EM nhờ OCR: cùng QLoRA, cùng toàn bộ dữ liệu (full test, p = 7 × 10⁻²¹)</a:t>
            </a:r>
          </a:p>
        </p:txBody>
      </p:sp>
      <p:sp>
        <p:nvSpPr>
          <p:cNvPr name="Freeform 21" id="21"/>
          <p:cNvSpPr/>
          <p:nvPr/>
        </p:nvSpPr>
        <p:spPr>
          <a:xfrm flipH="false" flipV="false" rot="0">
            <a:off x="806291" y="6841331"/>
            <a:ext cx="16674941" cy="1473517"/>
          </a:xfrm>
          <a:custGeom>
            <a:avLst/>
            <a:gdLst/>
            <a:ahLst/>
            <a:cxnLst/>
            <a:rect r="r" b="b" t="t" l="l"/>
            <a:pathLst>
              <a:path h="1473517" w="16674941">
                <a:moveTo>
                  <a:pt x="0" y="0"/>
                </a:moveTo>
                <a:lnTo>
                  <a:pt x="16674941" y="0"/>
                </a:lnTo>
                <a:lnTo>
                  <a:pt x="16674941" y="1473518"/>
                </a:lnTo>
                <a:lnTo>
                  <a:pt x="0" y="147351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grpSp>
        <p:nvGrpSpPr>
          <p:cNvPr name="Group 22" id="22"/>
          <p:cNvGrpSpPr/>
          <p:nvPr/>
        </p:nvGrpSpPr>
        <p:grpSpPr>
          <a:xfrm rot="0">
            <a:off x="1303020" y="6858000"/>
            <a:ext cx="15681503" cy="1440180"/>
            <a:chOff x="0" y="0"/>
            <a:chExt cx="20908670" cy="1920240"/>
          </a:xfrm>
        </p:grpSpPr>
        <p:sp>
          <p:nvSpPr>
            <p:cNvPr name="Freeform 23" id="23"/>
            <p:cNvSpPr/>
            <p:nvPr/>
          </p:nvSpPr>
          <p:spPr>
            <a:xfrm flipH="false" flipV="false" rot="0">
              <a:off x="0" y="0"/>
              <a:ext cx="20908645" cy="1920240"/>
            </a:xfrm>
            <a:custGeom>
              <a:avLst/>
              <a:gdLst/>
              <a:ahLst/>
              <a:cxnLst/>
              <a:rect r="r" b="b" t="t" l="l"/>
              <a:pathLst>
                <a:path h="1920240" w="20908645">
                  <a:moveTo>
                    <a:pt x="0" y="0"/>
                  </a:moveTo>
                  <a:lnTo>
                    <a:pt x="20908645" y="0"/>
                  </a:lnTo>
                  <a:lnTo>
                    <a:pt x="20908645" y="1920240"/>
                  </a:lnTo>
                  <a:lnTo>
                    <a:pt x="0" y="1920240"/>
                  </a:lnTo>
                  <a:close/>
                </a:path>
              </a:pathLst>
            </a:custGeom>
            <a:blipFill>
              <a:blip r:embed="rId2">
                <a:alphaModFix amt="0"/>
              </a:blip>
              <a:stretch>
                <a:fillRect l="0" t="-162016" r="0" b="-162016"/>
              </a:stretch>
            </a:blipFill>
          </p:spPr>
          <p:txBody>
            <a:bodyPr/>
            <a:p/>
          </p:txBody>
        </p:sp>
      </p:grpSp>
      <p:grpSp>
        <p:nvGrpSpPr>
          <p:cNvPr name="Group 24" id="24"/>
          <p:cNvGrpSpPr/>
          <p:nvPr/>
        </p:nvGrpSpPr>
        <p:grpSpPr>
          <a:xfrm rot="0">
            <a:off x="1303020" y="6829425"/>
            <a:ext cx="15681503" cy="1468755"/>
            <a:chOff x="0" y="0"/>
            <a:chExt cx="20908670" cy="1958340"/>
          </a:xfrm>
        </p:grpSpPr>
        <p:sp>
          <p:nvSpPr>
            <p:cNvPr name="Freeform 25" id="25"/>
            <p:cNvSpPr/>
            <p:nvPr/>
          </p:nvSpPr>
          <p:spPr>
            <a:xfrm flipH="false" flipV="false" rot="0">
              <a:off x="0" y="0"/>
              <a:ext cx="20908671" cy="1958340"/>
            </a:xfrm>
            <a:custGeom>
              <a:avLst/>
              <a:gdLst/>
              <a:ahLst/>
              <a:cxnLst/>
              <a:rect r="r" b="b" t="t" l="l"/>
              <a:pathLst>
                <a:path h="1958340" w="20908671">
                  <a:moveTo>
                    <a:pt x="0" y="0"/>
                  </a:moveTo>
                  <a:lnTo>
                    <a:pt x="20908671" y="0"/>
                  </a:lnTo>
                  <a:lnTo>
                    <a:pt x="20908671" y="1958340"/>
                  </a:lnTo>
                  <a:lnTo>
                    <a:pt x="0" y="1958340"/>
                  </a:lnTo>
                  <a:close/>
                </a:path>
              </a:pathLst>
            </a:custGeom>
            <a:blipFill>
              <a:blip r:embed="rId3">
                <a:alphaModFix amt="0"/>
              </a:blip>
              <a:stretch>
                <a:fillRect l="0" t="-158036" r="0" b="-158036"/>
              </a:stretch>
            </a:blipFill>
          </p:spPr>
          <p:txBody>
            <a:bodyPr/>
            <a:p/>
          </p:txBody>
        </p:sp>
        <p:sp>
          <p:nvSpPr>
            <p:cNvPr name="TextBox 26" id="26"/>
            <p:cNvSpPr txBox="true"/>
            <p:nvPr/>
          </p:nvSpPr>
          <p:spPr>
            <a:xfrm>
              <a:off x="0" y="-38100"/>
              <a:ext cx="20908670" cy="1996440"/>
            </a:xfrm>
            <a:prstGeom prst="rect">
              <a:avLst/>
            </a:prstGeom>
          </p:spPr>
          <p:txBody>
            <a:bodyPr anchor="ctr" rtlCol="false" tIns="0" lIns="0" bIns="0" rIns="0"/>
            <a:lstStyle/>
            <a:p>
              <a:pPr algn="l">
                <a:lnSpc>
                  <a:spcPts val="2879"/>
                </a:lnSpc>
              </a:pPr>
              <a:r>
                <a:rPr lang="en-US" sz="2400">
                  <a:solidFill>
                    <a:srgbClr val="13294B"/>
                  </a:solidFill>
                  <a:latin typeface="Calibri (MS)"/>
                  <a:ea typeface="Calibri (MS)"/>
                  <a:cs typeface="Calibri (MS)"/>
                  <a:sym typeface="Calibri (MS)"/>
                </a:rPr>
                <a:t>Hiệu quả theo thiết kế: chỉ train 7,37 triệu tham số (0,196%), adapter 29,5 MB, một GPU L4 — không full fine-tuning. Một adapter dùng chung cho cả hai dataset không kém adapter riêng (phụ lục, slide 41).</a:t>
              </a:r>
            </a:p>
          </p:txBody>
        </p:sp>
      </p:grpSp>
      <p:grpSp>
        <p:nvGrpSpPr>
          <p:cNvPr name="Group 27" id="27"/>
          <p:cNvGrpSpPr/>
          <p:nvPr/>
        </p:nvGrpSpPr>
        <p:grpSpPr>
          <a:xfrm rot="0">
            <a:off x="15458732" y="0"/>
            <a:ext cx="2829268" cy="1184338"/>
            <a:chOff x="0" y="0"/>
            <a:chExt cx="3772357" cy="1579118"/>
          </a:xfrm>
        </p:grpSpPr>
        <p:sp>
          <p:nvSpPr>
            <p:cNvPr name="Freeform 28" id="28"/>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0"/>
              <a:stretch>
                <a:fillRect l="0" t="0" r="1" b="0"/>
              </a:stretch>
            </a:blipFill>
          </p:spPr>
          <p:txBody>
            <a:bodyP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EXISTING SYSTEM · 01 · CÔNG TRÌNH TRƯỚC &amp; SOTA</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Công trình trước và baseline tham chiếu</a:t>
            </a:r>
          </a:p>
        </p:txBody>
      </p:sp>
      <p:graphicFrame>
        <p:nvGraphicFramePr>
          <p:cNvPr name="Table 6" id="6"/>
          <p:cNvGraphicFramePr>
            <a:graphicFrameLocks noGrp="true"/>
          </p:cNvGraphicFramePr>
          <p:nvPr/>
        </p:nvGraphicFramePr>
        <p:xfrm>
          <a:off x="822960" y="1988820"/>
          <a:ext cx="16573500" cy="3429000"/>
        </p:xfrm>
        <a:graphic>
          <a:graphicData uri="http://schemas.openxmlformats.org/drawingml/2006/table">
            <a:tbl>
              <a:tblPr/>
              <a:tblGrid>
                <a:gridCol w="4896029"/>
                <a:gridCol w="6956873"/>
                <a:gridCol w="2202113"/>
                <a:gridCol w="1259243"/>
                <a:gridCol w="1259243"/>
              </a:tblGrid>
              <a:tr h="5715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ViTextVQA test · công trình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Hướng tiếp cận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Tham số train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F1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EM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571500">
                <a:tc>
                  <a:txBody>
                    <a:bodyPr anchor="t" rtlCol="false"/>
                    <a:lstStyle/>
                    <a:p>
                      <a:pPr algn="l">
                        <a:lnSpc>
                          <a:spcPts val="2160"/>
                        </a:lnSpc>
                        <a:defRPr/>
                      </a:pPr>
                      <a:r>
                        <a:rPr lang="en-US" sz="1800">
                          <a:solidFill>
                            <a:srgbClr val="243044"/>
                          </a:solidFill>
                          <a:latin typeface="Calibri (MS)"/>
                          <a:ea typeface="Calibri (MS)"/>
                          <a:cs typeface="Calibri (MS)"/>
                          <a:sym typeface="Calibri (MS)"/>
                        </a:rPr>
                        <a:t>BLIP-2 large (Li và cs., ICML 2023)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Encoder ảnh + LM đóng băng, train Q-Former; OCR SwinTextSpotter, LM ViT5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 8% / 1,4B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38,47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15,58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71500">
                <a:tc>
                  <a:txBody>
                    <a:bodyPr anchor="t" rtlCol="false"/>
                    <a:lstStyle/>
                    <a:p>
                      <a:pPr algn="l">
                        <a:lnSpc>
                          <a:spcPts val="2160"/>
                        </a:lnSpc>
                        <a:defRPr/>
                      </a:pPr>
                      <a:r>
                        <a:rPr lang="en-US" sz="1800">
                          <a:solidFill>
                            <a:srgbClr val="243044"/>
                          </a:solidFill>
                          <a:latin typeface="Calibri (MS)"/>
                          <a:ea typeface="Calibri (MS)"/>
                          <a:cs typeface="Calibri (MS)"/>
                          <a:sym typeface="Calibri (MS)"/>
                        </a:rPr>
                        <a:t>PreSTU large (Kil và cs., ICCV 2023)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T5 pretrain cho scene-text, OCR theo bố cục</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 100% / 860M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44,93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22,64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71500">
                <a:tc>
                  <a:txBody>
                    <a:bodyPr anchor="t" rtlCol="false"/>
                    <a:lstStyle/>
                    <a:p>
                      <a:pPr algn="l">
                        <a:lnSpc>
                          <a:spcPts val="2160"/>
                        </a:lnSpc>
                        <a:defRPr/>
                      </a:pPr>
                      <a:r>
                        <a:rPr lang="en-US" sz="1800">
                          <a:solidFill>
                            <a:srgbClr val="243044"/>
                          </a:solidFill>
                          <a:latin typeface="Calibri (MS)"/>
                          <a:ea typeface="Calibri (MS)"/>
                          <a:cs typeface="Calibri (MS)"/>
                          <a:sym typeface="Calibri (MS)"/>
                        </a:rPr>
                        <a:t>ViTextBLIP-2 (Nguyen và cs., 2024) — SOTA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BLIP-2 + OCR + caption, chỉ train Q-Former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 5% / 2,5B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b="true">
                          <a:solidFill>
                            <a:srgbClr val="243044"/>
                          </a:solidFill>
                          <a:latin typeface="Calibri (MS) Bold"/>
                          <a:ea typeface="Calibri (MS) Bold"/>
                          <a:cs typeface="Calibri (MS) Bold"/>
                          <a:sym typeface="Calibri (MS) Bold"/>
                        </a:rPr>
                        <a:t>53,95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b="true">
                          <a:solidFill>
                            <a:srgbClr val="243044"/>
                          </a:solidFill>
                          <a:latin typeface="Calibri (MS) Bold"/>
                          <a:ea typeface="Calibri (MS) Bold"/>
                          <a:cs typeface="Calibri (MS) Bold"/>
                          <a:sym typeface="Calibri (MS) Bold"/>
                        </a:rPr>
                        <a:t>25,48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71500">
                <a:tc>
                  <a:txBody>
                    <a:bodyPr anchor="t" rtlCol="false"/>
                    <a:lstStyle/>
                    <a:p>
                      <a:pPr algn="l">
                        <a:lnSpc>
                          <a:spcPts val="2160"/>
                        </a:lnSpc>
                        <a:defRPr/>
                      </a:pPr>
                      <a:r>
                        <a:rPr lang="en-US" sz="1800">
                          <a:solidFill>
                            <a:srgbClr val="243044"/>
                          </a:solidFill>
                          <a:latin typeface="Calibri (MS)"/>
                          <a:ea typeface="Calibri (MS)"/>
                          <a:cs typeface="Calibri (MS)"/>
                          <a:sym typeface="Calibri (MS)"/>
                        </a:rPr>
                        <a:t>QwenVL-7B zero-shot (cùng paper)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VLM đa ngôn ngữ, không train; 100 câu ngẫu nhiên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53,80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28,00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71500">
                <a:tc>
                  <a:txBody>
                    <a:bodyPr anchor="t" rtlCol="false"/>
                    <a:lstStyle/>
                    <a:p>
                      <a:pPr algn="l">
                        <a:lnSpc>
                          <a:spcPts val="2160"/>
                        </a:lnSpc>
                        <a:defRPr/>
                      </a:pPr>
                      <a:r>
                        <a:rPr lang="en-US" sz="1800">
                          <a:solidFill>
                            <a:srgbClr val="243044"/>
                          </a:solidFill>
                          <a:latin typeface="Calibri (MS)"/>
                          <a:ea typeface="Calibri (MS)"/>
                          <a:cs typeface="Calibri (MS)"/>
                          <a:sym typeface="Calibri (MS)"/>
                        </a:rPr>
                        <a:t>Con người (cùng paper)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96,42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88,00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graphicFrame>
        <p:nvGraphicFramePr>
          <p:cNvPr name="Table 7" id="7"/>
          <p:cNvGraphicFramePr>
            <a:graphicFrameLocks noGrp="true"/>
          </p:cNvGraphicFramePr>
          <p:nvPr/>
        </p:nvGraphicFramePr>
        <p:xfrm>
          <a:off x="822960" y="5829300"/>
          <a:ext cx="16611600" cy="1714500"/>
        </p:xfrm>
        <a:graphic>
          <a:graphicData uri="http://schemas.openxmlformats.org/drawingml/2006/table">
            <a:tbl>
              <a:tblPr/>
              <a:tblGrid>
                <a:gridCol w="6293030"/>
                <a:gridCol w="6836142"/>
                <a:gridCol w="3482429"/>
              </a:tblGrid>
              <a:tr h="5715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ViVQA test · công trình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Hướng tiếp cận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Kết quả</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571500">
                <a:tc>
                  <a:txBody>
                    <a:bodyPr anchor="t" rtlCol="false"/>
                    <a:lstStyle/>
                    <a:p>
                      <a:pPr algn="l">
                        <a:lnSpc>
                          <a:spcPts val="2160"/>
                        </a:lnSpc>
                        <a:defRPr/>
                      </a:pPr>
                      <a:r>
                        <a:rPr lang="en-US" sz="1800">
                          <a:solidFill>
                            <a:srgbClr val="243044"/>
                          </a:solidFill>
                          <a:latin typeface="Calibri (MS)"/>
                          <a:ea typeface="Calibri (MS)"/>
                          <a:cs typeface="Calibri (MS)"/>
                          <a:sym typeface="Calibri (MS)"/>
                        </a:rPr>
                        <a:t>AViVQA-TranConI (Nguyen và cs., Comput. Electr. Eng. 2024)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BLIP-2 đóng băng + EfficientNet, chọn đáp án từ tập nhãn cố định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Accuracy 71,04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71500">
                <a:tc>
                  <a:txBody>
                    <a:bodyPr anchor="t" rtlCol="false"/>
                    <a:lstStyle/>
                    <a:p>
                      <a:pPr algn="l">
                        <a:lnSpc>
                          <a:spcPts val="2160"/>
                        </a:lnSpc>
                        <a:defRPr/>
                      </a:pPr>
                      <a:r>
                        <a:rPr lang="en-US" sz="1800">
                          <a:solidFill>
                            <a:srgbClr val="243044"/>
                          </a:solidFill>
                          <a:latin typeface="Calibri (MS)"/>
                          <a:ea typeface="Calibri (MS)"/>
                          <a:cs typeface="Calibri (MS)"/>
                          <a:sym typeface="Calibri (MS)"/>
                        </a:rPr>
                        <a:t>Multi-Vision Contextual Attention cải tiến (Bui và cs., 2025)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Attention trên nhiều đặc trưng thị giác</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Accuracy 62,41 (gốc 60)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8" id="8"/>
          <p:cNvSpPr/>
          <p:nvPr/>
        </p:nvSpPr>
        <p:spPr>
          <a:xfrm flipH="false" flipV="false" rot="0">
            <a:off x="806291" y="7732871"/>
            <a:ext cx="16674941" cy="1679258"/>
          </a:xfrm>
          <a:custGeom>
            <a:avLst/>
            <a:gdLst/>
            <a:ahLst/>
            <a:cxnLst/>
            <a:rect r="r" b="b" t="t" l="l"/>
            <a:pathLst>
              <a:path h="1679258" w="16674941">
                <a:moveTo>
                  <a:pt x="0" y="0"/>
                </a:moveTo>
                <a:lnTo>
                  <a:pt x="16674941" y="0"/>
                </a:lnTo>
                <a:lnTo>
                  <a:pt x="16674941" y="1679258"/>
                </a:lnTo>
                <a:lnTo>
                  <a:pt x="0" y="167925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grpSp>
        <p:nvGrpSpPr>
          <p:cNvPr name="Group 9" id="9"/>
          <p:cNvGrpSpPr/>
          <p:nvPr/>
        </p:nvGrpSpPr>
        <p:grpSpPr>
          <a:xfrm rot="0">
            <a:off x="1234440" y="7749540"/>
            <a:ext cx="15818663" cy="1645920"/>
            <a:chOff x="0" y="0"/>
            <a:chExt cx="21091550" cy="2194560"/>
          </a:xfrm>
        </p:grpSpPr>
        <p:sp>
          <p:nvSpPr>
            <p:cNvPr name="Freeform 10" id="10"/>
            <p:cNvSpPr/>
            <p:nvPr/>
          </p:nvSpPr>
          <p:spPr>
            <a:xfrm flipH="false" flipV="false" rot="0">
              <a:off x="0" y="0"/>
              <a:ext cx="21091525" cy="2194560"/>
            </a:xfrm>
            <a:custGeom>
              <a:avLst/>
              <a:gdLst/>
              <a:ahLst/>
              <a:cxnLst/>
              <a:rect r="r" b="b" t="t" l="l"/>
              <a:pathLst>
                <a:path h="2194560" w="21091525">
                  <a:moveTo>
                    <a:pt x="0" y="0"/>
                  </a:moveTo>
                  <a:lnTo>
                    <a:pt x="21091525" y="0"/>
                  </a:lnTo>
                  <a:lnTo>
                    <a:pt x="21091525" y="2194560"/>
                  </a:lnTo>
                  <a:lnTo>
                    <a:pt x="0" y="2194560"/>
                  </a:lnTo>
                  <a:close/>
                </a:path>
              </a:pathLst>
            </a:custGeom>
            <a:blipFill>
              <a:blip r:embed="rId2">
                <a:alphaModFix amt="0"/>
              </a:blip>
              <a:stretch>
                <a:fillRect l="0" t="-137137" r="0" b="-137137"/>
              </a:stretch>
            </a:blipFill>
          </p:spPr>
          <p:txBody>
            <a:bodyPr/>
            <a:p/>
          </p:txBody>
        </p:sp>
      </p:grpSp>
      <p:grpSp>
        <p:nvGrpSpPr>
          <p:cNvPr name="Group 11" id="11"/>
          <p:cNvGrpSpPr/>
          <p:nvPr/>
        </p:nvGrpSpPr>
        <p:grpSpPr>
          <a:xfrm rot="0">
            <a:off x="1234440" y="7713821"/>
            <a:ext cx="15818663" cy="1681639"/>
            <a:chOff x="0" y="0"/>
            <a:chExt cx="21091550" cy="2242185"/>
          </a:xfrm>
        </p:grpSpPr>
        <p:sp>
          <p:nvSpPr>
            <p:cNvPr name="Freeform 12" id="12"/>
            <p:cNvSpPr/>
            <p:nvPr/>
          </p:nvSpPr>
          <p:spPr>
            <a:xfrm flipH="false" flipV="false" rot="0">
              <a:off x="0" y="0"/>
              <a:ext cx="21091551" cy="2242185"/>
            </a:xfrm>
            <a:custGeom>
              <a:avLst/>
              <a:gdLst/>
              <a:ahLst/>
              <a:cxnLst/>
              <a:rect r="r" b="b" t="t" l="l"/>
              <a:pathLst>
                <a:path h="2242185" w="21091551">
                  <a:moveTo>
                    <a:pt x="0" y="0"/>
                  </a:moveTo>
                  <a:lnTo>
                    <a:pt x="21091551" y="0"/>
                  </a:lnTo>
                  <a:lnTo>
                    <a:pt x="21091551" y="2242185"/>
                  </a:lnTo>
                  <a:lnTo>
                    <a:pt x="0" y="2242185"/>
                  </a:lnTo>
                  <a:close/>
                </a:path>
              </a:pathLst>
            </a:custGeom>
            <a:blipFill>
              <a:blip r:embed="rId5">
                <a:alphaModFix amt="0"/>
              </a:blip>
              <a:stretch>
                <a:fillRect l="0" t="-133289" r="0" b="-133289"/>
              </a:stretch>
            </a:blipFill>
          </p:spPr>
          <p:txBody>
            <a:bodyPr/>
            <a:p/>
          </p:txBody>
        </p:sp>
        <p:sp>
          <p:nvSpPr>
            <p:cNvPr name="TextBox 13" id="13"/>
            <p:cNvSpPr txBox="true"/>
            <p:nvPr/>
          </p:nvSpPr>
          <p:spPr>
            <a:xfrm>
              <a:off x="0" y="-47625"/>
              <a:ext cx="21091550" cy="2289810"/>
            </a:xfrm>
            <a:prstGeom prst="rect">
              <a:avLst/>
            </a:prstGeom>
          </p:spPr>
          <p:txBody>
            <a:bodyPr anchor="ctr" rtlCol="false" tIns="0" lIns="0" bIns="0" rIns="0"/>
            <a:lstStyle/>
            <a:p>
              <a:pPr algn="l">
                <a:lnSpc>
                  <a:spcPts val="2340"/>
                </a:lnSpc>
              </a:pPr>
              <a:r>
                <a:rPr lang="en-US" sz="1950" b="true">
                  <a:solidFill>
                    <a:srgbClr val="13294B"/>
                  </a:solidFill>
                  <a:latin typeface="Calibri (MS) Bold"/>
                  <a:ea typeface="Calibri (MS) Bold"/>
                  <a:cs typeface="Calibri (MS) Bold"/>
                  <a:sym typeface="Calibri (MS) Bold"/>
                </a:rPr>
                <a:t>Lưu ý  </a:t>
              </a:r>
              <a:r>
                <a:rPr lang="en-US" sz="1950">
                  <a:solidFill>
                    <a:srgbClr val="243044"/>
                  </a:solidFill>
                  <a:latin typeface="Calibri (MS)"/>
                  <a:ea typeface="Calibri (MS)"/>
                  <a:cs typeface="Calibri (MS)"/>
                  <a:sym typeface="Calibri (MS)"/>
                </a:rPr>
                <a:t>Các số này dùng metric và thiết lập khác (F1 theo token; accuracy phân loại trên tập nhãn cố định) — chỉ để định vị, không so trực tiếp. Baseline nhóm tái lập và cải tiến là Qwen2.5-VL-3B (slide 20–24). Bài học giữ lại: ViTextBLIP-2 hiệu quả tham số vẫn thắng full fine-tuning → ủng hộ QLoRA.</a:t>
              </a:r>
            </a:p>
          </p:txBody>
        </p:sp>
      </p:grpSp>
      <p:grpSp>
        <p:nvGrpSpPr>
          <p:cNvPr name="Group 14" id="14"/>
          <p:cNvGrpSpPr/>
          <p:nvPr/>
        </p:nvGrpSpPr>
        <p:grpSpPr>
          <a:xfrm rot="0">
            <a:off x="15458732" y="0"/>
            <a:ext cx="2829268" cy="1184338"/>
            <a:chOff x="0" y="0"/>
            <a:chExt cx="3772357" cy="1579118"/>
          </a:xfrm>
        </p:grpSpPr>
        <p:sp>
          <p:nvSpPr>
            <p:cNvPr name="Freeform 15" id="15"/>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6"/>
              <a:stretch>
                <a:fillRect l="0" t="0" r="1" b="0"/>
              </a:stretch>
            </a:blipFill>
          </p:spPr>
          <p:txBody>
            <a:bodyPr/>
            <a:p/>
          </p:txBody>
        </p:sp>
      </p:grpSp>
      <p:grpSp>
        <p:nvGrpSpPr>
          <p:cNvPr name="Group 16" id="16"/>
          <p:cNvGrpSpPr/>
          <p:nvPr/>
        </p:nvGrpSpPr>
        <p:grpSpPr>
          <a:xfrm rot="0">
            <a:off x="822960" y="9641205"/>
            <a:ext cx="13716000" cy="440055"/>
            <a:chOff x="0" y="0"/>
            <a:chExt cx="18288000" cy="586740"/>
          </a:xfrm>
        </p:grpSpPr>
        <p:sp>
          <p:nvSpPr>
            <p:cNvPr name="Freeform 17" id="17"/>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5">
                <a:alphaModFix amt="0"/>
              </a:blip>
              <a:stretch>
                <a:fillRect l="0" t="-557325" r="0" b="-557325"/>
              </a:stretch>
            </a:blipFill>
          </p:spPr>
          <p:txBody>
            <a:bodyPr/>
            <a:p/>
          </p:txBody>
        </p:sp>
        <p:sp>
          <p:nvSpPr>
            <p:cNvPr name="TextBox 18" id="18"/>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EXISTING SYSTEM · 02 · DỮ LIỆU BENCHMARK</a:t>
            </a:r>
          </a:p>
        </p:txBody>
      </p:sp>
      <p:grpSp>
        <p:nvGrpSpPr>
          <p:cNvPr name="Group 5" id="5"/>
          <p:cNvGrpSpPr/>
          <p:nvPr/>
        </p:nvGrpSpPr>
        <p:grpSpPr>
          <a:xfrm rot="0">
            <a:off x="15458732" y="0"/>
            <a:ext cx="2829268" cy="1184338"/>
            <a:chOff x="0" y="0"/>
            <a:chExt cx="3772357" cy="1579118"/>
          </a:xfrm>
        </p:grpSpPr>
        <p:sp>
          <p:nvSpPr>
            <p:cNvPr name="Freeform 6" id="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1" b="0"/>
              </a:stretch>
            </a:blipFill>
          </p:spPr>
          <p:txBody>
            <a:bodyPr/>
            <a:p/>
          </p:txBody>
        </p:sp>
      </p:grpSp>
      <p:sp>
        <p:nvSpPr>
          <p:cNvPr name="TextBox 7" id="7"/>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ViVQA được dịch máy — nhiễu nằm sẵn trong dữ liệu</a:t>
            </a:r>
          </a:p>
        </p:txBody>
      </p:sp>
      <p:grpSp>
        <p:nvGrpSpPr>
          <p:cNvPr name="Group 8" id="8"/>
          <p:cNvGrpSpPr/>
          <p:nvPr/>
        </p:nvGrpSpPr>
        <p:grpSpPr>
          <a:xfrm rot="0">
            <a:off x="1716957" y="2057400"/>
            <a:ext cx="14853666" cy="5760720"/>
            <a:chOff x="0" y="0"/>
            <a:chExt cx="19804888" cy="7680960"/>
          </a:xfrm>
        </p:grpSpPr>
        <p:sp>
          <p:nvSpPr>
            <p:cNvPr name="Freeform 9" id="9" descr="a6"/>
            <p:cNvSpPr/>
            <p:nvPr/>
          </p:nvSpPr>
          <p:spPr>
            <a:xfrm flipH="false" flipV="false" rot="0">
              <a:off x="0" y="0"/>
              <a:ext cx="19804887" cy="7680960"/>
            </a:xfrm>
            <a:custGeom>
              <a:avLst/>
              <a:gdLst/>
              <a:ahLst/>
              <a:cxnLst/>
              <a:rect r="r" b="b" t="t" l="l"/>
              <a:pathLst>
                <a:path h="7680960" w="19804887">
                  <a:moveTo>
                    <a:pt x="0" y="0"/>
                  </a:moveTo>
                  <a:lnTo>
                    <a:pt x="19804887" y="0"/>
                  </a:lnTo>
                  <a:lnTo>
                    <a:pt x="19804887" y="7680960"/>
                  </a:lnTo>
                  <a:lnTo>
                    <a:pt x="0" y="7680960"/>
                  </a:lnTo>
                  <a:lnTo>
                    <a:pt x="0" y="0"/>
                  </a:lnTo>
                  <a:close/>
                </a:path>
              </a:pathLst>
            </a:custGeom>
            <a:blipFill>
              <a:blip r:embed="rId4"/>
              <a:stretch>
                <a:fillRect l="0" t="-30" r="0" b="-30"/>
              </a:stretch>
            </a:blipFill>
          </p:spPr>
          <p:txBody>
            <a:bodyPr/>
            <a:p/>
          </p:txBody>
        </p:sp>
      </p:grpSp>
      <p:sp>
        <p:nvSpPr>
          <p:cNvPr name="Freeform 10" id="10"/>
          <p:cNvSpPr/>
          <p:nvPr/>
        </p:nvSpPr>
        <p:spPr>
          <a:xfrm flipH="false" flipV="false" rot="0">
            <a:off x="806291" y="8212931"/>
            <a:ext cx="8079867" cy="1199197"/>
          </a:xfrm>
          <a:custGeom>
            <a:avLst/>
            <a:gdLst/>
            <a:ahLst/>
            <a:cxnLst/>
            <a:rect r="r" b="b" t="t" l="l"/>
            <a:pathLst>
              <a:path h="1199197" w="8079867">
                <a:moveTo>
                  <a:pt x="0" y="0"/>
                </a:moveTo>
                <a:lnTo>
                  <a:pt x="8079867" y="0"/>
                </a:lnTo>
                <a:lnTo>
                  <a:pt x="8079867" y="1199198"/>
                </a:lnTo>
                <a:lnTo>
                  <a:pt x="0" y="119919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grpSp>
        <p:nvGrpSpPr>
          <p:cNvPr name="Group 11" id="11"/>
          <p:cNvGrpSpPr/>
          <p:nvPr/>
        </p:nvGrpSpPr>
        <p:grpSpPr>
          <a:xfrm rot="0">
            <a:off x="1234440" y="8435340"/>
            <a:ext cx="7223531" cy="754380"/>
            <a:chOff x="0" y="0"/>
            <a:chExt cx="9631375" cy="1005840"/>
          </a:xfrm>
        </p:grpSpPr>
        <p:sp>
          <p:nvSpPr>
            <p:cNvPr name="Freeform 12" id="12"/>
            <p:cNvSpPr/>
            <p:nvPr/>
          </p:nvSpPr>
          <p:spPr>
            <a:xfrm flipH="false" flipV="false" rot="0">
              <a:off x="0" y="0"/>
              <a:ext cx="9631426" cy="1005840"/>
            </a:xfrm>
            <a:custGeom>
              <a:avLst/>
              <a:gdLst/>
              <a:ahLst/>
              <a:cxnLst/>
              <a:rect r="r" b="b" t="t" l="l"/>
              <a:pathLst>
                <a:path h="1005840" w="9631426">
                  <a:moveTo>
                    <a:pt x="0" y="0"/>
                  </a:moveTo>
                  <a:lnTo>
                    <a:pt x="9631426" y="0"/>
                  </a:lnTo>
                  <a:lnTo>
                    <a:pt x="9631426" y="1005840"/>
                  </a:lnTo>
                  <a:lnTo>
                    <a:pt x="0" y="1005840"/>
                  </a:lnTo>
                  <a:close/>
                </a:path>
              </a:pathLst>
            </a:custGeom>
            <a:blipFill>
              <a:blip r:embed="rId2">
                <a:alphaModFix amt="0"/>
              </a:blip>
              <a:stretch>
                <a:fillRect l="0" t="-136448" r="0" b="-136448"/>
              </a:stretch>
            </a:blipFill>
          </p:spPr>
          <p:txBody>
            <a:bodyPr/>
            <a:p/>
          </p:txBody>
        </p:sp>
      </p:grpSp>
      <p:grpSp>
        <p:nvGrpSpPr>
          <p:cNvPr name="Group 13" id="13"/>
          <p:cNvGrpSpPr/>
          <p:nvPr/>
        </p:nvGrpSpPr>
        <p:grpSpPr>
          <a:xfrm rot="0">
            <a:off x="1234440" y="8399621"/>
            <a:ext cx="7223531" cy="790099"/>
            <a:chOff x="0" y="0"/>
            <a:chExt cx="9631375" cy="1053465"/>
          </a:xfrm>
        </p:grpSpPr>
        <p:sp>
          <p:nvSpPr>
            <p:cNvPr name="Freeform 14" id="14"/>
            <p:cNvSpPr/>
            <p:nvPr/>
          </p:nvSpPr>
          <p:spPr>
            <a:xfrm flipH="false" flipV="false" rot="0">
              <a:off x="0" y="0"/>
              <a:ext cx="9631375" cy="1053465"/>
            </a:xfrm>
            <a:custGeom>
              <a:avLst/>
              <a:gdLst/>
              <a:ahLst/>
              <a:cxnLst/>
              <a:rect r="r" b="b" t="t" l="l"/>
              <a:pathLst>
                <a:path h="1053465" w="9631375">
                  <a:moveTo>
                    <a:pt x="0" y="0"/>
                  </a:moveTo>
                  <a:lnTo>
                    <a:pt x="9631375" y="0"/>
                  </a:lnTo>
                  <a:lnTo>
                    <a:pt x="9631375" y="1053465"/>
                  </a:lnTo>
                  <a:lnTo>
                    <a:pt x="0" y="1053465"/>
                  </a:lnTo>
                  <a:close/>
                </a:path>
              </a:pathLst>
            </a:custGeom>
            <a:blipFill>
              <a:blip r:embed="rId7">
                <a:alphaModFix amt="0"/>
              </a:blip>
              <a:stretch>
                <a:fillRect l="0" t="-128143" r="0" b="-128143"/>
              </a:stretch>
            </a:blipFill>
          </p:spPr>
          <p:txBody>
            <a:bodyPr/>
            <a:p/>
          </p:txBody>
        </p:sp>
        <p:sp>
          <p:nvSpPr>
            <p:cNvPr name="TextBox 15" id="15"/>
            <p:cNvSpPr txBox="true"/>
            <p:nvPr/>
          </p:nvSpPr>
          <p:spPr>
            <a:xfrm>
              <a:off x="0" y="-47625"/>
              <a:ext cx="9631375" cy="1101090"/>
            </a:xfrm>
            <a:prstGeom prst="rect">
              <a:avLst/>
            </a:prstGeom>
          </p:spPr>
          <p:txBody>
            <a:bodyPr anchor="ctr" rtlCol="false" tIns="0" lIns="0" bIns="0" rIns="0"/>
            <a:lstStyle/>
            <a:p>
              <a:pPr algn="l">
                <a:lnSpc>
                  <a:spcPts val="2520"/>
                </a:lnSpc>
              </a:pPr>
              <a:r>
                <a:rPr lang="en-US" sz="2100" b="true">
                  <a:solidFill>
                    <a:srgbClr val="13294B"/>
                  </a:solidFill>
                  <a:latin typeface="Calibri (MS) Bold"/>
                  <a:ea typeface="Calibri (MS) Bold"/>
                  <a:cs typeface="Calibri (MS) Bold"/>
                  <a:sym typeface="Calibri (MS) Bold"/>
                </a:rPr>
                <a:t>ViVQA  </a:t>
              </a:r>
              <a:r>
                <a:rPr lang="en-US" sz="2100">
                  <a:solidFill>
                    <a:srgbClr val="243044"/>
                  </a:solidFill>
                  <a:latin typeface="Calibri (MS)"/>
                  <a:ea typeface="Calibri (MS)"/>
                  <a:cs typeface="Calibri (MS)"/>
                  <a:sym typeface="Calibri (MS)"/>
                </a:rPr>
                <a:t>1.274 / 2.789 ảnh test cũng có trong train; 99,4% đáp án test thuộc 333 đáp án của train (từ vựng đóng)</a:t>
              </a:r>
            </a:p>
          </p:txBody>
        </p:sp>
      </p:grpSp>
      <p:sp>
        <p:nvSpPr>
          <p:cNvPr name="Freeform 16" id="16"/>
          <p:cNvSpPr/>
          <p:nvPr/>
        </p:nvSpPr>
        <p:spPr>
          <a:xfrm flipH="false" flipV="false" rot="0">
            <a:off x="9401423" y="8212931"/>
            <a:ext cx="8079867" cy="1199197"/>
          </a:xfrm>
          <a:custGeom>
            <a:avLst/>
            <a:gdLst/>
            <a:ahLst/>
            <a:cxnLst/>
            <a:rect r="r" b="b" t="t" l="l"/>
            <a:pathLst>
              <a:path h="1199197" w="8079867">
                <a:moveTo>
                  <a:pt x="0" y="0"/>
                </a:moveTo>
                <a:lnTo>
                  <a:pt x="8079867" y="0"/>
                </a:lnTo>
                <a:lnTo>
                  <a:pt x="8079867" y="1199198"/>
                </a:lnTo>
                <a:lnTo>
                  <a:pt x="0" y="119919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grpSp>
        <p:nvGrpSpPr>
          <p:cNvPr name="Group 17" id="17"/>
          <p:cNvGrpSpPr/>
          <p:nvPr/>
        </p:nvGrpSpPr>
        <p:grpSpPr>
          <a:xfrm rot="0">
            <a:off x="9829571" y="8435340"/>
            <a:ext cx="7223531" cy="754380"/>
            <a:chOff x="0" y="0"/>
            <a:chExt cx="9631375" cy="1005840"/>
          </a:xfrm>
        </p:grpSpPr>
        <p:sp>
          <p:nvSpPr>
            <p:cNvPr name="Freeform 18" id="18"/>
            <p:cNvSpPr/>
            <p:nvPr/>
          </p:nvSpPr>
          <p:spPr>
            <a:xfrm flipH="false" flipV="false" rot="0">
              <a:off x="0" y="0"/>
              <a:ext cx="9631426" cy="1005840"/>
            </a:xfrm>
            <a:custGeom>
              <a:avLst/>
              <a:gdLst/>
              <a:ahLst/>
              <a:cxnLst/>
              <a:rect r="r" b="b" t="t" l="l"/>
              <a:pathLst>
                <a:path h="1005840" w="9631426">
                  <a:moveTo>
                    <a:pt x="0" y="0"/>
                  </a:moveTo>
                  <a:lnTo>
                    <a:pt x="9631426" y="0"/>
                  </a:lnTo>
                  <a:lnTo>
                    <a:pt x="9631426" y="1005840"/>
                  </a:lnTo>
                  <a:lnTo>
                    <a:pt x="0" y="1005840"/>
                  </a:lnTo>
                  <a:close/>
                </a:path>
              </a:pathLst>
            </a:custGeom>
            <a:blipFill>
              <a:blip r:embed="rId2">
                <a:alphaModFix amt="0"/>
              </a:blip>
              <a:stretch>
                <a:fillRect l="0" t="-136448" r="0" b="-136448"/>
              </a:stretch>
            </a:blipFill>
          </p:spPr>
          <p:txBody>
            <a:bodyPr/>
            <a:p/>
          </p:txBody>
        </p:sp>
      </p:grpSp>
      <p:grpSp>
        <p:nvGrpSpPr>
          <p:cNvPr name="Group 19" id="19"/>
          <p:cNvGrpSpPr/>
          <p:nvPr/>
        </p:nvGrpSpPr>
        <p:grpSpPr>
          <a:xfrm rot="0">
            <a:off x="9829571" y="8399621"/>
            <a:ext cx="7223531" cy="790099"/>
            <a:chOff x="0" y="0"/>
            <a:chExt cx="9631375" cy="1053465"/>
          </a:xfrm>
        </p:grpSpPr>
        <p:sp>
          <p:nvSpPr>
            <p:cNvPr name="Freeform 20" id="20"/>
            <p:cNvSpPr/>
            <p:nvPr/>
          </p:nvSpPr>
          <p:spPr>
            <a:xfrm flipH="false" flipV="false" rot="0">
              <a:off x="0" y="0"/>
              <a:ext cx="9631375" cy="1053465"/>
            </a:xfrm>
            <a:custGeom>
              <a:avLst/>
              <a:gdLst/>
              <a:ahLst/>
              <a:cxnLst/>
              <a:rect r="r" b="b" t="t" l="l"/>
              <a:pathLst>
                <a:path h="1053465" w="9631375">
                  <a:moveTo>
                    <a:pt x="0" y="0"/>
                  </a:moveTo>
                  <a:lnTo>
                    <a:pt x="9631375" y="0"/>
                  </a:lnTo>
                  <a:lnTo>
                    <a:pt x="9631375" y="1053465"/>
                  </a:lnTo>
                  <a:lnTo>
                    <a:pt x="0" y="1053465"/>
                  </a:lnTo>
                  <a:close/>
                </a:path>
              </a:pathLst>
            </a:custGeom>
            <a:blipFill>
              <a:blip r:embed="rId7">
                <a:alphaModFix amt="0"/>
              </a:blip>
              <a:stretch>
                <a:fillRect l="0" t="-128143" r="0" b="-128143"/>
              </a:stretch>
            </a:blipFill>
          </p:spPr>
          <p:txBody>
            <a:bodyPr/>
            <a:p/>
          </p:txBody>
        </p:sp>
        <p:sp>
          <p:nvSpPr>
            <p:cNvPr name="TextBox 21" id="21"/>
            <p:cNvSpPr txBox="true"/>
            <p:nvPr/>
          </p:nvSpPr>
          <p:spPr>
            <a:xfrm>
              <a:off x="0" y="-47625"/>
              <a:ext cx="9631375" cy="1101090"/>
            </a:xfrm>
            <a:prstGeom prst="rect">
              <a:avLst/>
            </a:prstGeom>
          </p:spPr>
          <p:txBody>
            <a:bodyPr anchor="ctr" rtlCol="false" tIns="0" lIns="0" bIns="0" rIns="0"/>
            <a:lstStyle/>
            <a:p>
              <a:pPr algn="l">
                <a:lnSpc>
                  <a:spcPts val="2520"/>
                </a:lnSpc>
              </a:pPr>
              <a:r>
                <a:rPr lang="en-US" sz="2100" b="true">
                  <a:solidFill>
                    <a:srgbClr val="13294B"/>
                  </a:solidFill>
                  <a:latin typeface="Calibri (MS) Bold"/>
                  <a:ea typeface="Calibri (MS) Bold"/>
                  <a:cs typeface="Calibri (MS) Bold"/>
                  <a:sym typeface="Calibri (MS) Bold"/>
                </a:rPr>
                <a:t>ViTextVQA  </a:t>
              </a:r>
              <a:r>
                <a:rPr lang="en-US" sz="2100">
                  <a:solidFill>
                    <a:srgbClr val="243044"/>
                  </a:solidFill>
                  <a:latin typeface="Calibri (MS)"/>
                  <a:ea typeface="Calibri (MS)"/>
                  <a:cs typeface="Calibri (MS)"/>
                  <a:sym typeface="Calibri (MS)"/>
                </a:rPr>
                <a:t>0 ảnh trùng giữa train/dev và test; 46% đáp án test có trong train → phép thử tổng quát hoá sạch hơn</a:t>
              </a:r>
            </a:p>
          </p:txBody>
        </p:sp>
      </p:grpSp>
      <p:grpSp>
        <p:nvGrpSpPr>
          <p:cNvPr name="Group 22" id="22"/>
          <p:cNvGrpSpPr/>
          <p:nvPr/>
        </p:nvGrpSpPr>
        <p:grpSpPr>
          <a:xfrm rot="0">
            <a:off x="822960" y="9641205"/>
            <a:ext cx="13716000" cy="440055"/>
            <a:chOff x="0" y="0"/>
            <a:chExt cx="18288000" cy="586740"/>
          </a:xfrm>
        </p:grpSpPr>
        <p:sp>
          <p:nvSpPr>
            <p:cNvPr name="Freeform 23" id="23"/>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7">
                <a:alphaModFix amt="0"/>
              </a:blip>
              <a:stretch>
                <a:fillRect l="0" t="-557325" r="0" b="-557325"/>
              </a:stretch>
            </a:blipFill>
          </p:spPr>
          <p:txBody>
            <a:bodyPr/>
            <a:p/>
          </p:txBody>
        </p:sp>
        <p:sp>
          <p:nvSpPr>
            <p:cNvPr name="TextBox 24" id="24"/>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7325" r="0" b="-557325"/>
              </a:stretch>
            </a:blipFill>
          </p:spPr>
          <p:txBody>
            <a:bodyPr/>
            <a:p/>
          </p:txBody>
        </p:sp>
        <p:sp>
          <p:nvSpPr>
            <p:cNvPr name="TextBox 6" id="6"/>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Review 2 (cộng dồn) · GFA26AI35 · Đại học FPT</a:t>
              </a:r>
            </a:p>
          </p:txBody>
        </p:sp>
      </p:grpSp>
      <p:sp>
        <p:nvSpPr>
          <p:cNvPr name="TextBox 7" id="7"/>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EXISTING SYSTEM · 03 · XỬ LÝ DỮ LIỆU</a:t>
            </a:r>
          </a:p>
        </p:txBody>
      </p:sp>
      <p:sp>
        <p:nvSpPr>
          <p:cNvPr name="TextBox 8" id="8"/>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Xử lý dữ liệu: trước và sau, trên mẫu thật</a:t>
            </a:r>
          </a:p>
        </p:txBody>
      </p:sp>
      <p:grpSp>
        <p:nvGrpSpPr>
          <p:cNvPr name="Group 17" id="17"/>
          <p:cNvGrpSpPr/>
          <p:nvPr/>
        </p:nvGrpSpPr>
        <p:grpSpPr>
          <a:xfrm rot="0">
            <a:off x="15458732" y="0"/>
            <a:ext cx="2829268" cy="1184338"/>
            <a:chOff x="0" y="0"/>
            <a:chExt cx="3772357" cy="1579118"/>
          </a:xfrm>
        </p:grpSpPr>
        <p:sp>
          <p:nvSpPr>
            <p:cNvPr name="Freeform 18" id="18"/>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4"/>
              <a:stretch>
                <a:fillRect l="0" t="0" r="1" b="0"/>
              </a:stretch>
            </a:blipFill>
          </p:spPr>
          <p:txBody>
            <a:bodyPr/>
            <a:p/>
          </p:txBody>
        </p:sp>
      </p:grpSp>
      <p:sp>
        <p:nvSpPr>
          <p:cNvPr id="19" name="Rounded Rectangle 18"/>
          <p:cNvSpPr/>
          <p:nvPr/>
        </p:nvSpPr>
        <p:spPr>
          <a:xfrm>
            <a:off x="822960" y="2011680"/>
            <a:ext cx="5440680" cy="7178040"/>
          </a:xfrm>
          <a:prstGeom prst="roundRect">
            <a:avLst>
              <a:gd name="adj" fmla="val 3000"/>
            </a:avLst>
          </a:prstGeom>
          <a:solidFill>
            <a:srgbClr val="F3F5F8"/>
          </a:solidFill>
          <a:ln>
            <a:noFill/>
          </a:ln>
        </p:spPr>
        <p:txBody>
          <a:bodyPr rtlCol="0" anchor="ctr"/>
          <a:lstStyle/>
          <a:p>
            <a:pPr algn="ctr"/>
          </a:p>
        </p:txBody>
      </p:sp>
      <p:sp>
        <p:nvSpPr>
          <p:cNvPr id="20" name="TextBox 19"/>
          <p:cNvSpPr txBox="1"/>
          <p:nvPr/>
        </p:nvSpPr>
        <p:spPr>
          <a:xfrm>
            <a:off x="1097280" y="2194560"/>
            <a:ext cx="4983480" cy="457200"/>
          </a:xfrm>
          <a:prstGeom prst="rect">
            <a:avLst/>
          </a:prstGeom>
          <a:noFill/>
        </p:spPr>
        <p:txBody>
          <a:bodyPr wrap="square" anchor="t" lIns="0" rIns="0" tIns="0" bIns="0">
            <a:spAutoFit/>
          </a:bodyPr>
          <a:lstStyle/>
          <a:p>
            <a:pPr algn="l">
              <a:lnSpc>
                <a:spcPct val="106000"/>
              </a:lnSpc>
              <a:spcAft>
                <a:spcPts val="0"/>
              </a:spcAft>
            </a:pPr>
            <a:r>
              <a:rPr sz="2100" b="1">
                <a:solidFill>
                  <a:srgbClr val="13294B"/>
                </a:solidFill>
                <a:latin typeface="Calibri (MS) Bold"/>
              </a:rPr>
              <a:t>①  Ảnh · resize theo max_pixels</a:t>
            </a:r>
          </a:p>
        </p:txBody>
      </p:sp>
      <p:sp>
        <p:nvSpPr>
          <p:cNvPr id="21" name="Rounded Rectangle 20"/>
          <p:cNvSpPr/>
          <p:nvPr/>
        </p:nvSpPr>
        <p:spPr>
          <a:xfrm>
            <a:off x="6428232" y="2011680"/>
            <a:ext cx="5440680" cy="7178040"/>
          </a:xfrm>
          <a:prstGeom prst="roundRect">
            <a:avLst>
              <a:gd name="adj" fmla="val 3000"/>
            </a:avLst>
          </a:prstGeom>
          <a:solidFill>
            <a:srgbClr val="F3F5F8"/>
          </a:solidFill>
          <a:ln>
            <a:noFill/>
          </a:ln>
        </p:spPr>
        <p:txBody>
          <a:bodyPr rtlCol="0" anchor="ctr"/>
          <a:lstStyle/>
          <a:p>
            <a:pPr algn="ctr"/>
          </a:p>
        </p:txBody>
      </p:sp>
      <p:sp>
        <p:nvSpPr>
          <p:cNvPr id="22" name="TextBox 21"/>
          <p:cNvSpPr txBox="1"/>
          <p:nvPr/>
        </p:nvSpPr>
        <p:spPr>
          <a:xfrm>
            <a:off x="6702552" y="2194560"/>
            <a:ext cx="4983480" cy="457200"/>
          </a:xfrm>
          <a:prstGeom prst="rect">
            <a:avLst/>
          </a:prstGeom>
          <a:noFill/>
        </p:spPr>
        <p:txBody>
          <a:bodyPr wrap="square" anchor="t" lIns="0" rIns="0" tIns="0" bIns="0">
            <a:spAutoFit/>
          </a:bodyPr>
          <a:lstStyle/>
          <a:p>
            <a:pPr algn="l">
              <a:lnSpc>
                <a:spcPct val="106000"/>
              </a:lnSpc>
              <a:spcAft>
                <a:spcPts val="0"/>
              </a:spcAft>
            </a:pPr>
            <a:r>
              <a:rPr sz="2100" b="1">
                <a:solidFill>
                  <a:srgbClr val="13294B"/>
                </a:solidFill>
                <a:latin typeface="Calibri (MS) Bold"/>
              </a:rPr>
              <a:t>②  OCR · chỉ ViTextVQA</a:t>
            </a:r>
          </a:p>
        </p:txBody>
      </p:sp>
      <p:sp>
        <p:nvSpPr>
          <p:cNvPr id="23" name="Rounded Rectangle 22"/>
          <p:cNvSpPr/>
          <p:nvPr/>
        </p:nvSpPr>
        <p:spPr>
          <a:xfrm>
            <a:off x="12033504" y="2011680"/>
            <a:ext cx="5440680" cy="7178040"/>
          </a:xfrm>
          <a:prstGeom prst="roundRect">
            <a:avLst>
              <a:gd name="adj" fmla="val 3000"/>
            </a:avLst>
          </a:prstGeom>
          <a:solidFill>
            <a:srgbClr val="F3F5F8"/>
          </a:solidFill>
          <a:ln>
            <a:noFill/>
          </a:ln>
        </p:spPr>
        <p:txBody>
          <a:bodyPr rtlCol="0" anchor="ctr"/>
          <a:lstStyle/>
          <a:p>
            <a:pPr algn="ctr"/>
          </a:p>
        </p:txBody>
      </p:sp>
      <p:sp>
        <p:nvSpPr>
          <p:cNvPr id="24" name="TextBox 23"/>
          <p:cNvSpPr txBox="1"/>
          <p:nvPr/>
        </p:nvSpPr>
        <p:spPr>
          <a:xfrm>
            <a:off x="12307824" y="2194560"/>
            <a:ext cx="4983480" cy="457200"/>
          </a:xfrm>
          <a:prstGeom prst="rect">
            <a:avLst/>
          </a:prstGeom>
          <a:noFill/>
        </p:spPr>
        <p:txBody>
          <a:bodyPr wrap="square" anchor="t" lIns="0" rIns="0" tIns="0" bIns="0">
            <a:spAutoFit/>
          </a:bodyPr>
          <a:lstStyle/>
          <a:p>
            <a:pPr algn="l">
              <a:lnSpc>
                <a:spcPct val="106000"/>
              </a:lnSpc>
              <a:spcAft>
                <a:spcPts val="0"/>
              </a:spcAft>
            </a:pPr>
            <a:r>
              <a:rPr sz="2100" b="1">
                <a:solidFill>
                  <a:srgbClr val="13294B"/>
                </a:solidFill>
                <a:latin typeface="Calibri (MS) Bold"/>
              </a:rPr>
              <a:t>③  Văn bản · chuẩn hoá khi chấm</a:t>
            </a:r>
          </a:p>
        </p:txBody>
      </p:sp>
      <p:pic>
        <p:nvPicPr>
          <p:cNvPr id="25" name="Picture 24" descr="data_before.jpg"/>
          <p:cNvPicPr>
            <a:picLocks noChangeAspect="1"/>
          </p:cNvPicPr>
          <p:nvPr/>
        </p:nvPicPr>
        <p:blipFill>
          <a:blip r:embed="rId5"/>
          <a:stretch>
            <a:fillRect/>
          </a:stretch>
        </p:blipFill>
        <p:spPr>
          <a:xfrm>
            <a:off x="1097280" y="2880360"/>
            <a:ext cx="2240280" cy="1260157"/>
          </a:xfrm>
          <a:prstGeom prst="rect">
            <a:avLst/>
          </a:prstGeom>
          <a:ln w="12700">
            <a:solidFill>
              <a:srgbClr val="E2E7EE"/>
            </a:solidFill>
          </a:ln>
        </p:spPr>
      </p:pic>
      <p:pic>
        <p:nvPicPr>
          <p:cNvPr id="26" name="Picture 25" descr="data_after_grid.jpg"/>
          <p:cNvPicPr>
            <a:picLocks noChangeAspect="1"/>
          </p:cNvPicPr>
          <p:nvPr/>
        </p:nvPicPr>
        <p:blipFill>
          <a:blip r:embed="rId6"/>
          <a:stretch>
            <a:fillRect/>
          </a:stretch>
        </p:blipFill>
        <p:spPr>
          <a:xfrm>
            <a:off x="3749040" y="2880360"/>
            <a:ext cx="2240280" cy="1266245"/>
          </a:xfrm>
          <a:prstGeom prst="rect">
            <a:avLst/>
          </a:prstGeom>
          <a:ln w="12700">
            <a:solidFill>
              <a:srgbClr val="E2E7EE"/>
            </a:solidFill>
          </a:ln>
        </p:spPr>
      </p:pic>
      <p:sp>
        <p:nvSpPr>
          <p:cNvPr id="27" name="TextBox 26"/>
          <p:cNvSpPr txBox="1"/>
          <p:nvPr/>
        </p:nvSpPr>
        <p:spPr>
          <a:xfrm>
            <a:off x="3355848" y="3236118"/>
            <a:ext cx="384048" cy="457200"/>
          </a:xfrm>
          <a:prstGeom prst="rect">
            <a:avLst/>
          </a:prstGeom>
          <a:noFill/>
        </p:spPr>
        <p:txBody>
          <a:bodyPr wrap="square" anchor="t" lIns="0" rIns="0" tIns="0" bIns="0">
            <a:spAutoFit/>
          </a:bodyPr>
          <a:lstStyle/>
          <a:p>
            <a:pPr algn="ctr">
              <a:lnSpc>
                <a:spcPct val="106000"/>
              </a:lnSpc>
              <a:spcAft>
                <a:spcPts val="0"/>
              </a:spcAft>
            </a:pPr>
            <a:r>
              <a:rPr sz="3000" b="1">
                <a:solidFill>
                  <a:srgbClr val="1C7293"/>
                </a:solidFill>
                <a:latin typeface="Calibri (MS) Bold"/>
              </a:rPr>
              <a:t>→</a:t>
            </a:r>
          </a:p>
        </p:txBody>
      </p:sp>
      <p:sp>
        <p:nvSpPr>
          <p:cNvPr id="28" name="TextBox 27"/>
          <p:cNvSpPr txBox="1"/>
          <p:nvPr/>
        </p:nvSpPr>
        <p:spPr>
          <a:xfrm>
            <a:off x="1097280" y="4323397"/>
            <a:ext cx="2240280" cy="822960"/>
          </a:xfrm>
          <a:prstGeom prst="rect">
            <a:avLst/>
          </a:prstGeom>
          <a:noFill/>
        </p:spPr>
        <p:txBody>
          <a:bodyPr wrap="square" anchor="t" lIns="0" rIns="0" tIns="0" bIns="0">
            <a:spAutoFit/>
          </a:bodyPr>
          <a:lstStyle/>
          <a:p>
            <a:pPr algn="l">
              <a:lnSpc>
                <a:spcPct val="106000"/>
              </a:lnSpc>
              <a:spcAft>
                <a:spcPts val="200"/>
              </a:spcAft>
            </a:pPr>
            <a:r>
              <a:rPr sz="1400" b="1">
                <a:solidFill>
                  <a:srgbClr val="5B677A"/>
                </a:solidFill>
                <a:latin typeface="Calibri (MS) Bold"/>
              </a:rPr>
              <a:t>TRƯỚC · ảnh ViVQA</a:t>
            </a:r>
          </a:p>
          <a:p>
            <a:pPr algn="l">
              <a:lnSpc>
                <a:spcPct val="106000"/>
              </a:lnSpc>
              <a:spcAft>
                <a:spcPts val="0"/>
              </a:spcAft>
            </a:pPr>
            <a:r>
              <a:rPr sz="1700" b="1">
                <a:solidFill>
                  <a:srgbClr val="13294B"/>
                </a:solidFill>
                <a:latin typeface="Calibri (MS) Bold"/>
              </a:rPr>
              <a:t>640×360 px</a:t>
            </a:r>
          </a:p>
          <a:p>
            <a:pPr algn="l">
              <a:lnSpc>
                <a:spcPct val="106000"/>
              </a:lnSpc>
              <a:spcAft>
                <a:spcPts val="0"/>
              </a:spcAft>
            </a:pPr>
            <a:r>
              <a:rPr sz="1500" b="0">
                <a:solidFill>
                  <a:srgbClr val="243044"/>
                </a:solidFill>
                <a:latin typeface="Calibri (MS)"/>
              </a:rPr>
              <a:t>230.400 điểm ảnh</a:t>
            </a:r>
          </a:p>
        </p:txBody>
      </p:sp>
      <p:sp>
        <p:nvSpPr>
          <p:cNvPr id="29" name="TextBox 28"/>
          <p:cNvSpPr txBox="1"/>
          <p:nvPr/>
        </p:nvSpPr>
        <p:spPr>
          <a:xfrm>
            <a:off x="3749040" y="4323397"/>
            <a:ext cx="2240280" cy="822960"/>
          </a:xfrm>
          <a:prstGeom prst="rect">
            <a:avLst/>
          </a:prstGeom>
          <a:noFill/>
        </p:spPr>
        <p:txBody>
          <a:bodyPr wrap="square" anchor="t" lIns="0" rIns="0" tIns="0" bIns="0">
            <a:spAutoFit/>
          </a:bodyPr>
          <a:lstStyle/>
          <a:p>
            <a:pPr algn="l">
              <a:lnSpc>
                <a:spcPct val="106000"/>
              </a:lnSpc>
              <a:spcAft>
                <a:spcPts val="200"/>
              </a:spcAft>
            </a:pPr>
            <a:r>
              <a:rPr sz="1400" b="1">
                <a:solidFill>
                  <a:srgbClr val="B86E0E"/>
                </a:solidFill>
                <a:latin typeface="Calibri (MS) Bold"/>
              </a:rPr>
              <a:t>SAU</a:t>
            </a:r>
          </a:p>
          <a:p>
            <a:pPr algn="l">
              <a:lnSpc>
                <a:spcPct val="106000"/>
              </a:lnSpc>
              <a:spcAft>
                <a:spcPts val="0"/>
              </a:spcAft>
            </a:pPr>
            <a:r>
              <a:rPr sz="1700" b="1">
                <a:solidFill>
                  <a:srgbClr val="13294B"/>
                </a:solidFill>
                <a:latin typeface="Calibri (MS) Bold"/>
              </a:rPr>
              <a:t>644×364 px</a:t>
            </a:r>
          </a:p>
          <a:p>
            <a:pPr algn="l">
              <a:lnSpc>
                <a:spcPct val="106000"/>
              </a:lnSpc>
              <a:spcAft>
                <a:spcPts val="0"/>
              </a:spcAft>
            </a:pPr>
            <a:r>
              <a:rPr sz="1500" b="0">
                <a:solidFill>
                  <a:srgbClr val="243044"/>
                </a:solidFill>
                <a:latin typeface="Calibri (MS)"/>
              </a:rPr>
              <a:t>lưới 23×13 = 299 token ảnh</a:t>
            </a:r>
          </a:p>
        </p:txBody>
      </p:sp>
      <p:sp>
        <p:nvSpPr>
          <p:cNvPr id="30" name="TextBox 29"/>
          <p:cNvSpPr txBox="1"/>
          <p:nvPr/>
        </p:nvSpPr>
        <p:spPr>
          <a:xfrm>
            <a:off x="1097280" y="5557837"/>
            <a:ext cx="4937760" cy="2743200"/>
          </a:xfrm>
          <a:prstGeom prst="rect">
            <a:avLst/>
          </a:prstGeom>
          <a:noFill/>
        </p:spPr>
        <p:txBody>
          <a:bodyPr wrap="square" anchor="t" lIns="0" rIns="0" tIns="0" bIns="0">
            <a:spAutoFit/>
          </a:bodyPr>
          <a:lstStyle/>
          <a:p>
            <a:pPr algn="l" marL="274320" indent="-274320">
              <a:lnSpc>
                <a:spcPct val="106000"/>
              </a:lnSpc>
              <a:spcAft>
                <a:spcPts val="600"/>
              </a:spcAft>
            </a:pPr>
            <a:r>
              <a:rPr sz="1600" b="0">
                <a:solidFill>
                  <a:srgbClr val="243044"/>
                </a:solidFill>
                <a:latin typeface="Calibri (MS)"/>
              </a:rPr>
              <a:t>•  </a:t>
            </a:r>
            <a:r>
              <a:rPr sz="1600" b="0">
                <a:solidFill>
                  <a:srgbClr val="243044"/>
                </a:solidFill>
                <a:latin typeface="Calibri (MS)"/>
              </a:rPr>
              <a:t>Đổi về RGB; thu nhỏ giữ tỉ lệ, cạnh là bội số 28</a:t>
            </a:r>
          </a:p>
          <a:p>
            <a:pPr algn="l" marL="274320" indent="-274320">
              <a:lnSpc>
                <a:spcPct val="106000"/>
              </a:lnSpc>
              <a:spcAft>
                <a:spcPts val="600"/>
              </a:spcAft>
            </a:pPr>
            <a:r>
              <a:rPr sz="1600" b="0">
                <a:solidFill>
                  <a:srgbClr val="243044"/>
                </a:solidFill>
                <a:latin typeface="Calibri (MS)"/>
              </a:rPr>
              <a:t>•  </a:t>
            </a:r>
            <a:r>
              <a:rPr sz="1600" b="0">
                <a:solidFill>
                  <a:srgbClr val="243044"/>
                </a:solidFill>
                <a:latin typeface="Calibri (MS)"/>
              </a:rPr>
              <a:t>Mỗi ô 28×28 px = 1 token; ≤ 401.408 px → tối đa 512 token</a:t>
            </a:r>
          </a:p>
          <a:p>
            <a:pPr algn="l" marL="274320" indent="-274320">
              <a:lnSpc>
                <a:spcPct val="106000"/>
              </a:lnSpc>
              <a:spcAft>
                <a:spcPts val="600"/>
              </a:spcAft>
            </a:pPr>
            <a:r>
              <a:rPr sz="1600" b="0">
                <a:solidFill>
                  <a:srgbClr val="243044"/>
                </a:solidFill>
                <a:latin typeface="Calibri (MS)"/>
              </a:rPr>
              <a:t>•  </a:t>
            </a:r>
            <a:r>
              <a:rPr sz="1600" b="0">
                <a:solidFill>
                  <a:srgbClr val="243044"/>
                </a:solidFill>
                <a:latin typeface="Calibri (MS)"/>
              </a:rPr>
              <a:t>Ảnh ViTextVQA lớn hơn, vd 16267.jpg 1024×996 → 616×616 = 484 token</a:t>
            </a:r>
          </a:p>
          <a:p>
            <a:pPr algn="l" marL="274320" indent="-274320">
              <a:lnSpc>
                <a:spcPct val="106000"/>
              </a:lnSpc>
              <a:spcAft>
                <a:spcPts val="0"/>
              </a:spcAft>
            </a:pPr>
            <a:r>
              <a:rPr sz="1600" b="0">
                <a:solidFill>
                  <a:srgbClr val="243044"/>
                </a:solidFill>
                <a:latin typeface="Calibri (MS)"/>
              </a:rPr>
              <a:t>•  </a:t>
            </a:r>
            <a:r>
              <a:rPr sz="1600" b="0">
                <a:solidFill>
                  <a:srgbClr val="B86E0E"/>
                </a:solidFill>
                <a:latin typeface="Calibri (MS)"/>
              </a:rPr>
              <a:t>Ô cam: một token ảnh</a:t>
            </a:r>
          </a:p>
        </p:txBody>
      </p:sp>
      <p:pic>
        <p:nvPicPr>
          <p:cNvPr id="31" name="Picture 30" descr="data_ocr_boxes.jpg"/>
          <p:cNvPicPr>
            <a:picLocks noChangeAspect="1"/>
          </p:cNvPicPr>
          <p:nvPr/>
        </p:nvPicPr>
        <p:blipFill>
          <a:blip r:embed="rId7"/>
          <a:stretch>
            <a:fillRect/>
          </a:stretch>
        </p:blipFill>
        <p:spPr>
          <a:xfrm>
            <a:off x="6702552" y="2880360"/>
            <a:ext cx="4892040" cy="1032058"/>
          </a:xfrm>
          <a:prstGeom prst="rect">
            <a:avLst/>
          </a:prstGeom>
          <a:ln w="12700">
            <a:solidFill>
              <a:srgbClr val="E2E7EE"/>
            </a:solidFill>
          </a:ln>
        </p:spPr>
      </p:pic>
      <p:sp>
        <p:nvSpPr>
          <p:cNvPr id="32" name="TextBox 31"/>
          <p:cNvSpPr txBox="1"/>
          <p:nvPr/>
        </p:nvSpPr>
        <p:spPr>
          <a:xfrm>
            <a:off x="6702552" y="4049578"/>
            <a:ext cx="4892040" cy="640080"/>
          </a:xfrm>
          <a:prstGeom prst="rect">
            <a:avLst/>
          </a:prstGeom>
          <a:noFill/>
        </p:spPr>
        <p:txBody>
          <a:bodyPr wrap="square" anchor="t" lIns="0" rIns="0" tIns="0" bIns="0">
            <a:spAutoFit/>
          </a:bodyPr>
          <a:lstStyle/>
          <a:p>
            <a:pPr algn="l">
              <a:lnSpc>
                <a:spcPct val="106000"/>
              </a:lnSpc>
              <a:spcAft>
                <a:spcPts val="0"/>
              </a:spcAft>
            </a:pPr>
            <a:r>
              <a:rPr sz="1450" b="0">
                <a:solidFill>
                  <a:srgbClr val="5B677A"/>
                </a:solidFill>
                <a:latin typeface="Calibri (MS)"/>
              </a:rPr>
              <a:t>Vị trí 13 khung chữ OCR thật của ảnh 16267.jpg (toạ độ trong cache). PaddleOCR dò vùng, VietOCR đọc, sắp trái-trên → phải-dưới</a:t>
            </a:r>
          </a:p>
        </p:txBody>
      </p:sp>
      <p:sp>
        <p:nvSpPr>
          <p:cNvPr id="33" name="Rounded Rectangle 32"/>
          <p:cNvSpPr/>
          <p:nvPr/>
        </p:nvSpPr>
        <p:spPr>
          <a:xfrm>
            <a:off x="6702552" y="4735378"/>
            <a:ext cx="4892040" cy="2468880"/>
          </a:xfrm>
          <a:prstGeom prst="roundRect">
            <a:avLst>
              <a:gd name="adj" fmla="val 4000"/>
            </a:avLst>
          </a:prstGeom>
          <a:solidFill>
            <a:srgbClr val="1E2430"/>
          </a:solidFill>
          <a:ln>
            <a:noFill/>
          </a:ln>
        </p:spPr>
        <p:txBody>
          <a:bodyPr rtlCol="0" anchor="ctr"/>
          <a:lstStyle/>
          <a:p>
            <a:pPr algn="ctr"/>
          </a:p>
        </p:txBody>
      </p:sp>
      <p:sp>
        <p:nvSpPr>
          <p:cNvPr id="34" name="TextBox 33"/>
          <p:cNvSpPr txBox="1"/>
          <p:nvPr/>
        </p:nvSpPr>
        <p:spPr>
          <a:xfrm>
            <a:off x="6867144" y="4872538"/>
            <a:ext cx="4572000" cy="2240280"/>
          </a:xfrm>
          <a:prstGeom prst="rect">
            <a:avLst/>
          </a:prstGeom>
          <a:noFill/>
        </p:spPr>
        <p:txBody>
          <a:bodyPr wrap="square" anchor="t" lIns="0" rIns="0" tIns="0" bIns="0">
            <a:spAutoFit/>
          </a:bodyPr>
          <a:lstStyle/>
          <a:p>
            <a:pPr algn="l">
              <a:lnSpc>
                <a:spcPct val="106000"/>
              </a:lnSpc>
              <a:spcAft>
                <a:spcPts val="600"/>
              </a:spcAft>
            </a:pPr>
            <a:r>
              <a:rPr sz="1250" b="1">
                <a:solidFill>
                  <a:srgbClr val="7DC4E4"/>
                </a:solidFill>
                <a:latin typeface="Consolas"/>
              </a:rPr>
              <a:t>Văn bản đọc được trong ảnh: </a:t>
            </a:r>
            <a:r>
              <a:rPr sz="1250" b="0">
                <a:solidFill>
                  <a:srgbClr val="D6DEEB"/>
                </a:solidFill>
                <a:latin typeface="Consolas"/>
              </a:rPr>
              <a:t>PHO | CÙNJ | MALHACDE | CÔNG TY XÔ SỐ KIẾN THIẾT THU SỐ | </a:t>
            </a:r>
            <a:r>
              <a:rPr sz="1250" b="1">
                <a:solidFill>
                  <a:srgbClr val="E8A33D"/>
                </a:solidFill>
                <a:latin typeface="Consolas"/>
              </a:rPr>
              <a:t>ĐẠI LÝ XỔ SÓ MIẾN BẮC</a:t>
            </a:r>
            <a:r>
              <a:rPr sz="1250" b="0">
                <a:solidFill>
                  <a:srgbClr val="D6DEEB"/>
                </a:solidFill>
                <a:latin typeface="Consolas"/>
              </a:rPr>
              <a:t> | Collee Juice | PHỐ | THÁI PHIÊN | ISIO | BANH BẠO LONG THÀNH - SỬA NGÔ, SỬA ĐẬU NAY | Dens | BÌNH HỌC NƯỚC HÌA SĨ | BIOCOMRANG</a:t>
            </a:r>
          </a:p>
          <a:p>
            <a:pPr algn="l">
              <a:lnSpc>
                <a:spcPct val="106000"/>
              </a:lnSpc>
              <a:spcAft>
                <a:spcPts val="0"/>
              </a:spcAft>
            </a:pPr>
            <a:r>
              <a:rPr sz="1250" b="1">
                <a:solidFill>
                  <a:srgbClr val="7DC4E4"/>
                </a:solidFill>
                <a:latin typeface="Consolas"/>
              </a:rPr>
              <a:t>Câu hỏi: </a:t>
            </a:r>
            <a:r>
              <a:rPr sz="1250" b="0">
                <a:solidFill>
                  <a:srgbClr val="D6DEEB"/>
                </a:solidFill>
                <a:latin typeface="Consolas"/>
              </a:rPr>
              <a:t>cửa hàng có biển màu vàng là nơi nào ?</a:t>
            </a:r>
          </a:p>
        </p:txBody>
      </p:sp>
      <p:sp>
        <p:nvSpPr>
          <p:cNvPr id="35" name="TextBox 34"/>
          <p:cNvSpPr txBox="1"/>
          <p:nvPr/>
        </p:nvSpPr>
        <p:spPr>
          <a:xfrm>
            <a:off x="6702552" y="7295698"/>
            <a:ext cx="4892040" cy="914400"/>
          </a:xfrm>
          <a:prstGeom prst="rect">
            <a:avLst/>
          </a:prstGeom>
          <a:noFill/>
        </p:spPr>
        <p:txBody>
          <a:bodyPr wrap="square" anchor="t" lIns="0" rIns="0" tIns="0" bIns="0">
            <a:spAutoFit/>
          </a:bodyPr>
          <a:lstStyle/>
          <a:p>
            <a:pPr algn="l">
              <a:lnSpc>
                <a:spcPct val="106000"/>
              </a:lnSpc>
              <a:spcAft>
                <a:spcPts val="0"/>
              </a:spcAft>
            </a:pPr>
            <a:r>
              <a:rPr sz="1450" b="0">
                <a:solidFill>
                  <a:srgbClr val="243044"/>
                </a:solidFill>
                <a:latin typeface="Calibri (MS)"/>
              </a:rPr>
              <a:t>OCR còn sai dấu (</a:t>
            </a:r>
            <a:r>
              <a:rPr sz="1450" b="1">
                <a:solidFill>
                  <a:srgbClr val="B86E0E"/>
                </a:solidFill>
                <a:latin typeface="Calibri (MS) Bold"/>
              </a:rPr>
              <a:t>SÓ, MIẾN</a:t>
            </a:r>
            <a:r>
              <a:rPr sz="1450" b="0">
                <a:solidFill>
                  <a:srgbClr val="243044"/>
                </a:solidFill>
                <a:latin typeface="Calibri (MS)"/>
              </a:rPr>
              <a:t> thay vì SỐ, MIỀN) → model phải học dùng OCR có nhiễu. Đáp án: “đại lý xổ số miền bắc”.</a:t>
            </a:r>
          </a:p>
        </p:txBody>
      </p:sp>
      <p:graphicFrame>
        <p:nvGraphicFramePr>
          <p:cNvPr id="36" name="Table 35"/>
          <p:cNvGraphicFramePr>
            <a:graphicFrameLocks noGrp="1"/>
          </p:cNvGraphicFramePr>
          <p:nvPr/>
        </p:nvGraphicFramePr>
        <p:xfrm>
          <a:off x="12307824" y="2880360"/>
          <a:ext cx="4892040" cy="3291840"/>
        </p:xfrm>
        <a:graphic>
          <a:graphicData uri="http://schemas.openxmlformats.org/drawingml/2006/table">
            <a:tbl>
              <a:tblPr firstRow="1" bandRow="1">
                <a:tableStyleId>{5C22544A-7EE6-4342-B048-85BDC9FD1C3A}</a:tableStyleId>
              </a:tblPr>
              <a:tblGrid>
                <a:gridCol w="2514600"/>
                <a:gridCol w="2377440"/>
              </a:tblGrid>
              <a:tr h="548640">
                <a:tc>
                  <a:txBody>
                    <a:bodyPr wrap="square" anchor="ctr" lIns="0" rIns="0" tIns="0" bIns="0"/>
                    <a:lstStyle/>
                    <a:p>
                      <a:pPr algn="l">
                        <a:lnSpc>
                          <a:spcPct val="106000"/>
                        </a:lnSpc>
                        <a:spcAft>
                          <a:spcPts val="0"/>
                        </a:spcAft>
                      </a:pPr>
                      <a:r>
                        <a:rPr sz="1500" b="1">
                          <a:solidFill>
                            <a:srgbClr val="FFFFFF"/>
                          </a:solidFill>
                          <a:latin typeface="Calibri (MS) Bold"/>
                        </a:rPr>
                        <a:t>Trước</a:t>
                      </a:r>
                    </a:p>
                  </a:txBody>
                  <a:tcPr>
                    <a:solidFill>
                      <a:srgbClr val="13294B"/>
                    </a:solidFill>
                  </a:tcPr>
                </a:tc>
                <a:tc>
                  <a:txBody>
                    <a:bodyPr wrap="square" anchor="ctr" lIns="0" rIns="0" tIns="0" bIns="0"/>
                    <a:lstStyle/>
                    <a:p>
                      <a:pPr algn="l">
                        <a:lnSpc>
                          <a:spcPct val="106000"/>
                        </a:lnSpc>
                        <a:spcAft>
                          <a:spcPts val="0"/>
                        </a:spcAft>
                      </a:pPr>
                      <a:r>
                        <a:rPr sz="1500" b="1">
                          <a:solidFill>
                            <a:srgbClr val="FFFFFF"/>
                          </a:solidFill>
                          <a:latin typeface="Calibri (MS) Bold"/>
                        </a:rPr>
                        <a:t>Sau  normalize_vi()</a:t>
                      </a:r>
                    </a:p>
                  </a:txBody>
                  <a:tcPr>
                    <a:solidFill>
                      <a:srgbClr val="13294B"/>
                    </a:solidFill>
                  </a:tcPr>
                </a:tc>
              </a:tr>
              <a:tr h="548640">
                <a:tc>
                  <a:txBody>
                    <a:bodyPr wrap="square" anchor="ctr" lIns="0" rIns="0" tIns="0" bIns="0"/>
                    <a:lstStyle/>
                    <a:p>
                      <a:pPr algn="l">
                        <a:lnSpc>
                          <a:spcPct val="106000"/>
                        </a:lnSpc>
                        <a:spcAft>
                          <a:spcPts val="0"/>
                        </a:spcAft>
                      </a:pPr>
                      <a:r>
                        <a:rPr sz="1500" b="0">
                          <a:solidFill>
                            <a:srgbClr val="243044"/>
                          </a:solidFill>
                          <a:latin typeface="Calibri (MS)"/>
                        </a:rPr>
                        <a:t>Đại lý xổ số Miền Bắc.</a:t>
                      </a:r>
                    </a:p>
                  </a:txBody>
                  <a:tcPr marL="91440" marR="91440">
                    <a:solidFill>
                      <a:srgbClr val="FFFFFF"/>
                    </a:solidFill>
                  </a:tcPr>
                </a:tc>
                <a:tc>
                  <a:txBody>
                    <a:bodyPr wrap="square" anchor="ctr" lIns="0" rIns="0" tIns="0" bIns="0"/>
                    <a:lstStyle/>
                    <a:p>
                      <a:pPr algn="l">
                        <a:lnSpc>
                          <a:spcPct val="106000"/>
                        </a:lnSpc>
                        <a:spcAft>
                          <a:spcPts val="0"/>
                        </a:spcAft>
                      </a:pPr>
                      <a:r>
                        <a:rPr sz="1500" b="1">
                          <a:solidFill>
                            <a:srgbClr val="13294B"/>
                          </a:solidFill>
                          <a:latin typeface="Calibri (MS) Bold"/>
                        </a:rPr>
                        <a:t>đại lý xổ số miền bắc</a:t>
                      </a:r>
                    </a:p>
                  </a:txBody>
                  <a:tcPr marL="91440" marR="91440">
                    <a:solidFill>
                      <a:srgbClr val="FFFFFF"/>
                    </a:solidFill>
                  </a:tcPr>
                </a:tc>
              </a:tr>
              <a:tr h="548640">
                <a:tc>
                  <a:txBody>
                    <a:bodyPr wrap="square" anchor="ctr" lIns="0" rIns="0" tIns="0" bIns="0"/>
                    <a:lstStyle/>
                    <a:p>
                      <a:pPr algn="l">
                        <a:lnSpc>
                          <a:spcPct val="106000"/>
                        </a:lnSpc>
                        <a:spcAft>
                          <a:spcPts val="0"/>
                        </a:spcAft>
                      </a:pPr>
                      <a:r>
                        <a:rPr sz="1500" b="0">
                          <a:solidFill>
                            <a:srgbClr val="243044"/>
                          </a:solidFill>
                          <a:latin typeface="Calibri (MS)"/>
                        </a:rPr>
                        <a:t>Màu Đỏ!</a:t>
                      </a:r>
                    </a:p>
                  </a:txBody>
                  <a:tcPr marL="91440" marR="91440">
                    <a:solidFill>
                      <a:srgbClr val="FFFFFF"/>
                    </a:solidFill>
                  </a:tcPr>
                </a:tc>
                <a:tc>
                  <a:txBody>
                    <a:bodyPr wrap="square" anchor="ctr" lIns="0" rIns="0" tIns="0" bIns="0"/>
                    <a:lstStyle/>
                    <a:p>
                      <a:pPr algn="l">
                        <a:lnSpc>
                          <a:spcPct val="106000"/>
                        </a:lnSpc>
                        <a:spcAft>
                          <a:spcPts val="0"/>
                        </a:spcAft>
                      </a:pPr>
                      <a:r>
                        <a:rPr sz="1500" b="1">
                          <a:solidFill>
                            <a:srgbClr val="13294B"/>
                          </a:solidFill>
                          <a:latin typeface="Calibri (MS) Bold"/>
                        </a:rPr>
                        <a:t>đỏ</a:t>
                      </a:r>
                    </a:p>
                  </a:txBody>
                  <a:tcPr marL="91440" marR="91440">
                    <a:solidFill>
                      <a:srgbClr val="FFFFFF"/>
                    </a:solidFill>
                  </a:tcPr>
                </a:tc>
              </a:tr>
              <a:tr h="548640">
                <a:tc>
                  <a:txBody>
                    <a:bodyPr wrap="square" anchor="ctr" lIns="0" rIns="0" tIns="0" bIns="0"/>
                    <a:lstStyle/>
                    <a:p>
                      <a:pPr algn="l">
                        <a:lnSpc>
                          <a:spcPct val="106000"/>
                        </a:lnSpc>
                        <a:spcAft>
                          <a:spcPts val="0"/>
                        </a:spcAft>
                      </a:pPr>
                      <a:r>
                        <a:rPr sz="1500" b="0">
                          <a:solidFill>
                            <a:srgbClr val="243044"/>
                          </a:solidFill>
                          <a:latin typeface="Calibri (MS)"/>
                        </a:rPr>
                        <a:t>ba</a:t>
                      </a:r>
                    </a:p>
                  </a:txBody>
                  <a:tcPr marL="91440" marR="91440">
                    <a:solidFill>
                      <a:srgbClr val="FFFFFF"/>
                    </a:solidFill>
                  </a:tcPr>
                </a:tc>
                <a:tc>
                  <a:txBody>
                    <a:bodyPr wrap="square" anchor="ctr" lIns="0" rIns="0" tIns="0" bIns="0"/>
                    <a:lstStyle/>
                    <a:p>
                      <a:pPr algn="l">
                        <a:lnSpc>
                          <a:spcPct val="106000"/>
                        </a:lnSpc>
                        <a:spcAft>
                          <a:spcPts val="0"/>
                        </a:spcAft>
                      </a:pPr>
                      <a:r>
                        <a:rPr sz="1500" b="1">
                          <a:solidFill>
                            <a:srgbClr val="13294B"/>
                          </a:solidFill>
                          <a:latin typeface="Calibri (MS) Bold"/>
                        </a:rPr>
                        <a:t>3</a:t>
                      </a:r>
                    </a:p>
                  </a:txBody>
                  <a:tcPr marL="91440" marR="91440">
                    <a:solidFill>
                      <a:srgbClr val="FFFFFF"/>
                    </a:solidFill>
                  </a:tcPr>
                </a:tc>
              </a:tr>
              <a:tr h="548640">
                <a:tc>
                  <a:txBody>
                    <a:bodyPr wrap="square" anchor="ctr" lIns="0" rIns="0" tIns="0" bIns="0"/>
                    <a:lstStyle/>
                    <a:p>
                      <a:pPr algn="l">
                        <a:lnSpc>
                          <a:spcPct val="106000"/>
                        </a:lnSpc>
                        <a:spcAft>
                          <a:spcPts val="0"/>
                        </a:spcAft>
                      </a:pPr>
                      <a:r>
                        <a:rPr sz="1500" b="0">
                          <a:solidFill>
                            <a:srgbClr val="243044"/>
                          </a:solidFill>
                          <a:latin typeface="Calibri (MS)"/>
                        </a:rPr>
                        <a:t>Cửa hàng  điện   thoại</a:t>
                      </a:r>
                    </a:p>
                  </a:txBody>
                  <a:tcPr marL="91440" marR="91440">
                    <a:solidFill>
                      <a:srgbClr val="FFFFFF"/>
                    </a:solidFill>
                  </a:tcPr>
                </a:tc>
                <a:tc>
                  <a:txBody>
                    <a:bodyPr wrap="square" anchor="ctr" lIns="0" rIns="0" tIns="0" bIns="0"/>
                    <a:lstStyle/>
                    <a:p>
                      <a:pPr algn="l">
                        <a:lnSpc>
                          <a:spcPct val="106000"/>
                        </a:lnSpc>
                        <a:spcAft>
                          <a:spcPts val="0"/>
                        </a:spcAft>
                      </a:pPr>
                      <a:r>
                        <a:rPr sz="1500" b="1">
                          <a:solidFill>
                            <a:srgbClr val="13294B"/>
                          </a:solidFill>
                          <a:latin typeface="Calibri (MS) Bold"/>
                        </a:rPr>
                        <a:t>cửa hàng điện thoại</a:t>
                      </a:r>
                    </a:p>
                  </a:txBody>
                  <a:tcPr marL="91440" marR="91440">
                    <a:solidFill>
                      <a:srgbClr val="FFFFFF"/>
                    </a:solidFill>
                  </a:tcPr>
                </a:tc>
              </a:tr>
              <a:tr h="548640">
                <a:tc>
                  <a:txBody>
                    <a:bodyPr wrap="square" anchor="ctr" lIns="0" rIns="0" tIns="0" bIns="0"/>
                    <a:lstStyle/>
                    <a:p>
                      <a:pPr algn="l">
                        <a:lnSpc>
                          <a:spcPct val="106000"/>
                        </a:lnSpc>
                        <a:spcAft>
                          <a:spcPts val="0"/>
                        </a:spcAft>
                      </a:pPr>
                      <a:r>
                        <a:rPr sz="1500" b="0">
                          <a:solidFill>
                            <a:srgbClr val="243044"/>
                          </a:solidFill>
                          <a:latin typeface="Calibri (MS)"/>
                        </a:rPr>
                        <a:t>con mèo  /  con meo</a:t>
                      </a:r>
                    </a:p>
                  </a:txBody>
                  <a:tcPr marL="91440" marR="91440">
                    <a:solidFill>
                      <a:srgbClr val="FFFFFF"/>
                    </a:solidFill>
                  </a:tcPr>
                </a:tc>
                <a:tc>
                  <a:txBody>
                    <a:bodyPr wrap="square" anchor="ctr" lIns="0" rIns="0" tIns="0" bIns="0"/>
                    <a:lstStyle/>
                    <a:p>
                      <a:pPr algn="l">
                        <a:lnSpc>
                          <a:spcPct val="106000"/>
                        </a:lnSpc>
                        <a:spcAft>
                          <a:spcPts val="0"/>
                        </a:spcAft>
                      </a:pPr>
                      <a:r>
                        <a:rPr sz="1500" b="1">
                          <a:solidFill>
                            <a:srgbClr val="13294B"/>
                          </a:solidFill>
                          <a:latin typeface="Calibri (MS) Bold"/>
                        </a:rPr>
                        <a:t>giữ nguyên — khác nhau</a:t>
                      </a:r>
                    </a:p>
                  </a:txBody>
                  <a:tcPr marL="91440" marR="91440">
                    <a:solidFill>
                      <a:srgbClr val="FFFFFF"/>
                    </a:solidFill>
                  </a:tcPr>
                </a:tc>
              </a:tr>
            </a:tbl>
          </a:graphicData>
        </a:graphic>
      </p:graphicFrame>
      <p:sp>
        <p:nvSpPr>
          <p:cNvPr id="37" name="TextBox 36"/>
          <p:cNvSpPr txBox="1"/>
          <p:nvPr/>
        </p:nvSpPr>
        <p:spPr>
          <a:xfrm>
            <a:off x="12307824" y="6400800"/>
            <a:ext cx="4892040" cy="2743200"/>
          </a:xfrm>
          <a:prstGeom prst="rect">
            <a:avLst/>
          </a:prstGeom>
          <a:noFill/>
        </p:spPr>
        <p:txBody>
          <a:bodyPr wrap="square" anchor="t" lIns="0" rIns="0" tIns="0" bIns="0">
            <a:spAutoFit/>
          </a:bodyPr>
          <a:lstStyle/>
          <a:p>
            <a:pPr algn="l" marL="274320" indent="-274320">
              <a:lnSpc>
                <a:spcPct val="106000"/>
              </a:lnSpc>
              <a:spcAft>
                <a:spcPts val="600"/>
              </a:spcAft>
            </a:pPr>
            <a:r>
              <a:rPr sz="1600" b="0">
                <a:solidFill>
                  <a:srgbClr val="243044"/>
                </a:solidFill>
                <a:latin typeface="Calibri (MS)"/>
              </a:rPr>
              <a:t>•  </a:t>
            </a:r>
            <a:r>
              <a:rPr sz="1600" b="0">
                <a:solidFill>
                  <a:srgbClr val="243044"/>
                </a:solidFill>
                <a:latin typeface="Calibri (MS)"/>
              </a:rPr>
              <a:t>NFC, chữ thường, bỏ dấu câu, gộp khoảng trắng; bỏ tiền tố “màu”; số đứng riêng → chữ số</a:t>
            </a:r>
          </a:p>
          <a:p>
            <a:pPr algn="l" marL="274320" indent="-274320">
              <a:lnSpc>
                <a:spcPct val="106000"/>
              </a:lnSpc>
              <a:spcAft>
                <a:spcPts val="600"/>
              </a:spcAft>
            </a:pPr>
            <a:r>
              <a:rPr sz="1600" b="0">
                <a:solidFill>
                  <a:srgbClr val="243044"/>
                </a:solidFill>
                <a:latin typeface="Calibri (MS)"/>
              </a:rPr>
              <a:t>•  </a:t>
            </a:r>
            <a:r>
              <a:rPr sz="1600" b="1">
                <a:solidFill>
                  <a:srgbClr val="B86E0E"/>
                </a:solidFill>
                <a:latin typeface="Calibri (MS) Bold"/>
              </a:rPr>
              <a:t>Giữ dấu thanh</a:t>
            </a:r>
            <a:r>
              <a:rPr sz="1600" b="0">
                <a:solidFill>
                  <a:srgbClr val="243044"/>
                </a:solidFill>
                <a:latin typeface="Calibri (MS)"/>
              </a:rPr>
              <a:t> — sai dấu là sai nghĩa</a:t>
            </a:r>
          </a:p>
          <a:p>
            <a:pPr algn="l" marL="274320" indent="-274320">
              <a:lnSpc>
                <a:spcPct val="106000"/>
              </a:lnSpc>
              <a:spcAft>
                <a:spcPts val="600"/>
              </a:spcAft>
            </a:pPr>
            <a:r>
              <a:rPr sz="1600" b="0">
                <a:solidFill>
                  <a:srgbClr val="243044"/>
                </a:solidFill>
                <a:latin typeface="Calibri (MS)"/>
              </a:rPr>
              <a:t>•  </a:t>
            </a:r>
            <a:r>
              <a:rPr sz="1600" b="0">
                <a:solidFill>
                  <a:srgbClr val="243044"/>
                </a:solidFill>
                <a:latin typeface="Calibri (MS)"/>
              </a:rPr>
              <a:t>Cùng một hàm cho đáp án chuẩn và câu trả lời của model</a:t>
            </a:r>
          </a:p>
          <a:p>
            <a:pPr algn="l" marL="274320" indent="-274320">
              <a:lnSpc>
                <a:spcPct val="106000"/>
              </a:lnSpc>
              <a:spcAft>
                <a:spcPts val="0"/>
              </a:spcAft>
            </a:pPr>
            <a:r>
              <a:rPr sz="1600" b="0">
                <a:solidFill>
                  <a:srgbClr val="243044"/>
                </a:solidFill>
                <a:latin typeface="Calibri (MS)"/>
              </a:rPr>
              <a:t>•  </a:t>
            </a:r>
            <a:r>
              <a:rPr sz="1600" b="0">
                <a:solidFill>
                  <a:srgbClr val="243044"/>
                </a:solidFill>
                <a:latin typeface="Calibri (MS)"/>
              </a:rPr>
              <a:t>“…miền bác” so với “…miền bắc”: EM = 0, ANLS = 0,95</a:t>
            </a:r>
          </a:p>
        </p:txBody>
      </p:sp>
      <p:sp>
        <p:nvSpPr>
          <p:cNvPr id="38" name="TextBox 37"/>
          <p:cNvSpPr txBox="1"/>
          <p:nvPr/>
        </p:nvSpPr>
        <p:spPr>
          <a:xfrm>
            <a:off x="822960" y="9253728"/>
            <a:ext cx="14173200" cy="320040"/>
          </a:xfrm>
          <a:prstGeom prst="rect">
            <a:avLst/>
          </a:prstGeom>
          <a:noFill/>
        </p:spPr>
        <p:txBody>
          <a:bodyPr wrap="square" anchor="t" lIns="0" rIns="0" tIns="0" bIns="0">
            <a:spAutoFit/>
          </a:bodyPr>
          <a:lstStyle/>
          <a:p>
            <a:pPr algn="l">
              <a:lnSpc>
                <a:spcPct val="106000"/>
              </a:lnSpc>
              <a:spcAft>
                <a:spcPts val="0"/>
              </a:spcAft>
            </a:pPr>
            <a:r>
              <a:rPr sz="1100" b="0">
                <a:solidFill>
                  <a:srgbClr val="5B677A"/>
                </a:solidFill>
                <a:latin typeface="Calibri (MS)"/>
              </a:rPr>
              <a:t>Mẫu thật: ① ViVQA COCO_train2014_000000088123 · ② ViTextVQA train_48788 (16267.jpg), cache paddledet_vietocr. Code: src/data/ocr.py · src/prompting/builder.py (template v1) · src/eval/metrics.py</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EXISTING SYSTEM · 04 · KIẾN TRÚC BASELINE</a:t>
            </a:r>
          </a:p>
        </p:txBody>
      </p:sp>
      <p:sp>
        <p:nvSpPr>
          <p:cNvPr name="TextBox 3" id="3"/>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Qwen2.5-VL-3B-Instruct</a:t>
            </a:r>
          </a:p>
        </p:txBody>
      </p:sp>
      <p:grpSp>
        <p:nvGrpSpPr>
          <p:cNvPr name="Group 4" id="4"/>
          <p:cNvGrpSpPr/>
          <p:nvPr/>
        </p:nvGrpSpPr>
        <p:grpSpPr>
          <a:xfrm rot="0">
            <a:off x="822960" y="1988820"/>
            <a:ext cx="11384280" cy="6492907"/>
            <a:chOff x="0" y="0"/>
            <a:chExt cx="15179040" cy="8657209"/>
          </a:xfrm>
        </p:grpSpPr>
        <p:sp>
          <p:nvSpPr>
            <p:cNvPr name="Freeform 5" id="5" descr="a7"/>
            <p:cNvSpPr/>
            <p:nvPr/>
          </p:nvSpPr>
          <p:spPr>
            <a:xfrm flipH="false" flipV="false" rot="0">
              <a:off x="0" y="0"/>
              <a:ext cx="15179039" cy="8657209"/>
            </a:xfrm>
            <a:custGeom>
              <a:avLst/>
              <a:gdLst/>
              <a:ahLst/>
              <a:cxnLst/>
              <a:rect r="r" b="b" t="t" l="l"/>
              <a:pathLst>
                <a:path h="8657209" w="15179039">
                  <a:moveTo>
                    <a:pt x="0" y="0"/>
                  </a:moveTo>
                  <a:lnTo>
                    <a:pt x="15179039" y="0"/>
                  </a:lnTo>
                  <a:lnTo>
                    <a:pt x="15179039" y="8657209"/>
                  </a:lnTo>
                  <a:lnTo>
                    <a:pt x="0" y="8657209"/>
                  </a:lnTo>
                  <a:lnTo>
                    <a:pt x="0" y="0"/>
                  </a:lnTo>
                  <a:close/>
                </a:path>
              </a:pathLst>
            </a:custGeom>
            <a:blipFill>
              <a:blip r:embed="rId2"/>
              <a:stretch>
                <a:fillRect l="-6" t="0" r="-6" b="0"/>
              </a:stretch>
            </a:blipFill>
          </p:spPr>
          <p:txBody>
            <a:bodyPr/>
            <a:p/>
          </p:txBody>
        </p:sp>
      </p:grpSp>
      <p:sp>
        <p:nvSpPr>
          <p:cNvPr name="Freeform 6" id="6"/>
          <p:cNvSpPr/>
          <p:nvPr/>
        </p:nvSpPr>
        <p:spPr>
          <a:xfrm flipH="false" flipV="false" rot="0">
            <a:off x="12739211" y="1972151"/>
            <a:ext cx="4742116" cy="2570797"/>
          </a:xfrm>
          <a:custGeom>
            <a:avLst/>
            <a:gdLst/>
            <a:ahLst/>
            <a:cxnLst/>
            <a:rect r="r" b="b" t="t" l="l"/>
            <a:pathLst>
              <a:path h="2570797" w="4742116">
                <a:moveTo>
                  <a:pt x="0" y="0"/>
                </a:moveTo>
                <a:lnTo>
                  <a:pt x="4742117" y="0"/>
                </a:lnTo>
                <a:lnTo>
                  <a:pt x="4742117" y="2570798"/>
                </a:lnTo>
                <a:lnTo>
                  <a:pt x="0" y="257079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7" id="7"/>
          <p:cNvSpPr txBox="true"/>
          <p:nvPr/>
        </p:nvSpPr>
        <p:spPr>
          <a:xfrm rot="0">
            <a:off x="13098780" y="2049780"/>
            <a:ext cx="4022903"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Được train (QLoRA)</a:t>
            </a:r>
          </a:p>
        </p:txBody>
      </p:sp>
      <p:sp>
        <p:nvSpPr>
          <p:cNvPr name="TextBox 8" id="8"/>
          <p:cNvSpPr txBox="true"/>
          <p:nvPr/>
        </p:nvSpPr>
        <p:spPr>
          <a:xfrm rot="0">
            <a:off x="13098780" y="2598420"/>
            <a:ext cx="4022903" cy="1859280"/>
          </a:xfrm>
          <a:prstGeom prst="rect">
            <a:avLst/>
          </a:prstGeom>
        </p:spPr>
        <p:txBody>
          <a:bodyPr anchor="t" rtlCol="false" tIns="0" lIns="0" bIns="0" rIns="0">
            <a:spAutoFit/>
          </a:bodyPr>
          <a:lstStyle/>
          <a:p>
            <a:pPr algn="l" marL="379730" indent="-126577" lvl="2">
              <a:lnSpc>
                <a:spcPts val="2160"/>
              </a:lnSpc>
              <a:buFont typeface="Arial"/>
              <a:buChar char="⚬"/>
            </a:pPr>
            <a:r>
              <a:rPr lang="en-US" sz="1800">
                <a:solidFill>
                  <a:srgbClr val="243044"/>
                </a:solidFill>
                <a:latin typeface="Calibri (MS)"/>
                <a:ea typeface="Calibri (MS)"/>
                <a:cs typeface="Calibri (MS)"/>
                <a:sym typeface="Calibri (MS)"/>
              </a:rPr>
              <a:t>LoRA r = 16, α = 32 trên q, k, v, o</a:t>
            </a:r>
          </a:p>
          <a:p>
            <a:pPr algn="l" marL="379730" indent="-126577" lvl="2">
              <a:lnSpc>
                <a:spcPts val="2160"/>
              </a:lnSpc>
              <a:buFont typeface="Arial"/>
              <a:buChar char="⚬"/>
            </a:pPr>
            <a:r>
              <a:rPr lang="en-US" sz="1800">
                <a:solidFill>
                  <a:srgbClr val="243044"/>
                </a:solidFill>
                <a:latin typeface="Calibri (MS)"/>
                <a:ea typeface="Calibri (MS)"/>
                <a:cs typeface="Calibri (MS)"/>
                <a:sym typeface="Calibri (MS)"/>
              </a:rPr>
              <a:t>7.372.800 tham số = 0,196% · 29,5 MB</a:t>
            </a:r>
          </a:p>
          <a:p>
            <a:pPr algn="l" marL="379730" indent="-126577" lvl="2">
              <a:lnSpc>
                <a:spcPts val="2160"/>
              </a:lnSpc>
              <a:buFont typeface="Arial"/>
              <a:buChar char="⚬"/>
            </a:pPr>
            <a:r>
              <a:rPr lang="en-US" sz="1800">
                <a:solidFill>
                  <a:srgbClr val="243044"/>
                </a:solidFill>
                <a:latin typeface="Calibri (MS)"/>
                <a:ea typeface="Calibri (MS)"/>
                <a:cs typeface="Calibri (MS)"/>
                <a:sym typeface="Calibri (MS)"/>
              </a:rPr>
              <a:t>Còn lại đóng băng, LLM 4-bit NF4</a:t>
            </a:r>
          </a:p>
        </p:txBody>
      </p:sp>
      <p:sp>
        <p:nvSpPr>
          <p:cNvPr name="Freeform 9" id="9"/>
          <p:cNvSpPr/>
          <p:nvPr/>
        </p:nvSpPr>
        <p:spPr>
          <a:xfrm flipH="false" flipV="false" rot="0">
            <a:off x="12739211" y="4715351"/>
            <a:ext cx="4742021" cy="4696778"/>
          </a:xfrm>
          <a:custGeom>
            <a:avLst/>
            <a:gdLst/>
            <a:ahLst/>
            <a:cxnLst/>
            <a:rect r="r" b="b" t="t" l="l"/>
            <a:pathLst>
              <a:path h="4696778" w="4742021">
                <a:moveTo>
                  <a:pt x="0" y="0"/>
                </a:moveTo>
                <a:lnTo>
                  <a:pt x="4742021" y="0"/>
                </a:lnTo>
                <a:lnTo>
                  <a:pt x="4742021" y="4696778"/>
                </a:lnTo>
                <a:lnTo>
                  <a:pt x="0" y="469677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TextBox 10" id="10"/>
          <p:cNvSpPr txBox="true"/>
          <p:nvPr/>
        </p:nvSpPr>
        <p:spPr>
          <a:xfrm rot="0">
            <a:off x="13098780" y="4792980"/>
            <a:ext cx="4022903"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Luồng dữ liệu (vào → ra)</a:t>
            </a:r>
          </a:p>
        </p:txBody>
      </p:sp>
      <p:sp>
        <p:nvSpPr>
          <p:cNvPr name="TextBox 11" id="11"/>
          <p:cNvSpPr txBox="true"/>
          <p:nvPr/>
        </p:nvSpPr>
        <p:spPr>
          <a:xfrm rot="0">
            <a:off x="13098780" y="5382768"/>
            <a:ext cx="4022903" cy="3230880"/>
          </a:xfrm>
          <a:prstGeom prst="rect">
            <a:avLst/>
          </a:prstGeom>
        </p:spPr>
        <p:txBody>
          <a:bodyPr anchor="t" rtlCol="false" tIns="0" lIns="0" bIns="0" rIns="0">
            <a:spAutoFit/>
          </a:bodyPr>
          <a:lstStyle/>
          <a:p>
            <a:pPr algn="l">
              <a:lnSpc>
                <a:spcPts val="2070"/>
              </a:lnSpc>
            </a:pPr>
            <a:r>
              <a:rPr lang="en-US" sz="1725" b="true">
                <a:solidFill>
                  <a:srgbClr val="13294B"/>
                </a:solidFill>
                <a:latin typeface="Calibri (MS) Bold"/>
                <a:ea typeface="Calibri (MS) Bold"/>
                <a:cs typeface="Calibri (MS) Bold"/>
                <a:sym typeface="Calibri (MS) Bold"/>
              </a:rPr>
              <a:t>1 · Ảnh → ViT: </a:t>
            </a:r>
            <a:r>
              <a:rPr lang="en-US" sz="1725">
                <a:solidFill>
                  <a:srgbClr val="243044"/>
                </a:solidFill>
                <a:latin typeface="Calibri (MS)"/>
                <a:ea typeface="Calibri (MS)"/>
                <a:cs typeface="Calibri (MS)"/>
                <a:sym typeface="Calibri (MS)"/>
              </a:rPr>
              <a:t>≤ 401.408 px → patch 14×14 → 32 khối</a:t>
            </a:r>
          </a:p>
          <a:p>
            <a:pPr algn="l">
              <a:lnSpc>
                <a:spcPts val="540"/>
              </a:lnSpc>
            </a:pPr>
            <a:r>
              <a:rPr lang="en-US" sz="450">
                <a:solidFill>
                  <a:srgbClr val="243044"/>
                </a:solidFill>
                <a:latin typeface="Calibri (MS)"/>
                <a:ea typeface="Calibri (MS)"/>
                <a:cs typeface="Calibri (MS)"/>
                <a:sym typeface="Calibri (MS)"/>
              </a:rPr>
              <a:t> </a:t>
            </a:r>
          </a:p>
          <a:p>
            <a:pPr algn="l">
              <a:lnSpc>
                <a:spcPts val="2070"/>
              </a:lnSpc>
            </a:pPr>
            <a:r>
              <a:rPr lang="en-US" sz="1725" b="true">
                <a:solidFill>
                  <a:srgbClr val="13294B"/>
                </a:solidFill>
                <a:latin typeface="Calibri (MS) Bold"/>
                <a:ea typeface="Calibri (MS) Bold"/>
                <a:cs typeface="Calibri (MS) Bold"/>
                <a:sym typeface="Calibri (MS) Bold"/>
              </a:rPr>
              <a:t>2 · Patch merger: </a:t>
            </a:r>
            <a:r>
              <a:rPr lang="en-US" sz="1725">
                <a:solidFill>
                  <a:srgbClr val="243044"/>
                </a:solidFill>
                <a:latin typeface="Calibri (MS)"/>
                <a:ea typeface="Calibri (MS)"/>
                <a:cs typeface="Calibri (MS)"/>
                <a:sym typeface="Calibri (MS)"/>
              </a:rPr>
              <a:t>2×2 patch → 1 token (2048 chiều) → 256–512 token ảnh</a:t>
            </a:r>
          </a:p>
          <a:p>
            <a:pPr algn="l">
              <a:lnSpc>
                <a:spcPts val="540"/>
              </a:lnSpc>
            </a:pPr>
            <a:r>
              <a:rPr lang="en-US" sz="450">
                <a:solidFill>
                  <a:srgbClr val="243044"/>
                </a:solidFill>
                <a:latin typeface="Calibri (MS)"/>
                <a:ea typeface="Calibri (MS)"/>
                <a:cs typeface="Calibri (MS)"/>
                <a:sym typeface="Calibri (MS)"/>
              </a:rPr>
              <a:t> </a:t>
            </a:r>
          </a:p>
          <a:p>
            <a:pPr algn="l">
              <a:lnSpc>
                <a:spcPts val="2070"/>
              </a:lnSpc>
            </a:pPr>
            <a:r>
              <a:rPr lang="en-US" sz="1725" b="true">
                <a:solidFill>
                  <a:srgbClr val="13294B"/>
                </a:solidFill>
                <a:latin typeface="Calibri (MS) Bold"/>
                <a:ea typeface="Calibri (MS) Bold"/>
                <a:cs typeface="Calibri (MS) Bold"/>
                <a:sym typeface="Calibri (MS) Bold"/>
              </a:rPr>
              <a:t>3 · Prompt P0: </a:t>
            </a:r>
            <a:r>
              <a:rPr lang="en-US" sz="1725">
                <a:solidFill>
                  <a:srgbClr val="243044"/>
                </a:solidFill>
                <a:latin typeface="Calibri (MS)"/>
                <a:ea typeface="Calibri (MS)"/>
                <a:cs typeface="Calibri (MS)"/>
                <a:sym typeface="Calibri (MS)"/>
              </a:rPr>
              <a:t>chat template + token ảnh + câu hỏi tiếng Việt</a:t>
            </a:r>
          </a:p>
          <a:p>
            <a:pPr algn="l">
              <a:lnSpc>
                <a:spcPts val="540"/>
              </a:lnSpc>
            </a:pPr>
            <a:r>
              <a:rPr lang="en-US" sz="450">
                <a:solidFill>
                  <a:srgbClr val="243044"/>
                </a:solidFill>
                <a:latin typeface="Calibri (MS)"/>
                <a:ea typeface="Calibri (MS)"/>
                <a:cs typeface="Calibri (MS)"/>
                <a:sym typeface="Calibri (MS)"/>
              </a:rPr>
              <a:t> </a:t>
            </a:r>
          </a:p>
          <a:p>
            <a:pPr algn="l">
              <a:lnSpc>
                <a:spcPts val="2070"/>
              </a:lnSpc>
            </a:pPr>
            <a:r>
              <a:rPr lang="en-US" sz="1725" b="true">
                <a:solidFill>
                  <a:srgbClr val="13294B"/>
                </a:solidFill>
                <a:latin typeface="Calibri (MS) Bold"/>
                <a:ea typeface="Calibri (MS) Bold"/>
                <a:cs typeface="Calibri (MS) Bold"/>
                <a:sym typeface="Calibri (MS) Bold"/>
              </a:rPr>
              <a:t>4 · Decoder (+LoRA): </a:t>
            </a:r>
            <a:r>
              <a:rPr lang="en-US" sz="1725">
                <a:solidFill>
                  <a:srgbClr val="243044"/>
                </a:solidFill>
                <a:latin typeface="Calibri (MS)"/>
                <a:ea typeface="Calibri (MS)"/>
                <a:cs typeface="Calibri (MS)"/>
                <a:sym typeface="Calibri (MS)"/>
              </a:rPr>
              <a:t>sinh tham lam, ≤ 32 token → chuẩn hoá → EM / ANLS</a:t>
            </a:r>
          </a:p>
        </p:txBody>
      </p:sp>
      <p:sp>
        <p:nvSpPr>
          <p:cNvPr name="TextBox 12" id="12"/>
          <p:cNvSpPr txBox="true"/>
          <p:nvPr/>
        </p:nvSpPr>
        <p:spPr>
          <a:xfrm rot="0">
            <a:off x="13098780" y="8583930"/>
            <a:ext cx="4022903" cy="674370"/>
          </a:xfrm>
          <a:prstGeom prst="rect">
            <a:avLst/>
          </a:prstGeom>
        </p:spPr>
        <p:txBody>
          <a:bodyPr anchor="t" rtlCol="false" tIns="0" lIns="0" bIns="0" rIns="0">
            <a:spAutoFit/>
          </a:bodyPr>
          <a:lstStyle/>
          <a:p>
            <a:pPr algn="l">
              <a:lnSpc>
                <a:spcPts val="1980"/>
              </a:lnSpc>
            </a:pPr>
            <a:r>
              <a:rPr lang="en-US" sz="1650" i="true">
                <a:solidFill>
                  <a:srgbClr val="1C7293"/>
                </a:solidFill>
                <a:latin typeface="Calibri (MS) Italics"/>
                <a:ea typeface="Calibri (MS) Italics"/>
                <a:cs typeface="Calibri (MS) Italics"/>
                <a:sym typeface="Calibri (MS) Italics"/>
              </a:rPr>
              <a:t>Baseline không dùng OCR — OCR là cải tiến B3 (slide 28).</a:t>
            </a:r>
          </a:p>
        </p:txBody>
      </p:sp>
      <p:grpSp>
        <p:nvGrpSpPr>
          <p:cNvPr name="Group 13" id="13"/>
          <p:cNvGrpSpPr/>
          <p:nvPr/>
        </p:nvGrpSpPr>
        <p:grpSpPr>
          <a:xfrm rot="0">
            <a:off x="15458732" y="0"/>
            <a:ext cx="2829268" cy="1184338"/>
            <a:chOff x="0" y="0"/>
            <a:chExt cx="3772357" cy="1579118"/>
          </a:xfrm>
        </p:grpSpPr>
        <p:sp>
          <p:nvSpPr>
            <p:cNvPr name="Freeform 14" id="14"/>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7"/>
              <a:stretch>
                <a:fillRect l="0" t="0" r="1" b="0"/>
              </a:stretch>
            </a:blipFill>
          </p:spPr>
          <p:txBody>
            <a:bodyPr/>
            <a:p/>
          </p:txBody>
        </p:sp>
      </p:grpSp>
      <p:grpSp>
        <p:nvGrpSpPr>
          <p:cNvPr name="Group 15" id="15"/>
          <p:cNvGrpSpPr/>
          <p:nvPr/>
        </p:nvGrpSpPr>
        <p:grpSpPr>
          <a:xfrm rot="0">
            <a:off x="822960" y="9641205"/>
            <a:ext cx="13716000" cy="440055"/>
            <a:chOff x="0" y="0"/>
            <a:chExt cx="18288000" cy="586740"/>
          </a:xfrm>
        </p:grpSpPr>
        <p:sp>
          <p:nvSpPr>
            <p:cNvPr name="Freeform 16" id="16"/>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8">
                <a:alphaModFix amt="0"/>
              </a:blip>
              <a:stretch>
                <a:fillRect l="0" t="-557325" r="0" b="-557325"/>
              </a:stretch>
            </a:blipFill>
          </p:spPr>
          <p:txBody>
            <a:bodyPr/>
            <a:p/>
          </p:txBody>
        </p:sp>
        <p:sp>
          <p:nvSpPr>
            <p:cNvPr name="TextBox 17" id="17"/>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EXISTING SYSTEM · 05 · GIAO THỨC ĐÁNH GIÁ</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Mọi run theo một giao thức cố định</a:t>
            </a:r>
          </a:p>
        </p:txBody>
      </p:sp>
      <p:grpSp>
        <p:nvGrpSpPr>
          <p:cNvPr name="Group 6" id="6"/>
          <p:cNvGrpSpPr/>
          <p:nvPr/>
        </p:nvGrpSpPr>
        <p:grpSpPr>
          <a:xfrm rot="0">
            <a:off x="822960" y="1988820"/>
            <a:ext cx="16641604" cy="3242881"/>
            <a:chOff x="0" y="0"/>
            <a:chExt cx="22188805" cy="4323842"/>
          </a:xfrm>
        </p:grpSpPr>
        <p:sp>
          <p:nvSpPr>
            <p:cNvPr name="Freeform 7" id="7" descr="b7"/>
            <p:cNvSpPr/>
            <p:nvPr/>
          </p:nvSpPr>
          <p:spPr>
            <a:xfrm flipH="false" flipV="false" rot="0">
              <a:off x="0" y="0"/>
              <a:ext cx="22188805" cy="4323842"/>
            </a:xfrm>
            <a:custGeom>
              <a:avLst/>
              <a:gdLst/>
              <a:ahLst/>
              <a:cxnLst/>
              <a:rect r="r" b="b" t="t" l="l"/>
              <a:pathLst>
                <a:path h="4323842" w="22188805">
                  <a:moveTo>
                    <a:pt x="0" y="0"/>
                  </a:moveTo>
                  <a:lnTo>
                    <a:pt x="22188805" y="0"/>
                  </a:lnTo>
                  <a:lnTo>
                    <a:pt x="22188805" y="4323842"/>
                  </a:lnTo>
                  <a:lnTo>
                    <a:pt x="0" y="4323842"/>
                  </a:lnTo>
                  <a:lnTo>
                    <a:pt x="0" y="0"/>
                  </a:lnTo>
                  <a:close/>
                </a:path>
              </a:pathLst>
            </a:custGeom>
            <a:blipFill>
              <a:blip r:embed="rId3"/>
              <a:stretch>
                <a:fillRect l="0" t="0" r="0" b="0"/>
              </a:stretch>
            </a:blipFill>
          </p:spPr>
          <p:txBody>
            <a:bodyPr/>
            <a:p/>
          </p:txBody>
        </p:sp>
      </p:grpSp>
      <p:sp>
        <p:nvSpPr>
          <p:cNvPr name="Freeform 8" id="8"/>
          <p:cNvSpPr/>
          <p:nvPr/>
        </p:nvSpPr>
        <p:spPr>
          <a:xfrm flipH="false" flipV="false" rot="0">
            <a:off x="806291" y="5626532"/>
            <a:ext cx="5214747" cy="3031236"/>
          </a:xfrm>
          <a:custGeom>
            <a:avLst/>
            <a:gdLst/>
            <a:ahLst/>
            <a:cxnLst/>
            <a:rect r="r" b="b" t="t" l="l"/>
            <a:pathLst>
              <a:path h="3031236" w="5214747">
                <a:moveTo>
                  <a:pt x="0" y="0"/>
                </a:moveTo>
                <a:lnTo>
                  <a:pt x="5214747" y="0"/>
                </a:lnTo>
                <a:lnTo>
                  <a:pt x="5214747" y="3031236"/>
                </a:lnTo>
                <a:lnTo>
                  <a:pt x="0" y="303123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9" id="9"/>
          <p:cNvSpPr txBox="true"/>
          <p:nvPr/>
        </p:nvSpPr>
        <p:spPr>
          <a:xfrm rot="0">
            <a:off x="1165860" y="5772741"/>
            <a:ext cx="4495648"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Cấu hình cố định</a:t>
            </a:r>
          </a:p>
        </p:txBody>
      </p:sp>
      <p:sp>
        <p:nvSpPr>
          <p:cNvPr name="TextBox 10" id="10"/>
          <p:cNvSpPr txBox="true"/>
          <p:nvPr/>
        </p:nvSpPr>
        <p:spPr>
          <a:xfrm rot="0">
            <a:off x="1165860" y="6370911"/>
            <a:ext cx="4495648" cy="2133009"/>
          </a:xfrm>
          <a:prstGeom prst="rect">
            <a:avLst/>
          </a:prstGeom>
        </p:spPr>
        <p:txBody>
          <a:bodyPr anchor="t" rtlCol="false" tIns="0" lIns="0" bIns="0" rIns="0">
            <a:spAutoFit/>
          </a:bodyPr>
          <a:lstStyle/>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Tính bf16, 4-bit NF4 + double quant</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Tối đa 512 token ảnh</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Greedy, 32 token sinh</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Seed 42 · NVIDIA L4</a:t>
            </a:r>
          </a:p>
        </p:txBody>
      </p:sp>
      <p:sp>
        <p:nvSpPr>
          <p:cNvPr name="Freeform 11" id="11"/>
          <p:cNvSpPr/>
          <p:nvPr/>
        </p:nvSpPr>
        <p:spPr>
          <a:xfrm flipH="false" flipV="false" rot="0">
            <a:off x="6536379" y="5626532"/>
            <a:ext cx="5214747" cy="3031236"/>
          </a:xfrm>
          <a:custGeom>
            <a:avLst/>
            <a:gdLst/>
            <a:ahLst/>
            <a:cxnLst/>
            <a:rect r="r" b="b" t="t" l="l"/>
            <a:pathLst>
              <a:path h="3031236" w="5214747">
                <a:moveTo>
                  <a:pt x="0" y="0"/>
                </a:moveTo>
                <a:lnTo>
                  <a:pt x="5214747" y="0"/>
                </a:lnTo>
                <a:lnTo>
                  <a:pt x="5214747" y="3031236"/>
                </a:lnTo>
                <a:lnTo>
                  <a:pt x="0" y="303123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12" id="12"/>
          <p:cNvSpPr txBox="true"/>
          <p:nvPr/>
        </p:nvSpPr>
        <p:spPr>
          <a:xfrm rot="0">
            <a:off x="6895948" y="5772741"/>
            <a:ext cx="4495648"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Metric</a:t>
            </a:r>
          </a:p>
        </p:txBody>
      </p:sp>
      <p:sp>
        <p:nvSpPr>
          <p:cNvPr name="TextBox 13" id="13"/>
          <p:cNvSpPr txBox="true"/>
          <p:nvPr/>
        </p:nvSpPr>
        <p:spPr>
          <a:xfrm rot="0">
            <a:off x="6895948" y="6370911"/>
            <a:ext cx="4495648" cy="2133009"/>
          </a:xfrm>
          <a:prstGeom prst="rect">
            <a:avLst/>
          </a:prstGeom>
        </p:spPr>
        <p:txBody>
          <a:bodyPr anchor="t" rtlCol="false" tIns="0" lIns="0" bIns="0" rIns="0">
            <a:spAutoFit/>
          </a:bodyPr>
          <a:lstStyle/>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Chính: EM, VQA-Acc, ANLS</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Phụ: token-F1 (để so với paper)</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Chuẩn hoá tiếng Việt đối xứng, giữ dấu thanh</a:t>
            </a:r>
          </a:p>
        </p:txBody>
      </p:sp>
      <p:sp>
        <p:nvSpPr>
          <p:cNvPr name="Freeform 14" id="14"/>
          <p:cNvSpPr/>
          <p:nvPr/>
        </p:nvSpPr>
        <p:spPr>
          <a:xfrm flipH="false" flipV="false" rot="0">
            <a:off x="12266466" y="5626532"/>
            <a:ext cx="5214747" cy="3031236"/>
          </a:xfrm>
          <a:custGeom>
            <a:avLst/>
            <a:gdLst/>
            <a:ahLst/>
            <a:cxnLst/>
            <a:rect r="r" b="b" t="t" l="l"/>
            <a:pathLst>
              <a:path h="3031236" w="5214747">
                <a:moveTo>
                  <a:pt x="0" y="0"/>
                </a:moveTo>
                <a:lnTo>
                  <a:pt x="5214747" y="0"/>
                </a:lnTo>
                <a:lnTo>
                  <a:pt x="5214747" y="3031236"/>
                </a:lnTo>
                <a:lnTo>
                  <a:pt x="0" y="303123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15" id="15"/>
          <p:cNvSpPr txBox="true"/>
          <p:nvPr/>
        </p:nvSpPr>
        <p:spPr>
          <a:xfrm rot="0">
            <a:off x="12626035" y="5772741"/>
            <a:ext cx="4495648"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Thống kê</a:t>
            </a:r>
          </a:p>
        </p:txBody>
      </p:sp>
      <p:sp>
        <p:nvSpPr>
          <p:cNvPr name="TextBox 16" id="16"/>
          <p:cNvSpPr txBox="true"/>
          <p:nvPr/>
        </p:nvSpPr>
        <p:spPr>
          <a:xfrm rot="0">
            <a:off x="12626035" y="6370911"/>
            <a:ext cx="4495648" cy="2133009"/>
          </a:xfrm>
          <a:prstGeom prst="rect">
            <a:avLst/>
          </a:prstGeom>
        </p:spPr>
        <p:txBody>
          <a:bodyPr anchor="t" rtlCol="false" tIns="0" lIns="0" bIns="0" rIns="0">
            <a:spAutoFit/>
          </a:bodyPr>
          <a:lstStyle/>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Kiểm định McNemar chính xác, ghép cặp (EM)</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CI95 bootstrap ghép cặp (ANLS)</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Luật kết luận chốt trước mỗi run</a:t>
            </a:r>
          </a:p>
        </p:txBody>
      </p:sp>
      <p:grpSp>
        <p:nvGrpSpPr>
          <p:cNvPr name="Group 17" id="17"/>
          <p:cNvGrpSpPr/>
          <p:nvPr/>
        </p:nvGrpSpPr>
        <p:grpSpPr>
          <a:xfrm rot="0">
            <a:off x="822960" y="8750808"/>
            <a:ext cx="16641623" cy="822960"/>
            <a:chOff x="0" y="0"/>
            <a:chExt cx="22188830" cy="1097280"/>
          </a:xfrm>
        </p:grpSpPr>
        <p:sp>
          <p:nvSpPr>
            <p:cNvPr name="Freeform 18" id="18"/>
            <p:cNvSpPr/>
            <p:nvPr/>
          </p:nvSpPr>
          <p:spPr>
            <a:xfrm flipH="false" flipV="false" rot="0">
              <a:off x="0" y="0"/>
              <a:ext cx="22188805" cy="1097280"/>
            </a:xfrm>
            <a:custGeom>
              <a:avLst/>
              <a:gdLst/>
              <a:ahLst/>
              <a:cxnLst/>
              <a:rect r="r" b="b" t="t" l="l"/>
              <a:pathLst>
                <a:path h="1097280" w="22188805">
                  <a:moveTo>
                    <a:pt x="0" y="0"/>
                  </a:moveTo>
                  <a:lnTo>
                    <a:pt x="22188805" y="0"/>
                  </a:lnTo>
                  <a:lnTo>
                    <a:pt x="22188805" y="1097280"/>
                  </a:lnTo>
                  <a:lnTo>
                    <a:pt x="0" y="1097280"/>
                  </a:lnTo>
                  <a:close/>
                </a:path>
              </a:pathLst>
            </a:custGeom>
            <a:blipFill>
              <a:blip r:embed="rId2">
                <a:alphaModFix amt="0"/>
              </a:blip>
              <a:stretch>
                <a:fillRect l="0" t="-343745" r="0" b="-343746"/>
              </a:stretch>
            </a:blipFill>
          </p:spPr>
          <p:txBody>
            <a:bodyPr/>
            <a:p/>
          </p:txBody>
        </p:sp>
      </p:grpSp>
      <p:grpSp>
        <p:nvGrpSpPr>
          <p:cNvPr name="Group 19" id="19"/>
          <p:cNvGrpSpPr/>
          <p:nvPr/>
        </p:nvGrpSpPr>
        <p:grpSpPr>
          <a:xfrm rot="0">
            <a:off x="822960" y="8722233"/>
            <a:ext cx="16641623" cy="851535"/>
            <a:chOff x="0" y="0"/>
            <a:chExt cx="22188830" cy="1135380"/>
          </a:xfrm>
        </p:grpSpPr>
        <p:sp>
          <p:nvSpPr>
            <p:cNvPr name="Freeform 20" id="20"/>
            <p:cNvSpPr/>
            <p:nvPr/>
          </p:nvSpPr>
          <p:spPr>
            <a:xfrm flipH="false" flipV="false" rot="0">
              <a:off x="0" y="0"/>
              <a:ext cx="22188830" cy="1135380"/>
            </a:xfrm>
            <a:custGeom>
              <a:avLst/>
              <a:gdLst/>
              <a:ahLst/>
              <a:cxnLst/>
              <a:rect r="r" b="b" t="t" l="l"/>
              <a:pathLst>
                <a:path h="1135380" w="22188830">
                  <a:moveTo>
                    <a:pt x="0" y="0"/>
                  </a:moveTo>
                  <a:lnTo>
                    <a:pt x="22188830" y="0"/>
                  </a:lnTo>
                  <a:lnTo>
                    <a:pt x="22188830" y="1135380"/>
                  </a:lnTo>
                  <a:lnTo>
                    <a:pt x="0" y="1135380"/>
                  </a:lnTo>
                  <a:close/>
                </a:path>
              </a:pathLst>
            </a:custGeom>
            <a:blipFill>
              <a:blip r:embed="rId6">
                <a:alphaModFix amt="0"/>
              </a:blip>
              <a:stretch>
                <a:fillRect l="0" t="-330797" r="0" b="-330797"/>
              </a:stretch>
            </a:blipFill>
          </p:spPr>
          <p:txBody>
            <a:bodyPr/>
            <a:p/>
          </p:txBody>
        </p:sp>
        <p:sp>
          <p:nvSpPr>
            <p:cNvPr name="TextBox 21" id="21"/>
            <p:cNvSpPr txBox="true"/>
            <p:nvPr/>
          </p:nvSpPr>
          <p:spPr>
            <a:xfrm>
              <a:off x="0" y="-38100"/>
              <a:ext cx="22188830" cy="1173480"/>
            </a:xfrm>
            <a:prstGeom prst="rect">
              <a:avLst/>
            </a:prstGeom>
          </p:spPr>
          <p:txBody>
            <a:bodyPr anchor="b" rtlCol="false" tIns="0" lIns="0" bIns="0" rIns="0"/>
            <a:lstStyle/>
            <a:p>
              <a:pPr algn="l">
                <a:lnSpc>
                  <a:spcPts val="1800"/>
                </a:lnSpc>
              </a:pPr>
              <a:r>
                <a:rPr lang="en-US" sz="1500">
                  <a:solidFill>
                    <a:srgbClr val="6B7280"/>
                  </a:solidFill>
                  <a:latin typeface="Calibri (MS)"/>
                  <a:ea typeface="Calibri (MS)"/>
                  <a:cs typeface="Calibri (MS)"/>
                  <a:sym typeface="Calibri (MS)"/>
                </a:rPr>
                <a:t>EM = Exact Match (khớp tuyệt đối) · VQA-Acc = VQA Accuracy (min(số gold khớp / 3, 1); = EM khi chỉ có 1 gold) · ANLS = Average Normalized Levenshtein Similarity (ngưỡng 0,5) · F1 = F1 theo token · bf16 = bfloat16 · NF4 = 4-bit NormalFloat (QLoRA) · CI95 = khoảng tin cậy 95% · McNemar = kiểm định ghép cặp trên các câu chỉ một run đúng</a:t>
              </a:r>
            </a:p>
          </p:txBody>
        </p:sp>
      </p:grpSp>
      <p:grpSp>
        <p:nvGrpSpPr>
          <p:cNvPr name="Group 22" id="22"/>
          <p:cNvGrpSpPr/>
          <p:nvPr/>
        </p:nvGrpSpPr>
        <p:grpSpPr>
          <a:xfrm rot="0">
            <a:off x="15458732" y="0"/>
            <a:ext cx="2829268" cy="1184338"/>
            <a:chOff x="0" y="0"/>
            <a:chExt cx="3772357" cy="1579118"/>
          </a:xfrm>
        </p:grpSpPr>
        <p:sp>
          <p:nvSpPr>
            <p:cNvPr name="Freeform 23" id="23"/>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7"/>
              <a:stretch>
                <a:fillRect l="0" t="0" r="1" b="0"/>
              </a:stretch>
            </a:blipFill>
          </p:spPr>
          <p:txBody>
            <a:bodyPr/>
            <a:p/>
          </p:txBody>
        </p:sp>
      </p:grpSp>
      <p:grpSp>
        <p:nvGrpSpPr>
          <p:cNvPr name="Group 24" id="24"/>
          <p:cNvGrpSpPr/>
          <p:nvPr/>
        </p:nvGrpSpPr>
        <p:grpSpPr>
          <a:xfrm rot="0">
            <a:off x="822960" y="9641205"/>
            <a:ext cx="13716000" cy="440055"/>
            <a:chOff x="0" y="0"/>
            <a:chExt cx="18288000" cy="586740"/>
          </a:xfrm>
        </p:grpSpPr>
        <p:sp>
          <p:nvSpPr>
            <p:cNvPr name="Freeform 25" id="2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6">
                <a:alphaModFix amt="0"/>
              </a:blip>
              <a:stretch>
                <a:fillRect l="0" t="-557325" r="0" b="-557325"/>
              </a:stretch>
            </a:blipFill>
          </p:spPr>
          <p:txBody>
            <a:bodyPr/>
            <a:p/>
          </p:txBody>
        </p:sp>
        <p:sp>
          <p:nvSpPr>
            <p:cNvPr name="TextBox 26" id="26"/>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7325" r="0" b="-557325"/>
              </a:stretch>
            </a:blipFill>
          </p:spPr>
          <p:txBody>
            <a:bodyPr/>
            <a:p/>
          </p:txBody>
        </p:sp>
        <p:sp>
          <p:nvSpPr>
            <p:cNvPr name="TextBox 6" id="6"/>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Review 2 (cộng dồn) · GFA26AI35 · Đại học FPT</a:t>
              </a:r>
            </a:p>
          </p:txBody>
        </p:sp>
      </p:grpSp>
      <p:sp>
        <p:nvSpPr>
          <p:cNvPr name="TextBox 7" id="7"/>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EXISTING SYSTEM · 06 · KIỂM CHỨNG PIPELINE (R0)</a:t>
            </a:r>
          </a:p>
        </p:txBody>
      </p:sp>
      <p:sp>
        <p:nvSpPr>
          <p:cNvPr name="TextBox 8" id="8"/>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Baseline tái lập đúng số đã công bố</a:t>
            </a:r>
          </a:p>
        </p:txBody>
      </p:sp>
      <p:sp>
        <p:nvSpPr>
          <p:cNvPr name="Freeform 11" id="11"/>
          <p:cNvSpPr/>
          <p:nvPr/>
        </p:nvSpPr>
        <p:spPr>
          <a:xfrm flipH="false" flipV="false" rot="0">
            <a:off x="11230451" y="2040731"/>
            <a:ext cx="6250781" cy="3393758"/>
          </a:xfrm>
          <a:custGeom>
            <a:avLst/>
            <a:gdLst/>
            <a:ahLst/>
            <a:cxnLst/>
            <a:rect r="r" b="b" t="t" l="l"/>
            <a:pathLst>
              <a:path h="3393758" w="6250781">
                <a:moveTo>
                  <a:pt x="0" y="0"/>
                </a:moveTo>
                <a:lnTo>
                  <a:pt x="6250781" y="0"/>
                </a:lnTo>
                <a:lnTo>
                  <a:pt x="6250781" y="3393758"/>
                </a:lnTo>
                <a:lnTo>
                  <a:pt x="0" y="339375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TextBox 12" id="12"/>
          <p:cNvSpPr txBox="true"/>
          <p:nvPr/>
        </p:nvSpPr>
        <p:spPr>
          <a:xfrm rot="0">
            <a:off x="11658600" y="2186940"/>
            <a:ext cx="5394503"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Luật chốt trước khi chạy</a:t>
            </a:r>
          </a:p>
        </p:txBody>
      </p:sp>
      <p:sp>
        <p:nvSpPr>
          <p:cNvPr name="TextBox 13" id="13"/>
          <p:cNvSpPr txBox="true"/>
          <p:nvPr/>
        </p:nvSpPr>
        <p:spPr>
          <a:xfrm rot="0">
            <a:off x="11658600" y="2766060"/>
            <a:ext cx="5394503" cy="2446020"/>
          </a:xfrm>
          <a:prstGeom prst="rect">
            <a:avLst/>
          </a:prstGeom>
        </p:spPr>
        <p:txBody>
          <a:bodyPr anchor="t" rtlCol="false" tIns="0" lIns="0" bIns="0" rIns="0">
            <a:spAutoFit/>
          </a:bodyPr>
          <a:lstStyle/>
          <a:p>
            <a:pPr algn="l">
              <a:lnSpc>
                <a:spcPts val="2700"/>
              </a:lnSpc>
            </a:pPr>
            <a:r>
              <a:rPr lang="en-US" sz="2250">
                <a:solidFill>
                  <a:srgbClr val="243044"/>
                </a:solidFill>
                <a:latin typeface="Calibri (MS)"/>
                <a:ea typeface="Calibri (MS)"/>
                <a:cs typeface="Calibri (MS)"/>
                <a:sym typeface="Calibri (MS)"/>
              </a:rPr>
              <a:t>Tái lập được nếu |nhóm − 79,3| ≤ 2,0 trên toàn bộ val → 79,6 (+0,3): đạt.</a:t>
            </a:r>
          </a:p>
        </p:txBody>
      </p:sp>
      <p:sp>
        <p:nvSpPr>
          <p:cNvPr name="Freeform 14" id="14"/>
          <p:cNvSpPr/>
          <p:nvPr/>
        </p:nvSpPr>
        <p:spPr>
          <a:xfrm flipH="false" flipV="false" rot="0">
            <a:off x="11230451" y="5675471"/>
            <a:ext cx="6250781" cy="3668078"/>
          </a:xfrm>
          <a:custGeom>
            <a:avLst/>
            <a:gdLst/>
            <a:ahLst/>
            <a:cxnLst/>
            <a:rect r="r" b="b" t="t" l="l"/>
            <a:pathLst>
              <a:path h="3668078" w="6250781">
                <a:moveTo>
                  <a:pt x="0" y="0"/>
                </a:moveTo>
                <a:lnTo>
                  <a:pt x="6250781" y="0"/>
                </a:lnTo>
                <a:lnTo>
                  <a:pt x="6250781" y="3668078"/>
                </a:lnTo>
                <a:lnTo>
                  <a:pt x="0" y="366807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sp>
        <p:nvSpPr>
          <p:cNvPr name="TextBox 15" id="15"/>
          <p:cNvSpPr txBox="true"/>
          <p:nvPr/>
        </p:nvSpPr>
        <p:spPr>
          <a:xfrm rot="0">
            <a:off x="11658600" y="5821680"/>
            <a:ext cx="5394503"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Cái giá của cấu hình tiết kiệm</a:t>
            </a:r>
          </a:p>
        </p:txBody>
      </p:sp>
      <p:sp>
        <p:nvSpPr>
          <p:cNvPr name="TextBox 16" id="16"/>
          <p:cNvSpPr txBox="true"/>
          <p:nvPr/>
        </p:nvSpPr>
        <p:spPr>
          <a:xfrm rot="0">
            <a:off x="11658600" y="6400800"/>
            <a:ext cx="5394503" cy="2720340"/>
          </a:xfrm>
          <a:prstGeom prst="rect">
            <a:avLst/>
          </a:prstGeom>
        </p:spPr>
        <p:txBody>
          <a:bodyPr anchor="t" rtlCol="false" tIns="0" lIns="0" bIns="0" rIns="0">
            <a:spAutoFit/>
          </a:bodyPr>
          <a:lstStyle/>
          <a:p>
            <a:pPr algn="l" marL="474662" indent="-158221" lvl="2">
              <a:lnSpc>
                <a:spcPts val="2700"/>
              </a:lnSpc>
              <a:buFont typeface="Arial"/>
              <a:buChar char="⚬"/>
            </a:pPr>
            <a:r>
              <a:rPr lang="en-US" sz="2250">
                <a:solidFill>
                  <a:srgbClr val="243044"/>
                </a:solidFill>
                <a:latin typeface="Calibri (MS)"/>
                <a:ea typeface="Calibri (MS)"/>
                <a:cs typeface="Calibri (MS)"/>
                <a:sym typeface="Calibri (MS)"/>
              </a:rPr>
              <a:t>−4,4 điểm accuracy</a:t>
            </a:r>
          </a:p>
          <a:p>
            <a:pPr algn="l" marL="474662" indent="-158221" lvl="2">
              <a:lnSpc>
                <a:spcPts val="2700"/>
              </a:lnSpc>
              <a:buFont typeface="Arial"/>
              <a:buChar char="⚬"/>
            </a:pPr>
            <a:r>
              <a:rPr lang="en-US" sz="2250">
                <a:solidFill>
                  <a:srgbClr val="243044"/>
                </a:solidFill>
                <a:latin typeface="Calibri (MS)"/>
                <a:ea typeface="Calibri (MS)"/>
                <a:cs typeface="Calibri (MS)"/>
                <a:sym typeface="Calibri (MS)"/>
              </a:rPr>
              <a:t>VRAM 10,9 → 2,5 GB (ít hơn 4,3 lần)</a:t>
            </a:r>
          </a:p>
          <a:p>
            <a:pPr algn="l" marL="474662" indent="-158221" lvl="2">
              <a:lnSpc>
                <a:spcPts val="2700"/>
              </a:lnSpc>
              <a:buFont typeface="Arial"/>
              <a:buChar char="⚬"/>
            </a:pPr>
            <a:r>
              <a:rPr lang="en-US" sz="2250">
                <a:solidFill>
                  <a:srgbClr val="243044"/>
                </a:solidFill>
                <a:latin typeface="Calibri (MS)"/>
                <a:ea typeface="Calibri (MS)"/>
                <a:cs typeface="Calibri (MS)"/>
                <a:sym typeface="Calibri (MS)"/>
              </a:rPr>
              <a:t>Giữ 94,5% độ chính xác — báo cáo như số đo hiệu quả, không phải giả thuyết (slide 9)</a:t>
            </a:r>
          </a:p>
        </p:txBody>
      </p:sp>
      <p:grpSp>
        <p:nvGrpSpPr>
          <p:cNvPr name="Group 17" id="17"/>
          <p:cNvGrpSpPr/>
          <p:nvPr/>
        </p:nvGrpSpPr>
        <p:grpSpPr>
          <a:xfrm rot="0">
            <a:off x="15458732" y="0"/>
            <a:ext cx="2829268" cy="1184338"/>
            <a:chOff x="0" y="0"/>
            <a:chExt cx="3772357" cy="1579118"/>
          </a:xfrm>
        </p:grpSpPr>
        <p:sp>
          <p:nvSpPr>
            <p:cNvPr name="Freeform 18" id="18"/>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9"/>
              <a:stretch>
                <a:fillRect l="0" t="0" r="1" b="0"/>
              </a:stretch>
            </a:blipFill>
          </p:spPr>
          <p:txBody>
            <a:bodyPr/>
            <a:p/>
          </p:txBody>
        </p:sp>
      </p:grpSp>
      <p:grpSp>
        <p:nvGrpSpPr>
          <p:cNvPr name="Group 19" id="19"/>
          <p:cNvGrpSpPr/>
          <p:nvPr/>
        </p:nvGrpSpPr>
        <p:grpSpPr>
          <a:xfrm rot="0">
            <a:off x="5313045" y="9648825"/>
            <a:ext cx="416243" cy="416243"/>
            <a:chOff x="0" y="0"/>
            <a:chExt cx="554990" cy="554990"/>
          </a:xfrm>
        </p:grpSpPr>
        <p:sp>
          <p:nvSpPr>
            <p:cNvPr name="Freeform 20" id="20"/>
            <p:cNvSpPr/>
            <p:nvPr/>
          </p:nvSpPr>
          <p:spPr>
            <a:xfrm flipH="false" flipV="false" rot="0">
              <a:off x="50642" y="47398"/>
              <a:ext cx="447198" cy="457276"/>
            </a:xfrm>
            <a:custGeom>
              <a:avLst/>
              <a:gdLst/>
              <a:ahLst/>
              <a:cxnLst/>
              <a:rect r="r" b="b" t="t" l="l"/>
              <a:pathLst>
                <a:path h="457276" w="447198">
                  <a:moveTo>
                    <a:pt x="447198" y="160882"/>
                  </a:moveTo>
                  <a:cubicBezTo>
                    <a:pt x="447198" y="304392"/>
                    <a:pt x="430688" y="342492"/>
                    <a:pt x="409098" y="370432"/>
                  </a:cubicBezTo>
                  <a:cubicBezTo>
                    <a:pt x="386238" y="398372"/>
                    <a:pt x="354488" y="422502"/>
                    <a:pt x="322738" y="437742"/>
                  </a:cubicBezTo>
                  <a:cubicBezTo>
                    <a:pt x="289718" y="451712"/>
                    <a:pt x="250348" y="459332"/>
                    <a:pt x="214788" y="456792"/>
                  </a:cubicBezTo>
                  <a:cubicBezTo>
                    <a:pt x="179228" y="455522"/>
                    <a:pt x="141128" y="442822"/>
                    <a:pt x="110648" y="425042"/>
                  </a:cubicBezTo>
                  <a:cubicBezTo>
                    <a:pt x="80168" y="405992"/>
                    <a:pt x="50958" y="378052"/>
                    <a:pt x="33178" y="347572"/>
                  </a:cubicBezTo>
                  <a:cubicBezTo>
                    <a:pt x="14128" y="317092"/>
                    <a:pt x="2698" y="277722"/>
                    <a:pt x="158" y="242162"/>
                  </a:cubicBezTo>
                  <a:cubicBezTo>
                    <a:pt x="-1112" y="207872"/>
                    <a:pt x="5238" y="167232"/>
                    <a:pt x="20478" y="135482"/>
                  </a:cubicBezTo>
                  <a:cubicBezTo>
                    <a:pt x="34448" y="102462"/>
                    <a:pt x="59848" y="70712"/>
                    <a:pt x="87788" y="49122"/>
                  </a:cubicBezTo>
                  <a:cubicBezTo>
                    <a:pt x="115728" y="27532"/>
                    <a:pt x="152558" y="11022"/>
                    <a:pt x="186848" y="3402"/>
                  </a:cubicBezTo>
                  <a:cubicBezTo>
                    <a:pt x="222408" y="-2948"/>
                    <a:pt x="263048" y="-408"/>
                    <a:pt x="296068" y="11022"/>
                  </a:cubicBezTo>
                  <a:cubicBezTo>
                    <a:pt x="330358" y="21182"/>
                    <a:pt x="390048" y="66902"/>
                    <a:pt x="390048" y="66902"/>
                  </a:cubicBezTo>
                </a:path>
              </a:pathLst>
            </a:custGeom>
            <a:solidFill>
              <a:srgbClr val="FFFFFF">
                <a:alpha val="24706"/>
              </a:srgbClr>
            </a:solidFill>
            <a:ln cap="sq">
              <a:noFill/>
              <a:prstDash val="solid"/>
              <a:miter/>
            </a:ln>
          </p:spPr>
          <p:txBody>
            <a:bodyPr/>
            <a:p/>
          </p:txBody>
        </p:sp>
      </p:grpSp>
      <p:grpSp>
        <p:nvGrpSpPr>
          <p:cNvPr name="Group 21" id="21"/>
          <p:cNvGrpSpPr/>
          <p:nvPr/>
        </p:nvGrpSpPr>
        <p:grpSpPr>
          <a:xfrm rot="0">
            <a:off x="3353753" y="9542145"/>
            <a:ext cx="3283267" cy="558165"/>
            <a:chOff x="0" y="0"/>
            <a:chExt cx="4377690" cy="744220"/>
          </a:xfrm>
        </p:grpSpPr>
        <p:sp>
          <p:nvSpPr>
            <p:cNvPr name="Freeform 22" id="22"/>
            <p:cNvSpPr/>
            <p:nvPr/>
          </p:nvSpPr>
          <p:spPr>
            <a:xfrm flipH="false" flipV="false" rot="0">
              <a:off x="50800" y="50444"/>
              <a:ext cx="4276090" cy="645233"/>
            </a:xfrm>
            <a:custGeom>
              <a:avLst/>
              <a:gdLst/>
              <a:ahLst/>
              <a:cxnLst/>
              <a:rect r="r" b="b" t="t" l="l"/>
              <a:pathLst>
                <a:path h="645233" w="4276090">
                  <a:moveTo>
                    <a:pt x="0" y="325476"/>
                  </a:moveTo>
                  <a:cubicBezTo>
                    <a:pt x="0" y="288646"/>
                    <a:pt x="0" y="270866"/>
                    <a:pt x="1270" y="270866"/>
                  </a:cubicBezTo>
                  <a:cubicBezTo>
                    <a:pt x="1270" y="270866"/>
                    <a:pt x="5080" y="253086"/>
                    <a:pt x="7620" y="244196"/>
                  </a:cubicBezTo>
                  <a:cubicBezTo>
                    <a:pt x="8890" y="235306"/>
                    <a:pt x="13970" y="217526"/>
                    <a:pt x="13970" y="217526"/>
                  </a:cubicBezTo>
                  <a:cubicBezTo>
                    <a:pt x="13970" y="217526"/>
                    <a:pt x="22860" y="201016"/>
                    <a:pt x="26670" y="193396"/>
                  </a:cubicBezTo>
                  <a:cubicBezTo>
                    <a:pt x="30480" y="184506"/>
                    <a:pt x="39370" y="169266"/>
                    <a:pt x="39370" y="169266"/>
                  </a:cubicBezTo>
                  <a:cubicBezTo>
                    <a:pt x="39370" y="169266"/>
                    <a:pt x="39370" y="169266"/>
                    <a:pt x="39370" y="167996"/>
                  </a:cubicBezTo>
                  <a:cubicBezTo>
                    <a:pt x="39370" y="167996"/>
                    <a:pt x="52070" y="155296"/>
                    <a:pt x="58420" y="147676"/>
                  </a:cubicBezTo>
                  <a:cubicBezTo>
                    <a:pt x="63500" y="141326"/>
                    <a:pt x="76200" y="127356"/>
                    <a:pt x="76200" y="127356"/>
                  </a:cubicBezTo>
                  <a:cubicBezTo>
                    <a:pt x="76200" y="127356"/>
                    <a:pt x="91440" y="117196"/>
                    <a:pt x="99060" y="112116"/>
                  </a:cubicBezTo>
                  <a:cubicBezTo>
                    <a:pt x="106680" y="107036"/>
                    <a:pt x="121920" y="96876"/>
                    <a:pt x="121920" y="95606"/>
                  </a:cubicBezTo>
                  <a:cubicBezTo>
                    <a:pt x="121920" y="95606"/>
                    <a:pt x="138430" y="89256"/>
                    <a:pt x="147320" y="86716"/>
                  </a:cubicBezTo>
                  <a:cubicBezTo>
                    <a:pt x="156210" y="82906"/>
                    <a:pt x="172720" y="76556"/>
                    <a:pt x="172720" y="76556"/>
                  </a:cubicBezTo>
                  <a:cubicBezTo>
                    <a:pt x="173990" y="76556"/>
                    <a:pt x="191770" y="74016"/>
                    <a:pt x="200660" y="74016"/>
                  </a:cubicBezTo>
                  <a:cubicBezTo>
                    <a:pt x="209550" y="72746"/>
                    <a:pt x="227330" y="70206"/>
                    <a:pt x="227330" y="70206"/>
                  </a:cubicBezTo>
                  <a:cubicBezTo>
                    <a:pt x="229870" y="70206"/>
                    <a:pt x="513080" y="70206"/>
                    <a:pt x="635000" y="70206"/>
                  </a:cubicBezTo>
                  <a:cubicBezTo>
                    <a:pt x="732790" y="70206"/>
                    <a:pt x="869950" y="82906"/>
                    <a:pt x="899160" y="70206"/>
                  </a:cubicBezTo>
                  <a:cubicBezTo>
                    <a:pt x="906780" y="66396"/>
                    <a:pt x="910590" y="57506"/>
                    <a:pt x="910590" y="57506"/>
                  </a:cubicBezTo>
                  <a:cubicBezTo>
                    <a:pt x="910590" y="57506"/>
                    <a:pt x="925830" y="47346"/>
                    <a:pt x="933450" y="42266"/>
                  </a:cubicBezTo>
                  <a:cubicBezTo>
                    <a:pt x="941070" y="37186"/>
                    <a:pt x="955040" y="27026"/>
                    <a:pt x="956310" y="27026"/>
                  </a:cubicBezTo>
                  <a:cubicBezTo>
                    <a:pt x="956310" y="27026"/>
                    <a:pt x="972820" y="20676"/>
                    <a:pt x="981710" y="16866"/>
                  </a:cubicBezTo>
                  <a:cubicBezTo>
                    <a:pt x="990600" y="14326"/>
                    <a:pt x="1007110" y="7976"/>
                    <a:pt x="1007110" y="7976"/>
                  </a:cubicBezTo>
                  <a:cubicBezTo>
                    <a:pt x="1008380" y="6706"/>
                    <a:pt x="1026160" y="5436"/>
                    <a:pt x="1035050" y="4166"/>
                  </a:cubicBezTo>
                  <a:cubicBezTo>
                    <a:pt x="1043940" y="2896"/>
                    <a:pt x="1061720" y="1626"/>
                    <a:pt x="1061720" y="1626"/>
                  </a:cubicBezTo>
                  <a:cubicBezTo>
                    <a:pt x="1064260" y="1626"/>
                    <a:pt x="1333500" y="-914"/>
                    <a:pt x="1375410" y="356"/>
                  </a:cubicBezTo>
                  <a:cubicBezTo>
                    <a:pt x="1385570" y="1626"/>
                    <a:pt x="1386840" y="1626"/>
                    <a:pt x="1395730" y="2896"/>
                  </a:cubicBezTo>
                  <a:cubicBezTo>
                    <a:pt x="1407160" y="2896"/>
                    <a:pt x="1418590" y="2896"/>
                    <a:pt x="1441450" y="2896"/>
                  </a:cubicBezTo>
                  <a:cubicBezTo>
                    <a:pt x="1499870" y="2896"/>
                    <a:pt x="1649730" y="4166"/>
                    <a:pt x="1765300" y="5436"/>
                  </a:cubicBezTo>
                  <a:cubicBezTo>
                    <a:pt x="1896110" y="6706"/>
                    <a:pt x="2042160" y="7976"/>
                    <a:pt x="2184400" y="11786"/>
                  </a:cubicBezTo>
                  <a:cubicBezTo>
                    <a:pt x="2332990" y="14326"/>
                    <a:pt x="2491740" y="18136"/>
                    <a:pt x="2640330" y="25756"/>
                  </a:cubicBezTo>
                  <a:cubicBezTo>
                    <a:pt x="2782570" y="33376"/>
                    <a:pt x="2922270" y="51156"/>
                    <a:pt x="3055620" y="58776"/>
                  </a:cubicBezTo>
                  <a:cubicBezTo>
                    <a:pt x="3182620" y="66396"/>
                    <a:pt x="3308350" y="70206"/>
                    <a:pt x="3422650" y="74016"/>
                  </a:cubicBezTo>
                  <a:cubicBezTo>
                    <a:pt x="3526790" y="77826"/>
                    <a:pt x="3620770" y="76556"/>
                    <a:pt x="3716020" y="80366"/>
                  </a:cubicBezTo>
                  <a:cubicBezTo>
                    <a:pt x="3804920" y="84176"/>
                    <a:pt x="3972560" y="93066"/>
                    <a:pt x="3973830" y="93066"/>
                  </a:cubicBezTo>
                  <a:cubicBezTo>
                    <a:pt x="3975100" y="93066"/>
                    <a:pt x="3992880" y="95606"/>
                    <a:pt x="4001770" y="96876"/>
                  </a:cubicBezTo>
                  <a:cubicBezTo>
                    <a:pt x="4010660" y="98146"/>
                    <a:pt x="4028440" y="99416"/>
                    <a:pt x="4028440" y="99416"/>
                  </a:cubicBezTo>
                  <a:cubicBezTo>
                    <a:pt x="4029710" y="99416"/>
                    <a:pt x="4046220" y="105766"/>
                    <a:pt x="4055110" y="109576"/>
                  </a:cubicBezTo>
                  <a:cubicBezTo>
                    <a:pt x="4064000" y="112116"/>
                    <a:pt x="4080510" y="118466"/>
                    <a:pt x="4080510" y="118466"/>
                  </a:cubicBezTo>
                  <a:cubicBezTo>
                    <a:pt x="4080510" y="118466"/>
                    <a:pt x="4095750" y="128626"/>
                    <a:pt x="4103370" y="133706"/>
                  </a:cubicBezTo>
                  <a:cubicBezTo>
                    <a:pt x="4110990" y="138786"/>
                    <a:pt x="4126230" y="148946"/>
                    <a:pt x="4126230" y="150216"/>
                  </a:cubicBezTo>
                  <a:cubicBezTo>
                    <a:pt x="4126230" y="150216"/>
                    <a:pt x="4130040" y="155296"/>
                    <a:pt x="4133850" y="157836"/>
                  </a:cubicBezTo>
                  <a:cubicBezTo>
                    <a:pt x="4138930" y="160376"/>
                    <a:pt x="4155440" y="165456"/>
                    <a:pt x="4155440" y="165456"/>
                  </a:cubicBezTo>
                  <a:cubicBezTo>
                    <a:pt x="4155440" y="165456"/>
                    <a:pt x="4170680" y="175616"/>
                    <a:pt x="4178300" y="180696"/>
                  </a:cubicBezTo>
                  <a:cubicBezTo>
                    <a:pt x="4185920" y="187046"/>
                    <a:pt x="4199890" y="197206"/>
                    <a:pt x="4201160" y="197206"/>
                  </a:cubicBezTo>
                  <a:cubicBezTo>
                    <a:pt x="4201160" y="197206"/>
                    <a:pt x="4212590" y="211176"/>
                    <a:pt x="4218940" y="217526"/>
                  </a:cubicBezTo>
                  <a:cubicBezTo>
                    <a:pt x="4225290" y="223876"/>
                    <a:pt x="4236720" y="237846"/>
                    <a:pt x="4236720" y="237846"/>
                  </a:cubicBezTo>
                  <a:cubicBezTo>
                    <a:pt x="4237990" y="239116"/>
                    <a:pt x="4245610" y="254356"/>
                    <a:pt x="4250690" y="261976"/>
                  </a:cubicBezTo>
                  <a:cubicBezTo>
                    <a:pt x="4254500" y="270866"/>
                    <a:pt x="4263390" y="286106"/>
                    <a:pt x="4263390" y="287376"/>
                  </a:cubicBezTo>
                  <a:cubicBezTo>
                    <a:pt x="4263390" y="287376"/>
                    <a:pt x="4267200" y="305156"/>
                    <a:pt x="4269740" y="314046"/>
                  </a:cubicBezTo>
                  <a:cubicBezTo>
                    <a:pt x="4272280" y="322936"/>
                    <a:pt x="4276090" y="340716"/>
                    <a:pt x="4276090" y="340716"/>
                  </a:cubicBezTo>
                  <a:cubicBezTo>
                    <a:pt x="4276090" y="340716"/>
                    <a:pt x="4276090" y="358496"/>
                    <a:pt x="4276090" y="368656"/>
                  </a:cubicBezTo>
                  <a:cubicBezTo>
                    <a:pt x="4276090" y="377546"/>
                    <a:pt x="4276090" y="395326"/>
                    <a:pt x="4276090" y="395326"/>
                  </a:cubicBezTo>
                  <a:cubicBezTo>
                    <a:pt x="4276090" y="396596"/>
                    <a:pt x="4272280" y="413106"/>
                    <a:pt x="4269740" y="421996"/>
                  </a:cubicBezTo>
                  <a:cubicBezTo>
                    <a:pt x="4267200" y="430886"/>
                    <a:pt x="4263390" y="448666"/>
                    <a:pt x="4263390" y="448666"/>
                  </a:cubicBezTo>
                  <a:cubicBezTo>
                    <a:pt x="4263390" y="449936"/>
                    <a:pt x="4254500" y="465176"/>
                    <a:pt x="4250690" y="474066"/>
                  </a:cubicBezTo>
                  <a:cubicBezTo>
                    <a:pt x="4245610" y="481686"/>
                    <a:pt x="4237990" y="498196"/>
                    <a:pt x="4236720" y="498196"/>
                  </a:cubicBezTo>
                  <a:cubicBezTo>
                    <a:pt x="4236720" y="498196"/>
                    <a:pt x="4225290" y="512166"/>
                    <a:pt x="4218940" y="518516"/>
                  </a:cubicBezTo>
                  <a:cubicBezTo>
                    <a:pt x="4212590" y="524866"/>
                    <a:pt x="4201160" y="538836"/>
                    <a:pt x="4201160" y="538836"/>
                  </a:cubicBezTo>
                  <a:cubicBezTo>
                    <a:pt x="4199890" y="538836"/>
                    <a:pt x="4185920" y="548996"/>
                    <a:pt x="4178300" y="555346"/>
                  </a:cubicBezTo>
                  <a:cubicBezTo>
                    <a:pt x="4170680" y="560426"/>
                    <a:pt x="4155440" y="570586"/>
                    <a:pt x="4155440" y="570586"/>
                  </a:cubicBezTo>
                  <a:cubicBezTo>
                    <a:pt x="4155440" y="570586"/>
                    <a:pt x="4137660" y="576936"/>
                    <a:pt x="4130040" y="580746"/>
                  </a:cubicBezTo>
                  <a:cubicBezTo>
                    <a:pt x="4121150" y="583286"/>
                    <a:pt x="4104640" y="589636"/>
                    <a:pt x="4103370" y="589636"/>
                  </a:cubicBezTo>
                  <a:cubicBezTo>
                    <a:pt x="4103370" y="589636"/>
                    <a:pt x="4085590" y="592176"/>
                    <a:pt x="4076700" y="593446"/>
                  </a:cubicBezTo>
                  <a:cubicBezTo>
                    <a:pt x="4067810" y="594716"/>
                    <a:pt x="4060190" y="595986"/>
                    <a:pt x="4048760" y="597256"/>
                  </a:cubicBezTo>
                  <a:cubicBezTo>
                    <a:pt x="4034790" y="597256"/>
                    <a:pt x="4020820" y="597256"/>
                    <a:pt x="3996690" y="597256"/>
                  </a:cubicBezTo>
                  <a:cubicBezTo>
                    <a:pt x="3943350" y="597256"/>
                    <a:pt x="3829050" y="597256"/>
                    <a:pt x="3745230" y="597256"/>
                  </a:cubicBezTo>
                  <a:cubicBezTo>
                    <a:pt x="3663950" y="597256"/>
                    <a:pt x="3582670" y="597256"/>
                    <a:pt x="3501390" y="597256"/>
                  </a:cubicBezTo>
                  <a:cubicBezTo>
                    <a:pt x="3418840" y="597256"/>
                    <a:pt x="3272790" y="592176"/>
                    <a:pt x="3253740" y="597256"/>
                  </a:cubicBezTo>
                  <a:cubicBezTo>
                    <a:pt x="3252470" y="597256"/>
                    <a:pt x="3252470" y="597256"/>
                    <a:pt x="3251200" y="598526"/>
                  </a:cubicBezTo>
                  <a:cubicBezTo>
                    <a:pt x="3246120" y="601066"/>
                    <a:pt x="3225800" y="609956"/>
                    <a:pt x="3225800" y="609956"/>
                  </a:cubicBezTo>
                  <a:cubicBezTo>
                    <a:pt x="3225800" y="609956"/>
                    <a:pt x="3208020" y="613766"/>
                    <a:pt x="3199130" y="615036"/>
                  </a:cubicBezTo>
                  <a:cubicBezTo>
                    <a:pt x="3190240" y="617576"/>
                    <a:pt x="3185160" y="618846"/>
                    <a:pt x="3171190" y="621386"/>
                  </a:cubicBezTo>
                  <a:cubicBezTo>
                    <a:pt x="3134360" y="626466"/>
                    <a:pt x="3034030" y="639166"/>
                    <a:pt x="2955290" y="642976"/>
                  </a:cubicBezTo>
                  <a:cubicBezTo>
                    <a:pt x="2862580" y="648056"/>
                    <a:pt x="2753360" y="642976"/>
                    <a:pt x="2651760" y="642976"/>
                  </a:cubicBezTo>
                  <a:cubicBezTo>
                    <a:pt x="2547620" y="642976"/>
                    <a:pt x="2435860" y="642976"/>
                    <a:pt x="2339340" y="642976"/>
                  </a:cubicBezTo>
                  <a:cubicBezTo>
                    <a:pt x="2255520" y="642976"/>
                    <a:pt x="2185670" y="642976"/>
                    <a:pt x="2104390" y="642976"/>
                  </a:cubicBezTo>
                  <a:cubicBezTo>
                    <a:pt x="2016760" y="642976"/>
                    <a:pt x="1835150" y="642976"/>
                    <a:pt x="1832610" y="642976"/>
                  </a:cubicBezTo>
                  <a:cubicBezTo>
                    <a:pt x="1832610" y="642976"/>
                    <a:pt x="1814830" y="640436"/>
                    <a:pt x="1805940" y="639166"/>
                  </a:cubicBezTo>
                  <a:cubicBezTo>
                    <a:pt x="1795780" y="639166"/>
                    <a:pt x="1778000" y="636626"/>
                    <a:pt x="1778000" y="636626"/>
                  </a:cubicBezTo>
                  <a:cubicBezTo>
                    <a:pt x="1778000" y="636626"/>
                    <a:pt x="1760220" y="631546"/>
                    <a:pt x="1752600" y="627736"/>
                  </a:cubicBezTo>
                  <a:cubicBezTo>
                    <a:pt x="1743710" y="625196"/>
                    <a:pt x="1725930" y="618846"/>
                    <a:pt x="1725930" y="618846"/>
                  </a:cubicBezTo>
                  <a:cubicBezTo>
                    <a:pt x="1725930" y="618846"/>
                    <a:pt x="1710690" y="608686"/>
                    <a:pt x="1703070" y="603606"/>
                  </a:cubicBezTo>
                  <a:cubicBezTo>
                    <a:pt x="1695450" y="598526"/>
                    <a:pt x="1680210" y="588366"/>
                    <a:pt x="1680210" y="588366"/>
                  </a:cubicBezTo>
                  <a:cubicBezTo>
                    <a:pt x="1680210" y="588366"/>
                    <a:pt x="1664970" y="571856"/>
                    <a:pt x="1661160" y="568046"/>
                  </a:cubicBezTo>
                  <a:cubicBezTo>
                    <a:pt x="1659890" y="566776"/>
                    <a:pt x="1659890" y="565506"/>
                    <a:pt x="1658620" y="564236"/>
                  </a:cubicBezTo>
                  <a:cubicBezTo>
                    <a:pt x="1645920" y="560426"/>
                    <a:pt x="1584960" y="566776"/>
                    <a:pt x="1530350" y="569316"/>
                  </a:cubicBezTo>
                  <a:cubicBezTo>
                    <a:pt x="1438910" y="574396"/>
                    <a:pt x="1278890" y="592176"/>
                    <a:pt x="1156970" y="597256"/>
                  </a:cubicBezTo>
                  <a:cubicBezTo>
                    <a:pt x="1040130" y="601066"/>
                    <a:pt x="935990" y="597256"/>
                    <a:pt x="815340" y="595986"/>
                  </a:cubicBezTo>
                  <a:cubicBezTo>
                    <a:pt x="676910" y="595986"/>
                    <a:pt x="373380" y="595986"/>
                    <a:pt x="372110" y="595986"/>
                  </a:cubicBezTo>
                  <a:cubicBezTo>
                    <a:pt x="372110" y="595986"/>
                    <a:pt x="354330" y="593446"/>
                    <a:pt x="344170" y="593446"/>
                  </a:cubicBezTo>
                  <a:cubicBezTo>
                    <a:pt x="335280" y="592176"/>
                    <a:pt x="317500" y="590906"/>
                    <a:pt x="317500" y="590906"/>
                  </a:cubicBezTo>
                  <a:cubicBezTo>
                    <a:pt x="316230" y="590906"/>
                    <a:pt x="299720" y="584556"/>
                    <a:pt x="290830" y="582016"/>
                  </a:cubicBezTo>
                  <a:cubicBezTo>
                    <a:pt x="281940" y="579476"/>
                    <a:pt x="265430" y="573126"/>
                    <a:pt x="265430" y="573126"/>
                  </a:cubicBezTo>
                  <a:cubicBezTo>
                    <a:pt x="264160" y="573126"/>
                    <a:pt x="248920" y="564236"/>
                    <a:pt x="241300" y="559156"/>
                  </a:cubicBezTo>
                  <a:cubicBezTo>
                    <a:pt x="233680" y="554076"/>
                    <a:pt x="218440" y="543916"/>
                    <a:pt x="218440" y="543916"/>
                  </a:cubicBezTo>
                  <a:cubicBezTo>
                    <a:pt x="218440" y="543916"/>
                    <a:pt x="199390" y="523596"/>
                    <a:pt x="199390" y="523596"/>
                  </a:cubicBezTo>
                  <a:cubicBezTo>
                    <a:pt x="196850" y="523596"/>
                    <a:pt x="172720" y="521056"/>
                    <a:pt x="172720" y="521056"/>
                  </a:cubicBezTo>
                  <a:cubicBezTo>
                    <a:pt x="171450" y="521056"/>
                    <a:pt x="154940" y="514706"/>
                    <a:pt x="147320" y="510896"/>
                  </a:cubicBezTo>
                  <a:cubicBezTo>
                    <a:pt x="138430" y="507086"/>
                    <a:pt x="120650" y="500736"/>
                    <a:pt x="120650" y="500736"/>
                  </a:cubicBezTo>
                  <a:cubicBezTo>
                    <a:pt x="120650" y="500736"/>
                    <a:pt x="105410" y="490576"/>
                    <a:pt x="97790" y="485496"/>
                  </a:cubicBezTo>
                  <a:cubicBezTo>
                    <a:pt x="90170" y="480416"/>
                    <a:pt x="76200" y="470256"/>
                    <a:pt x="76200" y="470256"/>
                  </a:cubicBezTo>
                  <a:cubicBezTo>
                    <a:pt x="74930" y="468986"/>
                    <a:pt x="63500" y="456286"/>
                    <a:pt x="57150" y="448666"/>
                  </a:cubicBezTo>
                  <a:cubicBezTo>
                    <a:pt x="50800" y="442316"/>
                    <a:pt x="39370" y="428346"/>
                    <a:pt x="39370" y="428346"/>
                  </a:cubicBezTo>
                  <a:cubicBezTo>
                    <a:pt x="39370" y="428346"/>
                    <a:pt x="30480" y="411836"/>
                    <a:pt x="26670" y="404216"/>
                  </a:cubicBezTo>
                  <a:cubicBezTo>
                    <a:pt x="21590" y="395326"/>
                    <a:pt x="13970" y="380086"/>
                    <a:pt x="13970" y="380086"/>
                  </a:cubicBezTo>
                  <a:cubicBezTo>
                    <a:pt x="13970" y="378816"/>
                    <a:pt x="8890" y="362306"/>
                    <a:pt x="7620" y="352146"/>
                  </a:cubicBezTo>
                  <a:cubicBezTo>
                    <a:pt x="5080" y="343256"/>
                    <a:pt x="0" y="326746"/>
                    <a:pt x="0" y="325476"/>
                  </a:cubicBezTo>
                </a:path>
              </a:pathLst>
            </a:custGeom>
            <a:solidFill>
              <a:srgbClr val="FFFFFF">
                <a:alpha val="24706"/>
              </a:srgbClr>
            </a:solidFill>
            <a:ln cap="sq">
              <a:noFill/>
              <a:prstDash val="solid"/>
              <a:miter/>
            </a:ln>
          </p:spPr>
          <p:txBody>
            <a:bodyPr/>
            <a:p/>
          </p:txBody>
        </p:sp>
      </p:grpSp>
      <p:grpSp>
        <p:nvGrpSpPr>
          <p:cNvPr name="Group 23" id="23"/>
          <p:cNvGrpSpPr/>
          <p:nvPr/>
        </p:nvGrpSpPr>
        <p:grpSpPr>
          <a:xfrm rot="0">
            <a:off x="2400300" y="9625965"/>
            <a:ext cx="1520190" cy="440055"/>
            <a:chOff x="0" y="0"/>
            <a:chExt cx="2026920" cy="586740"/>
          </a:xfrm>
        </p:grpSpPr>
        <p:sp>
          <p:nvSpPr>
            <p:cNvPr name="Freeform 24" id="24"/>
            <p:cNvSpPr/>
            <p:nvPr/>
          </p:nvSpPr>
          <p:spPr>
            <a:xfrm flipH="false" flipV="false" rot="0">
              <a:off x="-22542" y="-17515"/>
              <a:ext cx="1999668" cy="632233"/>
            </a:xfrm>
            <a:custGeom>
              <a:avLst/>
              <a:gdLst/>
              <a:ahLst/>
              <a:cxnLst/>
              <a:rect r="r" b="b" t="t" l="l"/>
              <a:pathLst>
                <a:path h="632233" w="1999668">
                  <a:moveTo>
                    <a:pt x="1690052" y="529325"/>
                  </a:moveTo>
                  <a:cubicBezTo>
                    <a:pt x="502602" y="517895"/>
                    <a:pt x="497522" y="514085"/>
                    <a:pt x="479742" y="503925"/>
                  </a:cubicBezTo>
                  <a:cubicBezTo>
                    <a:pt x="454342" y="488685"/>
                    <a:pt x="417512" y="460745"/>
                    <a:pt x="398462" y="431535"/>
                  </a:cubicBezTo>
                  <a:cubicBezTo>
                    <a:pt x="378142" y="402325"/>
                    <a:pt x="362902" y="364225"/>
                    <a:pt x="359092" y="328665"/>
                  </a:cubicBezTo>
                  <a:cubicBezTo>
                    <a:pt x="355282" y="293105"/>
                    <a:pt x="359092" y="253735"/>
                    <a:pt x="371792" y="220715"/>
                  </a:cubicBezTo>
                  <a:cubicBezTo>
                    <a:pt x="384492" y="186425"/>
                    <a:pt x="413702" y="150865"/>
                    <a:pt x="434022" y="130545"/>
                  </a:cubicBezTo>
                  <a:cubicBezTo>
                    <a:pt x="449262" y="115305"/>
                    <a:pt x="460692" y="107685"/>
                    <a:pt x="479742" y="98795"/>
                  </a:cubicBezTo>
                  <a:cubicBezTo>
                    <a:pt x="506412" y="86095"/>
                    <a:pt x="530542" y="79745"/>
                    <a:pt x="586422" y="72125"/>
                  </a:cubicBezTo>
                  <a:cubicBezTo>
                    <a:pt x="762952" y="50535"/>
                    <a:pt x="1545272" y="55615"/>
                    <a:pt x="1720532" y="72125"/>
                  </a:cubicBezTo>
                  <a:cubicBezTo>
                    <a:pt x="1775142" y="77205"/>
                    <a:pt x="1792922" y="81015"/>
                    <a:pt x="1825942" y="92445"/>
                  </a:cubicBezTo>
                  <a:cubicBezTo>
                    <a:pt x="1860232" y="103875"/>
                    <a:pt x="1899602" y="125465"/>
                    <a:pt x="1923732" y="143245"/>
                  </a:cubicBezTo>
                  <a:cubicBezTo>
                    <a:pt x="1940242" y="155945"/>
                    <a:pt x="1949132" y="169915"/>
                    <a:pt x="1960562" y="185155"/>
                  </a:cubicBezTo>
                  <a:cubicBezTo>
                    <a:pt x="1970722" y="199125"/>
                    <a:pt x="1979612" y="213095"/>
                    <a:pt x="1985962" y="233415"/>
                  </a:cubicBezTo>
                  <a:cubicBezTo>
                    <a:pt x="1994852" y="261355"/>
                    <a:pt x="1999932" y="312155"/>
                    <a:pt x="1998662" y="342635"/>
                  </a:cubicBezTo>
                  <a:cubicBezTo>
                    <a:pt x="1997392" y="362955"/>
                    <a:pt x="1994852" y="375655"/>
                    <a:pt x="1985962" y="395975"/>
                  </a:cubicBezTo>
                  <a:cubicBezTo>
                    <a:pt x="1973262" y="422645"/>
                    <a:pt x="1944052" y="464555"/>
                    <a:pt x="1923732" y="486145"/>
                  </a:cubicBezTo>
                  <a:cubicBezTo>
                    <a:pt x="1908492" y="500115"/>
                    <a:pt x="1897062" y="507735"/>
                    <a:pt x="1878012" y="516625"/>
                  </a:cubicBezTo>
                  <a:cubicBezTo>
                    <a:pt x="1851342" y="529325"/>
                    <a:pt x="1828482" y="535675"/>
                    <a:pt x="1771332" y="543295"/>
                  </a:cubicBezTo>
                  <a:cubicBezTo>
                    <a:pt x="1573212" y="567425"/>
                    <a:pt x="583882" y="592825"/>
                    <a:pt x="393382" y="545835"/>
                  </a:cubicBezTo>
                  <a:cubicBezTo>
                    <a:pt x="340042" y="533135"/>
                    <a:pt x="323532" y="519165"/>
                    <a:pt x="296862" y="495035"/>
                  </a:cubicBezTo>
                  <a:cubicBezTo>
                    <a:pt x="270192" y="472175"/>
                    <a:pt x="247332" y="437885"/>
                    <a:pt x="234632" y="404865"/>
                  </a:cubicBezTo>
                  <a:cubicBezTo>
                    <a:pt x="221932" y="371845"/>
                    <a:pt x="216852" y="332475"/>
                    <a:pt x="221932" y="296915"/>
                  </a:cubicBezTo>
                  <a:cubicBezTo>
                    <a:pt x="225742" y="261355"/>
                    <a:pt x="240982" y="223255"/>
                    <a:pt x="260032" y="194045"/>
                  </a:cubicBezTo>
                  <a:cubicBezTo>
                    <a:pt x="280352" y="164835"/>
                    <a:pt x="310832" y="138165"/>
                    <a:pt x="342582" y="121655"/>
                  </a:cubicBezTo>
                  <a:cubicBezTo>
                    <a:pt x="374332" y="105145"/>
                    <a:pt x="393382" y="102605"/>
                    <a:pt x="449262" y="96255"/>
                  </a:cubicBezTo>
                  <a:cubicBezTo>
                    <a:pt x="624522" y="74665"/>
                    <a:pt x="1409382" y="60695"/>
                    <a:pt x="1578292" y="102605"/>
                  </a:cubicBezTo>
                  <a:cubicBezTo>
                    <a:pt x="1630362" y="115305"/>
                    <a:pt x="1651952" y="134355"/>
                    <a:pt x="1674812" y="153405"/>
                  </a:cubicBezTo>
                  <a:cubicBezTo>
                    <a:pt x="1691322" y="166105"/>
                    <a:pt x="1701482" y="178805"/>
                    <a:pt x="1711642" y="194045"/>
                  </a:cubicBezTo>
                  <a:cubicBezTo>
                    <a:pt x="1721802" y="209285"/>
                    <a:pt x="1730692" y="223255"/>
                    <a:pt x="1737042" y="243575"/>
                  </a:cubicBezTo>
                  <a:cubicBezTo>
                    <a:pt x="1745932" y="271515"/>
                    <a:pt x="1752282" y="322315"/>
                    <a:pt x="1751012" y="351525"/>
                  </a:cubicBezTo>
                  <a:cubicBezTo>
                    <a:pt x="1749742" y="373115"/>
                    <a:pt x="1745932" y="385815"/>
                    <a:pt x="1737042" y="404865"/>
                  </a:cubicBezTo>
                  <a:cubicBezTo>
                    <a:pt x="1725612" y="432805"/>
                    <a:pt x="1701482" y="472175"/>
                    <a:pt x="1674812" y="495035"/>
                  </a:cubicBezTo>
                  <a:cubicBezTo>
                    <a:pt x="1648142" y="519165"/>
                    <a:pt x="1606232" y="536945"/>
                    <a:pt x="1578292" y="545835"/>
                  </a:cubicBezTo>
                  <a:cubicBezTo>
                    <a:pt x="1557972" y="552185"/>
                    <a:pt x="1554162" y="550915"/>
                    <a:pt x="1523682" y="553455"/>
                  </a:cubicBezTo>
                  <a:cubicBezTo>
                    <a:pt x="1366202" y="562345"/>
                    <a:pt x="247332" y="726175"/>
                    <a:pt x="73342" y="553455"/>
                  </a:cubicBezTo>
                  <a:cubicBezTo>
                    <a:pt x="-24448" y="455665"/>
                    <a:pt x="-24448" y="194045"/>
                    <a:pt x="73342" y="96255"/>
                  </a:cubicBezTo>
                  <a:cubicBezTo>
                    <a:pt x="252412" y="-81545"/>
                    <a:pt x="1377632" y="51805"/>
                    <a:pt x="1578292" y="102605"/>
                  </a:cubicBezTo>
                  <a:cubicBezTo>
                    <a:pt x="1632902" y="115305"/>
                    <a:pt x="1651952" y="134355"/>
                    <a:pt x="1674812" y="153405"/>
                  </a:cubicBezTo>
                  <a:cubicBezTo>
                    <a:pt x="1691322" y="166105"/>
                    <a:pt x="1700212" y="176265"/>
                    <a:pt x="1711642" y="194045"/>
                  </a:cubicBezTo>
                  <a:cubicBezTo>
                    <a:pt x="1726882" y="219445"/>
                    <a:pt x="1744662" y="267705"/>
                    <a:pt x="1751012" y="296915"/>
                  </a:cubicBezTo>
                  <a:cubicBezTo>
                    <a:pt x="1754822" y="317235"/>
                    <a:pt x="1754822" y="331205"/>
                    <a:pt x="1751012" y="351525"/>
                  </a:cubicBezTo>
                  <a:cubicBezTo>
                    <a:pt x="1744662" y="380735"/>
                    <a:pt x="1726882" y="428995"/>
                    <a:pt x="1711642" y="454395"/>
                  </a:cubicBezTo>
                  <a:cubicBezTo>
                    <a:pt x="1701482" y="472175"/>
                    <a:pt x="1691322" y="482335"/>
                    <a:pt x="1674812" y="495035"/>
                  </a:cubicBezTo>
                  <a:cubicBezTo>
                    <a:pt x="1651952" y="514085"/>
                    <a:pt x="1606232" y="536945"/>
                    <a:pt x="1578292" y="545835"/>
                  </a:cubicBezTo>
                  <a:cubicBezTo>
                    <a:pt x="1557972" y="552185"/>
                    <a:pt x="1554162" y="550915"/>
                    <a:pt x="1523682" y="553455"/>
                  </a:cubicBezTo>
                  <a:cubicBezTo>
                    <a:pt x="1387792" y="561075"/>
                    <a:pt x="562292" y="587745"/>
                    <a:pt x="393382" y="545835"/>
                  </a:cubicBezTo>
                  <a:cubicBezTo>
                    <a:pt x="341312" y="533135"/>
                    <a:pt x="323532" y="519165"/>
                    <a:pt x="296862" y="495035"/>
                  </a:cubicBezTo>
                  <a:cubicBezTo>
                    <a:pt x="270192" y="472175"/>
                    <a:pt x="247332" y="437885"/>
                    <a:pt x="234632" y="404865"/>
                  </a:cubicBezTo>
                  <a:cubicBezTo>
                    <a:pt x="221932" y="371845"/>
                    <a:pt x="216852" y="332475"/>
                    <a:pt x="221932" y="296915"/>
                  </a:cubicBezTo>
                  <a:cubicBezTo>
                    <a:pt x="225742" y="261355"/>
                    <a:pt x="240982" y="223255"/>
                    <a:pt x="260032" y="194045"/>
                  </a:cubicBezTo>
                  <a:cubicBezTo>
                    <a:pt x="280352" y="164835"/>
                    <a:pt x="310832" y="138165"/>
                    <a:pt x="342582" y="121655"/>
                  </a:cubicBezTo>
                  <a:cubicBezTo>
                    <a:pt x="374332" y="105145"/>
                    <a:pt x="392112" y="102605"/>
                    <a:pt x="449262" y="96255"/>
                  </a:cubicBezTo>
                  <a:cubicBezTo>
                    <a:pt x="647382" y="70855"/>
                    <a:pt x="1636712" y="45455"/>
                    <a:pt x="1825942" y="92445"/>
                  </a:cubicBezTo>
                  <a:cubicBezTo>
                    <a:pt x="1880552" y="105145"/>
                    <a:pt x="1899602" y="125465"/>
                    <a:pt x="1923732" y="143245"/>
                  </a:cubicBezTo>
                  <a:cubicBezTo>
                    <a:pt x="1940242" y="155945"/>
                    <a:pt x="1949132" y="169915"/>
                    <a:pt x="1960562" y="185155"/>
                  </a:cubicBezTo>
                  <a:cubicBezTo>
                    <a:pt x="1970722" y="199125"/>
                    <a:pt x="1979612" y="213095"/>
                    <a:pt x="1985962" y="233415"/>
                  </a:cubicBezTo>
                  <a:cubicBezTo>
                    <a:pt x="1994852" y="261355"/>
                    <a:pt x="2002472" y="307075"/>
                    <a:pt x="1998662" y="341365"/>
                  </a:cubicBezTo>
                  <a:cubicBezTo>
                    <a:pt x="1994852" y="376925"/>
                    <a:pt x="1975802" y="418835"/>
                    <a:pt x="1960562" y="444235"/>
                  </a:cubicBezTo>
                  <a:cubicBezTo>
                    <a:pt x="1949132" y="462015"/>
                    <a:pt x="1940242" y="472175"/>
                    <a:pt x="1923732" y="486145"/>
                  </a:cubicBezTo>
                  <a:cubicBezTo>
                    <a:pt x="1899602" y="503925"/>
                    <a:pt x="1855152" y="528055"/>
                    <a:pt x="1825942" y="536945"/>
                  </a:cubicBezTo>
                  <a:cubicBezTo>
                    <a:pt x="1806892" y="543295"/>
                    <a:pt x="1789112" y="544565"/>
                    <a:pt x="1771332" y="543295"/>
                  </a:cubicBezTo>
                  <a:cubicBezTo>
                    <a:pt x="1754822" y="542025"/>
                    <a:pt x="1749742" y="533135"/>
                    <a:pt x="1720532" y="529325"/>
                  </a:cubicBezTo>
                  <a:cubicBezTo>
                    <a:pt x="1585912" y="511545"/>
                    <a:pt x="705802" y="566155"/>
                    <a:pt x="531812" y="522975"/>
                  </a:cubicBezTo>
                  <a:cubicBezTo>
                    <a:pt x="478472" y="510275"/>
                    <a:pt x="460692" y="496305"/>
                    <a:pt x="434022" y="472175"/>
                  </a:cubicBezTo>
                  <a:cubicBezTo>
                    <a:pt x="407352" y="449315"/>
                    <a:pt x="384492" y="409945"/>
                    <a:pt x="371792" y="382005"/>
                  </a:cubicBezTo>
                  <a:cubicBezTo>
                    <a:pt x="364172" y="362955"/>
                    <a:pt x="360362" y="350255"/>
                    <a:pt x="359092" y="328665"/>
                  </a:cubicBezTo>
                  <a:cubicBezTo>
                    <a:pt x="357822" y="299455"/>
                    <a:pt x="362902" y="248655"/>
                    <a:pt x="371792" y="220715"/>
                  </a:cubicBezTo>
                  <a:cubicBezTo>
                    <a:pt x="378142" y="200395"/>
                    <a:pt x="384492" y="187695"/>
                    <a:pt x="398462" y="171185"/>
                  </a:cubicBezTo>
                  <a:cubicBezTo>
                    <a:pt x="416242" y="148325"/>
                    <a:pt x="447992" y="115305"/>
                    <a:pt x="479742" y="98795"/>
                  </a:cubicBezTo>
                  <a:cubicBezTo>
                    <a:pt x="511492" y="82285"/>
                    <a:pt x="531812" y="79745"/>
                    <a:pt x="586422" y="72125"/>
                  </a:cubicBezTo>
                  <a:cubicBezTo>
                    <a:pt x="759142" y="50535"/>
                    <a:pt x="1546542" y="-76465"/>
                    <a:pt x="1690052" y="68315"/>
                  </a:cubicBezTo>
                  <a:cubicBezTo>
                    <a:pt x="1784032" y="161025"/>
                    <a:pt x="1690052" y="529325"/>
                    <a:pt x="1690052" y="529325"/>
                  </a:cubicBezTo>
                </a:path>
              </a:pathLst>
            </a:custGeom>
            <a:solidFill>
              <a:srgbClr val="FFFFFF">
                <a:alpha val="24706"/>
              </a:srgbClr>
            </a:solidFill>
            <a:ln cap="sq">
              <a:noFill/>
              <a:prstDash val="solid"/>
              <a:miter/>
            </a:ln>
          </p:spPr>
          <p:txBody>
            <a:bodyPr/>
            <a:p/>
          </p:txBody>
        </p:sp>
      </p:grpSp>
      <p:grpSp>
        <p:nvGrpSpPr>
          <p:cNvPr name="Group 25" id="25"/>
          <p:cNvGrpSpPr/>
          <p:nvPr/>
        </p:nvGrpSpPr>
        <p:grpSpPr>
          <a:xfrm rot="0">
            <a:off x="2214562" y="9696450"/>
            <a:ext cx="1242060" cy="355282"/>
            <a:chOff x="0" y="0"/>
            <a:chExt cx="1656080" cy="473710"/>
          </a:xfrm>
        </p:grpSpPr>
        <p:sp>
          <p:nvSpPr>
            <p:cNvPr name="Freeform 26" id="26"/>
            <p:cNvSpPr/>
            <p:nvPr/>
          </p:nvSpPr>
          <p:spPr>
            <a:xfrm flipH="false" flipV="false" rot="0">
              <a:off x="50800" y="50800"/>
              <a:ext cx="1557068" cy="375839"/>
            </a:xfrm>
            <a:custGeom>
              <a:avLst/>
              <a:gdLst/>
              <a:ahLst/>
              <a:cxnLst/>
              <a:rect r="r" b="b" t="t" l="l"/>
              <a:pathLst>
                <a:path h="375839" w="1557068">
                  <a:moveTo>
                    <a:pt x="393700" y="0"/>
                  </a:moveTo>
                  <a:cubicBezTo>
                    <a:pt x="781050" y="29210"/>
                    <a:pt x="935990" y="20320"/>
                    <a:pt x="1075690" y="29210"/>
                  </a:cubicBezTo>
                  <a:cubicBezTo>
                    <a:pt x="1215390" y="38100"/>
                    <a:pt x="1419860" y="43180"/>
                    <a:pt x="1494790" y="76200"/>
                  </a:cubicBezTo>
                  <a:cubicBezTo>
                    <a:pt x="1526540" y="90170"/>
                    <a:pt x="1546860" y="109220"/>
                    <a:pt x="1553210" y="129540"/>
                  </a:cubicBezTo>
                  <a:cubicBezTo>
                    <a:pt x="1560830" y="148590"/>
                    <a:pt x="1557020" y="175260"/>
                    <a:pt x="1543050" y="194310"/>
                  </a:cubicBezTo>
                  <a:cubicBezTo>
                    <a:pt x="1521460" y="223520"/>
                    <a:pt x="1443990" y="246380"/>
                    <a:pt x="1403350" y="262890"/>
                  </a:cubicBezTo>
                  <a:cubicBezTo>
                    <a:pt x="1372870" y="274320"/>
                    <a:pt x="1363980" y="278130"/>
                    <a:pt x="1319530" y="285750"/>
                  </a:cubicBezTo>
                  <a:cubicBezTo>
                    <a:pt x="1167130" y="309880"/>
                    <a:pt x="495300" y="316230"/>
                    <a:pt x="280670" y="336550"/>
                  </a:cubicBezTo>
                  <a:cubicBezTo>
                    <a:pt x="182880" y="345440"/>
                    <a:pt x="114300" y="369570"/>
                    <a:pt x="71120" y="365760"/>
                  </a:cubicBezTo>
                  <a:cubicBezTo>
                    <a:pt x="49530" y="364490"/>
                    <a:pt x="36830" y="361950"/>
                    <a:pt x="25400" y="351790"/>
                  </a:cubicBezTo>
                  <a:cubicBezTo>
                    <a:pt x="12700" y="340360"/>
                    <a:pt x="0" y="313690"/>
                    <a:pt x="0" y="295910"/>
                  </a:cubicBezTo>
                  <a:cubicBezTo>
                    <a:pt x="0" y="280670"/>
                    <a:pt x="8890" y="262890"/>
                    <a:pt x="19050" y="252730"/>
                  </a:cubicBezTo>
                  <a:cubicBezTo>
                    <a:pt x="30480" y="242570"/>
                    <a:pt x="41910" y="237490"/>
                    <a:pt x="62230" y="233680"/>
                  </a:cubicBezTo>
                  <a:cubicBezTo>
                    <a:pt x="107950" y="223520"/>
                    <a:pt x="251460" y="218440"/>
                    <a:pt x="293370" y="232410"/>
                  </a:cubicBezTo>
                  <a:cubicBezTo>
                    <a:pt x="312420" y="238760"/>
                    <a:pt x="322580" y="248920"/>
                    <a:pt x="330200" y="260350"/>
                  </a:cubicBezTo>
                  <a:cubicBezTo>
                    <a:pt x="337820" y="273050"/>
                    <a:pt x="342900" y="289560"/>
                    <a:pt x="342900" y="304800"/>
                  </a:cubicBezTo>
                  <a:cubicBezTo>
                    <a:pt x="341630" y="318770"/>
                    <a:pt x="335280" y="335280"/>
                    <a:pt x="325120" y="346710"/>
                  </a:cubicBezTo>
                  <a:cubicBezTo>
                    <a:pt x="316230" y="358140"/>
                    <a:pt x="300990" y="368300"/>
                    <a:pt x="285750" y="370840"/>
                  </a:cubicBezTo>
                  <a:cubicBezTo>
                    <a:pt x="267970" y="373380"/>
                    <a:pt x="236220" y="365760"/>
                    <a:pt x="222250" y="353060"/>
                  </a:cubicBezTo>
                  <a:cubicBezTo>
                    <a:pt x="207010" y="339090"/>
                    <a:pt x="199390" y="307340"/>
                    <a:pt x="200660" y="289560"/>
                  </a:cubicBezTo>
                  <a:cubicBezTo>
                    <a:pt x="201930" y="274320"/>
                    <a:pt x="210820" y="259080"/>
                    <a:pt x="222250" y="248920"/>
                  </a:cubicBezTo>
                  <a:cubicBezTo>
                    <a:pt x="232410" y="238760"/>
                    <a:pt x="248920" y="231140"/>
                    <a:pt x="262890" y="229870"/>
                  </a:cubicBezTo>
                  <a:cubicBezTo>
                    <a:pt x="278130" y="227330"/>
                    <a:pt x="295910" y="232410"/>
                    <a:pt x="307340" y="238760"/>
                  </a:cubicBezTo>
                  <a:cubicBezTo>
                    <a:pt x="320040" y="246380"/>
                    <a:pt x="331470" y="260350"/>
                    <a:pt x="337820" y="274320"/>
                  </a:cubicBezTo>
                  <a:cubicBezTo>
                    <a:pt x="342900" y="287020"/>
                    <a:pt x="344170" y="306070"/>
                    <a:pt x="340360" y="320040"/>
                  </a:cubicBezTo>
                  <a:cubicBezTo>
                    <a:pt x="336550" y="334010"/>
                    <a:pt x="325120" y="349250"/>
                    <a:pt x="313690" y="358140"/>
                  </a:cubicBezTo>
                  <a:cubicBezTo>
                    <a:pt x="302260" y="365760"/>
                    <a:pt x="290830" y="369570"/>
                    <a:pt x="270510" y="372110"/>
                  </a:cubicBezTo>
                  <a:cubicBezTo>
                    <a:pt x="227330" y="378460"/>
                    <a:pt x="97790" y="377190"/>
                    <a:pt x="54610" y="364490"/>
                  </a:cubicBezTo>
                  <a:cubicBezTo>
                    <a:pt x="34290" y="359410"/>
                    <a:pt x="22860" y="351790"/>
                    <a:pt x="13970" y="340360"/>
                  </a:cubicBezTo>
                  <a:cubicBezTo>
                    <a:pt x="5080" y="328930"/>
                    <a:pt x="0" y="309880"/>
                    <a:pt x="0" y="295910"/>
                  </a:cubicBezTo>
                  <a:cubicBezTo>
                    <a:pt x="1270" y="280670"/>
                    <a:pt x="8890" y="262890"/>
                    <a:pt x="19050" y="252730"/>
                  </a:cubicBezTo>
                  <a:cubicBezTo>
                    <a:pt x="30480" y="242570"/>
                    <a:pt x="39370" y="238760"/>
                    <a:pt x="67310" y="232410"/>
                  </a:cubicBezTo>
                  <a:cubicBezTo>
                    <a:pt x="199390" y="200660"/>
                    <a:pt x="1047750" y="189230"/>
                    <a:pt x="1282700" y="144780"/>
                  </a:cubicBezTo>
                  <a:cubicBezTo>
                    <a:pt x="1381760" y="127000"/>
                    <a:pt x="1450340" y="81280"/>
                    <a:pt x="1489710" y="81280"/>
                  </a:cubicBezTo>
                  <a:cubicBezTo>
                    <a:pt x="1504950" y="81280"/>
                    <a:pt x="1512570" y="83820"/>
                    <a:pt x="1522730" y="91440"/>
                  </a:cubicBezTo>
                  <a:cubicBezTo>
                    <a:pt x="1534160" y="99060"/>
                    <a:pt x="1549400" y="114300"/>
                    <a:pt x="1553210" y="129540"/>
                  </a:cubicBezTo>
                  <a:cubicBezTo>
                    <a:pt x="1558290" y="147320"/>
                    <a:pt x="1554480" y="179070"/>
                    <a:pt x="1543050" y="194310"/>
                  </a:cubicBezTo>
                  <a:cubicBezTo>
                    <a:pt x="1531620" y="209550"/>
                    <a:pt x="1510030" y="219710"/>
                    <a:pt x="1483360" y="222250"/>
                  </a:cubicBezTo>
                  <a:cubicBezTo>
                    <a:pt x="1437640" y="227330"/>
                    <a:pt x="1352550" y="186690"/>
                    <a:pt x="1285240" y="176530"/>
                  </a:cubicBezTo>
                  <a:cubicBezTo>
                    <a:pt x="1216660" y="165100"/>
                    <a:pt x="1165860" y="160020"/>
                    <a:pt x="1074420" y="154940"/>
                  </a:cubicBezTo>
                  <a:cubicBezTo>
                    <a:pt x="910590" y="144780"/>
                    <a:pt x="472440" y="161290"/>
                    <a:pt x="379730" y="138430"/>
                  </a:cubicBezTo>
                  <a:cubicBezTo>
                    <a:pt x="354330" y="133350"/>
                    <a:pt x="345440" y="128270"/>
                    <a:pt x="335280" y="116840"/>
                  </a:cubicBezTo>
                  <a:cubicBezTo>
                    <a:pt x="325120" y="105410"/>
                    <a:pt x="316230" y="87630"/>
                    <a:pt x="317500" y="71120"/>
                  </a:cubicBezTo>
                  <a:cubicBezTo>
                    <a:pt x="317500" y="53340"/>
                    <a:pt x="331470" y="24130"/>
                    <a:pt x="345440" y="12700"/>
                  </a:cubicBezTo>
                  <a:cubicBezTo>
                    <a:pt x="358140" y="2540"/>
                    <a:pt x="393700" y="0"/>
                    <a:pt x="393700" y="0"/>
                  </a:cubicBezTo>
                </a:path>
              </a:pathLst>
            </a:custGeom>
            <a:solidFill>
              <a:srgbClr val="E7191F"/>
            </a:solidFill>
            <a:ln cap="sq">
              <a:noFill/>
              <a:prstDash val="solid"/>
              <a:miter/>
            </a:ln>
          </p:spPr>
          <p:txBody>
            <a:bodyPr/>
            <a:p/>
          </p:txBody>
        </p:sp>
      </p:grpSp>
      <p:grpSp>
        <p:nvGrpSpPr>
          <p:cNvPr name="Group 27" id="27"/>
          <p:cNvGrpSpPr/>
          <p:nvPr/>
        </p:nvGrpSpPr>
        <p:grpSpPr>
          <a:xfrm rot="0">
            <a:off x="3833812" y="9813607"/>
            <a:ext cx="188595" cy="184785"/>
            <a:chOff x="0" y="0"/>
            <a:chExt cx="251460" cy="246380"/>
          </a:xfrm>
        </p:grpSpPr>
        <p:sp>
          <p:nvSpPr>
            <p:cNvPr name="Freeform 28" id="28"/>
            <p:cNvSpPr/>
            <p:nvPr/>
          </p:nvSpPr>
          <p:spPr>
            <a:xfrm flipH="false" flipV="false" rot="0">
              <a:off x="50604" y="50749"/>
              <a:ext cx="148786" cy="147474"/>
            </a:xfrm>
            <a:custGeom>
              <a:avLst/>
              <a:gdLst/>
              <a:ahLst/>
              <a:cxnLst/>
              <a:rect r="r" b="b" t="t" l="l"/>
              <a:pathLst>
                <a:path h="147474" w="148786">
                  <a:moveTo>
                    <a:pt x="148786" y="52121"/>
                  </a:moveTo>
                  <a:cubicBezTo>
                    <a:pt x="128466" y="133401"/>
                    <a:pt x="119576" y="141021"/>
                    <a:pt x="106876" y="144831"/>
                  </a:cubicBezTo>
                  <a:cubicBezTo>
                    <a:pt x="89096" y="149911"/>
                    <a:pt x="53536" y="147371"/>
                    <a:pt x="35756" y="139751"/>
                  </a:cubicBezTo>
                  <a:cubicBezTo>
                    <a:pt x="24326" y="134671"/>
                    <a:pt x="16706" y="124511"/>
                    <a:pt x="10356" y="114351"/>
                  </a:cubicBezTo>
                  <a:cubicBezTo>
                    <a:pt x="4006" y="104191"/>
                    <a:pt x="-1074" y="92761"/>
                    <a:pt x="196" y="80061"/>
                  </a:cubicBezTo>
                  <a:cubicBezTo>
                    <a:pt x="196" y="61011"/>
                    <a:pt x="15436" y="27991"/>
                    <a:pt x="28136" y="15291"/>
                  </a:cubicBezTo>
                  <a:cubicBezTo>
                    <a:pt x="38296" y="5131"/>
                    <a:pt x="48456" y="1321"/>
                    <a:pt x="62426" y="51"/>
                  </a:cubicBezTo>
                  <a:cubicBezTo>
                    <a:pt x="80206" y="-1219"/>
                    <a:pt x="129736" y="21641"/>
                    <a:pt x="129736" y="21641"/>
                  </a:cubicBezTo>
                </a:path>
              </a:pathLst>
            </a:custGeom>
            <a:solidFill>
              <a:srgbClr val="FFFFFF"/>
            </a:solidFill>
            <a:ln cap="sq">
              <a:noFill/>
              <a:prstDash val="solid"/>
              <a:miter/>
            </a:ln>
          </p:spPr>
          <p:txBody>
            <a:bodyPr/>
            <a:p/>
          </p:txBody>
        </p:sp>
      </p:grpSp>
      <p:grpSp>
        <p:nvGrpSpPr>
          <p:cNvPr name="Group 29" id="29"/>
          <p:cNvGrpSpPr/>
          <p:nvPr/>
        </p:nvGrpSpPr>
        <p:grpSpPr>
          <a:xfrm rot="0">
            <a:off x="320040" y="9513570"/>
            <a:ext cx="6828472" cy="650557"/>
            <a:chOff x="0" y="0"/>
            <a:chExt cx="9104630" cy="867410"/>
          </a:xfrm>
        </p:grpSpPr>
        <p:sp>
          <p:nvSpPr>
            <p:cNvPr name="Freeform 30" id="30"/>
            <p:cNvSpPr/>
            <p:nvPr/>
          </p:nvSpPr>
          <p:spPr>
            <a:xfrm flipH="false" flipV="false" rot="0">
              <a:off x="50800" y="50800"/>
              <a:ext cx="9001760" cy="765104"/>
            </a:xfrm>
            <a:custGeom>
              <a:avLst/>
              <a:gdLst/>
              <a:ahLst/>
              <a:cxnLst/>
              <a:rect r="r" b="b" t="t" l="l"/>
              <a:pathLst>
                <a:path h="765104" w="9001760">
                  <a:moveTo>
                    <a:pt x="0" y="542290"/>
                  </a:moveTo>
                  <a:cubicBezTo>
                    <a:pt x="1270" y="532130"/>
                    <a:pt x="1270" y="527050"/>
                    <a:pt x="1270" y="527050"/>
                  </a:cubicBezTo>
                  <a:cubicBezTo>
                    <a:pt x="1270" y="525780"/>
                    <a:pt x="3810" y="521970"/>
                    <a:pt x="3810" y="519430"/>
                  </a:cubicBezTo>
                  <a:cubicBezTo>
                    <a:pt x="5080" y="516890"/>
                    <a:pt x="6350" y="511810"/>
                    <a:pt x="6350" y="511810"/>
                  </a:cubicBezTo>
                  <a:cubicBezTo>
                    <a:pt x="6350" y="511810"/>
                    <a:pt x="10160" y="508000"/>
                    <a:pt x="11430" y="505460"/>
                  </a:cubicBezTo>
                  <a:cubicBezTo>
                    <a:pt x="12700" y="504190"/>
                    <a:pt x="15240" y="499110"/>
                    <a:pt x="15240" y="499110"/>
                  </a:cubicBezTo>
                  <a:cubicBezTo>
                    <a:pt x="15240" y="499110"/>
                    <a:pt x="19050" y="496570"/>
                    <a:pt x="21590" y="494030"/>
                  </a:cubicBezTo>
                  <a:cubicBezTo>
                    <a:pt x="22860" y="492760"/>
                    <a:pt x="26670" y="488950"/>
                    <a:pt x="26670" y="488950"/>
                  </a:cubicBezTo>
                  <a:cubicBezTo>
                    <a:pt x="26670" y="488950"/>
                    <a:pt x="31750" y="486410"/>
                    <a:pt x="33020" y="485140"/>
                  </a:cubicBezTo>
                  <a:cubicBezTo>
                    <a:pt x="35560" y="483870"/>
                    <a:pt x="40640" y="482600"/>
                    <a:pt x="40640" y="482600"/>
                  </a:cubicBezTo>
                  <a:cubicBezTo>
                    <a:pt x="40640" y="482600"/>
                    <a:pt x="40640" y="482600"/>
                    <a:pt x="40640" y="481330"/>
                  </a:cubicBezTo>
                  <a:cubicBezTo>
                    <a:pt x="40640" y="481330"/>
                    <a:pt x="45720" y="481330"/>
                    <a:pt x="48260" y="480060"/>
                  </a:cubicBezTo>
                  <a:cubicBezTo>
                    <a:pt x="49530" y="480060"/>
                    <a:pt x="54610" y="478790"/>
                    <a:pt x="54610" y="478790"/>
                  </a:cubicBezTo>
                  <a:cubicBezTo>
                    <a:pt x="55880" y="477520"/>
                    <a:pt x="163830" y="455930"/>
                    <a:pt x="213360" y="447040"/>
                  </a:cubicBezTo>
                  <a:cubicBezTo>
                    <a:pt x="257810" y="439420"/>
                    <a:pt x="298450" y="434340"/>
                    <a:pt x="337820" y="426720"/>
                  </a:cubicBezTo>
                  <a:cubicBezTo>
                    <a:pt x="374650" y="419100"/>
                    <a:pt x="415290" y="408940"/>
                    <a:pt x="441960" y="403860"/>
                  </a:cubicBezTo>
                  <a:cubicBezTo>
                    <a:pt x="457200" y="401320"/>
                    <a:pt x="474980" y="402590"/>
                    <a:pt x="478790" y="398780"/>
                  </a:cubicBezTo>
                  <a:cubicBezTo>
                    <a:pt x="480060" y="396240"/>
                    <a:pt x="478790" y="392430"/>
                    <a:pt x="478790" y="392430"/>
                  </a:cubicBezTo>
                  <a:cubicBezTo>
                    <a:pt x="478790" y="392430"/>
                    <a:pt x="481330" y="386080"/>
                    <a:pt x="482600" y="383540"/>
                  </a:cubicBezTo>
                  <a:cubicBezTo>
                    <a:pt x="482600" y="381000"/>
                    <a:pt x="485140" y="374650"/>
                    <a:pt x="485140" y="374650"/>
                  </a:cubicBezTo>
                  <a:cubicBezTo>
                    <a:pt x="485140" y="374650"/>
                    <a:pt x="488950" y="367030"/>
                    <a:pt x="490220" y="367030"/>
                  </a:cubicBezTo>
                  <a:cubicBezTo>
                    <a:pt x="490220" y="367030"/>
                    <a:pt x="490220" y="365760"/>
                    <a:pt x="490220" y="365760"/>
                  </a:cubicBezTo>
                  <a:cubicBezTo>
                    <a:pt x="490220" y="365760"/>
                    <a:pt x="483870" y="367030"/>
                    <a:pt x="483870" y="367030"/>
                  </a:cubicBezTo>
                  <a:cubicBezTo>
                    <a:pt x="483870" y="367030"/>
                    <a:pt x="477520" y="365760"/>
                    <a:pt x="474980" y="364490"/>
                  </a:cubicBezTo>
                  <a:cubicBezTo>
                    <a:pt x="471170" y="364490"/>
                    <a:pt x="464820" y="363220"/>
                    <a:pt x="464820" y="363220"/>
                  </a:cubicBezTo>
                  <a:cubicBezTo>
                    <a:pt x="464820" y="361950"/>
                    <a:pt x="459740" y="359410"/>
                    <a:pt x="457200" y="358140"/>
                  </a:cubicBezTo>
                  <a:cubicBezTo>
                    <a:pt x="453390" y="356870"/>
                    <a:pt x="448310" y="354330"/>
                    <a:pt x="448310" y="354330"/>
                  </a:cubicBezTo>
                  <a:cubicBezTo>
                    <a:pt x="448310" y="354330"/>
                    <a:pt x="443230" y="350520"/>
                    <a:pt x="440690" y="347980"/>
                  </a:cubicBezTo>
                  <a:cubicBezTo>
                    <a:pt x="438150" y="346710"/>
                    <a:pt x="434340" y="342900"/>
                    <a:pt x="433070" y="342900"/>
                  </a:cubicBezTo>
                  <a:cubicBezTo>
                    <a:pt x="433070" y="341630"/>
                    <a:pt x="429260" y="337820"/>
                    <a:pt x="427990" y="335280"/>
                  </a:cubicBezTo>
                  <a:cubicBezTo>
                    <a:pt x="426720" y="332740"/>
                    <a:pt x="422910" y="327660"/>
                    <a:pt x="422910" y="327660"/>
                  </a:cubicBezTo>
                  <a:cubicBezTo>
                    <a:pt x="422910" y="326390"/>
                    <a:pt x="420370" y="321310"/>
                    <a:pt x="419100" y="318770"/>
                  </a:cubicBezTo>
                  <a:cubicBezTo>
                    <a:pt x="417830" y="314960"/>
                    <a:pt x="415290" y="309880"/>
                    <a:pt x="415290" y="309880"/>
                  </a:cubicBezTo>
                  <a:cubicBezTo>
                    <a:pt x="415290" y="309880"/>
                    <a:pt x="414020" y="303530"/>
                    <a:pt x="414020" y="299720"/>
                  </a:cubicBezTo>
                  <a:cubicBezTo>
                    <a:pt x="412750" y="297180"/>
                    <a:pt x="412750" y="290830"/>
                    <a:pt x="412750" y="290830"/>
                  </a:cubicBezTo>
                  <a:cubicBezTo>
                    <a:pt x="412750" y="290830"/>
                    <a:pt x="412750" y="284480"/>
                    <a:pt x="412750" y="281940"/>
                  </a:cubicBezTo>
                  <a:cubicBezTo>
                    <a:pt x="412750" y="278130"/>
                    <a:pt x="414020" y="271780"/>
                    <a:pt x="414020" y="271780"/>
                  </a:cubicBezTo>
                  <a:cubicBezTo>
                    <a:pt x="414020" y="271780"/>
                    <a:pt x="415290" y="265430"/>
                    <a:pt x="416560" y="262890"/>
                  </a:cubicBezTo>
                  <a:cubicBezTo>
                    <a:pt x="417830" y="260350"/>
                    <a:pt x="420370" y="254000"/>
                    <a:pt x="420370" y="254000"/>
                  </a:cubicBezTo>
                  <a:cubicBezTo>
                    <a:pt x="420370" y="254000"/>
                    <a:pt x="422910" y="248920"/>
                    <a:pt x="425450" y="246380"/>
                  </a:cubicBezTo>
                  <a:cubicBezTo>
                    <a:pt x="426720" y="243840"/>
                    <a:pt x="430530" y="237490"/>
                    <a:pt x="430530" y="237490"/>
                  </a:cubicBezTo>
                  <a:cubicBezTo>
                    <a:pt x="430530" y="237490"/>
                    <a:pt x="434340" y="233680"/>
                    <a:pt x="436880" y="231140"/>
                  </a:cubicBezTo>
                  <a:cubicBezTo>
                    <a:pt x="439420" y="229870"/>
                    <a:pt x="443230" y="224790"/>
                    <a:pt x="444500" y="224790"/>
                  </a:cubicBezTo>
                  <a:cubicBezTo>
                    <a:pt x="444500" y="224790"/>
                    <a:pt x="449580" y="222250"/>
                    <a:pt x="452120" y="219710"/>
                  </a:cubicBezTo>
                  <a:cubicBezTo>
                    <a:pt x="454660" y="218440"/>
                    <a:pt x="459740" y="215900"/>
                    <a:pt x="461010" y="215900"/>
                  </a:cubicBezTo>
                  <a:cubicBezTo>
                    <a:pt x="461010" y="215900"/>
                    <a:pt x="466090" y="213360"/>
                    <a:pt x="469900" y="213360"/>
                  </a:cubicBezTo>
                  <a:cubicBezTo>
                    <a:pt x="472440" y="212090"/>
                    <a:pt x="474980" y="210820"/>
                    <a:pt x="478790" y="210820"/>
                  </a:cubicBezTo>
                  <a:cubicBezTo>
                    <a:pt x="487680" y="208280"/>
                    <a:pt x="502920" y="205740"/>
                    <a:pt x="521970" y="201930"/>
                  </a:cubicBezTo>
                  <a:cubicBezTo>
                    <a:pt x="556260" y="196850"/>
                    <a:pt x="626110" y="186690"/>
                    <a:pt x="669290" y="179070"/>
                  </a:cubicBezTo>
                  <a:cubicBezTo>
                    <a:pt x="702310" y="173990"/>
                    <a:pt x="723900" y="167640"/>
                    <a:pt x="758190" y="163830"/>
                  </a:cubicBezTo>
                  <a:cubicBezTo>
                    <a:pt x="803910" y="158750"/>
                    <a:pt x="873760" y="160020"/>
                    <a:pt x="919480" y="156210"/>
                  </a:cubicBezTo>
                  <a:cubicBezTo>
                    <a:pt x="953770" y="152400"/>
                    <a:pt x="979170" y="137160"/>
                    <a:pt x="1009650" y="142240"/>
                  </a:cubicBezTo>
                  <a:cubicBezTo>
                    <a:pt x="1043940" y="148590"/>
                    <a:pt x="1108710" y="176530"/>
                    <a:pt x="1113790" y="195580"/>
                  </a:cubicBezTo>
                  <a:cubicBezTo>
                    <a:pt x="1117600" y="208280"/>
                    <a:pt x="1088390" y="228600"/>
                    <a:pt x="1089660" y="236220"/>
                  </a:cubicBezTo>
                  <a:cubicBezTo>
                    <a:pt x="1089660" y="238760"/>
                    <a:pt x="1092200" y="240030"/>
                    <a:pt x="1094740" y="242570"/>
                  </a:cubicBezTo>
                  <a:cubicBezTo>
                    <a:pt x="1096010" y="243840"/>
                    <a:pt x="1099820" y="248920"/>
                    <a:pt x="1099820" y="248920"/>
                  </a:cubicBezTo>
                  <a:cubicBezTo>
                    <a:pt x="1099820" y="248920"/>
                    <a:pt x="1103630" y="254000"/>
                    <a:pt x="1104900" y="256540"/>
                  </a:cubicBezTo>
                  <a:cubicBezTo>
                    <a:pt x="1106170" y="259080"/>
                    <a:pt x="1108710" y="264160"/>
                    <a:pt x="1108710" y="264160"/>
                  </a:cubicBezTo>
                  <a:cubicBezTo>
                    <a:pt x="1108710" y="264160"/>
                    <a:pt x="1109980" y="270510"/>
                    <a:pt x="1111250" y="273050"/>
                  </a:cubicBezTo>
                  <a:cubicBezTo>
                    <a:pt x="1111250" y="275590"/>
                    <a:pt x="1112520" y="281940"/>
                    <a:pt x="1112520" y="281940"/>
                  </a:cubicBezTo>
                  <a:cubicBezTo>
                    <a:pt x="1112520" y="281940"/>
                    <a:pt x="1112520" y="281940"/>
                    <a:pt x="1112520" y="283210"/>
                  </a:cubicBezTo>
                  <a:cubicBezTo>
                    <a:pt x="1115060" y="284480"/>
                    <a:pt x="1135380" y="284480"/>
                    <a:pt x="1148080" y="284480"/>
                  </a:cubicBezTo>
                  <a:cubicBezTo>
                    <a:pt x="1164590" y="284480"/>
                    <a:pt x="1201420" y="283210"/>
                    <a:pt x="1202690" y="280670"/>
                  </a:cubicBezTo>
                  <a:cubicBezTo>
                    <a:pt x="1202690" y="280670"/>
                    <a:pt x="1201420" y="275590"/>
                    <a:pt x="1201420" y="273050"/>
                  </a:cubicBezTo>
                  <a:cubicBezTo>
                    <a:pt x="1200150" y="270510"/>
                    <a:pt x="1198880" y="265430"/>
                    <a:pt x="1198880" y="265430"/>
                  </a:cubicBezTo>
                  <a:cubicBezTo>
                    <a:pt x="1198880" y="265430"/>
                    <a:pt x="1198880" y="260350"/>
                    <a:pt x="1198880" y="257810"/>
                  </a:cubicBezTo>
                  <a:cubicBezTo>
                    <a:pt x="1198880" y="255270"/>
                    <a:pt x="1198880" y="250190"/>
                    <a:pt x="1198880" y="250190"/>
                  </a:cubicBezTo>
                  <a:cubicBezTo>
                    <a:pt x="1198880" y="248920"/>
                    <a:pt x="1200150" y="245110"/>
                    <a:pt x="1201420" y="242570"/>
                  </a:cubicBezTo>
                  <a:cubicBezTo>
                    <a:pt x="1201420" y="240030"/>
                    <a:pt x="1202690" y="234950"/>
                    <a:pt x="1202690" y="234950"/>
                  </a:cubicBezTo>
                  <a:cubicBezTo>
                    <a:pt x="1202690" y="234950"/>
                    <a:pt x="1205230" y="229870"/>
                    <a:pt x="1206500" y="227330"/>
                  </a:cubicBezTo>
                  <a:cubicBezTo>
                    <a:pt x="1207770" y="226060"/>
                    <a:pt x="1210310" y="220980"/>
                    <a:pt x="1210310" y="220980"/>
                  </a:cubicBezTo>
                  <a:cubicBezTo>
                    <a:pt x="1210310" y="220980"/>
                    <a:pt x="1212850" y="217170"/>
                    <a:pt x="1215390" y="214630"/>
                  </a:cubicBezTo>
                  <a:cubicBezTo>
                    <a:pt x="1216660" y="213360"/>
                    <a:pt x="1220470" y="209550"/>
                    <a:pt x="1220470" y="209550"/>
                  </a:cubicBezTo>
                  <a:cubicBezTo>
                    <a:pt x="1220470" y="209550"/>
                    <a:pt x="1224280" y="207010"/>
                    <a:pt x="1226820" y="204470"/>
                  </a:cubicBezTo>
                  <a:cubicBezTo>
                    <a:pt x="1228090" y="203200"/>
                    <a:pt x="1233170" y="200660"/>
                    <a:pt x="1233170" y="200660"/>
                  </a:cubicBezTo>
                  <a:cubicBezTo>
                    <a:pt x="1233170" y="200660"/>
                    <a:pt x="1238250" y="198120"/>
                    <a:pt x="1240790" y="198120"/>
                  </a:cubicBezTo>
                  <a:cubicBezTo>
                    <a:pt x="1242060" y="196850"/>
                    <a:pt x="1247140" y="195580"/>
                    <a:pt x="1247140" y="195580"/>
                  </a:cubicBezTo>
                  <a:cubicBezTo>
                    <a:pt x="1247140" y="195580"/>
                    <a:pt x="1252220" y="194310"/>
                    <a:pt x="1254760" y="194310"/>
                  </a:cubicBezTo>
                  <a:cubicBezTo>
                    <a:pt x="1257300" y="194310"/>
                    <a:pt x="1259840" y="194310"/>
                    <a:pt x="1262380" y="193040"/>
                  </a:cubicBezTo>
                  <a:cubicBezTo>
                    <a:pt x="1266190" y="191770"/>
                    <a:pt x="1267460" y="185420"/>
                    <a:pt x="1273810" y="182880"/>
                  </a:cubicBezTo>
                  <a:cubicBezTo>
                    <a:pt x="1292860" y="176530"/>
                    <a:pt x="1352550" y="184150"/>
                    <a:pt x="1394460" y="185420"/>
                  </a:cubicBezTo>
                  <a:cubicBezTo>
                    <a:pt x="1437640" y="185420"/>
                    <a:pt x="1479550" y="185420"/>
                    <a:pt x="1527810" y="186690"/>
                  </a:cubicBezTo>
                  <a:cubicBezTo>
                    <a:pt x="1586230" y="186690"/>
                    <a:pt x="1651000" y="185420"/>
                    <a:pt x="1718310" y="185420"/>
                  </a:cubicBezTo>
                  <a:cubicBezTo>
                    <a:pt x="1790700" y="185420"/>
                    <a:pt x="1865630" y="185420"/>
                    <a:pt x="1945640" y="185420"/>
                  </a:cubicBezTo>
                  <a:cubicBezTo>
                    <a:pt x="2034540" y="185420"/>
                    <a:pt x="2221230" y="185420"/>
                    <a:pt x="2230120" y="185420"/>
                  </a:cubicBezTo>
                  <a:cubicBezTo>
                    <a:pt x="2231390" y="185420"/>
                    <a:pt x="2231390" y="185420"/>
                    <a:pt x="2231390" y="185420"/>
                  </a:cubicBezTo>
                  <a:cubicBezTo>
                    <a:pt x="2231390" y="184150"/>
                    <a:pt x="2232660" y="177800"/>
                    <a:pt x="2232660" y="177800"/>
                  </a:cubicBezTo>
                  <a:cubicBezTo>
                    <a:pt x="2232660" y="177800"/>
                    <a:pt x="2235200" y="172720"/>
                    <a:pt x="2235200" y="170180"/>
                  </a:cubicBezTo>
                  <a:cubicBezTo>
                    <a:pt x="2236470" y="168910"/>
                    <a:pt x="2239010" y="163830"/>
                    <a:pt x="2239010" y="163830"/>
                  </a:cubicBezTo>
                  <a:cubicBezTo>
                    <a:pt x="2239010" y="163830"/>
                    <a:pt x="2241550" y="160020"/>
                    <a:pt x="2242820" y="157480"/>
                  </a:cubicBezTo>
                  <a:cubicBezTo>
                    <a:pt x="2245360" y="156210"/>
                    <a:pt x="2247900" y="152400"/>
                    <a:pt x="2247900" y="152400"/>
                  </a:cubicBezTo>
                  <a:cubicBezTo>
                    <a:pt x="2247900" y="152400"/>
                    <a:pt x="2251710" y="148590"/>
                    <a:pt x="2252980" y="147320"/>
                  </a:cubicBezTo>
                  <a:cubicBezTo>
                    <a:pt x="2255520" y="146050"/>
                    <a:pt x="2259330" y="142240"/>
                    <a:pt x="2259330" y="142240"/>
                  </a:cubicBezTo>
                  <a:cubicBezTo>
                    <a:pt x="2259330" y="142240"/>
                    <a:pt x="2263140" y="140970"/>
                    <a:pt x="2265680" y="139700"/>
                  </a:cubicBezTo>
                  <a:cubicBezTo>
                    <a:pt x="2268220" y="138430"/>
                    <a:pt x="2272030" y="135890"/>
                    <a:pt x="2273300" y="135890"/>
                  </a:cubicBezTo>
                  <a:cubicBezTo>
                    <a:pt x="2273300" y="135890"/>
                    <a:pt x="2277110" y="135890"/>
                    <a:pt x="2279650" y="134620"/>
                  </a:cubicBezTo>
                  <a:cubicBezTo>
                    <a:pt x="2282190" y="134620"/>
                    <a:pt x="2287270" y="133350"/>
                    <a:pt x="2287270" y="133350"/>
                  </a:cubicBezTo>
                  <a:cubicBezTo>
                    <a:pt x="2287270" y="133350"/>
                    <a:pt x="2329180" y="133350"/>
                    <a:pt x="2354580" y="132080"/>
                  </a:cubicBezTo>
                  <a:cubicBezTo>
                    <a:pt x="2388870" y="130810"/>
                    <a:pt x="2432050" y="128270"/>
                    <a:pt x="2477770" y="123190"/>
                  </a:cubicBezTo>
                  <a:cubicBezTo>
                    <a:pt x="2537460" y="118110"/>
                    <a:pt x="2608580" y="107950"/>
                    <a:pt x="2682240" y="100330"/>
                  </a:cubicBezTo>
                  <a:cubicBezTo>
                    <a:pt x="2771140" y="92710"/>
                    <a:pt x="2872740" y="86360"/>
                    <a:pt x="2973070" y="78740"/>
                  </a:cubicBezTo>
                  <a:cubicBezTo>
                    <a:pt x="3081020" y="72390"/>
                    <a:pt x="3213100" y="64770"/>
                    <a:pt x="3309620" y="59690"/>
                  </a:cubicBezTo>
                  <a:cubicBezTo>
                    <a:pt x="3380740" y="55880"/>
                    <a:pt x="3430270" y="55880"/>
                    <a:pt x="3495040" y="50800"/>
                  </a:cubicBezTo>
                  <a:cubicBezTo>
                    <a:pt x="3566160" y="46990"/>
                    <a:pt x="3642360" y="39370"/>
                    <a:pt x="3721100" y="33020"/>
                  </a:cubicBezTo>
                  <a:cubicBezTo>
                    <a:pt x="3803650" y="26670"/>
                    <a:pt x="3896360" y="20320"/>
                    <a:pt x="3976370" y="13970"/>
                  </a:cubicBezTo>
                  <a:cubicBezTo>
                    <a:pt x="4044950" y="8890"/>
                    <a:pt x="4169410" y="0"/>
                    <a:pt x="4169410" y="0"/>
                  </a:cubicBezTo>
                  <a:cubicBezTo>
                    <a:pt x="4170680" y="0"/>
                    <a:pt x="4174490" y="0"/>
                    <a:pt x="4177030" y="0"/>
                  </a:cubicBezTo>
                  <a:cubicBezTo>
                    <a:pt x="4179570" y="1270"/>
                    <a:pt x="4184650" y="1270"/>
                    <a:pt x="4184650" y="1270"/>
                  </a:cubicBezTo>
                  <a:cubicBezTo>
                    <a:pt x="4184650" y="1270"/>
                    <a:pt x="4189730" y="2540"/>
                    <a:pt x="4192270" y="3810"/>
                  </a:cubicBezTo>
                  <a:cubicBezTo>
                    <a:pt x="4193540" y="3810"/>
                    <a:pt x="4198620" y="5080"/>
                    <a:pt x="4198620" y="5080"/>
                  </a:cubicBezTo>
                  <a:cubicBezTo>
                    <a:pt x="4198620" y="5080"/>
                    <a:pt x="4202430" y="7620"/>
                    <a:pt x="4204970" y="8890"/>
                  </a:cubicBezTo>
                  <a:cubicBezTo>
                    <a:pt x="4207510" y="10160"/>
                    <a:pt x="4211320" y="12700"/>
                    <a:pt x="4211320" y="12700"/>
                  </a:cubicBezTo>
                  <a:cubicBezTo>
                    <a:pt x="4211320" y="12700"/>
                    <a:pt x="4215130" y="16510"/>
                    <a:pt x="4216400" y="17780"/>
                  </a:cubicBezTo>
                  <a:cubicBezTo>
                    <a:pt x="4217670" y="20320"/>
                    <a:pt x="4221480" y="22860"/>
                    <a:pt x="4221480" y="22860"/>
                  </a:cubicBezTo>
                  <a:cubicBezTo>
                    <a:pt x="4221480" y="24130"/>
                    <a:pt x="4224020" y="27940"/>
                    <a:pt x="4225290" y="29210"/>
                  </a:cubicBezTo>
                  <a:cubicBezTo>
                    <a:pt x="4226560" y="31750"/>
                    <a:pt x="4229100" y="35560"/>
                    <a:pt x="4229100" y="35560"/>
                  </a:cubicBezTo>
                  <a:cubicBezTo>
                    <a:pt x="4229100" y="35560"/>
                    <a:pt x="4230370" y="40640"/>
                    <a:pt x="4231640" y="43180"/>
                  </a:cubicBezTo>
                  <a:cubicBezTo>
                    <a:pt x="4231640" y="44450"/>
                    <a:pt x="4231640" y="45720"/>
                    <a:pt x="4232910" y="46990"/>
                  </a:cubicBezTo>
                  <a:cubicBezTo>
                    <a:pt x="4236720" y="50800"/>
                    <a:pt x="4273550" y="49530"/>
                    <a:pt x="4273550" y="49530"/>
                  </a:cubicBezTo>
                  <a:cubicBezTo>
                    <a:pt x="4273550" y="49530"/>
                    <a:pt x="4278630" y="48260"/>
                    <a:pt x="4281170" y="48260"/>
                  </a:cubicBezTo>
                  <a:cubicBezTo>
                    <a:pt x="4282440" y="48260"/>
                    <a:pt x="4287520" y="48260"/>
                    <a:pt x="4287520" y="48260"/>
                  </a:cubicBezTo>
                  <a:cubicBezTo>
                    <a:pt x="4287520" y="48260"/>
                    <a:pt x="4292600" y="49530"/>
                    <a:pt x="4295140" y="49530"/>
                  </a:cubicBezTo>
                  <a:cubicBezTo>
                    <a:pt x="4297680" y="50800"/>
                    <a:pt x="4302760" y="52070"/>
                    <a:pt x="4302760" y="52070"/>
                  </a:cubicBezTo>
                  <a:cubicBezTo>
                    <a:pt x="4302760" y="52070"/>
                    <a:pt x="4306570" y="53340"/>
                    <a:pt x="4309110" y="54610"/>
                  </a:cubicBezTo>
                  <a:cubicBezTo>
                    <a:pt x="4311650" y="55880"/>
                    <a:pt x="4315460" y="58420"/>
                    <a:pt x="4315460" y="58420"/>
                  </a:cubicBezTo>
                  <a:cubicBezTo>
                    <a:pt x="4315460" y="58420"/>
                    <a:pt x="4315460" y="58420"/>
                    <a:pt x="4316730" y="58420"/>
                  </a:cubicBezTo>
                  <a:cubicBezTo>
                    <a:pt x="4320540" y="59690"/>
                    <a:pt x="4357370" y="58420"/>
                    <a:pt x="4382770" y="55880"/>
                  </a:cubicBezTo>
                  <a:cubicBezTo>
                    <a:pt x="4419600" y="53340"/>
                    <a:pt x="4476750" y="44450"/>
                    <a:pt x="4514850" y="43180"/>
                  </a:cubicBezTo>
                  <a:cubicBezTo>
                    <a:pt x="4542790" y="43180"/>
                    <a:pt x="4591050" y="48260"/>
                    <a:pt x="4591050" y="48260"/>
                  </a:cubicBezTo>
                  <a:cubicBezTo>
                    <a:pt x="4591050" y="48260"/>
                    <a:pt x="4596130" y="48260"/>
                    <a:pt x="4598670" y="48260"/>
                  </a:cubicBezTo>
                  <a:cubicBezTo>
                    <a:pt x="4601210" y="48260"/>
                    <a:pt x="4605020" y="48260"/>
                    <a:pt x="4605020" y="48260"/>
                  </a:cubicBezTo>
                  <a:cubicBezTo>
                    <a:pt x="4606290" y="48260"/>
                    <a:pt x="4610100" y="49530"/>
                    <a:pt x="4612640" y="49530"/>
                  </a:cubicBezTo>
                  <a:cubicBezTo>
                    <a:pt x="4615180" y="50800"/>
                    <a:pt x="4620260" y="52070"/>
                    <a:pt x="4620260" y="52070"/>
                  </a:cubicBezTo>
                  <a:cubicBezTo>
                    <a:pt x="4620260" y="52070"/>
                    <a:pt x="4624070" y="54610"/>
                    <a:pt x="4626610" y="54610"/>
                  </a:cubicBezTo>
                  <a:cubicBezTo>
                    <a:pt x="4629150" y="55880"/>
                    <a:pt x="4632960" y="58420"/>
                    <a:pt x="4632960" y="58420"/>
                  </a:cubicBezTo>
                  <a:cubicBezTo>
                    <a:pt x="4634230" y="58420"/>
                    <a:pt x="4636770" y="62230"/>
                    <a:pt x="4639310" y="63500"/>
                  </a:cubicBezTo>
                  <a:cubicBezTo>
                    <a:pt x="4640580" y="64770"/>
                    <a:pt x="4644390" y="68580"/>
                    <a:pt x="4644390" y="68580"/>
                  </a:cubicBezTo>
                  <a:cubicBezTo>
                    <a:pt x="4644390" y="68580"/>
                    <a:pt x="4648200" y="72390"/>
                    <a:pt x="4649470" y="74930"/>
                  </a:cubicBezTo>
                  <a:cubicBezTo>
                    <a:pt x="4650740" y="77470"/>
                    <a:pt x="4653280" y="81280"/>
                    <a:pt x="4653280" y="81280"/>
                  </a:cubicBezTo>
                  <a:cubicBezTo>
                    <a:pt x="4653280" y="81280"/>
                    <a:pt x="4654550" y="85090"/>
                    <a:pt x="4655820" y="87630"/>
                  </a:cubicBezTo>
                  <a:cubicBezTo>
                    <a:pt x="4657090" y="90170"/>
                    <a:pt x="4658360" y="95250"/>
                    <a:pt x="4658360" y="95250"/>
                  </a:cubicBezTo>
                  <a:cubicBezTo>
                    <a:pt x="4658360" y="95250"/>
                    <a:pt x="4659630" y="100330"/>
                    <a:pt x="4659630" y="102870"/>
                  </a:cubicBezTo>
                  <a:cubicBezTo>
                    <a:pt x="4659630" y="105410"/>
                    <a:pt x="4660900" y="110490"/>
                    <a:pt x="4660900" y="110490"/>
                  </a:cubicBezTo>
                  <a:cubicBezTo>
                    <a:pt x="4660900" y="110490"/>
                    <a:pt x="4659630" y="115570"/>
                    <a:pt x="4659630" y="116840"/>
                  </a:cubicBezTo>
                  <a:cubicBezTo>
                    <a:pt x="4659630" y="119380"/>
                    <a:pt x="4658360" y="124460"/>
                    <a:pt x="4658360" y="124460"/>
                  </a:cubicBezTo>
                  <a:cubicBezTo>
                    <a:pt x="4658360" y="124460"/>
                    <a:pt x="4657090" y="129540"/>
                    <a:pt x="4655820" y="132080"/>
                  </a:cubicBezTo>
                  <a:cubicBezTo>
                    <a:pt x="4654550" y="134620"/>
                    <a:pt x="4653280" y="138430"/>
                    <a:pt x="4653280" y="138430"/>
                  </a:cubicBezTo>
                  <a:cubicBezTo>
                    <a:pt x="4653280" y="138430"/>
                    <a:pt x="4649470" y="142240"/>
                    <a:pt x="4650740" y="143510"/>
                  </a:cubicBezTo>
                  <a:cubicBezTo>
                    <a:pt x="4652010" y="147320"/>
                    <a:pt x="4690110" y="138430"/>
                    <a:pt x="4715510" y="137160"/>
                  </a:cubicBezTo>
                  <a:cubicBezTo>
                    <a:pt x="4751070" y="135890"/>
                    <a:pt x="4822190" y="138430"/>
                    <a:pt x="4842510" y="137160"/>
                  </a:cubicBezTo>
                  <a:cubicBezTo>
                    <a:pt x="4847590" y="137160"/>
                    <a:pt x="4847590" y="135890"/>
                    <a:pt x="4853940" y="135890"/>
                  </a:cubicBezTo>
                  <a:cubicBezTo>
                    <a:pt x="4875530" y="134620"/>
                    <a:pt x="4956810" y="134620"/>
                    <a:pt x="5010150" y="134620"/>
                  </a:cubicBezTo>
                  <a:cubicBezTo>
                    <a:pt x="5068570" y="134620"/>
                    <a:pt x="5191760" y="135890"/>
                    <a:pt x="5191760" y="135890"/>
                  </a:cubicBezTo>
                  <a:cubicBezTo>
                    <a:pt x="5191760" y="135890"/>
                    <a:pt x="5196840" y="137160"/>
                    <a:pt x="5199380" y="137160"/>
                  </a:cubicBezTo>
                  <a:cubicBezTo>
                    <a:pt x="5201920" y="137160"/>
                    <a:pt x="5207000" y="138430"/>
                    <a:pt x="5207000" y="138430"/>
                  </a:cubicBezTo>
                  <a:cubicBezTo>
                    <a:pt x="5207000" y="138430"/>
                    <a:pt x="5210810" y="139700"/>
                    <a:pt x="5213350" y="140970"/>
                  </a:cubicBezTo>
                  <a:cubicBezTo>
                    <a:pt x="5215890" y="140970"/>
                    <a:pt x="5220970" y="143510"/>
                    <a:pt x="5220970" y="143510"/>
                  </a:cubicBezTo>
                  <a:cubicBezTo>
                    <a:pt x="5220970" y="143510"/>
                    <a:pt x="5224780" y="146050"/>
                    <a:pt x="5227320" y="147320"/>
                  </a:cubicBezTo>
                  <a:cubicBezTo>
                    <a:pt x="5228590" y="148590"/>
                    <a:pt x="5232400" y="151130"/>
                    <a:pt x="5233670" y="151130"/>
                  </a:cubicBezTo>
                  <a:cubicBezTo>
                    <a:pt x="5233670" y="151130"/>
                    <a:pt x="5236210" y="154940"/>
                    <a:pt x="5237480" y="157480"/>
                  </a:cubicBezTo>
                  <a:cubicBezTo>
                    <a:pt x="5238750" y="158750"/>
                    <a:pt x="5238750" y="160020"/>
                    <a:pt x="5241290" y="161290"/>
                  </a:cubicBezTo>
                  <a:cubicBezTo>
                    <a:pt x="5261610" y="168910"/>
                    <a:pt x="5435600" y="161290"/>
                    <a:pt x="5553710" y="161290"/>
                  </a:cubicBezTo>
                  <a:cubicBezTo>
                    <a:pt x="5708650" y="161290"/>
                    <a:pt x="5957570" y="161290"/>
                    <a:pt x="6093460" y="162560"/>
                  </a:cubicBezTo>
                  <a:cubicBezTo>
                    <a:pt x="6176010" y="162560"/>
                    <a:pt x="6230620" y="162560"/>
                    <a:pt x="6291580" y="162560"/>
                  </a:cubicBezTo>
                  <a:cubicBezTo>
                    <a:pt x="6343650" y="162560"/>
                    <a:pt x="6383020" y="162560"/>
                    <a:pt x="6436360" y="162560"/>
                  </a:cubicBezTo>
                  <a:cubicBezTo>
                    <a:pt x="6503670" y="161290"/>
                    <a:pt x="6578600" y="162560"/>
                    <a:pt x="6662420" y="161290"/>
                  </a:cubicBezTo>
                  <a:cubicBezTo>
                    <a:pt x="6767830" y="158750"/>
                    <a:pt x="6912610" y="152400"/>
                    <a:pt x="7021830" y="149860"/>
                  </a:cubicBezTo>
                  <a:cubicBezTo>
                    <a:pt x="7113270" y="147320"/>
                    <a:pt x="7203440" y="146050"/>
                    <a:pt x="7274560" y="144780"/>
                  </a:cubicBezTo>
                  <a:cubicBezTo>
                    <a:pt x="7326630" y="143510"/>
                    <a:pt x="7409180" y="140970"/>
                    <a:pt x="7409180" y="140970"/>
                  </a:cubicBezTo>
                  <a:cubicBezTo>
                    <a:pt x="7409180" y="140970"/>
                    <a:pt x="7414260" y="140970"/>
                    <a:pt x="7415530" y="142240"/>
                  </a:cubicBezTo>
                  <a:cubicBezTo>
                    <a:pt x="7418070" y="142240"/>
                    <a:pt x="7423150" y="142240"/>
                    <a:pt x="7423150" y="142240"/>
                  </a:cubicBezTo>
                  <a:cubicBezTo>
                    <a:pt x="7423150" y="142240"/>
                    <a:pt x="7428230" y="143510"/>
                    <a:pt x="7429500" y="144780"/>
                  </a:cubicBezTo>
                  <a:cubicBezTo>
                    <a:pt x="7432040" y="146050"/>
                    <a:pt x="7435850" y="147320"/>
                    <a:pt x="7437120" y="147320"/>
                  </a:cubicBezTo>
                  <a:cubicBezTo>
                    <a:pt x="7437120" y="147320"/>
                    <a:pt x="7440930" y="149860"/>
                    <a:pt x="7442200" y="151130"/>
                  </a:cubicBezTo>
                  <a:cubicBezTo>
                    <a:pt x="7444740" y="152400"/>
                    <a:pt x="7448550" y="154940"/>
                    <a:pt x="7448550" y="154940"/>
                  </a:cubicBezTo>
                  <a:cubicBezTo>
                    <a:pt x="7448550" y="154940"/>
                    <a:pt x="7451090" y="158750"/>
                    <a:pt x="7453630" y="160020"/>
                  </a:cubicBezTo>
                  <a:cubicBezTo>
                    <a:pt x="7454900" y="161290"/>
                    <a:pt x="7457440" y="165100"/>
                    <a:pt x="7457440" y="165100"/>
                  </a:cubicBezTo>
                  <a:cubicBezTo>
                    <a:pt x="7458710" y="165100"/>
                    <a:pt x="7459980" y="168910"/>
                    <a:pt x="7461250" y="171450"/>
                  </a:cubicBezTo>
                  <a:cubicBezTo>
                    <a:pt x="7462520" y="173990"/>
                    <a:pt x="7465060" y="177800"/>
                    <a:pt x="7465060" y="177800"/>
                  </a:cubicBezTo>
                  <a:cubicBezTo>
                    <a:pt x="7465060" y="177800"/>
                    <a:pt x="7466330" y="181610"/>
                    <a:pt x="7466330" y="184150"/>
                  </a:cubicBezTo>
                  <a:cubicBezTo>
                    <a:pt x="7467600" y="186690"/>
                    <a:pt x="7468870" y="191770"/>
                    <a:pt x="7468870" y="191770"/>
                  </a:cubicBezTo>
                  <a:cubicBezTo>
                    <a:pt x="7468870" y="191770"/>
                    <a:pt x="7468870" y="195580"/>
                    <a:pt x="7468870" y="198120"/>
                  </a:cubicBezTo>
                  <a:cubicBezTo>
                    <a:pt x="7468870" y="200660"/>
                    <a:pt x="7468870" y="205740"/>
                    <a:pt x="7468870" y="205740"/>
                  </a:cubicBezTo>
                  <a:cubicBezTo>
                    <a:pt x="7468870" y="205740"/>
                    <a:pt x="7467600" y="210820"/>
                    <a:pt x="7467600" y="212090"/>
                  </a:cubicBezTo>
                  <a:cubicBezTo>
                    <a:pt x="7467600" y="214630"/>
                    <a:pt x="7465060" y="215900"/>
                    <a:pt x="7466330" y="217170"/>
                  </a:cubicBezTo>
                  <a:cubicBezTo>
                    <a:pt x="7472680" y="223520"/>
                    <a:pt x="7564120" y="208280"/>
                    <a:pt x="7612380" y="204470"/>
                  </a:cubicBezTo>
                  <a:cubicBezTo>
                    <a:pt x="7661910" y="200660"/>
                    <a:pt x="7745730" y="194310"/>
                    <a:pt x="7763510" y="194310"/>
                  </a:cubicBezTo>
                  <a:cubicBezTo>
                    <a:pt x="7767320" y="194310"/>
                    <a:pt x="7767320" y="194310"/>
                    <a:pt x="7769860" y="194310"/>
                  </a:cubicBezTo>
                  <a:cubicBezTo>
                    <a:pt x="7772400" y="194310"/>
                    <a:pt x="7776210" y="194310"/>
                    <a:pt x="7776210" y="194310"/>
                  </a:cubicBezTo>
                  <a:cubicBezTo>
                    <a:pt x="7777480" y="194310"/>
                    <a:pt x="7781290" y="195580"/>
                    <a:pt x="7783830" y="196850"/>
                  </a:cubicBezTo>
                  <a:cubicBezTo>
                    <a:pt x="7786370" y="196850"/>
                    <a:pt x="7790180" y="198120"/>
                    <a:pt x="7790180" y="198120"/>
                  </a:cubicBezTo>
                  <a:cubicBezTo>
                    <a:pt x="7790180" y="198120"/>
                    <a:pt x="7793990" y="200660"/>
                    <a:pt x="7796530" y="201930"/>
                  </a:cubicBezTo>
                  <a:cubicBezTo>
                    <a:pt x="7797800" y="203200"/>
                    <a:pt x="7802880" y="204470"/>
                    <a:pt x="7802880" y="204470"/>
                  </a:cubicBezTo>
                  <a:cubicBezTo>
                    <a:pt x="7802880" y="204470"/>
                    <a:pt x="7805420" y="208280"/>
                    <a:pt x="7807960" y="209550"/>
                  </a:cubicBezTo>
                  <a:cubicBezTo>
                    <a:pt x="7809230" y="210820"/>
                    <a:pt x="7811770" y="214630"/>
                    <a:pt x="7813040" y="214630"/>
                  </a:cubicBezTo>
                  <a:cubicBezTo>
                    <a:pt x="7813040" y="214630"/>
                    <a:pt x="7815580" y="218440"/>
                    <a:pt x="7816850" y="220980"/>
                  </a:cubicBezTo>
                  <a:cubicBezTo>
                    <a:pt x="7818120" y="222250"/>
                    <a:pt x="7819390" y="226060"/>
                    <a:pt x="7819390" y="226060"/>
                  </a:cubicBezTo>
                  <a:cubicBezTo>
                    <a:pt x="7820660" y="226060"/>
                    <a:pt x="7821930" y="231140"/>
                    <a:pt x="7821930" y="232410"/>
                  </a:cubicBezTo>
                  <a:cubicBezTo>
                    <a:pt x="7823200" y="234950"/>
                    <a:pt x="7824470" y="238760"/>
                    <a:pt x="7824470" y="240030"/>
                  </a:cubicBezTo>
                  <a:cubicBezTo>
                    <a:pt x="7824470" y="240030"/>
                    <a:pt x="7824470" y="243840"/>
                    <a:pt x="7825740" y="246380"/>
                  </a:cubicBezTo>
                  <a:cubicBezTo>
                    <a:pt x="7825740" y="248920"/>
                    <a:pt x="7825740" y="252730"/>
                    <a:pt x="7825740" y="252730"/>
                  </a:cubicBezTo>
                  <a:cubicBezTo>
                    <a:pt x="7825740" y="252730"/>
                    <a:pt x="7825740" y="257810"/>
                    <a:pt x="7824470" y="260350"/>
                  </a:cubicBezTo>
                  <a:cubicBezTo>
                    <a:pt x="7824470" y="262890"/>
                    <a:pt x="7823200" y="266700"/>
                    <a:pt x="7823200" y="266700"/>
                  </a:cubicBezTo>
                  <a:cubicBezTo>
                    <a:pt x="7823200" y="266700"/>
                    <a:pt x="7821930" y="271780"/>
                    <a:pt x="7820660" y="273050"/>
                  </a:cubicBezTo>
                  <a:cubicBezTo>
                    <a:pt x="7820660" y="275590"/>
                    <a:pt x="7818120" y="279400"/>
                    <a:pt x="7818120" y="279400"/>
                  </a:cubicBezTo>
                  <a:cubicBezTo>
                    <a:pt x="7818120" y="279400"/>
                    <a:pt x="7815580" y="283210"/>
                    <a:pt x="7814310" y="285750"/>
                  </a:cubicBezTo>
                  <a:cubicBezTo>
                    <a:pt x="7813040" y="287020"/>
                    <a:pt x="7810500" y="290830"/>
                    <a:pt x="7810500" y="290830"/>
                  </a:cubicBezTo>
                  <a:cubicBezTo>
                    <a:pt x="7810500" y="290830"/>
                    <a:pt x="7806690" y="294640"/>
                    <a:pt x="7805420" y="295910"/>
                  </a:cubicBezTo>
                  <a:cubicBezTo>
                    <a:pt x="7802880" y="297180"/>
                    <a:pt x="7799070" y="299720"/>
                    <a:pt x="7799070" y="299720"/>
                  </a:cubicBezTo>
                  <a:cubicBezTo>
                    <a:pt x="7799070" y="299720"/>
                    <a:pt x="7795260" y="302260"/>
                    <a:pt x="7792720" y="303530"/>
                  </a:cubicBezTo>
                  <a:cubicBezTo>
                    <a:pt x="7791450" y="303530"/>
                    <a:pt x="7787640" y="306070"/>
                    <a:pt x="7786370" y="306070"/>
                  </a:cubicBezTo>
                  <a:cubicBezTo>
                    <a:pt x="7786370" y="306070"/>
                    <a:pt x="7782560" y="307340"/>
                    <a:pt x="7780020" y="307340"/>
                  </a:cubicBezTo>
                  <a:cubicBezTo>
                    <a:pt x="7777480" y="308610"/>
                    <a:pt x="7773670" y="308610"/>
                    <a:pt x="7773670" y="308610"/>
                  </a:cubicBezTo>
                  <a:cubicBezTo>
                    <a:pt x="7773670" y="308610"/>
                    <a:pt x="7741920" y="314960"/>
                    <a:pt x="7741920" y="316230"/>
                  </a:cubicBezTo>
                  <a:cubicBezTo>
                    <a:pt x="7743190" y="318770"/>
                    <a:pt x="7901940" y="300990"/>
                    <a:pt x="7990840" y="297180"/>
                  </a:cubicBezTo>
                  <a:cubicBezTo>
                    <a:pt x="8094980" y="292100"/>
                    <a:pt x="8225790" y="294640"/>
                    <a:pt x="8328660" y="292100"/>
                  </a:cubicBezTo>
                  <a:cubicBezTo>
                    <a:pt x="8415020" y="288290"/>
                    <a:pt x="8502650" y="278130"/>
                    <a:pt x="8568690" y="278130"/>
                  </a:cubicBezTo>
                  <a:cubicBezTo>
                    <a:pt x="8615680" y="278130"/>
                    <a:pt x="8688070" y="283210"/>
                    <a:pt x="8688070" y="283210"/>
                  </a:cubicBezTo>
                  <a:cubicBezTo>
                    <a:pt x="8688070" y="283210"/>
                    <a:pt x="8693150" y="284480"/>
                    <a:pt x="8694420" y="284480"/>
                  </a:cubicBezTo>
                  <a:cubicBezTo>
                    <a:pt x="8696960" y="284480"/>
                    <a:pt x="8702040" y="284480"/>
                    <a:pt x="8702040" y="284480"/>
                  </a:cubicBezTo>
                  <a:cubicBezTo>
                    <a:pt x="8702040" y="284480"/>
                    <a:pt x="8705850" y="285750"/>
                    <a:pt x="8708390" y="287020"/>
                  </a:cubicBezTo>
                  <a:cubicBezTo>
                    <a:pt x="8710930" y="287020"/>
                    <a:pt x="8714740" y="289560"/>
                    <a:pt x="8714740" y="289560"/>
                  </a:cubicBezTo>
                  <a:cubicBezTo>
                    <a:pt x="8714740" y="289560"/>
                    <a:pt x="8718550" y="290830"/>
                    <a:pt x="8721090" y="292100"/>
                  </a:cubicBezTo>
                  <a:cubicBezTo>
                    <a:pt x="8722360" y="293370"/>
                    <a:pt x="8726170" y="295910"/>
                    <a:pt x="8727440" y="295910"/>
                  </a:cubicBezTo>
                  <a:cubicBezTo>
                    <a:pt x="8727440" y="295910"/>
                    <a:pt x="8729980" y="299720"/>
                    <a:pt x="8731250" y="300990"/>
                  </a:cubicBezTo>
                  <a:cubicBezTo>
                    <a:pt x="8733790" y="302260"/>
                    <a:pt x="8736330" y="306070"/>
                    <a:pt x="8736330" y="306070"/>
                  </a:cubicBezTo>
                  <a:cubicBezTo>
                    <a:pt x="8736330" y="306070"/>
                    <a:pt x="8738870" y="309880"/>
                    <a:pt x="8740140" y="312420"/>
                  </a:cubicBezTo>
                  <a:cubicBezTo>
                    <a:pt x="8741410" y="313690"/>
                    <a:pt x="8743950" y="317500"/>
                    <a:pt x="8743950" y="317500"/>
                  </a:cubicBezTo>
                  <a:cubicBezTo>
                    <a:pt x="8743950" y="318770"/>
                    <a:pt x="8745220" y="322580"/>
                    <a:pt x="8745220" y="325120"/>
                  </a:cubicBezTo>
                  <a:cubicBezTo>
                    <a:pt x="8746490" y="326390"/>
                    <a:pt x="8747760" y="331470"/>
                    <a:pt x="8747760" y="331470"/>
                  </a:cubicBezTo>
                  <a:cubicBezTo>
                    <a:pt x="8747760" y="331470"/>
                    <a:pt x="8747760" y="336550"/>
                    <a:pt x="8747760" y="337820"/>
                  </a:cubicBezTo>
                  <a:cubicBezTo>
                    <a:pt x="8747760" y="340360"/>
                    <a:pt x="8747760" y="345440"/>
                    <a:pt x="8747760" y="345440"/>
                  </a:cubicBezTo>
                  <a:cubicBezTo>
                    <a:pt x="8747760" y="345440"/>
                    <a:pt x="8747760" y="349250"/>
                    <a:pt x="8746490" y="351790"/>
                  </a:cubicBezTo>
                  <a:cubicBezTo>
                    <a:pt x="8746490" y="354330"/>
                    <a:pt x="8745220" y="358140"/>
                    <a:pt x="8745220" y="359410"/>
                  </a:cubicBezTo>
                  <a:cubicBezTo>
                    <a:pt x="8745220" y="359410"/>
                    <a:pt x="8743950" y="363220"/>
                    <a:pt x="8742680" y="364490"/>
                  </a:cubicBezTo>
                  <a:cubicBezTo>
                    <a:pt x="8741410" y="367030"/>
                    <a:pt x="8740140" y="370840"/>
                    <a:pt x="8740140" y="370840"/>
                  </a:cubicBezTo>
                  <a:cubicBezTo>
                    <a:pt x="8740140" y="370840"/>
                    <a:pt x="8736330" y="374650"/>
                    <a:pt x="8735060" y="377190"/>
                  </a:cubicBezTo>
                  <a:cubicBezTo>
                    <a:pt x="8733790" y="378460"/>
                    <a:pt x="8731250" y="382270"/>
                    <a:pt x="8731250" y="382270"/>
                  </a:cubicBezTo>
                  <a:cubicBezTo>
                    <a:pt x="8731250" y="382270"/>
                    <a:pt x="8727440" y="384810"/>
                    <a:pt x="8726170" y="386080"/>
                  </a:cubicBezTo>
                  <a:cubicBezTo>
                    <a:pt x="8723630" y="387350"/>
                    <a:pt x="8719820" y="391160"/>
                    <a:pt x="8719820" y="391160"/>
                  </a:cubicBezTo>
                  <a:cubicBezTo>
                    <a:pt x="8719820" y="391160"/>
                    <a:pt x="8716010" y="392430"/>
                    <a:pt x="8713470" y="393700"/>
                  </a:cubicBezTo>
                  <a:cubicBezTo>
                    <a:pt x="8712200" y="393700"/>
                    <a:pt x="8707120" y="396240"/>
                    <a:pt x="8707120" y="396240"/>
                  </a:cubicBezTo>
                  <a:cubicBezTo>
                    <a:pt x="8707120" y="396240"/>
                    <a:pt x="8703310" y="397510"/>
                    <a:pt x="8700770" y="397510"/>
                  </a:cubicBezTo>
                  <a:cubicBezTo>
                    <a:pt x="8698230" y="397510"/>
                    <a:pt x="8694420" y="398780"/>
                    <a:pt x="8693150" y="398780"/>
                  </a:cubicBezTo>
                  <a:cubicBezTo>
                    <a:pt x="8693150" y="398780"/>
                    <a:pt x="8596630" y="402590"/>
                    <a:pt x="8542020" y="405130"/>
                  </a:cubicBezTo>
                  <a:cubicBezTo>
                    <a:pt x="8477250" y="407670"/>
                    <a:pt x="8337550" y="407670"/>
                    <a:pt x="8329930" y="415290"/>
                  </a:cubicBezTo>
                  <a:cubicBezTo>
                    <a:pt x="8328660" y="416560"/>
                    <a:pt x="8328660" y="416560"/>
                    <a:pt x="8328660" y="417830"/>
                  </a:cubicBezTo>
                  <a:cubicBezTo>
                    <a:pt x="8328660" y="420370"/>
                    <a:pt x="8327390" y="425450"/>
                    <a:pt x="8327390" y="425450"/>
                  </a:cubicBezTo>
                  <a:cubicBezTo>
                    <a:pt x="8327390" y="425450"/>
                    <a:pt x="8326120" y="430530"/>
                    <a:pt x="8324850" y="431800"/>
                  </a:cubicBezTo>
                  <a:cubicBezTo>
                    <a:pt x="8323580" y="434340"/>
                    <a:pt x="8321040" y="435610"/>
                    <a:pt x="8322310" y="436880"/>
                  </a:cubicBezTo>
                  <a:cubicBezTo>
                    <a:pt x="8326120" y="443230"/>
                    <a:pt x="8384540" y="438150"/>
                    <a:pt x="8425180" y="438150"/>
                  </a:cubicBezTo>
                  <a:cubicBezTo>
                    <a:pt x="8481060" y="438150"/>
                    <a:pt x="8564880" y="438150"/>
                    <a:pt x="8630920" y="436880"/>
                  </a:cubicBezTo>
                  <a:cubicBezTo>
                    <a:pt x="8691880" y="436880"/>
                    <a:pt x="8750300" y="435610"/>
                    <a:pt x="8804910" y="435610"/>
                  </a:cubicBezTo>
                  <a:cubicBezTo>
                    <a:pt x="8853170" y="435610"/>
                    <a:pt x="8942070" y="438150"/>
                    <a:pt x="8942070" y="438150"/>
                  </a:cubicBezTo>
                  <a:cubicBezTo>
                    <a:pt x="8942070" y="438150"/>
                    <a:pt x="8947150" y="438150"/>
                    <a:pt x="8949690" y="438150"/>
                  </a:cubicBezTo>
                  <a:cubicBezTo>
                    <a:pt x="8952230" y="438150"/>
                    <a:pt x="8956040" y="439420"/>
                    <a:pt x="8956040" y="439420"/>
                  </a:cubicBezTo>
                  <a:cubicBezTo>
                    <a:pt x="8957310" y="439420"/>
                    <a:pt x="8961120" y="440690"/>
                    <a:pt x="8963660" y="441960"/>
                  </a:cubicBezTo>
                  <a:cubicBezTo>
                    <a:pt x="8966200" y="443230"/>
                    <a:pt x="8970010" y="444500"/>
                    <a:pt x="8970010" y="444500"/>
                  </a:cubicBezTo>
                  <a:cubicBezTo>
                    <a:pt x="8970010" y="444500"/>
                    <a:pt x="8973820" y="447040"/>
                    <a:pt x="8976360" y="448310"/>
                  </a:cubicBezTo>
                  <a:cubicBezTo>
                    <a:pt x="8977630" y="449580"/>
                    <a:pt x="8982710" y="453390"/>
                    <a:pt x="8982710" y="453390"/>
                  </a:cubicBezTo>
                  <a:cubicBezTo>
                    <a:pt x="8982710" y="453390"/>
                    <a:pt x="8985250" y="455930"/>
                    <a:pt x="8986520" y="458470"/>
                  </a:cubicBezTo>
                  <a:cubicBezTo>
                    <a:pt x="8989060" y="459740"/>
                    <a:pt x="8991600" y="463550"/>
                    <a:pt x="8991600" y="463550"/>
                  </a:cubicBezTo>
                  <a:cubicBezTo>
                    <a:pt x="8991600" y="463550"/>
                    <a:pt x="8994140" y="468630"/>
                    <a:pt x="8995410" y="469900"/>
                  </a:cubicBezTo>
                  <a:cubicBezTo>
                    <a:pt x="8996680" y="472440"/>
                    <a:pt x="8999220" y="476250"/>
                    <a:pt x="8999220" y="476250"/>
                  </a:cubicBezTo>
                  <a:cubicBezTo>
                    <a:pt x="8999220" y="476250"/>
                    <a:pt x="9000490" y="481330"/>
                    <a:pt x="9000490" y="483870"/>
                  </a:cubicBezTo>
                  <a:cubicBezTo>
                    <a:pt x="9000490" y="486410"/>
                    <a:pt x="9001760" y="490220"/>
                    <a:pt x="9001760" y="491490"/>
                  </a:cubicBezTo>
                  <a:cubicBezTo>
                    <a:pt x="9001760" y="491490"/>
                    <a:pt x="9001760" y="495300"/>
                    <a:pt x="9001760" y="497840"/>
                  </a:cubicBezTo>
                  <a:cubicBezTo>
                    <a:pt x="9001760" y="500380"/>
                    <a:pt x="9001760" y="505460"/>
                    <a:pt x="9001760" y="505460"/>
                  </a:cubicBezTo>
                  <a:cubicBezTo>
                    <a:pt x="9001760" y="505460"/>
                    <a:pt x="9000490" y="510540"/>
                    <a:pt x="9000490" y="513080"/>
                  </a:cubicBezTo>
                  <a:cubicBezTo>
                    <a:pt x="8999220" y="515620"/>
                    <a:pt x="8999220" y="519430"/>
                    <a:pt x="8999220" y="519430"/>
                  </a:cubicBezTo>
                  <a:cubicBezTo>
                    <a:pt x="8999220" y="519430"/>
                    <a:pt x="8996680" y="524510"/>
                    <a:pt x="8995410" y="525780"/>
                  </a:cubicBezTo>
                  <a:cubicBezTo>
                    <a:pt x="8994140" y="528320"/>
                    <a:pt x="8991600" y="532130"/>
                    <a:pt x="8991600" y="532130"/>
                  </a:cubicBezTo>
                  <a:cubicBezTo>
                    <a:pt x="8991600" y="532130"/>
                    <a:pt x="8989060" y="535940"/>
                    <a:pt x="8986520" y="538480"/>
                  </a:cubicBezTo>
                  <a:cubicBezTo>
                    <a:pt x="8985250" y="539750"/>
                    <a:pt x="8982710" y="543560"/>
                    <a:pt x="8982710" y="543560"/>
                  </a:cubicBezTo>
                  <a:cubicBezTo>
                    <a:pt x="8982710" y="543560"/>
                    <a:pt x="8977630" y="546100"/>
                    <a:pt x="8976360" y="547370"/>
                  </a:cubicBezTo>
                  <a:cubicBezTo>
                    <a:pt x="8973820" y="548640"/>
                    <a:pt x="8970010" y="551180"/>
                    <a:pt x="8970010" y="552450"/>
                  </a:cubicBezTo>
                  <a:cubicBezTo>
                    <a:pt x="8970010" y="552450"/>
                    <a:pt x="8966200" y="553720"/>
                    <a:pt x="8963660" y="554990"/>
                  </a:cubicBezTo>
                  <a:cubicBezTo>
                    <a:pt x="8961120" y="554990"/>
                    <a:pt x="8956040" y="557530"/>
                    <a:pt x="8956040" y="557530"/>
                  </a:cubicBezTo>
                  <a:cubicBezTo>
                    <a:pt x="8956040" y="557530"/>
                    <a:pt x="8952230" y="557530"/>
                    <a:pt x="8949690" y="557530"/>
                  </a:cubicBezTo>
                  <a:cubicBezTo>
                    <a:pt x="8947150" y="558800"/>
                    <a:pt x="8942070" y="558800"/>
                    <a:pt x="8942070" y="558800"/>
                  </a:cubicBezTo>
                  <a:cubicBezTo>
                    <a:pt x="8942070" y="558800"/>
                    <a:pt x="8853170" y="560070"/>
                    <a:pt x="8804910" y="560070"/>
                  </a:cubicBezTo>
                  <a:cubicBezTo>
                    <a:pt x="8750300" y="560070"/>
                    <a:pt x="8702040" y="558800"/>
                    <a:pt x="8630920" y="558800"/>
                  </a:cubicBezTo>
                  <a:cubicBezTo>
                    <a:pt x="8521700" y="558800"/>
                    <a:pt x="8347710" y="558800"/>
                    <a:pt x="8211820" y="557530"/>
                  </a:cubicBezTo>
                  <a:cubicBezTo>
                    <a:pt x="8083550" y="557530"/>
                    <a:pt x="7960360" y="557530"/>
                    <a:pt x="7834630" y="557530"/>
                  </a:cubicBezTo>
                  <a:cubicBezTo>
                    <a:pt x="7710170" y="557530"/>
                    <a:pt x="7581900" y="554990"/>
                    <a:pt x="7461250" y="556260"/>
                  </a:cubicBezTo>
                  <a:cubicBezTo>
                    <a:pt x="7349490" y="558800"/>
                    <a:pt x="7147560" y="567690"/>
                    <a:pt x="7137400" y="568960"/>
                  </a:cubicBezTo>
                  <a:cubicBezTo>
                    <a:pt x="7137400" y="568960"/>
                    <a:pt x="7137400" y="568960"/>
                    <a:pt x="7136130" y="568960"/>
                  </a:cubicBezTo>
                  <a:cubicBezTo>
                    <a:pt x="7134860" y="570230"/>
                    <a:pt x="7132320" y="570230"/>
                    <a:pt x="7129780" y="571500"/>
                  </a:cubicBezTo>
                  <a:cubicBezTo>
                    <a:pt x="7119620" y="572770"/>
                    <a:pt x="7100570" y="582930"/>
                    <a:pt x="7078980" y="586740"/>
                  </a:cubicBezTo>
                  <a:cubicBezTo>
                    <a:pt x="7042150" y="593090"/>
                    <a:pt x="6940550" y="595630"/>
                    <a:pt x="6927850" y="596900"/>
                  </a:cubicBezTo>
                  <a:cubicBezTo>
                    <a:pt x="6926580" y="596900"/>
                    <a:pt x="6925310" y="596900"/>
                    <a:pt x="6924040" y="598170"/>
                  </a:cubicBezTo>
                  <a:cubicBezTo>
                    <a:pt x="6924040" y="598170"/>
                    <a:pt x="6925310" y="598170"/>
                    <a:pt x="6925310" y="598170"/>
                  </a:cubicBezTo>
                  <a:cubicBezTo>
                    <a:pt x="6925310" y="599440"/>
                    <a:pt x="6927850" y="605790"/>
                    <a:pt x="6927850" y="605790"/>
                  </a:cubicBezTo>
                  <a:cubicBezTo>
                    <a:pt x="6927850" y="605790"/>
                    <a:pt x="6929120" y="610870"/>
                    <a:pt x="6930390" y="613410"/>
                  </a:cubicBezTo>
                  <a:cubicBezTo>
                    <a:pt x="6930390" y="615950"/>
                    <a:pt x="6931660" y="621030"/>
                    <a:pt x="6931660" y="621030"/>
                  </a:cubicBezTo>
                  <a:cubicBezTo>
                    <a:pt x="6931660" y="621030"/>
                    <a:pt x="6931660" y="626110"/>
                    <a:pt x="6930390" y="628650"/>
                  </a:cubicBezTo>
                  <a:cubicBezTo>
                    <a:pt x="6930390" y="632460"/>
                    <a:pt x="6930390" y="637540"/>
                    <a:pt x="6930390" y="637540"/>
                  </a:cubicBezTo>
                  <a:cubicBezTo>
                    <a:pt x="6930390" y="637540"/>
                    <a:pt x="6929120" y="642620"/>
                    <a:pt x="6927850" y="645160"/>
                  </a:cubicBezTo>
                  <a:cubicBezTo>
                    <a:pt x="6927850" y="647700"/>
                    <a:pt x="6926580" y="652780"/>
                    <a:pt x="6926580" y="652780"/>
                  </a:cubicBezTo>
                  <a:cubicBezTo>
                    <a:pt x="6926580" y="652780"/>
                    <a:pt x="6922770" y="656590"/>
                    <a:pt x="6921500" y="659130"/>
                  </a:cubicBezTo>
                  <a:cubicBezTo>
                    <a:pt x="6920230" y="661670"/>
                    <a:pt x="6917690" y="665480"/>
                    <a:pt x="6917690" y="665480"/>
                  </a:cubicBezTo>
                  <a:cubicBezTo>
                    <a:pt x="6917690" y="665480"/>
                    <a:pt x="6913880" y="669290"/>
                    <a:pt x="6912610" y="671830"/>
                  </a:cubicBezTo>
                  <a:cubicBezTo>
                    <a:pt x="6910070" y="673100"/>
                    <a:pt x="6907530" y="676910"/>
                    <a:pt x="6906260" y="676910"/>
                  </a:cubicBezTo>
                  <a:cubicBezTo>
                    <a:pt x="6906260" y="676910"/>
                    <a:pt x="6902450" y="680720"/>
                    <a:pt x="6899910" y="681990"/>
                  </a:cubicBezTo>
                  <a:cubicBezTo>
                    <a:pt x="6897370" y="683260"/>
                    <a:pt x="6893560" y="685800"/>
                    <a:pt x="6893560" y="685800"/>
                  </a:cubicBezTo>
                  <a:cubicBezTo>
                    <a:pt x="6893560" y="685800"/>
                    <a:pt x="6888480" y="687070"/>
                    <a:pt x="6885940" y="688340"/>
                  </a:cubicBezTo>
                  <a:cubicBezTo>
                    <a:pt x="6883400" y="689610"/>
                    <a:pt x="6878320" y="690880"/>
                    <a:pt x="6878320" y="690880"/>
                  </a:cubicBezTo>
                  <a:cubicBezTo>
                    <a:pt x="6878320" y="690880"/>
                    <a:pt x="6873240" y="690880"/>
                    <a:pt x="6870700" y="690880"/>
                  </a:cubicBezTo>
                  <a:cubicBezTo>
                    <a:pt x="6868160" y="690880"/>
                    <a:pt x="6863080" y="692150"/>
                    <a:pt x="6863080" y="692150"/>
                  </a:cubicBezTo>
                  <a:cubicBezTo>
                    <a:pt x="6861810" y="692150"/>
                    <a:pt x="6861810" y="692150"/>
                    <a:pt x="6861810" y="692150"/>
                  </a:cubicBezTo>
                  <a:cubicBezTo>
                    <a:pt x="6861810" y="692150"/>
                    <a:pt x="6743700" y="711200"/>
                    <a:pt x="6681470" y="715010"/>
                  </a:cubicBezTo>
                  <a:cubicBezTo>
                    <a:pt x="6615430" y="720090"/>
                    <a:pt x="6549390" y="718820"/>
                    <a:pt x="6478270" y="718820"/>
                  </a:cubicBezTo>
                  <a:cubicBezTo>
                    <a:pt x="6400800" y="720090"/>
                    <a:pt x="6319520" y="720090"/>
                    <a:pt x="6234430" y="720090"/>
                  </a:cubicBezTo>
                  <a:cubicBezTo>
                    <a:pt x="6141720" y="720090"/>
                    <a:pt x="5999480" y="720090"/>
                    <a:pt x="5944870" y="720090"/>
                  </a:cubicBezTo>
                  <a:cubicBezTo>
                    <a:pt x="5923280" y="720090"/>
                    <a:pt x="5920740" y="718820"/>
                    <a:pt x="5899150" y="720090"/>
                  </a:cubicBezTo>
                  <a:cubicBezTo>
                    <a:pt x="5855970" y="721360"/>
                    <a:pt x="5772150" y="727710"/>
                    <a:pt x="5692140" y="731520"/>
                  </a:cubicBezTo>
                  <a:cubicBezTo>
                    <a:pt x="5580380" y="737870"/>
                    <a:pt x="5420360" y="745490"/>
                    <a:pt x="5290820" y="750570"/>
                  </a:cubicBezTo>
                  <a:cubicBezTo>
                    <a:pt x="5170170" y="755650"/>
                    <a:pt x="5046980" y="762000"/>
                    <a:pt x="4940300" y="764540"/>
                  </a:cubicBezTo>
                  <a:cubicBezTo>
                    <a:pt x="4848860" y="765810"/>
                    <a:pt x="4687570" y="764540"/>
                    <a:pt x="4687570" y="764540"/>
                  </a:cubicBezTo>
                  <a:cubicBezTo>
                    <a:pt x="4687570" y="764540"/>
                    <a:pt x="4682490" y="764540"/>
                    <a:pt x="4679950" y="764540"/>
                  </a:cubicBezTo>
                  <a:cubicBezTo>
                    <a:pt x="4677410" y="764540"/>
                    <a:pt x="4672330" y="764540"/>
                    <a:pt x="4672330" y="764540"/>
                  </a:cubicBezTo>
                  <a:cubicBezTo>
                    <a:pt x="4672330" y="764540"/>
                    <a:pt x="4668520" y="763270"/>
                    <a:pt x="4665980" y="762000"/>
                  </a:cubicBezTo>
                  <a:cubicBezTo>
                    <a:pt x="4663440" y="760730"/>
                    <a:pt x="4658360" y="759460"/>
                    <a:pt x="4658360" y="759460"/>
                  </a:cubicBezTo>
                  <a:cubicBezTo>
                    <a:pt x="4658360" y="759460"/>
                    <a:pt x="4654550" y="756920"/>
                    <a:pt x="4652010" y="755650"/>
                  </a:cubicBezTo>
                  <a:cubicBezTo>
                    <a:pt x="4650740" y="754380"/>
                    <a:pt x="4645660" y="751840"/>
                    <a:pt x="4645660" y="751840"/>
                  </a:cubicBezTo>
                  <a:cubicBezTo>
                    <a:pt x="4645660" y="751840"/>
                    <a:pt x="4643120" y="748030"/>
                    <a:pt x="4640580" y="746760"/>
                  </a:cubicBezTo>
                  <a:cubicBezTo>
                    <a:pt x="4639310" y="745490"/>
                    <a:pt x="4635500" y="741680"/>
                    <a:pt x="4635500" y="741680"/>
                  </a:cubicBezTo>
                  <a:cubicBezTo>
                    <a:pt x="4635500" y="741680"/>
                    <a:pt x="4632960" y="736600"/>
                    <a:pt x="4631690" y="735330"/>
                  </a:cubicBezTo>
                  <a:cubicBezTo>
                    <a:pt x="4631690" y="734060"/>
                    <a:pt x="4631690" y="734060"/>
                    <a:pt x="4630420" y="732790"/>
                  </a:cubicBezTo>
                  <a:cubicBezTo>
                    <a:pt x="4621530" y="728980"/>
                    <a:pt x="4551680" y="737870"/>
                    <a:pt x="4490720" y="739140"/>
                  </a:cubicBezTo>
                  <a:cubicBezTo>
                    <a:pt x="4377690" y="741680"/>
                    <a:pt x="4149090" y="737870"/>
                    <a:pt x="4000500" y="736600"/>
                  </a:cubicBezTo>
                  <a:cubicBezTo>
                    <a:pt x="3876040" y="735330"/>
                    <a:pt x="3756660" y="735330"/>
                    <a:pt x="3657600" y="731520"/>
                  </a:cubicBezTo>
                  <a:cubicBezTo>
                    <a:pt x="3583940" y="727710"/>
                    <a:pt x="3462020" y="717550"/>
                    <a:pt x="3460750" y="717550"/>
                  </a:cubicBezTo>
                  <a:cubicBezTo>
                    <a:pt x="3460750" y="717550"/>
                    <a:pt x="3456940" y="717550"/>
                    <a:pt x="3454400" y="716280"/>
                  </a:cubicBezTo>
                  <a:cubicBezTo>
                    <a:pt x="3451860" y="716280"/>
                    <a:pt x="3446780" y="716280"/>
                    <a:pt x="3446780" y="716280"/>
                  </a:cubicBezTo>
                  <a:cubicBezTo>
                    <a:pt x="3446780" y="716280"/>
                    <a:pt x="3442970" y="715010"/>
                    <a:pt x="3440430" y="713740"/>
                  </a:cubicBezTo>
                  <a:cubicBezTo>
                    <a:pt x="3437890" y="713740"/>
                    <a:pt x="3432810" y="712470"/>
                    <a:pt x="3432810" y="711200"/>
                  </a:cubicBezTo>
                  <a:cubicBezTo>
                    <a:pt x="3432810" y="711200"/>
                    <a:pt x="3429000" y="708660"/>
                    <a:pt x="3426460" y="707390"/>
                  </a:cubicBezTo>
                  <a:cubicBezTo>
                    <a:pt x="3425190" y="706120"/>
                    <a:pt x="3421380" y="704850"/>
                    <a:pt x="3421380" y="703580"/>
                  </a:cubicBezTo>
                  <a:cubicBezTo>
                    <a:pt x="3421380" y="703580"/>
                    <a:pt x="3417570" y="701040"/>
                    <a:pt x="3416300" y="698500"/>
                  </a:cubicBezTo>
                  <a:cubicBezTo>
                    <a:pt x="3413760" y="697230"/>
                    <a:pt x="3411220" y="693420"/>
                    <a:pt x="3411220" y="693420"/>
                  </a:cubicBezTo>
                  <a:cubicBezTo>
                    <a:pt x="3411220" y="693420"/>
                    <a:pt x="3408680" y="689610"/>
                    <a:pt x="3407410" y="687070"/>
                  </a:cubicBezTo>
                  <a:cubicBezTo>
                    <a:pt x="3406140" y="685800"/>
                    <a:pt x="3403600" y="681990"/>
                    <a:pt x="3403600" y="681990"/>
                  </a:cubicBezTo>
                  <a:cubicBezTo>
                    <a:pt x="3403600" y="680720"/>
                    <a:pt x="3402330" y="676910"/>
                    <a:pt x="3401060" y="674370"/>
                  </a:cubicBezTo>
                  <a:cubicBezTo>
                    <a:pt x="3401060" y="673100"/>
                    <a:pt x="3401060" y="670560"/>
                    <a:pt x="3399790" y="669290"/>
                  </a:cubicBezTo>
                  <a:cubicBezTo>
                    <a:pt x="3393440" y="664210"/>
                    <a:pt x="3356610" y="676910"/>
                    <a:pt x="3326130" y="678180"/>
                  </a:cubicBezTo>
                  <a:cubicBezTo>
                    <a:pt x="3277870" y="681990"/>
                    <a:pt x="3194050" y="680720"/>
                    <a:pt x="3135630" y="680720"/>
                  </a:cubicBezTo>
                  <a:cubicBezTo>
                    <a:pt x="3086100" y="681990"/>
                    <a:pt x="3037840" y="685800"/>
                    <a:pt x="2998470" y="681990"/>
                  </a:cubicBezTo>
                  <a:cubicBezTo>
                    <a:pt x="2969260" y="679450"/>
                    <a:pt x="2934970" y="678180"/>
                    <a:pt x="2919730" y="668020"/>
                  </a:cubicBezTo>
                  <a:cubicBezTo>
                    <a:pt x="2912110" y="661670"/>
                    <a:pt x="2915920" y="648970"/>
                    <a:pt x="2907030" y="643890"/>
                  </a:cubicBezTo>
                  <a:cubicBezTo>
                    <a:pt x="2886710" y="632460"/>
                    <a:pt x="2821940" y="650240"/>
                    <a:pt x="2773680" y="651510"/>
                  </a:cubicBezTo>
                  <a:cubicBezTo>
                    <a:pt x="2715260" y="654050"/>
                    <a:pt x="2637790" y="655320"/>
                    <a:pt x="2583180" y="652780"/>
                  </a:cubicBezTo>
                  <a:cubicBezTo>
                    <a:pt x="2542540" y="650240"/>
                    <a:pt x="2476500" y="642620"/>
                    <a:pt x="2476500" y="642620"/>
                  </a:cubicBezTo>
                  <a:cubicBezTo>
                    <a:pt x="2476500" y="642620"/>
                    <a:pt x="2471420" y="642620"/>
                    <a:pt x="2468880" y="642620"/>
                  </a:cubicBezTo>
                  <a:cubicBezTo>
                    <a:pt x="2466340" y="642620"/>
                    <a:pt x="2461260" y="641350"/>
                    <a:pt x="2461260" y="641350"/>
                  </a:cubicBezTo>
                  <a:cubicBezTo>
                    <a:pt x="2461260" y="641350"/>
                    <a:pt x="2456180" y="640080"/>
                    <a:pt x="2453640" y="640080"/>
                  </a:cubicBezTo>
                  <a:cubicBezTo>
                    <a:pt x="2451100" y="638810"/>
                    <a:pt x="2446020" y="637540"/>
                    <a:pt x="2446020" y="637540"/>
                  </a:cubicBezTo>
                  <a:cubicBezTo>
                    <a:pt x="2446020" y="637540"/>
                    <a:pt x="2442210" y="635000"/>
                    <a:pt x="2439670" y="633730"/>
                  </a:cubicBezTo>
                  <a:cubicBezTo>
                    <a:pt x="2437130" y="632460"/>
                    <a:pt x="2433320" y="629920"/>
                    <a:pt x="2433320" y="629920"/>
                  </a:cubicBezTo>
                  <a:cubicBezTo>
                    <a:pt x="2433320" y="629920"/>
                    <a:pt x="2429510" y="626110"/>
                    <a:pt x="2428240" y="623570"/>
                  </a:cubicBezTo>
                  <a:cubicBezTo>
                    <a:pt x="2425700" y="622300"/>
                    <a:pt x="2421890" y="618490"/>
                    <a:pt x="2421890" y="618490"/>
                  </a:cubicBezTo>
                  <a:cubicBezTo>
                    <a:pt x="2421890" y="618490"/>
                    <a:pt x="2419350" y="614680"/>
                    <a:pt x="2418080" y="612140"/>
                  </a:cubicBezTo>
                  <a:cubicBezTo>
                    <a:pt x="2416810" y="609600"/>
                    <a:pt x="2414270" y="605790"/>
                    <a:pt x="2414270" y="605790"/>
                  </a:cubicBezTo>
                  <a:cubicBezTo>
                    <a:pt x="2414270" y="605790"/>
                    <a:pt x="2413000" y="600710"/>
                    <a:pt x="2411730" y="598170"/>
                  </a:cubicBezTo>
                  <a:cubicBezTo>
                    <a:pt x="2411730" y="595630"/>
                    <a:pt x="2410460" y="590550"/>
                    <a:pt x="2410460" y="590550"/>
                  </a:cubicBezTo>
                  <a:cubicBezTo>
                    <a:pt x="2410460" y="590550"/>
                    <a:pt x="2409190" y="585470"/>
                    <a:pt x="2409190" y="582930"/>
                  </a:cubicBezTo>
                  <a:cubicBezTo>
                    <a:pt x="2409190" y="580390"/>
                    <a:pt x="2409190" y="575310"/>
                    <a:pt x="2409190" y="575310"/>
                  </a:cubicBezTo>
                  <a:cubicBezTo>
                    <a:pt x="2409190" y="575310"/>
                    <a:pt x="2410460" y="570230"/>
                    <a:pt x="2410460" y="567690"/>
                  </a:cubicBezTo>
                  <a:cubicBezTo>
                    <a:pt x="2410460" y="565150"/>
                    <a:pt x="2411730" y="560070"/>
                    <a:pt x="2411730" y="560070"/>
                  </a:cubicBezTo>
                  <a:cubicBezTo>
                    <a:pt x="2411730" y="560070"/>
                    <a:pt x="2414270" y="554990"/>
                    <a:pt x="2415540" y="553720"/>
                  </a:cubicBezTo>
                  <a:cubicBezTo>
                    <a:pt x="2415540" y="552450"/>
                    <a:pt x="2416810" y="551180"/>
                    <a:pt x="2416810" y="549910"/>
                  </a:cubicBezTo>
                  <a:cubicBezTo>
                    <a:pt x="2409190" y="539750"/>
                    <a:pt x="2065020" y="572770"/>
                    <a:pt x="2009140" y="577850"/>
                  </a:cubicBezTo>
                  <a:cubicBezTo>
                    <a:pt x="1993900" y="579120"/>
                    <a:pt x="1995170" y="577850"/>
                    <a:pt x="1979930" y="580390"/>
                  </a:cubicBezTo>
                  <a:cubicBezTo>
                    <a:pt x="1924050" y="586740"/>
                    <a:pt x="1711960" y="617220"/>
                    <a:pt x="1588770" y="635000"/>
                  </a:cubicBezTo>
                  <a:cubicBezTo>
                    <a:pt x="1480820" y="651510"/>
                    <a:pt x="1371600" y="673100"/>
                    <a:pt x="1283970" y="680720"/>
                  </a:cubicBezTo>
                  <a:cubicBezTo>
                    <a:pt x="1217930" y="687070"/>
                    <a:pt x="1109980" y="687070"/>
                    <a:pt x="1109980" y="687070"/>
                  </a:cubicBezTo>
                  <a:cubicBezTo>
                    <a:pt x="1108710" y="687070"/>
                    <a:pt x="1104900" y="688340"/>
                    <a:pt x="1102360" y="688340"/>
                  </a:cubicBezTo>
                  <a:cubicBezTo>
                    <a:pt x="1099820" y="688340"/>
                    <a:pt x="1094740" y="688340"/>
                    <a:pt x="1094740" y="688340"/>
                  </a:cubicBezTo>
                  <a:cubicBezTo>
                    <a:pt x="1094740" y="688340"/>
                    <a:pt x="1089660" y="687070"/>
                    <a:pt x="1088390" y="687070"/>
                  </a:cubicBezTo>
                  <a:cubicBezTo>
                    <a:pt x="1085850" y="687070"/>
                    <a:pt x="1080770" y="685800"/>
                    <a:pt x="1080770" y="685800"/>
                  </a:cubicBezTo>
                  <a:cubicBezTo>
                    <a:pt x="1080770" y="685800"/>
                    <a:pt x="1076960" y="683260"/>
                    <a:pt x="1074420" y="681990"/>
                  </a:cubicBezTo>
                  <a:cubicBezTo>
                    <a:pt x="1071880" y="681990"/>
                    <a:pt x="1068070" y="679450"/>
                    <a:pt x="1068070" y="679450"/>
                  </a:cubicBezTo>
                  <a:cubicBezTo>
                    <a:pt x="1068070" y="679450"/>
                    <a:pt x="1064260" y="676910"/>
                    <a:pt x="1061720" y="674370"/>
                  </a:cubicBezTo>
                  <a:cubicBezTo>
                    <a:pt x="1060450" y="673100"/>
                    <a:pt x="1056640" y="670560"/>
                    <a:pt x="1056640" y="670560"/>
                  </a:cubicBezTo>
                  <a:cubicBezTo>
                    <a:pt x="1056640" y="670560"/>
                    <a:pt x="1052830" y="666750"/>
                    <a:pt x="1051560" y="664210"/>
                  </a:cubicBezTo>
                  <a:cubicBezTo>
                    <a:pt x="1050290" y="662940"/>
                    <a:pt x="1047750" y="659130"/>
                    <a:pt x="1047750" y="659130"/>
                  </a:cubicBezTo>
                  <a:cubicBezTo>
                    <a:pt x="1047750" y="659130"/>
                    <a:pt x="1045210" y="654050"/>
                    <a:pt x="1045210" y="652780"/>
                  </a:cubicBezTo>
                  <a:cubicBezTo>
                    <a:pt x="1043940" y="650240"/>
                    <a:pt x="1041400" y="646430"/>
                    <a:pt x="1041400" y="645160"/>
                  </a:cubicBezTo>
                  <a:cubicBezTo>
                    <a:pt x="1041400" y="645160"/>
                    <a:pt x="1041400" y="641350"/>
                    <a:pt x="1040130" y="638810"/>
                  </a:cubicBezTo>
                  <a:cubicBezTo>
                    <a:pt x="1040130" y="636270"/>
                    <a:pt x="1038860" y="631190"/>
                    <a:pt x="1038860" y="631190"/>
                  </a:cubicBezTo>
                  <a:cubicBezTo>
                    <a:pt x="1038860" y="631190"/>
                    <a:pt x="1040130" y="631190"/>
                    <a:pt x="1038860" y="629920"/>
                  </a:cubicBezTo>
                  <a:cubicBezTo>
                    <a:pt x="1037590" y="628650"/>
                    <a:pt x="1023620" y="632460"/>
                    <a:pt x="1010920" y="632460"/>
                  </a:cubicBezTo>
                  <a:cubicBezTo>
                    <a:pt x="984250" y="632460"/>
                    <a:pt x="886460" y="631190"/>
                    <a:pt x="886460" y="631190"/>
                  </a:cubicBezTo>
                  <a:cubicBezTo>
                    <a:pt x="886460" y="631190"/>
                    <a:pt x="881380" y="629920"/>
                    <a:pt x="878840" y="629920"/>
                  </a:cubicBezTo>
                  <a:cubicBezTo>
                    <a:pt x="876300" y="629920"/>
                    <a:pt x="871220" y="629920"/>
                    <a:pt x="871220" y="629920"/>
                  </a:cubicBezTo>
                  <a:cubicBezTo>
                    <a:pt x="871220" y="629920"/>
                    <a:pt x="866140" y="628650"/>
                    <a:pt x="863600" y="627380"/>
                  </a:cubicBezTo>
                  <a:cubicBezTo>
                    <a:pt x="861060" y="626110"/>
                    <a:pt x="855980" y="624840"/>
                    <a:pt x="855980" y="624840"/>
                  </a:cubicBezTo>
                  <a:cubicBezTo>
                    <a:pt x="855980" y="624840"/>
                    <a:pt x="852170" y="622300"/>
                    <a:pt x="849630" y="621030"/>
                  </a:cubicBezTo>
                  <a:cubicBezTo>
                    <a:pt x="847090" y="619760"/>
                    <a:pt x="843280" y="617220"/>
                    <a:pt x="843280" y="617220"/>
                  </a:cubicBezTo>
                  <a:cubicBezTo>
                    <a:pt x="843280" y="617220"/>
                    <a:pt x="839470" y="613410"/>
                    <a:pt x="838200" y="610870"/>
                  </a:cubicBezTo>
                  <a:cubicBezTo>
                    <a:pt x="835660" y="609600"/>
                    <a:pt x="831850" y="605790"/>
                    <a:pt x="831850" y="605790"/>
                  </a:cubicBezTo>
                  <a:cubicBezTo>
                    <a:pt x="831850" y="605790"/>
                    <a:pt x="829310" y="601980"/>
                    <a:pt x="828040" y="599440"/>
                  </a:cubicBezTo>
                  <a:cubicBezTo>
                    <a:pt x="826770" y="596900"/>
                    <a:pt x="824230" y="593090"/>
                    <a:pt x="824230" y="593090"/>
                  </a:cubicBezTo>
                  <a:cubicBezTo>
                    <a:pt x="824230" y="593090"/>
                    <a:pt x="822960" y="588010"/>
                    <a:pt x="821690" y="585470"/>
                  </a:cubicBezTo>
                  <a:cubicBezTo>
                    <a:pt x="821690" y="582930"/>
                    <a:pt x="820420" y="577850"/>
                    <a:pt x="820420" y="577850"/>
                  </a:cubicBezTo>
                  <a:cubicBezTo>
                    <a:pt x="820420" y="577850"/>
                    <a:pt x="819150" y="572770"/>
                    <a:pt x="819150" y="570230"/>
                  </a:cubicBezTo>
                  <a:cubicBezTo>
                    <a:pt x="819150" y="567690"/>
                    <a:pt x="820420" y="565150"/>
                    <a:pt x="819150" y="563880"/>
                  </a:cubicBezTo>
                  <a:cubicBezTo>
                    <a:pt x="817880" y="563880"/>
                    <a:pt x="815340" y="565150"/>
                    <a:pt x="812800" y="565150"/>
                  </a:cubicBezTo>
                  <a:cubicBezTo>
                    <a:pt x="803910" y="567690"/>
                    <a:pt x="788670" y="572770"/>
                    <a:pt x="770890" y="575310"/>
                  </a:cubicBezTo>
                  <a:cubicBezTo>
                    <a:pt x="744220" y="580390"/>
                    <a:pt x="664210" y="590550"/>
                    <a:pt x="664210" y="590550"/>
                  </a:cubicBezTo>
                  <a:cubicBezTo>
                    <a:pt x="664210" y="590550"/>
                    <a:pt x="657860" y="590550"/>
                    <a:pt x="655320" y="590550"/>
                  </a:cubicBezTo>
                  <a:cubicBezTo>
                    <a:pt x="652780" y="590550"/>
                    <a:pt x="646430" y="590550"/>
                    <a:pt x="646430" y="590550"/>
                  </a:cubicBezTo>
                  <a:cubicBezTo>
                    <a:pt x="646430" y="590550"/>
                    <a:pt x="641350" y="589280"/>
                    <a:pt x="637540" y="588010"/>
                  </a:cubicBezTo>
                  <a:cubicBezTo>
                    <a:pt x="635000" y="588010"/>
                    <a:pt x="629920" y="586740"/>
                    <a:pt x="629920" y="586740"/>
                  </a:cubicBezTo>
                  <a:cubicBezTo>
                    <a:pt x="629920" y="586740"/>
                    <a:pt x="624840" y="584200"/>
                    <a:pt x="622300" y="582930"/>
                  </a:cubicBezTo>
                  <a:cubicBezTo>
                    <a:pt x="619760" y="581660"/>
                    <a:pt x="614680" y="579120"/>
                    <a:pt x="614680" y="579120"/>
                  </a:cubicBezTo>
                  <a:cubicBezTo>
                    <a:pt x="613410" y="579120"/>
                    <a:pt x="609600" y="575310"/>
                    <a:pt x="607060" y="572770"/>
                  </a:cubicBezTo>
                  <a:cubicBezTo>
                    <a:pt x="605790" y="571500"/>
                    <a:pt x="600710" y="567690"/>
                    <a:pt x="600710" y="567690"/>
                  </a:cubicBezTo>
                  <a:cubicBezTo>
                    <a:pt x="600710" y="567690"/>
                    <a:pt x="598170" y="562610"/>
                    <a:pt x="595630" y="560070"/>
                  </a:cubicBezTo>
                  <a:cubicBezTo>
                    <a:pt x="594360" y="557530"/>
                    <a:pt x="590550" y="553720"/>
                    <a:pt x="590550" y="552450"/>
                  </a:cubicBezTo>
                  <a:cubicBezTo>
                    <a:pt x="590550" y="552450"/>
                    <a:pt x="589280" y="547370"/>
                    <a:pt x="588010" y="544830"/>
                  </a:cubicBezTo>
                  <a:cubicBezTo>
                    <a:pt x="586740" y="542290"/>
                    <a:pt x="584200" y="537210"/>
                    <a:pt x="584200" y="537210"/>
                  </a:cubicBezTo>
                  <a:cubicBezTo>
                    <a:pt x="584200" y="537210"/>
                    <a:pt x="584200" y="530860"/>
                    <a:pt x="582930" y="528320"/>
                  </a:cubicBezTo>
                  <a:cubicBezTo>
                    <a:pt x="582930" y="525780"/>
                    <a:pt x="582930" y="519430"/>
                    <a:pt x="582930" y="519430"/>
                  </a:cubicBezTo>
                  <a:cubicBezTo>
                    <a:pt x="581660" y="519430"/>
                    <a:pt x="582930" y="518160"/>
                    <a:pt x="582930" y="518160"/>
                  </a:cubicBezTo>
                  <a:cubicBezTo>
                    <a:pt x="579120" y="514350"/>
                    <a:pt x="499110" y="530860"/>
                    <a:pt x="467360" y="535940"/>
                  </a:cubicBezTo>
                  <a:cubicBezTo>
                    <a:pt x="445770" y="539750"/>
                    <a:pt x="429260" y="541020"/>
                    <a:pt x="410210" y="544830"/>
                  </a:cubicBezTo>
                  <a:cubicBezTo>
                    <a:pt x="392430" y="547370"/>
                    <a:pt x="381000" y="551180"/>
                    <a:pt x="359410" y="554990"/>
                  </a:cubicBezTo>
                  <a:cubicBezTo>
                    <a:pt x="327660" y="560070"/>
                    <a:pt x="280670" y="567690"/>
                    <a:pt x="236220" y="575310"/>
                  </a:cubicBezTo>
                  <a:cubicBezTo>
                    <a:pt x="185420" y="584200"/>
                    <a:pt x="72390" y="604520"/>
                    <a:pt x="71120" y="604520"/>
                  </a:cubicBezTo>
                  <a:cubicBezTo>
                    <a:pt x="71120" y="604520"/>
                    <a:pt x="66040" y="604520"/>
                    <a:pt x="63500" y="604520"/>
                  </a:cubicBezTo>
                  <a:cubicBezTo>
                    <a:pt x="60960" y="604520"/>
                    <a:pt x="55880" y="604520"/>
                    <a:pt x="55880" y="604520"/>
                  </a:cubicBezTo>
                  <a:cubicBezTo>
                    <a:pt x="55880" y="604520"/>
                    <a:pt x="50800" y="603250"/>
                    <a:pt x="48260" y="601980"/>
                  </a:cubicBezTo>
                  <a:cubicBezTo>
                    <a:pt x="45720" y="601980"/>
                    <a:pt x="41910" y="600710"/>
                    <a:pt x="40640" y="600710"/>
                  </a:cubicBezTo>
                  <a:cubicBezTo>
                    <a:pt x="40640" y="600710"/>
                    <a:pt x="36830" y="598170"/>
                    <a:pt x="34290" y="596900"/>
                  </a:cubicBezTo>
                  <a:cubicBezTo>
                    <a:pt x="31750" y="595630"/>
                    <a:pt x="27940" y="594360"/>
                    <a:pt x="27940" y="594360"/>
                  </a:cubicBezTo>
                  <a:cubicBezTo>
                    <a:pt x="27940" y="593090"/>
                    <a:pt x="24130" y="590550"/>
                    <a:pt x="21590" y="589280"/>
                  </a:cubicBezTo>
                  <a:cubicBezTo>
                    <a:pt x="20320" y="586740"/>
                    <a:pt x="16510" y="584200"/>
                    <a:pt x="16510" y="584200"/>
                  </a:cubicBezTo>
                  <a:cubicBezTo>
                    <a:pt x="16510" y="584200"/>
                    <a:pt x="12700" y="579120"/>
                    <a:pt x="11430" y="577850"/>
                  </a:cubicBezTo>
                  <a:cubicBezTo>
                    <a:pt x="10160" y="575310"/>
                    <a:pt x="7620" y="571500"/>
                    <a:pt x="7620" y="571500"/>
                  </a:cubicBezTo>
                  <a:cubicBezTo>
                    <a:pt x="7620" y="571500"/>
                    <a:pt x="5080" y="566420"/>
                    <a:pt x="5080" y="563880"/>
                  </a:cubicBezTo>
                  <a:cubicBezTo>
                    <a:pt x="3810" y="561340"/>
                    <a:pt x="1270" y="557530"/>
                    <a:pt x="1270" y="556260"/>
                  </a:cubicBezTo>
                  <a:cubicBezTo>
                    <a:pt x="1270" y="556260"/>
                    <a:pt x="1270" y="551180"/>
                    <a:pt x="1270" y="548640"/>
                  </a:cubicBezTo>
                  <a:cubicBezTo>
                    <a:pt x="0" y="546100"/>
                    <a:pt x="0" y="542290"/>
                    <a:pt x="0" y="542290"/>
                  </a:cubicBezTo>
                  <a:moveTo>
                    <a:pt x="4075430" y="283210"/>
                  </a:moveTo>
                  <a:cubicBezTo>
                    <a:pt x="4079240" y="287020"/>
                    <a:pt x="4084320" y="292100"/>
                    <a:pt x="4084320" y="292100"/>
                  </a:cubicBezTo>
                  <a:cubicBezTo>
                    <a:pt x="4084320" y="292100"/>
                    <a:pt x="4084320" y="295910"/>
                    <a:pt x="4086860" y="297180"/>
                  </a:cubicBezTo>
                  <a:cubicBezTo>
                    <a:pt x="4093210" y="302260"/>
                    <a:pt x="4131310" y="306070"/>
                    <a:pt x="4154170" y="306070"/>
                  </a:cubicBezTo>
                  <a:cubicBezTo>
                    <a:pt x="4177030" y="307340"/>
                    <a:pt x="4212590" y="303530"/>
                    <a:pt x="4226560" y="302260"/>
                  </a:cubicBezTo>
                  <a:cubicBezTo>
                    <a:pt x="4231640" y="300990"/>
                    <a:pt x="4236720" y="302260"/>
                    <a:pt x="4237990" y="299720"/>
                  </a:cubicBezTo>
                  <a:cubicBezTo>
                    <a:pt x="4239260" y="298450"/>
                    <a:pt x="4239260" y="294640"/>
                    <a:pt x="4239260" y="294640"/>
                  </a:cubicBezTo>
                  <a:cubicBezTo>
                    <a:pt x="4239260" y="294640"/>
                    <a:pt x="4240530" y="289560"/>
                    <a:pt x="4241800" y="287020"/>
                  </a:cubicBezTo>
                  <a:cubicBezTo>
                    <a:pt x="4241800" y="285750"/>
                    <a:pt x="4244340" y="283210"/>
                    <a:pt x="4243070" y="281940"/>
                  </a:cubicBezTo>
                  <a:cubicBezTo>
                    <a:pt x="4237990" y="275590"/>
                    <a:pt x="4109720" y="283210"/>
                    <a:pt x="4086860" y="283210"/>
                  </a:cubicBezTo>
                  <a:cubicBezTo>
                    <a:pt x="4081780" y="283210"/>
                    <a:pt x="4075430" y="283210"/>
                    <a:pt x="4075430" y="283210"/>
                  </a:cubicBezTo>
                  <a:moveTo>
                    <a:pt x="4720590" y="556260"/>
                  </a:moveTo>
                  <a:cubicBezTo>
                    <a:pt x="4969510" y="554990"/>
                    <a:pt x="5146040" y="563880"/>
                    <a:pt x="5149850" y="554990"/>
                  </a:cubicBezTo>
                  <a:cubicBezTo>
                    <a:pt x="5151120" y="554990"/>
                    <a:pt x="5149850" y="553720"/>
                    <a:pt x="5148580" y="552450"/>
                  </a:cubicBezTo>
                  <a:cubicBezTo>
                    <a:pt x="5147310" y="549910"/>
                    <a:pt x="5144770" y="546100"/>
                    <a:pt x="5144770" y="544830"/>
                  </a:cubicBezTo>
                  <a:cubicBezTo>
                    <a:pt x="5144770" y="544830"/>
                    <a:pt x="5143500" y="541020"/>
                    <a:pt x="5142230" y="538480"/>
                  </a:cubicBezTo>
                  <a:cubicBezTo>
                    <a:pt x="5142230" y="535940"/>
                    <a:pt x="5140960" y="530860"/>
                    <a:pt x="5140960" y="530860"/>
                  </a:cubicBezTo>
                  <a:cubicBezTo>
                    <a:pt x="5140960" y="530860"/>
                    <a:pt x="5140960" y="525780"/>
                    <a:pt x="5140960" y="523240"/>
                  </a:cubicBezTo>
                  <a:cubicBezTo>
                    <a:pt x="5140960" y="520700"/>
                    <a:pt x="5142230" y="516890"/>
                    <a:pt x="5139690" y="515620"/>
                  </a:cubicBezTo>
                  <a:cubicBezTo>
                    <a:pt x="5129530" y="505460"/>
                    <a:pt x="5015230" y="514350"/>
                    <a:pt x="4951730" y="514350"/>
                  </a:cubicBezTo>
                  <a:cubicBezTo>
                    <a:pt x="4888230" y="513080"/>
                    <a:pt x="4767580" y="508000"/>
                    <a:pt x="4761230" y="513080"/>
                  </a:cubicBezTo>
                  <a:cubicBezTo>
                    <a:pt x="4761230" y="513080"/>
                    <a:pt x="4761230" y="514350"/>
                    <a:pt x="4761230" y="514350"/>
                  </a:cubicBezTo>
                  <a:cubicBezTo>
                    <a:pt x="4759960" y="515620"/>
                    <a:pt x="4758690" y="521970"/>
                    <a:pt x="4758690" y="521970"/>
                  </a:cubicBezTo>
                  <a:cubicBezTo>
                    <a:pt x="4758690" y="521970"/>
                    <a:pt x="4756150" y="525780"/>
                    <a:pt x="4754880" y="528320"/>
                  </a:cubicBezTo>
                  <a:cubicBezTo>
                    <a:pt x="4753610" y="529590"/>
                    <a:pt x="4751070" y="534670"/>
                    <a:pt x="4751070" y="534670"/>
                  </a:cubicBezTo>
                  <a:cubicBezTo>
                    <a:pt x="4751070" y="534670"/>
                    <a:pt x="4748530" y="538480"/>
                    <a:pt x="4745990" y="539750"/>
                  </a:cubicBezTo>
                  <a:cubicBezTo>
                    <a:pt x="4744720" y="542290"/>
                    <a:pt x="4740910" y="544830"/>
                    <a:pt x="4740910" y="544830"/>
                  </a:cubicBezTo>
                  <a:cubicBezTo>
                    <a:pt x="4740910" y="544830"/>
                    <a:pt x="4737100" y="547370"/>
                    <a:pt x="4734560" y="549910"/>
                  </a:cubicBezTo>
                  <a:cubicBezTo>
                    <a:pt x="4732020" y="551180"/>
                    <a:pt x="4728210" y="553720"/>
                    <a:pt x="4728210" y="553720"/>
                  </a:cubicBezTo>
                  <a:cubicBezTo>
                    <a:pt x="4728210" y="553720"/>
                    <a:pt x="4721860" y="554990"/>
                    <a:pt x="4720590" y="556260"/>
                  </a:cubicBezTo>
                  <a:moveTo>
                    <a:pt x="5618480" y="554990"/>
                  </a:moveTo>
                  <a:cubicBezTo>
                    <a:pt x="5624830" y="554990"/>
                    <a:pt x="5624830" y="554990"/>
                    <a:pt x="5623560" y="554990"/>
                  </a:cubicBezTo>
                  <a:cubicBezTo>
                    <a:pt x="5623560" y="554990"/>
                    <a:pt x="5618480" y="554990"/>
                    <a:pt x="5618480" y="554990"/>
                  </a:cubicBezTo>
                </a:path>
              </a:pathLst>
            </a:custGeom>
            <a:solidFill>
              <a:srgbClr val="FFFFFF"/>
            </a:solidFill>
            <a:ln cap="sq">
              <a:noFill/>
              <a:prstDash val="solid"/>
              <a:miter/>
            </a:ln>
          </p:spPr>
          <p:txBody>
            <a:bodyPr/>
            <a:p/>
          </p:txBody>
        </p:sp>
      </p:grpSp>
      <p:grpSp>
        <p:nvGrpSpPr>
          <p:cNvPr name="Group 31" id="31"/>
          <p:cNvGrpSpPr/>
          <p:nvPr/>
        </p:nvGrpSpPr>
        <p:grpSpPr>
          <a:xfrm rot="0">
            <a:off x="1028700" y="9434036"/>
            <a:ext cx="13716000" cy="440055"/>
            <a:chOff x="0" y="0"/>
            <a:chExt cx="18288000" cy="586740"/>
          </a:xfrm>
        </p:grpSpPr>
        <p:sp>
          <p:nvSpPr>
            <p:cNvPr name="Freeform 32" id="32"/>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7325" r="0" b="-557325"/>
              </a:stretch>
            </a:blipFill>
          </p:spPr>
          <p:txBody>
            <a:bodyPr/>
            <a:p/>
          </p:txBody>
        </p:sp>
        <p:sp>
          <p:nvSpPr>
            <p:cNvPr name="TextBox 33" id="33"/>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
        <p:nvSpPr>
          <p:cNvPr id="34" name="Rounded Rectangle 33"/>
          <p:cNvSpPr/>
          <p:nvPr/>
        </p:nvSpPr>
        <p:spPr>
          <a:xfrm>
            <a:off x="804672" y="2039112"/>
            <a:ext cx="10149840" cy="1161288"/>
          </a:xfrm>
          <a:prstGeom prst="roundRect">
            <a:avLst>
              <a:gd name="adj" fmla="val 8000"/>
            </a:avLst>
          </a:prstGeom>
          <a:solidFill>
            <a:srgbClr val="FBF0DA"/>
          </a:solidFill>
          <a:ln>
            <a:noFill/>
          </a:ln>
        </p:spPr>
        <p:txBody>
          <a:bodyPr rtlCol="0" anchor="ctr"/>
          <a:lstStyle/>
          <a:p>
            <a:pPr algn="ctr"/>
          </a:p>
        </p:txBody>
      </p:sp>
      <p:sp>
        <p:nvSpPr>
          <p:cNvPr id="35" name="TextBox 34"/>
          <p:cNvSpPr txBox="1"/>
          <p:nvPr/>
        </p:nvSpPr>
        <p:spPr>
          <a:xfrm>
            <a:off x="1051560" y="2103120"/>
            <a:ext cx="9692640" cy="1051560"/>
          </a:xfrm>
          <a:prstGeom prst="rect">
            <a:avLst/>
          </a:prstGeom>
          <a:noFill/>
        </p:spPr>
        <p:txBody>
          <a:bodyPr wrap="square" anchor="ctr" lIns="0" rIns="0" tIns="0" bIns="0">
            <a:spAutoFit/>
          </a:bodyPr>
          <a:lstStyle/>
          <a:p>
            <a:pPr algn="l">
              <a:lnSpc>
                <a:spcPct val="106000"/>
              </a:lnSpc>
              <a:spcAft>
                <a:spcPts val="400"/>
              </a:spcAft>
            </a:pPr>
            <a:r>
              <a:rPr sz="1800" b="1">
                <a:solidFill>
                  <a:srgbClr val="B86E0E"/>
                </a:solidFill>
                <a:latin typeface="Calibri (MS) Bold"/>
              </a:rPr>
              <a:t>Báo cáo gốc  </a:t>
            </a:r>
            <a:r>
              <a:rPr sz="1800" b="0">
                <a:solidFill>
                  <a:srgbClr val="243044"/>
                </a:solidFill>
                <a:latin typeface="Calibri (MS)"/>
              </a:rPr>
              <a:t>Qwen2.5-VL Technical Report (Bai et al., 2025), Table 5 — TextVQA val, Qwen2.5-VL-3B = </a:t>
            </a:r>
            <a:r>
              <a:rPr sz="2200" b="1">
                <a:solidFill>
                  <a:srgbClr val="13294B"/>
                </a:solidFill>
                <a:latin typeface="Calibri (MS) Bold"/>
              </a:rPr>
              <a:t>79,3</a:t>
            </a:r>
          </a:p>
          <a:p>
            <a:pPr algn="l">
              <a:lnSpc>
                <a:spcPct val="106000"/>
              </a:lnSpc>
              <a:spcAft>
                <a:spcPts val="0"/>
              </a:spcAft>
            </a:pPr>
            <a:r>
              <a:rPr sz="1500" b="0" u="sng">
                <a:solidFill>
                  <a:srgbClr val="1C7293"/>
                </a:solidFill>
                <a:latin typeface="Calibri (MS)"/>
                <a:hlinkClick r:id="rId10"/>
              </a:rPr>
              <a:t>arxiv.org/abs/2502.13923 ↗</a:t>
            </a:r>
          </a:p>
        </p:txBody>
      </p:sp>
      <p:pic>
        <p:nvPicPr>
          <p:cNvPr id="36" name="Picture 35" descr="r0_metrics.png"/>
          <p:cNvPicPr>
            <a:picLocks noChangeAspect="1"/>
          </p:cNvPicPr>
          <p:nvPr/>
        </p:nvPicPr>
        <p:blipFill>
          <a:blip r:embed="rId11"/>
          <a:stretch>
            <a:fillRect/>
          </a:stretch>
        </p:blipFill>
        <p:spPr>
          <a:xfrm>
            <a:off x="1124712" y="3310128"/>
            <a:ext cx="9509760" cy="3580631"/>
          </a:xfrm>
          <a:prstGeom prst="rect">
            <a:avLst/>
          </a:prstGeom>
        </p:spPr>
      </p:pic>
      <p:pic>
        <p:nvPicPr>
          <p:cNvPr id="37" name="Picture 36" descr="r0_recompute.png"/>
          <p:cNvPicPr>
            <a:picLocks noChangeAspect="1"/>
          </p:cNvPicPr>
          <p:nvPr/>
        </p:nvPicPr>
        <p:blipFill>
          <a:blip r:embed="rId12"/>
          <a:stretch>
            <a:fillRect/>
          </a:stretch>
        </p:blipFill>
        <p:spPr>
          <a:xfrm>
            <a:off x="1124712" y="7000487"/>
            <a:ext cx="9509760" cy="1901952"/>
          </a:xfrm>
          <a:prstGeom prst="rect">
            <a:avLst/>
          </a:prstGeom>
        </p:spPr>
      </p:pic>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7325" r="0" b="-557325"/>
              </a:stretch>
            </a:blipFill>
          </p:spPr>
          <p:txBody>
            <a:bodyPr/>
            <a:p/>
          </p:txBody>
        </p:sp>
        <p:sp>
          <p:nvSpPr>
            <p:cNvPr name="TextBox 6" id="6"/>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Review 2 (cộng dồn) · GFA26AI35 · Đại học FPT</a:t>
              </a:r>
            </a:p>
          </p:txBody>
        </p:sp>
      </p:grpSp>
      <p:sp>
        <p:nvSpPr>
          <p:cNvPr name="TextBox 7" id="7"/>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EXISTING SYSTEM · 07 · BASELINE ZERO-SHOT (B1)</a:t>
            </a:r>
          </a:p>
        </p:txBody>
      </p:sp>
      <p:sp>
        <p:nvSpPr>
          <p:cNvPr name="TextBox 8" id="8"/>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Zero-shot sai chủ yếu ở định dạng câu trả lời</a:t>
            </a:r>
          </a:p>
        </p:txBody>
      </p:sp>
      <p:graphicFrame>
        <p:nvGraphicFramePr>
          <p:cNvPr name="Table 9" id="9"/>
          <p:cNvGraphicFramePr>
            <a:graphicFrameLocks noGrp="true"/>
          </p:cNvGraphicFramePr>
          <p:nvPr/>
        </p:nvGraphicFramePr>
        <p:xfrm>
          <a:off x="822960" y="2125980"/>
          <a:ext cx="9017000" cy="2743200"/>
        </p:xfrm>
        <a:graphic>
          <a:graphicData uri="http://schemas.openxmlformats.org/drawingml/2006/table">
            <a:tbl>
              <a:tblPr/>
              <a:tblGrid>
                <a:gridCol w="4461764"/>
                <a:gridCol w="1518412"/>
                <a:gridCol w="1518412"/>
                <a:gridCol w="1518412"/>
              </a:tblGrid>
              <a:tr h="6858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Tập test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EM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ANLS</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F1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ViVQA (3.001)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22,1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28,6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38,1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ViTextVQA tập con (2.000)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28,8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47,5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53,8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ViTextVQA đầy đủ (10.028)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29,1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47,6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53,9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10" id="10"/>
          <p:cNvSpPr/>
          <p:nvPr/>
        </p:nvSpPr>
        <p:spPr>
          <a:xfrm flipH="false" flipV="false" rot="0">
            <a:off x="806291" y="5263991"/>
            <a:ext cx="9085898" cy="4148138"/>
          </a:xfrm>
          <a:custGeom>
            <a:avLst/>
            <a:gdLst/>
            <a:ahLst/>
            <a:cxnLst/>
            <a:rect r="r" b="b" t="t" l="l"/>
            <a:pathLst>
              <a:path h="4148138" w="9085898">
                <a:moveTo>
                  <a:pt x="0" y="0"/>
                </a:moveTo>
                <a:lnTo>
                  <a:pt x="9085898" y="0"/>
                </a:lnTo>
                <a:lnTo>
                  <a:pt x="9085898" y="4148138"/>
                </a:lnTo>
                <a:lnTo>
                  <a:pt x="0" y="414813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11" id="11"/>
          <p:cNvSpPr txBox="true"/>
          <p:nvPr/>
        </p:nvSpPr>
        <p:spPr>
          <a:xfrm rot="0">
            <a:off x="1234440" y="5410200"/>
            <a:ext cx="8229600"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ViVQA EM theo loại câu hỏi</a:t>
            </a:r>
          </a:p>
        </p:txBody>
      </p:sp>
      <p:grpSp>
        <p:nvGrpSpPr>
          <p:cNvPr name="Group 12" id="12"/>
          <p:cNvGrpSpPr/>
          <p:nvPr/>
        </p:nvGrpSpPr>
        <p:grpSpPr>
          <a:xfrm rot="0">
            <a:off x="246888" y="5184648"/>
            <a:ext cx="10204704" cy="4924044"/>
            <a:chOff x="0" y="0"/>
            <a:chExt cx="13606272" cy="6565392"/>
          </a:xfrm>
        </p:grpSpPr>
        <p:sp>
          <p:nvSpPr>
            <p:cNvPr name="Freeform 13" id="13"/>
            <p:cNvSpPr/>
            <p:nvPr/>
          </p:nvSpPr>
          <p:spPr>
            <a:xfrm flipH="false" flipV="false" rot="0">
              <a:off x="0" y="0"/>
              <a:ext cx="13606272" cy="6565392"/>
            </a:xfrm>
            <a:custGeom>
              <a:avLst/>
              <a:gdLst/>
              <a:ahLst/>
              <a:cxnLst/>
              <a:rect r="r" b="b" t="t" l="l"/>
              <a:pathLst>
                <a:path h="6565392" w="13606272">
                  <a:moveTo>
                    <a:pt x="0" y="0"/>
                  </a:moveTo>
                  <a:lnTo>
                    <a:pt x="13606272" y="0"/>
                  </a:lnTo>
                  <a:lnTo>
                    <a:pt x="13606272" y="6565392"/>
                  </a:lnTo>
                  <a:lnTo>
                    <a:pt x="0" y="6565392"/>
                  </a:lnTo>
                  <a:lnTo>
                    <a:pt x="0" y="0"/>
                  </a:lnTo>
                  <a:close/>
                </a:path>
              </a:pathLst>
            </a:custGeom>
            <a:blipFill>
              <a:blip r:embed="rId6"/>
              <a:stretch>
                <a:fillRect l="0" t="-20" r="0" b="-20"/>
              </a:stretch>
            </a:blipFill>
          </p:spPr>
          <p:txBody>
            <a:bodyPr/>
            <a:p/>
          </p:txBody>
        </p:sp>
      </p:grpSp>
      <p:sp>
        <p:nvSpPr>
          <p:cNvPr name="Freeform 14" id="14"/>
          <p:cNvSpPr/>
          <p:nvPr/>
        </p:nvSpPr>
        <p:spPr>
          <a:xfrm flipH="false" flipV="false" rot="0">
            <a:off x="10407491" y="2109311"/>
            <a:ext cx="7073741" cy="7302818"/>
          </a:xfrm>
          <a:custGeom>
            <a:avLst/>
            <a:gdLst/>
            <a:ahLst/>
            <a:cxnLst/>
            <a:rect r="r" b="b" t="t" l="l"/>
            <a:pathLst>
              <a:path h="7302818" w="7073741">
                <a:moveTo>
                  <a:pt x="0" y="0"/>
                </a:moveTo>
                <a:lnTo>
                  <a:pt x="7073741" y="0"/>
                </a:lnTo>
                <a:lnTo>
                  <a:pt x="7073741" y="7302818"/>
                </a:lnTo>
                <a:lnTo>
                  <a:pt x="0" y="730281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sp>
        <p:nvSpPr>
          <p:cNvPr name="TextBox 15" id="15"/>
          <p:cNvSpPr txBox="true"/>
          <p:nvPr/>
        </p:nvSpPr>
        <p:spPr>
          <a:xfrm rot="0">
            <a:off x="10835640" y="2255520"/>
            <a:ext cx="6217463"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Lỗi chính: trả lời dài dòng</a:t>
            </a:r>
          </a:p>
        </p:txBody>
      </p:sp>
      <p:sp>
        <p:nvSpPr>
          <p:cNvPr name="TextBox 16" id="16"/>
          <p:cNvSpPr txBox="true"/>
          <p:nvPr/>
        </p:nvSpPr>
        <p:spPr>
          <a:xfrm rot="0">
            <a:off x="10835640" y="2903220"/>
            <a:ext cx="6217463" cy="6286500"/>
          </a:xfrm>
          <a:prstGeom prst="rect">
            <a:avLst/>
          </a:prstGeom>
        </p:spPr>
        <p:txBody>
          <a:bodyPr anchor="t" rtlCol="false" tIns="0" lIns="0" bIns="0" rIns="0">
            <a:spAutoFit/>
          </a:bodyPr>
          <a:lstStyle/>
          <a:p>
            <a:pPr algn="l" marL="474662" indent="-158221" lvl="2">
              <a:lnSpc>
                <a:spcPts val="2700"/>
              </a:lnSpc>
              <a:buFont typeface="Arial"/>
              <a:buChar char="⚬"/>
            </a:pPr>
            <a:r>
              <a:rPr lang="en-US" sz="2250">
                <a:solidFill>
                  <a:srgbClr val="243044"/>
                </a:solidFill>
                <a:latin typeface="Calibri (MS)"/>
                <a:ea typeface="Calibri (MS)"/>
                <a:cs typeface="Calibri (MS)"/>
                <a:sym typeface="Calibri (MS)"/>
              </a:rPr>
              <a:t>Số từ mỗi câu trả lời: 2,9 so với gold 1,6 (ViVQA); 5,5 so với 3,7 (ViTextVQA)</a:t>
            </a:r>
          </a:p>
          <a:p>
            <a:pPr algn="l" marL="474662" indent="-158221" lvl="2">
              <a:lnSpc>
                <a:spcPts val="2700"/>
              </a:lnSpc>
              <a:buFont typeface="Arial"/>
              <a:buChar char="⚬"/>
            </a:pPr>
            <a:r>
              <a:rPr lang="en-US" sz="2250">
                <a:solidFill>
                  <a:srgbClr val="243044"/>
                </a:solidFill>
                <a:latin typeface="Calibri (MS)"/>
                <a:ea typeface="Calibri (MS)"/>
                <a:cs typeface="Calibri (MS)"/>
                <a:sym typeface="Calibri (MS)"/>
              </a:rPr>
              <a:t>19% câu trả lời ViTextVQA chứa đáp án gold nhưng vẫn trượt EM</a:t>
            </a:r>
          </a:p>
          <a:p>
            <a:pPr algn="l" marL="474662" indent="-158221" lvl="2">
              <a:lnSpc>
                <a:spcPts val="2700"/>
              </a:lnSpc>
              <a:buFont typeface="Arial"/>
              <a:buChar char="⚬"/>
            </a:pPr>
            <a:r>
              <a:rPr lang="en-US" sz="2250">
                <a:solidFill>
                  <a:srgbClr val="243044"/>
                </a:solidFill>
                <a:latin typeface="Calibri (MS)"/>
                <a:ea typeface="Calibri (MS)"/>
                <a:cs typeface="Calibri (MS)"/>
                <a:sym typeface="Calibri (MS)"/>
              </a:rPr>
              <a:t>“Lịch tết năm 2021” so với gold “2021”</a:t>
            </a:r>
          </a:p>
          <a:p>
            <a:pPr algn="l" marL="474662" indent="-158221" lvl="2">
              <a:lnSpc>
                <a:spcPts val="2700"/>
              </a:lnSpc>
              <a:buFont typeface="Arial"/>
              <a:buChar char="⚬"/>
            </a:pPr>
            <a:r>
              <a:rPr lang="en-US" sz="2250">
                <a:solidFill>
                  <a:srgbClr val="243044"/>
                </a:solidFill>
                <a:latin typeface="Calibri (MS)"/>
                <a:ea typeface="Calibri (MS)"/>
                <a:cs typeface="Calibri (MS)"/>
                <a:sym typeface="Calibri (MS)"/>
              </a:rPr>
              <a:t>Ngoài ra: chen tiếng Anh (“truck”), hallucination, gold nhiễu (“tía”)</a:t>
            </a:r>
          </a:p>
        </p:txBody>
      </p:sp>
      <p:grpSp>
        <p:nvGrpSpPr>
          <p:cNvPr name="Group 17" id="17"/>
          <p:cNvGrpSpPr/>
          <p:nvPr/>
        </p:nvGrpSpPr>
        <p:grpSpPr>
          <a:xfrm rot="0">
            <a:off x="15458732" y="0"/>
            <a:ext cx="2829268" cy="1184338"/>
            <a:chOff x="0" y="0"/>
            <a:chExt cx="3772357" cy="1579118"/>
          </a:xfrm>
        </p:grpSpPr>
        <p:sp>
          <p:nvSpPr>
            <p:cNvPr name="Freeform 18" id="18"/>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9"/>
              <a:stretch>
                <a:fillRect l="0" t="0" r="1" b="0"/>
              </a:stretch>
            </a:blipFill>
          </p:spPr>
          <p:txBody>
            <a:bodyPr/>
            <a:p/>
          </p:txBody>
        </p:sp>
      </p:grpSp>
      <p:grpSp>
        <p:nvGrpSpPr>
          <p:cNvPr name="Group 19" id="19"/>
          <p:cNvGrpSpPr/>
          <p:nvPr/>
        </p:nvGrpSpPr>
        <p:grpSpPr>
          <a:xfrm rot="0">
            <a:off x="-106680" y="9644062"/>
            <a:ext cx="7936230" cy="572452"/>
            <a:chOff x="0" y="0"/>
            <a:chExt cx="10581640" cy="763270"/>
          </a:xfrm>
        </p:grpSpPr>
        <p:sp>
          <p:nvSpPr>
            <p:cNvPr name="Freeform 20" id="20"/>
            <p:cNvSpPr/>
            <p:nvPr/>
          </p:nvSpPr>
          <p:spPr>
            <a:xfrm flipH="false" flipV="false" rot="0">
              <a:off x="50027" y="46444"/>
              <a:ext cx="10479737" cy="674824"/>
            </a:xfrm>
            <a:custGeom>
              <a:avLst/>
              <a:gdLst/>
              <a:ahLst/>
              <a:cxnLst/>
              <a:rect r="r" b="b" t="t" l="l"/>
              <a:pathLst>
                <a:path h="674824" w="10479737">
                  <a:moveTo>
                    <a:pt x="2564903" y="274866"/>
                  </a:moveTo>
                  <a:cubicBezTo>
                    <a:pt x="1390153" y="418376"/>
                    <a:pt x="1136153" y="445046"/>
                    <a:pt x="897393" y="461556"/>
                  </a:cubicBezTo>
                  <a:cubicBezTo>
                    <a:pt x="681493" y="475526"/>
                    <a:pt x="367803" y="497116"/>
                    <a:pt x="282713" y="484416"/>
                  </a:cubicBezTo>
                  <a:cubicBezTo>
                    <a:pt x="259853" y="480606"/>
                    <a:pt x="250963" y="478066"/>
                    <a:pt x="240803" y="469176"/>
                  </a:cubicBezTo>
                  <a:cubicBezTo>
                    <a:pt x="230643" y="459016"/>
                    <a:pt x="221753" y="442506"/>
                    <a:pt x="219213" y="428536"/>
                  </a:cubicBezTo>
                  <a:cubicBezTo>
                    <a:pt x="217943" y="414566"/>
                    <a:pt x="221753" y="396786"/>
                    <a:pt x="229373" y="385356"/>
                  </a:cubicBezTo>
                  <a:cubicBezTo>
                    <a:pt x="236993" y="373926"/>
                    <a:pt x="248423" y="367576"/>
                    <a:pt x="266203" y="359956"/>
                  </a:cubicBezTo>
                  <a:cubicBezTo>
                    <a:pt x="309383" y="339636"/>
                    <a:pt x="398283" y="316776"/>
                    <a:pt x="498613" y="295186"/>
                  </a:cubicBezTo>
                  <a:cubicBezTo>
                    <a:pt x="684033" y="258356"/>
                    <a:pt x="1035823" y="213906"/>
                    <a:pt x="1289823" y="185966"/>
                  </a:cubicBezTo>
                  <a:cubicBezTo>
                    <a:pt x="1522233" y="160566"/>
                    <a:pt x="1721623" y="141516"/>
                    <a:pt x="1962923" y="128816"/>
                  </a:cubicBezTo>
                  <a:cubicBezTo>
                    <a:pt x="2243593" y="112306"/>
                    <a:pt x="2766833" y="86906"/>
                    <a:pt x="2873513" y="104686"/>
                  </a:cubicBezTo>
                  <a:cubicBezTo>
                    <a:pt x="2896373" y="108496"/>
                    <a:pt x="2905263" y="112306"/>
                    <a:pt x="2915423" y="119926"/>
                  </a:cubicBezTo>
                  <a:cubicBezTo>
                    <a:pt x="2923043" y="126276"/>
                    <a:pt x="2929393" y="133896"/>
                    <a:pt x="2931933" y="144056"/>
                  </a:cubicBezTo>
                  <a:cubicBezTo>
                    <a:pt x="2935743" y="159296"/>
                    <a:pt x="2935743" y="188506"/>
                    <a:pt x="2925583" y="202476"/>
                  </a:cubicBezTo>
                  <a:cubicBezTo>
                    <a:pt x="2915423" y="216446"/>
                    <a:pt x="2903993" y="222796"/>
                    <a:pt x="2874783" y="229146"/>
                  </a:cubicBezTo>
                  <a:cubicBezTo>
                    <a:pt x="2732543" y="263436"/>
                    <a:pt x="1721623" y="232956"/>
                    <a:pt x="1590813" y="207556"/>
                  </a:cubicBezTo>
                  <a:cubicBezTo>
                    <a:pt x="1566683" y="202476"/>
                    <a:pt x="1559063" y="201206"/>
                    <a:pt x="1548903" y="191046"/>
                  </a:cubicBezTo>
                  <a:cubicBezTo>
                    <a:pt x="1537473" y="182156"/>
                    <a:pt x="1529853" y="165646"/>
                    <a:pt x="1527313" y="151676"/>
                  </a:cubicBezTo>
                  <a:cubicBezTo>
                    <a:pt x="1526043" y="137706"/>
                    <a:pt x="1529853" y="118656"/>
                    <a:pt x="1538743" y="107226"/>
                  </a:cubicBezTo>
                  <a:cubicBezTo>
                    <a:pt x="1548903" y="94526"/>
                    <a:pt x="1561603" y="86906"/>
                    <a:pt x="1592083" y="79286"/>
                  </a:cubicBezTo>
                  <a:cubicBezTo>
                    <a:pt x="1701303" y="52616"/>
                    <a:pt x="2317253" y="43726"/>
                    <a:pt x="2418853" y="81826"/>
                  </a:cubicBezTo>
                  <a:cubicBezTo>
                    <a:pt x="2445523" y="91986"/>
                    <a:pt x="2455683" y="107226"/>
                    <a:pt x="2463303" y="121196"/>
                  </a:cubicBezTo>
                  <a:cubicBezTo>
                    <a:pt x="2468383" y="131356"/>
                    <a:pt x="2468383" y="141516"/>
                    <a:pt x="2465843" y="151676"/>
                  </a:cubicBezTo>
                  <a:cubicBezTo>
                    <a:pt x="2464573" y="164376"/>
                    <a:pt x="2459493" y="180886"/>
                    <a:pt x="2445523" y="191046"/>
                  </a:cubicBezTo>
                  <a:cubicBezTo>
                    <a:pt x="2418853" y="211366"/>
                    <a:pt x="2359163" y="212636"/>
                    <a:pt x="2289313" y="220256"/>
                  </a:cubicBezTo>
                  <a:cubicBezTo>
                    <a:pt x="2153423" y="235496"/>
                    <a:pt x="1931173" y="234226"/>
                    <a:pt x="1678443" y="239306"/>
                  </a:cubicBezTo>
                  <a:cubicBezTo>
                    <a:pt x="1268233" y="246926"/>
                    <a:pt x="223023" y="290106"/>
                    <a:pt x="61733" y="252006"/>
                  </a:cubicBezTo>
                  <a:cubicBezTo>
                    <a:pt x="31253" y="244386"/>
                    <a:pt x="21093" y="239306"/>
                    <a:pt x="10933" y="225336"/>
                  </a:cubicBezTo>
                  <a:cubicBezTo>
                    <a:pt x="773" y="211366"/>
                    <a:pt x="773" y="182156"/>
                    <a:pt x="4583" y="168186"/>
                  </a:cubicBezTo>
                  <a:cubicBezTo>
                    <a:pt x="7123" y="158026"/>
                    <a:pt x="12203" y="150406"/>
                    <a:pt x="21093" y="144056"/>
                  </a:cubicBezTo>
                  <a:cubicBezTo>
                    <a:pt x="31253" y="136436"/>
                    <a:pt x="47763" y="137706"/>
                    <a:pt x="61733" y="127546"/>
                  </a:cubicBezTo>
                  <a:cubicBezTo>
                    <a:pt x="85863" y="111036"/>
                    <a:pt x="108723" y="57696"/>
                    <a:pt x="139203" y="37376"/>
                  </a:cubicBezTo>
                  <a:cubicBezTo>
                    <a:pt x="165873" y="20866"/>
                    <a:pt x="187463" y="17056"/>
                    <a:pt x="228103" y="10706"/>
                  </a:cubicBezTo>
                  <a:cubicBezTo>
                    <a:pt x="305573" y="-724"/>
                    <a:pt x="427493" y="-3264"/>
                    <a:pt x="574813" y="4356"/>
                  </a:cubicBezTo>
                  <a:cubicBezTo>
                    <a:pt x="837703" y="18326"/>
                    <a:pt x="1226323" y="117386"/>
                    <a:pt x="1664473" y="144056"/>
                  </a:cubicBezTo>
                  <a:cubicBezTo>
                    <a:pt x="2319793" y="184696"/>
                    <a:pt x="3810773" y="53886"/>
                    <a:pt x="4130813" y="130086"/>
                  </a:cubicBezTo>
                  <a:cubicBezTo>
                    <a:pt x="4214633" y="150406"/>
                    <a:pt x="4276863" y="179616"/>
                    <a:pt x="4279403" y="206286"/>
                  </a:cubicBezTo>
                  <a:cubicBezTo>
                    <a:pt x="4280673" y="229146"/>
                    <a:pt x="4223523" y="262166"/>
                    <a:pt x="4185423" y="276136"/>
                  </a:cubicBezTo>
                  <a:cubicBezTo>
                    <a:pt x="4140973" y="293916"/>
                    <a:pt x="4092713" y="288836"/>
                    <a:pt x="4025403" y="292646"/>
                  </a:cubicBezTo>
                  <a:cubicBezTo>
                    <a:pt x="3906023" y="300266"/>
                    <a:pt x="3607573" y="316776"/>
                    <a:pt x="3531373" y="304076"/>
                  </a:cubicBezTo>
                  <a:cubicBezTo>
                    <a:pt x="3507243" y="300266"/>
                    <a:pt x="3497083" y="297726"/>
                    <a:pt x="3485653" y="287566"/>
                  </a:cubicBezTo>
                  <a:cubicBezTo>
                    <a:pt x="3472953" y="274866"/>
                    <a:pt x="3462793" y="246926"/>
                    <a:pt x="3462793" y="227876"/>
                  </a:cubicBezTo>
                  <a:cubicBezTo>
                    <a:pt x="3464063" y="212636"/>
                    <a:pt x="3474223" y="196126"/>
                    <a:pt x="3485653" y="185966"/>
                  </a:cubicBezTo>
                  <a:cubicBezTo>
                    <a:pt x="3497083" y="175806"/>
                    <a:pt x="3504703" y="171996"/>
                    <a:pt x="3530103" y="168186"/>
                  </a:cubicBezTo>
                  <a:cubicBezTo>
                    <a:pt x="3632973" y="150406"/>
                    <a:pt x="4054613" y="188506"/>
                    <a:pt x="4346713" y="193586"/>
                  </a:cubicBezTo>
                  <a:cubicBezTo>
                    <a:pt x="4684533" y="199936"/>
                    <a:pt x="5253493" y="188506"/>
                    <a:pt x="5441453" y="201206"/>
                  </a:cubicBezTo>
                  <a:cubicBezTo>
                    <a:pt x="5506223" y="205016"/>
                    <a:pt x="5543053" y="207556"/>
                    <a:pt x="5572263" y="216446"/>
                  </a:cubicBezTo>
                  <a:cubicBezTo>
                    <a:pt x="5590043" y="222796"/>
                    <a:pt x="5602743" y="227876"/>
                    <a:pt x="5611633" y="238036"/>
                  </a:cubicBezTo>
                  <a:cubicBezTo>
                    <a:pt x="5620523" y="248196"/>
                    <a:pt x="5626873" y="265976"/>
                    <a:pt x="5625603" y="278676"/>
                  </a:cubicBezTo>
                  <a:cubicBezTo>
                    <a:pt x="5625603" y="292646"/>
                    <a:pt x="5619253" y="310426"/>
                    <a:pt x="5610363" y="320586"/>
                  </a:cubicBezTo>
                  <a:cubicBezTo>
                    <a:pt x="5600203" y="330746"/>
                    <a:pt x="5592583" y="334556"/>
                    <a:pt x="5570993" y="339636"/>
                  </a:cubicBezTo>
                  <a:cubicBezTo>
                    <a:pt x="5475743" y="362496"/>
                    <a:pt x="5004573" y="345986"/>
                    <a:pt x="4778513" y="342176"/>
                  </a:cubicBezTo>
                  <a:cubicBezTo>
                    <a:pt x="4609603" y="339636"/>
                    <a:pt x="4534673" y="337096"/>
                    <a:pt x="4336553" y="328206"/>
                  </a:cubicBezTo>
                  <a:cubicBezTo>
                    <a:pt x="3930153" y="309156"/>
                    <a:pt x="2982733" y="235496"/>
                    <a:pt x="2473463" y="211366"/>
                  </a:cubicBezTo>
                  <a:cubicBezTo>
                    <a:pt x="2119133" y="193586"/>
                    <a:pt x="1675903" y="203746"/>
                    <a:pt x="1573033" y="180886"/>
                  </a:cubicBezTo>
                  <a:cubicBezTo>
                    <a:pt x="1551443" y="177076"/>
                    <a:pt x="1545093" y="174536"/>
                    <a:pt x="1534933" y="165646"/>
                  </a:cubicBezTo>
                  <a:cubicBezTo>
                    <a:pt x="1526043" y="156756"/>
                    <a:pt x="1518423" y="141516"/>
                    <a:pt x="1517153" y="128816"/>
                  </a:cubicBezTo>
                  <a:cubicBezTo>
                    <a:pt x="1515883" y="116116"/>
                    <a:pt x="1520963" y="99606"/>
                    <a:pt x="1528583" y="88176"/>
                  </a:cubicBezTo>
                  <a:cubicBezTo>
                    <a:pt x="1536203" y="78016"/>
                    <a:pt x="1541283" y="71666"/>
                    <a:pt x="1562873" y="66586"/>
                  </a:cubicBezTo>
                  <a:cubicBezTo>
                    <a:pt x="1689873" y="33566"/>
                    <a:pt x="2534423" y="136436"/>
                    <a:pt x="2971303" y="156756"/>
                  </a:cubicBezTo>
                  <a:cubicBezTo>
                    <a:pt x="3348493" y="174536"/>
                    <a:pt x="3719333" y="177076"/>
                    <a:pt x="4030483" y="188506"/>
                  </a:cubicBezTo>
                  <a:cubicBezTo>
                    <a:pt x="4274323" y="197396"/>
                    <a:pt x="4515623" y="206286"/>
                    <a:pt x="4684533" y="218986"/>
                  </a:cubicBezTo>
                  <a:cubicBezTo>
                    <a:pt x="4791213" y="226606"/>
                    <a:pt x="4897893" y="222796"/>
                    <a:pt x="4943613" y="245656"/>
                  </a:cubicBezTo>
                  <a:cubicBezTo>
                    <a:pt x="4965203" y="255816"/>
                    <a:pt x="4977903" y="271056"/>
                    <a:pt x="4982983" y="287566"/>
                  </a:cubicBezTo>
                  <a:cubicBezTo>
                    <a:pt x="4986793" y="302806"/>
                    <a:pt x="4980443" y="329476"/>
                    <a:pt x="4970283" y="342176"/>
                  </a:cubicBezTo>
                  <a:cubicBezTo>
                    <a:pt x="4961393" y="353606"/>
                    <a:pt x="4949963" y="357416"/>
                    <a:pt x="4932183" y="363766"/>
                  </a:cubicBezTo>
                  <a:cubicBezTo>
                    <a:pt x="4902973" y="373926"/>
                    <a:pt x="4871223" y="375196"/>
                    <a:pt x="4807723" y="381546"/>
                  </a:cubicBezTo>
                  <a:cubicBezTo>
                    <a:pt x="4604523" y="399326"/>
                    <a:pt x="3829823" y="412026"/>
                    <a:pt x="3522483" y="428536"/>
                  </a:cubicBezTo>
                  <a:cubicBezTo>
                    <a:pt x="3351033" y="437426"/>
                    <a:pt x="3187203" y="464096"/>
                    <a:pt x="3122433" y="456476"/>
                  </a:cubicBezTo>
                  <a:cubicBezTo>
                    <a:pt x="3100843" y="453936"/>
                    <a:pt x="3091953" y="451396"/>
                    <a:pt x="3080523" y="443776"/>
                  </a:cubicBezTo>
                  <a:cubicBezTo>
                    <a:pt x="3070363" y="434886"/>
                    <a:pt x="3061473" y="419646"/>
                    <a:pt x="3058933" y="405676"/>
                  </a:cubicBezTo>
                  <a:cubicBezTo>
                    <a:pt x="3056393" y="392976"/>
                    <a:pt x="3058933" y="375196"/>
                    <a:pt x="3066553" y="363766"/>
                  </a:cubicBezTo>
                  <a:cubicBezTo>
                    <a:pt x="3076713" y="349796"/>
                    <a:pt x="3086873" y="342176"/>
                    <a:pt x="3116083" y="334556"/>
                  </a:cubicBezTo>
                  <a:cubicBezTo>
                    <a:pt x="3236733" y="301536"/>
                    <a:pt x="3752353" y="340906"/>
                    <a:pt x="4138433" y="338366"/>
                  </a:cubicBezTo>
                  <a:cubicBezTo>
                    <a:pt x="4638813" y="335826"/>
                    <a:pt x="5711963" y="286296"/>
                    <a:pt x="5865633" y="312966"/>
                  </a:cubicBezTo>
                  <a:cubicBezTo>
                    <a:pt x="5889763" y="318046"/>
                    <a:pt x="5896113" y="319316"/>
                    <a:pt x="5906273" y="329476"/>
                  </a:cubicBezTo>
                  <a:cubicBezTo>
                    <a:pt x="5916433" y="338366"/>
                    <a:pt x="5925323" y="353606"/>
                    <a:pt x="5926593" y="367576"/>
                  </a:cubicBezTo>
                  <a:cubicBezTo>
                    <a:pt x="5926593" y="384086"/>
                    <a:pt x="5917703" y="409486"/>
                    <a:pt x="5906273" y="420916"/>
                  </a:cubicBezTo>
                  <a:cubicBezTo>
                    <a:pt x="5896113" y="431076"/>
                    <a:pt x="5889763" y="431076"/>
                    <a:pt x="5865633" y="436156"/>
                  </a:cubicBezTo>
                  <a:cubicBezTo>
                    <a:pt x="5697993" y="466636"/>
                    <a:pt x="3997463" y="465366"/>
                    <a:pt x="3831093" y="434886"/>
                  </a:cubicBezTo>
                  <a:cubicBezTo>
                    <a:pt x="3806963" y="431076"/>
                    <a:pt x="3801883" y="428536"/>
                    <a:pt x="3791723" y="419646"/>
                  </a:cubicBezTo>
                  <a:cubicBezTo>
                    <a:pt x="3781563" y="410756"/>
                    <a:pt x="3772673" y="395516"/>
                    <a:pt x="3771403" y="381546"/>
                  </a:cubicBezTo>
                  <a:cubicBezTo>
                    <a:pt x="3770133" y="368846"/>
                    <a:pt x="3772673" y="351066"/>
                    <a:pt x="3781563" y="340906"/>
                  </a:cubicBezTo>
                  <a:cubicBezTo>
                    <a:pt x="3791723" y="328206"/>
                    <a:pt x="3800613" y="321856"/>
                    <a:pt x="3831093" y="314236"/>
                  </a:cubicBezTo>
                  <a:cubicBezTo>
                    <a:pt x="4059693" y="259626"/>
                    <a:pt x="6085343" y="319316"/>
                    <a:pt x="6894333" y="335826"/>
                  </a:cubicBezTo>
                  <a:cubicBezTo>
                    <a:pt x="7425193" y="347256"/>
                    <a:pt x="7919223" y="365036"/>
                    <a:pt x="8212593" y="380276"/>
                  </a:cubicBezTo>
                  <a:cubicBezTo>
                    <a:pt x="8359913" y="387896"/>
                    <a:pt x="8484373" y="385356"/>
                    <a:pt x="8544063" y="404406"/>
                  </a:cubicBezTo>
                  <a:cubicBezTo>
                    <a:pt x="8569463" y="412026"/>
                    <a:pt x="8583433" y="420916"/>
                    <a:pt x="8592323" y="433616"/>
                  </a:cubicBezTo>
                  <a:cubicBezTo>
                    <a:pt x="8601213" y="445046"/>
                    <a:pt x="8602483" y="462826"/>
                    <a:pt x="8599943" y="476796"/>
                  </a:cubicBezTo>
                  <a:cubicBezTo>
                    <a:pt x="8597403" y="489496"/>
                    <a:pt x="8588513" y="504736"/>
                    <a:pt x="8578353" y="513626"/>
                  </a:cubicBezTo>
                  <a:cubicBezTo>
                    <a:pt x="8566923" y="521246"/>
                    <a:pt x="8559303" y="522516"/>
                    <a:pt x="8536443" y="526326"/>
                  </a:cubicBezTo>
                  <a:cubicBezTo>
                    <a:pt x="8433573" y="541566"/>
                    <a:pt x="7970023" y="533946"/>
                    <a:pt x="7680463" y="526326"/>
                  </a:cubicBezTo>
                  <a:cubicBezTo>
                    <a:pt x="7382013" y="517436"/>
                    <a:pt x="7097533" y="486956"/>
                    <a:pt x="6772413" y="474256"/>
                  </a:cubicBezTo>
                  <a:cubicBezTo>
                    <a:pt x="6399033" y="459016"/>
                    <a:pt x="5684023" y="484416"/>
                    <a:pt x="5565913" y="446316"/>
                  </a:cubicBezTo>
                  <a:cubicBezTo>
                    <a:pt x="5543053" y="438696"/>
                    <a:pt x="5537973" y="429806"/>
                    <a:pt x="5529083" y="419646"/>
                  </a:cubicBezTo>
                  <a:cubicBezTo>
                    <a:pt x="5522733" y="412026"/>
                    <a:pt x="5520193" y="401866"/>
                    <a:pt x="5518923" y="391706"/>
                  </a:cubicBezTo>
                  <a:cubicBezTo>
                    <a:pt x="5517653" y="382816"/>
                    <a:pt x="5518923" y="371386"/>
                    <a:pt x="5522733" y="362496"/>
                  </a:cubicBezTo>
                  <a:cubicBezTo>
                    <a:pt x="5527813" y="349796"/>
                    <a:pt x="5534163" y="338366"/>
                    <a:pt x="5551943" y="328206"/>
                  </a:cubicBezTo>
                  <a:cubicBezTo>
                    <a:pt x="5597663" y="305346"/>
                    <a:pt x="5703073" y="306616"/>
                    <a:pt x="5840233" y="298996"/>
                  </a:cubicBezTo>
                  <a:cubicBezTo>
                    <a:pt x="6179323" y="282486"/>
                    <a:pt x="7180083" y="287566"/>
                    <a:pt x="7614423" y="293916"/>
                  </a:cubicBezTo>
                  <a:cubicBezTo>
                    <a:pt x="7865883" y="297726"/>
                    <a:pt x="8116073" y="296456"/>
                    <a:pt x="8211323" y="312966"/>
                  </a:cubicBezTo>
                  <a:cubicBezTo>
                    <a:pt x="8241803" y="318046"/>
                    <a:pt x="8255773" y="321856"/>
                    <a:pt x="8271013" y="332016"/>
                  </a:cubicBezTo>
                  <a:cubicBezTo>
                    <a:pt x="8283713" y="340906"/>
                    <a:pt x="8295143" y="352336"/>
                    <a:pt x="8300223" y="366306"/>
                  </a:cubicBezTo>
                  <a:cubicBezTo>
                    <a:pt x="8304033" y="381546"/>
                    <a:pt x="8300223" y="410756"/>
                    <a:pt x="8292603" y="424726"/>
                  </a:cubicBezTo>
                  <a:cubicBezTo>
                    <a:pt x="8283713" y="436156"/>
                    <a:pt x="8276093" y="442506"/>
                    <a:pt x="8254503" y="448856"/>
                  </a:cubicBezTo>
                  <a:cubicBezTo>
                    <a:pt x="8166873" y="479336"/>
                    <a:pt x="7803653" y="488226"/>
                    <a:pt x="7535683" y="498386"/>
                  </a:cubicBezTo>
                  <a:cubicBezTo>
                    <a:pt x="7197863" y="511086"/>
                    <a:pt x="6501903" y="540296"/>
                    <a:pt x="6387603" y="504736"/>
                  </a:cubicBezTo>
                  <a:cubicBezTo>
                    <a:pt x="6364743" y="498386"/>
                    <a:pt x="6358393" y="490766"/>
                    <a:pt x="6350773" y="479336"/>
                  </a:cubicBezTo>
                  <a:cubicBezTo>
                    <a:pt x="6343153" y="467906"/>
                    <a:pt x="6338073" y="450126"/>
                    <a:pt x="6339343" y="436156"/>
                  </a:cubicBezTo>
                  <a:cubicBezTo>
                    <a:pt x="6341883" y="422186"/>
                    <a:pt x="6349503" y="406946"/>
                    <a:pt x="6360933" y="396786"/>
                  </a:cubicBezTo>
                  <a:cubicBezTo>
                    <a:pt x="6371093" y="387896"/>
                    <a:pt x="6377443" y="385356"/>
                    <a:pt x="6401573" y="381546"/>
                  </a:cubicBezTo>
                  <a:cubicBezTo>
                    <a:pt x="6553973" y="354876"/>
                    <a:pt x="7615693" y="392976"/>
                    <a:pt x="8079243" y="404406"/>
                  </a:cubicBezTo>
                  <a:cubicBezTo>
                    <a:pt x="8406903" y="412026"/>
                    <a:pt x="8602483" y="418376"/>
                    <a:pt x="8917443" y="433616"/>
                  </a:cubicBezTo>
                  <a:cubicBezTo>
                    <a:pt x="9323843" y="452666"/>
                    <a:pt x="10106163" y="492036"/>
                    <a:pt x="10314443" y="518706"/>
                  </a:cubicBezTo>
                  <a:cubicBezTo>
                    <a:pt x="10375403" y="525056"/>
                    <a:pt x="10404613" y="528866"/>
                    <a:pt x="10431283" y="540296"/>
                  </a:cubicBezTo>
                  <a:cubicBezTo>
                    <a:pt x="10447793" y="546646"/>
                    <a:pt x="10460493" y="551726"/>
                    <a:pt x="10468113" y="563156"/>
                  </a:cubicBezTo>
                  <a:cubicBezTo>
                    <a:pt x="10477003" y="577126"/>
                    <a:pt x="10479543" y="605066"/>
                    <a:pt x="10477003" y="620306"/>
                  </a:cubicBezTo>
                  <a:cubicBezTo>
                    <a:pt x="10474463" y="630466"/>
                    <a:pt x="10469383" y="638086"/>
                    <a:pt x="10461763" y="644436"/>
                  </a:cubicBezTo>
                  <a:cubicBezTo>
                    <a:pt x="10451603" y="653326"/>
                    <a:pt x="10443983" y="657136"/>
                    <a:pt x="10421123" y="662216"/>
                  </a:cubicBezTo>
                  <a:cubicBezTo>
                    <a:pt x="10304283" y="685076"/>
                    <a:pt x="9669283" y="671106"/>
                    <a:pt x="9328923" y="664756"/>
                  </a:cubicBezTo>
                  <a:cubicBezTo>
                    <a:pt x="9029203" y="659676"/>
                    <a:pt x="8791713" y="650786"/>
                    <a:pt x="8485643" y="631736"/>
                  </a:cubicBezTo>
                  <a:cubicBezTo>
                    <a:pt x="8118613" y="608876"/>
                    <a:pt x="7483613" y="559346"/>
                    <a:pt x="7275333" y="532676"/>
                  </a:cubicBezTo>
                  <a:cubicBezTo>
                    <a:pt x="7201673" y="522516"/>
                    <a:pt x="7158493" y="523786"/>
                    <a:pt x="7128013" y="506006"/>
                  </a:cubicBezTo>
                  <a:cubicBezTo>
                    <a:pt x="7108963" y="494576"/>
                    <a:pt x="7096263" y="476796"/>
                    <a:pt x="7092453" y="460286"/>
                  </a:cubicBezTo>
                  <a:cubicBezTo>
                    <a:pt x="7089913" y="443776"/>
                    <a:pt x="7093723" y="422186"/>
                    <a:pt x="7110233" y="406946"/>
                  </a:cubicBezTo>
                  <a:cubicBezTo>
                    <a:pt x="7139443" y="377736"/>
                    <a:pt x="7216913" y="365036"/>
                    <a:pt x="7308353" y="351066"/>
                  </a:cubicBezTo>
                  <a:cubicBezTo>
                    <a:pt x="7501393" y="321856"/>
                    <a:pt x="7883663" y="326936"/>
                    <a:pt x="8226563" y="320586"/>
                  </a:cubicBezTo>
                  <a:cubicBezTo>
                    <a:pt x="8660903" y="312966"/>
                    <a:pt x="9565143" y="288836"/>
                    <a:pt x="9704843" y="314236"/>
                  </a:cubicBezTo>
                  <a:cubicBezTo>
                    <a:pt x="9727703" y="318046"/>
                    <a:pt x="9735323" y="321856"/>
                    <a:pt x="9745483" y="329476"/>
                  </a:cubicBezTo>
                  <a:cubicBezTo>
                    <a:pt x="9753103" y="335826"/>
                    <a:pt x="9758183" y="343446"/>
                    <a:pt x="9761993" y="353606"/>
                  </a:cubicBezTo>
                  <a:cubicBezTo>
                    <a:pt x="9765803" y="365036"/>
                    <a:pt x="9765803" y="384086"/>
                    <a:pt x="9761993" y="396786"/>
                  </a:cubicBezTo>
                  <a:cubicBezTo>
                    <a:pt x="9758183" y="405676"/>
                    <a:pt x="9753103" y="414566"/>
                    <a:pt x="9745483" y="420916"/>
                  </a:cubicBezTo>
                  <a:cubicBezTo>
                    <a:pt x="9735323" y="428536"/>
                    <a:pt x="9722623" y="432346"/>
                    <a:pt x="9704843" y="436156"/>
                  </a:cubicBezTo>
                  <a:cubicBezTo>
                    <a:pt x="9673093" y="441236"/>
                    <a:pt x="9645153" y="437426"/>
                    <a:pt x="9572763" y="436156"/>
                  </a:cubicBezTo>
                  <a:cubicBezTo>
                    <a:pt x="9231133" y="429806"/>
                    <a:pt x="7482343" y="352336"/>
                    <a:pt x="6653033" y="332016"/>
                  </a:cubicBezTo>
                  <a:cubicBezTo>
                    <a:pt x="6037083" y="318046"/>
                    <a:pt x="5168403" y="370116"/>
                    <a:pt x="5043943" y="312966"/>
                  </a:cubicBezTo>
                  <a:cubicBezTo>
                    <a:pt x="5023623" y="302806"/>
                    <a:pt x="5019813" y="292646"/>
                    <a:pt x="5016003" y="281216"/>
                  </a:cubicBezTo>
                  <a:cubicBezTo>
                    <a:pt x="5010923" y="268516"/>
                    <a:pt x="5012193" y="249466"/>
                    <a:pt x="5016003" y="238036"/>
                  </a:cubicBezTo>
                  <a:cubicBezTo>
                    <a:pt x="5018543" y="229146"/>
                    <a:pt x="5024893" y="220256"/>
                    <a:pt x="5032513" y="215176"/>
                  </a:cubicBezTo>
                  <a:cubicBezTo>
                    <a:pt x="5042673" y="207556"/>
                    <a:pt x="5047753" y="203746"/>
                    <a:pt x="5071883" y="199936"/>
                  </a:cubicBezTo>
                  <a:cubicBezTo>
                    <a:pt x="5320803" y="154216"/>
                    <a:pt x="9090163" y="151676"/>
                    <a:pt x="9300983" y="177076"/>
                  </a:cubicBezTo>
                  <a:cubicBezTo>
                    <a:pt x="9318763" y="178346"/>
                    <a:pt x="9320033" y="178346"/>
                    <a:pt x="9328923" y="183426"/>
                  </a:cubicBezTo>
                  <a:cubicBezTo>
                    <a:pt x="9339083" y="189776"/>
                    <a:pt x="9353053" y="202476"/>
                    <a:pt x="9356863" y="215176"/>
                  </a:cubicBezTo>
                  <a:cubicBezTo>
                    <a:pt x="9361943" y="227876"/>
                    <a:pt x="9360673" y="245656"/>
                    <a:pt x="9356863" y="257086"/>
                  </a:cubicBezTo>
                  <a:cubicBezTo>
                    <a:pt x="9354323" y="267246"/>
                    <a:pt x="9351783" y="273596"/>
                    <a:pt x="9340353" y="281216"/>
                  </a:cubicBezTo>
                  <a:cubicBezTo>
                    <a:pt x="9312413" y="300266"/>
                    <a:pt x="9233673" y="316776"/>
                    <a:pt x="9144773" y="328206"/>
                  </a:cubicBezTo>
                  <a:cubicBezTo>
                    <a:pt x="8959353" y="353606"/>
                    <a:pt x="8616453" y="352336"/>
                    <a:pt x="8283713" y="358686"/>
                  </a:cubicBezTo>
                  <a:cubicBezTo>
                    <a:pt x="7822703" y="367576"/>
                    <a:pt x="6760983" y="395516"/>
                    <a:pt x="6637793" y="366306"/>
                  </a:cubicBezTo>
                  <a:cubicBezTo>
                    <a:pt x="6621283" y="362496"/>
                    <a:pt x="6618743" y="359956"/>
                    <a:pt x="6611123" y="352336"/>
                  </a:cubicBezTo>
                  <a:cubicBezTo>
                    <a:pt x="6602233" y="343446"/>
                    <a:pt x="6593343" y="326936"/>
                    <a:pt x="6590803" y="312966"/>
                  </a:cubicBezTo>
                  <a:cubicBezTo>
                    <a:pt x="6589533" y="298996"/>
                    <a:pt x="6593343" y="281216"/>
                    <a:pt x="6602233" y="269786"/>
                  </a:cubicBezTo>
                  <a:cubicBezTo>
                    <a:pt x="6609853" y="258356"/>
                    <a:pt x="6617473" y="252006"/>
                    <a:pt x="6637793" y="244386"/>
                  </a:cubicBezTo>
                  <a:cubicBezTo>
                    <a:pt x="6711453" y="217716"/>
                    <a:pt x="6965453" y="203746"/>
                    <a:pt x="7186433" y="191046"/>
                  </a:cubicBezTo>
                  <a:cubicBezTo>
                    <a:pt x="7519173" y="171996"/>
                    <a:pt x="8315463" y="150406"/>
                    <a:pt x="8445003" y="171996"/>
                  </a:cubicBezTo>
                  <a:cubicBezTo>
                    <a:pt x="8469133" y="177076"/>
                    <a:pt x="8476753" y="179616"/>
                    <a:pt x="8486913" y="188506"/>
                  </a:cubicBezTo>
                  <a:cubicBezTo>
                    <a:pt x="8498343" y="197396"/>
                    <a:pt x="8507233" y="213906"/>
                    <a:pt x="8508503" y="227876"/>
                  </a:cubicBezTo>
                  <a:cubicBezTo>
                    <a:pt x="8509773" y="241846"/>
                    <a:pt x="8505963" y="260896"/>
                    <a:pt x="8497073" y="272326"/>
                  </a:cubicBezTo>
                  <a:cubicBezTo>
                    <a:pt x="8489453" y="283756"/>
                    <a:pt x="8478023" y="292646"/>
                    <a:pt x="8460243" y="297726"/>
                  </a:cubicBezTo>
                  <a:cubicBezTo>
                    <a:pt x="8427223" y="309156"/>
                    <a:pt x="8368803" y="304076"/>
                    <a:pt x="8306573" y="302806"/>
                  </a:cubicBezTo>
                  <a:cubicBezTo>
                    <a:pt x="8206243" y="298996"/>
                    <a:pt x="8036063" y="273596"/>
                    <a:pt x="7917953" y="265976"/>
                  </a:cubicBezTo>
                  <a:cubicBezTo>
                    <a:pt x="7817623" y="259626"/>
                    <a:pt x="7759203" y="259626"/>
                    <a:pt x="7638553" y="257086"/>
                  </a:cubicBezTo>
                  <a:cubicBezTo>
                    <a:pt x="7418843" y="252006"/>
                    <a:pt x="6863853" y="269786"/>
                    <a:pt x="6702563" y="249466"/>
                  </a:cubicBezTo>
                  <a:cubicBezTo>
                    <a:pt x="6645413" y="241846"/>
                    <a:pt x="6604773" y="243116"/>
                    <a:pt x="6589533" y="220256"/>
                  </a:cubicBezTo>
                  <a:cubicBezTo>
                    <a:pt x="6574293" y="198666"/>
                    <a:pt x="6580643" y="145326"/>
                    <a:pt x="6603503" y="123736"/>
                  </a:cubicBezTo>
                  <a:cubicBezTo>
                    <a:pt x="6633983" y="90716"/>
                    <a:pt x="6716533" y="95796"/>
                    <a:pt x="6802893" y="85636"/>
                  </a:cubicBezTo>
                  <a:cubicBezTo>
                    <a:pt x="6956563" y="69126"/>
                    <a:pt x="7272793" y="74206"/>
                    <a:pt x="7453133" y="62776"/>
                  </a:cubicBezTo>
                  <a:cubicBezTo>
                    <a:pt x="7580133" y="55156"/>
                    <a:pt x="7722373" y="29756"/>
                    <a:pt x="7779523" y="36106"/>
                  </a:cubicBezTo>
                  <a:cubicBezTo>
                    <a:pt x="7801113" y="38646"/>
                    <a:pt x="7811273" y="39916"/>
                    <a:pt x="7822703" y="50076"/>
                  </a:cubicBezTo>
                  <a:cubicBezTo>
                    <a:pt x="7835403" y="60236"/>
                    <a:pt x="7846833" y="86906"/>
                    <a:pt x="7846833" y="103416"/>
                  </a:cubicBezTo>
                  <a:cubicBezTo>
                    <a:pt x="7846833" y="117386"/>
                    <a:pt x="7837943" y="133896"/>
                    <a:pt x="7829053" y="144056"/>
                  </a:cubicBezTo>
                  <a:cubicBezTo>
                    <a:pt x="7818893" y="154216"/>
                    <a:pt x="7808733" y="158026"/>
                    <a:pt x="7787143" y="161836"/>
                  </a:cubicBezTo>
                  <a:cubicBezTo>
                    <a:pt x="7727453" y="173266"/>
                    <a:pt x="7561083" y="145326"/>
                    <a:pt x="7421383" y="140246"/>
                  </a:cubicBezTo>
                  <a:cubicBezTo>
                    <a:pt x="7235963" y="133896"/>
                    <a:pt x="7013713" y="136436"/>
                    <a:pt x="6769873" y="135166"/>
                  </a:cubicBezTo>
                  <a:cubicBezTo>
                    <a:pt x="6457453" y="132626"/>
                    <a:pt x="5949453" y="125006"/>
                    <a:pt x="5701803" y="132626"/>
                  </a:cubicBezTo>
                  <a:cubicBezTo>
                    <a:pt x="5567183" y="136436"/>
                    <a:pt x="5451613" y="163106"/>
                    <a:pt x="5393193" y="152946"/>
                  </a:cubicBezTo>
                  <a:cubicBezTo>
                    <a:pt x="5369063" y="149136"/>
                    <a:pt x="5352553" y="142786"/>
                    <a:pt x="5342393" y="130086"/>
                  </a:cubicBezTo>
                  <a:cubicBezTo>
                    <a:pt x="5332233" y="117386"/>
                    <a:pt x="5328423" y="90716"/>
                    <a:pt x="5332233" y="75476"/>
                  </a:cubicBezTo>
                  <a:cubicBezTo>
                    <a:pt x="5336043" y="62776"/>
                    <a:pt x="5348743" y="48806"/>
                    <a:pt x="5358903" y="42456"/>
                  </a:cubicBezTo>
                  <a:cubicBezTo>
                    <a:pt x="5366523" y="36106"/>
                    <a:pt x="5369063" y="36106"/>
                    <a:pt x="5385573" y="33566"/>
                  </a:cubicBezTo>
                  <a:cubicBezTo>
                    <a:pt x="5555753" y="6896"/>
                    <a:pt x="8072893" y="-1994"/>
                    <a:pt x="8277363" y="34836"/>
                  </a:cubicBezTo>
                  <a:cubicBezTo>
                    <a:pt x="8302763" y="39916"/>
                    <a:pt x="8309113" y="41186"/>
                    <a:pt x="8319273" y="51346"/>
                  </a:cubicBezTo>
                  <a:cubicBezTo>
                    <a:pt x="8329433" y="60236"/>
                    <a:pt x="8338323" y="76746"/>
                    <a:pt x="8339593" y="89446"/>
                  </a:cubicBezTo>
                  <a:cubicBezTo>
                    <a:pt x="8340863" y="103416"/>
                    <a:pt x="8337053" y="121196"/>
                    <a:pt x="8329433" y="132626"/>
                  </a:cubicBezTo>
                  <a:cubicBezTo>
                    <a:pt x="8321813" y="144056"/>
                    <a:pt x="8311653" y="150406"/>
                    <a:pt x="8292603" y="158026"/>
                  </a:cubicBezTo>
                  <a:cubicBezTo>
                    <a:pt x="8239263" y="179616"/>
                    <a:pt x="8056383" y="198666"/>
                    <a:pt x="7961133" y="207556"/>
                  </a:cubicBezTo>
                  <a:cubicBezTo>
                    <a:pt x="7891283" y="215176"/>
                    <a:pt x="7818893" y="222796"/>
                    <a:pt x="7778253" y="216446"/>
                  </a:cubicBezTo>
                  <a:cubicBezTo>
                    <a:pt x="7755393" y="213906"/>
                    <a:pt x="7741423" y="210096"/>
                    <a:pt x="7728723" y="198666"/>
                  </a:cubicBezTo>
                  <a:cubicBezTo>
                    <a:pt x="7717293" y="188506"/>
                    <a:pt x="7707133" y="169456"/>
                    <a:pt x="7704593" y="152946"/>
                  </a:cubicBezTo>
                  <a:cubicBezTo>
                    <a:pt x="7702053" y="137706"/>
                    <a:pt x="7707133" y="116116"/>
                    <a:pt x="7716023" y="103416"/>
                  </a:cubicBezTo>
                  <a:cubicBezTo>
                    <a:pt x="7724913" y="89446"/>
                    <a:pt x="7733803" y="80556"/>
                    <a:pt x="7757933" y="72936"/>
                  </a:cubicBezTo>
                  <a:cubicBezTo>
                    <a:pt x="7854453" y="42456"/>
                    <a:pt x="8321813" y="86906"/>
                    <a:pt x="8533903" y="80556"/>
                  </a:cubicBezTo>
                  <a:cubicBezTo>
                    <a:pt x="8679953" y="76746"/>
                    <a:pt x="8843783" y="46266"/>
                    <a:pt x="8907283" y="55156"/>
                  </a:cubicBezTo>
                  <a:cubicBezTo>
                    <a:pt x="8928873" y="57696"/>
                    <a:pt x="8940303" y="60236"/>
                    <a:pt x="8951733" y="70396"/>
                  </a:cubicBezTo>
                  <a:cubicBezTo>
                    <a:pt x="8961893" y="79286"/>
                    <a:pt x="8972053" y="97066"/>
                    <a:pt x="8974593" y="111036"/>
                  </a:cubicBezTo>
                  <a:cubicBezTo>
                    <a:pt x="8975863" y="126276"/>
                    <a:pt x="8972053" y="145326"/>
                    <a:pt x="8964433" y="156756"/>
                  </a:cubicBezTo>
                  <a:cubicBezTo>
                    <a:pt x="8955543" y="169456"/>
                    <a:pt x="8947923" y="175806"/>
                    <a:pt x="8926333" y="184696"/>
                  </a:cubicBezTo>
                  <a:cubicBezTo>
                    <a:pt x="8841243" y="216446"/>
                    <a:pt x="8507233" y="235496"/>
                    <a:pt x="8257043" y="248196"/>
                  </a:cubicBezTo>
                  <a:cubicBezTo>
                    <a:pt x="7938273" y="263436"/>
                    <a:pt x="7498853" y="244386"/>
                    <a:pt x="7168653" y="249466"/>
                  </a:cubicBezTo>
                  <a:cubicBezTo>
                    <a:pt x="6894333" y="254546"/>
                    <a:pt x="6508253" y="287566"/>
                    <a:pt x="6414273" y="273596"/>
                  </a:cubicBezTo>
                  <a:cubicBezTo>
                    <a:pt x="6391413" y="269786"/>
                    <a:pt x="6383793" y="267246"/>
                    <a:pt x="6373633" y="258356"/>
                  </a:cubicBezTo>
                  <a:cubicBezTo>
                    <a:pt x="6363473" y="249466"/>
                    <a:pt x="6355853" y="234226"/>
                    <a:pt x="6353313" y="220256"/>
                  </a:cubicBezTo>
                  <a:cubicBezTo>
                    <a:pt x="6352043" y="207556"/>
                    <a:pt x="6355853" y="189776"/>
                    <a:pt x="6363473" y="178346"/>
                  </a:cubicBezTo>
                  <a:cubicBezTo>
                    <a:pt x="6371093" y="166916"/>
                    <a:pt x="6376173" y="160566"/>
                    <a:pt x="6397763" y="154216"/>
                  </a:cubicBezTo>
                  <a:cubicBezTo>
                    <a:pt x="6503173" y="119926"/>
                    <a:pt x="7295653" y="130086"/>
                    <a:pt x="7408683" y="150406"/>
                  </a:cubicBezTo>
                  <a:cubicBezTo>
                    <a:pt x="7431543" y="155486"/>
                    <a:pt x="7439163" y="156756"/>
                    <a:pt x="7449323" y="166916"/>
                  </a:cubicBezTo>
                  <a:cubicBezTo>
                    <a:pt x="7460753" y="178346"/>
                    <a:pt x="7470913" y="203746"/>
                    <a:pt x="7469643" y="220256"/>
                  </a:cubicBezTo>
                  <a:cubicBezTo>
                    <a:pt x="7469643" y="235496"/>
                    <a:pt x="7459483" y="250736"/>
                    <a:pt x="7449323" y="259626"/>
                  </a:cubicBezTo>
                  <a:cubicBezTo>
                    <a:pt x="7439163" y="268516"/>
                    <a:pt x="7434083" y="271056"/>
                    <a:pt x="7408683" y="274866"/>
                  </a:cubicBezTo>
                  <a:cubicBezTo>
                    <a:pt x="7211833" y="310426"/>
                    <a:pt x="4939803" y="287566"/>
                    <a:pt x="4745493" y="250736"/>
                  </a:cubicBezTo>
                  <a:cubicBezTo>
                    <a:pt x="4720093" y="246926"/>
                    <a:pt x="4715013" y="244386"/>
                    <a:pt x="4704853" y="235496"/>
                  </a:cubicBezTo>
                  <a:cubicBezTo>
                    <a:pt x="4694693" y="226606"/>
                    <a:pt x="4685803" y="210096"/>
                    <a:pt x="4684533" y="197396"/>
                  </a:cubicBezTo>
                  <a:cubicBezTo>
                    <a:pt x="4683263" y="183426"/>
                    <a:pt x="4687073" y="165646"/>
                    <a:pt x="4694693" y="155486"/>
                  </a:cubicBezTo>
                  <a:cubicBezTo>
                    <a:pt x="4702313" y="144056"/>
                    <a:pt x="4708663" y="137706"/>
                    <a:pt x="4730253" y="130086"/>
                  </a:cubicBezTo>
                  <a:cubicBezTo>
                    <a:pt x="4825503" y="100876"/>
                    <a:pt x="5475743" y="103416"/>
                    <a:pt x="5582423" y="122466"/>
                  </a:cubicBezTo>
                  <a:cubicBezTo>
                    <a:pt x="5606553" y="126276"/>
                    <a:pt x="5615443" y="127546"/>
                    <a:pt x="5626873" y="138976"/>
                  </a:cubicBezTo>
                  <a:cubicBezTo>
                    <a:pt x="5639573" y="151676"/>
                    <a:pt x="5649733" y="180886"/>
                    <a:pt x="5649733" y="198666"/>
                  </a:cubicBezTo>
                  <a:cubicBezTo>
                    <a:pt x="5648463" y="213906"/>
                    <a:pt x="5638303" y="230416"/>
                    <a:pt x="5626873" y="240576"/>
                  </a:cubicBezTo>
                  <a:cubicBezTo>
                    <a:pt x="5615443" y="250736"/>
                    <a:pt x="5607823" y="253276"/>
                    <a:pt x="5582423" y="258356"/>
                  </a:cubicBezTo>
                  <a:cubicBezTo>
                    <a:pt x="5443993" y="282486"/>
                    <a:pt x="4469903" y="231686"/>
                    <a:pt x="4229873" y="248196"/>
                  </a:cubicBezTo>
                  <a:cubicBezTo>
                    <a:pt x="4142243" y="254546"/>
                    <a:pt x="4090173" y="276136"/>
                    <a:pt x="4052073" y="273596"/>
                  </a:cubicBezTo>
                  <a:cubicBezTo>
                    <a:pt x="4031753" y="273596"/>
                    <a:pt x="4020323" y="271056"/>
                    <a:pt x="4008893" y="262166"/>
                  </a:cubicBezTo>
                  <a:cubicBezTo>
                    <a:pt x="3997463" y="254546"/>
                    <a:pt x="3987303" y="236766"/>
                    <a:pt x="3983493" y="225336"/>
                  </a:cubicBezTo>
                  <a:cubicBezTo>
                    <a:pt x="3980953" y="213906"/>
                    <a:pt x="3980953" y="205016"/>
                    <a:pt x="3984763" y="194856"/>
                  </a:cubicBezTo>
                  <a:cubicBezTo>
                    <a:pt x="3988573" y="182156"/>
                    <a:pt x="4001273" y="165646"/>
                    <a:pt x="4011433" y="158026"/>
                  </a:cubicBezTo>
                  <a:cubicBezTo>
                    <a:pt x="4020323" y="151676"/>
                    <a:pt x="4022863" y="151676"/>
                    <a:pt x="4039373" y="147866"/>
                  </a:cubicBezTo>
                  <a:cubicBezTo>
                    <a:pt x="4171453" y="126276"/>
                    <a:pt x="5624333" y="123736"/>
                    <a:pt x="5776733" y="151676"/>
                  </a:cubicBezTo>
                  <a:cubicBezTo>
                    <a:pt x="5800863" y="156756"/>
                    <a:pt x="5807213" y="158026"/>
                    <a:pt x="5817373" y="166916"/>
                  </a:cubicBezTo>
                  <a:cubicBezTo>
                    <a:pt x="5827533" y="175806"/>
                    <a:pt x="5836423" y="191046"/>
                    <a:pt x="5837693" y="206286"/>
                  </a:cubicBezTo>
                  <a:cubicBezTo>
                    <a:pt x="5838963" y="221526"/>
                    <a:pt x="5828803" y="246926"/>
                    <a:pt x="5817373" y="258356"/>
                  </a:cubicBezTo>
                  <a:cubicBezTo>
                    <a:pt x="5807213" y="268516"/>
                    <a:pt x="5799593" y="269786"/>
                    <a:pt x="5776733" y="274866"/>
                  </a:cubicBezTo>
                  <a:cubicBezTo>
                    <a:pt x="5672593" y="292646"/>
                    <a:pt x="5195073" y="268516"/>
                    <a:pt x="4889003" y="271056"/>
                  </a:cubicBezTo>
                  <a:cubicBezTo>
                    <a:pt x="4563883" y="274866"/>
                    <a:pt x="4068583" y="278676"/>
                    <a:pt x="3880623" y="292646"/>
                  </a:cubicBezTo>
                  <a:cubicBezTo>
                    <a:pt x="3806963" y="298996"/>
                    <a:pt x="3759973" y="314236"/>
                    <a:pt x="3728223" y="312966"/>
                  </a:cubicBezTo>
                  <a:cubicBezTo>
                    <a:pt x="3715523" y="311696"/>
                    <a:pt x="3707903" y="310426"/>
                    <a:pt x="3699013" y="305346"/>
                  </a:cubicBezTo>
                  <a:cubicBezTo>
                    <a:pt x="3688853" y="298996"/>
                    <a:pt x="3674883" y="285026"/>
                    <a:pt x="3669803" y="272326"/>
                  </a:cubicBezTo>
                  <a:cubicBezTo>
                    <a:pt x="3664723" y="259626"/>
                    <a:pt x="3664723" y="240576"/>
                    <a:pt x="3669803" y="226606"/>
                  </a:cubicBezTo>
                  <a:cubicBezTo>
                    <a:pt x="3673613" y="213906"/>
                    <a:pt x="3677423" y="202476"/>
                    <a:pt x="3699013" y="193586"/>
                  </a:cubicBezTo>
                  <a:cubicBezTo>
                    <a:pt x="3819663" y="138976"/>
                    <a:pt x="5017273" y="171996"/>
                    <a:pt x="5156973" y="197396"/>
                  </a:cubicBezTo>
                  <a:cubicBezTo>
                    <a:pt x="5181103" y="201206"/>
                    <a:pt x="5187453" y="203746"/>
                    <a:pt x="5197613" y="212636"/>
                  </a:cubicBezTo>
                  <a:cubicBezTo>
                    <a:pt x="5207773" y="221526"/>
                    <a:pt x="5217933" y="238036"/>
                    <a:pt x="5217933" y="252006"/>
                  </a:cubicBezTo>
                  <a:cubicBezTo>
                    <a:pt x="5219203" y="268516"/>
                    <a:pt x="5209043" y="293916"/>
                    <a:pt x="5197613" y="305346"/>
                  </a:cubicBezTo>
                  <a:cubicBezTo>
                    <a:pt x="5187453" y="315506"/>
                    <a:pt x="5182373" y="316776"/>
                    <a:pt x="5156973" y="321856"/>
                  </a:cubicBezTo>
                  <a:cubicBezTo>
                    <a:pt x="4946153" y="359956"/>
                    <a:pt x="2342653" y="377736"/>
                    <a:pt x="2111513" y="321856"/>
                  </a:cubicBezTo>
                  <a:cubicBezTo>
                    <a:pt x="2079763" y="312966"/>
                    <a:pt x="2070873" y="307886"/>
                    <a:pt x="2060713" y="293916"/>
                  </a:cubicBezTo>
                  <a:cubicBezTo>
                    <a:pt x="2051823" y="283756"/>
                    <a:pt x="2048013" y="265976"/>
                    <a:pt x="2050553" y="252006"/>
                  </a:cubicBezTo>
                  <a:cubicBezTo>
                    <a:pt x="2051823" y="238036"/>
                    <a:pt x="2060713" y="221526"/>
                    <a:pt x="2070873" y="212636"/>
                  </a:cubicBezTo>
                  <a:cubicBezTo>
                    <a:pt x="2081033" y="203746"/>
                    <a:pt x="2087383" y="201206"/>
                    <a:pt x="2111513" y="197396"/>
                  </a:cubicBezTo>
                  <a:cubicBezTo>
                    <a:pt x="2237243" y="174536"/>
                    <a:pt x="3210063" y="160566"/>
                    <a:pt x="3329443" y="197396"/>
                  </a:cubicBezTo>
                  <a:cubicBezTo>
                    <a:pt x="3353573" y="205016"/>
                    <a:pt x="3358653" y="211366"/>
                    <a:pt x="3367543" y="222796"/>
                  </a:cubicBezTo>
                  <a:cubicBezTo>
                    <a:pt x="3375163" y="234226"/>
                    <a:pt x="3380243" y="253276"/>
                    <a:pt x="3377703" y="267246"/>
                  </a:cubicBezTo>
                  <a:cubicBezTo>
                    <a:pt x="3376433" y="281216"/>
                    <a:pt x="3366273" y="297726"/>
                    <a:pt x="3357383" y="306616"/>
                  </a:cubicBezTo>
                  <a:cubicBezTo>
                    <a:pt x="3349763" y="314236"/>
                    <a:pt x="3344683" y="316776"/>
                    <a:pt x="3329443" y="320586"/>
                  </a:cubicBezTo>
                  <a:cubicBezTo>
                    <a:pt x="3283723" y="334556"/>
                    <a:pt x="3124973" y="326936"/>
                    <a:pt x="3023373" y="338366"/>
                  </a:cubicBezTo>
                  <a:cubicBezTo>
                    <a:pt x="2921773" y="349796"/>
                    <a:pt x="2784613" y="366306"/>
                    <a:pt x="2719843" y="389166"/>
                  </a:cubicBezTo>
                  <a:cubicBezTo>
                    <a:pt x="2686823" y="400596"/>
                    <a:pt x="2671583" y="425996"/>
                    <a:pt x="2649993" y="429806"/>
                  </a:cubicBezTo>
                  <a:cubicBezTo>
                    <a:pt x="2632213" y="431076"/>
                    <a:pt x="2614433" y="424726"/>
                    <a:pt x="2601733" y="415836"/>
                  </a:cubicBezTo>
                  <a:cubicBezTo>
                    <a:pt x="2589033" y="406946"/>
                    <a:pt x="2577603" y="389166"/>
                    <a:pt x="2575063" y="375196"/>
                  </a:cubicBezTo>
                  <a:cubicBezTo>
                    <a:pt x="2571253" y="359956"/>
                    <a:pt x="2573793" y="339636"/>
                    <a:pt x="2581413" y="325666"/>
                  </a:cubicBezTo>
                  <a:cubicBezTo>
                    <a:pt x="2589033" y="311696"/>
                    <a:pt x="2596653" y="301536"/>
                    <a:pt x="2619513" y="293916"/>
                  </a:cubicBezTo>
                  <a:cubicBezTo>
                    <a:pt x="2704603" y="263436"/>
                    <a:pt x="3196093" y="282486"/>
                    <a:pt x="3296423" y="306616"/>
                  </a:cubicBezTo>
                  <a:cubicBezTo>
                    <a:pt x="3328173" y="314236"/>
                    <a:pt x="3340873" y="323126"/>
                    <a:pt x="3354843" y="334556"/>
                  </a:cubicBezTo>
                  <a:cubicBezTo>
                    <a:pt x="3363733" y="342176"/>
                    <a:pt x="3370083" y="351066"/>
                    <a:pt x="3373893" y="362496"/>
                  </a:cubicBezTo>
                  <a:cubicBezTo>
                    <a:pt x="3378973" y="376466"/>
                    <a:pt x="3380243" y="399326"/>
                    <a:pt x="3373893" y="413296"/>
                  </a:cubicBezTo>
                  <a:cubicBezTo>
                    <a:pt x="3368813" y="428536"/>
                    <a:pt x="3359923" y="441236"/>
                    <a:pt x="3340873" y="451396"/>
                  </a:cubicBezTo>
                  <a:cubicBezTo>
                    <a:pt x="3293883" y="474256"/>
                    <a:pt x="3122433" y="485686"/>
                    <a:pt x="3065283" y="472986"/>
                  </a:cubicBezTo>
                  <a:cubicBezTo>
                    <a:pt x="3034803" y="467906"/>
                    <a:pt x="3014483" y="457746"/>
                    <a:pt x="3001783" y="441236"/>
                  </a:cubicBezTo>
                  <a:cubicBezTo>
                    <a:pt x="2990353" y="424726"/>
                    <a:pt x="2986543" y="390436"/>
                    <a:pt x="2992893" y="371386"/>
                  </a:cubicBezTo>
                  <a:cubicBezTo>
                    <a:pt x="3000513" y="352336"/>
                    <a:pt x="3017023" y="335826"/>
                    <a:pt x="3046233" y="324396"/>
                  </a:cubicBezTo>
                  <a:cubicBezTo>
                    <a:pt x="3111003" y="298996"/>
                    <a:pt x="3347223" y="309156"/>
                    <a:pt x="3413263" y="320586"/>
                  </a:cubicBezTo>
                  <a:cubicBezTo>
                    <a:pt x="3438663" y="325666"/>
                    <a:pt x="3452633" y="328206"/>
                    <a:pt x="3465333" y="339636"/>
                  </a:cubicBezTo>
                  <a:cubicBezTo>
                    <a:pt x="3478033" y="351066"/>
                    <a:pt x="3488193" y="371386"/>
                    <a:pt x="3490733" y="389166"/>
                  </a:cubicBezTo>
                  <a:cubicBezTo>
                    <a:pt x="3492003" y="405676"/>
                    <a:pt x="3486923" y="427266"/>
                    <a:pt x="3476763" y="441236"/>
                  </a:cubicBezTo>
                  <a:cubicBezTo>
                    <a:pt x="3467873" y="455206"/>
                    <a:pt x="3456443" y="465366"/>
                    <a:pt x="3432313" y="472986"/>
                  </a:cubicBezTo>
                  <a:cubicBezTo>
                    <a:pt x="3361193" y="495846"/>
                    <a:pt x="3056393" y="495846"/>
                    <a:pt x="2973843" y="475526"/>
                  </a:cubicBezTo>
                  <a:cubicBezTo>
                    <a:pt x="2940823" y="467906"/>
                    <a:pt x="2921773" y="459016"/>
                    <a:pt x="2909073" y="441236"/>
                  </a:cubicBezTo>
                  <a:cubicBezTo>
                    <a:pt x="2897643" y="423456"/>
                    <a:pt x="2893833" y="389166"/>
                    <a:pt x="2901453" y="368846"/>
                  </a:cubicBezTo>
                  <a:cubicBezTo>
                    <a:pt x="2909073" y="348526"/>
                    <a:pt x="2935743" y="325666"/>
                    <a:pt x="2957333" y="321856"/>
                  </a:cubicBezTo>
                  <a:cubicBezTo>
                    <a:pt x="2977653" y="316776"/>
                    <a:pt x="3011943" y="328206"/>
                    <a:pt x="3027183" y="340906"/>
                  </a:cubicBezTo>
                  <a:cubicBezTo>
                    <a:pt x="3041153" y="352336"/>
                    <a:pt x="3050043" y="368846"/>
                    <a:pt x="3051313" y="385356"/>
                  </a:cubicBezTo>
                  <a:cubicBezTo>
                    <a:pt x="3052583" y="405676"/>
                    <a:pt x="3041153" y="439966"/>
                    <a:pt x="3027183" y="453936"/>
                  </a:cubicBezTo>
                  <a:cubicBezTo>
                    <a:pt x="3017023" y="466636"/>
                    <a:pt x="2999243" y="475526"/>
                    <a:pt x="2982733" y="475526"/>
                  </a:cubicBezTo>
                  <a:cubicBezTo>
                    <a:pt x="2962413" y="475526"/>
                    <a:pt x="2929393" y="462826"/>
                    <a:pt x="2914153" y="448856"/>
                  </a:cubicBezTo>
                  <a:cubicBezTo>
                    <a:pt x="2902723" y="436156"/>
                    <a:pt x="2896373" y="418376"/>
                    <a:pt x="2896373" y="401866"/>
                  </a:cubicBezTo>
                  <a:cubicBezTo>
                    <a:pt x="2895103" y="386626"/>
                    <a:pt x="2900183" y="367576"/>
                    <a:pt x="2909073" y="353606"/>
                  </a:cubicBezTo>
                  <a:cubicBezTo>
                    <a:pt x="2917963" y="340906"/>
                    <a:pt x="2926853" y="332016"/>
                    <a:pt x="2949713" y="324396"/>
                  </a:cubicBezTo>
                  <a:cubicBezTo>
                    <a:pt x="3018293" y="300266"/>
                    <a:pt x="3337063" y="306616"/>
                    <a:pt x="3413263" y="320586"/>
                  </a:cubicBezTo>
                  <a:cubicBezTo>
                    <a:pt x="3439933" y="325666"/>
                    <a:pt x="3452633" y="328206"/>
                    <a:pt x="3465333" y="339636"/>
                  </a:cubicBezTo>
                  <a:cubicBezTo>
                    <a:pt x="3478033" y="351066"/>
                    <a:pt x="3488193" y="371386"/>
                    <a:pt x="3490733" y="389166"/>
                  </a:cubicBezTo>
                  <a:cubicBezTo>
                    <a:pt x="3492003" y="405676"/>
                    <a:pt x="3488193" y="427266"/>
                    <a:pt x="3476763" y="441236"/>
                  </a:cubicBezTo>
                  <a:cubicBezTo>
                    <a:pt x="3464063" y="457746"/>
                    <a:pt x="3445013" y="467906"/>
                    <a:pt x="3413263" y="475526"/>
                  </a:cubicBezTo>
                  <a:cubicBezTo>
                    <a:pt x="3344683" y="492036"/>
                    <a:pt x="3132593" y="490766"/>
                    <a:pt x="3065283" y="472986"/>
                  </a:cubicBezTo>
                  <a:cubicBezTo>
                    <a:pt x="3033533" y="466636"/>
                    <a:pt x="3014483" y="457746"/>
                    <a:pt x="3001783" y="441236"/>
                  </a:cubicBezTo>
                  <a:cubicBezTo>
                    <a:pt x="2990353" y="424726"/>
                    <a:pt x="2987813" y="390436"/>
                    <a:pt x="2992893" y="371386"/>
                  </a:cubicBezTo>
                  <a:cubicBezTo>
                    <a:pt x="2997973" y="354876"/>
                    <a:pt x="3008133" y="340906"/>
                    <a:pt x="3028453" y="330746"/>
                  </a:cubicBezTo>
                  <a:cubicBezTo>
                    <a:pt x="3075443" y="307886"/>
                    <a:pt x="3253243" y="307886"/>
                    <a:pt x="3306583" y="316776"/>
                  </a:cubicBezTo>
                  <a:cubicBezTo>
                    <a:pt x="3329443" y="320586"/>
                    <a:pt x="3342143" y="324396"/>
                    <a:pt x="3354843" y="334556"/>
                  </a:cubicBezTo>
                  <a:cubicBezTo>
                    <a:pt x="3366273" y="344716"/>
                    <a:pt x="3377703" y="362496"/>
                    <a:pt x="3377703" y="379006"/>
                  </a:cubicBezTo>
                  <a:cubicBezTo>
                    <a:pt x="3378973" y="398056"/>
                    <a:pt x="3367543" y="428536"/>
                    <a:pt x="3354843" y="441236"/>
                  </a:cubicBezTo>
                  <a:cubicBezTo>
                    <a:pt x="3343413" y="453936"/>
                    <a:pt x="3320553" y="461556"/>
                    <a:pt x="3306583" y="460286"/>
                  </a:cubicBezTo>
                  <a:cubicBezTo>
                    <a:pt x="3296423" y="459016"/>
                    <a:pt x="3296423" y="447586"/>
                    <a:pt x="3281183" y="442506"/>
                  </a:cubicBezTo>
                  <a:cubicBezTo>
                    <a:pt x="3224033" y="425996"/>
                    <a:pt x="2958603" y="447586"/>
                    <a:pt x="2839223" y="443776"/>
                  </a:cubicBezTo>
                  <a:cubicBezTo>
                    <a:pt x="2757943" y="439966"/>
                    <a:pt x="2677933" y="445046"/>
                    <a:pt x="2632213" y="428536"/>
                  </a:cubicBezTo>
                  <a:cubicBezTo>
                    <a:pt x="2608083" y="419646"/>
                    <a:pt x="2589033" y="404406"/>
                    <a:pt x="2580143" y="390436"/>
                  </a:cubicBezTo>
                  <a:cubicBezTo>
                    <a:pt x="2573793" y="380276"/>
                    <a:pt x="2571253" y="370116"/>
                    <a:pt x="2572523" y="357416"/>
                  </a:cubicBezTo>
                  <a:cubicBezTo>
                    <a:pt x="2573793" y="343446"/>
                    <a:pt x="2578873" y="325666"/>
                    <a:pt x="2591573" y="311696"/>
                  </a:cubicBezTo>
                  <a:cubicBezTo>
                    <a:pt x="2611893" y="288836"/>
                    <a:pt x="2652533" y="271056"/>
                    <a:pt x="2704603" y="254546"/>
                  </a:cubicBezTo>
                  <a:cubicBezTo>
                    <a:pt x="2799853" y="224066"/>
                    <a:pt x="3022103" y="199936"/>
                    <a:pt x="3135133" y="193586"/>
                  </a:cubicBezTo>
                  <a:cubicBezTo>
                    <a:pt x="3207523" y="188506"/>
                    <a:pt x="3276103" y="188506"/>
                    <a:pt x="3314203" y="196126"/>
                  </a:cubicBezTo>
                  <a:cubicBezTo>
                    <a:pt x="3334523" y="198666"/>
                    <a:pt x="3347223" y="201206"/>
                    <a:pt x="3357383" y="211366"/>
                  </a:cubicBezTo>
                  <a:cubicBezTo>
                    <a:pt x="3368813" y="224066"/>
                    <a:pt x="3378973" y="250736"/>
                    <a:pt x="3377703" y="267246"/>
                  </a:cubicBezTo>
                  <a:cubicBezTo>
                    <a:pt x="3377703" y="281216"/>
                    <a:pt x="3367543" y="297726"/>
                    <a:pt x="3357383" y="306616"/>
                  </a:cubicBezTo>
                  <a:cubicBezTo>
                    <a:pt x="3345953" y="316776"/>
                    <a:pt x="3339603" y="318046"/>
                    <a:pt x="3314203" y="323126"/>
                  </a:cubicBezTo>
                  <a:cubicBezTo>
                    <a:pt x="3187203" y="345986"/>
                    <a:pt x="2191523" y="363766"/>
                    <a:pt x="2082303" y="314236"/>
                  </a:cubicBezTo>
                  <a:cubicBezTo>
                    <a:pt x="2061983" y="305346"/>
                    <a:pt x="2059443" y="292646"/>
                    <a:pt x="2054363" y="281216"/>
                  </a:cubicBezTo>
                  <a:cubicBezTo>
                    <a:pt x="2049283" y="272326"/>
                    <a:pt x="2048013" y="262166"/>
                    <a:pt x="2050553" y="252006"/>
                  </a:cubicBezTo>
                  <a:cubicBezTo>
                    <a:pt x="2051823" y="239306"/>
                    <a:pt x="2060713" y="221526"/>
                    <a:pt x="2070873" y="212636"/>
                  </a:cubicBezTo>
                  <a:cubicBezTo>
                    <a:pt x="2081033" y="203746"/>
                    <a:pt x="2086113" y="202476"/>
                    <a:pt x="2111513" y="197396"/>
                  </a:cubicBezTo>
                  <a:cubicBezTo>
                    <a:pt x="2322333" y="158026"/>
                    <a:pt x="4946153" y="158026"/>
                    <a:pt x="5156973" y="197396"/>
                  </a:cubicBezTo>
                  <a:cubicBezTo>
                    <a:pt x="5182373" y="201206"/>
                    <a:pt x="5187453" y="202476"/>
                    <a:pt x="5197613" y="212636"/>
                  </a:cubicBezTo>
                  <a:cubicBezTo>
                    <a:pt x="5209043" y="224066"/>
                    <a:pt x="5219203" y="250736"/>
                    <a:pt x="5217933" y="267246"/>
                  </a:cubicBezTo>
                  <a:cubicBezTo>
                    <a:pt x="5217933" y="281216"/>
                    <a:pt x="5207773" y="296456"/>
                    <a:pt x="5197613" y="305346"/>
                  </a:cubicBezTo>
                  <a:cubicBezTo>
                    <a:pt x="5187453" y="315506"/>
                    <a:pt x="5181103" y="316776"/>
                    <a:pt x="5156973" y="321856"/>
                  </a:cubicBezTo>
                  <a:cubicBezTo>
                    <a:pt x="5032513" y="343446"/>
                    <a:pt x="4215903" y="326936"/>
                    <a:pt x="3961903" y="319316"/>
                  </a:cubicBezTo>
                  <a:cubicBezTo>
                    <a:pt x="3842523" y="316776"/>
                    <a:pt x="3743463" y="329476"/>
                    <a:pt x="3699013" y="305346"/>
                  </a:cubicBezTo>
                  <a:cubicBezTo>
                    <a:pt x="3678693" y="293916"/>
                    <a:pt x="3668533" y="273596"/>
                    <a:pt x="3665993" y="257086"/>
                  </a:cubicBezTo>
                  <a:cubicBezTo>
                    <a:pt x="3663453" y="243116"/>
                    <a:pt x="3668533" y="225336"/>
                    <a:pt x="3676153" y="213906"/>
                  </a:cubicBezTo>
                  <a:cubicBezTo>
                    <a:pt x="3683773" y="202476"/>
                    <a:pt x="3697743" y="194856"/>
                    <a:pt x="3712983" y="188506"/>
                  </a:cubicBezTo>
                  <a:cubicBezTo>
                    <a:pt x="3734573" y="179616"/>
                    <a:pt x="3753623" y="179616"/>
                    <a:pt x="3796803" y="175806"/>
                  </a:cubicBezTo>
                  <a:cubicBezTo>
                    <a:pt x="3955553" y="163106"/>
                    <a:pt x="4542293" y="158026"/>
                    <a:pt x="4889003" y="154216"/>
                  </a:cubicBezTo>
                  <a:cubicBezTo>
                    <a:pt x="5203963" y="151676"/>
                    <a:pt x="5692913" y="122466"/>
                    <a:pt x="5791973" y="154216"/>
                  </a:cubicBezTo>
                  <a:cubicBezTo>
                    <a:pt x="5813563" y="160566"/>
                    <a:pt x="5819913" y="166916"/>
                    <a:pt x="5827533" y="178346"/>
                  </a:cubicBezTo>
                  <a:cubicBezTo>
                    <a:pt x="5835153" y="189776"/>
                    <a:pt x="5838963" y="207556"/>
                    <a:pt x="5837693" y="220256"/>
                  </a:cubicBezTo>
                  <a:cubicBezTo>
                    <a:pt x="5836423" y="234226"/>
                    <a:pt x="5827533" y="249466"/>
                    <a:pt x="5817373" y="258356"/>
                  </a:cubicBezTo>
                  <a:cubicBezTo>
                    <a:pt x="5807213" y="268516"/>
                    <a:pt x="5800863" y="269786"/>
                    <a:pt x="5776733" y="274866"/>
                  </a:cubicBezTo>
                  <a:cubicBezTo>
                    <a:pt x="5623063" y="302806"/>
                    <a:pt x="4166373" y="298996"/>
                    <a:pt x="4036833" y="273596"/>
                  </a:cubicBezTo>
                  <a:cubicBezTo>
                    <a:pt x="4019053" y="269786"/>
                    <a:pt x="4016513" y="268516"/>
                    <a:pt x="4008893" y="262166"/>
                  </a:cubicBezTo>
                  <a:cubicBezTo>
                    <a:pt x="3998733" y="254546"/>
                    <a:pt x="3987303" y="238036"/>
                    <a:pt x="3983493" y="225336"/>
                  </a:cubicBezTo>
                  <a:cubicBezTo>
                    <a:pt x="3980953" y="211366"/>
                    <a:pt x="3984763" y="192316"/>
                    <a:pt x="3991113" y="180886"/>
                  </a:cubicBezTo>
                  <a:cubicBezTo>
                    <a:pt x="3994923" y="170726"/>
                    <a:pt x="3998733" y="164376"/>
                    <a:pt x="4011433" y="158026"/>
                  </a:cubicBezTo>
                  <a:cubicBezTo>
                    <a:pt x="4044453" y="141516"/>
                    <a:pt x="4125733" y="137706"/>
                    <a:pt x="4229873" y="131356"/>
                  </a:cubicBezTo>
                  <a:cubicBezTo>
                    <a:pt x="4490223" y="114846"/>
                    <a:pt x="5483363" y="95796"/>
                    <a:pt x="5597663" y="123736"/>
                  </a:cubicBezTo>
                  <a:cubicBezTo>
                    <a:pt x="5615443" y="128816"/>
                    <a:pt x="5619253" y="131356"/>
                    <a:pt x="5626873" y="138976"/>
                  </a:cubicBezTo>
                  <a:cubicBezTo>
                    <a:pt x="5637033" y="149136"/>
                    <a:pt x="5647193" y="166916"/>
                    <a:pt x="5649733" y="182156"/>
                  </a:cubicBezTo>
                  <a:cubicBezTo>
                    <a:pt x="5651003" y="196126"/>
                    <a:pt x="5645923" y="216446"/>
                    <a:pt x="5638303" y="229146"/>
                  </a:cubicBezTo>
                  <a:cubicBezTo>
                    <a:pt x="5629413" y="240576"/>
                    <a:pt x="5621793" y="248196"/>
                    <a:pt x="5597663" y="255816"/>
                  </a:cubicBezTo>
                  <a:cubicBezTo>
                    <a:pt x="5508763" y="283756"/>
                    <a:pt x="5041403" y="255816"/>
                    <a:pt x="4894083" y="253276"/>
                  </a:cubicBezTo>
                  <a:cubicBezTo>
                    <a:pt x="4825503" y="253276"/>
                    <a:pt x="4778513" y="257086"/>
                    <a:pt x="4745493" y="250736"/>
                  </a:cubicBezTo>
                  <a:cubicBezTo>
                    <a:pt x="4726443" y="248196"/>
                    <a:pt x="4715013" y="244386"/>
                    <a:pt x="4704853" y="235496"/>
                  </a:cubicBezTo>
                  <a:cubicBezTo>
                    <a:pt x="4694693" y="226606"/>
                    <a:pt x="4687073" y="210096"/>
                    <a:pt x="4684533" y="197396"/>
                  </a:cubicBezTo>
                  <a:cubicBezTo>
                    <a:pt x="4683263" y="187236"/>
                    <a:pt x="4684533" y="177076"/>
                    <a:pt x="4688343" y="168186"/>
                  </a:cubicBezTo>
                  <a:cubicBezTo>
                    <a:pt x="4690883" y="159296"/>
                    <a:pt x="4697233" y="150406"/>
                    <a:pt x="4704853" y="144056"/>
                  </a:cubicBezTo>
                  <a:cubicBezTo>
                    <a:pt x="4715013" y="136436"/>
                    <a:pt x="4721363" y="132626"/>
                    <a:pt x="4745493" y="128816"/>
                  </a:cubicBezTo>
                  <a:cubicBezTo>
                    <a:pt x="4890273" y="103416"/>
                    <a:pt x="5837693" y="151676"/>
                    <a:pt x="6312673" y="154216"/>
                  </a:cubicBezTo>
                  <a:cubicBezTo>
                    <a:pt x="6710183" y="156756"/>
                    <a:pt x="7279143" y="118656"/>
                    <a:pt x="7408683" y="150406"/>
                  </a:cubicBezTo>
                  <a:cubicBezTo>
                    <a:pt x="7437893" y="158026"/>
                    <a:pt x="7449323" y="164376"/>
                    <a:pt x="7459483" y="177076"/>
                  </a:cubicBezTo>
                  <a:cubicBezTo>
                    <a:pt x="7468373" y="188506"/>
                    <a:pt x="7472183" y="206286"/>
                    <a:pt x="7469643" y="220256"/>
                  </a:cubicBezTo>
                  <a:cubicBezTo>
                    <a:pt x="7468373" y="234226"/>
                    <a:pt x="7459483" y="250736"/>
                    <a:pt x="7449323" y="259626"/>
                  </a:cubicBezTo>
                  <a:cubicBezTo>
                    <a:pt x="7439163" y="268516"/>
                    <a:pt x="7431543" y="271056"/>
                    <a:pt x="7408683" y="274866"/>
                  </a:cubicBezTo>
                  <a:cubicBezTo>
                    <a:pt x="7295653" y="295186"/>
                    <a:pt x="6505713" y="304076"/>
                    <a:pt x="6400303" y="271056"/>
                  </a:cubicBezTo>
                  <a:cubicBezTo>
                    <a:pt x="6378713" y="264706"/>
                    <a:pt x="6372363" y="257086"/>
                    <a:pt x="6364743" y="246926"/>
                  </a:cubicBezTo>
                  <a:cubicBezTo>
                    <a:pt x="6358393" y="239306"/>
                    <a:pt x="6354583" y="230416"/>
                    <a:pt x="6353313" y="220256"/>
                  </a:cubicBezTo>
                  <a:cubicBezTo>
                    <a:pt x="6352043" y="207556"/>
                    <a:pt x="6355853" y="189776"/>
                    <a:pt x="6363473" y="178346"/>
                  </a:cubicBezTo>
                  <a:cubicBezTo>
                    <a:pt x="6371093" y="166916"/>
                    <a:pt x="6376173" y="160566"/>
                    <a:pt x="6397763" y="154216"/>
                  </a:cubicBezTo>
                  <a:cubicBezTo>
                    <a:pt x="6536193" y="108496"/>
                    <a:pt x="7658873" y="135166"/>
                    <a:pt x="8030983" y="119926"/>
                  </a:cubicBezTo>
                  <a:cubicBezTo>
                    <a:pt x="8224023" y="112306"/>
                    <a:pt x="8337053" y="105956"/>
                    <a:pt x="8469133" y="93256"/>
                  </a:cubicBezTo>
                  <a:cubicBezTo>
                    <a:pt x="8579623" y="81826"/>
                    <a:pt x="8690113" y="55156"/>
                    <a:pt x="8771393" y="51346"/>
                  </a:cubicBezTo>
                  <a:cubicBezTo>
                    <a:pt x="8824733" y="47536"/>
                    <a:pt x="8874263" y="48806"/>
                    <a:pt x="8907283" y="55156"/>
                  </a:cubicBezTo>
                  <a:cubicBezTo>
                    <a:pt x="8926333" y="57696"/>
                    <a:pt x="8940303" y="60236"/>
                    <a:pt x="8951733" y="70396"/>
                  </a:cubicBezTo>
                  <a:cubicBezTo>
                    <a:pt x="8961893" y="79286"/>
                    <a:pt x="8972053" y="97066"/>
                    <a:pt x="8974593" y="111036"/>
                  </a:cubicBezTo>
                  <a:cubicBezTo>
                    <a:pt x="8975863" y="126276"/>
                    <a:pt x="8972053" y="145326"/>
                    <a:pt x="8964433" y="156756"/>
                  </a:cubicBezTo>
                  <a:cubicBezTo>
                    <a:pt x="8955543" y="169456"/>
                    <a:pt x="8946653" y="177076"/>
                    <a:pt x="8926333" y="184696"/>
                  </a:cubicBezTo>
                  <a:cubicBezTo>
                    <a:pt x="8865373" y="206286"/>
                    <a:pt x="8687573" y="202476"/>
                    <a:pt x="8533903" y="206286"/>
                  </a:cubicBezTo>
                  <a:cubicBezTo>
                    <a:pt x="8315463" y="212636"/>
                    <a:pt x="7823973" y="238036"/>
                    <a:pt x="7743963" y="208826"/>
                  </a:cubicBezTo>
                  <a:cubicBezTo>
                    <a:pt x="7727453" y="202476"/>
                    <a:pt x="7723643" y="196126"/>
                    <a:pt x="7717293" y="185966"/>
                  </a:cubicBezTo>
                  <a:cubicBezTo>
                    <a:pt x="7709673" y="173266"/>
                    <a:pt x="7703323" y="150406"/>
                    <a:pt x="7704593" y="135166"/>
                  </a:cubicBezTo>
                  <a:cubicBezTo>
                    <a:pt x="7704593" y="123736"/>
                    <a:pt x="7708403" y="112306"/>
                    <a:pt x="7716023" y="103416"/>
                  </a:cubicBezTo>
                  <a:cubicBezTo>
                    <a:pt x="7724913" y="90716"/>
                    <a:pt x="7736343" y="80556"/>
                    <a:pt x="7757933" y="72936"/>
                  </a:cubicBezTo>
                  <a:cubicBezTo>
                    <a:pt x="7808733" y="56426"/>
                    <a:pt x="7939543" y="72936"/>
                    <a:pt x="8027173" y="66586"/>
                  </a:cubicBezTo>
                  <a:cubicBezTo>
                    <a:pt x="8112263" y="60236"/>
                    <a:pt x="8230373" y="29756"/>
                    <a:pt x="8277363" y="34836"/>
                  </a:cubicBezTo>
                  <a:cubicBezTo>
                    <a:pt x="8297683" y="37376"/>
                    <a:pt x="8309113" y="41186"/>
                    <a:pt x="8319273" y="51346"/>
                  </a:cubicBezTo>
                  <a:cubicBezTo>
                    <a:pt x="8329433" y="60236"/>
                    <a:pt x="8338323" y="75476"/>
                    <a:pt x="8339593" y="89446"/>
                  </a:cubicBezTo>
                  <a:cubicBezTo>
                    <a:pt x="8340863" y="105956"/>
                    <a:pt x="8330703" y="132626"/>
                    <a:pt x="8319273" y="144056"/>
                  </a:cubicBezTo>
                  <a:cubicBezTo>
                    <a:pt x="8309113" y="154216"/>
                    <a:pt x="8302763" y="155486"/>
                    <a:pt x="8277363" y="159296"/>
                  </a:cubicBezTo>
                  <a:cubicBezTo>
                    <a:pt x="8079243" y="196126"/>
                    <a:pt x="5945643" y="160566"/>
                    <a:pt x="5568453" y="156756"/>
                  </a:cubicBezTo>
                  <a:cubicBezTo>
                    <a:pt x="5468123" y="155486"/>
                    <a:pt x="5413513" y="159296"/>
                    <a:pt x="5379223" y="151676"/>
                  </a:cubicBezTo>
                  <a:cubicBezTo>
                    <a:pt x="5366523" y="149136"/>
                    <a:pt x="5360173" y="146596"/>
                    <a:pt x="5352553" y="140246"/>
                  </a:cubicBezTo>
                  <a:cubicBezTo>
                    <a:pt x="5346203" y="135166"/>
                    <a:pt x="5338583" y="127546"/>
                    <a:pt x="5334773" y="118656"/>
                  </a:cubicBezTo>
                  <a:cubicBezTo>
                    <a:pt x="5330963" y="107226"/>
                    <a:pt x="5327153" y="89446"/>
                    <a:pt x="5332233" y="75476"/>
                  </a:cubicBezTo>
                  <a:cubicBezTo>
                    <a:pt x="5338583" y="61506"/>
                    <a:pt x="5348743" y="46266"/>
                    <a:pt x="5371603" y="36106"/>
                  </a:cubicBezTo>
                  <a:cubicBezTo>
                    <a:pt x="5426213" y="11976"/>
                    <a:pt x="5545593" y="20866"/>
                    <a:pt x="5701803" y="17056"/>
                  </a:cubicBezTo>
                  <a:cubicBezTo>
                    <a:pt x="6077723" y="5626"/>
                    <a:pt x="7333753" y="-1994"/>
                    <a:pt x="7637283" y="20866"/>
                  </a:cubicBezTo>
                  <a:cubicBezTo>
                    <a:pt x="7732533" y="28486"/>
                    <a:pt x="7790953" y="25946"/>
                    <a:pt x="7822703" y="50076"/>
                  </a:cubicBezTo>
                  <a:cubicBezTo>
                    <a:pt x="7840483" y="62776"/>
                    <a:pt x="7846833" y="86906"/>
                    <a:pt x="7846833" y="103416"/>
                  </a:cubicBezTo>
                  <a:cubicBezTo>
                    <a:pt x="7846833" y="117386"/>
                    <a:pt x="7836673" y="133896"/>
                    <a:pt x="7829053" y="144056"/>
                  </a:cubicBezTo>
                  <a:cubicBezTo>
                    <a:pt x="7821433" y="151676"/>
                    <a:pt x="7818893" y="155486"/>
                    <a:pt x="7802383" y="159296"/>
                  </a:cubicBezTo>
                  <a:cubicBezTo>
                    <a:pt x="7722373" y="184696"/>
                    <a:pt x="7211833" y="179616"/>
                    <a:pt x="6999743" y="194856"/>
                  </a:cubicBezTo>
                  <a:cubicBezTo>
                    <a:pt x="6858773" y="205016"/>
                    <a:pt x="6673353" y="263436"/>
                    <a:pt x="6650493" y="230416"/>
                  </a:cubicBezTo>
                  <a:cubicBezTo>
                    <a:pt x="6637793" y="211366"/>
                    <a:pt x="6660653" y="156756"/>
                    <a:pt x="6702563" y="131356"/>
                  </a:cubicBezTo>
                  <a:cubicBezTo>
                    <a:pt x="6842263" y="47536"/>
                    <a:pt x="7604263" y="131356"/>
                    <a:pt x="7928113" y="142786"/>
                  </a:cubicBezTo>
                  <a:cubicBezTo>
                    <a:pt x="8142743" y="149136"/>
                    <a:pt x="8395473" y="156756"/>
                    <a:pt x="8460243" y="174536"/>
                  </a:cubicBezTo>
                  <a:cubicBezTo>
                    <a:pt x="8475483" y="178346"/>
                    <a:pt x="8479293" y="180886"/>
                    <a:pt x="8486913" y="188506"/>
                  </a:cubicBezTo>
                  <a:cubicBezTo>
                    <a:pt x="8497073" y="197396"/>
                    <a:pt x="8507233" y="213906"/>
                    <a:pt x="8508503" y="227876"/>
                  </a:cubicBezTo>
                  <a:cubicBezTo>
                    <a:pt x="8509773" y="241846"/>
                    <a:pt x="8505963" y="260896"/>
                    <a:pt x="8497073" y="272326"/>
                  </a:cubicBezTo>
                  <a:cubicBezTo>
                    <a:pt x="8489453" y="283756"/>
                    <a:pt x="8483103" y="291376"/>
                    <a:pt x="8460243" y="297726"/>
                  </a:cubicBezTo>
                  <a:cubicBezTo>
                    <a:pt x="8353563" y="332016"/>
                    <a:pt x="7676653" y="297726"/>
                    <a:pt x="7451863" y="302806"/>
                  </a:cubicBezTo>
                  <a:cubicBezTo>
                    <a:pt x="7338833" y="305346"/>
                    <a:pt x="7298193" y="306616"/>
                    <a:pt x="7197863" y="312966"/>
                  </a:cubicBezTo>
                  <a:cubicBezTo>
                    <a:pt x="7046733" y="323126"/>
                    <a:pt x="6712723" y="385356"/>
                    <a:pt x="6637793" y="366306"/>
                  </a:cubicBezTo>
                  <a:cubicBezTo>
                    <a:pt x="6617473" y="361226"/>
                    <a:pt x="6609853" y="352336"/>
                    <a:pt x="6602233" y="340906"/>
                  </a:cubicBezTo>
                  <a:cubicBezTo>
                    <a:pt x="6593343" y="329476"/>
                    <a:pt x="6589533" y="311696"/>
                    <a:pt x="6590803" y="297726"/>
                  </a:cubicBezTo>
                  <a:cubicBezTo>
                    <a:pt x="6593343" y="283756"/>
                    <a:pt x="6600963" y="268516"/>
                    <a:pt x="6611123" y="258356"/>
                  </a:cubicBezTo>
                  <a:cubicBezTo>
                    <a:pt x="6622553" y="249466"/>
                    <a:pt x="6627633" y="248196"/>
                    <a:pt x="6653033" y="243116"/>
                  </a:cubicBezTo>
                  <a:cubicBezTo>
                    <a:pt x="6818133" y="212636"/>
                    <a:pt x="8174493" y="246926"/>
                    <a:pt x="8616453" y="234226"/>
                  </a:cubicBezTo>
                  <a:cubicBezTo>
                    <a:pt x="8841243" y="227876"/>
                    <a:pt x="8998723" y="222796"/>
                    <a:pt x="9124453" y="208826"/>
                  </a:cubicBezTo>
                  <a:cubicBezTo>
                    <a:pt x="9199383" y="199936"/>
                    <a:pt x="9264153" y="173266"/>
                    <a:pt x="9300983" y="177076"/>
                  </a:cubicBezTo>
                  <a:cubicBezTo>
                    <a:pt x="9320033" y="178346"/>
                    <a:pt x="9331463" y="182156"/>
                    <a:pt x="9340353" y="191046"/>
                  </a:cubicBezTo>
                  <a:cubicBezTo>
                    <a:pt x="9350513" y="199936"/>
                    <a:pt x="9359403" y="215176"/>
                    <a:pt x="9360673" y="229146"/>
                  </a:cubicBezTo>
                  <a:cubicBezTo>
                    <a:pt x="9361943" y="244386"/>
                    <a:pt x="9351783" y="269786"/>
                    <a:pt x="9340353" y="281216"/>
                  </a:cubicBezTo>
                  <a:cubicBezTo>
                    <a:pt x="9331463" y="290106"/>
                    <a:pt x="9326383" y="291376"/>
                    <a:pt x="9300983" y="296456"/>
                  </a:cubicBezTo>
                  <a:cubicBezTo>
                    <a:pt x="9052063" y="342176"/>
                    <a:pt x="5257303" y="409486"/>
                    <a:pt x="5043943" y="312966"/>
                  </a:cubicBezTo>
                  <a:cubicBezTo>
                    <a:pt x="5022353" y="302806"/>
                    <a:pt x="5021083" y="292646"/>
                    <a:pt x="5016003" y="281216"/>
                  </a:cubicBezTo>
                  <a:cubicBezTo>
                    <a:pt x="5010923" y="268516"/>
                    <a:pt x="5010923" y="250736"/>
                    <a:pt x="5016003" y="238036"/>
                  </a:cubicBezTo>
                  <a:cubicBezTo>
                    <a:pt x="5021083" y="225336"/>
                    <a:pt x="5033783" y="212636"/>
                    <a:pt x="5043943" y="206286"/>
                  </a:cubicBezTo>
                  <a:cubicBezTo>
                    <a:pt x="5052833" y="201206"/>
                    <a:pt x="5055373" y="201206"/>
                    <a:pt x="5071883" y="199936"/>
                  </a:cubicBezTo>
                  <a:cubicBezTo>
                    <a:pt x="5196343" y="185966"/>
                    <a:pt x="6156463" y="206286"/>
                    <a:pt x="6656843" y="216446"/>
                  </a:cubicBezTo>
                  <a:cubicBezTo>
                    <a:pt x="7108963" y="225336"/>
                    <a:pt x="7510283" y="235496"/>
                    <a:pt x="7947163" y="252006"/>
                  </a:cubicBezTo>
                  <a:cubicBezTo>
                    <a:pt x="8395473" y="268516"/>
                    <a:pt x="8993643" y="307886"/>
                    <a:pt x="9311143" y="314236"/>
                  </a:cubicBezTo>
                  <a:cubicBezTo>
                    <a:pt x="9482593" y="318046"/>
                    <a:pt x="9636263" y="296456"/>
                    <a:pt x="9704843" y="314236"/>
                  </a:cubicBezTo>
                  <a:cubicBezTo>
                    <a:pt x="9730243" y="320586"/>
                    <a:pt x="9744213" y="326936"/>
                    <a:pt x="9754373" y="339636"/>
                  </a:cubicBezTo>
                  <a:cubicBezTo>
                    <a:pt x="9763263" y="351066"/>
                    <a:pt x="9767073" y="368846"/>
                    <a:pt x="9764533" y="381546"/>
                  </a:cubicBezTo>
                  <a:cubicBezTo>
                    <a:pt x="9763263" y="395516"/>
                    <a:pt x="9755643" y="412026"/>
                    <a:pt x="9745483" y="420916"/>
                  </a:cubicBezTo>
                  <a:cubicBezTo>
                    <a:pt x="9735323" y="429806"/>
                    <a:pt x="9728973" y="431076"/>
                    <a:pt x="9704843" y="436156"/>
                  </a:cubicBezTo>
                  <a:cubicBezTo>
                    <a:pt x="9547363" y="465366"/>
                    <a:pt x="8297683" y="434886"/>
                    <a:pt x="7868423" y="447586"/>
                  </a:cubicBezTo>
                  <a:cubicBezTo>
                    <a:pt x="7634743" y="453936"/>
                    <a:pt x="7463293" y="460286"/>
                    <a:pt x="7327403" y="474256"/>
                  </a:cubicBezTo>
                  <a:cubicBezTo>
                    <a:pt x="7244853" y="483146"/>
                    <a:pt x="7163573" y="517436"/>
                    <a:pt x="7128013" y="506006"/>
                  </a:cubicBezTo>
                  <a:cubicBezTo>
                    <a:pt x="7111503" y="499656"/>
                    <a:pt x="7102613" y="486956"/>
                    <a:pt x="7097533" y="474256"/>
                  </a:cubicBezTo>
                  <a:cubicBezTo>
                    <a:pt x="7091183" y="462826"/>
                    <a:pt x="7089913" y="445046"/>
                    <a:pt x="7094993" y="431076"/>
                  </a:cubicBezTo>
                  <a:cubicBezTo>
                    <a:pt x="7098803" y="418376"/>
                    <a:pt x="7111503" y="404406"/>
                    <a:pt x="7121663" y="396786"/>
                  </a:cubicBezTo>
                  <a:cubicBezTo>
                    <a:pt x="7129283" y="391706"/>
                    <a:pt x="7136903" y="389166"/>
                    <a:pt x="7149603" y="389166"/>
                  </a:cubicBezTo>
                  <a:cubicBezTo>
                    <a:pt x="7177543" y="387896"/>
                    <a:pt x="7215643" y="408216"/>
                    <a:pt x="7282953" y="418376"/>
                  </a:cubicBezTo>
                  <a:cubicBezTo>
                    <a:pt x="7483613" y="447586"/>
                    <a:pt x="8124963" y="493306"/>
                    <a:pt x="8490723" y="514896"/>
                  </a:cubicBezTo>
                  <a:cubicBezTo>
                    <a:pt x="8795523" y="533946"/>
                    <a:pt x="9030473" y="541566"/>
                    <a:pt x="9328923" y="546646"/>
                  </a:cubicBezTo>
                  <a:cubicBezTo>
                    <a:pt x="9671823" y="551726"/>
                    <a:pt x="10318253" y="508546"/>
                    <a:pt x="10431283" y="540296"/>
                  </a:cubicBezTo>
                  <a:cubicBezTo>
                    <a:pt x="10454143" y="546646"/>
                    <a:pt x="10459223" y="552996"/>
                    <a:pt x="10468113" y="563156"/>
                  </a:cubicBezTo>
                  <a:cubicBezTo>
                    <a:pt x="10475733" y="574586"/>
                    <a:pt x="10480813" y="592366"/>
                    <a:pt x="10479543" y="605066"/>
                  </a:cubicBezTo>
                  <a:cubicBezTo>
                    <a:pt x="10479543" y="619036"/>
                    <a:pt x="10470653" y="635546"/>
                    <a:pt x="10461763" y="644436"/>
                  </a:cubicBezTo>
                  <a:cubicBezTo>
                    <a:pt x="10451603" y="654596"/>
                    <a:pt x="10438903" y="660946"/>
                    <a:pt x="10421123" y="662216"/>
                  </a:cubicBezTo>
                  <a:cubicBezTo>
                    <a:pt x="10393183" y="663486"/>
                    <a:pt x="10367783" y="641896"/>
                    <a:pt x="10309363" y="633006"/>
                  </a:cubicBezTo>
                  <a:cubicBezTo>
                    <a:pt x="10104893" y="601256"/>
                    <a:pt x="9320033" y="569506"/>
                    <a:pt x="8913633" y="550456"/>
                  </a:cubicBezTo>
                  <a:cubicBezTo>
                    <a:pt x="8599943" y="535216"/>
                    <a:pt x="8404363" y="528866"/>
                    <a:pt x="8077973" y="522516"/>
                  </a:cubicBezTo>
                  <a:cubicBezTo>
                    <a:pt x="7611883" y="512356"/>
                    <a:pt x="6531113" y="550456"/>
                    <a:pt x="6387603" y="504736"/>
                  </a:cubicBezTo>
                  <a:cubicBezTo>
                    <a:pt x="6363473" y="497116"/>
                    <a:pt x="6358393" y="490766"/>
                    <a:pt x="6350773" y="479336"/>
                  </a:cubicBezTo>
                  <a:cubicBezTo>
                    <a:pt x="6343153" y="467906"/>
                    <a:pt x="6338073" y="450126"/>
                    <a:pt x="6339343" y="436156"/>
                  </a:cubicBezTo>
                  <a:cubicBezTo>
                    <a:pt x="6341883" y="422186"/>
                    <a:pt x="6349503" y="406946"/>
                    <a:pt x="6360933" y="396786"/>
                  </a:cubicBezTo>
                  <a:cubicBezTo>
                    <a:pt x="6371093" y="387896"/>
                    <a:pt x="6377443" y="385356"/>
                    <a:pt x="6401573" y="381546"/>
                  </a:cubicBezTo>
                  <a:cubicBezTo>
                    <a:pt x="6522223" y="358686"/>
                    <a:pt x="7199133" y="390436"/>
                    <a:pt x="7531873" y="377736"/>
                  </a:cubicBezTo>
                  <a:cubicBezTo>
                    <a:pt x="7796033" y="367576"/>
                    <a:pt x="8141473" y="302806"/>
                    <a:pt x="8241803" y="324396"/>
                  </a:cubicBezTo>
                  <a:cubicBezTo>
                    <a:pt x="8269743" y="330746"/>
                    <a:pt x="8282443" y="339636"/>
                    <a:pt x="8292603" y="352336"/>
                  </a:cubicBezTo>
                  <a:cubicBezTo>
                    <a:pt x="8301493" y="363766"/>
                    <a:pt x="8305303" y="382816"/>
                    <a:pt x="8302763" y="396786"/>
                  </a:cubicBezTo>
                  <a:cubicBezTo>
                    <a:pt x="8301493" y="409486"/>
                    <a:pt x="8292603" y="425996"/>
                    <a:pt x="8281173" y="436156"/>
                  </a:cubicBezTo>
                  <a:cubicBezTo>
                    <a:pt x="8271013" y="445046"/>
                    <a:pt x="8257043" y="448856"/>
                    <a:pt x="8239263" y="451396"/>
                  </a:cubicBezTo>
                  <a:cubicBezTo>
                    <a:pt x="8212593" y="453936"/>
                    <a:pt x="8180843" y="437426"/>
                    <a:pt x="8131313" y="432346"/>
                  </a:cubicBezTo>
                  <a:cubicBezTo>
                    <a:pt x="8023363" y="420916"/>
                    <a:pt x="7832863" y="414566"/>
                    <a:pt x="7614423" y="409486"/>
                  </a:cubicBezTo>
                  <a:cubicBezTo>
                    <a:pt x="7238503" y="401866"/>
                    <a:pt x="6461262" y="408216"/>
                    <a:pt x="6082803" y="417106"/>
                  </a:cubicBezTo>
                  <a:cubicBezTo>
                    <a:pt x="5859283" y="423456"/>
                    <a:pt x="5617983" y="467906"/>
                    <a:pt x="5551943" y="439966"/>
                  </a:cubicBezTo>
                  <a:cubicBezTo>
                    <a:pt x="5532893" y="432346"/>
                    <a:pt x="5527813" y="419646"/>
                    <a:pt x="5522733" y="406946"/>
                  </a:cubicBezTo>
                  <a:cubicBezTo>
                    <a:pt x="5517653" y="394246"/>
                    <a:pt x="5517653" y="375196"/>
                    <a:pt x="5522733" y="362496"/>
                  </a:cubicBezTo>
                  <a:cubicBezTo>
                    <a:pt x="5527813" y="348526"/>
                    <a:pt x="5541783" y="335826"/>
                    <a:pt x="5551943" y="328206"/>
                  </a:cubicBezTo>
                  <a:cubicBezTo>
                    <a:pt x="5562103" y="323126"/>
                    <a:pt x="5569723" y="321856"/>
                    <a:pt x="5582423" y="321856"/>
                  </a:cubicBezTo>
                  <a:cubicBezTo>
                    <a:pt x="5604013" y="321856"/>
                    <a:pt x="5625603" y="334556"/>
                    <a:pt x="5673863" y="339636"/>
                  </a:cubicBezTo>
                  <a:cubicBezTo>
                    <a:pt x="5837693" y="356146"/>
                    <a:pt x="6429513" y="345986"/>
                    <a:pt x="6778763" y="357416"/>
                  </a:cubicBezTo>
                  <a:cubicBezTo>
                    <a:pt x="7094993" y="370116"/>
                    <a:pt x="7383283" y="400596"/>
                    <a:pt x="7680463" y="408216"/>
                  </a:cubicBezTo>
                  <a:cubicBezTo>
                    <a:pt x="7971293" y="415836"/>
                    <a:pt x="8436113" y="373926"/>
                    <a:pt x="8544063" y="404406"/>
                  </a:cubicBezTo>
                  <a:cubicBezTo>
                    <a:pt x="8572003" y="412026"/>
                    <a:pt x="8583433" y="420916"/>
                    <a:pt x="8592323" y="433616"/>
                  </a:cubicBezTo>
                  <a:cubicBezTo>
                    <a:pt x="8601213" y="445046"/>
                    <a:pt x="8602483" y="462826"/>
                    <a:pt x="8599943" y="476796"/>
                  </a:cubicBezTo>
                  <a:cubicBezTo>
                    <a:pt x="8597403" y="489496"/>
                    <a:pt x="8588513" y="504736"/>
                    <a:pt x="8578353" y="513626"/>
                  </a:cubicBezTo>
                  <a:cubicBezTo>
                    <a:pt x="8566923" y="521246"/>
                    <a:pt x="8556763" y="523786"/>
                    <a:pt x="8536443" y="526326"/>
                  </a:cubicBezTo>
                  <a:cubicBezTo>
                    <a:pt x="8479293" y="531406"/>
                    <a:pt x="8354833" y="504736"/>
                    <a:pt x="8208783" y="494576"/>
                  </a:cubicBezTo>
                  <a:cubicBezTo>
                    <a:pt x="7917953" y="476796"/>
                    <a:pt x="7355343" y="461556"/>
                    <a:pt x="6893063" y="451396"/>
                  </a:cubicBezTo>
                  <a:cubicBezTo>
                    <a:pt x="6382523" y="439966"/>
                    <a:pt x="5799593" y="434886"/>
                    <a:pt x="5275083" y="432346"/>
                  </a:cubicBezTo>
                  <a:cubicBezTo>
                    <a:pt x="4781053" y="429806"/>
                    <a:pt x="3968253" y="460286"/>
                    <a:pt x="3831093" y="434886"/>
                  </a:cubicBezTo>
                  <a:cubicBezTo>
                    <a:pt x="3808233" y="431076"/>
                    <a:pt x="3801883" y="428536"/>
                    <a:pt x="3791723" y="419646"/>
                  </a:cubicBezTo>
                  <a:cubicBezTo>
                    <a:pt x="3781563" y="410756"/>
                    <a:pt x="3772673" y="395516"/>
                    <a:pt x="3771403" y="381546"/>
                  </a:cubicBezTo>
                  <a:cubicBezTo>
                    <a:pt x="3770133" y="366306"/>
                    <a:pt x="3780293" y="340906"/>
                    <a:pt x="3791723" y="329476"/>
                  </a:cubicBezTo>
                  <a:cubicBezTo>
                    <a:pt x="3800613" y="320586"/>
                    <a:pt x="3806963" y="319316"/>
                    <a:pt x="3831093" y="314236"/>
                  </a:cubicBezTo>
                  <a:cubicBezTo>
                    <a:pt x="3997463" y="283756"/>
                    <a:pt x="5681483" y="268516"/>
                    <a:pt x="5865633" y="312966"/>
                  </a:cubicBezTo>
                  <a:cubicBezTo>
                    <a:pt x="5896113" y="320586"/>
                    <a:pt x="5905003" y="326936"/>
                    <a:pt x="5915163" y="339636"/>
                  </a:cubicBezTo>
                  <a:cubicBezTo>
                    <a:pt x="5924053" y="351066"/>
                    <a:pt x="5927863" y="368846"/>
                    <a:pt x="5926593" y="381546"/>
                  </a:cubicBezTo>
                  <a:cubicBezTo>
                    <a:pt x="5924053" y="395516"/>
                    <a:pt x="5916433" y="412026"/>
                    <a:pt x="5906273" y="420916"/>
                  </a:cubicBezTo>
                  <a:cubicBezTo>
                    <a:pt x="5896113" y="429806"/>
                    <a:pt x="5889763" y="431076"/>
                    <a:pt x="5865633" y="436156"/>
                  </a:cubicBezTo>
                  <a:cubicBezTo>
                    <a:pt x="5667513" y="472986"/>
                    <a:pt x="3321823" y="486956"/>
                    <a:pt x="3122433" y="456476"/>
                  </a:cubicBezTo>
                  <a:cubicBezTo>
                    <a:pt x="3097033" y="452666"/>
                    <a:pt x="3091953" y="451396"/>
                    <a:pt x="3080523" y="443776"/>
                  </a:cubicBezTo>
                  <a:cubicBezTo>
                    <a:pt x="3070363" y="434886"/>
                    <a:pt x="3061473" y="419646"/>
                    <a:pt x="3058933" y="405676"/>
                  </a:cubicBezTo>
                  <a:cubicBezTo>
                    <a:pt x="3056393" y="392976"/>
                    <a:pt x="3058933" y="375196"/>
                    <a:pt x="3066553" y="363766"/>
                  </a:cubicBezTo>
                  <a:cubicBezTo>
                    <a:pt x="3076713" y="349796"/>
                    <a:pt x="3085603" y="343446"/>
                    <a:pt x="3116083" y="334556"/>
                  </a:cubicBezTo>
                  <a:cubicBezTo>
                    <a:pt x="3286263" y="283756"/>
                    <a:pt x="4800103" y="197396"/>
                    <a:pt x="4943613" y="245656"/>
                  </a:cubicBezTo>
                  <a:cubicBezTo>
                    <a:pt x="4966473" y="253276"/>
                    <a:pt x="4970283" y="262166"/>
                    <a:pt x="4976633" y="273596"/>
                  </a:cubicBezTo>
                  <a:cubicBezTo>
                    <a:pt x="4984253" y="285026"/>
                    <a:pt x="4986793" y="302806"/>
                    <a:pt x="4982983" y="316776"/>
                  </a:cubicBezTo>
                  <a:cubicBezTo>
                    <a:pt x="4980443" y="329476"/>
                    <a:pt x="4970283" y="344716"/>
                    <a:pt x="4960123" y="352336"/>
                  </a:cubicBezTo>
                  <a:cubicBezTo>
                    <a:pt x="4948693" y="361226"/>
                    <a:pt x="4937263" y="362496"/>
                    <a:pt x="4918213" y="363766"/>
                  </a:cubicBezTo>
                  <a:cubicBezTo>
                    <a:pt x="4871223" y="367576"/>
                    <a:pt x="4796293" y="342176"/>
                    <a:pt x="4680723" y="333286"/>
                  </a:cubicBezTo>
                  <a:cubicBezTo>
                    <a:pt x="4370843" y="306616"/>
                    <a:pt x="3505973" y="298996"/>
                    <a:pt x="2964953" y="272326"/>
                  </a:cubicBezTo>
                  <a:cubicBezTo>
                    <a:pt x="2476003" y="246926"/>
                    <a:pt x="1716543" y="224066"/>
                    <a:pt x="1573033" y="180886"/>
                  </a:cubicBezTo>
                  <a:cubicBezTo>
                    <a:pt x="1545093" y="173266"/>
                    <a:pt x="1534933" y="166916"/>
                    <a:pt x="1526043" y="154216"/>
                  </a:cubicBezTo>
                  <a:cubicBezTo>
                    <a:pt x="1518423" y="144056"/>
                    <a:pt x="1515883" y="127546"/>
                    <a:pt x="1517153" y="114846"/>
                  </a:cubicBezTo>
                  <a:cubicBezTo>
                    <a:pt x="1519693" y="102146"/>
                    <a:pt x="1528583" y="86906"/>
                    <a:pt x="1537473" y="78016"/>
                  </a:cubicBezTo>
                  <a:cubicBezTo>
                    <a:pt x="1547633" y="70396"/>
                    <a:pt x="1555253" y="67856"/>
                    <a:pt x="1576843" y="65316"/>
                  </a:cubicBezTo>
                  <a:cubicBezTo>
                    <a:pt x="1679713" y="48806"/>
                    <a:pt x="2125483" y="78016"/>
                    <a:pt x="2479813" y="94526"/>
                  </a:cubicBezTo>
                  <a:cubicBezTo>
                    <a:pt x="2989083" y="119926"/>
                    <a:pt x="3935232" y="191046"/>
                    <a:pt x="4340363" y="210096"/>
                  </a:cubicBezTo>
                  <a:cubicBezTo>
                    <a:pt x="4537213" y="218986"/>
                    <a:pt x="4610873" y="220256"/>
                    <a:pt x="4778513" y="222796"/>
                  </a:cubicBezTo>
                  <a:cubicBezTo>
                    <a:pt x="5004573" y="224066"/>
                    <a:pt x="5489713" y="201206"/>
                    <a:pt x="5572263" y="216446"/>
                  </a:cubicBezTo>
                  <a:cubicBezTo>
                    <a:pt x="5588773" y="220256"/>
                    <a:pt x="5592583" y="221526"/>
                    <a:pt x="5600203" y="227876"/>
                  </a:cubicBezTo>
                  <a:cubicBezTo>
                    <a:pt x="5610363" y="235496"/>
                    <a:pt x="5621793" y="250736"/>
                    <a:pt x="5624333" y="264706"/>
                  </a:cubicBezTo>
                  <a:cubicBezTo>
                    <a:pt x="5628143" y="277406"/>
                    <a:pt x="5625603" y="296456"/>
                    <a:pt x="5617983" y="307886"/>
                  </a:cubicBezTo>
                  <a:cubicBezTo>
                    <a:pt x="5611633" y="320586"/>
                    <a:pt x="5601473" y="332016"/>
                    <a:pt x="5584963" y="337096"/>
                  </a:cubicBezTo>
                  <a:cubicBezTo>
                    <a:pt x="5554483" y="345986"/>
                    <a:pt x="5516383" y="323126"/>
                    <a:pt x="5441453" y="318046"/>
                  </a:cubicBezTo>
                  <a:cubicBezTo>
                    <a:pt x="5165863" y="297726"/>
                    <a:pt x="3674882" y="352336"/>
                    <a:pt x="3514863" y="301536"/>
                  </a:cubicBezTo>
                  <a:cubicBezTo>
                    <a:pt x="3489463" y="293916"/>
                    <a:pt x="3484383" y="286296"/>
                    <a:pt x="3475493" y="274866"/>
                  </a:cubicBezTo>
                  <a:cubicBezTo>
                    <a:pt x="3467873" y="265976"/>
                    <a:pt x="3464063" y="255816"/>
                    <a:pt x="3464063" y="244386"/>
                  </a:cubicBezTo>
                  <a:cubicBezTo>
                    <a:pt x="3462793" y="230416"/>
                    <a:pt x="3466603" y="210096"/>
                    <a:pt x="3474223" y="197396"/>
                  </a:cubicBezTo>
                  <a:cubicBezTo>
                    <a:pt x="3483113" y="185966"/>
                    <a:pt x="3493273" y="177076"/>
                    <a:pt x="3513593" y="170726"/>
                  </a:cubicBezTo>
                  <a:cubicBezTo>
                    <a:pt x="3568203" y="152946"/>
                    <a:pt x="3735843" y="171996"/>
                    <a:pt x="3839983" y="166916"/>
                  </a:cubicBezTo>
                  <a:cubicBezTo>
                    <a:pt x="3933963" y="163106"/>
                    <a:pt x="4044453" y="142786"/>
                    <a:pt x="4110493" y="145326"/>
                  </a:cubicBezTo>
                  <a:cubicBezTo>
                    <a:pt x="4148593" y="146596"/>
                    <a:pt x="4194313" y="145326"/>
                    <a:pt x="4200663" y="160566"/>
                  </a:cubicBezTo>
                  <a:cubicBezTo>
                    <a:pt x="4207013" y="177076"/>
                    <a:pt x="4179073" y="226606"/>
                    <a:pt x="4130813" y="249466"/>
                  </a:cubicBezTo>
                  <a:cubicBezTo>
                    <a:pt x="3953013" y="337096"/>
                    <a:pt x="2989083" y="248196"/>
                    <a:pt x="2563633" y="255816"/>
                  </a:cubicBezTo>
                  <a:cubicBezTo>
                    <a:pt x="2274073" y="262166"/>
                    <a:pt x="2008643" y="285026"/>
                    <a:pt x="1830843" y="282486"/>
                  </a:cubicBezTo>
                  <a:cubicBezTo>
                    <a:pt x="1729243" y="281216"/>
                    <a:pt x="1678443" y="278676"/>
                    <a:pt x="1590813" y="268516"/>
                  </a:cubicBezTo>
                  <a:cubicBezTo>
                    <a:pt x="1484133" y="257086"/>
                    <a:pt x="1371103" y="226606"/>
                    <a:pt x="1232673" y="208826"/>
                  </a:cubicBezTo>
                  <a:cubicBezTo>
                    <a:pt x="1047253" y="184696"/>
                    <a:pt x="761503" y="152946"/>
                    <a:pt x="576083" y="145326"/>
                  </a:cubicBezTo>
                  <a:cubicBezTo>
                    <a:pt x="438923" y="138976"/>
                    <a:pt x="299223" y="135166"/>
                    <a:pt x="219213" y="150406"/>
                  </a:cubicBezTo>
                  <a:cubicBezTo>
                    <a:pt x="176033" y="158026"/>
                    <a:pt x="148093" y="166916"/>
                    <a:pt x="121423" y="185966"/>
                  </a:cubicBezTo>
                  <a:cubicBezTo>
                    <a:pt x="97293" y="202476"/>
                    <a:pt x="82053" y="248196"/>
                    <a:pt x="61733" y="252006"/>
                  </a:cubicBezTo>
                  <a:cubicBezTo>
                    <a:pt x="45223" y="254546"/>
                    <a:pt x="21093" y="238036"/>
                    <a:pt x="10933" y="225336"/>
                  </a:cubicBezTo>
                  <a:cubicBezTo>
                    <a:pt x="2043" y="213906"/>
                    <a:pt x="-1767" y="196126"/>
                    <a:pt x="773" y="182156"/>
                  </a:cubicBezTo>
                  <a:cubicBezTo>
                    <a:pt x="2043" y="169456"/>
                    <a:pt x="10933" y="152946"/>
                    <a:pt x="21093" y="144056"/>
                  </a:cubicBezTo>
                  <a:cubicBezTo>
                    <a:pt x="31253" y="135166"/>
                    <a:pt x="37603" y="132626"/>
                    <a:pt x="61733" y="127546"/>
                  </a:cubicBezTo>
                  <a:cubicBezTo>
                    <a:pt x="209053" y="100876"/>
                    <a:pt x="1241563" y="130086"/>
                    <a:pt x="1673363" y="117386"/>
                  </a:cubicBezTo>
                  <a:cubicBezTo>
                    <a:pt x="1964193" y="109766"/>
                    <a:pt x="2309633" y="65316"/>
                    <a:pt x="2403613" y="80556"/>
                  </a:cubicBezTo>
                  <a:cubicBezTo>
                    <a:pt x="2426473" y="84366"/>
                    <a:pt x="2435363" y="86906"/>
                    <a:pt x="2445523" y="95796"/>
                  </a:cubicBezTo>
                  <a:cubicBezTo>
                    <a:pt x="2455683" y="105956"/>
                    <a:pt x="2465843" y="121196"/>
                    <a:pt x="2465843" y="136436"/>
                  </a:cubicBezTo>
                  <a:cubicBezTo>
                    <a:pt x="2467113" y="152946"/>
                    <a:pt x="2456953" y="179616"/>
                    <a:pt x="2445523" y="191046"/>
                  </a:cubicBezTo>
                  <a:cubicBezTo>
                    <a:pt x="2435363" y="201206"/>
                    <a:pt x="2426473" y="202476"/>
                    <a:pt x="2403613" y="207556"/>
                  </a:cubicBezTo>
                  <a:cubicBezTo>
                    <a:pt x="2302013" y="225336"/>
                    <a:pt x="1670823" y="235496"/>
                    <a:pt x="1575573" y="206286"/>
                  </a:cubicBezTo>
                  <a:cubicBezTo>
                    <a:pt x="1553983" y="198666"/>
                    <a:pt x="1546363" y="191046"/>
                    <a:pt x="1538743" y="179616"/>
                  </a:cubicBezTo>
                  <a:cubicBezTo>
                    <a:pt x="1529853" y="168186"/>
                    <a:pt x="1526043" y="150406"/>
                    <a:pt x="1527313" y="136436"/>
                  </a:cubicBezTo>
                  <a:cubicBezTo>
                    <a:pt x="1529853" y="121196"/>
                    <a:pt x="1538743" y="104686"/>
                    <a:pt x="1548903" y="95796"/>
                  </a:cubicBezTo>
                  <a:cubicBezTo>
                    <a:pt x="1559063" y="86906"/>
                    <a:pt x="1567953" y="84366"/>
                    <a:pt x="1592083" y="79286"/>
                  </a:cubicBezTo>
                  <a:cubicBezTo>
                    <a:pt x="1693683" y="62776"/>
                    <a:pt x="2201683" y="103416"/>
                    <a:pt x="2436633" y="105956"/>
                  </a:cubicBezTo>
                  <a:cubicBezTo>
                    <a:pt x="2606813" y="108496"/>
                    <a:pt x="2804933" y="91986"/>
                    <a:pt x="2873513" y="104686"/>
                  </a:cubicBezTo>
                  <a:cubicBezTo>
                    <a:pt x="2895103" y="108496"/>
                    <a:pt x="2905263" y="111036"/>
                    <a:pt x="2915423" y="119926"/>
                  </a:cubicBezTo>
                  <a:cubicBezTo>
                    <a:pt x="2925583" y="128816"/>
                    <a:pt x="2934473" y="145326"/>
                    <a:pt x="2935743" y="159296"/>
                  </a:cubicBezTo>
                  <a:cubicBezTo>
                    <a:pt x="2938283" y="173266"/>
                    <a:pt x="2933203" y="191046"/>
                    <a:pt x="2925583" y="202476"/>
                  </a:cubicBezTo>
                  <a:cubicBezTo>
                    <a:pt x="2917963" y="213906"/>
                    <a:pt x="2911613" y="220256"/>
                    <a:pt x="2888753" y="227876"/>
                  </a:cubicBezTo>
                  <a:cubicBezTo>
                    <a:pt x="2788423" y="260896"/>
                    <a:pt x="2253753" y="229146"/>
                    <a:pt x="1971813" y="244386"/>
                  </a:cubicBezTo>
                  <a:cubicBezTo>
                    <a:pt x="1731783" y="257086"/>
                    <a:pt x="1536203" y="276136"/>
                    <a:pt x="1306333" y="304076"/>
                  </a:cubicBezTo>
                  <a:cubicBezTo>
                    <a:pt x="1057413" y="333286"/>
                    <a:pt x="718323" y="379006"/>
                    <a:pt x="531633" y="417106"/>
                  </a:cubicBezTo>
                  <a:cubicBezTo>
                    <a:pt x="424953" y="439966"/>
                    <a:pt x="330973" y="485686"/>
                    <a:pt x="282713" y="484416"/>
                  </a:cubicBezTo>
                  <a:cubicBezTo>
                    <a:pt x="262393" y="483146"/>
                    <a:pt x="250963" y="479336"/>
                    <a:pt x="240803" y="469176"/>
                  </a:cubicBezTo>
                  <a:cubicBezTo>
                    <a:pt x="229373" y="456476"/>
                    <a:pt x="217943" y="429806"/>
                    <a:pt x="219213" y="413296"/>
                  </a:cubicBezTo>
                  <a:cubicBezTo>
                    <a:pt x="220483" y="399326"/>
                    <a:pt x="229373" y="382816"/>
                    <a:pt x="239533" y="373926"/>
                  </a:cubicBezTo>
                  <a:cubicBezTo>
                    <a:pt x="249693" y="363766"/>
                    <a:pt x="258583" y="362496"/>
                    <a:pt x="281443" y="357416"/>
                  </a:cubicBezTo>
                  <a:cubicBezTo>
                    <a:pt x="365263" y="340906"/>
                    <a:pt x="673873" y="358686"/>
                    <a:pt x="885963" y="345986"/>
                  </a:cubicBezTo>
                  <a:cubicBezTo>
                    <a:pt x="1123453" y="332016"/>
                    <a:pt x="1376183" y="302806"/>
                    <a:pt x="1639073" y="272326"/>
                  </a:cubicBezTo>
                  <a:cubicBezTo>
                    <a:pt x="1929903" y="239306"/>
                    <a:pt x="2444253" y="144056"/>
                    <a:pt x="2552203" y="150406"/>
                  </a:cubicBezTo>
                  <a:cubicBezTo>
                    <a:pt x="2575063" y="152946"/>
                    <a:pt x="2583953" y="154216"/>
                    <a:pt x="2595383" y="161836"/>
                  </a:cubicBezTo>
                  <a:cubicBezTo>
                    <a:pt x="2605543" y="170726"/>
                    <a:pt x="2615703" y="185966"/>
                    <a:pt x="2619513" y="199936"/>
                  </a:cubicBezTo>
                  <a:cubicBezTo>
                    <a:pt x="2622053" y="212636"/>
                    <a:pt x="2620783" y="231686"/>
                    <a:pt x="2613163" y="243116"/>
                  </a:cubicBezTo>
                  <a:cubicBezTo>
                    <a:pt x="2604273" y="257086"/>
                    <a:pt x="2564903" y="274866"/>
                    <a:pt x="2564903" y="274866"/>
                  </a:cubicBezTo>
                </a:path>
              </a:pathLst>
            </a:custGeom>
            <a:solidFill>
              <a:srgbClr val="FFFFFF"/>
            </a:solidFill>
            <a:ln cap="sq">
              <a:noFill/>
              <a:prstDash val="solid"/>
              <a:miter/>
            </a:ln>
          </p:spPr>
          <p:txBody>
            <a:bodyPr/>
            <a:p/>
          </p:txBody>
        </p:sp>
      </p:grpSp>
      <p:grpSp>
        <p:nvGrpSpPr>
          <p:cNvPr name="Group 21" id="21"/>
          <p:cNvGrpSpPr/>
          <p:nvPr/>
        </p:nvGrpSpPr>
        <p:grpSpPr>
          <a:xfrm rot="0">
            <a:off x="971550" y="9641205"/>
            <a:ext cx="13716000" cy="440055"/>
            <a:chOff x="0" y="0"/>
            <a:chExt cx="18288000" cy="586740"/>
          </a:xfrm>
        </p:grpSpPr>
        <p:sp>
          <p:nvSpPr>
            <p:cNvPr name="Freeform 22" id="22"/>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7325" r="0" b="-557325"/>
              </a:stretch>
            </a:blipFill>
          </p:spPr>
          <p:txBody>
            <a:bodyPr/>
            <a:p/>
          </p:txBody>
        </p:sp>
        <p:sp>
          <p:nvSpPr>
            <p:cNvPr name="TextBox 23" id="23"/>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2820949" y="9496524"/>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501" r="0" b="-599501"/>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EXISTING SYSTEM · 08 · ABLATION BACKBONE (R1)</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Model lớn hơn không tốt hơn ở bài này</a:t>
            </a:r>
          </a:p>
        </p:txBody>
      </p:sp>
      <p:graphicFrame>
        <p:nvGraphicFramePr>
          <p:cNvPr name="Table 6" id="6"/>
          <p:cNvGraphicFramePr>
            <a:graphicFrameLocks noGrp="true"/>
          </p:cNvGraphicFramePr>
          <p:nvPr/>
        </p:nvGraphicFramePr>
        <p:xfrm>
          <a:off x="822960" y="2125980"/>
          <a:ext cx="16548100" cy="3492500"/>
        </p:xfrm>
        <a:graphic>
          <a:graphicData uri="http://schemas.openxmlformats.org/drawingml/2006/table">
            <a:tbl>
              <a:tblPr/>
              <a:tblGrid>
                <a:gridCol w="6792388"/>
                <a:gridCol w="1656108"/>
                <a:gridCol w="1656108"/>
                <a:gridCol w="1924321"/>
                <a:gridCol w="1924321"/>
                <a:gridCol w="2594854"/>
              </a:tblGrid>
              <a:tr h="6985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Run (ViTextVQA, 2.000 câu)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EM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F1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số từ</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s / câu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VRAM GB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698500">
                <a:tc>
                  <a:txBody>
                    <a:bodyPr anchor="t" rtlCol="false"/>
                    <a:lstStyle/>
                    <a:p>
                      <a:pPr algn="l">
                        <a:lnSpc>
                          <a:spcPts val="2520"/>
                        </a:lnSpc>
                        <a:defRPr/>
                      </a:pPr>
                      <a:r>
                        <a:rPr lang="en-US" sz="2100" b="true">
                          <a:solidFill>
                            <a:srgbClr val="243044"/>
                          </a:solidFill>
                          <a:latin typeface="Calibri (MS) Bold"/>
                          <a:ea typeface="Calibri (MS) Bold"/>
                          <a:cs typeface="Calibri (MS) Bold"/>
                          <a:sym typeface="Calibri (MS) Bold"/>
                        </a:rPr>
                        <a:t>B1 · Qwen2.5-VL-3B [1] · 4-bit · 512 token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28,8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53,8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5,5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0,86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 2,5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98500">
                <a:tc>
                  <a:txBody>
                    <a:bodyPr anchor="t" rtlCol="false"/>
                    <a:lstStyle/>
                    <a:p>
                      <a:pPr algn="l">
                        <a:lnSpc>
                          <a:spcPts val="2520"/>
                        </a:lnSpc>
                        <a:defRPr/>
                      </a:pPr>
                      <a:r>
                        <a:rPr lang="en-US" sz="2100">
                          <a:solidFill>
                            <a:srgbClr val="243044"/>
                          </a:solidFill>
                          <a:latin typeface="Calibri (MS)"/>
                          <a:ea typeface="Calibri (MS)"/>
                          <a:cs typeface="Calibri (MS)"/>
                          <a:sym typeface="Calibri (MS)"/>
                        </a:rPr>
                        <a:t>R1b · Qwen2-VL-7B [2] · 4-bit · 512 token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16,2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41,3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8,0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1,02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6,2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98500">
                <a:tc>
                  <a:txBody>
                    <a:bodyPr anchor="t" rtlCol="false"/>
                    <a:lstStyle/>
                    <a:p>
                      <a:pPr algn="l">
                        <a:lnSpc>
                          <a:spcPts val="2520"/>
                        </a:lnSpc>
                        <a:defRPr/>
                      </a:pPr>
                      <a:r>
                        <a:rPr lang="en-US" sz="2100">
                          <a:solidFill>
                            <a:srgbClr val="243044"/>
                          </a:solidFill>
                          <a:latin typeface="Calibri (MS)"/>
                          <a:ea typeface="Calibri (MS)"/>
                          <a:cs typeface="Calibri (MS)"/>
                          <a:sym typeface="Calibri (MS)"/>
                        </a:rPr>
                        <a:t>R1 · Qwen2-VL-7B [2] · bf16 · đủ độ phân giải</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16,7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43,5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8,2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2,85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20,3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98500">
                <a:tc>
                  <a:txBody>
                    <a:bodyPr anchor="t" rtlCol="false"/>
                    <a:lstStyle/>
                    <a:p>
                      <a:pPr algn="l">
                        <a:lnSpc>
                          <a:spcPts val="2520"/>
                        </a:lnSpc>
                        <a:defRPr/>
                      </a:pPr>
                      <a:r>
                        <a:rPr lang="en-US" sz="2100">
                          <a:solidFill>
                            <a:srgbClr val="243044"/>
                          </a:solidFill>
                          <a:latin typeface="Calibri (MS)"/>
                          <a:ea typeface="Calibri (MS)"/>
                          <a:cs typeface="Calibri (MS)"/>
                          <a:sym typeface="Calibri (MS)"/>
                        </a:rPr>
                        <a:t>Paper ViTextVQA [3] Table 7 · “QwenVL-7b” (100 câu)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28,0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53,8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7" id="7"/>
          <p:cNvSpPr/>
          <p:nvPr/>
        </p:nvSpPr>
        <p:spPr>
          <a:xfrm flipH="false" flipV="false" rot="0">
            <a:off x="806291" y="6018371"/>
            <a:ext cx="5214842" cy="2570797"/>
          </a:xfrm>
          <a:custGeom>
            <a:avLst/>
            <a:gdLst/>
            <a:ahLst/>
            <a:cxnLst/>
            <a:rect r="r" b="b" t="t" l="l"/>
            <a:pathLst>
              <a:path h="2570797" w="5214842">
                <a:moveTo>
                  <a:pt x="0" y="0"/>
                </a:moveTo>
                <a:lnTo>
                  <a:pt x="5214843" y="0"/>
                </a:lnTo>
                <a:lnTo>
                  <a:pt x="5214843" y="2570798"/>
                </a:lnTo>
                <a:lnTo>
                  <a:pt x="0" y="257079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8" id="8"/>
          <p:cNvSpPr txBox="true"/>
          <p:nvPr/>
        </p:nvSpPr>
        <p:spPr>
          <a:xfrm rot="0">
            <a:off x="1165860" y="6164580"/>
            <a:ext cx="4495648" cy="6934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7B &lt; 3B trong cùng điều kiện</a:t>
            </a:r>
          </a:p>
        </p:txBody>
      </p:sp>
      <p:sp>
        <p:nvSpPr>
          <p:cNvPr name="TextBox 9" id="9"/>
          <p:cNvSpPr txBox="true"/>
          <p:nvPr/>
        </p:nvSpPr>
        <p:spPr>
          <a:xfrm rot="0">
            <a:off x="1165860" y="6831330"/>
            <a:ext cx="4495648" cy="153543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−12,6 EM, McNemar p ≈ 10⁻³³; tăng độ phân giải không giúp (R1 = R1b, p = 0,45)</a:t>
            </a:r>
          </a:p>
        </p:txBody>
      </p:sp>
      <p:sp>
        <p:nvSpPr>
          <p:cNvPr name="Freeform 10" id="10"/>
          <p:cNvSpPr/>
          <p:nvPr/>
        </p:nvSpPr>
        <p:spPr>
          <a:xfrm flipH="false" flipV="false" rot="0">
            <a:off x="6536379" y="6018371"/>
            <a:ext cx="5214842" cy="2570797"/>
          </a:xfrm>
          <a:custGeom>
            <a:avLst/>
            <a:gdLst/>
            <a:ahLst/>
            <a:cxnLst/>
            <a:rect r="r" b="b" t="t" l="l"/>
            <a:pathLst>
              <a:path h="2570797" w="5214842">
                <a:moveTo>
                  <a:pt x="0" y="0"/>
                </a:moveTo>
                <a:lnTo>
                  <a:pt x="5214842" y="0"/>
                </a:lnTo>
                <a:lnTo>
                  <a:pt x="5214842" y="2570798"/>
                </a:lnTo>
                <a:lnTo>
                  <a:pt x="0" y="257079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1" id="11"/>
          <p:cNvSpPr txBox="true"/>
          <p:nvPr/>
        </p:nvSpPr>
        <p:spPr>
          <a:xfrm rot="0">
            <a:off x="6895948" y="6164580"/>
            <a:ext cx="4495648" cy="6934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Vì sao: tuân thủ chỉ dẫn</a:t>
            </a:r>
          </a:p>
        </p:txBody>
      </p:sp>
      <p:sp>
        <p:nvSpPr>
          <p:cNvPr name="TextBox 12" id="12"/>
          <p:cNvSpPr txBox="true"/>
          <p:nvPr/>
        </p:nvSpPr>
        <p:spPr>
          <a:xfrm rot="0">
            <a:off x="6895948" y="6831330"/>
            <a:ext cx="4495648" cy="153543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7B trả lời 8,2 từ so với gold 3,7 — EM trượt dù đọc đúng chữ</a:t>
            </a:r>
          </a:p>
        </p:txBody>
      </p:sp>
      <p:sp>
        <p:nvSpPr>
          <p:cNvPr name="Freeform 13" id="13"/>
          <p:cNvSpPr/>
          <p:nvPr/>
        </p:nvSpPr>
        <p:spPr>
          <a:xfrm flipH="false" flipV="false" rot="0">
            <a:off x="12266466" y="6018371"/>
            <a:ext cx="5214842" cy="2570797"/>
          </a:xfrm>
          <a:custGeom>
            <a:avLst/>
            <a:gdLst/>
            <a:ahLst/>
            <a:cxnLst/>
            <a:rect r="r" b="b" t="t" l="l"/>
            <a:pathLst>
              <a:path h="2570797" w="5214842">
                <a:moveTo>
                  <a:pt x="0" y="0"/>
                </a:moveTo>
                <a:lnTo>
                  <a:pt x="5214843" y="0"/>
                </a:lnTo>
                <a:lnTo>
                  <a:pt x="5214843" y="2570798"/>
                </a:lnTo>
                <a:lnTo>
                  <a:pt x="0" y="257079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TextBox 14" id="14"/>
          <p:cNvSpPr txBox="true"/>
          <p:nvPr/>
        </p:nvSpPr>
        <p:spPr>
          <a:xfrm rot="0">
            <a:off x="12626035" y="6164580"/>
            <a:ext cx="4495648" cy="6934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Table 7 không đủ để quyết định</a:t>
            </a:r>
          </a:p>
        </p:txBody>
      </p:sp>
      <p:sp>
        <p:nvSpPr>
          <p:cNvPr name="TextBox 15" id="15"/>
          <p:cNvSpPr txBox="true"/>
          <p:nvPr/>
        </p:nvSpPr>
        <p:spPr>
          <a:xfrm rot="0">
            <a:off x="12626035" y="6831330"/>
            <a:ext cx="4495648" cy="153543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n = 100 → ±9 EM; B1 đã nhất quán với nó. Quyết định: giữ Qwen2.5-VL-3B</a:t>
            </a:r>
          </a:p>
        </p:txBody>
      </p:sp>
      <p:grpSp>
        <p:nvGrpSpPr>
          <p:cNvPr name="Group 16" id="16"/>
          <p:cNvGrpSpPr/>
          <p:nvPr/>
        </p:nvGrpSpPr>
        <p:grpSpPr>
          <a:xfrm rot="0">
            <a:off x="822960" y="8709660"/>
            <a:ext cx="16641623" cy="303657"/>
            <a:chOff x="0" y="0"/>
            <a:chExt cx="22188830" cy="404876"/>
          </a:xfrm>
        </p:grpSpPr>
        <p:sp>
          <p:nvSpPr>
            <p:cNvPr name="Freeform 17" id="17"/>
            <p:cNvSpPr/>
            <p:nvPr/>
          </p:nvSpPr>
          <p:spPr>
            <a:xfrm flipH="false" flipV="false" rot="0">
              <a:off x="0" y="0"/>
              <a:ext cx="22188805" cy="404876"/>
            </a:xfrm>
            <a:custGeom>
              <a:avLst/>
              <a:gdLst/>
              <a:ahLst/>
              <a:cxnLst/>
              <a:rect r="r" b="b" t="t" l="l"/>
              <a:pathLst>
                <a:path h="404876" w="22188805">
                  <a:moveTo>
                    <a:pt x="0" y="0"/>
                  </a:moveTo>
                  <a:lnTo>
                    <a:pt x="22188805" y="0"/>
                  </a:lnTo>
                  <a:lnTo>
                    <a:pt x="22188805" y="404876"/>
                  </a:lnTo>
                  <a:lnTo>
                    <a:pt x="0" y="404876"/>
                  </a:lnTo>
                  <a:close/>
                </a:path>
              </a:pathLst>
            </a:custGeom>
            <a:blipFill>
              <a:blip r:embed="rId7">
                <a:alphaModFix amt="0"/>
              </a:blip>
              <a:stretch>
                <a:fillRect l="0" t="-1017114" r="0" b="-1017117"/>
              </a:stretch>
            </a:blipFill>
          </p:spPr>
          <p:txBody>
            <a:bodyPr/>
            <a:p/>
          </p:txBody>
        </p:sp>
      </p:grpSp>
      <p:grpSp>
        <p:nvGrpSpPr>
          <p:cNvPr name="Group 18" id="18"/>
          <p:cNvGrpSpPr/>
          <p:nvPr/>
        </p:nvGrpSpPr>
        <p:grpSpPr>
          <a:xfrm rot="0">
            <a:off x="839686" y="8134350"/>
            <a:ext cx="16641623" cy="878967"/>
            <a:chOff x="0" y="0"/>
            <a:chExt cx="22188830" cy="1171956"/>
          </a:xfrm>
        </p:grpSpPr>
        <p:sp>
          <p:nvSpPr>
            <p:cNvPr name="Freeform 19" id="19"/>
            <p:cNvSpPr/>
            <p:nvPr/>
          </p:nvSpPr>
          <p:spPr>
            <a:xfrm flipH="false" flipV="false" rot="0">
              <a:off x="0" y="0"/>
              <a:ext cx="22188830" cy="1171956"/>
            </a:xfrm>
            <a:custGeom>
              <a:avLst/>
              <a:gdLst/>
              <a:ahLst/>
              <a:cxnLst/>
              <a:rect r="r" b="b" t="t" l="l"/>
              <a:pathLst>
                <a:path h="1171956" w="22188830">
                  <a:moveTo>
                    <a:pt x="0" y="0"/>
                  </a:moveTo>
                  <a:lnTo>
                    <a:pt x="22188830" y="0"/>
                  </a:lnTo>
                  <a:lnTo>
                    <a:pt x="22188830" y="1171956"/>
                  </a:lnTo>
                  <a:lnTo>
                    <a:pt x="0" y="1171956"/>
                  </a:lnTo>
                  <a:close/>
                </a:path>
              </a:pathLst>
            </a:custGeom>
            <a:blipFill>
              <a:blip r:embed="rId2">
                <a:alphaModFix amt="0"/>
              </a:blip>
              <a:stretch>
                <a:fillRect l="0" t="-318913" r="0" b="-318913"/>
              </a:stretch>
            </a:blipFill>
          </p:spPr>
          <p:txBody>
            <a:bodyPr/>
            <a:p/>
          </p:txBody>
        </p:sp>
        <p:sp>
          <p:nvSpPr>
            <p:cNvPr name="TextBox 20" id="20"/>
            <p:cNvSpPr txBox="true"/>
            <p:nvPr/>
          </p:nvSpPr>
          <p:spPr>
            <a:xfrm>
              <a:off x="0" y="-38100"/>
              <a:ext cx="22188830" cy="1210056"/>
            </a:xfrm>
            <a:prstGeom prst="rect">
              <a:avLst/>
            </a:prstGeom>
          </p:spPr>
          <p:txBody>
            <a:bodyPr anchor="b" rtlCol="false" tIns="0" lIns="0" bIns="0" rIns="0"/>
            <a:lstStyle/>
            <a:p>
              <a:pPr algn="l">
                <a:lnSpc>
                  <a:spcPts val="1800"/>
                </a:lnSpc>
              </a:pPr>
              <a:r>
                <a:rPr lang="en-US" sz="1500" u="sng">
                  <a:solidFill>
                    <a:srgbClr val="6B7280"/>
                  </a:solidFill>
                  <a:latin typeface="Calibri (MS)"/>
                  <a:ea typeface="Calibri (MS)"/>
                  <a:cs typeface="Calibri (MS)"/>
                  <a:sym typeface="Calibri (MS)"/>
                  <a:hlinkClick r:id="rId8" tooltip="https://arxiv.org/pdf/2502.13923"/>
                </a:rPr>
                <a:t>[1] Bai và cs., Qwen2.5-VL Technical Report, arXiv:2502.13923, 2025 ·  Run của nhóm: experiments/W07_B1_zeroshot_…_test2000, W07_R1_…, W07_R1b_… (cùng 2.000 câu, seed 42).</a:t>
              </a:r>
            </a:p>
          </p:txBody>
        </p:sp>
      </p:grpSp>
      <p:sp>
        <p:nvSpPr>
          <p:cNvPr name="TextBox 21" id="21"/>
          <p:cNvSpPr txBox="true"/>
          <p:nvPr/>
        </p:nvSpPr>
        <p:spPr>
          <a:xfrm rot="0">
            <a:off x="839686" y="8994267"/>
            <a:ext cx="3978712" cy="266700"/>
          </a:xfrm>
          <a:prstGeom prst="rect">
            <a:avLst/>
          </a:prstGeom>
        </p:spPr>
        <p:txBody>
          <a:bodyPr anchor="t" rtlCol="false" tIns="0" lIns="0" bIns="0" rIns="0">
            <a:spAutoFit/>
          </a:bodyPr>
          <a:lstStyle/>
          <a:p>
            <a:pPr algn="ctr">
              <a:lnSpc>
                <a:spcPts val="1800"/>
              </a:lnSpc>
              <a:spcBef>
                <a:spcPct val="0"/>
              </a:spcBef>
            </a:pPr>
            <a:r>
              <a:rPr lang="en-US" sz="1500" u="sng">
                <a:solidFill>
                  <a:srgbClr val="5B677A"/>
                </a:solidFill>
                <a:latin typeface="Calibri (MS)"/>
                <a:ea typeface="Calibri (MS)"/>
                <a:cs typeface="Calibri (MS)"/>
                <a:sym typeface="Calibri (MS)"/>
                <a:hlinkClick r:id="rId9" tooltip="https://arxiv.org/pdf/2404.10652"/>
              </a:rPr>
              <a:t>[2] Wang và cs., Qwen2-VL, arXiv:2409.12191, 2024</a:t>
            </a:r>
          </a:p>
        </p:txBody>
      </p:sp>
      <p:sp>
        <p:nvSpPr>
          <p:cNvPr name="TextBox 22" id="22"/>
          <p:cNvSpPr txBox="true"/>
          <p:nvPr/>
        </p:nvSpPr>
        <p:spPr>
          <a:xfrm rot="0">
            <a:off x="839686" y="9241917"/>
            <a:ext cx="8396288" cy="266700"/>
          </a:xfrm>
          <a:prstGeom prst="rect">
            <a:avLst/>
          </a:prstGeom>
        </p:spPr>
        <p:txBody>
          <a:bodyPr anchor="t" rtlCol="false" tIns="0" lIns="0" bIns="0" rIns="0">
            <a:spAutoFit/>
          </a:bodyPr>
          <a:lstStyle/>
          <a:p>
            <a:pPr algn="ctr">
              <a:lnSpc>
                <a:spcPts val="1800"/>
              </a:lnSpc>
              <a:spcBef>
                <a:spcPct val="0"/>
              </a:spcBef>
            </a:pPr>
            <a:r>
              <a:rPr lang="en-US" sz="1500" u="sng">
                <a:solidFill>
                  <a:srgbClr val="5B677A"/>
                </a:solidFill>
                <a:latin typeface="Calibri (MS)"/>
                <a:ea typeface="Calibri (MS)"/>
                <a:cs typeface="Calibri (MS)"/>
                <a:sym typeface="Calibri (MS)"/>
                <a:hlinkClick r:id="rId10" tooltip="https://arxiv.org/pdf/2404.10652"/>
              </a:rPr>
              <a:t>3] Nguyen và cs., ViTextVQA, arXiv:2404.10652, 2024 (bản mở rộng: Expert Systems with Applications, 2025).</a:t>
            </a:r>
          </a:p>
        </p:txBody>
      </p:sp>
      <p:grpSp>
        <p:nvGrpSpPr>
          <p:cNvPr name="Group 23" id="23"/>
          <p:cNvGrpSpPr/>
          <p:nvPr/>
        </p:nvGrpSpPr>
        <p:grpSpPr>
          <a:xfrm rot="0">
            <a:off x="15458732" y="0"/>
            <a:ext cx="2829268" cy="1184338"/>
            <a:chOff x="0" y="0"/>
            <a:chExt cx="3772357" cy="1579118"/>
          </a:xfrm>
        </p:grpSpPr>
        <p:sp>
          <p:nvSpPr>
            <p:cNvPr name="Freeform 24" id="24"/>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1"/>
              <a:stretch>
                <a:fillRect l="0" t="0" r="1" b="0"/>
              </a:stretch>
            </a:blipFill>
          </p:spPr>
          <p:txBody>
            <a:bodyPr/>
            <a:p/>
          </p:txBody>
        </p:sp>
      </p:grpSp>
      <p:grpSp>
        <p:nvGrpSpPr>
          <p:cNvPr name="Group 25" id="25"/>
          <p:cNvGrpSpPr/>
          <p:nvPr/>
        </p:nvGrpSpPr>
        <p:grpSpPr>
          <a:xfrm rot="0">
            <a:off x="822960" y="9641205"/>
            <a:ext cx="13716000" cy="440055"/>
            <a:chOff x="0" y="0"/>
            <a:chExt cx="18288000" cy="586740"/>
          </a:xfrm>
        </p:grpSpPr>
        <p:sp>
          <p:nvSpPr>
            <p:cNvPr name="Freeform 26" id="26"/>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2">
                <a:alphaModFix amt="0"/>
              </a:blip>
              <a:stretch>
                <a:fillRect l="0" t="-557325" r="0" b="-557325"/>
              </a:stretch>
            </a:blipFill>
          </p:spPr>
          <p:txBody>
            <a:bodyPr/>
            <a:p/>
          </p:txBody>
        </p:sp>
        <p:sp>
          <p:nvSpPr>
            <p:cNvPr name="TextBox 27" id="27"/>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METHODOLOGY · 01 · LỘ TRÌNH</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Lộ trình: mỗi bước chỉ đổi một yếu tố</a:t>
            </a:r>
          </a:p>
        </p:txBody>
      </p:sp>
      <p:sp>
        <p:nvSpPr>
          <p:cNvPr name="Freeform 6" id="6"/>
          <p:cNvSpPr/>
          <p:nvPr/>
        </p:nvSpPr>
        <p:spPr>
          <a:xfrm flipH="false" flipV="false" rot="0">
            <a:off x="806291" y="2383631"/>
            <a:ext cx="3833717" cy="4696778"/>
          </a:xfrm>
          <a:custGeom>
            <a:avLst/>
            <a:gdLst/>
            <a:ahLst/>
            <a:cxnLst/>
            <a:rect r="r" b="b" t="t" l="l"/>
            <a:pathLst>
              <a:path h="4696778" w="3833717">
                <a:moveTo>
                  <a:pt x="0" y="0"/>
                </a:moveTo>
                <a:lnTo>
                  <a:pt x="3833717" y="0"/>
                </a:lnTo>
                <a:lnTo>
                  <a:pt x="3833717" y="4696778"/>
                </a:lnTo>
                <a:lnTo>
                  <a:pt x="0" y="469677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Freeform 7" id="7"/>
          <p:cNvSpPr/>
          <p:nvPr/>
        </p:nvSpPr>
        <p:spPr>
          <a:xfrm flipH="false" flipV="false" rot="0">
            <a:off x="1217771" y="2795111"/>
            <a:ext cx="1336358" cy="1336358"/>
          </a:xfrm>
          <a:custGeom>
            <a:avLst/>
            <a:gdLst/>
            <a:ahLst/>
            <a:cxnLst/>
            <a:rect r="r" b="b" t="t" l="l"/>
            <a:pathLst>
              <a:path h="1336358" w="1336358">
                <a:moveTo>
                  <a:pt x="0" y="0"/>
                </a:moveTo>
                <a:lnTo>
                  <a:pt x="1336358" y="0"/>
                </a:lnTo>
                <a:lnTo>
                  <a:pt x="1336358" y="1336358"/>
                </a:lnTo>
                <a:lnTo>
                  <a:pt x="0" y="133635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grpSp>
        <p:nvGrpSpPr>
          <p:cNvPr name="Group 8" id="8"/>
          <p:cNvGrpSpPr/>
          <p:nvPr/>
        </p:nvGrpSpPr>
        <p:grpSpPr>
          <a:xfrm rot="0">
            <a:off x="1234440" y="2811780"/>
            <a:ext cx="1303020" cy="1303020"/>
            <a:chOff x="0" y="0"/>
            <a:chExt cx="1737360" cy="1737360"/>
          </a:xfrm>
        </p:grpSpPr>
        <p:sp>
          <p:nvSpPr>
            <p:cNvPr name="Freeform 9" id="9"/>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10" id="10"/>
          <p:cNvGrpSpPr/>
          <p:nvPr/>
        </p:nvGrpSpPr>
        <p:grpSpPr>
          <a:xfrm rot="0">
            <a:off x="1234440" y="2776061"/>
            <a:ext cx="1303020" cy="1338739"/>
            <a:chOff x="0" y="0"/>
            <a:chExt cx="1737360" cy="1784985"/>
          </a:xfrm>
        </p:grpSpPr>
        <p:sp>
          <p:nvSpPr>
            <p:cNvPr name="Freeform 11" id="11"/>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7">
                <a:alphaModFix amt="0"/>
              </a:blip>
              <a:stretch>
                <a:fillRect l="-81820" t="0" r="-81820" b="0"/>
              </a:stretch>
            </a:blipFill>
          </p:spPr>
          <p:txBody>
            <a:bodyPr/>
            <a:p/>
          </p:txBody>
        </p:sp>
        <p:sp>
          <p:nvSpPr>
            <p:cNvPr name="TextBox 12" id="12"/>
            <p:cNvSpPr txBox="true"/>
            <p:nvPr/>
          </p:nvSpPr>
          <p:spPr>
            <a:xfrm>
              <a:off x="0" y="-47625"/>
              <a:ext cx="1737360" cy="183261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B2</a:t>
              </a:r>
            </a:p>
          </p:txBody>
        </p:sp>
      </p:grpSp>
      <p:sp>
        <p:nvSpPr>
          <p:cNvPr name="TextBox 13" id="13"/>
          <p:cNvSpPr txBox="true"/>
          <p:nvPr/>
        </p:nvSpPr>
        <p:spPr>
          <a:xfrm rot="0">
            <a:off x="1234440" y="4343400"/>
            <a:ext cx="2977401" cy="2446020"/>
          </a:xfrm>
          <a:prstGeom prst="rect">
            <a:avLst/>
          </a:prstGeom>
        </p:spPr>
        <p:txBody>
          <a:bodyPr anchor="t" rtlCol="false" tIns="0" lIns="0" bIns="0" rIns="0">
            <a:spAutoFit/>
          </a:bodyPr>
          <a:lstStyle/>
          <a:p>
            <a:pPr algn="l">
              <a:lnSpc>
                <a:spcPts val="2700"/>
              </a:lnSpc>
            </a:pPr>
            <a:r>
              <a:rPr lang="en-US" sz="2250" b="true">
                <a:solidFill>
                  <a:srgbClr val="243044"/>
                </a:solidFill>
                <a:latin typeface="Calibri (MS) Bold"/>
                <a:ea typeface="Calibri (MS) Bold"/>
                <a:cs typeface="Calibri (MS) Bold"/>
                <a:sym typeface="Calibri (MS) Bold"/>
              </a:rPr>
              <a:t>QLoRA (không OCR)</a:t>
            </a:r>
          </a:p>
          <a:p>
            <a:pPr algn="l">
              <a:lnSpc>
                <a:spcPts val="2700"/>
              </a:lnSpc>
            </a:pPr>
            <a:r>
              <a:rPr lang="en-US" sz="2250">
                <a:solidFill>
                  <a:srgbClr val="243044"/>
                </a:solidFill>
                <a:latin typeface="Calibri (MS)"/>
                <a:ea typeface="Calibri (MS)"/>
                <a:cs typeface="Calibri (MS)"/>
                <a:sym typeface="Calibri (MS)"/>
              </a:rPr>
              <a:t>PEFT có hơn zero-shot? → +21,1 EM ViTextVQA, +51,7 ViVQA</a:t>
            </a:r>
          </a:p>
        </p:txBody>
      </p:sp>
      <p:sp>
        <p:nvSpPr>
          <p:cNvPr name="Freeform 14" id="14"/>
          <p:cNvSpPr/>
          <p:nvPr/>
        </p:nvSpPr>
        <p:spPr>
          <a:xfrm flipH="false" flipV="false" rot="0">
            <a:off x="5086712" y="2383631"/>
            <a:ext cx="3833717" cy="4696778"/>
          </a:xfrm>
          <a:custGeom>
            <a:avLst/>
            <a:gdLst/>
            <a:ahLst/>
            <a:cxnLst/>
            <a:rect r="r" b="b" t="t" l="l"/>
            <a:pathLst>
              <a:path h="4696778" w="3833717">
                <a:moveTo>
                  <a:pt x="0" y="0"/>
                </a:moveTo>
                <a:lnTo>
                  <a:pt x="3833717" y="0"/>
                </a:lnTo>
                <a:lnTo>
                  <a:pt x="3833717" y="4696778"/>
                </a:lnTo>
                <a:lnTo>
                  <a:pt x="0" y="469677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sp>
        <p:nvSpPr>
          <p:cNvPr name="Freeform 15" id="15"/>
          <p:cNvSpPr/>
          <p:nvPr/>
        </p:nvSpPr>
        <p:spPr>
          <a:xfrm flipH="false" flipV="false" rot="0">
            <a:off x="5498192" y="2795111"/>
            <a:ext cx="1336357" cy="1336358"/>
          </a:xfrm>
          <a:custGeom>
            <a:avLst/>
            <a:gdLst/>
            <a:ahLst/>
            <a:cxnLst/>
            <a:rect r="r" b="b" t="t" l="l"/>
            <a:pathLst>
              <a:path h="1336358" w="1336357">
                <a:moveTo>
                  <a:pt x="0" y="0"/>
                </a:moveTo>
                <a:lnTo>
                  <a:pt x="1336357" y="0"/>
                </a:lnTo>
                <a:lnTo>
                  <a:pt x="1336357" y="1336358"/>
                </a:lnTo>
                <a:lnTo>
                  <a:pt x="0" y="133635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grpSp>
        <p:nvGrpSpPr>
          <p:cNvPr name="Group 16" id="16"/>
          <p:cNvGrpSpPr/>
          <p:nvPr/>
        </p:nvGrpSpPr>
        <p:grpSpPr>
          <a:xfrm rot="0">
            <a:off x="5514861" y="2811780"/>
            <a:ext cx="1303020" cy="1303020"/>
            <a:chOff x="0" y="0"/>
            <a:chExt cx="1737360" cy="1737360"/>
          </a:xfrm>
        </p:grpSpPr>
        <p:sp>
          <p:nvSpPr>
            <p:cNvPr name="Freeform 17" id="17"/>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18" id="18"/>
          <p:cNvGrpSpPr/>
          <p:nvPr/>
        </p:nvGrpSpPr>
        <p:grpSpPr>
          <a:xfrm rot="0">
            <a:off x="5514861" y="2776061"/>
            <a:ext cx="1303020" cy="1338739"/>
            <a:chOff x="0" y="0"/>
            <a:chExt cx="1737360" cy="1784985"/>
          </a:xfrm>
        </p:grpSpPr>
        <p:sp>
          <p:nvSpPr>
            <p:cNvPr name="Freeform 19" id="19"/>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7">
                <a:alphaModFix amt="0"/>
              </a:blip>
              <a:stretch>
                <a:fillRect l="-81820" t="0" r="-81820" b="0"/>
              </a:stretch>
            </a:blipFill>
          </p:spPr>
          <p:txBody>
            <a:bodyPr/>
            <a:p/>
          </p:txBody>
        </p:sp>
        <p:sp>
          <p:nvSpPr>
            <p:cNvPr name="TextBox 20" id="20"/>
            <p:cNvSpPr txBox="true"/>
            <p:nvPr/>
          </p:nvSpPr>
          <p:spPr>
            <a:xfrm>
              <a:off x="0" y="-47625"/>
              <a:ext cx="1737360" cy="183261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B3</a:t>
              </a:r>
            </a:p>
          </p:txBody>
        </p:sp>
      </p:grpSp>
      <p:sp>
        <p:nvSpPr>
          <p:cNvPr name="TextBox 21" id="21"/>
          <p:cNvSpPr txBox="true"/>
          <p:nvPr/>
        </p:nvSpPr>
        <p:spPr>
          <a:xfrm rot="0">
            <a:off x="5514861" y="4343400"/>
            <a:ext cx="2977401" cy="2446020"/>
          </a:xfrm>
          <a:prstGeom prst="rect">
            <a:avLst/>
          </a:prstGeom>
        </p:spPr>
        <p:txBody>
          <a:bodyPr anchor="t" rtlCol="false" tIns="0" lIns="0" bIns="0" rIns="0">
            <a:spAutoFit/>
          </a:bodyPr>
          <a:lstStyle/>
          <a:p>
            <a:pPr algn="l">
              <a:lnSpc>
                <a:spcPts val="2700"/>
              </a:lnSpc>
            </a:pPr>
            <a:r>
              <a:rPr lang="en-US" sz="2250" b="true">
                <a:solidFill>
                  <a:srgbClr val="243044"/>
                </a:solidFill>
                <a:latin typeface="Calibri (MS) Bold"/>
                <a:ea typeface="Calibri (MS) Bold"/>
                <a:cs typeface="Calibri (MS) Bold"/>
                <a:sym typeface="Calibri (MS) Bold"/>
              </a:rPr>
              <a:t>QLoRA + dòng OCR (8k câu)</a:t>
            </a:r>
          </a:p>
          <a:p>
            <a:pPr algn="l">
              <a:lnSpc>
                <a:spcPts val="2700"/>
              </a:lnSpc>
            </a:pPr>
            <a:r>
              <a:rPr lang="en-US" sz="2250">
                <a:solidFill>
                  <a:srgbClr val="243044"/>
                </a:solidFill>
                <a:latin typeface="Calibri (MS)"/>
                <a:ea typeface="Calibri (MS)"/>
                <a:cs typeface="Calibri (MS)"/>
                <a:sym typeface="Calibri (MS)"/>
              </a:rPr>
              <a:t>Dạy model dùng chữ OCR có giúp? → +2,5 EM so với B2-sub</a:t>
            </a:r>
          </a:p>
        </p:txBody>
      </p:sp>
      <p:sp>
        <p:nvSpPr>
          <p:cNvPr name="Freeform 22" id="22"/>
          <p:cNvSpPr/>
          <p:nvPr/>
        </p:nvSpPr>
        <p:spPr>
          <a:xfrm flipH="false" flipV="false" rot="0">
            <a:off x="9367133" y="2383631"/>
            <a:ext cx="3833717" cy="4696778"/>
          </a:xfrm>
          <a:custGeom>
            <a:avLst/>
            <a:gdLst/>
            <a:ahLst/>
            <a:cxnLst/>
            <a:rect r="r" b="b" t="t" l="l"/>
            <a:pathLst>
              <a:path h="4696778" w="3833717">
                <a:moveTo>
                  <a:pt x="0" y="0"/>
                </a:moveTo>
                <a:lnTo>
                  <a:pt x="3833717" y="0"/>
                </a:lnTo>
                <a:lnTo>
                  <a:pt x="3833717" y="4696778"/>
                </a:lnTo>
                <a:lnTo>
                  <a:pt x="0" y="469677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sp>
        <p:nvSpPr>
          <p:cNvPr name="Freeform 23" id="23"/>
          <p:cNvSpPr/>
          <p:nvPr/>
        </p:nvSpPr>
        <p:spPr>
          <a:xfrm flipH="false" flipV="false" rot="0">
            <a:off x="9778613" y="2795111"/>
            <a:ext cx="1336358" cy="1336358"/>
          </a:xfrm>
          <a:custGeom>
            <a:avLst/>
            <a:gdLst/>
            <a:ahLst/>
            <a:cxnLst/>
            <a:rect r="r" b="b" t="t" l="l"/>
            <a:pathLst>
              <a:path h="1336358" w="1336358">
                <a:moveTo>
                  <a:pt x="0" y="0"/>
                </a:moveTo>
                <a:lnTo>
                  <a:pt x="1336357" y="0"/>
                </a:lnTo>
                <a:lnTo>
                  <a:pt x="1336357" y="1336358"/>
                </a:lnTo>
                <a:lnTo>
                  <a:pt x="0" y="133635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grpSp>
        <p:nvGrpSpPr>
          <p:cNvPr name="Group 24" id="24"/>
          <p:cNvGrpSpPr/>
          <p:nvPr/>
        </p:nvGrpSpPr>
        <p:grpSpPr>
          <a:xfrm rot="0">
            <a:off x="9795281" y="2811780"/>
            <a:ext cx="1303020" cy="1303020"/>
            <a:chOff x="0" y="0"/>
            <a:chExt cx="1737360" cy="1737360"/>
          </a:xfrm>
        </p:grpSpPr>
        <p:sp>
          <p:nvSpPr>
            <p:cNvPr name="Freeform 25" id="25"/>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26" id="26"/>
          <p:cNvGrpSpPr/>
          <p:nvPr/>
        </p:nvGrpSpPr>
        <p:grpSpPr>
          <a:xfrm rot="0">
            <a:off x="9795281" y="2776061"/>
            <a:ext cx="1303020" cy="1338739"/>
            <a:chOff x="0" y="0"/>
            <a:chExt cx="1737360" cy="1784985"/>
          </a:xfrm>
        </p:grpSpPr>
        <p:sp>
          <p:nvSpPr>
            <p:cNvPr name="Freeform 27" id="27"/>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7">
                <a:alphaModFix amt="0"/>
              </a:blip>
              <a:stretch>
                <a:fillRect l="-81820" t="0" r="-81820" b="0"/>
              </a:stretch>
            </a:blipFill>
          </p:spPr>
          <p:txBody>
            <a:bodyPr/>
            <a:p/>
          </p:txBody>
        </p:sp>
        <p:sp>
          <p:nvSpPr>
            <p:cNvPr name="TextBox 28" id="28"/>
            <p:cNvSpPr txBox="true"/>
            <p:nvPr/>
          </p:nvSpPr>
          <p:spPr>
            <a:xfrm>
              <a:off x="0" y="-47625"/>
              <a:ext cx="1737360" cy="183261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B3F</a:t>
              </a:r>
            </a:p>
          </p:txBody>
        </p:sp>
      </p:grpSp>
      <p:sp>
        <p:nvSpPr>
          <p:cNvPr name="TextBox 29" id="29"/>
          <p:cNvSpPr txBox="true"/>
          <p:nvPr/>
        </p:nvSpPr>
        <p:spPr>
          <a:xfrm rot="0">
            <a:off x="9795281" y="4343400"/>
            <a:ext cx="2977401" cy="2446020"/>
          </a:xfrm>
          <a:prstGeom prst="rect">
            <a:avLst/>
          </a:prstGeom>
        </p:spPr>
        <p:txBody>
          <a:bodyPr anchor="t" rtlCol="false" tIns="0" lIns="0" bIns="0" rIns="0">
            <a:spAutoFit/>
          </a:bodyPr>
          <a:lstStyle/>
          <a:p>
            <a:pPr algn="l">
              <a:lnSpc>
                <a:spcPts val="2700"/>
              </a:lnSpc>
            </a:pPr>
            <a:r>
              <a:rPr lang="en-US" sz="2250" b="true">
                <a:solidFill>
                  <a:srgbClr val="243044"/>
                </a:solidFill>
                <a:latin typeface="Calibri (MS) Bold"/>
                <a:ea typeface="Calibri (MS) Bold"/>
                <a:cs typeface="Calibri (MS) Bold"/>
                <a:sym typeface="Calibri (MS) Bold"/>
              </a:rPr>
              <a:t>B3 trên toàn bộ dữ liệu</a:t>
            </a:r>
          </a:p>
          <a:p>
            <a:pPr algn="l">
              <a:lnSpc>
                <a:spcPts val="2700"/>
              </a:lnSpc>
            </a:pPr>
            <a:r>
              <a:rPr lang="en-US" sz="2250">
                <a:solidFill>
                  <a:srgbClr val="243044"/>
                </a:solidFill>
                <a:latin typeface="Calibri (MS)"/>
                <a:ea typeface="Calibri (MS)"/>
                <a:cs typeface="Calibri (MS)"/>
                <a:sym typeface="Calibri (MS)"/>
              </a:rPr>
              <a:t>Đủ dữ liệu OCR còn giúp? → +3,1 EM so với B2</a:t>
            </a:r>
          </a:p>
        </p:txBody>
      </p:sp>
      <p:sp>
        <p:nvSpPr>
          <p:cNvPr name="Freeform 30" id="30"/>
          <p:cNvSpPr/>
          <p:nvPr/>
        </p:nvSpPr>
        <p:spPr>
          <a:xfrm flipH="false" flipV="false" rot="0">
            <a:off x="13647553" y="2383631"/>
            <a:ext cx="3833717" cy="4696778"/>
          </a:xfrm>
          <a:custGeom>
            <a:avLst/>
            <a:gdLst/>
            <a:ahLst/>
            <a:cxnLst/>
            <a:rect r="r" b="b" t="t" l="l"/>
            <a:pathLst>
              <a:path h="4696778" w="3833717">
                <a:moveTo>
                  <a:pt x="0" y="0"/>
                </a:moveTo>
                <a:lnTo>
                  <a:pt x="3833718" y="0"/>
                </a:lnTo>
                <a:lnTo>
                  <a:pt x="3833718" y="4696778"/>
                </a:lnTo>
                <a:lnTo>
                  <a:pt x="0" y="469677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sp>
        <p:nvSpPr>
          <p:cNvPr name="Freeform 31" id="31"/>
          <p:cNvSpPr/>
          <p:nvPr/>
        </p:nvSpPr>
        <p:spPr>
          <a:xfrm flipH="false" flipV="false" rot="0">
            <a:off x="14059033" y="2795111"/>
            <a:ext cx="1336357" cy="1336358"/>
          </a:xfrm>
          <a:custGeom>
            <a:avLst/>
            <a:gdLst/>
            <a:ahLst/>
            <a:cxnLst/>
            <a:rect r="r" b="b" t="t" l="l"/>
            <a:pathLst>
              <a:path h="1336358" w="1336357">
                <a:moveTo>
                  <a:pt x="0" y="0"/>
                </a:moveTo>
                <a:lnTo>
                  <a:pt x="1336358" y="0"/>
                </a:lnTo>
                <a:lnTo>
                  <a:pt x="1336358" y="1336358"/>
                </a:lnTo>
                <a:lnTo>
                  <a:pt x="0" y="133635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grpSp>
        <p:nvGrpSpPr>
          <p:cNvPr name="Group 32" id="32"/>
          <p:cNvGrpSpPr/>
          <p:nvPr/>
        </p:nvGrpSpPr>
        <p:grpSpPr>
          <a:xfrm rot="0">
            <a:off x="14075702" y="2811780"/>
            <a:ext cx="1303020" cy="1303020"/>
            <a:chOff x="0" y="0"/>
            <a:chExt cx="1737360" cy="1737360"/>
          </a:xfrm>
        </p:grpSpPr>
        <p:sp>
          <p:nvSpPr>
            <p:cNvPr name="Freeform 33" id="33"/>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34" id="34"/>
          <p:cNvGrpSpPr/>
          <p:nvPr/>
        </p:nvGrpSpPr>
        <p:grpSpPr>
          <a:xfrm rot="0">
            <a:off x="14075702" y="2776061"/>
            <a:ext cx="1303020" cy="1338739"/>
            <a:chOff x="0" y="0"/>
            <a:chExt cx="1737360" cy="1784985"/>
          </a:xfrm>
        </p:grpSpPr>
        <p:sp>
          <p:nvSpPr>
            <p:cNvPr name="Freeform 35" id="35"/>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7">
                <a:alphaModFix amt="0"/>
              </a:blip>
              <a:stretch>
                <a:fillRect l="-81820" t="0" r="-81820" b="0"/>
              </a:stretch>
            </a:blipFill>
          </p:spPr>
          <p:txBody>
            <a:bodyPr/>
            <a:p/>
          </p:txBody>
        </p:sp>
        <p:sp>
          <p:nvSpPr>
            <p:cNvPr name="TextBox 36" id="36"/>
            <p:cNvSpPr txBox="true"/>
            <p:nvPr/>
          </p:nvSpPr>
          <p:spPr>
            <a:xfrm>
              <a:off x="0" y="-47625"/>
              <a:ext cx="1737360" cy="183261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SH</a:t>
              </a:r>
            </a:p>
          </p:txBody>
        </p:sp>
      </p:grpSp>
      <p:sp>
        <p:nvSpPr>
          <p:cNvPr name="TextBox 37" id="37"/>
          <p:cNvSpPr txBox="true"/>
          <p:nvPr/>
        </p:nvSpPr>
        <p:spPr>
          <a:xfrm rot="0">
            <a:off x="14075702" y="4343400"/>
            <a:ext cx="2977401" cy="2446020"/>
          </a:xfrm>
          <a:prstGeom prst="rect">
            <a:avLst/>
          </a:prstGeom>
        </p:spPr>
        <p:txBody>
          <a:bodyPr anchor="t" rtlCol="false" tIns="0" lIns="0" bIns="0" rIns="0">
            <a:spAutoFit/>
          </a:bodyPr>
          <a:lstStyle/>
          <a:p>
            <a:pPr algn="l">
              <a:lnSpc>
                <a:spcPts val="2700"/>
              </a:lnSpc>
            </a:pPr>
            <a:r>
              <a:rPr lang="en-US" sz="2250" b="true">
                <a:solidFill>
                  <a:srgbClr val="243044"/>
                </a:solidFill>
                <a:latin typeface="Calibri (MS) Bold"/>
                <a:ea typeface="Calibri (MS) Bold"/>
                <a:cs typeface="Calibri (MS) Bold"/>
                <a:sym typeface="Calibri (MS) Bold"/>
              </a:rPr>
              <a:t>Một adapter, hai dataset</a:t>
            </a:r>
          </a:p>
          <a:p>
            <a:pPr algn="l">
              <a:lnSpc>
                <a:spcPts val="2700"/>
              </a:lnSpc>
            </a:pPr>
            <a:r>
              <a:rPr lang="en-US" sz="2250">
                <a:solidFill>
                  <a:srgbClr val="243044"/>
                </a:solidFill>
                <a:latin typeface="Calibri (MS)"/>
                <a:ea typeface="Calibri (MS)"/>
                <a:cs typeface="Calibri (MS)"/>
                <a:sym typeface="Calibri (MS)"/>
              </a:rPr>
              <a:t>Dùng chung có kém? → không kém (δ = 1,5 EM)</a:t>
            </a:r>
          </a:p>
        </p:txBody>
      </p:sp>
      <p:sp>
        <p:nvSpPr>
          <p:cNvPr name="TextBox 38" id="38"/>
          <p:cNvSpPr txBox="true"/>
          <p:nvPr/>
        </p:nvSpPr>
        <p:spPr>
          <a:xfrm rot="0">
            <a:off x="822960" y="7448550"/>
            <a:ext cx="16641623" cy="712470"/>
          </a:xfrm>
          <a:prstGeom prst="rect">
            <a:avLst/>
          </a:prstGeom>
        </p:spPr>
        <p:txBody>
          <a:bodyPr anchor="t" rtlCol="false" tIns="0" lIns="0" bIns="0" rIns="0">
            <a:spAutoFit/>
          </a:bodyPr>
          <a:lstStyle/>
          <a:p>
            <a:pPr algn="l">
              <a:lnSpc>
                <a:spcPts val="2520"/>
              </a:lnSpc>
            </a:pPr>
            <a:r>
              <a:rPr lang="en-US" sz="2100">
                <a:solidFill>
                  <a:srgbClr val="6B7280"/>
                </a:solidFill>
                <a:latin typeface="Calibri (MS)"/>
                <a:ea typeface="Calibri (MS)"/>
                <a:cs typeface="Calibri (MS)"/>
                <a:sym typeface="Calibri (MS)"/>
              </a:rPr>
              <a:t>Khởi điểm: B1 zero-shot (EM 22,1 ViVQA · 29,1 ViTextVQA). Mỗi bước chỉ đổi một yếu tố; luật kết luận chốt trước khi chạy.</a:t>
            </a:r>
          </a:p>
        </p:txBody>
      </p:sp>
      <p:grpSp>
        <p:nvGrpSpPr>
          <p:cNvPr name="Group 39" id="39"/>
          <p:cNvGrpSpPr/>
          <p:nvPr/>
        </p:nvGrpSpPr>
        <p:grpSpPr>
          <a:xfrm rot="0">
            <a:off x="15458732" y="0"/>
            <a:ext cx="2829268" cy="1184338"/>
            <a:chOff x="0" y="0"/>
            <a:chExt cx="3772357" cy="1579118"/>
          </a:xfrm>
        </p:grpSpPr>
        <p:sp>
          <p:nvSpPr>
            <p:cNvPr name="Freeform 40" id="40"/>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2"/>
              <a:stretch>
                <a:fillRect l="0" t="0" r="1" b="0"/>
              </a:stretch>
            </a:blipFill>
          </p:spPr>
          <p:txBody>
            <a:bodyPr/>
            <a:p/>
          </p:txBody>
        </p:sp>
      </p:grpSp>
      <p:grpSp>
        <p:nvGrpSpPr>
          <p:cNvPr name="Group 41" id="41"/>
          <p:cNvGrpSpPr/>
          <p:nvPr/>
        </p:nvGrpSpPr>
        <p:grpSpPr>
          <a:xfrm rot="0">
            <a:off x="822960" y="9641205"/>
            <a:ext cx="13716000" cy="440055"/>
            <a:chOff x="0" y="0"/>
            <a:chExt cx="18288000" cy="586740"/>
          </a:xfrm>
        </p:grpSpPr>
        <p:sp>
          <p:nvSpPr>
            <p:cNvPr name="Freeform 42" id="42"/>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7">
                <a:alphaModFix amt="0"/>
              </a:blip>
              <a:stretch>
                <a:fillRect l="0" t="-557325" r="0" b="-557325"/>
              </a:stretch>
            </a:blipFill>
          </p:spPr>
          <p:txBody>
            <a:bodyPr/>
            <a:p/>
          </p:txBody>
        </p:sp>
        <p:sp>
          <p:nvSpPr>
            <p:cNvPr name="TextBox 43" id="43"/>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grpSp>
        <p:nvGrpSpPr>
          <p:cNvPr name="Group 4" id="4"/>
          <p:cNvGrpSpPr/>
          <p:nvPr/>
        </p:nvGrpSpPr>
        <p:grpSpPr>
          <a:xfrm rot="0">
            <a:off x="822960" y="9641205"/>
            <a:ext cx="13716000" cy="440055"/>
            <a:chOff x="0" y="0"/>
            <a:chExt cx="18288000" cy="586740"/>
          </a:xfrm>
        </p:grpSpPr>
        <p:sp>
          <p:nvSpPr>
            <p:cNvPr name="Freeform 5" id="5"/>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7325" r="0" b="-557325"/>
              </a:stretch>
            </a:blipFill>
          </p:spPr>
          <p:txBody>
            <a:bodyPr/>
            <a:p/>
          </p:txBody>
        </p:sp>
        <p:sp>
          <p:nvSpPr>
            <p:cNvPr name="TextBox 6" id="6"/>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1 + Review 2 (cộng dồn) · GFA26AI35 · Đại học FPT</a:t>
              </a:r>
            </a:p>
          </p:txBody>
        </p:sp>
      </p:grpSp>
      <p:sp>
        <p:nvSpPr>
          <p:cNvPr name="TextBox 7" id="7"/>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METHODOLOGY · 02 · QLoRA (B2)</a:t>
            </a:r>
          </a:p>
        </p:txBody>
      </p:sp>
      <p:sp>
        <p:nvSpPr>
          <p:cNvPr name="TextBox 8" id="8"/>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QLoRA một epoch: tăng lớn và có ý nghĩa thống kê</a:t>
            </a:r>
          </a:p>
        </p:txBody>
      </p:sp>
      <p:grpSp>
        <p:nvGrpSpPr>
          <p:cNvPr name="Group 9" id="9"/>
          <p:cNvGrpSpPr/>
          <p:nvPr/>
        </p:nvGrpSpPr>
        <p:grpSpPr>
          <a:xfrm rot="0">
            <a:off x="-192024" y="1042416"/>
            <a:ext cx="12179808" cy="9368028"/>
            <a:chOff x="0" y="0"/>
            <a:chExt cx="16239744" cy="12490704"/>
          </a:xfrm>
        </p:grpSpPr>
        <p:sp>
          <p:nvSpPr>
            <p:cNvPr name="Freeform 10" id="10"/>
            <p:cNvSpPr/>
            <p:nvPr/>
          </p:nvSpPr>
          <p:spPr>
            <a:xfrm flipH="false" flipV="false" rot="0">
              <a:off x="0" y="0"/>
              <a:ext cx="16239744" cy="12490704"/>
            </a:xfrm>
            <a:custGeom>
              <a:avLst/>
              <a:gdLst/>
              <a:ahLst/>
              <a:cxnLst/>
              <a:rect r="r" b="b" t="t" l="l"/>
              <a:pathLst>
                <a:path h="12490704" w="16239744">
                  <a:moveTo>
                    <a:pt x="0" y="0"/>
                  </a:moveTo>
                  <a:lnTo>
                    <a:pt x="16239744" y="0"/>
                  </a:lnTo>
                  <a:lnTo>
                    <a:pt x="16239744" y="12490704"/>
                  </a:lnTo>
                  <a:lnTo>
                    <a:pt x="0" y="12490704"/>
                  </a:lnTo>
                  <a:lnTo>
                    <a:pt x="0" y="0"/>
                  </a:lnTo>
                  <a:close/>
                </a:path>
              </a:pathLst>
            </a:custGeom>
            <a:blipFill>
              <a:blip r:embed="rId4"/>
              <a:stretch>
                <a:fillRect l="0" t="-13" r="0" b="-13"/>
              </a:stretch>
            </a:blipFill>
          </p:spPr>
          <p:txBody>
            <a:bodyPr/>
            <a:p/>
          </p:txBody>
        </p:sp>
      </p:grpSp>
      <p:graphicFrame>
        <p:nvGraphicFramePr>
          <p:cNvPr name="Table 11" id="11"/>
          <p:cNvGraphicFramePr>
            <a:graphicFrameLocks noGrp="true"/>
          </p:cNvGraphicFramePr>
          <p:nvPr/>
        </p:nvGraphicFramePr>
        <p:xfrm>
          <a:off x="11521440" y="2057400"/>
          <a:ext cx="6438900" cy="3429000"/>
        </p:xfrm>
        <a:graphic>
          <a:graphicData uri="http://schemas.openxmlformats.org/drawingml/2006/table">
            <a:tbl>
              <a:tblPr/>
              <a:tblGrid>
                <a:gridCol w="2710075"/>
                <a:gridCol w="1857754"/>
                <a:gridCol w="1871071"/>
              </a:tblGrid>
              <a:tr h="6858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Chi phí</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ViVQA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ViTextVQA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Mẫu train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10.799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35.159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Thời gian train (L4)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3,0 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12,0 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VRAM đỉnh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6,6 GB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6,9 GB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Suy luận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0,57 s / câu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1,0 s / câu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12" id="12"/>
          <p:cNvSpPr/>
          <p:nvPr/>
        </p:nvSpPr>
        <p:spPr>
          <a:xfrm flipH="false" flipV="false" rot="0">
            <a:off x="11504771" y="5812631"/>
            <a:ext cx="5976461" cy="3599497"/>
          </a:xfrm>
          <a:custGeom>
            <a:avLst/>
            <a:gdLst/>
            <a:ahLst/>
            <a:cxnLst/>
            <a:rect r="r" b="b" t="t" l="l"/>
            <a:pathLst>
              <a:path h="3599497" w="5976461">
                <a:moveTo>
                  <a:pt x="0" y="0"/>
                </a:moveTo>
                <a:lnTo>
                  <a:pt x="5976461" y="0"/>
                </a:lnTo>
                <a:lnTo>
                  <a:pt x="5976461" y="3599498"/>
                </a:lnTo>
                <a:lnTo>
                  <a:pt x="0" y="359949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TextBox 13" id="13"/>
          <p:cNvSpPr txBox="true"/>
          <p:nvPr/>
        </p:nvSpPr>
        <p:spPr>
          <a:xfrm rot="0">
            <a:off x="11864340" y="5958840"/>
            <a:ext cx="5257343"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Luật chốt trước khi chạy</a:t>
            </a:r>
          </a:p>
        </p:txBody>
      </p:sp>
      <p:sp>
        <p:nvSpPr>
          <p:cNvPr name="TextBox 14" id="14"/>
          <p:cNvSpPr txBox="true"/>
          <p:nvPr/>
        </p:nvSpPr>
        <p:spPr>
          <a:xfrm rot="0">
            <a:off x="11864340" y="6557010"/>
            <a:ext cx="5257343" cy="270129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Cải thiện nếu EM tăng và McNemar p &lt; 0,05 → đạt trên cả hai dataset (ViTextVQA đầy đủ: 2.543 so với 423 câu chỉ một model đúng).</a:t>
            </a:r>
          </a:p>
        </p:txBody>
      </p:sp>
      <p:grpSp>
        <p:nvGrpSpPr>
          <p:cNvPr name="Group 15" id="15"/>
          <p:cNvGrpSpPr/>
          <p:nvPr/>
        </p:nvGrpSpPr>
        <p:grpSpPr>
          <a:xfrm rot="0">
            <a:off x="15458732" y="0"/>
            <a:ext cx="2829268" cy="1184338"/>
            <a:chOff x="0" y="0"/>
            <a:chExt cx="3772357" cy="1579118"/>
          </a:xfrm>
        </p:grpSpPr>
        <p:sp>
          <p:nvSpPr>
            <p:cNvPr name="Freeform 16" id="1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7"/>
              <a:stretch>
                <a:fillRect l="0" t="0" r="1" b="0"/>
              </a:stretch>
            </a:blipFill>
          </p:spPr>
          <p:txBody>
            <a:bodyPr/>
            <a:p/>
          </p:txBody>
        </p:sp>
      </p:grpSp>
      <p:grpSp>
        <p:nvGrpSpPr>
          <p:cNvPr name="Group 17" id="17"/>
          <p:cNvGrpSpPr/>
          <p:nvPr/>
        </p:nvGrpSpPr>
        <p:grpSpPr>
          <a:xfrm rot="0">
            <a:off x="251460" y="9585007"/>
            <a:ext cx="6453188" cy="543878"/>
            <a:chOff x="0" y="0"/>
            <a:chExt cx="8604250" cy="725170"/>
          </a:xfrm>
        </p:grpSpPr>
        <p:sp>
          <p:nvSpPr>
            <p:cNvPr name="Freeform 18" id="18"/>
            <p:cNvSpPr/>
            <p:nvPr/>
          </p:nvSpPr>
          <p:spPr>
            <a:xfrm flipH="false" flipV="false" rot="0">
              <a:off x="50800" y="48023"/>
              <a:ext cx="8501380" cy="626912"/>
            </a:xfrm>
            <a:custGeom>
              <a:avLst/>
              <a:gdLst/>
              <a:ahLst/>
              <a:cxnLst/>
              <a:rect r="r" b="b" t="t" l="l"/>
              <a:pathLst>
                <a:path h="626912" w="8501380">
                  <a:moveTo>
                    <a:pt x="0" y="399017"/>
                  </a:moveTo>
                  <a:cubicBezTo>
                    <a:pt x="0" y="399017"/>
                    <a:pt x="1270" y="393937"/>
                    <a:pt x="1270" y="391397"/>
                  </a:cubicBezTo>
                  <a:cubicBezTo>
                    <a:pt x="2540" y="388857"/>
                    <a:pt x="3810" y="385047"/>
                    <a:pt x="3810" y="385047"/>
                  </a:cubicBezTo>
                  <a:cubicBezTo>
                    <a:pt x="3810" y="383777"/>
                    <a:pt x="5080" y="379967"/>
                    <a:pt x="6350" y="377427"/>
                  </a:cubicBezTo>
                  <a:cubicBezTo>
                    <a:pt x="7620" y="376157"/>
                    <a:pt x="10160" y="371077"/>
                    <a:pt x="10160" y="371077"/>
                  </a:cubicBezTo>
                  <a:cubicBezTo>
                    <a:pt x="10160" y="371077"/>
                    <a:pt x="12700" y="368537"/>
                    <a:pt x="15240" y="365997"/>
                  </a:cubicBezTo>
                  <a:cubicBezTo>
                    <a:pt x="16510" y="364727"/>
                    <a:pt x="19050" y="360917"/>
                    <a:pt x="19050" y="360917"/>
                  </a:cubicBezTo>
                  <a:cubicBezTo>
                    <a:pt x="19050" y="360917"/>
                    <a:pt x="24130" y="358377"/>
                    <a:pt x="25400" y="357107"/>
                  </a:cubicBezTo>
                  <a:cubicBezTo>
                    <a:pt x="27940" y="354567"/>
                    <a:pt x="31750" y="352027"/>
                    <a:pt x="31750" y="352027"/>
                  </a:cubicBezTo>
                  <a:cubicBezTo>
                    <a:pt x="31750" y="352027"/>
                    <a:pt x="35560" y="350757"/>
                    <a:pt x="38100" y="349487"/>
                  </a:cubicBezTo>
                  <a:cubicBezTo>
                    <a:pt x="40640" y="349487"/>
                    <a:pt x="44450" y="346947"/>
                    <a:pt x="44450" y="346947"/>
                  </a:cubicBezTo>
                  <a:cubicBezTo>
                    <a:pt x="45720" y="346947"/>
                    <a:pt x="49530" y="346947"/>
                    <a:pt x="52070" y="345677"/>
                  </a:cubicBezTo>
                  <a:cubicBezTo>
                    <a:pt x="54610" y="345677"/>
                    <a:pt x="59690" y="345677"/>
                    <a:pt x="59690" y="345677"/>
                  </a:cubicBezTo>
                  <a:cubicBezTo>
                    <a:pt x="59690" y="345677"/>
                    <a:pt x="238760" y="324087"/>
                    <a:pt x="271780" y="321547"/>
                  </a:cubicBezTo>
                  <a:cubicBezTo>
                    <a:pt x="280670" y="321547"/>
                    <a:pt x="288290" y="322817"/>
                    <a:pt x="290830" y="321547"/>
                  </a:cubicBezTo>
                  <a:cubicBezTo>
                    <a:pt x="290830" y="320277"/>
                    <a:pt x="292100" y="319007"/>
                    <a:pt x="292100" y="319007"/>
                  </a:cubicBezTo>
                  <a:cubicBezTo>
                    <a:pt x="292100" y="319007"/>
                    <a:pt x="295910" y="315197"/>
                    <a:pt x="297180" y="312657"/>
                  </a:cubicBezTo>
                  <a:cubicBezTo>
                    <a:pt x="299720" y="310117"/>
                    <a:pt x="303530" y="306307"/>
                    <a:pt x="303530" y="306307"/>
                  </a:cubicBezTo>
                  <a:cubicBezTo>
                    <a:pt x="303530" y="306307"/>
                    <a:pt x="307340" y="302497"/>
                    <a:pt x="309880" y="301227"/>
                  </a:cubicBezTo>
                  <a:cubicBezTo>
                    <a:pt x="312420" y="299957"/>
                    <a:pt x="317500" y="296147"/>
                    <a:pt x="317500" y="296147"/>
                  </a:cubicBezTo>
                  <a:cubicBezTo>
                    <a:pt x="317500" y="296147"/>
                    <a:pt x="322580" y="294877"/>
                    <a:pt x="325120" y="293607"/>
                  </a:cubicBezTo>
                  <a:cubicBezTo>
                    <a:pt x="327660" y="292337"/>
                    <a:pt x="332740" y="289797"/>
                    <a:pt x="332740" y="289797"/>
                  </a:cubicBezTo>
                  <a:cubicBezTo>
                    <a:pt x="332740" y="289797"/>
                    <a:pt x="339090" y="289797"/>
                    <a:pt x="341630" y="289797"/>
                  </a:cubicBezTo>
                  <a:cubicBezTo>
                    <a:pt x="344170" y="288527"/>
                    <a:pt x="347980" y="288527"/>
                    <a:pt x="347980" y="288527"/>
                  </a:cubicBezTo>
                  <a:cubicBezTo>
                    <a:pt x="347980" y="287257"/>
                    <a:pt x="311150" y="288527"/>
                    <a:pt x="289560" y="285987"/>
                  </a:cubicBezTo>
                  <a:cubicBezTo>
                    <a:pt x="261620" y="283447"/>
                    <a:pt x="219710" y="274557"/>
                    <a:pt x="193040" y="272017"/>
                  </a:cubicBezTo>
                  <a:cubicBezTo>
                    <a:pt x="173990" y="269477"/>
                    <a:pt x="142240" y="266937"/>
                    <a:pt x="142240" y="266937"/>
                  </a:cubicBezTo>
                  <a:cubicBezTo>
                    <a:pt x="142240" y="266937"/>
                    <a:pt x="137160" y="264397"/>
                    <a:pt x="134620" y="264397"/>
                  </a:cubicBezTo>
                  <a:cubicBezTo>
                    <a:pt x="132080" y="263127"/>
                    <a:pt x="127000" y="261857"/>
                    <a:pt x="127000" y="261857"/>
                  </a:cubicBezTo>
                  <a:cubicBezTo>
                    <a:pt x="127000" y="261857"/>
                    <a:pt x="123190" y="259317"/>
                    <a:pt x="120650" y="258047"/>
                  </a:cubicBezTo>
                  <a:cubicBezTo>
                    <a:pt x="118110" y="256777"/>
                    <a:pt x="114300" y="254237"/>
                    <a:pt x="114300" y="254237"/>
                  </a:cubicBezTo>
                  <a:cubicBezTo>
                    <a:pt x="114300" y="254237"/>
                    <a:pt x="110490" y="250427"/>
                    <a:pt x="107950" y="247887"/>
                  </a:cubicBezTo>
                  <a:cubicBezTo>
                    <a:pt x="106680" y="246617"/>
                    <a:pt x="102870" y="242807"/>
                    <a:pt x="102870" y="242807"/>
                  </a:cubicBezTo>
                  <a:cubicBezTo>
                    <a:pt x="102870" y="242807"/>
                    <a:pt x="100330" y="238997"/>
                    <a:pt x="99060" y="236457"/>
                  </a:cubicBezTo>
                  <a:cubicBezTo>
                    <a:pt x="97790" y="233917"/>
                    <a:pt x="95250" y="230107"/>
                    <a:pt x="95250" y="230107"/>
                  </a:cubicBezTo>
                  <a:cubicBezTo>
                    <a:pt x="95250" y="230107"/>
                    <a:pt x="92710" y="225027"/>
                    <a:pt x="92710" y="222487"/>
                  </a:cubicBezTo>
                  <a:cubicBezTo>
                    <a:pt x="91440" y="219947"/>
                    <a:pt x="90170" y="214867"/>
                    <a:pt x="90170" y="214867"/>
                  </a:cubicBezTo>
                  <a:cubicBezTo>
                    <a:pt x="90170" y="214867"/>
                    <a:pt x="90170" y="209787"/>
                    <a:pt x="88900" y="207247"/>
                  </a:cubicBezTo>
                  <a:cubicBezTo>
                    <a:pt x="88900" y="204707"/>
                    <a:pt x="88900" y="199627"/>
                    <a:pt x="88900" y="199627"/>
                  </a:cubicBezTo>
                  <a:cubicBezTo>
                    <a:pt x="88900" y="199627"/>
                    <a:pt x="90170" y="194547"/>
                    <a:pt x="90170" y="192007"/>
                  </a:cubicBezTo>
                  <a:cubicBezTo>
                    <a:pt x="91440" y="189467"/>
                    <a:pt x="91440" y="184387"/>
                    <a:pt x="91440" y="183117"/>
                  </a:cubicBezTo>
                  <a:cubicBezTo>
                    <a:pt x="91440" y="183117"/>
                    <a:pt x="93980" y="179307"/>
                    <a:pt x="95250" y="176767"/>
                  </a:cubicBezTo>
                  <a:cubicBezTo>
                    <a:pt x="96520" y="174227"/>
                    <a:pt x="97790" y="169147"/>
                    <a:pt x="97790" y="169147"/>
                  </a:cubicBezTo>
                  <a:cubicBezTo>
                    <a:pt x="97790" y="169147"/>
                    <a:pt x="101600" y="165337"/>
                    <a:pt x="102870" y="162797"/>
                  </a:cubicBezTo>
                  <a:cubicBezTo>
                    <a:pt x="104140" y="161527"/>
                    <a:pt x="107950" y="157717"/>
                    <a:pt x="107950" y="157717"/>
                  </a:cubicBezTo>
                  <a:cubicBezTo>
                    <a:pt x="107950" y="156447"/>
                    <a:pt x="111760" y="153907"/>
                    <a:pt x="114300" y="152637"/>
                  </a:cubicBezTo>
                  <a:cubicBezTo>
                    <a:pt x="115570" y="150097"/>
                    <a:pt x="119380" y="147557"/>
                    <a:pt x="119380" y="147557"/>
                  </a:cubicBezTo>
                  <a:cubicBezTo>
                    <a:pt x="120650" y="147557"/>
                    <a:pt x="124460" y="145017"/>
                    <a:pt x="127000" y="143747"/>
                  </a:cubicBezTo>
                  <a:cubicBezTo>
                    <a:pt x="129540" y="143747"/>
                    <a:pt x="134620" y="141207"/>
                    <a:pt x="134620" y="141207"/>
                  </a:cubicBezTo>
                  <a:cubicBezTo>
                    <a:pt x="134620" y="141207"/>
                    <a:pt x="139700" y="139937"/>
                    <a:pt x="142240" y="139937"/>
                  </a:cubicBezTo>
                  <a:cubicBezTo>
                    <a:pt x="144780" y="138667"/>
                    <a:pt x="149860" y="138667"/>
                    <a:pt x="149860" y="138667"/>
                  </a:cubicBezTo>
                  <a:cubicBezTo>
                    <a:pt x="149860" y="138667"/>
                    <a:pt x="154940" y="138667"/>
                    <a:pt x="157480" y="138667"/>
                  </a:cubicBezTo>
                  <a:cubicBezTo>
                    <a:pt x="160020" y="138667"/>
                    <a:pt x="165100" y="138667"/>
                    <a:pt x="165100" y="138667"/>
                  </a:cubicBezTo>
                  <a:cubicBezTo>
                    <a:pt x="165100" y="138667"/>
                    <a:pt x="245110" y="127237"/>
                    <a:pt x="287020" y="123427"/>
                  </a:cubicBezTo>
                  <a:cubicBezTo>
                    <a:pt x="332740" y="119617"/>
                    <a:pt x="382270" y="118347"/>
                    <a:pt x="427990" y="117077"/>
                  </a:cubicBezTo>
                  <a:cubicBezTo>
                    <a:pt x="471170" y="115807"/>
                    <a:pt x="515620" y="114537"/>
                    <a:pt x="553720" y="114537"/>
                  </a:cubicBezTo>
                  <a:cubicBezTo>
                    <a:pt x="588010" y="113267"/>
                    <a:pt x="617220" y="111997"/>
                    <a:pt x="647700" y="110727"/>
                  </a:cubicBezTo>
                  <a:cubicBezTo>
                    <a:pt x="675640" y="110727"/>
                    <a:pt x="699770" y="109457"/>
                    <a:pt x="727710" y="109457"/>
                  </a:cubicBezTo>
                  <a:cubicBezTo>
                    <a:pt x="758190" y="108187"/>
                    <a:pt x="802640" y="106917"/>
                    <a:pt x="826770" y="105647"/>
                  </a:cubicBezTo>
                  <a:cubicBezTo>
                    <a:pt x="839470" y="105647"/>
                    <a:pt x="855980" y="105647"/>
                    <a:pt x="855980" y="105647"/>
                  </a:cubicBezTo>
                  <a:cubicBezTo>
                    <a:pt x="857250" y="105647"/>
                    <a:pt x="862330" y="105647"/>
                    <a:pt x="864870" y="105647"/>
                  </a:cubicBezTo>
                  <a:cubicBezTo>
                    <a:pt x="867410" y="106917"/>
                    <a:pt x="872490" y="106917"/>
                    <a:pt x="873760" y="106917"/>
                  </a:cubicBezTo>
                  <a:cubicBezTo>
                    <a:pt x="873760" y="106917"/>
                    <a:pt x="878840" y="109457"/>
                    <a:pt x="881380" y="109457"/>
                  </a:cubicBezTo>
                  <a:cubicBezTo>
                    <a:pt x="883920" y="110727"/>
                    <a:pt x="889000" y="113267"/>
                    <a:pt x="889000" y="113267"/>
                  </a:cubicBezTo>
                  <a:cubicBezTo>
                    <a:pt x="889000" y="113267"/>
                    <a:pt x="894080" y="115807"/>
                    <a:pt x="895350" y="117077"/>
                  </a:cubicBezTo>
                  <a:cubicBezTo>
                    <a:pt x="897890" y="119617"/>
                    <a:pt x="902970" y="122157"/>
                    <a:pt x="902970" y="122157"/>
                  </a:cubicBezTo>
                  <a:cubicBezTo>
                    <a:pt x="902970" y="122157"/>
                    <a:pt x="906780" y="127237"/>
                    <a:pt x="908050" y="128507"/>
                  </a:cubicBezTo>
                  <a:cubicBezTo>
                    <a:pt x="909320" y="129777"/>
                    <a:pt x="909320" y="129777"/>
                    <a:pt x="910590" y="131047"/>
                  </a:cubicBezTo>
                  <a:cubicBezTo>
                    <a:pt x="918210" y="134857"/>
                    <a:pt x="976630" y="131047"/>
                    <a:pt x="1017270" y="129777"/>
                  </a:cubicBezTo>
                  <a:cubicBezTo>
                    <a:pt x="1066800" y="127237"/>
                    <a:pt x="1170940" y="128507"/>
                    <a:pt x="1186180" y="119617"/>
                  </a:cubicBezTo>
                  <a:cubicBezTo>
                    <a:pt x="1188720" y="118347"/>
                    <a:pt x="1187450" y="115807"/>
                    <a:pt x="1188720" y="113267"/>
                  </a:cubicBezTo>
                  <a:cubicBezTo>
                    <a:pt x="1189990" y="110727"/>
                    <a:pt x="1193800" y="105647"/>
                    <a:pt x="1193800" y="105647"/>
                  </a:cubicBezTo>
                  <a:cubicBezTo>
                    <a:pt x="1193800" y="105647"/>
                    <a:pt x="1198880" y="100567"/>
                    <a:pt x="1200150" y="98027"/>
                  </a:cubicBezTo>
                  <a:cubicBezTo>
                    <a:pt x="1202690" y="95487"/>
                    <a:pt x="1206500" y="91677"/>
                    <a:pt x="1206500" y="91677"/>
                  </a:cubicBezTo>
                  <a:cubicBezTo>
                    <a:pt x="1206500" y="91677"/>
                    <a:pt x="1212850" y="87867"/>
                    <a:pt x="1215390" y="86597"/>
                  </a:cubicBezTo>
                  <a:cubicBezTo>
                    <a:pt x="1217930" y="84057"/>
                    <a:pt x="1223010" y="81517"/>
                    <a:pt x="1223010" y="81517"/>
                  </a:cubicBezTo>
                  <a:cubicBezTo>
                    <a:pt x="1223010" y="81517"/>
                    <a:pt x="1229360" y="78977"/>
                    <a:pt x="1231900" y="77707"/>
                  </a:cubicBezTo>
                  <a:cubicBezTo>
                    <a:pt x="1234440" y="77707"/>
                    <a:pt x="1240790" y="75167"/>
                    <a:pt x="1240790" y="75167"/>
                  </a:cubicBezTo>
                  <a:cubicBezTo>
                    <a:pt x="1240790" y="75167"/>
                    <a:pt x="1247140" y="75167"/>
                    <a:pt x="1250950" y="73897"/>
                  </a:cubicBezTo>
                  <a:cubicBezTo>
                    <a:pt x="1253490" y="73897"/>
                    <a:pt x="1259840" y="73897"/>
                    <a:pt x="1259840" y="73897"/>
                  </a:cubicBezTo>
                  <a:cubicBezTo>
                    <a:pt x="1261110" y="73897"/>
                    <a:pt x="1337310" y="72627"/>
                    <a:pt x="1380490" y="72627"/>
                  </a:cubicBezTo>
                  <a:cubicBezTo>
                    <a:pt x="1427480" y="72627"/>
                    <a:pt x="1484630" y="73897"/>
                    <a:pt x="1532890" y="73897"/>
                  </a:cubicBezTo>
                  <a:cubicBezTo>
                    <a:pt x="1579880" y="73897"/>
                    <a:pt x="1626870" y="73897"/>
                    <a:pt x="1667510" y="73897"/>
                  </a:cubicBezTo>
                  <a:cubicBezTo>
                    <a:pt x="1699260" y="73897"/>
                    <a:pt x="1742440" y="71357"/>
                    <a:pt x="1756410" y="72627"/>
                  </a:cubicBezTo>
                  <a:cubicBezTo>
                    <a:pt x="1760220" y="72627"/>
                    <a:pt x="1762760" y="73897"/>
                    <a:pt x="1765300" y="73897"/>
                  </a:cubicBezTo>
                  <a:cubicBezTo>
                    <a:pt x="1767840" y="73897"/>
                    <a:pt x="1771650" y="73897"/>
                    <a:pt x="1772920" y="73897"/>
                  </a:cubicBezTo>
                  <a:cubicBezTo>
                    <a:pt x="1775460" y="75167"/>
                    <a:pt x="1776730" y="75167"/>
                    <a:pt x="1778000" y="76437"/>
                  </a:cubicBezTo>
                  <a:cubicBezTo>
                    <a:pt x="1779270" y="76437"/>
                    <a:pt x="1780540" y="76437"/>
                    <a:pt x="1781810" y="76437"/>
                  </a:cubicBezTo>
                  <a:cubicBezTo>
                    <a:pt x="1784350" y="77707"/>
                    <a:pt x="1786890" y="78977"/>
                    <a:pt x="1789430" y="80247"/>
                  </a:cubicBezTo>
                  <a:cubicBezTo>
                    <a:pt x="1791970" y="81517"/>
                    <a:pt x="1795780" y="82787"/>
                    <a:pt x="1797050" y="84057"/>
                  </a:cubicBezTo>
                  <a:cubicBezTo>
                    <a:pt x="1798320" y="84057"/>
                    <a:pt x="1798320" y="85327"/>
                    <a:pt x="1800860" y="86597"/>
                  </a:cubicBezTo>
                  <a:cubicBezTo>
                    <a:pt x="1823720" y="94217"/>
                    <a:pt x="2108200" y="72627"/>
                    <a:pt x="2280920" y="65007"/>
                  </a:cubicBezTo>
                  <a:cubicBezTo>
                    <a:pt x="2482850" y="57387"/>
                    <a:pt x="2720340" y="48497"/>
                    <a:pt x="2934970" y="40877"/>
                  </a:cubicBezTo>
                  <a:cubicBezTo>
                    <a:pt x="3141980" y="33257"/>
                    <a:pt x="3351530" y="23097"/>
                    <a:pt x="3544570" y="16747"/>
                  </a:cubicBezTo>
                  <a:cubicBezTo>
                    <a:pt x="3718560" y="11667"/>
                    <a:pt x="3893820" y="10397"/>
                    <a:pt x="4043680" y="7857"/>
                  </a:cubicBezTo>
                  <a:cubicBezTo>
                    <a:pt x="4165600" y="5317"/>
                    <a:pt x="4281170" y="4047"/>
                    <a:pt x="4375150" y="4047"/>
                  </a:cubicBezTo>
                  <a:cubicBezTo>
                    <a:pt x="4446270" y="2777"/>
                    <a:pt x="4528820" y="-3573"/>
                    <a:pt x="4559300" y="2777"/>
                  </a:cubicBezTo>
                  <a:cubicBezTo>
                    <a:pt x="4570730" y="5317"/>
                    <a:pt x="4574540" y="11667"/>
                    <a:pt x="4579620" y="12937"/>
                  </a:cubicBezTo>
                  <a:cubicBezTo>
                    <a:pt x="4582160" y="14207"/>
                    <a:pt x="4584700" y="14207"/>
                    <a:pt x="4587240" y="14207"/>
                  </a:cubicBezTo>
                  <a:cubicBezTo>
                    <a:pt x="4589780" y="14207"/>
                    <a:pt x="4593590" y="15477"/>
                    <a:pt x="4593590" y="15477"/>
                  </a:cubicBezTo>
                  <a:cubicBezTo>
                    <a:pt x="4593590" y="15477"/>
                    <a:pt x="4598670" y="16747"/>
                    <a:pt x="4601210" y="18017"/>
                  </a:cubicBezTo>
                  <a:cubicBezTo>
                    <a:pt x="4602480" y="18017"/>
                    <a:pt x="4607560" y="19287"/>
                    <a:pt x="4607560" y="20557"/>
                  </a:cubicBezTo>
                  <a:cubicBezTo>
                    <a:pt x="4607560" y="20557"/>
                    <a:pt x="4611370" y="23097"/>
                    <a:pt x="4613910" y="24367"/>
                  </a:cubicBezTo>
                  <a:cubicBezTo>
                    <a:pt x="4615180" y="25637"/>
                    <a:pt x="4618990" y="28177"/>
                    <a:pt x="4618990" y="28177"/>
                  </a:cubicBezTo>
                  <a:cubicBezTo>
                    <a:pt x="4618990" y="28177"/>
                    <a:pt x="4622800" y="31987"/>
                    <a:pt x="4624070" y="33257"/>
                  </a:cubicBezTo>
                  <a:cubicBezTo>
                    <a:pt x="4626610" y="34527"/>
                    <a:pt x="4629150" y="38337"/>
                    <a:pt x="4629150" y="38337"/>
                  </a:cubicBezTo>
                  <a:cubicBezTo>
                    <a:pt x="4629150" y="38337"/>
                    <a:pt x="4631690" y="43417"/>
                    <a:pt x="4632960" y="44687"/>
                  </a:cubicBezTo>
                  <a:cubicBezTo>
                    <a:pt x="4634230" y="47227"/>
                    <a:pt x="4635500" y="51037"/>
                    <a:pt x="4635500" y="51037"/>
                  </a:cubicBezTo>
                  <a:cubicBezTo>
                    <a:pt x="4635500" y="51037"/>
                    <a:pt x="4636770" y="56117"/>
                    <a:pt x="4638040" y="58657"/>
                  </a:cubicBezTo>
                  <a:cubicBezTo>
                    <a:pt x="4638040" y="61197"/>
                    <a:pt x="4639310" y="65007"/>
                    <a:pt x="4639310" y="65007"/>
                  </a:cubicBezTo>
                  <a:cubicBezTo>
                    <a:pt x="4639310" y="65007"/>
                    <a:pt x="4639310" y="70087"/>
                    <a:pt x="4639310" y="72627"/>
                  </a:cubicBezTo>
                  <a:cubicBezTo>
                    <a:pt x="4639310" y="75167"/>
                    <a:pt x="4639310" y="78977"/>
                    <a:pt x="4639310" y="80247"/>
                  </a:cubicBezTo>
                  <a:cubicBezTo>
                    <a:pt x="4639310" y="80247"/>
                    <a:pt x="4638040" y="84057"/>
                    <a:pt x="4638040" y="86597"/>
                  </a:cubicBezTo>
                  <a:cubicBezTo>
                    <a:pt x="4638040" y="89137"/>
                    <a:pt x="4636770" y="94217"/>
                    <a:pt x="4636770" y="94217"/>
                  </a:cubicBezTo>
                  <a:cubicBezTo>
                    <a:pt x="4636770" y="94217"/>
                    <a:pt x="4634230" y="98027"/>
                    <a:pt x="4632960" y="100567"/>
                  </a:cubicBezTo>
                  <a:cubicBezTo>
                    <a:pt x="4631690" y="101837"/>
                    <a:pt x="4630420" y="106917"/>
                    <a:pt x="4630420" y="106917"/>
                  </a:cubicBezTo>
                  <a:cubicBezTo>
                    <a:pt x="4630420" y="106917"/>
                    <a:pt x="4626610" y="110727"/>
                    <a:pt x="4625340" y="111997"/>
                  </a:cubicBezTo>
                  <a:cubicBezTo>
                    <a:pt x="4624070" y="113267"/>
                    <a:pt x="4620260" y="117077"/>
                    <a:pt x="4620260" y="117077"/>
                  </a:cubicBezTo>
                  <a:cubicBezTo>
                    <a:pt x="4620260" y="117077"/>
                    <a:pt x="4616450" y="119617"/>
                    <a:pt x="4615180" y="122157"/>
                  </a:cubicBezTo>
                  <a:cubicBezTo>
                    <a:pt x="4612640" y="123427"/>
                    <a:pt x="4608830" y="125967"/>
                    <a:pt x="4608830" y="125967"/>
                  </a:cubicBezTo>
                  <a:cubicBezTo>
                    <a:pt x="4608830" y="125967"/>
                    <a:pt x="4603750" y="127237"/>
                    <a:pt x="4602480" y="128507"/>
                  </a:cubicBezTo>
                  <a:cubicBezTo>
                    <a:pt x="4599940" y="129777"/>
                    <a:pt x="4594860" y="131047"/>
                    <a:pt x="4594860" y="131047"/>
                  </a:cubicBezTo>
                  <a:cubicBezTo>
                    <a:pt x="4594860" y="131047"/>
                    <a:pt x="4591050" y="131047"/>
                    <a:pt x="4588510" y="132317"/>
                  </a:cubicBezTo>
                  <a:cubicBezTo>
                    <a:pt x="4585970" y="132317"/>
                    <a:pt x="4580890" y="132317"/>
                    <a:pt x="4580890" y="132317"/>
                  </a:cubicBezTo>
                  <a:cubicBezTo>
                    <a:pt x="4580890" y="132317"/>
                    <a:pt x="4359910" y="186927"/>
                    <a:pt x="4338320" y="190737"/>
                  </a:cubicBezTo>
                  <a:cubicBezTo>
                    <a:pt x="4335780" y="192007"/>
                    <a:pt x="4333240" y="192007"/>
                    <a:pt x="4333240" y="192007"/>
                  </a:cubicBezTo>
                  <a:cubicBezTo>
                    <a:pt x="4333240" y="193277"/>
                    <a:pt x="4469130" y="190737"/>
                    <a:pt x="4556760" y="189467"/>
                  </a:cubicBezTo>
                  <a:cubicBezTo>
                    <a:pt x="4679950" y="186927"/>
                    <a:pt x="4860290" y="180577"/>
                    <a:pt x="5003800" y="174227"/>
                  </a:cubicBezTo>
                  <a:cubicBezTo>
                    <a:pt x="5138420" y="167877"/>
                    <a:pt x="5274310" y="158987"/>
                    <a:pt x="5392420" y="153907"/>
                  </a:cubicBezTo>
                  <a:cubicBezTo>
                    <a:pt x="5491480" y="150097"/>
                    <a:pt x="5586730" y="148827"/>
                    <a:pt x="5665470" y="146287"/>
                  </a:cubicBezTo>
                  <a:cubicBezTo>
                    <a:pt x="5725160" y="145017"/>
                    <a:pt x="5778500" y="145017"/>
                    <a:pt x="5821680" y="142477"/>
                  </a:cubicBezTo>
                  <a:cubicBezTo>
                    <a:pt x="5852160" y="141207"/>
                    <a:pt x="5900420" y="138667"/>
                    <a:pt x="5900420" y="138667"/>
                  </a:cubicBezTo>
                  <a:cubicBezTo>
                    <a:pt x="5900420" y="138667"/>
                    <a:pt x="5905500" y="138667"/>
                    <a:pt x="5908040" y="139937"/>
                  </a:cubicBezTo>
                  <a:cubicBezTo>
                    <a:pt x="5910580" y="139937"/>
                    <a:pt x="5915660" y="139937"/>
                    <a:pt x="5915660" y="139937"/>
                  </a:cubicBezTo>
                  <a:cubicBezTo>
                    <a:pt x="5915660" y="139937"/>
                    <a:pt x="5919470" y="141207"/>
                    <a:pt x="5922010" y="142477"/>
                  </a:cubicBezTo>
                  <a:cubicBezTo>
                    <a:pt x="5924550" y="143747"/>
                    <a:pt x="5928360" y="145017"/>
                    <a:pt x="5928360" y="145017"/>
                  </a:cubicBezTo>
                  <a:cubicBezTo>
                    <a:pt x="5929630" y="145017"/>
                    <a:pt x="5933440" y="147557"/>
                    <a:pt x="5934710" y="148827"/>
                  </a:cubicBezTo>
                  <a:cubicBezTo>
                    <a:pt x="5937250" y="150097"/>
                    <a:pt x="5941060" y="152637"/>
                    <a:pt x="5941060" y="152637"/>
                  </a:cubicBezTo>
                  <a:cubicBezTo>
                    <a:pt x="5941060" y="152637"/>
                    <a:pt x="5944870" y="156447"/>
                    <a:pt x="5946140" y="157717"/>
                  </a:cubicBezTo>
                  <a:cubicBezTo>
                    <a:pt x="5947410" y="160257"/>
                    <a:pt x="5947410" y="161527"/>
                    <a:pt x="5949950" y="162797"/>
                  </a:cubicBezTo>
                  <a:cubicBezTo>
                    <a:pt x="5970270" y="171687"/>
                    <a:pt x="6132830" y="162797"/>
                    <a:pt x="6224270" y="162797"/>
                  </a:cubicBezTo>
                  <a:cubicBezTo>
                    <a:pt x="6315710" y="162797"/>
                    <a:pt x="6489700" y="164067"/>
                    <a:pt x="6499860" y="162797"/>
                  </a:cubicBezTo>
                  <a:cubicBezTo>
                    <a:pt x="6501130" y="162797"/>
                    <a:pt x="6501130" y="162797"/>
                    <a:pt x="6501130" y="162797"/>
                  </a:cubicBezTo>
                  <a:cubicBezTo>
                    <a:pt x="6502400" y="161527"/>
                    <a:pt x="6507480" y="158987"/>
                    <a:pt x="6508750" y="158987"/>
                  </a:cubicBezTo>
                  <a:cubicBezTo>
                    <a:pt x="6508750" y="158987"/>
                    <a:pt x="6513830" y="158987"/>
                    <a:pt x="6516370" y="158987"/>
                  </a:cubicBezTo>
                  <a:cubicBezTo>
                    <a:pt x="6518910" y="157717"/>
                    <a:pt x="6522720" y="157717"/>
                    <a:pt x="6522720" y="157717"/>
                  </a:cubicBezTo>
                  <a:cubicBezTo>
                    <a:pt x="6523990" y="157717"/>
                    <a:pt x="6605270" y="158987"/>
                    <a:pt x="6664960" y="158987"/>
                  </a:cubicBezTo>
                  <a:cubicBezTo>
                    <a:pt x="6765290" y="160257"/>
                    <a:pt x="6939280" y="160257"/>
                    <a:pt x="7070090" y="160257"/>
                  </a:cubicBezTo>
                  <a:cubicBezTo>
                    <a:pt x="7193280" y="160257"/>
                    <a:pt x="7376160" y="161527"/>
                    <a:pt x="7428230" y="161527"/>
                  </a:cubicBezTo>
                  <a:cubicBezTo>
                    <a:pt x="7443470" y="161527"/>
                    <a:pt x="7446010" y="161527"/>
                    <a:pt x="7457440" y="161527"/>
                  </a:cubicBezTo>
                  <a:cubicBezTo>
                    <a:pt x="7471410" y="161527"/>
                    <a:pt x="7482840" y="161527"/>
                    <a:pt x="7505700" y="161527"/>
                  </a:cubicBezTo>
                  <a:cubicBezTo>
                    <a:pt x="7564120" y="161527"/>
                    <a:pt x="7722870" y="160257"/>
                    <a:pt x="7814310" y="160257"/>
                  </a:cubicBezTo>
                  <a:cubicBezTo>
                    <a:pt x="7885430" y="160257"/>
                    <a:pt x="7956550" y="158987"/>
                    <a:pt x="8007350" y="158987"/>
                  </a:cubicBezTo>
                  <a:cubicBezTo>
                    <a:pt x="8041640" y="158987"/>
                    <a:pt x="8089900" y="160257"/>
                    <a:pt x="8089900" y="160257"/>
                  </a:cubicBezTo>
                  <a:cubicBezTo>
                    <a:pt x="8089900" y="160257"/>
                    <a:pt x="8094980" y="160257"/>
                    <a:pt x="8097520" y="160257"/>
                  </a:cubicBezTo>
                  <a:cubicBezTo>
                    <a:pt x="8100060" y="161527"/>
                    <a:pt x="8103870" y="161527"/>
                    <a:pt x="8103870" y="161527"/>
                  </a:cubicBezTo>
                  <a:cubicBezTo>
                    <a:pt x="8103870" y="161527"/>
                    <a:pt x="8108950" y="162797"/>
                    <a:pt x="8111490" y="164067"/>
                  </a:cubicBezTo>
                  <a:cubicBezTo>
                    <a:pt x="8114030" y="165337"/>
                    <a:pt x="8117840" y="166607"/>
                    <a:pt x="8117840" y="166607"/>
                  </a:cubicBezTo>
                  <a:cubicBezTo>
                    <a:pt x="8117840" y="166607"/>
                    <a:pt x="8121650" y="169147"/>
                    <a:pt x="8124190" y="170417"/>
                  </a:cubicBezTo>
                  <a:cubicBezTo>
                    <a:pt x="8126730" y="172957"/>
                    <a:pt x="8130540" y="175497"/>
                    <a:pt x="8130540" y="175497"/>
                  </a:cubicBezTo>
                  <a:cubicBezTo>
                    <a:pt x="8130540" y="175497"/>
                    <a:pt x="8133080" y="179307"/>
                    <a:pt x="8135620" y="180577"/>
                  </a:cubicBezTo>
                  <a:cubicBezTo>
                    <a:pt x="8136890" y="183117"/>
                    <a:pt x="8139430" y="185657"/>
                    <a:pt x="8139430" y="185657"/>
                  </a:cubicBezTo>
                  <a:cubicBezTo>
                    <a:pt x="8140700" y="186927"/>
                    <a:pt x="8141970" y="190737"/>
                    <a:pt x="8143240" y="193277"/>
                  </a:cubicBezTo>
                  <a:cubicBezTo>
                    <a:pt x="8144510" y="194547"/>
                    <a:pt x="8147050" y="199627"/>
                    <a:pt x="8147050" y="199627"/>
                  </a:cubicBezTo>
                  <a:cubicBezTo>
                    <a:pt x="8147050" y="199627"/>
                    <a:pt x="8148320" y="204707"/>
                    <a:pt x="8148320" y="205977"/>
                  </a:cubicBezTo>
                  <a:cubicBezTo>
                    <a:pt x="8148320" y="207247"/>
                    <a:pt x="8148320" y="208517"/>
                    <a:pt x="8149590" y="208517"/>
                  </a:cubicBezTo>
                  <a:cubicBezTo>
                    <a:pt x="8157210" y="214867"/>
                    <a:pt x="8260080" y="207247"/>
                    <a:pt x="8310880" y="209787"/>
                  </a:cubicBezTo>
                  <a:cubicBezTo>
                    <a:pt x="8355330" y="211057"/>
                    <a:pt x="8436610" y="221217"/>
                    <a:pt x="8437880" y="221217"/>
                  </a:cubicBezTo>
                  <a:cubicBezTo>
                    <a:pt x="8437880" y="221217"/>
                    <a:pt x="8442960" y="221217"/>
                    <a:pt x="8444230" y="221217"/>
                  </a:cubicBezTo>
                  <a:cubicBezTo>
                    <a:pt x="8446770" y="221217"/>
                    <a:pt x="8451850" y="222487"/>
                    <a:pt x="8451850" y="222487"/>
                  </a:cubicBezTo>
                  <a:cubicBezTo>
                    <a:pt x="8451850" y="222487"/>
                    <a:pt x="8456930" y="223757"/>
                    <a:pt x="8459470" y="223757"/>
                  </a:cubicBezTo>
                  <a:cubicBezTo>
                    <a:pt x="8460740" y="225027"/>
                    <a:pt x="8465820" y="226297"/>
                    <a:pt x="8465820" y="226297"/>
                  </a:cubicBezTo>
                  <a:cubicBezTo>
                    <a:pt x="8465820" y="226297"/>
                    <a:pt x="8469630" y="228837"/>
                    <a:pt x="8472170" y="230107"/>
                  </a:cubicBezTo>
                  <a:cubicBezTo>
                    <a:pt x="8474710" y="231377"/>
                    <a:pt x="8478520" y="233917"/>
                    <a:pt x="8478520" y="233917"/>
                  </a:cubicBezTo>
                  <a:cubicBezTo>
                    <a:pt x="8478520" y="233917"/>
                    <a:pt x="8482330" y="236457"/>
                    <a:pt x="8483600" y="238997"/>
                  </a:cubicBezTo>
                  <a:cubicBezTo>
                    <a:pt x="8484870" y="240267"/>
                    <a:pt x="8488680" y="244077"/>
                    <a:pt x="8488680" y="244077"/>
                  </a:cubicBezTo>
                  <a:cubicBezTo>
                    <a:pt x="8488680" y="244077"/>
                    <a:pt x="8491220" y="247887"/>
                    <a:pt x="8492490" y="250427"/>
                  </a:cubicBezTo>
                  <a:cubicBezTo>
                    <a:pt x="8493760" y="251697"/>
                    <a:pt x="8496300" y="255507"/>
                    <a:pt x="8496300" y="255507"/>
                  </a:cubicBezTo>
                  <a:cubicBezTo>
                    <a:pt x="8496300" y="255507"/>
                    <a:pt x="8497570" y="260587"/>
                    <a:pt x="8498840" y="263127"/>
                  </a:cubicBezTo>
                  <a:cubicBezTo>
                    <a:pt x="8498840" y="265667"/>
                    <a:pt x="8500110" y="269477"/>
                    <a:pt x="8500110" y="269477"/>
                  </a:cubicBezTo>
                  <a:cubicBezTo>
                    <a:pt x="8500110" y="269477"/>
                    <a:pt x="8501380" y="274557"/>
                    <a:pt x="8501380" y="277097"/>
                  </a:cubicBezTo>
                  <a:cubicBezTo>
                    <a:pt x="8501380" y="279637"/>
                    <a:pt x="8501380" y="284717"/>
                    <a:pt x="8501380" y="284717"/>
                  </a:cubicBezTo>
                  <a:cubicBezTo>
                    <a:pt x="8501380" y="284717"/>
                    <a:pt x="8501380" y="288527"/>
                    <a:pt x="8500110" y="291067"/>
                  </a:cubicBezTo>
                  <a:cubicBezTo>
                    <a:pt x="8500110" y="293607"/>
                    <a:pt x="8498840" y="298687"/>
                    <a:pt x="8498840" y="298687"/>
                  </a:cubicBezTo>
                  <a:cubicBezTo>
                    <a:pt x="8498840" y="298687"/>
                    <a:pt x="8497570" y="302497"/>
                    <a:pt x="8496300" y="305037"/>
                  </a:cubicBezTo>
                  <a:cubicBezTo>
                    <a:pt x="8495030" y="307577"/>
                    <a:pt x="8493760" y="311387"/>
                    <a:pt x="8493760" y="311387"/>
                  </a:cubicBezTo>
                  <a:cubicBezTo>
                    <a:pt x="8493760" y="311387"/>
                    <a:pt x="8489950" y="315197"/>
                    <a:pt x="8488680" y="317737"/>
                  </a:cubicBezTo>
                  <a:cubicBezTo>
                    <a:pt x="8487410" y="319007"/>
                    <a:pt x="8484870" y="322817"/>
                    <a:pt x="8484870" y="322817"/>
                  </a:cubicBezTo>
                  <a:cubicBezTo>
                    <a:pt x="8484870" y="322817"/>
                    <a:pt x="8481060" y="326627"/>
                    <a:pt x="8478520" y="327897"/>
                  </a:cubicBezTo>
                  <a:cubicBezTo>
                    <a:pt x="8477250" y="329167"/>
                    <a:pt x="8473440" y="331707"/>
                    <a:pt x="8473440" y="331707"/>
                  </a:cubicBezTo>
                  <a:cubicBezTo>
                    <a:pt x="8473440" y="331707"/>
                    <a:pt x="8468360" y="334247"/>
                    <a:pt x="8467090" y="335517"/>
                  </a:cubicBezTo>
                  <a:cubicBezTo>
                    <a:pt x="8464550" y="336787"/>
                    <a:pt x="8460740" y="338057"/>
                    <a:pt x="8459470" y="338057"/>
                  </a:cubicBezTo>
                  <a:cubicBezTo>
                    <a:pt x="8459470" y="338057"/>
                    <a:pt x="8455660" y="339327"/>
                    <a:pt x="8453120" y="339327"/>
                  </a:cubicBezTo>
                  <a:cubicBezTo>
                    <a:pt x="8450580" y="340597"/>
                    <a:pt x="8449310" y="340597"/>
                    <a:pt x="8445500" y="340597"/>
                  </a:cubicBezTo>
                  <a:cubicBezTo>
                    <a:pt x="8434070" y="343137"/>
                    <a:pt x="8397240" y="353297"/>
                    <a:pt x="8364220" y="357107"/>
                  </a:cubicBezTo>
                  <a:cubicBezTo>
                    <a:pt x="8318500" y="363457"/>
                    <a:pt x="8199120" y="365997"/>
                    <a:pt x="8194040" y="369807"/>
                  </a:cubicBezTo>
                  <a:cubicBezTo>
                    <a:pt x="8194040" y="369807"/>
                    <a:pt x="8191500" y="373617"/>
                    <a:pt x="8188960" y="374887"/>
                  </a:cubicBezTo>
                  <a:cubicBezTo>
                    <a:pt x="8187690" y="377427"/>
                    <a:pt x="8185150" y="379967"/>
                    <a:pt x="8185150" y="379967"/>
                  </a:cubicBezTo>
                  <a:cubicBezTo>
                    <a:pt x="8185150" y="379967"/>
                    <a:pt x="8180070" y="383777"/>
                    <a:pt x="8178800" y="385047"/>
                  </a:cubicBezTo>
                  <a:cubicBezTo>
                    <a:pt x="8176260" y="386317"/>
                    <a:pt x="8172450" y="388857"/>
                    <a:pt x="8172450" y="388857"/>
                  </a:cubicBezTo>
                  <a:cubicBezTo>
                    <a:pt x="8172450" y="388857"/>
                    <a:pt x="8168640" y="390127"/>
                    <a:pt x="8166100" y="391397"/>
                  </a:cubicBezTo>
                  <a:cubicBezTo>
                    <a:pt x="8163560" y="391397"/>
                    <a:pt x="8159750" y="393937"/>
                    <a:pt x="8159750" y="393937"/>
                  </a:cubicBezTo>
                  <a:cubicBezTo>
                    <a:pt x="8159750" y="393937"/>
                    <a:pt x="8154670" y="393937"/>
                    <a:pt x="8152130" y="393937"/>
                  </a:cubicBezTo>
                  <a:cubicBezTo>
                    <a:pt x="8150860" y="395207"/>
                    <a:pt x="8145780" y="395207"/>
                    <a:pt x="8145780" y="395207"/>
                  </a:cubicBezTo>
                  <a:cubicBezTo>
                    <a:pt x="8145780" y="395207"/>
                    <a:pt x="8034020" y="390127"/>
                    <a:pt x="8032750" y="395207"/>
                  </a:cubicBezTo>
                  <a:cubicBezTo>
                    <a:pt x="8031480" y="395207"/>
                    <a:pt x="8034020" y="396477"/>
                    <a:pt x="8035290" y="397747"/>
                  </a:cubicBezTo>
                  <a:cubicBezTo>
                    <a:pt x="8036560" y="400287"/>
                    <a:pt x="8040370" y="402827"/>
                    <a:pt x="8040370" y="402827"/>
                  </a:cubicBezTo>
                  <a:cubicBezTo>
                    <a:pt x="8040370" y="402827"/>
                    <a:pt x="8040370" y="402827"/>
                    <a:pt x="8040370" y="404097"/>
                  </a:cubicBezTo>
                  <a:cubicBezTo>
                    <a:pt x="8040370" y="404097"/>
                    <a:pt x="8042910" y="407907"/>
                    <a:pt x="8044180" y="410447"/>
                  </a:cubicBezTo>
                  <a:cubicBezTo>
                    <a:pt x="8045450" y="411717"/>
                    <a:pt x="8047990" y="416797"/>
                    <a:pt x="8047990" y="416797"/>
                  </a:cubicBezTo>
                  <a:cubicBezTo>
                    <a:pt x="8047990" y="416797"/>
                    <a:pt x="8049260" y="420607"/>
                    <a:pt x="8050530" y="423147"/>
                  </a:cubicBezTo>
                  <a:cubicBezTo>
                    <a:pt x="8050530" y="425687"/>
                    <a:pt x="8051800" y="430767"/>
                    <a:pt x="8051800" y="430767"/>
                  </a:cubicBezTo>
                  <a:cubicBezTo>
                    <a:pt x="8051800" y="430767"/>
                    <a:pt x="8051800" y="435847"/>
                    <a:pt x="8051800" y="438387"/>
                  </a:cubicBezTo>
                  <a:cubicBezTo>
                    <a:pt x="8051800" y="440927"/>
                    <a:pt x="8051800" y="444737"/>
                    <a:pt x="8051800" y="444737"/>
                  </a:cubicBezTo>
                  <a:cubicBezTo>
                    <a:pt x="8051800" y="446007"/>
                    <a:pt x="8051800" y="449817"/>
                    <a:pt x="8050530" y="452357"/>
                  </a:cubicBezTo>
                  <a:cubicBezTo>
                    <a:pt x="8050530" y="454897"/>
                    <a:pt x="8049260" y="459977"/>
                    <a:pt x="8049260" y="459977"/>
                  </a:cubicBezTo>
                  <a:cubicBezTo>
                    <a:pt x="8049260" y="459977"/>
                    <a:pt x="8046720" y="463787"/>
                    <a:pt x="8046720" y="466327"/>
                  </a:cubicBezTo>
                  <a:cubicBezTo>
                    <a:pt x="8045450" y="468867"/>
                    <a:pt x="8042910" y="472677"/>
                    <a:pt x="8042910" y="472677"/>
                  </a:cubicBezTo>
                  <a:cubicBezTo>
                    <a:pt x="8042910" y="472677"/>
                    <a:pt x="8040370" y="476487"/>
                    <a:pt x="8037830" y="479027"/>
                  </a:cubicBezTo>
                  <a:cubicBezTo>
                    <a:pt x="8036560" y="480297"/>
                    <a:pt x="8034020" y="484107"/>
                    <a:pt x="8034020" y="484107"/>
                  </a:cubicBezTo>
                  <a:cubicBezTo>
                    <a:pt x="8034020" y="484107"/>
                    <a:pt x="8028940" y="487917"/>
                    <a:pt x="8027670" y="489187"/>
                  </a:cubicBezTo>
                  <a:cubicBezTo>
                    <a:pt x="8025130" y="490457"/>
                    <a:pt x="8021320" y="492997"/>
                    <a:pt x="8021320" y="492997"/>
                  </a:cubicBezTo>
                  <a:cubicBezTo>
                    <a:pt x="8021320" y="492997"/>
                    <a:pt x="8017510" y="495537"/>
                    <a:pt x="8014970" y="495537"/>
                  </a:cubicBezTo>
                  <a:cubicBezTo>
                    <a:pt x="8012430" y="496807"/>
                    <a:pt x="8008620" y="499347"/>
                    <a:pt x="8007350" y="499347"/>
                  </a:cubicBezTo>
                  <a:cubicBezTo>
                    <a:pt x="8007350" y="499347"/>
                    <a:pt x="8003540" y="499347"/>
                    <a:pt x="8001000" y="500617"/>
                  </a:cubicBezTo>
                  <a:cubicBezTo>
                    <a:pt x="7998460" y="500617"/>
                    <a:pt x="7997190" y="500617"/>
                    <a:pt x="7993380" y="500617"/>
                  </a:cubicBezTo>
                  <a:cubicBezTo>
                    <a:pt x="7981950" y="503157"/>
                    <a:pt x="7952740" y="510777"/>
                    <a:pt x="7927340" y="513317"/>
                  </a:cubicBezTo>
                  <a:cubicBezTo>
                    <a:pt x="7893050" y="517127"/>
                    <a:pt x="7852410" y="514587"/>
                    <a:pt x="7805420" y="515857"/>
                  </a:cubicBezTo>
                  <a:cubicBezTo>
                    <a:pt x="7740650" y="518397"/>
                    <a:pt x="7663180" y="522207"/>
                    <a:pt x="7578090" y="526017"/>
                  </a:cubicBezTo>
                  <a:cubicBezTo>
                    <a:pt x="7467600" y="532367"/>
                    <a:pt x="7332980" y="542527"/>
                    <a:pt x="7198360" y="548877"/>
                  </a:cubicBezTo>
                  <a:cubicBezTo>
                    <a:pt x="7045960" y="557767"/>
                    <a:pt x="6877050" y="564117"/>
                    <a:pt x="6711950" y="571737"/>
                  </a:cubicBezTo>
                  <a:cubicBezTo>
                    <a:pt x="6541770" y="579357"/>
                    <a:pt x="6363970" y="585707"/>
                    <a:pt x="6192520" y="593327"/>
                  </a:cubicBezTo>
                  <a:cubicBezTo>
                    <a:pt x="6024880" y="599677"/>
                    <a:pt x="5852160" y="607297"/>
                    <a:pt x="5690870" y="612377"/>
                  </a:cubicBezTo>
                  <a:cubicBezTo>
                    <a:pt x="5542280" y="617457"/>
                    <a:pt x="5398770" y="623807"/>
                    <a:pt x="5260340" y="626347"/>
                  </a:cubicBezTo>
                  <a:cubicBezTo>
                    <a:pt x="5130800" y="627617"/>
                    <a:pt x="4886960" y="626347"/>
                    <a:pt x="4886960" y="626347"/>
                  </a:cubicBezTo>
                  <a:cubicBezTo>
                    <a:pt x="4886960" y="626347"/>
                    <a:pt x="4881880" y="625077"/>
                    <a:pt x="4879340" y="625077"/>
                  </a:cubicBezTo>
                  <a:cubicBezTo>
                    <a:pt x="4876800" y="625077"/>
                    <a:pt x="4872990" y="625077"/>
                    <a:pt x="4872990" y="625077"/>
                  </a:cubicBezTo>
                  <a:cubicBezTo>
                    <a:pt x="4871720" y="625077"/>
                    <a:pt x="4867910" y="623807"/>
                    <a:pt x="4865370" y="622537"/>
                  </a:cubicBezTo>
                  <a:cubicBezTo>
                    <a:pt x="4862830" y="621267"/>
                    <a:pt x="4859020" y="619997"/>
                    <a:pt x="4859020" y="619997"/>
                  </a:cubicBezTo>
                  <a:cubicBezTo>
                    <a:pt x="4859020" y="619997"/>
                    <a:pt x="4853940" y="617457"/>
                    <a:pt x="4852670" y="616187"/>
                  </a:cubicBezTo>
                  <a:cubicBezTo>
                    <a:pt x="4850130" y="614917"/>
                    <a:pt x="4846320" y="612377"/>
                    <a:pt x="4846320" y="612377"/>
                  </a:cubicBezTo>
                  <a:cubicBezTo>
                    <a:pt x="4846320" y="612377"/>
                    <a:pt x="4842510" y="608567"/>
                    <a:pt x="4841240" y="607297"/>
                  </a:cubicBezTo>
                  <a:cubicBezTo>
                    <a:pt x="4838700" y="606027"/>
                    <a:pt x="4836160" y="602217"/>
                    <a:pt x="4836160" y="602217"/>
                  </a:cubicBezTo>
                  <a:cubicBezTo>
                    <a:pt x="4836160" y="602217"/>
                    <a:pt x="4833620" y="598407"/>
                    <a:pt x="4832350" y="595867"/>
                  </a:cubicBezTo>
                  <a:cubicBezTo>
                    <a:pt x="4831080" y="593327"/>
                    <a:pt x="4828540" y="589517"/>
                    <a:pt x="4828540" y="589517"/>
                  </a:cubicBezTo>
                  <a:cubicBezTo>
                    <a:pt x="4828540" y="589517"/>
                    <a:pt x="4827270" y="584437"/>
                    <a:pt x="4826000" y="581897"/>
                  </a:cubicBezTo>
                  <a:cubicBezTo>
                    <a:pt x="4826000" y="580627"/>
                    <a:pt x="4824730" y="575547"/>
                    <a:pt x="4824730" y="575547"/>
                  </a:cubicBezTo>
                  <a:cubicBezTo>
                    <a:pt x="4824730" y="575547"/>
                    <a:pt x="4823460" y="570467"/>
                    <a:pt x="4823460" y="567927"/>
                  </a:cubicBezTo>
                  <a:cubicBezTo>
                    <a:pt x="4823460" y="565387"/>
                    <a:pt x="4823460" y="561577"/>
                    <a:pt x="4823460" y="560307"/>
                  </a:cubicBezTo>
                  <a:cubicBezTo>
                    <a:pt x="4823460" y="560307"/>
                    <a:pt x="4826000" y="557767"/>
                    <a:pt x="4824730" y="556497"/>
                  </a:cubicBezTo>
                  <a:cubicBezTo>
                    <a:pt x="4817110" y="547607"/>
                    <a:pt x="4672330" y="556497"/>
                    <a:pt x="4574540" y="556497"/>
                  </a:cubicBezTo>
                  <a:cubicBezTo>
                    <a:pt x="4436110" y="556497"/>
                    <a:pt x="4231640" y="556497"/>
                    <a:pt x="4074160" y="557767"/>
                  </a:cubicBezTo>
                  <a:cubicBezTo>
                    <a:pt x="3934460" y="557767"/>
                    <a:pt x="3794760" y="557767"/>
                    <a:pt x="3679190" y="557767"/>
                  </a:cubicBezTo>
                  <a:cubicBezTo>
                    <a:pt x="3587750" y="557767"/>
                    <a:pt x="3495040" y="559037"/>
                    <a:pt x="3434080" y="557767"/>
                  </a:cubicBezTo>
                  <a:cubicBezTo>
                    <a:pt x="3398520" y="555227"/>
                    <a:pt x="3348990" y="551417"/>
                    <a:pt x="3348990" y="551417"/>
                  </a:cubicBezTo>
                  <a:cubicBezTo>
                    <a:pt x="3348990" y="551417"/>
                    <a:pt x="3343910" y="551417"/>
                    <a:pt x="3341370" y="551417"/>
                  </a:cubicBezTo>
                  <a:cubicBezTo>
                    <a:pt x="3338830" y="551417"/>
                    <a:pt x="3333750" y="552687"/>
                    <a:pt x="3333750" y="552687"/>
                  </a:cubicBezTo>
                  <a:cubicBezTo>
                    <a:pt x="3333750" y="552687"/>
                    <a:pt x="3328670" y="551417"/>
                    <a:pt x="3327400" y="551417"/>
                  </a:cubicBezTo>
                  <a:cubicBezTo>
                    <a:pt x="3324860" y="551417"/>
                    <a:pt x="3319780" y="550147"/>
                    <a:pt x="3319780" y="550147"/>
                  </a:cubicBezTo>
                  <a:cubicBezTo>
                    <a:pt x="3319780" y="550147"/>
                    <a:pt x="3314700" y="548877"/>
                    <a:pt x="3312160" y="547607"/>
                  </a:cubicBezTo>
                  <a:cubicBezTo>
                    <a:pt x="3310890" y="547607"/>
                    <a:pt x="3305810" y="545067"/>
                    <a:pt x="3305810" y="545067"/>
                  </a:cubicBezTo>
                  <a:cubicBezTo>
                    <a:pt x="3305810" y="545067"/>
                    <a:pt x="3302000" y="542527"/>
                    <a:pt x="3299460" y="541257"/>
                  </a:cubicBezTo>
                  <a:cubicBezTo>
                    <a:pt x="3298190" y="539987"/>
                    <a:pt x="3294380" y="537447"/>
                    <a:pt x="3294380" y="537447"/>
                  </a:cubicBezTo>
                  <a:cubicBezTo>
                    <a:pt x="3294380" y="536177"/>
                    <a:pt x="3290570" y="532367"/>
                    <a:pt x="3289300" y="531097"/>
                  </a:cubicBezTo>
                  <a:cubicBezTo>
                    <a:pt x="3288030" y="531097"/>
                    <a:pt x="3289300" y="529827"/>
                    <a:pt x="3286760" y="529827"/>
                  </a:cubicBezTo>
                  <a:cubicBezTo>
                    <a:pt x="3271520" y="522207"/>
                    <a:pt x="3045460" y="528557"/>
                    <a:pt x="2924810" y="526017"/>
                  </a:cubicBezTo>
                  <a:cubicBezTo>
                    <a:pt x="2804160" y="524747"/>
                    <a:pt x="2663190" y="529827"/>
                    <a:pt x="2564130" y="517127"/>
                  </a:cubicBezTo>
                  <a:cubicBezTo>
                    <a:pt x="2490470" y="506967"/>
                    <a:pt x="2377440" y="472677"/>
                    <a:pt x="2377440" y="472677"/>
                  </a:cubicBezTo>
                  <a:cubicBezTo>
                    <a:pt x="2377440" y="472677"/>
                    <a:pt x="2372360" y="472677"/>
                    <a:pt x="2369820" y="472677"/>
                  </a:cubicBezTo>
                  <a:cubicBezTo>
                    <a:pt x="2368550" y="472677"/>
                    <a:pt x="2363470" y="471407"/>
                    <a:pt x="2363470" y="471407"/>
                  </a:cubicBezTo>
                  <a:cubicBezTo>
                    <a:pt x="2363470" y="471407"/>
                    <a:pt x="2358390" y="470137"/>
                    <a:pt x="2357120" y="470137"/>
                  </a:cubicBezTo>
                  <a:cubicBezTo>
                    <a:pt x="2354580" y="468867"/>
                    <a:pt x="2354580" y="468867"/>
                    <a:pt x="2352040" y="467597"/>
                  </a:cubicBezTo>
                  <a:cubicBezTo>
                    <a:pt x="2331720" y="465057"/>
                    <a:pt x="2209800" y="466327"/>
                    <a:pt x="2124710" y="466327"/>
                  </a:cubicBezTo>
                  <a:cubicBezTo>
                    <a:pt x="2015490" y="465057"/>
                    <a:pt x="1860550" y="461247"/>
                    <a:pt x="1753870" y="463787"/>
                  </a:cubicBezTo>
                  <a:cubicBezTo>
                    <a:pt x="1670050" y="466327"/>
                    <a:pt x="1590040" y="473947"/>
                    <a:pt x="1532890" y="476487"/>
                  </a:cubicBezTo>
                  <a:cubicBezTo>
                    <a:pt x="1494790" y="479027"/>
                    <a:pt x="1470660" y="480297"/>
                    <a:pt x="1438910" y="481567"/>
                  </a:cubicBezTo>
                  <a:cubicBezTo>
                    <a:pt x="1407160" y="484107"/>
                    <a:pt x="1343660" y="489187"/>
                    <a:pt x="1343660" y="489187"/>
                  </a:cubicBezTo>
                  <a:cubicBezTo>
                    <a:pt x="1343660" y="489187"/>
                    <a:pt x="1338580" y="489187"/>
                    <a:pt x="1336040" y="489187"/>
                  </a:cubicBezTo>
                  <a:cubicBezTo>
                    <a:pt x="1333500" y="489187"/>
                    <a:pt x="1328420" y="487917"/>
                    <a:pt x="1328420" y="487917"/>
                  </a:cubicBezTo>
                  <a:cubicBezTo>
                    <a:pt x="1328420" y="487917"/>
                    <a:pt x="1324610" y="486647"/>
                    <a:pt x="1322070" y="485377"/>
                  </a:cubicBezTo>
                  <a:cubicBezTo>
                    <a:pt x="1319530" y="485377"/>
                    <a:pt x="1314450" y="484107"/>
                    <a:pt x="1314450" y="482837"/>
                  </a:cubicBezTo>
                  <a:cubicBezTo>
                    <a:pt x="1314450" y="482837"/>
                    <a:pt x="1310640" y="480297"/>
                    <a:pt x="1308100" y="479027"/>
                  </a:cubicBezTo>
                  <a:cubicBezTo>
                    <a:pt x="1306830" y="477757"/>
                    <a:pt x="1303020" y="475217"/>
                    <a:pt x="1303020" y="475217"/>
                  </a:cubicBezTo>
                  <a:cubicBezTo>
                    <a:pt x="1301750" y="475217"/>
                    <a:pt x="1299210" y="471407"/>
                    <a:pt x="1297940" y="470137"/>
                  </a:cubicBezTo>
                  <a:cubicBezTo>
                    <a:pt x="1295400" y="468867"/>
                    <a:pt x="1292860" y="465057"/>
                    <a:pt x="1292860" y="465057"/>
                  </a:cubicBezTo>
                  <a:cubicBezTo>
                    <a:pt x="1291590" y="465057"/>
                    <a:pt x="1292860" y="465057"/>
                    <a:pt x="1291590" y="465057"/>
                  </a:cubicBezTo>
                  <a:cubicBezTo>
                    <a:pt x="1290320" y="463787"/>
                    <a:pt x="1155700" y="481567"/>
                    <a:pt x="1089660" y="489187"/>
                  </a:cubicBezTo>
                  <a:cubicBezTo>
                    <a:pt x="1027430" y="498077"/>
                    <a:pt x="962660" y="508237"/>
                    <a:pt x="906780" y="513317"/>
                  </a:cubicBezTo>
                  <a:cubicBezTo>
                    <a:pt x="858520" y="519667"/>
                    <a:pt x="815340" y="522207"/>
                    <a:pt x="772160" y="526017"/>
                  </a:cubicBezTo>
                  <a:cubicBezTo>
                    <a:pt x="732790" y="529827"/>
                    <a:pt x="671830" y="534907"/>
                    <a:pt x="659130" y="536177"/>
                  </a:cubicBezTo>
                  <a:cubicBezTo>
                    <a:pt x="656590" y="537447"/>
                    <a:pt x="654050" y="537447"/>
                    <a:pt x="654050" y="537447"/>
                  </a:cubicBezTo>
                  <a:cubicBezTo>
                    <a:pt x="654050" y="537447"/>
                    <a:pt x="648970" y="537447"/>
                    <a:pt x="646430" y="537447"/>
                  </a:cubicBezTo>
                  <a:cubicBezTo>
                    <a:pt x="643890" y="536177"/>
                    <a:pt x="638810" y="536177"/>
                    <a:pt x="638810" y="536177"/>
                  </a:cubicBezTo>
                  <a:cubicBezTo>
                    <a:pt x="638810" y="536177"/>
                    <a:pt x="633730" y="534907"/>
                    <a:pt x="631190" y="533637"/>
                  </a:cubicBezTo>
                  <a:cubicBezTo>
                    <a:pt x="628650" y="533637"/>
                    <a:pt x="624840" y="531097"/>
                    <a:pt x="624840" y="531097"/>
                  </a:cubicBezTo>
                  <a:cubicBezTo>
                    <a:pt x="624840" y="531097"/>
                    <a:pt x="619760" y="528557"/>
                    <a:pt x="618490" y="527287"/>
                  </a:cubicBezTo>
                  <a:cubicBezTo>
                    <a:pt x="615950" y="526017"/>
                    <a:pt x="612140" y="523477"/>
                    <a:pt x="610870" y="523477"/>
                  </a:cubicBezTo>
                  <a:cubicBezTo>
                    <a:pt x="610870" y="523477"/>
                    <a:pt x="608330" y="519667"/>
                    <a:pt x="605790" y="518397"/>
                  </a:cubicBezTo>
                  <a:cubicBezTo>
                    <a:pt x="604520" y="515857"/>
                    <a:pt x="600710" y="512047"/>
                    <a:pt x="600710" y="512047"/>
                  </a:cubicBezTo>
                  <a:cubicBezTo>
                    <a:pt x="600710" y="512047"/>
                    <a:pt x="598170" y="508237"/>
                    <a:pt x="596900" y="505697"/>
                  </a:cubicBezTo>
                  <a:cubicBezTo>
                    <a:pt x="595630" y="504427"/>
                    <a:pt x="593090" y="499347"/>
                    <a:pt x="593090" y="499347"/>
                  </a:cubicBezTo>
                  <a:cubicBezTo>
                    <a:pt x="593090" y="499347"/>
                    <a:pt x="591820" y="494267"/>
                    <a:pt x="590550" y="491727"/>
                  </a:cubicBezTo>
                  <a:cubicBezTo>
                    <a:pt x="590550" y="489187"/>
                    <a:pt x="589280" y="485377"/>
                    <a:pt x="589280" y="485377"/>
                  </a:cubicBezTo>
                  <a:cubicBezTo>
                    <a:pt x="589280" y="484107"/>
                    <a:pt x="589280" y="480297"/>
                    <a:pt x="588010" y="477757"/>
                  </a:cubicBezTo>
                  <a:cubicBezTo>
                    <a:pt x="588010" y="475217"/>
                    <a:pt x="588010" y="470137"/>
                    <a:pt x="588010" y="470137"/>
                  </a:cubicBezTo>
                  <a:cubicBezTo>
                    <a:pt x="588010" y="470137"/>
                    <a:pt x="589280" y="463787"/>
                    <a:pt x="589280" y="462517"/>
                  </a:cubicBezTo>
                  <a:cubicBezTo>
                    <a:pt x="590550" y="461247"/>
                    <a:pt x="590550" y="459977"/>
                    <a:pt x="590550" y="459977"/>
                  </a:cubicBezTo>
                  <a:cubicBezTo>
                    <a:pt x="588010" y="457437"/>
                    <a:pt x="558800" y="459977"/>
                    <a:pt x="532130" y="459977"/>
                  </a:cubicBezTo>
                  <a:cubicBezTo>
                    <a:pt x="474980" y="461247"/>
                    <a:pt x="331470" y="461247"/>
                    <a:pt x="254000" y="462517"/>
                  </a:cubicBezTo>
                  <a:cubicBezTo>
                    <a:pt x="196850" y="462517"/>
                    <a:pt x="143510" y="462517"/>
                    <a:pt x="107950" y="463787"/>
                  </a:cubicBezTo>
                  <a:cubicBezTo>
                    <a:pt x="87630" y="463787"/>
                    <a:pt x="60960" y="465057"/>
                    <a:pt x="59690" y="465057"/>
                  </a:cubicBezTo>
                  <a:cubicBezTo>
                    <a:pt x="59690" y="465057"/>
                    <a:pt x="54610" y="465057"/>
                    <a:pt x="53340" y="465057"/>
                  </a:cubicBezTo>
                  <a:cubicBezTo>
                    <a:pt x="50800" y="465057"/>
                    <a:pt x="45720" y="463787"/>
                    <a:pt x="45720" y="463787"/>
                  </a:cubicBezTo>
                  <a:cubicBezTo>
                    <a:pt x="45720" y="463787"/>
                    <a:pt x="40640" y="462517"/>
                    <a:pt x="39370" y="461247"/>
                  </a:cubicBezTo>
                  <a:cubicBezTo>
                    <a:pt x="36830" y="461247"/>
                    <a:pt x="31750" y="458707"/>
                    <a:pt x="31750" y="458707"/>
                  </a:cubicBezTo>
                  <a:cubicBezTo>
                    <a:pt x="31750" y="458707"/>
                    <a:pt x="27940" y="456167"/>
                    <a:pt x="26670" y="454897"/>
                  </a:cubicBezTo>
                  <a:cubicBezTo>
                    <a:pt x="24130" y="453627"/>
                    <a:pt x="20320" y="451087"/>
                    <a:pt x="20320" y="451087"/>
                  </a:cubicBezTo>
                  <a:cubicBezTo>
                    <a:pt x="20320" y="451087"/>
                    <a:pt x="16510" y="447277"/>
                    <a:pt x="15240" y="444737"/>
                  </a:cubicBezTo>
                  <a:cubicBezTo>
                    <a:pt x="13970" y="443467"/>
                    <a:pt x="10160" y="439657"/>
                    <a:pt x="10160" y="439657"/>
                  </a:cubicBezTo>
                  <a:cubicBezTo>
                    <a:pt x="10160" y="439657"/>
                    <a:pt x="7620" y="435847"/>
                    <a:pt x="6350" y="433307"/>
                  </a:cubicBezTo>
                  <a:cubicBezTo>
                    <a:pt x="6350" y="432037"/>
                    <a:pt x="3810" y="426957"/>
                    <a:pt x="3810" y="426957"/>
                  </a:cubicBezTo>
                  <a:cubicBezTo>
                    <a:pt x="3810" y="426957"/>
                    <a:pt x="2540" y="421877"/>
                    <a:pt x="1270" y="420607"/>
                  </a:cubicBezTo>
                  <a:cubicBezTo>
                    <a:pt x="1270" y="418067"/>
                    <a:pt x="0" y="412987"/>
                    <a:pt x="0" y="412987"/>
                  </a:cubicBezTo>
                  <a:cubicBezTo>
                    <a:pt x="0" y="412987"/>
                    <a:pt x="0" y="407907"/>
                    <a:pt x="0" y="405367"/>
                  </a:cubicBezTo>
                  <a:cubicBezTo>
                    <a:pt x="0" y="402827"/>
                    <a:pt x="0" y="399017"/>
                    <a:pt x="0" y="399017"/>
                  </a:cubicBezTo>
                  <a:moveTo>
                    <a:pt x="2546350" y="179307"/>
                  </a:moveTo>
                  <a:cubicBezTo>
                    <a:pt x="2641600" y="183117"/>
                    <a:pt x="2641600" y="183117"/>
                    <a:pt x="2641600" y="183117"/>
                  </a:cubicBezTo>
                  <a:cubicBezTo>
                    <a:pt x="2641600" y="183117"/>
                    <a:pt x="2646680" y="183117"/>
                    <a:pt x="2649220" y="183117"/>
                  </a:cubicBezTo>
                  <a:cubicBezTo>
                    <a:pt x="2651760" y="184387"/>
                    <a:pt x="2656840" y="184387"/>
                    <a:pt x="2656840" y="184387"/>
                  </a:cubicBezTo>
                  <a:cubicBezTo>
                    <a:pt x="2656840" y="184387"/>
                    <a:pt x="2661920" y="185657"/>
                    <a:pt x="2664460" y="185657"/>
                  </a:cubicBezTo>
                  <a:cubicBezTo>
                    <a:pt x="2667000" y="186927"/>
                    <a:pt x="2672080" y="188197"/>
                    <a:pt x="2672080" y="188197"/>
                  </a:cubicBezTo>
                  <a:cubicBezTo>
                    <a:pt x="2672080" y="188197"/>
                    <a:pt x="2675890" y="190737"/>
                    <a:pt x="2678430" y="192007"/>
                  </a:cubicBezTo>
                  <a:cubicBezTo>
                    <a:pt x="2679700" y="192007"/>
                    <a:pt x="2679700" y="193277"/>
                    <a:pt x="2682240" y="193277"/>
                  </a:cubicBezTo>
                  <a:cubicBezTo>
                    <a:pt x="2697480" y="198357"/>
                    <a:pt x="2805430" y="190737"/>
                    <a:pt x="2880360" y="190737"/>
                  </a:cubicBezTo>
                  <a:cubicBezTo>
                    <a:pt x="2976880" y="188197"/>
                    <a:pt x="3129280" y="188197"/>
                    <a:pt x="3216910" y="186927"/>
                  </a:cubicBezTo>
                  <a:cubicBezTo>
                    <a:pt x="3274060" y="186927"/>
                    <a:pt x="3321050" y="189467"/>
                    <a:pt x="3356610" y="186927"/>
                  </a:cubicBezTo>
                  <a:cubicBezTo>
                    <a:pt x="3380740" y="184387"/>
                    <a:pt x="3389630" y="180577"/>
                    <a:pt x="3413760" y="178037"/>
                  </a:cubicBezTo>
                  <a:cubicBezTo>
                    <a:pt x="3456940" y="174227"/>
                    <a:pt x="3530600" y="172957"/>
                    <a:pt x="3595370" y="166607"/>
                  </a:cubicBezTo>
                  <a:cubicBezTo>
                    <a:pt x="3670300" y="160257"/>
                    <a:pt x="3774440" y="148827"/>
                    <a:pt x="3840480" y="141207"/>
                  </a:cubicBezTo>
                  <a:cubicBezTo>
                    <a:pt x="3886200" y="136127"/>
                    <a:pt x="3956050" y="129777"/>
                    <a:pt x="3954780" y="128507"/>
                  </a:cubicBezTo>
                  <a:cubicBezTo>
                    <a:pt x="3954780" y="123427"/>
                    <a:pt x="3698240" y="132317"/>
                    <a:pt x="3549650" y="137397"/>
                  </a:cubicBezTo>
                  <a:cubicBezTo>
                    <a:pt x="3366770" y="142477"/>
                    <a:pt x="3120390" y="155177"/>
                    <a:pt x="2940050" y="162797"/>
                  </a:cubicBezTo>
                  <a:cubicBezTo>
                    <a:pt x="2794000" y="169147"/>
                    <a:pt x="2546350" y="179307"/>
                    <a:pt x="2546350" y="179307"/>
                  </a:cubicBezTo>
                  <a:moveTo>
                    <a:pt x="5438140" y="179307"/>
                  </a:moveTo>
                  <a:cubicBezTo>
                    <a:pt x="5439410" y="179307"/>
                    <a:pt x="5439410" y="178037"/>
                    <a:pt x="5439410" y="178037"/>
                  </a:cubicBezTo>
                  <a:cubicBezTo>
                    <a:pt x="5439410" y="178037"/>
                    <a:pt x="5438140" y="179307"/>
                    <a:pt x="5438140" y="179307"/>
                  </a:cubicBezTo>
                </a:path>
              </a:pathLst>
            </a:custGeom>
            <a:solidFill>
              <a:srgbClr val="FFFFFF"/>
            </a:solidFill>
            <a:ln cap="sq">
              <a:noFill/>
              <a:prstDash val="solid"/>
              <a:miter/>
            </a:ln>
          </p:spPr>
          <p:txBody>
            <a:bodyPr/>
            <a:p/>
          </p:txBody>
        </p:sp>
      </p:grpSp>
      <p:grpSp>
        <p:nvGrpSpPr>
          <p:cNvPr name="Group 19" id="19"/>
          <p:cNvGrpSpPr/>
          <p:nvPr/>
        </p:nvGrpSpPr>
        <p:grpSpPr>
          <a:xfrm rot="0">
            <a:off x="867075" y="9598692"/>
            <a:ext cx="13716000" cy="440055"/>
            <a:chOff x="0" y="0"/>
            <a:chExt cx="18288000" cy="586740"/>
          </a:xfrm>
        </p:grpSpPr>
        <p:sp>
          <p:nvSpPr>
            <p:cNvPr name="Freeform 20" id="20"/>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7325" r="0" b="-557325"/>
              </a:stretch>
            </a:blipFill>
          </p:spPr>
          <p:txBody>
            <a:bodyPr/>
            <a:p/>
          </p:txBody>
        </p:sp>
        <p:sp>
          <p:nvSpPr>
            <p:cNvPr name="TextBox 21" id="21"/>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METHODOLOGY · 03 · PHÂN TÍCH LỖI B2</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B2 còn sai ở đâu</a:t>
            </a:r>
          </a:p>
        </p:txBody>
      </p:sp>
      <p:grpSp>
        <p:nvGrpSpPr>
          <p:cNvPr name="Group 6" id="6"/>
          <p:cNvGrpSpPr/>
          <p:nvPr/>
        </p:nvGrpSpPr>
        <p:grpSpPr>
          <a:xfrm rot="0">
            <a:off x="-137160" y="1028700"/>
            <a:ext cx="11521440" cy="6103620"/>
            <a:chOff x="0" y="0"/>
            <a:chExt cx="15361920" cy="8138160"/>
          </a:xfrm>
        </p:grpSpPr>
        <p:sp>
          <p:nvSpPr>
            <p:cNvPr name="Freeform 7" id="7"/>
            <p:cNvSpPr/>
            <p:nvPr/>
          </p:nvSpPr>
          <p:spPr>
            <a:xfrm flipH="false" flipV="false" rot="0">
              <a:off x="0" y="0"/>
              <a:ext cx="15361920" cy="8138160"/>
            </a:xfrm>
            <a:custGeom>
              <a:avLst/>
              <a:gdLst/>
              <a:ahLst/>
              <a:cxnLst/>
              <a:rect r="r" b="b" t="t" l="l"/>
              <a:pathLst>
                <a:path h="8138160" w="15361920">
                  <a:moveTo>
                    <a:pt x="0" y="0"/>
                  </a:moveTo>
                  <a:lnTo>
                    <a:pt x="15361920" y="0"/>
                  </a:lnTo>
                  <a:lnTo>
                    <a:pt x="15361920" y="8138160"/>
                  </a:lnTo>
                  <a:lnTo>
                    <a:pt x="0" y="8138160"/>
                  </a:lnTo>
                  <a:lnTo>
                    <a:pt x="0" y="0"/>
                  </a:lnTo>
                  <a:close/>
                </a:path>
              </a:pathLst>
            </a:custGeom>
            <a:blipFill>
              <a:blip r:embed="rId3"/>
              <a:stretch>
                <a:fillRect l="0" t="0" r="0" b="0"/>
              </a:stretch>
            </a:blipFill>
          </p:spPr>
          <p:txBody>
            <a:bodyPr/>
            <a:p/>
          </p:txBody>
        </p:sp>
      </p:grpSp>
      <p:graphicFrame>
        <p:nvGraphicFramePr>
          <p:cNvPr name="Table 8" id="8"/>
          <p:cNvGraphicFramePr>
            <a:graphicFrameLocks noGrp="true"/>
          </p:cNvGraphicFramePr>
          <p:nvPr/>
        </p:nvGraphicFramePr>
        <p:xfrm>
          <a:off x="822960" y="6336792"/>
          <a:ext cx="9563100" cy="2336800"/>
        </p:xfrm>
        <a:graphic>
          <a:graphicData uri="http://schemas.openxmlformats.org/drawingml/2006/table">
            <a:tbl>
              <a:tblPr/>
              <a:tblGrid>
                <a:gridCol w="2469812"/>
                <a:gridCol w="3344738"/>
                <a:gridCol w="3748550"/>
              </a:tblGrid>
              <a:tr h="5842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Nhóm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B2 trả lời</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Gold</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584200">
                <a:tc>
                  <a:txBody>
                    <a:bodyPr anchor="t" rtlCol="false"/>
                    <a:lstStyle/>
                    <a:p>
                      <a:pPr algn="l">
                        <a:lnSpc>
                          <a:spcPts val="2520"/>
                        </a:lnSpc>
                        <a:defRPr/>
                      </a:pPr>
                      <a:r>
                        <a:rPr lang="en-US" sz="2100">
                          <a:solidFill>
                            <a:srgbClr val="243044"/>
                          </a:solidFill>
                          <a:latin typeface="Calibri (MS)"/>
                          <a:ea typeface="Calibri (MS)"/>
                          <a:cs typeface="Calibri (MS)"/>
                          <a:sym typeface="Calibri (MS)"/>
                        </a:rPr>
                        <a:t>dấu thanh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đặng việt thủy</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đặng việt thúy</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84200">
                <a:tc>
                  <a:txBody>
                    <a:bodyPr anchor="t" rtlCol="false"/>
                    <a:lstStyle/>
                    <a:p>
                      <a:pPr algn="l">
                        <a:lnSpc>
                          <a:spcPts val="2520"/>
                        </a:lnSpc>
                        <a:defRPr/>
                      </a:pPr>
                      <a:r>
                        <a:rPr lang="en-US" sz="2100">
                          <a:solidFill>
                            <a:srgbClr val="243044"/>
                          </a:solidFill>
                          <a:latin typeface="Calibri (MS)"/>
                          <a:ea typeface="Calibri (MS)"/>
                          <a:cs typeface="Calibri (MS)"/>
                          <a:sym typeface="Calibri (MS)"/>
                        </a:rPr>
                        <a:t>lệch ký tự</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372 . 568 . 177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372 . 566 . 177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84200">
                <a:tc>
                  <a:txBody>
                    <a:bodyPr anchor="t" rtlCol="false"/>
                    <a:lstStyle/>
                    <a:p>
                      <a:pPr algn="l">
                        <a:lnSpc>
                          <a:spcPts val="2520"/>
                        </a:lnSpc>
                        <a:defRPr/>
                      </a:pPr>
                      <a:r>
                        <a:rPr lang="en-US" sz="2100">
                          <a:solidFill>
                            <a:srgbClr val="243044"/>
                          </a:solidFill>
                          <a:latin typeface="Calibri (MS)"/>
                          <a:ea typeface="Calibri (MS)"/>
                          <a:cs typeface="Calibri (MS)"/>
                          <a:sym typeface="Calibri (MS)"/>
                        </a:rPr>
                        <a:t>thiếu chữ</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nhân dân quận 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ủy ban nhân dân quận 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9" id="9"/>
          <p:cNvSpPr/>
          <p:nvPr/>
        </p:nvSpPr>
        <p:spPr>
          <a:xfrm flipH="false" flipV="false" rot="0">
            <a:off x="10956131" y="2040731"/>
            <a:ext cx="6525101" cy="6822757"/>
          </a:xfrm>
          <a:custGeom>
            <a:avLst/>
            <a:gdLst/>
            <a:ahLst/>
            <a:cxnLst/>
            <a:rect r="r" b="b" t="t" l="l"/>
            <a:pathLst>
              <a:path h="6822757" w="6525101">
                <a:moveTo>
                  <a:pt x="0" y="0"/>
                </a:moveTo>
                <a:lnTo>
                  <a:pt x="6525101" y="0"/>
                </a:lnTo>
                <a:lnTo>
                  <a:pt x="6525101" y="6822758"/>
                </a:lnTo>
                <a:lnTo>
                  <a:pt x="0" y="682275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10" id="10"/>
          <p:cNvSpPr txBox="true"/>
          <p:nvPr/>
        </p:nvSpPr>
        <p:spPr>
          <a:xfrm rot="0">
            <a:off x="11384280" y="2186940"/>
            <a:ext cx="5668823" cy="110490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Duyệt tay 200 lỗi B2 (đã phân xử)</a:t>
            </a:r>
          </a:p>
        </p:txBody>
      </p:sp>
      <p:sp>
        <p:nvSpPr>
          <p:cNvPr name="TextBox 11" id="11"/>
          <p:cNvSpPr txBox="true"/>
          <p:nvPr/>
        </p:nvSpPr>
        <p:spPr>
          <a:xfrm rot="0">
            <a:off x="11384280" y="3196590"/>
            <a:ext cx="5668823" cy="5513070"/>
          </a:xfrm>
          <a:prstGeom prst="rect">
            <a:avLst/>
          </a:prstGeom>
        </p:spPr>
        <p:txBody>
          <a:bodyPr anchor="t" rtlCol="false" tIns="0" lIns="0" bIns="0" rIns="0">
            <a:spAutoFit/>
          </a:bodyPr>
          <a:lstStyle/>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54% thực ra đúng ý: EM quá khắt khe (ViVQA 62%, ViTextVQA 46%)</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Gold nhiễu: 12,5% (ViVQA 19%)</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Lỗi thật ở ViTextVQA: đọc sai chữ 28%, nhầm vùng chữ 23%, dấu thanh 8%</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Hallucination (không có trong ảnh): 7% số lỗi (CI95 4–11%)</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4 người + nhãn gợi ý của AI; κ = 0,62 (2 người độc lập); bỏ 42 dòng có AI hỗ trợ, kết luận không đổi</a:t>
            </a:r>
          </a:p>
        </p:txBody>
      </p:sp>
      <p:grpSp>
        <p:nvGrpSpPr>
          <p:cNvPr name="Group 12" id="12"/>
          <p:cNvGrpSpPr/>
          <p:nvPr/>
        </p:nvGrpSpPr>
        <p:grpSpPr>
          <a:xfrm rot="0">
            <a:off x="822960" y="8778240"/>
            <a:ext cx="16641623" cy="754380"/>
            <a:chOff x="0" y="0"/>
            <a:chExt cx="22188830" cy="1005840"/>
          </a:xfrm>
        </p:grpSpPr>
        <p:sp>
          <p:nvSpPr>
            <p:cNvPr name="Freeform 13" id="13"/>
            <p:cNvSpPr/>
            <p:nvPr/>
          </p:nvSpPr>
          <p:spPr>
            <a:xfrm flipH="false" flipV="false" rot="0">
              <a:off x="0" y="0"/>
              <a:ext cx="22188805" cy="1005840"/>
            </a:xfrm>
            <a:custGeom>
              <a:avLst/>
              <a:gdLst/>
              <a:ahLst/>
              <a:cxnLst/>
              <a:rect r="r" b="b" t="t" l="l"/>
              <a:pathLst>
                <a:path h="1005840" w="22188805">
                  <a:moveTo>
                    <a:pt x="0" y="0"/>
                  </a:moveTo>
                  <a:lnTo>
                    <a:pt x="22188805" y="0"/>
                  </a:lnTo>
                  <a:lnTo>
                    <a:pt x="22188805" y="1005840"/>
                  </a:lnTo>
                  <a:lnTo>
                    <a:pt x="0" y="1005840"/>
                  </a:lnTo>
                  <a:close/>
                </a:path>
              </a:pathLst>
            </a:custGeom>
            <a:blipFill>
              <a:blip r:embed="rId2">
                <a:alphaModFix amt="0"/>
              </a:blip>
              <a:stretch>
                <a:fillRect l="0" t="-379540" r="0" b="-379541"/>
              </a:stretch>
            </a:blipFill>
          </p:spPr>
          <p:txBody>
            <a:bodyPr/>
            <a:p/>
          </p:txBody>
        </p:sp>
      </p:grpSp>
      <p:grpSp>
        <p:nvGrpSpPr>
          <p:cNvPr name="Group 14" id="14"/>
          <p:cNvGrpSpPr/>
          <p:nvPr/>
        </p:nvGrpSpPr>
        <p:grpSpPr>
          <a:xfrm rot="0">
            <a:off x="822960" y="8749665"/>
            <a:ext cx="16641623" cy="782955"/>
            <a:chOff x="0" y="0"/>
            <a:chExt cx="22188830" cy="1043940"/>
          </a:xfrm>
        </p:grpSpPr>
        <p:sp>
          <p:nvSpPr>
            <p:cNvPr name="Freeform 15" id="15"/>
            <p:cNvSpPr/>
            <p:nvPr/>
          </p:nvSpPr>
          <p:spPr>
            <a:xfrm flipH="false" flipV="false" rot="0">
              <a:off x="0" y="0"/>
              <a:ext cx="22188830" cy="1043940"/>
            </a:xfrm>
            <a:custGeom>
              <a:avLst/>
              <a:gdLst/>
              <a:ahLst/>
              <a:cxnLst/>
              <a:rect r="r" b="b" t="t" l="l"/>
              <a:pathLst>
                <a:path h="1043940" w="22188830">
                  <a:moveTo>
                    <a:pt x="0" y="0"/>
                  </a:moveTo>
                  <a:lnTo>
                    <a:pt x="22188830" y="0"/>
                  </a:lnTo>
                  <a:lnTo>
                    <a:pt x="22188830" y="1043940"/>
                  </a:lnTo>
                  <a:lnTo>
                    <a:pt x="0" y="1043940"/>
                  </a:lnTo>
                  <a:close/>
                </a:path>
              </a:pathLst>
            </a:custGeom>
            <a:blipFill>
              <a:blip r:embed="rId6">
                <a:alphaModFix amt="0"/>
              </a:blip>
              <a:stretch>
                <a:fillRect l="0" t="-364152" r="0" b="-364152"/>
              </a:stretch>
            </a:blipFill>
          </p:spPr>
          <p:txBody>
            <a:bodyPr/>
            <a:p/>
          </p:txBody>
        </p:sp>
        <p:sp>
          <p:nvSpPr>
            <p:cNvPr name="TextBox 16" id="16"/>
            <p:cNvSpPr txBox="true"/>
            <p:nvPr/>
          </p:nvSpPr>
          <p:spPr>
            <a:xfrm>
              <a:off x="0" y="-38100"/>
              <a:ext cx="22188830" cy="1082040"/>
            </a:xfrm>
            <a:prstGeom prst="rect">
              <a:avLst/>
            </a:prstGeom>
          </p:spPr>
          <p:txBody>
            <a:bodyPr anchor="b" rtlCol="false" tIns="0" lIns="0" bIns="0" rIns="0"/>
            <a:lstStyle/>
            <a:p>
              <a:pPr algn="l">
                <a:lnSpc>
                  <a:spcPts val="1800"/>
                </a:lnSpc>
              </a:pPr>
              <a:r>
                <a:rPr lang="en-US" sz="1500">
                  <a:solidFill>
                    <a:srgbClr val="6B7280"/>
                  </a:solidFill>
                  <a:latin typeface="Calibri (MS)"/>
                  <a:ea typeface="Calibri (MS)"/>
                  <a:cs typeface="Calibri (MS)"/>
                  <a:sym typeface="Calibri (MS)"/>
                </a:rPr>
                <a:t>Nguồn — phân loại tự động: python -m src.eval.answer_format --buckets trên experiments/W07_B2_eval_qlora_r16_ep1_vitextvqa_testfull_… (4.988 = 10.028 − 5.040 câu đúng). Duyệt tay: docs/W07/audit/W07_error_audit_final.json (nhãn ở docs/W07/audit/labels/, tính bằng compute_error_audit.py).</a:t>
              </a:r>
            </a:p>
          </p:txBody>
        </p:sp>
      </p:grpSp>
      <p:grpSp>
        <p:nvGrpSpPr>
          <p:cNvPr name="Group 17" id="17"/>
          <p:cNvGrpSpPr/>
          <p:nvPr/>
        </p:nvGrpSpPr>
        <p:grpSpPr>
          <a:xfrm rot="0">
            <a:off x="15458732" y="0"/>
            <a:ext cx="2829268" cy="1184338"/>
            <a:chOff x="0" y="0"/>
            <a:chExt cx="3772357" cy="1579118"/>
          </a:xfrm>
        </p:grpSpPr>
        <p:sp>
          <p:nvSpPr>
            <p:cNvPr name="Freeform 18" id="18"/>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7"/>
              <a:stretch>
                <a:fillRect l="0" t="0" r="1" b="0"/>
              </a:stretch>
            </a:blipFill>
          </p:spPr>
          <p:txBody>
            <a:bodyPr/>
            <a:p/>
          </p:txBody>
        </p:sp>
      </p:grpSp>
      <p:grpSp>
        <p:nvGrpSpPr>
          <p:cNvPr name="Group 19" id="19"/>
          <p:cNvGrpSpPr/>
          <p:nvPr/>
        </p:nvGrpSpPr>
        <p:grpSpPr>
          <a:xfrm rot="0">
            <a:off x="822960" y="9641205"/>
            <a:ext cx="13716000" cy="440055"/>
            <a:chOff x="0" y="0"/>
            <a:chExt cx="18288000" cy="586740"/>
          </a:xfrm>
        </p:grpSpPr>
        <p:sp>
          <p:nvSpPr>
            <p:cNvPr name="Freeform 20" id="20"/>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6">
                <a:alphaModFix amt="0"/>
              </a:blip>
              <a:stretch>
                <a:fillRect l="0" t="-557325" r="0" b="-557325"/>
              </a:stretch>
            </a:blipFill>
          </p:spPr>
          <p:txBody>
            <a:bodyPr/>
            <a:p/>
          </p:txBody>
        </p:sp>
        <p:sp>
          <p:nvSpPr>
            <p:cNvPr name="TextBox 21" id="21"/>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METHODOLOGY · 04 · PHƯƠNG PHÁP ĐỀ XUẤT (B3)</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QLoRA nhận biết OCR: dạy model dùng văn bản OCR</a:t>
            </a:r>
          </a:p>
        </p:txBody>
      </p:sp>
      <p:sp>
        <p:nvSpPr>
          <p:cNvPr name="Freeform 6" id="6"/>
          <p:cNvSpPr/>
          <p:nvPr/>
        </p:nvSpPr>
        <p:spPr>
          <a:xfrm flipH="false" flipV="false" rot="0">
            <a:off x="806291" y="2109311"/>
            <a:ext cx="3010472" cy="1816417"/>
          </a:xfrm>
          <a:custGeom>
            <a:avLst/>
            <a:gdLst/>
            <a:ahLst/>
            <a:cxnLst/>
            <a:rect r="r" b="b" t="t" l="l"/>
            <a:pathLst>
              <a:path h="1816417" w="3010472">
                <a:moveTo>
                  <a:pt x="0" y="0"/>
                </a:moveTo>
                <a:lnTo>
                  <a:pt x="3010472" y="0"/>
                </a:lnTo>
                <a:lnTo>
                  <a:pt x="3010472" y="1816418"/>
                </a:lnTo>
                <a:lnTo>
                  <a:pt x="0" y="181641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7" id="7"/>
          <p:cNvSpPr txBox="true"/>
          <p:nvPr/>
        </p:nvSpPr>
        <p:spPr>
          <a:xfrm rot="0">
            <a:off x="960120" y="2176272"/>
            <a:ext cx="2702871" cy="690372"/>
          </a:xfrm>
          <a:prstGeom prst="rect">
            <a:avLst/>
          </a:prstGeom>
        </p:spPr>
        <p:txBody>
          <a:bodyPr anchor="t" rtlCol="false" tIns="0" lIns="0" bIns="0" rIns="0">
            <a:spAutoFit/>
          </a:bodyPr>
          <a:lstStyle/>
          <a:p>
            <a:pPr algn="ctr">
              <a:lnSpc>
                <a:spcPts val="2700"/>
              </a:lnSpc>
            </a:pPr>
            <a:r>
              <a:rPr lang="en-US" sz="2250" b="true">
                <a:solidFill>
                  <a:srgbClr val="13294B"/>
                </a:solidFill>
                <a:latin typeface="Calibri (MS) Bold"/>
                <a:ea typeface="Calibri (MS) Bold"/>
                <a:cs typeface="Calibri (MS) Bold"/>
                <a:sym typeface="Calibri (MS) Bold"/>
              </a:rPr>
              <a:t>Ảnh</a:t>
            </a:r>
          </a:p>
        </p:txBody>
      </p:sp>
      <p:sp>
        <p:nvSpPr>
          <p:cNvPr name="TextBox 8" id="8"/>
          <p:cNvSpPr txBox="true"/>
          <p:nvPr/>
        </p:nvSpPr>
        <p:spPr>
          <a:xfrm rot="0">
            <a:off x="1028700" y="2900172"/>
            <a:ext cx="2565711" cy="899160"/>
          </a:xfrm>
          <a:prstGeom prst="rect">
            <a:avLst/>
          </a:prstGeom>
        </p:spPr>
        <p:txBody>
          <a:bodyPr anchor="t" rtlCol="false" tIns="0" lIns="0" bIns="0" rIns="0">
            <a:spAutoFit/>
          </a:bodyPr>
          <a:lstStyle/>
          <a:p>
            <a:pPr algn="ctr">
              <a:lnSpc>
                <a:spcPts val="2160"/>
              </a:lnSpc>
            </a:pPr>
            <a:r>
              <a:rPr lang="en-US" sz="1800">
                <a:solidFill>
                  <a:srgbClr val="243044"/>
                </a:solidFill>
                <a:latin typeface="Calibri (MS)"/>
                <a:ea typeface="Calibri (MS)"/>
                <a:cs typeface="Calibri (MS)"/>
                <a:sym typeface="Calibri (MS)"/>
              </a:rPr>
              <a:t>chữ trong ảnh</a:t>
            </a:r>
          </a:p>
        </p:txBody>
      </p:sp>
      <p:sp>
        <p:nvSpPr>
          <p:cNvPr name="Freeform 9" id="9"/>
          <p:cNvSpPr/>
          <p:nvPr/>
        </p:nvSpPr>
        <p:spPr>
          <a:xfrm flipH="false" flipV="false" rot="0">
            <a:off x="3852062" y="2849975"/>
            <a:ext cx="335089" cy="335089"/>
          </a:xfrm>
          <a:custGeom>
            <a:avLst/>
            <a:gdLst/>
            <a:ahLst/>
            <a:cxnLst/>
            <a:rect r="r" b="b" t="t" l="l"/>
            <a:pathLst>
              <a:path h="335089" w="335089">
                <a:moveTo>
                  <a:pt x="0" y="0"/>
                </a:moveTo>
                <a:lnTo>
                  <a:pt x="335090" y="0"/>
                </a:lnTo>
                <a:lnTo>
                  <a:pt x="335090" y="335090"/>
                </a:lnTo>
                <a:lnTo>
                  <a:pt x="0" y="33509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Freeform 10" id="10"/>
          <p:cNvSpPr/>
          <p:nvPr/>
        </p:nvSpPr>
        <p:spPr>
          <a:xfrm flipH="false" flipV="false" rot="0">
            <a:off x="4222394" y="2109311"/>
            <a:ext cx="3010472" cy="1816417"/>
          </a:xfrm>
          <a:custGeom>
            <a:avLst/>
            <a:gdLst/>
            <a:ahLst/>
            <a:cxnLst/>
            <a:rect r="r" b="b" t="t" l="l"/>
            <a:pathLst>
              <a:path h="1816417" w="3010472">
                <a:moveTo>
                  <a:pt x="0" y="0"/>
                </a:moveTo>
                <a:lnTo>
                  <a:pt x="3010472" y="0"/>
                </a:lnTo>
                <a:lnTo>
                  <a:pt x="3010472" y="1816418"/>
                </a:lnTo>
                <a:lnTo>
                  <a:pt x="0" y="181641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1" id="11"/>
          <p:cNvSpPr txBox="true"/>
          <p:nvPr/>
        </p:nvSpPr>
        <p:spPr>
          <a:xfrm rot="0">
            <a:off x="4376223" y="2176272"/>
            <a:ext cx="2702871" cy="690372"/>
          </a:xfrm>
          <a:prstGeom prst="rect">
            <a:avLst/>
          </a:prstGeom>
        </p:spPr>
        <p:txBody>
          <a:bodyPr anchor="t" rtlCol="false" tIns="0" lIns="0" bIns="0" rIns="0">
            <a:spAutoFit/>
          </a:bodyPr>
          <a:lstStyle/>
          <a:p>
            <a:pPr algn="ctr">
              <a:lnSpc>
                <a:spcPts val="2700"/>
              </a:lnSpc>
            </a:pPr>
            <a:r>
              <a:rPr lang="en-US" sz="2250" b="true">
                <a:solidFill>
                  <a:srgbClr val="13294B"/>
                </a:solidFill>
                <a:latin typeface="Calibri (MS) Bold"/>
                <a:ea typeface="Calibri (MS) Bold"/>
                <a:cs typeface="Calibri (MS) Bold"/>
                <a:sym typeface="Calibri (MS) Bold"/>
              </a:rPr>
              <a:t>PaddleOCR</a:t>
            </a:r>
          </a:p>
        </p:txBody>
      </p:sp>
      <p:sp>
        <p:nvSpPr>
          <p:cNvPr name="TextBox 12" id="12"/>
          <p:cNvSpPr txBox="true"/>
          <p:nvPr/>
        </p:nvSpPr>
        <p:spPr>
          <a:xfrm rot="0">
            <a:off x="4444803" y="2900172"/>
            <a:ext cx="2565711" cy="899160"/>
          </a:xfrm>
          <a:prstGeom prst="rect">
            <a:avLst/>
          </a:prstGeom>
        </p:spPr>
        <p:txBody>
          <a:bodyPr anchor="t" rtlCol="false" tIns="0" lIns="0" bIns="0" rIns="0">
            <a:spAutoFit/>
          </a:bodyPr>
          <a:lstStyle/>
          <a:p>
            <a:pPr algn="ctr">
              <a:lnSpc>
                <a:spcPts val="2160"/>
              </a:lnSpc>
            </a:pPr>
            <a:r>
              <a:rPr lang="en-US" sz="1800">
                <a:solidFill>
                  <a:srgbClr val="243044"/>
                </a:solidFill>
                <a:latin typeface="Calibri (MS)"/>
                <a:ea typeface="Calibri (MS)"/>
                <a:cs typeface="Calibri (MS)"/>
                <a:sym typeface="Calibri (MS)"/>
              </a:rPr>
              <a:t>dò dòng chữ</a:t>
            </a:r>
          </a:p>
        </p:txBody>
      </p:sp>
      <p:sp>
        <p:nvSpPr>
          <p:cNvPr name="Freeform 13" id="13"/>
          <p:cNvSpPr/>
          <p:nvPr/>
        </p:nvSpPr>
        <p:spPr>
          <a:xfrm flipH="false" flipV="false" rot="0">
            <a:off x="7268175" y="2849975"/>
            <a:ext cx="335089" cy="335089"/>
          </a:xfrm>
          <a:custGeom>
            <a:avLst/>
            <a:gdLst/>
            <a:ahLst/>
            <a:cxnLst/>
            <a:rect r="r" b="b" t="t" l="l"/>
            <a:pathLst>
              <a:path h="335089" w="335089">
                <a:moveTo>
                  <a:pt x="0" y="0"/>
                </a:moveTo>
                <a:lnTo>
                  <a:pt x="335090" y="0"/>
                </a:lnTo>
                <a:lnTo>
                  <a:pt x="335090" y="335090"/>
                </a:lnTo>
                <a:lnTo>
                  <a:pt x="0" y="33509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Freeform 14" id="14"/>
          <p:cNvSpPr/>
          <p:nvPr/>
        </p:nvSpPr>
        <p:spPr>
          <a:xfrm flipH="false" flipV="false" rot="0">
            <a:off x="7638507" y="2109311"/>
            <a:ext cx="3010472" cy="1816417"/>
          </a:xfrm>
          <a:custGeom>
            <a:avLst/>
            <a:gdLst/>
            <a:ahLst/>
            <a:cxnLst/>
            <a:rect r="r" b="b" t="t" l="l"/>
            <a:pathLst>
              <a:path h="1816417" w="3010472">
                <a:moveTo>
                  <a:pt x="0" y="0"/>
                </a:moveTo>
                <a:lnTo>
                  <a:pt x="3010472" y="0"/>
                </a:lnTo>
                <a:lnTo>
                  <a:pt x="3010472" y="1816418"/>
                </a:lnTo>
                <a:lnTo>
                  <a:pt x="0" y="181641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5" id="15"/>
          <p:cNvSpPr txBox="true"/>
          <p:nvPr/>
        </p:nvSpPr>
        <p:spPr>
          <a:xfrm rot="0">
            <a:off x="7792336" y="2176272"/>
            <a:ext cx="2702871" cy="690372"/>
          </a:xfrm>
          <a:prstGeom prst="rect">
            <a:avLst/>
          </a:prstGeom>
        </p:spPr>
        <p:txBody>
          <a:bodyPr anchor="t" rtlCol="false" tIns="0" lIns="0" bIns="0" rIns="0">
            <a:spAutoFit/>
          </a:bodyPr>
          <a:lstStyle/>
          <a:p>
            <a:pPr algn="ctr">
              <a:lnSpc>
                <a:spcPts val="2700"/>
              </a:lnSpc>
            </a:pPr>
            <a:r>
              <a:rPr lang="en-US" sz="2250" b="true">
                <a:solidFill>
                  <a:srgbClr val="13294B"/>
                </a:solidFill>
                <a:latin typeface="Calibri (MS) Bold"/>
                <a:ea typeface="Calibri (MS) Bold"/>
                <a:cs typeface="Calibri (MS) Bold"/>
                <a:sym typeface="Calibri (MS) Bold"/>
              </a:rPr>
              <a:t>VietOCR</a:t>
            </a:r>
          </a:p>
        </p:txBody>
      </p:sp>
      <p:sp>
        <p:nvSpPr>
          <p:cNvPr name="TextBox 16" id="16"/>
          <p:cNvSpPr txBox="true"/>
          <p:nvPr/>
        </p:nvSpPr>
        <p:spPr>
          <a:xfrm rot="0">
            <a:off x="7860916" y="2900172"/>
            <a:ext cx="2565711" cy="899160"/>
          </a:xfrm>
          <a:prstGeom prst="rect">
            <a:avLst/>
          </a:prstGeom>
        </p:spPr>
        <p:txBody>
          <a:bodyPr anchor="t" rtlCol="false" tIns="0" lIns="0" bIns="0" rIns="0">
            <a:spAutoFit/>
          </a:bodyPr>
          <a:lstStyle/>
          <a:p>
            <a:pPr algn="ctr">
              <a:lnSpc>
                <a:spcPts val="2160"/>
              </a:lnSpc>
            </a:pPr>
            <a:r>
              <a:rPr lang="en-US" sz="1800">
                <a:solidFill>
                  <a:srgbClr val="243044"/>
                </a:solidFill>
                <a:latin typeface="Calibri (MS)"/>
                <a:ea typeface="Calibri (MS)"/>
                <a:cs typeface="Calibri (MS)"/>
                <a:sym typeface="Calibri (MS)"/>
              </a:rPr>
              <a:t>đọc tiếng Việt, giữ dấu</a:t>
            </a:r>
          </a:p>
        </p:txBody>
      </p:sp>
      <p:sp>
        <p:nvSpPr>
          <p:cNvPr name="Freeform 17" id="17"/>
          <p:cNvSpPr/>
          <p:nvPr/>
        </p:nvSpPr>
        <p:spPr>
          <a:xfrm flipH="false" flipV="false" rot="0">
            <a:off x="10684278" y="2849975"/>
            <a:ext cx="335089" cy="335089"/>
          </a:xfrm>
          <a:custGeom>
            <a:avLst/>
            <a:gdLst/>
            <a:ahLst/>
            <a:cxnLst/>
            <a:rect r="r" b="b" t="t" l="l"/>
            <a:pathLst>
              <a:path h="335089" w="335089">
                <a:moveTo>
                  <a:pt x="0" y="0"/>
                </a:moveTo>
                <a:lnTo>
                  <a:pt x="335090" y="0"/>
                </a:lnTo>
                <a:lnTo>
                  <a:pt x="335090" y="335090"/>
                </a:lnTo>
                <a:lnTo>
                  <a:pt x="0" y="33509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Freeform 18" id="18"/>
          <p:cNvSpPr/>
          <p:nvPr/>
        </p:nvSpPr>
        <p:spPr>
          <a:xfrm flipH="false" flipV="false" rot="0">
            <a:off x="11054610" y="2109311"/>
            <a:ext cx="3010472" cy="1816417"/>
          </a:xfrm>
          <a:custGeom>
            <a:avLst/>
            <a:gdLst/>
            <a:ahLst/>
            <a:cxnLst/>
            <a:rect r="r" b="b" t="t" l="l"/>
            <a:pathLst>
              <a:path h="1816417" w="3010472">
                <a:moveTo>
                  <a:pt x="0" y="0"/>
                </a:moveTo>
                <a:lnTo>
                  <a:pt x="3010472" y="0"/>
                </a:lnTo>
                <a:lnTo>
                  <a:pt x="3010472" y="1816418"/>
                </a:lnTo>
                <a:lnTo>
                  <a:pt x="0" y="181641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sp>
        <p:nvSpPr>
          <p:cNvPr name="TextBox 19" id="19"/>
          <p:cNvSpPr txBox="true"/>
          <p:nvPr/>
        </p:nvSpPr>
        <p:spPr>
          <a:xfrm rot="0">
            <a:off x="11208439" y="2176272"/>
            <a:ext cx="2702871" cy="690372"/>
          </a:xfrm>
          <a:prstGeom prst="rect">
            <a:avLst/>
          </a:prstGeom>
        </p:spPr>
        <p:txBody>
          <a:bodyPr anchor="t" rtlCol="false" tIns="0" lIns="0" bIns="0" rIns="0">
            <a:spAutoFit/>
          </a:bodyPr>
          <a:lstStyle/>
          <a:p>
            <a:pPr algn="ctr">
              <a:lnSpc>
                <a:spcPts val="2700"/>
              </a:lnSpc>
            </a:pPr>
            <a:r>
              <a:rPr lang="en-US" sz="2250" b="true">
                <a:solidFill>
                  <a:srgbClr val="13294B"/>
                </a:solidFill>
                <a:latin typeface="Calibri (MS) Bold"/>
                <a:ea typeface="Calibri (MS) Bold"/>
                <a:cs typeface="Calibri (MS) Bold"/>
                <a:sym typeface="Calibri (MS) Bold"/>
              </a:rPr>
              <a:t>Prompt</a:t>
            </a:r>
          </a:p>
        </p:txBody>
      </p:sp>
      <p:sp>
        <p:nvSpPr>
          <p:cNvPr name="TextBox 20" id="20"/>
          <p:cNvSpPr txBox="true"/>
          <p:nvPr/>
        </p:nvSpPr>
        <p:spPr>
          <a:xfrm rot="0">
            <a:off x="11277019" y="2900172"/>
            <a:ext cx="2565711" cy="899160"/>
          </a:xfrm>
          <a:prstGeom prst="rect">
            <a:avLst/>
          </a:prstGeom>
        </p:spPr>
        <p:txBody>
          <a:bodyPr anchor="t" rtlCol="false" tIns="0" lIns="0" bIns="0" rIns="0">
            <a:spAutoFit/>
          </a:bodyPr>
          <a:lstStyle/>
          <a:p>
            <a:pPr algn="ctr">
              <a:lnSpc>
                <a:spcPts val="2160"/>
              </a:lnSpc>
            </a:pPr>
            <a:r>
              <a:rPr lang="en-US" sz="1800">
                <a:solidFill>
                  <a:srgbClr val="243044"/>
                </a:solidFill>
                <a:latin typeface="Calibri (MS)"/>
                <a:ea typeface="Calibri (MS)"/>
                <a:cs typeface="Calibri (MS)"/>
                <a:sym typeface="Calibri (MS)"/>
              </a:rPr>
              <a:t>1 dòng OCR + câu hỏi</a:t>
            </a:r>
          </a:p>
        </p:txBody>
      </p:sp>
      <p:sp>
        <p:nvSpPr>
          <p:cNvPr name="Freeform 21" id="21"/>
          <p:cNvSpPr/>
          <p:nvPr/>
        </p:nvSpPr>
        <p:spPr>
          <a:xfrm flipH="false" flipV="false" rot="0">
            <a:off x="14100391" y="2849975"/>
            <a:ext cx="335089" cy="335089"/>
          </a:xfrm>
          <a:custGeom>
            <a:avLst/>
            <a:gdLst/>
            <a:ahLst/>
            <a:cxnLst/>
            <a:rect r="r" b="b" t="t" l="l"/>
            <a:pathLst>
              <a:path h="335089" w="335089">
                <a:moveTo>
                  <a:pt x="0" y="0"/>
                </a:moveTo>
                <a:lnTo>
                  <a:pt x="335089" y="0"/>
                </a:lnTo>
                <a:lnTo>
                  <a:pt x="335089" y="335090"/>
                </a:lnTo>
                <a:lnTo>
                  <a:pt x="0" y="33509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Freeform 22" id="22"/>
          <p:cNvSpPr/>
          <p:nvPr/>
        </p:nvSpPr>
        <p:spPr>
          <a:xfrm flipH="false" flipV="false" rot="0">
            <a:off x="14470723" y="2109311"/>
            <a:ext cx="3010472" cy="1816417"/>
          </a:xfrm>
          <a:custGeom>
            <a:avLst/>
            <a:gdLst/>
            <a:ahLst/>
            <a:cxnLst/>
            <a:rect r="r" b="b" t="t" l="l"/>
            <a:pathLst>
              <a:path h="1816417" w="3010472">
                <a:moveTo>
                  <a:pt x="0" y="0"/>
                </a:moveTo>
                <a:lnTo>
                  <a:pt x="3010471" y="0"/>
                </a:lnTo>
                <a:lnTo>
                  <a:pt x="3010471" y="1816418"/>
                </a:lnTo>
                <a:lnTo>
                  <a:pt x="0" y="181641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sp>
        <p:nvSpPr>
          <p:cNvPr name="TextBox 23" id="23"/>
          <p:cNvSpPr txBox="true"/>
          <p:nvPr/>
        </p:nvSpPr>
        <p:spPr>
          <a:xfrm rot="0">
            <a:off x="14624552" y="2176272"/>
            <a:ext cx="2702871" cy="690372"/>
          </a:xfrm>
          <a:prstGeom prst="rect">
            <a:avLst/>
          </a:prstGeom>
        </p:spPr>
        <p:txBody>
          <a:bodyPr anchor="t" rtlCol="false" tIns="0" lIns="0" bIns="0" rIns="0">
            <a:spAutoFit/>
          </a:bodyPr>
          <a:lstStyle/>
          <a:p>
            <a:pPr algn="ctr">
              <a:lnSpc>
                <a:spcPts val="2700"/>
              </a:lnSpc>
            </a:pPr>
            <a:r>
              <a:rPr lang="en-US" sz="2250" b="true">
                <a:solidFill>
                  <a:srgbClr val="13294B"/>
                </a:solidFill>
                <a:latin typeface="Calibri (MS) Bold"/>
                <a:ea typeface="Calibri (MS) Bold"/>
                <a:cs typeface="Calibri (MS) Bold"/>
                <a:sym typeface="Calibri (MS) Bold"/>
              </a:rPr>
              <a:t>Qwen2.5-VL + LoRA</a:t>
            </a:r>
          </a:p>
        </p:txBody>
      </p:sp>
      <p:sp>
        <p:nvSpPr>
          <p:cNvPr name="TextBox 24" id="24"/>
          <p:cNvSpPr txBox="true"/>
          <p:nvPr/>
        </p:nvSpPr>
        <p:spPr>
          <a:xfrm rot="0">
            <a:off x="14693132" y="2900172"/>
            <a:ext cx="2565711" cy="899160"/>
          </a:xfrm>
          <a:prstGeom prst="rect">
            <a:avLst/>
          </a:prstGeom>
        </p:spPr>
        <p:txBody>
          <a:bodyPr anchor="t" rtlCol="false" tIns="0" lIns="0" bIns="0" rIns="0">
            <a:spAutoFit/>
          </a:bodyPr>
          <a:lstStyle/>
          <a:p>
            <a:pPr algn="ctr">
              <a:lnSpc>
                <a:spcPts val="2160"/>
              </a:lnSpc>
            </a:pPr>
            <a:r>
              <a:rPr lang="en-US" sz="1800">
                <a:solidFill>
                  <a:srgbClr val="243044"/>
                </a:solidFill>
                <a:latin typeface="Calibri (MS)"/>
                <a:ea typeface="Calibri (MS)"/>
                <a:cs typeface="Calibri (MS)"/>
                <a:sym typeface="Calibri (MS)"/>
              </a:rPr>
              <a:t>LoRA train cùng dòng OCR</a:t>
            </a:r>
          </a:p>
        </p:txBody>
      </p:sp>
      <p:sp>
        <p:nvSpPr>
          <p:cNvPr name="Freeform 25" id="25"/>
          <p:cNvSpPr/>
          <p:nvPr/>
        </p:nvSpPr>
        <p:spPr>
          <a:xfrm flipH="false" flipV="false" rot="0">
            <a:off x="806291" y="4235291"/>
            <a:ext cx="16674941" cy="1062038"/>
          </a:xfrm>
          <a:custGeom>
            <a:avLst/>
            <a:gdLst/>
            <a:ahLst/>
            <a:cxnLst/>
            <a:rect r="r" b="b" t="t" l="l"/>
            <a:pathLst>
              <a:path h="1062038" w="16674941">
                <a:moveTo>
                  <a:pt x="0" y="0"/>
                </a:moveTo>
                <a:lnTo>
                  <a:pt x="16674941" y="0"/>
                </a:lnTo>
                <a:lnTo>
                  <a:pt x="16674941" y="1062038"/>
                </a:lnTo>
                <a:lnTo>
                  <a:pt x="0" y="106203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txBody>
          <a:bodyPr/>
          <a:p/>
        </p:txBody>
      </p:sp>
      <p:grpSp>
        <p:nvGrpSpPr>
          <p:cNvPr name="Group 26" id="26"/>
          <p:cNvGrpSpPr/>
          <p:nvPr/>
        </p:nvGrpSpPr>
        <p:grpSpPr>
          <a:xfrm rot="0">
            <a:off x="1234440" y="4251960"/>
            <a:ext cx="15818663" cy="1028700"/>
            <a:chOff x="0" y="0"/>
            <a:chExt cx="21091550" cy="1371600"/>
          </a:xfrm>
        </p:grpSpPr>
        <p:sp>
          <p:nvSpPr>
            <p:cNvPr name="Freeform 27" id="27"/>
            <p:cNvSpPr/>
            <p:nvPr/>
          </p:nvSpPr>
          <p:spPr>
            <a:xfrm flipH="false" flipV="false" rot="0">
              <a:off x="0" y="0"/>
              <a:ext cx="21091525" cy="1371600"/>
            </a:xfrm>
            <a:custGeom>
              <a:avLst/>
              <a:gdLst/>
              <a:ahLst/>
              <a:cxnLst/>
              <a:rect r="r" b="b" t="t" l="l"/>
              <a:pathLst>
                <a:path h="1371600" w="21091525">
                  <a:moveTo>
                    <a:pt x="0" y="0"/>
                  </a:moveTo>
                  <a:lnTo>
                    <a:pt x="21091525" y="0"/>
                  </a:lnTo>
                  <a:lnTo>
                    <a:pt x="21091525" y="1371600"/>
                  </a:lnTo>
                  <a:lnTo>
                    <a:pt x="0" y="1371600"/>
                  </a:lnTo>
                  <a:close/>
                </a:path>
              </a:pathLst>
            </a:custGeom>
            <a:blipFill>
              <a:blip r:embed="rId2">
                <a:alphaModFix amt="0"/>
              </a:blip>
              <a:stretch>
                <a:fillRect l="0" t="-249419" r="0" b="-249419"/>
              </a:stretch>
            </a:blipFill>
          </p:spPr>
          <p:txBody>
            <a:bodyPr/>
            <a:p/>
          </p:txBody>
        </p:sp>
      </p:grpSp>
      <p:grpSp>
        <p:nvGrpSpPr>
          <p:cNvPr name="Group 28" id="28"/>
          <p:cNvGrpSpPr/>
          <p:nvPr/>
        </p:nvGrpSpPr>
        <p:grpSpPr>
          <a:xfrm rot="0">
            <a:off x="1234440" y="4244816"/>
            <a:ext cx="15818663" cy="1035844"/>
            <a:chOff x="0" y="0"/>
            <a:chExt cx="21091550" cy="1381125"/>
          </a:xfrm>
        </p:grpSpPr>
        <p:sp>
          <p:nvSpPr>
            <p:cNvPr name="Freeform 29" id="29"/>
            <p:cNvSpPr/>
            <p:nvPr/>
          </p:nvSpPr>
          <p:spPr>
            <a:xfrm flipH="false" flipV="false" rot="0">
              <a:off x="0" y="0"/>
              <a:ext cx="21091551" cy="1381125"/>
            </a:xfrm>
            <a:custGeom>
              <a:avLst/>
              <a:gdLst/>
              <a:ahLst/>
              <a:cxnLst/>
              <a:rect r="r" b="b" t="t" l="l"/>
              <a:pathLst>
                <a:path h="1381125" w="21091551">
                  <a:moveTo>
                    <a:pt x="0" y="0"/>
                  </a:moveTo>
                  <a:lnTo>
                    <a:pt x="21091551" y="0"/>
                  </a:lnTo>
                  <a:lnTo>
                    <a:pt x="21091551" y="1381125"/>
                  </a:lnTo>
                  <a:lnTo>
                    <a:pt x="0" y="1381125"/>
                  </a:lnTo>
                  <a:close/>
                </a:path>
              </a:pathLst>
            </a:custGeom>
            <a:blipFill>
              <a:blip r:embed="rId13">
                <a:alphaModFix amt="0"/>
              </a:blip>
              <a:stretch>
                <a:fillRect l="0" t="-247561" r="0" b="-247561"/>
              </a:stretch>
            </a:blipFill>
          </p:spPr>
          <p:txBody>
            <a:bodyPr/>
            <a:p/>
          </p:txBody>
        </p:sp>
        <p:sp>
          <p:nvSpPr>
            <p:cNvPr name="TextBox 30" id="30"/>
            <p:cNvSpPr txBox="true"/>
            <p:nvPr/>
          </p:nvSpPr>
          <p:spPr>
            <a:xfrm>
              <a:off x="0" y="-9525"/>
              <a:ext cx="21091550" cy="1390650"/>
            </a:xfrm>
            <a:prstGeom prst="rect">
              <a:avLst/>
            </a:prstGeom>
          </p:spPr>
          <p:txBody>
            <a:bodyPr anchor="ctr" rtlCol="false" tIns="0" lIns="0" bIns="0" rIns="0"/>
            <a:lstStyle/>
            <a:p>
              <a:pPr algn="l">
                <a:lnSpc>
                  <a:spcPts val="2340"/>
                </a:lnSpc>
              </a:pPr>
              <a:r>
                <a:rPr lang="en-US" sz="1950" b="true">
                  <a:solidFill>
                    <a:srgbClr val="13294B"/>
                  </a:solidFill>
                  <a:latin typeface="Courier New Bold"/>
                  <a:ea typeface="Courier New Bold"/>
                  <a:cs typeface="Courier New Bold"/>
                  <a:sym typeface="Courier New Bold"/>
                </a:rPr>
                <a:t>Dòng prompt:  </a:t>
              </a:r>
              <a:r>
                <a:rPr lang="en-US" sz="1950">
                  <a:solidFill>
                    <a:srgbClr val="243044"/>
                  </a:solidFill>
                  <a:latin typeface="Courier New"/>
                  <a:ea typeface="Courier New"/>
                  <a:cs typeface="Courier New"/>
                  <a:sym typeface="Courier New"/>
                </a:rPr>
                <a:t>Văn bản đọc được trong ảnh: NHÀ THUỐC TÂM AN | 0919 467 868 …   Câu hỏi: tên nhà thuốc là gì?</a:t>
              </a:r>
            </a:p>
          </p:txBody>
        </p:sp>
      </p:grpSp>
      <p:sp>
        <p:nvSpPr>
          <p:cNvPr name="Freeform 31" id="31"/>
          <p:cNvSpPr/>
          <p:nvPr/>
        </p:nvSpPr>
        <p:spPr>
          <a:xfrm flipH="false" flipV="false" rot="0">
            <a:off x="806291" y="5675471"/>
            <a:ext cx="5214747" cy="3736658"/>
          </a:xfrm>
          <a:custGeom>
            <a:avLst/>
            <a:gdLst/>
            <a:ahLst/>
            <a:cxnLst/>
            <a:rect r="r" b="b" t="t" l="l"/>
            <a:pathLst>
              <a:path h="3736658" w="5214747">
                <a:moveTo>
                  <a:pt x="0" y="0"/>
                </a:moveTo>
                <a:lnTo>
                  <a:pt x="5214747" y="0"/>
                </a:lnTo>
                <a:lnTo>
                  <a:pt x="5214747" y="3736658"/>
                </a:lnTo>
                <a:lnTo>
                  <a:pt x="0" y="3736658"/>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txBody>
          <a:bodyPr/>
          <a:p/>
        </p:txBody>
      </p:sp>
      <p:sp>
        <p:nvSpPr>
          <p:cNvPr name="TextBox 32" id="32"/>
          <p:cNvSpPr txBox="true"/>
          <p:nvPr/>
        </p:nvSpPr>
        <p:spPr>
          <a:xfrm rot="0">
            <a:off x="1165860" y="5821680"/>
            <a:ext cx="4495648" cy="6934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Vì sao OCR</a:t>
            </a:r>
          </a:p>
        </p:txBody>
      </p:sp>
      <p:sp>
        <p:nvSpPr>
          <p:cNvPr name="TextBox 33" id="33"/>
          <p:cNvSpPr txBox="true"/>
          <p:nvPr/>
        </p:nvSpPr>
        <p:spPr>
          <a:xfrm rot="0">
            <a:off x="1165860" y="6488430"/>
            <a:ext cx="4495648" cy="2701290"/>
          </a:xfrm>
          <a:prstGeom prst="rect">
            <a:avLst/>
          </a:prstGeom>
        </p:spPr>
        <p:txBody>
          <a:bodyPr anchor="t" rtlCol="false" tIns="0" lIns="0" bIns="0" rIns="0">
            <a:spAutoFit/>
          </a:bodyPr>
          <a:lstStyle/>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Lỗi thật của B2 ở ViTextVQA: đọc sai chữ 28%, nhầm vùng chữ 23%, sai dấu 8%</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Chữ tiếng Việt trong ảnh là gap nghiên cứu G2</a:t>
            </a:r>
          </a:p>
        </p:txBody>
      </p:sp>
      <p:sp>
        <p:nvSpPr>
          <p:cNvPr name="Freeform 34" id="34"/>
          <p:cNvSpPr/>
          <p:nvPr/>
        </p:nvSpPr>
        <p:spPr>
          <a:xfrm flipH="false" flipV="false" rot="0">
            <a:off x="6536379" y="5675471"/>
            <a:ext cx="5214747" cy="3736658"/>
          </a:xfrm>
          <a:custGeom>
            <a:avLst/>
            <a:gdLst/>
            <a:ahLst/>
            <a:cxnLst/>
            <a:rect r="r" b="b" t="t" l="l"/>
            <a:pathLst>
              <a:path h="3736658" w="5214747">
                <a:moveTo>
                  <a:pt x="0" y="0"/>
                </a:moveTo>
                <a:lnTo>
                  <a:pt x="5214747" y="0"/>
                </a:lnTo>
                <a:lnTo>
                  <a:pt x="5214747" y="3736658"/>
                </a:lnTo>
                <a:lnTo>
                  <a:pt x="0" y="3736658"/>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txBody>
          <a:bodyPr/>
          <a:p/>
        </p:txBody>
      </p:sp>
      <p:sp>
        <p:nvSpPr>
          <p:cNvPr name="TextBox 35" id="35"/>
          <p:cNvSpPr txBox="true"/>
          <p:nvPr/>
        </p:nvSpPr>
        <p:spPr>
          <a:xfrm rot="0">
            <a:off x="6895948" y="5821680"/>
            <a:ext cx="4495648" cy="6934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Chọn OCR (luật chốt, dev300)</a:t>
            </a:r>
          </a:p>
        </p:txBody>
      </p:sp>
      <p:sp>
        <p:nvSpPr>
          <p:cNvPr name="TextBox 36" id="36"/>
          <p:cNvSpPr txBox="true"/>
          <p:nvPr/>
        </p:nvSpPr>
        <p:spPr>
          <a:xfrm rot="0">
            <a:off x="6895948" y="6488430"/>
            <a:ext cx="4495648" cy="2701290"/>
          </a:xfrm>
          <a:prstGeom prst="rect">
            <a:avLst/>
          </a:prstGeom>
        </p:spPr>
        <p:txBody>
          <a:bodyPr anchor="t" rtlCol="false" tIns="0" lIns="0" bIns="0" rIns="0">
            <a:spAutoFit/>
          </a:bodyPr>
          <a:lstStyle/>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PaddleOCR bản Latin làm rơi dấu: “Kiểu Thẩm” → “Kiu Thm”</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Đáp án nằm trong văn bản OCR: VietOCR 37,7% so với 27,0% (p = 0,0008) → VietOCR</a:t>
            </a:r>
          </a:p>
        </p:txBody>
      </p:sp>
      <p:sp>
        <p:nvSpPr>
          <p:cNvPr name="Freeform 37" id="37"/>
          <p:cNvSpPr/>
          <p:nvPr/>
        </p:nvSpPr>
        <p:spPr>
          <a:xfrm flipH="false" flipV="false" rot="0">
            <a:off x="12266466" y="5675471"/>
            <a:ext cx="5214747" cy="3736658"/>
          </a:xfrm>
          <a:custGeom>
            <a:avLst/>
            <a:gdLst/>
            <a:ahLst/>
            <a:cxnLst/>
            <a:rect r="r" b="b" t="t" l="l"/>
            <a:pathLst>
              <a:path h="3736658" w="5214747">
                <a:moveTo>
                  <a:pt x="0" y="0"/>
                </a:moveTo>
                <a:lnTo>
                  <a:pt x="5214747" y="0"/>
                </a:lnTo>
                <a:lnTo>
                  <a:pt x="5214747" y="3736658"/>
                </a:lnTo>
                <a:lnTo>
                  <a:pt x="0" y="3736658"/>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txBody>
          <a:bodyPr/>
          <a:p/>
        </p:txBody>
      </p:sp>
      <p:sp>
        <p:nvSpPr>
          <p:cNvPr name="TextBox 38" id="38"/>
          <p:cNvSpPr txBox="true"/>
          <p:nvPr/>
        </p:nvSpPr>
        <p:spPr>
          <a:xfrm rot="0">
            <a:off x="12626035" y="5821680"/>
            <a:ext cx="4495648" cy="6934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Train gì</a:t>
            </a:r>
          </a:p>
        </p:txBody>
      </p:sp>
      <p:sp>
        <p:nvSpPr>
          <p:cNvPr name="TextBox 39" id="39"/>
          <p:cNvSpPr txBox="true"/>
          <p:nvPr/>
        </p:nvSpPr>
        <p:spPr>
          <a:xfrm rot="0">
            <a:off x="12626035" y="6488430"/>
            <a:ext cx="4495648" cy="2701290"/>
          </a:xfrm>
          <a:prstGeom prst="rect">
            <a:avLst/>
          </a:prstGeom>
        </p:spPr>
        <p:txBody>
          <a:bodyPr anchor="t" rtlCol="false" tIns="0" lIns="0" bIns="0" rIns="0">
            <a:spAutoFit/>
          </a:bodyPr>
          <a:lstStyle/>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QLoRA y hệt B2 (r = 16, 0,196% tham số); chỉ thêm dòng OCR vào prompt</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Phép thử có kiểm soát: tập con 8.000 câu, B3 so với B2-sub (cùng tập, không OCR)</a:t>
            </a:r>
          </a:p>
        </p:txBody>
      </p:sp>
      <p:grpSp>
        <p:nvGrpSpPr>
          <p:cNvPr name="Group 40" id="40"/>
          <p:cNvGrpSpPr/>
          <p:nvPr/>
        </p:nvGrpSpPr>
        <p:grpSpPr>
          <a:xfrm rot="0">
            <a:off x="15458732" y="0"/>
            <a:ext cx="2829268" cy="1184338"/>
            <a:chOff x="0" y="0"/>
            <a:chExt cx="3772357" cy="1579118"/>
          </a:xfrm>
        </p:grpSpPr>
        <p:sp>
          <p:nvSpPr>
            <p:cNvPr name="Freeform 41" id="41"/>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8"/>
              <a:stretch>
                <a:fillRect l="0" t="0" r="1" b="0"/>
              </a:stretch>
            </a:blipFill>
          </p:spPr>
          <p:txBody>
            <a:bodyPr/>
            <a:p/>
          </p:txBody>
        </p:sp>
      </p:grpSp>
      <p:grpSp>
        <p:nvGrpSpPr>
          <p:cNvPr name="Group 42" id="42"/>
          <p:cNvGrpSpPr/>
          <p:nvPr/>
        </p:nvGrpSpPr>
        <p:grpSpPr>
          <a:xfrm rot="0">
            <a:off x="822960" y="9641205"/>
            <a:ext cx="13716000" cy="440055"/>
            <a:chOff x="0" y="0"/>
            <a:chExt cx="18288000" cy="586740"/>
          </a:xfrm>
        </p:grpSpPr>
        <p:sp>
          <p:nvSpPr>
            <p:cNvPr name="Freeform 43" id="43"/>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13">
                <a:alphaModFix amt="0"/>
              </a:blip>
              <a:stretch>
                <a:fillRect l="0" t="-557325" r="0" b="-557325"/>
              </a:stretch>
            </a:blipFill>
          </p:spPr>
          <p:txBody>
            <a:bodyPr/>
            <a:p/>
          </p:txBody>
        </p:sp>
        <p:sp>
          <p:nvSpPr>
            <p:cNvPr name="TextBox 44" id="44"/>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METHODOLOGY · 05 · ABLATION: OCR LÚC TRAIN × OCR LÚC TEST</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OCR chỉ giúp khi model được train cùng OCR</a:t>
            </a:r>
          </a:p>
        </p:txBody>
      </p:sp>
      <p:sp>
        <p:nvSpPr>
          <p:cNvPr name="TextBox 6" id="6"/>
          <p:cNvSpPr txBox="true"/>
          <p:nvPr/>
        </p:nvSpPr>
        <p:spPr>
          <a:xfrm rot="0">
            <a:off x="3497580" y="1962150"/>
            <a:ext cx="3360420" cy="643890"/>
          </a:xfrm>
          <a:prstGeom prst="rect">
            <a:avLst/>
          </a:prstGeom>
        </p:spPr>
        <p:txBody>
          <a:bodyPr anchor="t" rtlCol="false" tIns="0" lIns="0" bIns="0" rIns="0">
            <a:spAutoFit/>
          </a:bodyPr>
          <a:lstStyle/>
          <a:p>
            <a:pPr algn="ctr">
              <a:lnSpc>
                <a:spcPts val="2520"/>
              </a:lnSpc>
            </a:pPr>
            <a:r>
              <a:rPr lang="en-US" sz="2100" b="true">
                <a:solidFill>
                  <a:srgbClr val="13294B"/>
                </a:solidFill>
                <a:latin typeface="Calibri (MS) Bold"/>
                <a:ea typeface="Calibri (MS) Bold"/>
                <a:cs typeface="Calibri (MS) Bold"/>
                <a:sym typeface="Calibri (MS) Bold"/>
              </a:rPr>
              <a:t>Test không OCR</a:t>
            </a:r>
          </a:p>
        </p:txBody>
      </p:sp>
      <p:sp>
        <p:nvSpPr>
          <p:cNvPr name="TextBox 7" id="7"/>
          <p:cNvSpPr txBox="true"/>
          <p:nvPr/>
        </p:nvSpPr>
        <p:spPr>
          <a:xfrm rot="0">
            <a:off x="7063740" y="1962150"/>
            <a:ext cx="3360420" cy="643890"/>
          </a:xfrm>
          <a:prstGeom prst="rect">
            <a:avLst/>
          </a:prstGeom>
        </p:spPr>
        <p:txBody>
          <a:bodyPr anchor="t" rtlCol="false" tIns="0" lIns="0" bIns="0" rIns="0">
            <a:spAutoFit/>
          </a:bodyPr>
          <a:lstStyle/>
          <a:p>
            <a:pPr algn="ctr">
              <a:lnSpc>
                <a:spcPts val="2520"/>
              </a:lnSpc>
            </a:pPr>
            <a:r>
              <a:rPr lang="en-US" sz="2100" b="true">
                <a:solidFill>
                  <a:srgbClr val="13294B"/>
                </a:solidFill>
                <a:latin typeface="Calibri (MS) Bold"/>
                <a:ea typeface="Calibri (MS) Bold"/>
                <a:cs typeface="Calibri (MS) Bold"/>
                <a:sym typeface="Calibri (MS) Bold"/>
              </a:rPr>
              <a:t>Test có OCR</a:t>
            </a:r>
          </a:p>
        </p:txBody>
      </p:sp>
      <p:grpSp>
        <p:nvGrpSpPr>
          <p:cNvPr name="Group 8" id="8"/>
          <p:cNvGrpSpPr/>
          <p:nvPr/>
        </p:nvGrpSpPr>
        <p:grpSpPr>
          <a:xfrm rot="0">
            <a:off x="822960" y="2674620"/>
            <a:ext cx="2537460" cy="2125980"/>
            <a:chOff x="0" y="0"/>
            <a:chExt cx="3383280" cy="2834640"/>
          </a:xfrm>
        </p:grpSpPr>
        <p:sp>
          <p:nvSpPr>
            <p:cNvPr name="Freeform 9" id="9"/>
            <p:cNvSpPr/>
            <p:nvPr/>
          </p:nvSpPr>
          <p:spPr>
            <a:xfrm flipH="false" flipV="false" rot="0">
              <a:off x="0" y="0"/>
              <a:ext cx="3383280" cy="2834640"/>
            </a:xfrm>
            <a:custGeom>
              <a:avLst/>
              <a:gdLst/>
              <a:ahLst/>
              <a:cxnLst/>
              <a:rect r="r" b="b" t="t" l="l"/>
              <a:pathLst>
                <a:path h="2834640" w="3383280">
                  <a:moveTo>
                    <a:pt x="0" y="0"/>
                  </a:moveTo>
                  <a:lnTo>
                    <a:pt x="3383280" y="0"/>
                  </a:lnTo>
                  <a:lnTo>
                    <a:pt x="3383280" y="2834640"/>
                  </a:lnTo>
                  <a:lnTo>
                    <a:pt x="0" y="2834640"/>
                  </a:lnTo>
                  <a:close/>
                </a:path>
              </a:pathLst>
            </a:custGeom>
            <a:blipFill>
              <a:blip r:embed="rId2">
                <a:alphaModFix amt="0"/>
              </a:blip>
              <a:stretch>
                <a:fillRect l="-57572" t="0" r="-57572" b="0"/>
              </a:stretch>
            </a:blipFill>
          </p:spPr>
          <p:txBody>
            <a:bodyPr/>
            <a:p/>
          </p:txBody>
        </p:sp>
      </p:grpSp>
      <p:grpSp>
        <p:nvGrpSpPr>
          <p:cNvPr name="Group 10" id="10"/>
          <p:cNvGrpSpPr/>
          <p:nvPr/>
        </p:nvGrpSpPr>
        <p:grpSpPr>
          <a:xfrm rot="0">
            <a:off x="822960" y="2638901"/>
            <a:ext cx="2537460" cy="2161699"/>
            <a:chOff x="0" y="0"/>
            <a:chExt cx="3383280" cy="2882265"/>
          </a:xfrm>
        </p:grpSpPr>
        <p:sp>
          <p:nvSpPr>
            <p:cNvPr name="Freeform 11" id="11"/>
            <p:cNvSpPr/>
            <p:nvPr/>
          </p:nvSpPr>
          <p:spPr>
            <a:xfrm flipH="false" flipV="false" rot="0">
              <a:off x="0" y="0"/>
              <a:ext cx="3383280" cy="2882265"/>
            </a:xfrm>
            <a:custGeom>
              <a:avLst/>
              <a:gdLst/>
              <a:ahLst/>
              <a:cxnLst/>
              <a:rect r="r" b="b" t="t" l="l"/>
              <a:pathLst>
                <a:path h="2882265" w="3383280">
                  <a:moveTo>
                    <a:pt x="0" y="0"/>
                  </a:moveTo>
                  <a:lnTo>
                    <a:pt x="3383280" y="0"/>
                  </a:lnTo>
                  <a:lnTo>
                    <a:pt x="3383280" y="2882265"/>
                  </a:lnTo>
                  <a:lnTo>
                    <a:pt x="0" y="2882265"/>
                  </a:lnTo>
                  <a:close/>
                </a:path>
              </a:pathLst>
            </a:custGeom>
            <a:blipFill>
              <a:blip r:embed="rId3">
                <a:alphaModFix amt="0"/>
              </a:blip>
              <a:stretch>
                <a:fillRect l="-59303" t="0" r="-59303" b="0"/>
              </a:stretch>
            </a:blipFill>
          </p:spPr>
          <p:txBody>
            <a:bodyPr/>
            <a:p/>
          </p:txBody>
        </p:sp>
        <p:sp>
          <p:nvSpPr>
            <p:cNvPr name="TextBox 12" id="12"/>
            <p:cNvSpPr txBox="true"/>
            <p:nvPr/>
          </p:nvSpPr>
          <p:spPr>
            <a:xfrm>
              <a:off x="0" y="-47625"/>
              <a:ext cx="3383280" cy="2929890"/>
            </a:xfrm>
            <a:prstGeom prst="rect">
              <a:avLst/>
            </a:prstGeom>
          </p:spPr>
          <p:txBody>
            <a:bodyPr anchor="ctr" rtlCol="false" tIns="0" lIns="0" bIns="0" rIns="0"/>
            <a:lstStyle/>
            <a:p>
              <a:pPr algn="l">
                <a:lnSpc>
                  <a:spcPts val="2520"/>
                </a:lnSpc>
              </a:pPr>
              <a:r>
                <a:rPr lang="en-US" sz="2100" b="true">
                  <a:solidFill>
                    <a:srgbClr val="13294B"/>
                  </a:solidFill>
                  <a:latin typeface="Calibri (MS) Bold"/>
                  <a:ea typeface="Calibri (MS) Bold"/>
                  <a:cs typeface="Calibri (MS) Bold"/>
                  <a:sym typeface="Calibri (MS) Bold"/>
                </a:rPr>
                <a:t>Train không OCR</a:t>
              </a:r>
            </a:p>
          </p:txBody>
        </p:sp>
      </p:grpSp>
      <p:grpSp>
        <p:nvGrpSpPr>
          <p:cNvPr name="Group 13" id="13"/>
          <p:cNvGrpSpPr/>
          <p:nvPr/>
        </p:nvGrpSpPr>
        <p:grpSpPr>
          <a:xfrm rot="0">
            <a:off x="822960" y="5006340"/>
            <a:ext cx="2537460" cy="2125980"/>
            <a:chOff x="0" y="0"/>
            <a:chExt cx="3383280" cy="2834640"/>
          </a:xfrm>
        </p:grpSpPr>
        <p:sp>
          <p:nvSpPr>
            <p:cNvPr name="Freeform 14" id="14"/>
            <p:cNvSpPr/>
            <p:nvPr/>
          </p:nvSpPr>
          <p:spPr>
            <a:xfrm flipH="false" flipV="false" rot="0">
              <a:off x="0" y="0"/>
              <a:ext cx="3383280" cy="2834640"/>
            </a:xfrm>
            <a:custGeom>
              <a:avLst/>
              <a:gdLst/>
              <a:ahLst/>
              <a:cxnLst/>
              <a:rect r="r" b="b" t="t" l="l"/>
              <a:pathLst>
                <a:path h="2834640" w="3383280">
                  <a:moveTo>
                    <a:pt x="0" y="0"/>
                  </a:moveTo>
                  <a:lnTo>
                    <a:pt x="3383280" y="0"/>
                  </a:lnTo>
                  <a:lnTo>
                    <a:pt x="3383280" y="2834640"/>
                  </a:lnTo>
                  <a:lnTo>
                    <a:pt x="0" y="2834640"/>
                  </a:lnTo>
                  <a:close/>
                </a:path>
              </a:pathLst>
            </a:custGeom>
            <a:blipFill>
              <a:blip r:embed="rId2">
                <a:alphaModFix amt="0"/>
              </a:blip>
              <a:stretch>
                <a:fillRect l="-57572" t="0" r="-57572" b="0"/>
              </a:stretch>
            </a:blipFill>
          </p:spPr>
          <p:txBody>
            <a:bodyPr/>
            <a:p/>
          </p:txBody>
        </p:sp>
      </p:grpSp>
      <p:grpSp>
        <p:nvGrpSpPr>
          <p:cNvPr name="Group 15" id="15"/>
          <p:cNvGrpSpPr/>
          <p:nvPr/>
        </p:nvGrpSpPr>
        <p:grpSpPr>
          <a:xfrm rot="0">
            <a:off x="822960" y="4970621"/>
            <a:ext cx="2537460" cy="2161699"/>
            <a:chOff x="0" y="0"/>
            <a:chExt cx="3383280" cy="2882265"/>
          </a:xfrm>
        </p:grpSpPr>
        <p:sp>
          <p:nvSpPr>
            <p:cNvPr name="Freeform 16" id="16"/>
            <p:cNvSpPr/>
            <p:nvPr/>
          </p:nvSpPr>
          <p:spPr>
            <a:xfrm flipH="false" flipV="false" rot="0">
              <a:off x="0" y="0"/>
              <a:ext cx="3383280" cy="2882265"/>
            </a:xfrm>
            <a:custGeom>
              <a:avLst/>
              <a:gdLst/>
              <a:ahLst/>
              <a:cxnLst/>
              <a:rect r="r" b="b" t="t" l="l"/>
              <a:pathLst>
                <a:path h="2882265" w="3383280">
                  <a:moveTo>
                    <a:pt x="0" y="0"/>
                  </a:moveTo>
                  <a:lnTo>
                    <a:pt x="3383280" y="0"/>
                  </a:lnTo>
                  <a:lnTo>
                    <a:pt x="3383280" y="2882265"/>
                  </a:lnTo>
                  <a:lnTo>
                    <a:pt x="0" y="2882265"/>
                  </a:lnTo>
                  <a:close/>
                </a:path>
              </a:pathLst>
            </a:custGeom>
            <a:blipFill>
              <a:blip r:embed="rId3">
                <a:alphaModFix amt="0"/>
              </a:blip>
              <a:stretch>
                <a:fillRect l="-59303" t="0" r="-59303" b="0"/>
              </a:stretch>
            </a:blipFill>
          </p:spPr>
          <p:txBody>
            <a:bodyPr/>
            <a:p/>
          </p:txBody>
        </p:sp>
        <p:sp>
          <p:nvSpPr>
            <p:cNvPr name="TextBox 17" id="17"/>
            <p:cNvSpPr txBox="true"/>
            <p:nvPr/>
          </p:nvSpPr>
          <p:spPr>
            <a:xfrm>
              <a:off x="0" y="-47625"/>
              <a:ext cx="3383280" cy="2929890"/>
            </a:xfrm>
            <a:prstGeom prst="rect">
              <a:avLst/>
            </a:prstGeom>
          </p:spPr>
          <p:txBody>
            <a:bodyPr anchor="ctr" rtlCol="false" tIns="0" lIns="0" bIns="0" rIns="0"/>
            <a:lstStyle/>
            <a:p>
              <a:pPr algn="l">
                <a:lnSpc>
                  <a:spcPts val="2520"/>
                </a:lnSpc>
              </a:pPr>
              <a:r>
                <a:rPr lang="en-US" sz="2100" b="true">
                  <a:solidFill>
                    <a:srgbClr val="13294B"/>
                  </a:solidFill>
                  <a:latin typeface="Calibri (MS) Bold"/>
                  <a:ea typeface="Calibri (MS) Bold"/>
                  <a:cs typeface="Calibri (MS) Bold"/>
                  <a:sym typeface="Calibri (MS) Bold"/>
                </a:rPr>
                <a:t>Train có OCR</a:t>
              </a:r>
            </a:p>
          </p:txBody>
        </p:sp>
      </p:grpSp>
      <p:sp>
        <p:nvSpPr>
          <p:cNvPr name="Freeform 18" id="18"/>
          <p:cNvSpPr/>
          <p:nvPr/>
        </p:nvSpPr>
        <p:spPr>
          <a:xfrm flipH="false" flipV="false" rot="0">
            <a:off x="3480911" y="265795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19" id="19"/>
          <p:cNvSpPr txBox="true"/>
          <p:nvPr/>
        </p:nvSpPr>
        <p:spPr>
          <a:xfrm rot="0">
            <a:off x="3497580" y="2902458"/>
            <a:ext cx="3360420" cy="1047750"/>
          </a:xfrm>
          <a:prstGeom prst="rect">
            <a:avLst/>
          </a:prstGeom>
        </p:spPr>
        <p:txBody>
          <a:bodyPr anchor="t" rtlCol="false" tIns="0" lIns="0" bIns="0" rIns="0">
            <a:spAutoFit/>
          </a:bodyPr>
          <a:lstStyle/>
          <a:p>
            <a:pPr algn="ctr">
              <a:lnSpc>
                <a:spcPts val="6120"/>
              </a:lnSpc>
            </a:pPr>
            <a:r>
              <a:rPr lang="en-US" sz="5100" b="true">
                <a:solidFill>
                  <a:srgbClr val="13294B"/>
                </a:solidFill>
                <a:latin typeface="Cambria Bold"/>
                <a:ea typeface="Cambria Bold"/>
                <a:cs typeface="Cambria Bold"/>
                <a:sym typeface="Cambria Bold"/>
              </a:rPr>
              <a:t>45,55</a:t>
            </a:r>
          </a:p>
        </p:txBody>
      </p:sp>
      <p:sp>
        <p:nvSpPr>
          <p:cNvPr name="TextBox 20" id="20"/>
          <p:cNvSpPr txBox="true"/>
          <p:nvPr/>
        </p:nvSpPr>
        <p:spPr>
          <a:xfrm rot="0">
            <a:off x="3634740" y="3882390"/>
            <a:ext cx="3086100" cy="71247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B2-sub</a:t>
            </a:r>
          </a:p>
        </p:txBody>
      </p:sp>
      <p:sp>
        <p:nvSpPr>
          <p:cNvPr name="Freeform 21" id="21"/>
          <p:cNvSpPr/>
          <p:nvPr/>
        </p:nvSpPr>
        <p:spPr>
          <a:xfrm flipH="false" flipV="false" rot="0">
            <a:off x="7047071" y="265795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22" id="22"/>
          <p:cNvSpPr txBox="true"/>
          <p:nvPr/>
        </p:nvSpPr>
        <p:spPr>
          <a:xfrm rot="0">
            <a:off x="7063740" y="2902458"/>
            <a:ext cx="3360420" cy="1047750"/>
          </a:xfrm>
          <a:prstGeom prst="rect">
            <a:avLst/>
          </a:prstGeom>
        </p:spPr>
        <p:txBody>
          <a:bodyPr anchor="t" rtlCol="false" tIns="0" lIns="0" bIns="0" rIns="0">
            <a:spAutoFit/>
          </a:bodyPr>
          <a:lstStyle/>
          <a:p>
            <a:pPr algn="ctr">
              <a:lnSpc>
                <a:spcPts val="6120"/>
              </a:lnSpc>
            </a:pPr>
            <a:r>
              <a:rPr lang="en-US" sz="5100" b="true">
                <a:solidFill>
                  <a:srgbClr val="13294B"/>
                </a:solidFill>
                <a:latin typeface="Cambria Bold"/>
                <a:ea typeface="Cambria Bold"/>
                <a:cs typeface="Cambria Bold"/>
                <a:sym typeface="Cambria Bold"/>
              </a:rPr>
              <a:t>44,90</a:t>
            </a:r>
          </a:p>
        </p:txBody>
      </p:sp>
      <p:sp>
        <p:nvSpPr>
          <p:cNvPr name="TextBox 23" id="23"/>
          <p:cNvSpPr txBox="true"/>
          <p:nvPr/>
        </p:nvSpPr>
        <p:spPr>
          <a:xfrm rot="0">
            <a:off x="7200900" y="3882390"/>
            <a:ext cx="3086100" cy="71247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B2-sub + OCR lúc test</a:t>
            </a:r>
          </a:p>
        </p:txBody>
      </p:sp>
      <p:sp>
        <p:nvSpPr>
          <p:cNvPr name="Freeform 24" id="24"/>
          <p:cNvSpPr/>
          <p:nvPr/>
        </p:nvSpPr>
        <p:spPr>
          <a:xfrm flipH="false" flipV="false" rot="0">
            <a:off x="3480911" y="498967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25" id="25"/>
          <p:cNvSpPr txBox="true"/>
          <p:nvPr/>
        </p:nvSpPr>
        <p:spPr>
          <a:xfrm rot="0">
            <a:off x="3497580" y="5234178"/>
            <a:ext cx="3360420" cy="1047750"/>
          </a:xfrm>
          <a:prstGeom prst="rect">
            <a:avLst/>
          </a:prstGeom>
        </p:spPr>
        <p:txBody>
          <a:bodyPr anchor="t" rtlCol="false" tIns="0" lIns="0" bIns="0" rIns="0">
            <a:spAutoFit/>
          </a:bodyPr>
          <a:lstStyle/>
          <a:p>
            <a:pPr algn="ctr">
              <a:lnSpc>
                <a:spcPts val="6120"/>
              </a:lnSpc>
            </a:pPr>
            <a:r>
              <a:rPr lang="en-US" sz="5100" b="true">
                <a:solidFill>
                  <a:srgbClr val="13294B"/>
                </a:solidFill>
                <a:latin typeface="Cambria Bold"/>
                <a:ea typeface="Cambria Bold"/>
                <a:cs typeface="Cambria Bold"/>
                <a:sym typeface="Cambria Bold"/>
              </a:rPr>
              <a:t>45,00</a:t>
            </a:r>
          </a:p>
        </p:txBody>
      </p:sp>
      <p:sp>
        <p:nvSpPr>
          <p:cNvPr name="TextBox 26" id="26"/>
          <p:cNvSpPr txBox="true"/>
          <p:nvPr/>
        </p:nvSpPr>
        <p:spPr>
          <a:xfrm rot="0">
            <a:off x="3634740" y="6214110"/>
            <a:ext cx="3086100" cy="71247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B3, bỏ OCR lúc test</a:t>
            </a:r>
          </a:p>
        </p:txBody>
      </p:sp>
      <p:sp>
        <p:nvSpPr>
          <p:cNvPr name="Freeform 27" id="27"/>
          <p:cNvSpPr/>
          <p:nvPr/>
        </p:nvSpPr>
        <p:spPr>
          <a:xfrm flipH="false" flipV="false" rot="0">
            <a:off x="7047071" y="498967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TextBox 28" id="28"/>
          <p:cNvSpPr txBox="true"/>
          <p:nvPr/>
        </p:nvSpPr>
        <p:spPr>
          <a:xfrm rot="0">
            <a:off x="7063740" y="5234178"/>
            <a:ext cx="3360420" cy="1047750"/>
          </a:xfrm>
          <a:prstGeom prst="rect">
            <a:avLst/>
          </a:prstGeom>
        </p:spPr>
        <p:txBody>
          <a:bodyPr anchor="t" rtlCol="false" tIns="0" lIns="0" bIns="0" rIns="0">
            <a:spAutoFit/>
          </a:bodyPr>
          <a:lstStyle/>
          <a:p>
            <a:pPr algn="ctr">
              <a:lnSpc>
                <a:spcPts val="6120"/>
              </a:lnSpc>
            </a:pPr>
            <a:r>
              <a:rPr lang="en-US" sz="5100" b="true">
                <a:solidFill>
                  <a:srgbClr val="E8A33D"/>
                </a:solidFill>
                <a:latin typeface="Cambria Bold"/>
                <a:ea typeface="Cambria Bold"/>
                <a:cs typeface="Cambria Bold"/>
                <a:sym typeface="Cambria Bold"/>
              </a:rPr>
              <a:t>49,25</a:t>
            </a:r>
          </a:p>
        </p:txBody>
      </p:sp>
      <p:sp>
        <p:nvSpPr>
          <p:cNvPr name="TextBox 29" id="29"/>
          <p:cNvSpPr txBox="true"/>
          <p:nvPr/>
        </p:nvSpPr>
        <p:spPr>
          <a:xfrm rot="0">
            <a:off x="7200900" y="6214110"/>
            <a:ext cx="3086100" cy="71247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B3 (đề xuất)</a:t>
            </a:r>
          </a:p>
        </p:txBody>
      </p:sp>
      <p:sp>
        <p:nvSpPr>
          <p:cNvPr name="TextBox 30" id="30"/>
          <p:cNvSpPr txBox="true"/>
          <p:nvPr/>
        </p:nvSpPr>
        <p:spPr>
          <a:xfrm rot="0">
            <a:off x="3497580" y="7059168"/>
            <a:ext cx="6926580" cy="556260"/>
          </a:xfrm>
          <a:prstGeom prst="rect">
            <a:avLst/>
          </a:prstGeom>
        </p:spPr>
        <p:txBody>
          <a:bodyPr anchor="t" rtlCol="false" tIns="0" lIns="0" bIns="0" rIns="0">
            <a:spAutoFit/>
          </a:bodyPr>
          <a:lstStyle/>
          <a:p>
            <a:pPr algn="ctr">
              <a:lnSpc>
                <a:spcPts val="2160"/>
              </a:lnSpc>
            </a:pPr>
            <a:r>
              <a:rPr lang="en-US" sz="1800">
                <a:solidFill>
                  <a:srgbClr val="6B7280"/>
                </a:solidFill>
                <a:latin typeface="Calibri (MS)"/>
                <a:ea typeface="Calibri (MS)"/>
                <a:cs typeface="Calibri (MS)"/>
                <a:sym typeface="Calibri (MS)"/>
              </a:rPr>
              <a:t>EM (%), ViTextVQA tập con test (2.000 câu), seed 42</a:t>
            </a:r>
          </a:p>
        </p:txBody>
      </p:sp>
      <p:sp>
        <p:nvSpPr>
          <p:cNvPr name="Freeform 31" id="31"/>
          <p:cNvSpPr/>
          <p:nvPr/>
        </p:nvSpPr>
        <p:spPr>
          <a:xfrm flipH="false" flipV="false" rot="0">
            <a:off x="11024711" y="2040731"/>
            <a:ext cx="6456521" cy="3188017"/>
          </a:xfrm>
          <a:custGeom>
            <a:avLst/>
            <a:gdLst/>
            <a:ahLst/>
            <a:cxnLst/>
            <a:rect r="r" b="b" t="t" l="l"/>
            <a:pathLst>
              <a:path h="3188017" w="6456521">
                <a:moveTo>
                  <a:pt x="0" y="0"/>
                </a:moveTo>
                <a:lnTo>
                  <a:pt x="6456521" y="0"/>
                </a:lnTo>
                <a:lnTo>
                  <a:pt x="6456521" y="3188018"/>
                </a:lnTo>
                <a:lnTo>
                  <a:pt x="0" y="318801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sp>
        <p:nvSpPr>
          <p:cNvPr name="TextBox 32" id="32"/>
          <p:cNvSpPr txBox="true"/>
          <p:nvPr/>
        </p:nvSpPr>
        <p:spPr>
          <a:xfrm rot="0">
            <a:off x="11384280" y="2145792"/>
            <a:ext cx="5737403"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Kiểm định ghép cặp (McNemar, EM)</a:t>
            </a:r>
          </a:p>
        </p:txBody>
      </p:sp>
      <p:sp>
        <p:nvSpPr>
          <p:cNvPr name="TextBox 33" id="33"/>
          <p:cNvSpPr txBox="true"/>
          <p:nvPr/>
        </p:nvSpPr>
        <p:spPr>
          <a:xfrm rot="0">
            <a:off x="11384280" y="2716530"/>
            <a:ext cx="5737403" cy="2426970"/>
          </a:xfrm>
          <a:prstGeom prst="rect">
            <a:avLst/>
          </a:prstGeom>
        </p:spPr>
        <p:txBody>
          <a:bodyPr anchor="t" rtlCol="false" tIns="0" lIns="0" bIns="0" rIns="0">
            <a:spAutoFit/>
          </a:bodyPr>
          <a:lstStyle/>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Chỉ OCR lúc test: −0,65 (p = 0,49)</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Chỉ OCR lúc train: −0,55 (p = 0,35)</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Cả train lẫn test: +4,35 (p = 2 × 10⁻⁸)</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Bỏ OCR khỏi B3: −4,25 (p = 4 × 10⁻⁹)</a:t>
            </a:r>
          </a:p>
        </p:txBody>
      </p:sp>
      <p:sp>
        <p:nvSpPr>
          <p:cNvPr name="Freeform 34" id="34"/>
          <p:cNvSpPr/>
          <p:nvPr/>
        </p:nvSpPr>
        <p:spPr>
          <a:xfrm flipH="false" flipV="false" rot="0">
            <a:off x="11024711" y="5469731"/>
            <a:ext cx="6456521" cy="1953578"/>
          </a:xfrm>
          <a:custGeom>
            <a:avLst/>
            <a:gdLst/>
            <a:ahLst/>
            <a:cxnLst/>
            <a:rect r="r" b="b" t="t" l="l"/>
            <a:pathLst>
              <a:path h="1953578" w="6456521">
                <a:moveTo>
                  <a:pt x="0" y="0"/>
                </a:moveTo>
                <a:lnTo>
                  <a:pt x="6456521" y="0"/>
                </a:lnTo>
                <a:lnTo>
                  <a:pt x="6456521" y="1953578"/>
                </a:lnTo>
                <a:lnTo>
                  <a:pt x="0" y="195357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grpSp>
        <p:nvGrpSpPr>
          <p:cNvPr name="Group 35" id="35"/>
          <p:cNvGrpSpPr/>
          <p:nvPr/>
        </p:nvGrpSpPr>
        <p:grpSpPr>
          <a:xfrm rot="0">
            <a:off x="11384280" y="5486400"/>
            <a:ext cx="5737403" cy="1920240"/>
            <a:chOff x="0" y="0"/>
            <a:chExt cx="7649870" cy="2560320"/>
          </a:xfrm>
        </p:grpSpPr>
        <p:sp>
          <p:nvSpPr>
            <p:cNvPr name="Freeform 36" id="36"/>
            <p:cNvSpPr/>
            <p:nvPr/>
          </p:nvSpPr>
          <p:spPr>
            <a:xfrm flipH="false" flipV="false" rot="0">
              <a:off x="0" y="0"/>
              <a:ext cx="7649845" cy="2560320"/>
            </a:xfrm>
            <a:custGeom>
              <a:avLst/>
              <a:gdLst/>
              <a:ahLst/>
              <a:cxnLst/>
              <a:rect r="r" b="b" t="t" l="l"/>
              <a:pathLst>
                <a:path h="2560320" w="7649845">
                  <a:moveTo>
                    <a:pt x="0" y="0"/>
                  </a:moveTo>
                  <a:lnTo>
                    <a:pt x="7649845" y="0"/>
                  </a:lnTo>
                  <a:lnTo>
                    <a:pt x="7649845" y="2560320"/>
                  </a:lnTo>
                  <a:lnTo>
                    <a:pt x="0" y="2560320"/>
                  </a:lnTo>
                  <a:close/>
                </a:path>
              </a:pathLst>
            </a:custGeom>
            <a:blipFill>
              <a:blip r:embed="rId2">
                <a:alphaModFix amt="0"/>
              </a:blip>
              <a:stretch>
                <a:fillRect l="0" t="-8178" r="0" b="-8178"/>
              </a:stretch>
            </a:blipFill>
          </p:spPr>
          <p:txBody>
            <a:bodyPr/>
            <a:p/>
          </p:txBody>
        </p:sp>
      </p:grpSp>
      <p:grpSp>
        <p:nvGrpSpPr>
          <p:cNvPr name="Group 37" id="37"/>
          <p:cNvGrpSpPr/>
          <p:nvPr/>
        </p:nvGrpSpPr>
        <p:grpSpPr>
          <a:xfrm rot="0">
            <a:off x="11384280" y="5443538"/>
            <a:ext cx="5737403" cy="1963102"/>
            <a:chOff x="0" y="0"/>
            <a:chExt cx="7649870" cy="2617470"/>
          </a:xfrm>
        </p:grpSpPr>
        <p:sp>
          <p:nvSpPr>
            <p:cNvPr name="Freeform 38" id="38"/>
            <p:cNvSpPr/>
            <p:nvPr/>
          </p:nvSpPr>
          <p:spPr>
            <a:xfrm flipH="false" flipV="false" rot="0">
              <a:off x="0" y="0"/>
              <a:ext cx="7649871" cy="2617470"/>
            </a:xfrm>
            <a:custGeom>
              <a:avLst/>
              <a:gdLst/>
              <a:ahLst/>
              <a:cxnLst/>
              <a:rect r="r" b="b" t="t" l="l"/>
              <a:pathLst>
                <a:path h="2617470" w="7649871">
                  <a:moveTo>
                    <a:pt x="0" y="0"/>
                  </a:moveTo>
                  <a:lnTo>
                    <a:pt x="7649871" y="0"/>
                  </a:lnTo>
                  <a:lnTo>
                    <a:pt x="7649871" y="2617470"/>
                  </a:lnTo>
                  <a:lnTo>
                    <a:pt x="0" y="2617470"/>
                  </a:lnTo>
                  <a:close/>
                </a:path>
              </a:pathLst>
            </a:custGeom>
            <a:blipFill>
              <a:blip r:embed="rId3">
                <a:alphaModFix amt="0"/>
              </a:blip>
              <a:stretch>
                <a:fillRect l="0" t="-6947" r="0" b="-6947"/>
              </a:stretch>
            </a:blipFill>
          </p:spPr>
          <p:txBody>
            <a:bodyPr/>
            <a:p/>
          </p:txBody>
        </p:sp>
        <p:sp>
          <p:nvSpPr>
            <p:cNvPr name="TextBox 39" id="39"/>
            <p:cNvSpPr txBox="true"/>
            <p:nvPr/>
          </p:nvSpPr>
          <p:spPr>
            <a:xfrm>
              <a:off x="0" y="-57150"/>
              <a:ext cx="7649870" cy="2674620"/>
            </a:xfrm>
            <a:prstGeom prst="rect">
              <a:avLst/>
            </a:prstGeom>
          </p:spPr>
          <p:txBody>
            <a:bodyPr anchor="ctr" rtlCol="false" tIns="0" lIns="0" bIns="0" rIns="0"/>
            <a:lstStyle/>
            <a:p>
              <a:pPr algn="l">
                <a:lnSpc>
                  <a:spcPts val="2700"/>
                </a:lnSpc>
              </a:pPr>
              <a:r>
                <a:rPr lang="en-US" sz="2250" b="true">
                  <a:solidFill>
                    <a:srgbClr val="13294B"/>
                  </a:solidFill>
                  <a:latin typeface="Calibri (MS) Bold"/>
                  <a:ea typeface="Calibri (MS) Bold"/>
                  <a:cs typeface="Calibri (MS) Bold"/>
                  <a:sym typeface="Calibri (MS) Bold"/>
                </a:rPr>
                <a:t>Tương tác +4,9 EM </a:t>
              </a:r>
              <a:r>
                <a:rPr lang="en-US" sz="2250">
                  <a:solidFill>
                    <a:srgbClr val="243044"/>
                  </a:solidFill>
                  <a:latin typeface="Calibri (MS)"/>
                  <a:ea typeface="Calibri (MS)"/>
                  <a:cs typeface="Calibri (MS)"/>
                  <a:sym typeface="Calibri (MS)"/>
                </a:rPr>
                <a:t>(CI95 +3,2 đến +6,6) → cần OCR ở cả train lẫn test</a:t>
              </a:r>
            </a:p>
          </p:txBody>
        </p:sp>
      </p:grpSp>
      <p:sp>
        <p:nvSpPr>
          <p:cNvPr name="Freeform 40" id="40"/>
          <p:cNvSpPr/>
          <p:nvPr/>
        </p:nvSpPr>
        <p:spPr>
          <a:xfrm flipH="false" flipV="false" rot="0">
            <a:off x="806291" y="8007191"/>
            <a:ext cx="16674941" cy="1404938"/>
          </a:xfrm>
          <a:custGeom>
            <a:avLst/>
            <a:gdLst/>
            <a:ahLst/>
            <a:cxnLst/>
            <a:rect r="r" b="b" t="t" l="l"/>
            <a:pathLst>
              <a:path h="1404938" w="16674941">
                <a:moveTo>
                  <a:pt x="0" y="0"/>
                </a:moveTo>
                <a:lnTo>
                  <a:pt x="16674941" y="0"/>
                </a:lnTo>
                <a:lnTo>
                  <a:pt x="16674941" y="1404938"/>
                </a:lnTo>
                <a:lnTo>
                  <a:pt x="0" y="1404938"/>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txBody>
          <a:bodyPr/>
          <a:p/>
        </p:txBody>
      </p:sp>
      <p:grpSp>
        <p:nvGrpSpPr>
          <p:cNvPr name="Group 41" id="41"/>
          <p:cNvGrpSpPr/>
          <p:nvPr/>
        </p:nvGrpSpPr>
        <p:grpSpPr>
          <a:xfrm rot="0">
            <a:off x="1234440" y="8023860"/>
            <a:ext cx="15818663" cy="1371600"/>
            <a:chOff x="0" y="0"/>
            <a:chExt cx="21091550" cy="1828800"/>
          </a:xfrm>
        </p:grpSpPr>
        <p:sp>
          <p:nvSpPr>
            <p:cNvPr name="Freeform 42" id="42"/>
            <p:cNvSpPr/>
            <p:nvPr/>
          </p:nvSpPr>
          <p:spPr>
            <a:xfrm flipH="false" flipV="false" rot="0">
              <a:off x="0" y="0"/>
              <a:ext cx="21091525" cy="1828800"/>
            </a:xfrm>
            <a:custGeom>
              <a:avLst/>
              <a:gdLst/>
              <a:ahLst/>
              <a:cxnLst/>
              <a:rect r="r" b="b" t="t" l="l"/>
              <a:pathLst>
                <a:path h="1828800" w="21091525">
                  <a:moveTo>
                    <a:pt x="0" y="0"/>
                  </a:moveTo>
                  <a:lnTo>
                    <a:pt x="21091525" y="0"/>
                  </a:lnTo>
                  <a:lnTo>
                    <a:pt x="21091525" y="1828800"/>
                  </a:lnTo>
                  <a:lnTo>
                    <a:pt x="0" y="1828800"/>
                  </a:lnTo>
                  <a:close/>
                </a:path>
              </a:pathLst>
            </a:custGeom>
            <a:blipFill>
              <a:blip r:embed="rId2">
                <a:alphaModFix amt="0"/>
              </a:blip>
              <a:stretch>
                <a:fillRect l="0" t="-174564" r="0" b="-174564"/>
              </a:stretch>
            </a:blipFill>
          </p:spPr>
          <p:txBody>
            <a:bodyPr/>
            <a:p/>
          </p:txBody>
        </p:sp>
      </p:grpSp>
      <p:grpSp>
        <p:nvGrpSpPr>
          <p:cNvPr name="Group 43" id="43"/>
          <p:cNvGrpSpPr/>
          <p:nvPr/>
        </p:nvGrpSpPr>
        <p:grpSpPr>
          <a:xfrm rot="0">
            <a:off x="1234440" y="7980997"/>
            <a:ext cx="15818663" cy="1414462"/>
            <a:chOff x="0" y="0"/>
            <a:chExt cx="21091550" cy="1885950"/>
          </a:xfrm>
        </p:grpSpPr>
        <p:sp>
          <p:nvSpPr>
            <p:cNvPr name="Freeform 44" id="44"/>
            <p:cNvSpPr/>
            <p:nvPr/>
          </p:nvSpPr>
          <p:spPr>
            <a:xfrm flipH="false" flipV="false" rot="0">
              <a:off x="0" y="0"/>
              <a:ext cx="21091551" cy="1885950"/>
            </a:xfrm>
            <a:custGeom>
              <a:avLst/>
              <a:gdLst/>
              <a:ahLst/>
              <a:cxnLst/>
              <a:rect r="r" b="b" t="t" l="l"/>
              <a:pathLst>
                <a:path h="1885950" w="21091551">
                  <a:moveTo>
                    <a:pt x="0" y="0"/>
                  </a:moveTo>
                  <a:lnTo>
                    <a:pt x="21091551" y="0"/>
                  </a:lnTo>
                  <a:lnTo>
                    <a:pt x="21091551" y="1885950"/>
                  </a:lnTo>
                  <a:lnTo>
                    <a:pt x="0" y="1885950"/>
                  </a:lnTo>
                  <a:close/>
                </a:path>
              </a:pathLst>
            </a:custGeom>
            <a:blipFill>
              <a:blip r:embed="rId3">
                <a:alphaModFix amt="0"/>
              </a:blip>
              <a:stretch>
                <a:fillRect l="0" t="-167911" r="0" b="-167911"/>
              </a:stretch>
            </a:blipFill>
          </p:spPr>
          <p:txBody>
            <a:bodyPr/>
            <a:p/>
          </p:txBody>
        </p:sp>
        <p:sp>
          <p:nvSpPr>
            <p:cNvPr name="TextBox 45" id="45"/>
            <p:cNvSpPr txBox="true"/>
            <p:nvPr/>
          </p:nvSpPr>
          <p:spPr>
            <a:xfrm>
              <a:off x="0" y="-57150"/>
              <a:ext cx="21091550" cy="1943100"/>
            </a:xfrm>
            <a:prstGeom prst="rect">
              <a:avLst/>
            </a:prstGeom>
          </p:spPr>
          <p:txBody>
            <a:bodyPr anchor="ctr" rtlCol="false" tIns="0" lIns="0" bIns="0" rIns="0"/>
            <a:lstStyle/>
            <a:p>
              <a:pPr algn="l">
                <a:lnSpc>
                  <a:spcPts val="2700"/>
                </a:lnSpc>
              </a:pPr>
              <a:r>
                <a:rPr lang="en-US" sz="2250" b="true">
                  <a:solidFill>
                    <a:srgbClr val="13294B"/>
                  </a:solidFill>
                  <a:latin typeface="Calibri (MS) Bold"/>
                  <a:ea typeface="Calibri (MS) Bold"/>
                  <a:cs typeface="Calibri (MS) Bold"/>
                  <a:sym typeface="Calibri (MS) Bold"/>
                </a:rPr>
                <a:t>Kết luận  </a:t>
              </a:r>
              <a:r>
                <a:rPr lang="en-US" sz="2250">
                  <a:solidFill>
                    <a:srgbClr val="243044"/>
                  </a:solidFill>
                  <a:latin typeface="Calibri (MS)"/>
                  <a:ea typeface="Calibri (MS)"/>
                  <a:cs typeface="Calibri (MS)"/>
                  <a:sym typeface="Calibri (MS)"/>
                </a:rPr>
                <a:t>đóng góp không phải “thêm OCR vào prompt” — mà là dùng QLoRA dạy model khi nào tin OCR, khi nào tin ảnh.</a:t>
              </a:r>
            </a:p>
          </p:txBody>
        </p:sp>
      </p:grpSp>
      <p:grpSp>
        <p:nvGrpSpPr>
          <p:cNvPr name="Group 46" id="46"/>
          <p:cNvGrpSpPr/>
          <p:nvPr/>
        </p:nvGrpSpPr>
        <p:grpSpPr>
          <a:xfrm rot="0">
            <a:off x="15458732" y="0"/>
            <a:ext cx="2829268" cy="1184338"/>
            <a:chOff x="0" y="0"/>
            <a:chExt cx="3772357" cy="1579118"/>
          </a:xfrm>
        </p:grpSpPr>
        <p:sp>
          <p:nvSpPr>
            <p:cNvPr name="Freeform 47" id="47"/>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4"/>
              <a:stretch>
                <a:fillRect l="0" t="0" r="1" b="0"/>
              </a:stretch>
            </a:blipFill>
          </p:spPr>
          <p:txBody>
            <a:bodyPr/>
            <a:p/>
          </p:txBody>
        </p:sp>
      </p:grpSp>
      <p:grpSp>
        <p:nvGrpSpPr>
          <p:cNvPr name="Group 48" id="48"/>
          <p:cNvGrpSpPr/>
          <p:nvPr/>
        </p:nvGrpSpPr>
        <p:grpSpPr>
          <a:xfrm rot="0">
            <a:off x="822960" y="9641205"/>
            <a:ext cx="13716000" cy="440055"/>
            <a:chOff x="0" y="0"/>
            <a:chExt cx="18288000" cy="586740"/>
          </a:xfrm>
        </p:grpSpPr>
        <p:sp>
          <p:nvSpPr>
            <p:cNvPr name="Freeform 49" id="49"/>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7325" r="0" b="-557325"/>
              </a:stretch>
            </a:blipFill>
          </p:spPr>
          <p:txBody>
            <a:bodyPr/>
            <a:p/>
          </p:txBody>
        </p:sp>
        <p:sp>
          <p:nvSpPr>
            <p:cNvPr name="TextBox 50" id="50"/>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
        <p:nvSpPr>
          <p:cNvPr id="51" name="TextBox 50"/>
          <p:cNvSpPr txBox="1"/>
          <p:nvPr/>
        </p:nvSpPr>
        <p:spPr>
          <a:xfrm>
            <a:off x="1234440" y="7498079"/>
            <a:ext cx="10058400" cy="411480"/>
          </a:xfrm>
          <a:prstGeom prst="rect">
            <a:avLst/>
          </a:prstGeom>
          <a:noFill/>
        </p:spPr>
        <p:txBody>
          <a:bodyPr wrap="square" anchor="t" lIns="0" rIns="0" tIns="0" bIns="0">
            <a:spAutoFit/>
          </a:bodyPr>
          <a:lstStyle/>
          <a:p>
            <a:pPr algn="l">
              <a:lnSpc>
                <a:spcPct val="106000"/>
              </a:lnSpc>
              <a:spcAft>
                <a:spcPts val="0"/>
              </a:spcAft>
            </a:pPr>
            <a:r>
              <a:rPr sz="1700" b="1">
                <a:solidFill>
                  <a:srgbClr val="1C7293"/>
                </a:solidFill>
                <a:latin typeface="Calibri (MS) Bold"/>
              </a:rPr>
              <a:t>Lặp lại 3 seed (42/43/44): </a:t>
            </a:r>
            <a:r>
              <a:rPr sz="1700" b="0">
                <a:solidFill>
                  <a:srgbClr val="1C7293"/>
                </a:solidFill>
                <a:latin typeface="Calibri (MS)"/>
              </a:rPr>
              <a:t>+3,57 ± 0,76 EM, cả 3 seed p ≤ 1,4×10⁻⁴ (phụ lục P4)</a:t>
            </a: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METHODOLOGY · 06 · B3 TRÊN TOÀN BỘ DỮ LIỆU (B3-full)</a:t>
            </a:r>
          </a:p>
        </p:txBody>
      </p:sp>
      <p:grpSp>
        <p:nvGrpSpPr>
          <p:cNvPr name="Group 5" id="5"/>
          <p:cNvGrpSpPr/>
          <p:nvPr/>
        </p:nvGrpSpPr>
        <p:grpSpPr>
          <a:xfrm rot="0">
            <a:off x="15458732" y="0"/>
            <a:ext cx="2829268" cy="1184338"/>
            <a:chOff x="0" y="0"/>
            <a:chExt cx="3772357" cy="1579118"/>
          </a:xfrm>
        </p:grpSpPr>
        <p:sp>
          <p:nvSpPr>
            <p:cNvPr name="Freeform 6" id="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1" b="0"/>
              </a:stretch>
            </a:blipFill>
          </p:spPr>
          <p:txBody>
            <a:bodyPr/>
            <a:p/>
          </p:txBody>
        </p:sp>
      </p:grpSp>
      <p:sp>
        <p:nvSpPr>
          <p:cNvPr name="TextBox 7" id="7"/>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Đủ dữ liệu: QLoRA nhận biết OCR vượt QLoRA thường</a:t>
            </a:r>
          </a:p>
        </p:txBody>
      </p:sp>
      <p:sp>
        <p:nvSpPr>
          <p:cNvPr name="TextBox 8" id="8"/>
          <p:cNvSpPr txBox="true"/>
          <p:nvPr/>
        </p:nvSpPr>
        <p:spPr>
          <a:xfrm rot="0">
            <a:off x="3497580" y="1962150"/>
            <a:ext cx="3360420" cy="643890"/>
          </a:xfrm>
          <a:prstGeom prst="rect">
            <a:avLst/>
          </a:prstGeom>
        </p:spPr>
        <p:txBody>
          <a:bodyPr anchor="t" rtlCol="false" tIns="0" lIns="0" bIns="0" rIns="0">
            <a:spAutoFit/>
          </a:bodyPr>
          <a:lstStyle/>
          <a:p>
            <a:pPr algn="ctr">
              <a:lnSpc>
                <a:spcPts val="2520"/>
              </a:lnSpc>
            </a:pPr>
            <a:r>
              <a:rPr lang="en-US" sz="2100" b="true">
                <a:solidFill>
                  <a:srgbClr val="13294B"/>
                </a:solidFill>
                <a:latin typeface="Calibri (MS) Bold"/>
                <a:ea typeface="Calibri (MS) Bold"/>
                <a:cs typeface="Calibri (MS) Bold"/>
                <a:sym typeface="Calibri (MS) Bold"/>
              </a:rPr>
              <a:t>Không OCR</a:t>
            </a:r>
          </a:p>
        </p:txBody>
      </p:sp>
      <p:sp>
        <p:nvSpPr>
          <p:cNvPr name="TextBox 9" id="9"/>
          <p:cNvSpPr txBox="true"/>
          <p:nvPr/>
        </p:nvSpPr>
        <p:spPr>
          <a:xfrm rot="0">
            <a:off x="7063740" y="1962150"/>
            <a:ext cx="3360420" cy="643890"/>
          </a:xfrm>
          <a:prstGeom prst="rect">
            <a:avLst/>
          </a:prstGeom>
        </p:spPr>
        <p:txBody>
          <a:bodyPr anchor="t" rtlCol="false" tIns="0" lIns="0" bIns="0" rIns="0">
            <a:spAutoFit/>
          </a:bodyPr>
          <a:lstStyle/>
          <a:p>
            <a:pPr algn="ctr">
              <a:lnSpc>
                <a:spcPts val="2520"/>
              </a:lnSpc>
            </a:pPr>
            <a:r>
              <a:rPr lang="en-US" sz="2100" b="true">
                <a:solidFill>
                  <a:srgbClr val="13294B"/>
                </a:solidFill>
                <a:latin typeface="Calibri (MS) Bold"/>
                <a:ea typeface="Calibri (MS) Bold"/>
                <a:cs typeface="Calibri (MS) Bold"/>
                <a:sym typeface="Calibri (MS) Bold"/>
              </a:rPr>
              <a:t>Có OCR</a:t>
            </a:r>
          </a:p>
        </p:txBody>
      </p:sp>
      <p:grpSp>
        <p:nvGrpSpPr>
          <p:cNvPr name="Group 10" id="10"/>
          <p:cNvGrpSpPr/>
          <p:nvPr/>
        </p:nvGrpSpPr>
        <p:grpSpPr>
          <a:xfrm rot="0">
            <a:off x="822960" y="2674620"/>
            <a:ext cx="2537460" cy="2125980"/>
            <a:chOff x="0" y="0"/>
            <a:chExt cx="3383280" cy="2834640"/>
          </a:xfrm>
        </p:grpSpPr>
        <p:sp>
          <p:nvSpPr>
            <p:cNvPr name="Freeform 11" id="11"/>
            <p:cNvSpPr/>
            <p:nvPr/>
          </p:nvSpPr>
          <p:spPr>
            <a:xfrm flipH="false" flipV="false" rot="0">
              <a:off x="0" y="0"/>
              <a:ext cx="3383280" cy="2834640"/>
            </a:xfrm>
            <a:custGeom>
              <a:avLst/>
              <a:gdLst/>
              <a:ahLst/>
              <a:cxnLst/>
              <a:rect r="r" b="b" t="t" l="l"/>
              <a:pathLst>
                <a:path h="2834640" w="3383280">
                  <a:moveTo>
                    <a:pt x="0" y="0"/>
                  </a:moveTo>
                  <a:lnTo>
                    <a:pt x="3383280" y="0"/>
                  </a:lnTo>
                  <a:lnTo>
                    <a:pt x="3383280" y="2834640"/>
                  </a:lnTo>
                  <a:lnTo>
                    <a:pt x="0" y="2834640"/>
                  </a:lnTo>
                  <a:close/>
                </a:path>
              </a:pathLst>
            </a:custGeom>
            <a:blipFill>
              <a:blip r:embed="rId2">
                <a:alphaModFix amt="0"/>
              </a:blip>
              <a:stretch>
                <a:fillRect l="-57572" t="0" r="-57572" b="0"/>
              </a:stretch>
            </a:blipFill>
          </p:spPr>
          <p:txBody>
            <a:bodyPr/>
            <a:p/>
          </p:txBody>
        </p:sp>
      </p:grpSp>
      <p:grpSp>
        <p:nvGrpSpPr>
          <p:cNvPr name="Group 12" id="12"/>
          <p:cNvGrpSpPr/>
          <p:nvPr/>
        </p:nvGrpSpPr>
        <p:grpSpPr>
          <a:xfrm rot="0">
            <a:off x="822960" y="2638901"/>
            <a:ext cx="2537460" cy="2161699"/>
            <a:chOff x="0" y="0"/>
            <a:chExt cx="3383280" cy="2882265"/>
          </a:xfrm>
        </p:grpSpPr>
        <p:sp>
          <p:nvSpPr>
            <p:cNvPr name="Freeform 13" id="13"/>
            <p:cNvSpPr/>
            <p:nvPr/>
          </p:nvSpPr>
          <p:spPr>
            <a:xfrm flipH="false" flipV="false" rot="0">
              <a:off x="0" y="0"/>
              <a:ext cx="3383280" cy="2882265"/>
            </a:xfrm>
            <a:custGeom>
              <a:avLst/>
              <a:gdLst/>
              <a:ahLst/>
              <a:cxnLst/>
              <a:rect r="r" b="b" t="t" l="l"/>
              <a:pathLst>
                <a:path h="2882265" w="3383280">
                  <a:moveTo>
                    <a:pt x="0" y="0"/>
                  </a:moveTo>
                  <a:lnTo>
                    <a:pt x="3383280" y="0"/>
                  </a:lnTo>
                  <a:lnTo>
                    <a:pt x="3383280" y="2882265"/>
                  </a:lnTo>
                  <a:lnTo>
                    <a:pt x="0" y="2882265"/>
                  </a:lnTo>
                  <a:close/>
                </a:path>
              </a:pathLst>
            </a:custGeom>
            <a:blipFill>
              <a:blip r:embed="rId4">
                <a:alphaModFix amt="0"/>
              </a:blip>
              <a:stretch>
                <a:fillRect l="-59303" t="0" r="-59303" b="0"/>
              </a:stretch>
            </a:blipFill>
          </p:spPr>
          <p:txBody>
            <a:bodyPr/>
            <a:p/>
          </p:txBody>
        </p:sp>
        <p:sp>
          <p:nvSpPr>
            <p:cNvPr name="TextBox 14" id="14"/>
            <p:cNvSpPr txBox="true"/>
            <p:nvPr/>
          </p:nvSpPr>
          <p:spPr>
            <a:xfrm>
              <a:off x="0" y="-47625"/>
              <a:ext cx="3383280" cy="2929890"/>
            </a:xfrm>
            <a:prstGeom prst="rect">
              <a:avLst/>
            </a:prstGeom>
          </p:spPr>
          <p:txBody>
            <a:bodyPr anchor="ctr" rtlCol="false" tIns="0" lIns="0" bIns="0" rIns="0"/>
            <a:lstStyle/>
            <a:p>
              <a:pPr algn="l">
                <a:lnSpc>
                  <a:spcPts val="2520"/>
                </a:lnSpc>
              </a:pPr>
              <a:r>
                <a:rPr lang="en-US" sz="2100" b="true">
                  <a:solidFill>
                    <a:srgbClr val="13294B"/>
                  </a:solidFill>
                  <a:latin typeface="Calibri (MS) Bold"/>
                  <a:ea typeface="Calibri (MS) Bold"/>
                  <a:cs typeface="Calibri (MS) Bold"/>
                  <a:sym typeface="Calibri (MS) Bold"/>
                </a:rPr>
                <a:t>23% train (8k)</a:t>
              </a:r>
            </a:p>
          </p:txBody>
        </p:sp>
      </p:grpSp>
      <p:grpSp>
        <p:nvGrpSpPr>
          <p:cNvPr name="Group 15" id="15"/>
          <p:cNvGrpSpPr/>
          <p:nvPr/>
        </p:nvGrpSpPr>
        <p:grpSpPr>
          <a:xfrm rot="0">
            <a:off x="822960" y="5006340"/>
            <a:ext cx="2537460" cy="2125980"/>
            <a:chOff x="0" y="0"/>
            <a:chExt cx="3383280" cy="2834640"/>
          </a:xfrm>
        </p:grpSpPr>
        <p:sp>
          <p:nvSpPr>
            <p:cNvPr name="Freeform 16" id="16"/>
            <p:cNvSpPr/>
            <p:nvPr/>
          </p:nvSpPr>
          <p:spPr>
            <a:xfrm flipH="false" flipV="false" rot="0">
              <a:off x="0" y="0"/>
              <a:ext cx="3383280" cy="2834640"/>
            </a:xfrm>
            <a:custGeom>
              <a:avLst/>
              <a:gdLst/>
              <a:ahLst/>
              <a:cxnLst/>
              <a:rect r="r" b="b" t="t" l="l"/>
              <a:pathLst>
                <a:path h="2834640" w="3383280">
                  <a:moveTo>
                    <a:pt x="0" y="0"/>
                  </a:moveTo>
                  <a:lnTo>
                    <a:pt x="3383280" y="0"/>
                  </a:lnTo>
                  <a:lnTo>
                    <a:pt x="3383280" y="2834640"/>
                  </a:lnTo>
                  <a:lnTo>
                    <a:pt x="0" y="2834640"/>
                  </a:lnTo>
                  <a:close/>
                </a:path>
              </a:pathLst>
            </a:custGeom>
            <a:blipFill>
              <a:blip r:embed="rId2">
                <a:alphaModFix amt="0"/>
              </a:blip>
              <a:stretch>
                <a:fillRect l="-57572" t="0" r="-57572" b="0"/>
              </a:stretch>
            </a:blipFill>
          </p:spPr>
          <p:txBody>
            <a:bodyPr/>
            <a:p/>
          </p:txBody>
        </p:sp>
      </p:grpSp>
      <p:grpSp>
        <p:nvGrpSpPr>
          <p:cNvPr name="Group 17" id="17"/>
          <p:cNvGrpSpPr/>
          <p:nvPr/>
        </p:nvGrpSpPr>
        <p:grpSpPr>
          <a:xfrm rot="0">
            <a:off x="822960" y="4970621"/>
            <a:ext cx="2537460" cy="2161699"/>
            <a:chOff x="0" y="0"/>
            <a:chExt cx="3383280" cy="2882265"/>
          </a:xfrm>
        </p:grpSpPr>
        <p:sp>
          <p:nvSpPr>
            <p:cNvPr name="Freeform 18" id="18"/>
            <p:cNvSpPr/>
            <p:nvPr/>
          </p:nvSpPr>
          <p:spPr>
            <a:xfrm flipH="false" flipV="false" rot="0">
              <a:off x="0" y="0"/>
              <a:ext cx="3383280" cy="2882265"/>
            </a:xfrm>
            <a:custGeom>
              <a:avLst/>
              <a:gdLst/>
              <a:ahLst/>
              <a:cxnLst/>
              <a:rect r="r" b="b" t="t" l="l"/>
              <a:pathLst>
                <a:path h="2882265" w="3383280">
                  <a:moveTo>
                    <a:pt x="0" y="0"/>
                  </a:moveTo>
                  <a:lnTo>
                    <a:pt x="3383280" y="0"/>
                  </a:lnTo>
                  <a:lnTo>
                    <a:pt x="3383280" y="2882265"/>
                  </a:lnTo>
                  <a:lnTo>
                    <a:pt x="0" y="2882265"/>
                  </a:lnTo>
                  <a:close/>
                </a:path>
              </a:pathLst>
            </a:custGeom>
            <a:blipFill>
              <a:blip r:embed="rId4">
                <a:alphaModFix amt="0"/>
              </a:blip>
              <a:stretch>
                <a:fillRect l="-59303" t="0" r="-59303" b="0"/>
              </a:stretch>
            </a:blipFill>
          </p:spPr>
          <p:txBody>
            <a:bodyPr/>
            <a:p/>
          </p:txBody>
        </p:sp>
        <p:sp>
          <p:nvSpPr>
            <p:cNvPr name="TextBox 19" id="19"/>
            <p:cNvSpPr txBox="true"/>
            <p:nvPr/>
          </p:nvSpPr>
          <p:spPr>
            <a:xfrm>
              <a:off x="0" y="-47625"/>
              <a:ext cx="3383280" cy="2929890"/>
            </a:xfrm>
            <a:prstGeom prst="rect">
              <a:avLst/>
            </a:prstGeom>
          </p:spPr>
          <p:txBody>
            <a:bodyPr anchor="ctr" rtlCol="false" tIns="0" lIns="0" bIns="0" rIns="0"/>
            <a:lstStyle/>
            <a:p>
              <a:pPr algn="l">
                <a:lnSpc>
                  <a:spcPts val="2520"/>
                </a:lnSpc>
              </a:pPr>
              <a:r>
                <a:rPr lang="en-US" sz="2100" b="true">
                  <a:solidFill>
                    <a:srgbClr val="13294B"/>
                  </a:solidFill>
                  <a:latin typeface="Calibri (MS) Bold"/>
                  <a:ea typeface="Calibri (MS) Bold"/>
                  <a:cs typeface="Calibri (MS) Bold"/>
                  <a:sym typeface="Calibri (MS) Bold"/>
                </a:rPr>
                <a:t>100% train</a:t>
              </a:r>
            </a:p>
          </p:txBody>
        </p:sp>
      </p:grpSp>
      <p:sp>
        <p:nvSpPr>
          <p:cNvPr name="Freeform 20" id="20"/>
          <p:cNvSpPr/>
          <p:nvPr/>
        </p:nvSpPr>
        <p:spPr>
          <a:xfrm flipH="false" flipV="false" rot="0">
            <a:off x="3480911" y="265795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TextBox 21" id="21"/>
          <p:cNvSpPr txBox="true"/>
          <p:nvPr/>
        </p:nvSpPr>
        <p:spPr>
          <a:xfrm rot="0">
            <a:off x="3497580" y="2902458"/>
            <a:ext cx="3360420" cy="1047750"/>
          </a:xfrm>
          <a:prstGeom prst="rect">
            <a:avLst/>
          </a:prstGeom>
        </p:spPr>
        <p:txBody>
          <a:bodyPr anchor="t" rtlCol="false" tIns="0" lIns="0" bIns="0" rIns="0">
            <a:spAutoFit/>
          </a:bodyPr>
          <a:lstStyle/>
          <a:p>
            <a:pPr algn="ctr">
              <a:lnSpc>
                <a:spcPts val="6120"/>
              </a:lnSpc>
            </a:pPr>
            <a:r>
              <a:rPr lang="en-US" sz="5100" b="true">
                <a:solidFill>
                  <a:srgbClr val="13294B"/>
                </a:solidFill>
                <a:latin typeface="Cambria Bold"/>
                <a:ea typeface="Cambria Bold"/>
                <a:cs typeface="Cambria Bold"/>
                <a:sym typeface="Cambria Bold"/>
              </a:rPr>
              <a:t>46,56</a:t>
            </a:r>
          </a:p>
        </p:txBody>
      </p:sp>
      <p:sp>
        <p:nvSpPr>
          <p:cNvPr name="TextBox 22" id="22"/>
          <p:cNvSpPr txBox="true"/>
          <p:nvPr/>
        </p:nvSpPr>
        <p:spPr>
          <a:xfrm rot="0">
            <a:off x="3634740" y="3882390"/>
            <a:ext cx="3086100" cy="71247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B2-sub</a:t>
            </a:r>
          </a:p>
        </p:txBody>
      </p:sp>
      <p:sp>
        <p:nvSpPr>
          <p:cNvPr name="Freeform 23" id="23"/>
          <p:cNvSpPr/>
          <p:nvPr/>
        </p:nvSpPr>
        <p:spPr>
          <a:xfrm flipH="false" flipV="false" rot="0">
            <a:off x="7047071" y="265795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TextBox 24" id="24"/>
          <p:cNvSpPr txBox="true"/>
          <p:nvPr/>
        </p:nvSpPr>
        <p:spPr>
          <a:xfrm rot="0">
            <a:off x="7063740" y="2902458"/>
            <a:ext cx="3360420" cy="1047750"/>
          </a:xfrm>
          <a:prstGeom prst="rect">
            <a:avLst/>
          </a:prstGeom>
        </p:spPr>
        <p:txBody>
          <a:bodyPr anchor="t" rtlCol="false" tIns="0" lIns="0" bIns="0" rIns="0">
            <a:spAutoFit/>
          </a:bodyPr>
          <a:lstStyle/>
          <a:p>
            <a:pPr algn="ctr">
              <a:lnSpc>
                <a:spcPts val="6120"/>
              </a:lnSpc>
            </a:pPr>
            <a:r>
              <a:rPr lang="en-US" sz="5100" b="true">
                <a:solidFill>
                  <a:srgbClr val="13294B"/>
                </a:solidFill>
                <a:latin typeface="Cambria Bold"/>
                <a:ea typeface="Cambria Bold"/>
                <a:cs typeface="Cambria Bold"/>
                <a:sym typeface="Cambria Bold"/>
              </a:rPr>
              <a:t>49,10</a:t>
            </a:r>
          </a:p>
        </p:txBody>
      </p:sp>
      <p:sp>
        <p:nvSpPr>
          <p:cNvPr name="TextBox 25" id="25"/>
          <p:cNvSpPr txBox="true"/>
          <p:nvPr/>
        </p:nvSpPr>
        <p:spPr>
          <a:xfrm rot="0">
            <a:off x="7200900" y="3882390"/>
            <a:ext cx="3086100" cy="71247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B3</a:t>
            </a:r>
          </a:p>
        </p:txBody>
      </p:sp>
      <p:sp>
        <p:nvSpPr>
          <p:cNvPr name="Freeform 26" id="26"/>
          <p:cNvSpPr/>
          <p:nvPr/>
        </p:nvSpPr>
        <p:spPr>
          <a:xfrm flipH="false" flipV="false" rot="0">
            <a:off x="3480911" y="498967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TextBox 27" id="27"/>
          <p:cNvSpPr txBox="true"/>
          <p:nvPr/>
        </p:nvSpPr>
        <p:spPr>
          <a:xfrm rot="0">
            <a:off x="3497580" y="5234178"/>
            <a:ext cx="3360420" cy="1047750"/>
          </a:xfrm>
          <a:prstGeom prst="rect">
            <a:avLst/>
          </a:prstGeom>
        </p:spPr>
        <p:txBody>
          <a:bodyPr anchor="t" rtlCol="false" tIns="0" lIns="0" bIns="0" rIns="0">
            <a:spAutoFit/>
          </a:bodyPr>
          <a:lstStyle/>
          <a:p>
            <a:pPr algn="ctr">
              <a:lnSpc>
                <a:spcPts val="6120"/>
              </a:lnSpc>
            </a:pPr>
            <a:r>
              <a:rPr lang="en-US" sz="5100" b="true">
                <a:solidFill>
                  <a:srgbClr val="13294B"/>
                </a:solidFill>
                <a:latin typeface="Cambria Bold"/>
                <a:ea typeface="Cambria Bold"/>
                <a:cs typeface="Cambria Bold"/>
                <a:sym typeface="Cambria Bold"/>
              </a:rPr>
              <a:t>50,26</a:t>
            </a:r>
          </a:p>
        </p:txBody>
      </p:sp>
      <p:sp>
        <p:nvSpPr>
          <p:cNvPr name="TextBox 28" id="28"/>
          <p:cNvSpPr txBox="true"/>
          <p:nvPr/>
        </p:nvSpPr>
        <p:spPr>
          <a:xfrm rot="0">
            <a:off x="3634740" y="6214110"/>
            <a:ext cx="3086100" cy="71247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B2</a:t>
            </a:r>
          </a:p>
        </p:txBody>
      </p:sp>
      <p:sp>
        <p:nvSpPr>
          <p:cNvPr name="Freeform 29" id="29"/>
          <p:cNvSpPr/>
          <p:nvPr/>
        </p:nvSpPr>
        <p:spPr>
          <a:xfrm flipH="false" flipV="false" rot="0">
            <a:off x="7047071" y="4989671"/>
            <a:ext cx="3393758" cy="2159317"/>
          </a:xfrm>
          <a:custGeom>
            <a:avLst/>
            <a:gdLst/>
            <a:ahLst/>
            <a:cxnLst/>
            <a:rect r="r" b="b" t="t" l="l"/>
            <a:pathLst>
              <a:path h="2159317" w="3393758">
                <a:moveTo>
                  <a:pt x="0" y="0"/>
                </a:moveTo>
                <a:lnTo>
                  <a:pt x="3393758" y="0"/>
                </a:lnTo>
                <a:lnTo>
                  <a:pt x="3393758" y="2159318"/>
                </a:lnTo>
                <a:lnTo>
                  <a:pt x="0" y="215931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sp>
        <p:nvSpPr>
          <p:cNvPr name="TextBox 30" id="30"/>
          <p:cNvSpPr txBox="true"/>
          <p:nvPr/>
        </p:nvSpPr>
        <p:spPr>
          <a:xfrm rot="0">
            <a:off x="7063740" y="5234178"/>
            <a:ext cx="3360420" cy="1047750"/>
          </a:xfrm>
          <a:prstGeom prst="rect">
            <a:avLst/>
          </a:prstGeom>
        </p:spPr>
        <p:txBody>
          <a:bodyPr anchor="t" rtlCol="false" tIns="0" lIns="0" bIns="0" rIns="0">
            <a:spAutoFit/>
          </a:bodyPr>
          <a:lstStyle/>
          <a:p>
            <a:pPr algn="ctr">
              <a:lnSpc>
                <a:spcPts val="6120"/>
              </a:lnSpc>
            </a:pPr>
            <a:r>
              <a:rPr lang="en-US" sz="5100" b="true">
                <a:solidFill>
                  <a:srgbClr val="E8A33D"/>
                </a:solidFill>
                <a:latin typeface="Cambria Bold"/>
                <a:ea typeface="Cambria Bold"/>
                <a:cs typeface="Cambria Bold"/>
                <a:sym typeface="Cambria Bold"/>
              </a:rPr>
              <a:t>53,35</a:t>
            </a:r>
          </a:p>
        </p:txBody>
      </p:sp>
      <p:sp>
        <p:nvSpPr>
          <p:cNvPr name="TextBox 31" id="31"/>
          <p:cNvSpPr txBox="true"/>
          <p:nvPr/>
        </p:nvSpPr>
        <p:spPr>
          <a:xfrm rot="0">
            <a:off x="7200900" y="6214110"/>
            <a:ext cx="3086100" cy="712470"/>
          </a:xfrm>
          <a:prstGeom prst="rect">
            <a:avLst/>
          </a:prstGeom>
        </p:spPr>
        <p:txBody>
          <a:bodyPr anchor="t" rtlCol="false" tIns="0" lIns="0" bIns="0" rIns="0">
            <a:spAutoFit/>
          </a:bodyPr>
          <a:lstStyle/>
          <a:p>
            <a:pPr algn="ctr">
              <a:lnSpc>
                <a:spcPts val="2340"/>
              </a:lnSpc>
            </a:pPr>
            <a:r>
              <a:rPr lang="en-US" sz="1950">
                <a:solidFill>
                  <a:srgbClr val="243044"/>
                </a:solidFill>
                <a:latin typeface="Calibri (MS)"/>
                <a:ea typeface="Calibri (MS)"/>
                <a:cs typeface="Calibri (MS)"/>
                <a:sym typeface="Calibri (MS)"/>
              </a:rPr>
              <a:t>B3-full (đề xuất)</a:t>
            </a:r>
          </a:p>
        </p:txBody>
      </p:sp>
      <p:sp>
        <p:nvSpPr>
          <p:cNvPr name="TextBox 32" id="32"/>
          <p:cNvSpPr txBox="true"/>
          <p:nvPr/>
        </p:nvSpPr>
        <p:spPr>
          <a:xfrm rot="0">
            <a:off x="3497580" y="7220712"/>
            <a:ext cx="6926580" cy="556260"/>
          </a:xfrm>
          <a:prstGeom prst="rect">
            <a:avLst/>
          </a:prstGeom>
        </p:spPr>
        <p:txBody>
          <a:bodyPr anchor="t" rtlCol="false" tIns="0" lIns="0" bIns="0" rIns="0">
            <a:spAutoFit/>
          </a:bodyPr>
          <a:lstStyle/>
          <a:p>
            <a:pPr algn="ctr">
              <a:lnSpc>
                <a:spcPts val="2160"/>
              </a:lnSpc>
            </a:pPr>
            <a:r>
              <a:rPr lang="en-US" sz="1800">
                <a:solidFill>
                  <a:srgbClr val="6B7280"/>
                </a:solidFill>
                <a:latin typeface="Calibri (MS)"/>
                <a:ea typeface="Calibri (MS)"/>
                <a:cs typeface="Calibri (MS)"/>
                <a:sym typeface="Calibri (MS)"/>
              </a:rPr>
              <a:t>EM (%), ViTextVQA full test (10.028 câu), seed 42</a:t>
            </a:r>
          </a:p>
        </p:txBody>
      </p:sp>
      <p:sp>
        <p:nvSpPr>
          <p:cNvPr name="Freeform 33" id="33"/>
          <p:cNvSpPr/>
          <p:nvPr/>
        </p:nvSpPr>
        <p:spPr>
          <a:xfrm flipH="false" flipV="false" rot="0">
            <a:off x="11024711" y="2040731"/>
            <a:ext cx="6456521" cy="3188017"/>
          </a:xfrm>
          <a:custGeom>
            <a:avLst/>
            <a:gdLst/>
            <a:ahLst/>
            <a:cxnLst/>
            <a:rect r="r" b="b" t="t" l="l"/>
            <a:pathLst>
              <a:path h="3188017" w="6456521">
                <a:moveTo>
                  <a:pt x="0" y="0"/>
                </a:moveTo>
                <a:lnTo>
                  <a:pt x="6456521" y="0"/>
                </a:lnTo>
                <a:lnTo>
                  <a:pt x="6456521" y="3188018"/>
                </a:lnTo>
                <a:lnTo>
                  <a:pt x="0" y="318801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sp>
        <p:nvSpPr>
          <p:cNvPr name="TextBox 34" id="34"/>
          <p:cNvSpPr txBox="true"/>
          <p:nvPr/>
        </p:nvSpPr>
        <p:spPr>
          <a:xfrm rot="0">
            <a:off x="11384280" y="2145792"/>
            <a:ext cx="5737403"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Kiểm định ghép cặp (McNemar, EM)</a:t>
            </a:r>
          </a:p>
        </p:txBody>
      </p:sp>
      <p:sp>
        <p:nvSpPr>
          <p:cNvPr name="TextBox 35" id="35"/>
          <p:cNvSpPr txBox="true"/>
          <p:nvPr/>
        </p:nvSpPr>
        <p:spPr>
          <a:xfrm rot="0">
            <a:off x="11384280" y="2716530"/>
            <a:ext cx="5737403" cy="2426970"/>
          </a:xfrm>
          <a:prstGeom prst="rect">
            <a:avLst/>
          </a:prstGeom>
        </p:spPr>
        <p:txBody>
          <a:bodyPr anchor="t" rtlCol="false" tIns="0" lIns="0" bIns="0" rIns="0">
            <a:spAutoFit/>
          </a:bodyPr>
          <a:lstStyle/>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OCR ở 23% dữ liệu: +2,54 (p = 10⁻¹⁴)</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OCR ở 100% dữ liệu: +3,09 (705 so với 395 câu, p = 7 × 10⁻²¹)</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ΔANLS +1,87 (CI95 +1,38 đến +2,36)</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Hơn ViTextBLIP-2: 25,48 EM / 53,95 F1</a:t>
            </a:r>
          </a:p>
        </p:txBody>
      </p:sp>
      <p:sp>
        <p:nvSpPr>
          <p:cNvPr name="Freeform 36" id="36"/>
          <p:cNvSpPr/>
          <p:nvPr/>
        </p:nvSpPr>
        <p:spPr>
          <a:xfrm flipH="false" flipV="false" rot="0">
            <a:off x="11024711" y="5469731"/>
            <a:ext cx="6456521" cy="1953578"/>
          </a:xfrm>
          <a:custGeom>
            <a:avLst/>
            <a:gdLst/>
            <a:ahLst/>
            <a:cxnLst/>
            <a:rect r="r" b="b" t="t" l="l"/>
            <a:pathLst>
              <a:path h="1953578" w="6456521">
                <a:moveTo>
                  <a:pt x="0" y="0"/>
                </a:moveTo>
                <a:lnTo>
                  <a:pt x="6456521" y="0"/>
                </a:lnTo>
                <a:lnTo>
                  <a:pt x="6456521" y="1953578"/>
                </a:lnTo>
                <a:lnTo>
                  <a:pt x="0" y="195357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txBody>
          <a:bodyPr/>
          <a:p/>
        </p:txBody>
      </p:sp>
      <p:grpSp>
        <p:nvGrpSpPr>
          <p:cNvPr name="Group 37" id="37"/>
          <p:cNvGrpSpPr/>
          <p:nvPr/>
        </p:nvGrpSpPr>
        <p:grpSpPr>
          <a:xfrm rot="0">
            <a:off x="11384280" y="5486400"/>
            <a:ext cx="5737403" cy="1920240"/>
            <a:chOff x="0" y="0"/>
            <a:chExt cx="7649870" cy="2560320"/>
          </a:xfrm>
        </p:grpSpPr>
        <p:sp>
          <p:nvSpPr>
            <p:cNvPr name="Freeform 38" id="38"/>
            <p:cNvSpPr/>
            <p:nvPr/>
          </p:nvSpPr>
          <p:spPr>
            <a:xfrm flipH="false" flipV="false" rot="0">
              <a:off x="0" y="0"/>
              <a:ext cx="7649845" cy="2560320"/>
            </a:xfrm>
            <a:custGeom>
              <a:avLst/>
              <a:gdLst/>
              <a:ahLst/>
              <a:cxnLst/>
              <a:rect r="r" b="b" t="t" l="l"/>
              <a:pathLst>
                <a:path h="2560320" w="7649845">
                  <a:moveTo>
                    <a:pt x="0" y="0"/>
                  </a:moveTo>
                  <a:lnTo>
                    <a:pt x="7649845" y="0"/>
                  </a:lnTo>
                  <a:lnTo>
                    <a:pt x="7649845" y="2560320"/>
                  </a:lnTo>
                  <a:lnTo>
                    <a:pt x="0" y="2560320"/>
                  </a:lnTo>
                  <a:close/>
                </a:path>
              </a:pathLst>
            </a:custGeom>
            <a:blipFill>
              <a:blip r:embed="rId2">
                <a:alphaModFix amt="0"/>
              </a:blip>
              <a:stretch>
                <a:fillRect l="0" t="-8178" r="0" b="-8178"/>
              </a:stretch>
            </a:blipFill>
          </p:spPr>
          <p:txBody>
            <a:bodyPr/>
            <a:p/>
          </p:txBody>
        </p:sp>
      </p:grpSp>
      <p:grpSp>
        <p:nvGrpSpPr>
          <p:cNvPr name="Group 39" id="39"/>
          <p:cNvGrpSpPr/>
          <p:nvPr/>
        </p:nvGrpSpPr>
        <p:grpSpPr>
          <a:xfrm rot="0">
            <a:off x="11384280" y="5443538"/>
            <a:ext cx="5737403" cy="1963102"/>
            <a:chOff x="0" y="0"/>
            <a:chExt cx="7649870" cy="2617470"/>
          </a:xfrm>
        </p:grpSpPr>
        <p:sp>
          <p:nvSpPr>
            <p:cNvPr name="Freeform 40" id="40"/>
            <p:cNvSpPr/>
            <p:nvPr/>
          </p:nvSpPr>
          <p:spPr>
            <a:xfrm flipH="false" flipV="false" rot="0">
              <a:off x="0" y="0"/>
              <a:ext cx="7649871" cy="2617470"/>
            </a:xfrm>
            <a:custGeom>
              <a:avLst/>
              <a:gdLst/>
              <a:ahLst/>
              <a:cxnLst/>
              <a:rect r="r" b="b" t="t" l="l"/>
              <a:pathLst>
                <a:path h="2617470" w="7649871">
                  <a:moveTo>
                    <a:pt x="0" y="0"/>
                  </a:moveTo>
                  <a:lnTo>
                    <a:pt x="7649871" y="0"/>
                  </a:lnTo>
                  <a:lnTo>
                    <a:pt x="7649871" y="2617470"/>
                  </a:lnTo>
                  <a:lnTo>
                    <a:pt x="0" y="2617470"/>
                  </a:lnTo>
                  <a:close/>
                </a:path>
              </a:pathLst>
            </a:custGeom>
            <a:blipFill>
              <a:blip r:embed="rId4">
                <a:alphaModFix amt="0"/>
              </a:blip>
              <a:stretch>
                <a:fillRect l="0" t="-6947" r="0" b="-6947"/>
              </a:stretch>
            </a:blipFill>
          </p:spPr>
          <p:txBody>
            <a:bodyPr/>
            <a:p/>
          </p:txBody>
        </p:sp>
        <p:sp>
          <p:nvSpPr>
            <p:cNvPr name="TextBox 41" id="41"/>
            <p:cNvSpPr txBox="true"/>
            <p:nvPr/>
          </p:nvSpPr>
          <p:spPr>
            <a:xfrm>
              <a:off x="0" y="-57150"/>
              <a:ext cx="7649870" cy="2674620"/>
            </a:xfrm>
            <a:prstGeom prst="rect">
              <a:avLst/>
            </a:prstGeom>
          </p:spPr>
          <p:txBody>
            <a:bodyPr anchor="ctr" rtlCol="false" tIns="0" lIns="0" bIns="0" rIns="0"/>
            <a:lstStyle/>
            <a:p>
              <a:pPr algn="l">
                <a:lnSpc>
                  <a:spcPts val="2700"/>
                </a:lnSpc>
              </a:pPr>
              <a:r>
                <a:rPr lang="en-US" sz="2250" b="true">
                  <a:solidFill>
                    <a:srgbClr val="13294B"/>
                  </a:solidFill>
                  <a:latin typeface="Calibri (MS) Bold"/>
                  <a:ea typeface="Calibri (MS) Bold"/>
                  <a:cs typeface="Calibri (MS) Bold"/>
                  <a:sym typeface="Calibri (MS) Bold"/>
                </a:rPr>
                <a:t>Tương tác dữ liệu × OCR +0,55 </a:t>
              </a:r>
              <a:r>
                <a:rPr lang="en-US" sz="2250">
                  <a:solidFill>
                    <a:srgbClr val="243044"/>
                  </a:solidFill>
                  <a:latin typeface="Calibri (MS)"/>
                  <a:ea typeface="Calibri (MS)"/>
                  <a:cs typeface="Calibri (MS)"/>
                  <a:sym typeface="Calibri (MS)"/>
                </a:rPr>
                <a:t>(CI95 −0,20 đến +1,29) → lợi ích của OCR không giảm khi thêm dữ liệu</a:t>
              </a:r>
            </a:p>
          </p:txBody>
        </p:sp>
      </p:grpSp>
      <p:sp>
        <p:nvSpPr>
          <p:cNvPr name="Freeform 42" id="42"/>
          <p:cNvSpPr/>
          <p:nvPr/>
        </p:nvSpPr>
        <p:spPr>
          <a:xfrm flipH="false" flipV="false" rot="0">
            <a:off x="806291" y="8007191"/>
            <a:ext cx="16674941" cy="1404938"/>
          </a:xfrm>
          <a:custGeom>
            <a:avLst/>
            <a:gdLst/>
            <a:ahLst/>
            <a:cxnLst/>
            <a:rect r="r" b="b" t="t" l="l"/>
            <a:pathLst>
              <a:path h="1404938" w="16674941">
                <a:moveTo>
                  <a:pt x="0" y="0"/>
                </a:moveTo>
                <a:lnTo>
                  <a:pt x="16674941" y="0"/>
                </a:lnTo>
                <a:lnTo>
                  <a:pt x="16674941" y="1404938"/>
                </a:lnTo>
                <a:lnTo>
                  <a:pt x="0" y="1404938"/>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txBody>
          <a:bodyPr/>
          <a:p/>
        </p:txBody>
      </p:sp>
      <p:grpSp>
        <p:nvGrpSpPr>
          <p:cNvPr name="Group 43" id="43"/>
          <p:cNvGrpSpPr/>
          <p:nvPr/>
        </p:nvGrpSpPr>
        <p:grpSpPr>
          <a:xfrm rot="0">
            <a:off x="1234440" y="8023860"/>
            <a:ext cx="15818663" cy="1371600"/>
            <a:chOff x="0" y="0"/>
            <a:chExt cx="21091550" cy="1828800"/>
          </a:xfrm>
        </p:grpSpPr>
        <p:sp>
          <p:nvSpPr>
            <p:cNvPr name="Freeform 44" id="44"/>
            <p:cNvSpPr/>
            <p:nvPr/>
          </p:nvSpPr>
          <p:spPr>
            <a:xfrm flipH="false" flipV="false" rot="0">
              <a:off x="0" y="0"/>
              <a:ext cx="21091525" cy="1828800"/>
            </a:xfrm>
            <a:custGeom>
              <a:avLst/>
              <a:gdLst/>
              <a:ahLst/>
              <a:cxnLst/>
              <a:rect r="r" b="b" t="t" l="l"/>
              <a:pathLst>
                <a:path h="1828800" w="21091525">
                  <a:moveTo>
                    <a:pt x="0" y="0"/>
                  </a:moveTo>
                  <a:lnTo>
                    <a:pt x="21091525" y="0"/>
                  </a:lnTo>
                  <a:lnTo>
                    <a:pt x="21091525" y="1828800"/>
                  </a:lnTo>
                  <a:lnTo>
                    <a:pt x="0" y="1828800"/>
                  </a:lnTo>
                  <a:close/>
                </a:path>
              </a:pathLst>
            </a:custGeom>
            <a:blipFill>
              <a:blip r:embed="rId2">
                <a:alphaModFix amt="0"/>
              </a:blip>
              <a:stretch>
                <a:fillRect l="0" t="-174564" r="0" b="-174564"/>
              </a:stretch>
            </a:blipFill>
          </p:spPr>
          <p:txBody>
            <a:bodyPr/>
            <a:p/>
          </p:txBody>
        </p:sp>
      </p:grpSp>
      <p:grpSp>
        <p:nvGrpSpPr>
          <p:cNvPr name="Group 45" id="45"/>
          <p:cNvGrpSpPr/>
          <p:nvPr/>
        </p:nvGrpSpPr>
        <p:grpSpPr>
          <a:xfrm rot="0">
            <a:off x="1234440" y="7980997"/>
            <a:ext cx="15818663" cy="1414462"/>
            <a:chOff x="0" y="0"/>
            <a:chExt cx="21091550" cy="1885950"/>
          </a:xfrm>
        </p:grpSpPr>
        <p:sp>
          <p:nvSpPr>
            <p:cNvPr name="Freeform 46" id="46"/>
            <p:cNvSpPr/>
            <p:nvPr/>
          </p:nvSpPr>
          <p:spPr>
            <a:xfrm flipH="false" flipV="false" rot="0">
              <a:off x="0" y="0"/>
              <a:ext cx="21091551" cy="1885950"/>
            </a:xfrm>
            <a:custGeom>
              <a:avLst/>
              <a:gdLst/>
              <a:ahLst/>
              <a:cxnLst/>
              <a:rect r="r" b="b" t="t" l="l"/>
              <a:pathLst>
                <a:path h="1885950" w="21091551">
                  <a:moveTo>
                    <a:pt x="0" y="0"/>
                  </a:moveTo>
                  <a:lnTo>
                    <a:pt x="21091551" y="0"/>
                  </a:lnTo>
                  <a:lnTo>
                    <a:pt x="21091551" y="1885950"/>
                  </a:lnTo>
                  <a:lnTo>
                    <a:pt x="0" y="1885950"/>
                  </a:lnTo>
                  <a:close/>
                </a:path>
              </a:pathLst>
            </a:custGeom>
            <a:blipFill>
              <a:blip r:embed="rId4">
                <a:alphaModFix amt="0"/>
              </a:blip>
              <a:stretch>
                <a:fillRect l="0" t="-167911" r="0" b="-167911"/>
              </a:stretch>
            </a:blipFill>
          </p:spPr>
          <p:txBody>
            <a:bodyPr/>
            <a:p/>
          </p:txBody>
        </p:sp>
        <p:sp>
          <p:nvSpPr>
            <p:cNvPr name="TextBox 47" id="47"/>
            <p:cNvSpPr txBox="true"/>
            <p:nvPr/>
          </p:nvSpPr>
          <p:spPr>
            <a:xfrm>
              <a:off x="0" y="-57150"/>
              <a:ext cx="21091550" cy="1943100"/>
            </a:xfrm>
            <a:prstGeom prst="rect">
              <a:avLst/>
            </a:prstGeom>
          </p:spPr>
          <p:txBody>
            <a:bodyPr anchor="ctr" rtlCol="false" tIns="0" lIns="0" bIns="0" rIns="0"/>
            <a:lstStyle/>
            <a:p>
              <a:pPr algn="l">
                <a:lnSpc>
                  <a:spcPts val="2700"/>
                </a:lnSpc>
              </a:pPr>
              <a:r>
                <a:rPr lang="en-US" sz="2250" b="true">
                  <a:solidFill>
                    <a:srgbClr val="13294B"/>
                  </a:solidFill>
                  <a:latin typeface="Calibri (MS) Bold"/>
                  <a:ea typeface="Calibri (MS) Bold"/>
                  <a:cs typeface="Calibri (MS) Bold"/>
                  <a:sym typeface="Calibri (MS) Bold"/>
                </a:rPr>
                <a:t>Kết luận  </a:t>
              </a:r>
              <a:r>
                <a:rPr lang="en-US" sz="2250">
                  <a:solidFill>
                    <a:srgbClr val="243044"/>
                  </a:solidFill>
                  <a:latin typeface="Calibri (MS)"/>
                  <a:ea typeface="Calibri (MS)"/>
                  <a:cs typeface="Calibri (MS)"/>
                  <a:sym typeface="Calibri (MS)"/>
                </a:rPr>
                <a:t>B3-full là mô hình ViTextVQA chính thức: EM 53,35 / F1 73,73 — EM gấp đôi SOTA công bố; 12,8 h train trên một L4 (B2: 12,0 h).</a:t>
              </a:r>
            </a:p>
          </p:txBody>
        </p:sp>
      </p:grpSp>
      <p:grpSp>
        <p:nvGrpSpPr>
          <p:cNvPr name="Group 48" id="48"/>
          <p:cNvGrpSpPr/>
          <p:nvPr/>
        </p:nvGrpSpPr>
        <p:grpSpPr>
          <a:xfrm rot="0">
            <a:off x="822960" y="9641205"/>
            <a:ext cx="13716000" cy="440055"/>
            <a:chOff x="0" y="0"/>
            <a:chExt cx="18288000" cy="586740"/>
          </a:xfrm>
        </p:grpSpPr>
        <p:sp>
          <p:nvSpPr>
            <p:cNvPr name="Freeform 49" id="49"/>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4">
                <a:alphaModFix amt="0"/>
              </a:blip>
              <a:stretch>
                <a:fillRect l="0" t="-557325" r="0" b="-557325"/>
              </a:stretch>
            </a:blipFill>
          </p:spPr>
          <p:txBody>
            <a:bodyPr/>
            <a:p/>
          </p:txBody>
        </p:sp>
        <p:sp>
          <p:nvSpPr>
            <p:cNvPr name="TextBox 50" id="50"/>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GIẢ THUYẾT</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Bằng chứng đến thời điểm này</a:t>
            </a:r>
          </a:p>
        </p:txBody>
      </p:sp>
      <p:graphicFrame>
        <p:nvGraphicFramePr>
          <p:cNvPr name="Table 6" id="6"/>
          <p:cNvGraphicFramePr>
            <a:graphicFrameLocks noGrp="true"/>
          </p:cNvGraphicFramePr>
          <p:nvPr/>
        </p:nvGraphicFramePr>
        <p:xfrm>
          <a:off x="822960" y="2057400"/>
          <a:ext cx="16598900" cy="5067300"/>
        </p:xfrm>
        <a:graphic>
          <a:graphicData uri="http://schemas.openxmlformats.org/drawingml/2006/table">
            <a:tbl>
              <a:tblPr/>
              <a:tblGrid>
                <a:gridCol w="7102256"/>
                <a:gridCol w="6735938"/>
                <a:gridCol w="2760705"/>
              </a:tblGrid>
              <a:tr h="7239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Giả thuyết (slide 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Bằng chứng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Trạng thái</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723900">
                <a:tc>
                  <a:txBody>
                    <a:bodyPr anchor="t" rtlCol="false"/>
                    <a:lstStyle/>
                    <a:p>
                      <a:pPr algn="l">
                        <a:lnSpc>
                          <a:spcPts val="2520"/>
                        </a:lnSpc>
                        <a:defRPr/>
                      </a:pPr>
                      <a:r>
                        <a:rPr lang="en-US" sz="2100">
                          <a:solidFill>
                            <a:srgbClr val="243044"/>
                          </a:solidFill>
                          <a:latin typeface="Calibri (MS)"/>
                          <a:ea typeface="Calibri (MS)"/>
                          <a:cs typeface="Calibri (MS)"/>
                          <a:sym typeface="Calibri (MS)"/>
                        </a:rPr>
                        <a:t>H1  QLoRA ≥ +5 EM so với zero-shot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+51,7 (ViVQA), +21,1 (ViTextVQA đầy đủ), p ≈ 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b="true">
                          <a:solidFill>
                            <a:srgbClr val="1C7293"/>
                          </a:solidFill>
                          <a:latin typeface="Calibri (MS) Bold"/>
                          <a:ea typeface="Calibri (MS) Bold"/>
                          <a:cs typeface="Calibri (MS) Bold"/>
                          <a:sym typeface="Calibri (MS) Bold"/>
                        </a:rPr>
                        <a:t>Ủng hộ</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723900">
                <a:tc>
                  <a:txBody>
                    <a:bodyPr anchor="t" rtlCol="false"/>
                    <a:lstStyle/>
                    <a:p>
                      <a:pPr algn="l">
                        <a:lnSpc>
                          <a:spcPts val="2520"/>
                        </a:lnSpc>
                        <a:defRPr/>
                      </a:pPr>
                      <a:r>
                        <a:rPr lang="en-US" sz="2100">
                          <a:solidFill>
                            <a:srgbClr val="243044"/>
                          </a:solidFill>
                          <a:latin typeface="Calibri (MS)"/>
                          <a:ea typeface="Calibri (MS)"/>
                          <a:cs typeface="Calibri (MS)"/>
                          <a:sym typeface="Calibri (MS)"/>
                        </a:rPr>
                        <a:t>H2  Chữ OCR ≥ +3 ANLS, tốt nhất khi kết hợp QLoRA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Tương tác +4,9 EM; đủ dữ liệu +3,1 EM (p ≈ 10⁻²¹); nhưng ANLS +1,87 (&lt; +3)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b="true">
                          <a:solidFill>
                            <a:srgbClr val="E8A33D"/>
                          </a:solidFill>
                          <a:latin typeface="Calibri (MS) Bold"/>
                          <a:ea typeface="Calibri (MS) Bold"/>
                          <a:cs typeface="Calibri (MS) Bold"/>
                          <a:sym typeface="Calibri (MS) Bold"/>
                        </a:rPr>
                        <a:t>Một phần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723900">
                <a:tc>
                  <a:txBody>
                    <a:bodyPr anchor="t" rtlCol="false"/>
                    <a:lstStyle/>
                    <a:p>
                      <a:pPr algn="l">
                        <a:lnSpc>
                          <a:spcPts val="2520"/>
                        </a:lnSpc>
                        <a:defRPr/>
                      </a:pPr>
                      <a:r>
                        <a:rPr lang="en-US" sz="2100">
                          <a:solidFill>
                            <a:srgbClr val="243044"/>
                          </a:solidFill>
                          <a:latin typeface="Calibri (MS)"/>
                          <a:ea typeface="Calibri (MS)"/>
                          <a:cs typeface="Calibri (MS)"/>
                          <a:sym typeface="Calibri (MS)"/>
                        </a:rPr>
                        <a:t>H3  Prompt định dạng tiếng Việt ≥ +3 EM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Dạng few-shot: −2,1 / −1,2 EM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b="true">
                          <a:solidFill>
                            <a:srgbClr val="B42318"/>
                          </a:solidFill>
                          <a:latin typeface="Calibri (MS) Bold"/>
                          <a:ea typeface="Calibri (MS) Bold"/>
                          <a:cs typeface="Calibri (MS) Bold"/>
                          <a:sym typeface="Calibri (MS) Bold"/>
                        </a:rPr>
                        <a:t>Chưa ủng hộ</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723900">
                <a:tc>
                  <a:txBody>
                    <a:bodyPr anchor="t" rtlCol="false"/>
                    <a:lstStyle/>
                    <a:p>
                      <a:pPr algn="l">
                        <a:lnSpc>
                          <a:spcPts val="2520"/>
                        </a:lnSpc>
                        <a:defRPr/>
                      </a:pPr>
                      <a:r>
                        <a:rPr lang="en-US" sz="2100">
                          <a:solidFill>
                            <a:srgbClr val="243044"/>
                          </a:solidFill>
                          <a:latin typeface="Calibri (MS)"/>
                          <a:ea typeface="Calibri (MS)"/>
                          <a:cs typeface="Calibri (MS)"/>
                          <a:sym typeface="Calibri (MS)"/>
                        </a:rPr>
                        <a:t>H4  QLoRA không làm tăng hallucination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POPE tiếng Việt (500 ảnh chưa thấy, 4.985 câu): B3-full không tăng (ΔF1 +5,5 / +3,7 / +2,5); C3 chưa kết luận (91% câu trả lời không theo dạng có/không)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b="true">
                          <a:solidFill>
                            <a:srgbClr val="E8A33D"/>
                          </a:solidFill>
                          <a:latin typeface="Calibri (MS) Bold"/>
                          <a:ea typeface="Calibri (MS) Bold"/>
                          <a:cs typeface="Calibri (MS) Bold"/>
                          <a:sym typeface="Calibri (MS) Bold"/>
                        </a:rPr>
                        <a:t>Một phần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723900">
                <a:tc>
                  <a:txBody>
                    <a:bodyPr anchor="t" rtlCol="false"/>
                    <a:lstStyle/>
                    <a:p>
                      <a:pPr algn="l">
                        <a:lnSpc>
                          <a:spcPts val="2520"/>
                        </a:lnSpc>
                        <a:defRPr/>
                      </a:pPr>
                      <a:r>
                        <a:rPr lang="en-US" sz="2100">
                          <a:solidFill>
                            <a:srgbClr val="243044"/>
                          </a:solidFill>
                          <a:latin typeface="Calibri (MS)"/>
                          <a:ea typeface="Calibri (MS)"/>
                          <a:cs typeface="Calibri (MS)"/>
                          <a:sym typeface="Calibri (MS)"/>
                        </a:rPr>
                        <a:t>Hiệu quả (số đo, không phải giả thuyết)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4-bit giữ 94,5% độ chính xác; VRAM −77%; adapter dùng chung không kém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b="true">
                          <a:solidFill>
                            <a:srgbClr val="13294B"/>
                          </a:solidFill>
                          <a:latin typeface="Calibri (MS) Bold"/>
                          <a:ea typeface="Calibri (MS) Bold"/>
                          <a:cs typeface="Calibri (MS) Bold"/>
                          <a:sym typeface="Calibri (MS) Bold"/>
                        </a:rPr>
                        <a:t>Đã đo</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723900">
                <a:tc>
                  <a:txBody>
                    <a:bodyPr anchor="t" rtlCol="false"/>
                    <a:lstStyle/>
                    <a:p>
                      <a:pPr algn="l">
                        <a:lnSpc>
                          <a:spcPts val="2520"/>
                        </a:lnSpc>
                        <a:defRPr/>
                      </a:pPr>
                      <a:r>
                        <a:rPr lang="en-US" sz="2100">
                          <a:solidFill>
                            <a:srgbClr val="243044"/>
                          </a:solidFill>
                          <a:latin typeface="Calibri (MS)"/>
                          <a:ea typeface="Calibri (MS)"/>
                          <a:cs typeface="Calibri (MS)"/>
                          <a:sym typeface="Calibri (MS)"/>
                        </a:rPr>
                        <a:t>Ablation A1 (module), A2 (rank)</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A1 −0,55 (p = 0,34); A2 +1,05 (p = 0,07) → giữ r = 16, q, k, v, o</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b="true">
                          <a:solidFill>
                            <a:srgbClr val="6B7280"/>
                          </a:solidFill>
                          <a:latin typeface="Calibri (MS) Bold"/>
                          <a:ea typeface="Calibri (MS) Bold"/>
                          <a:cs typeface="Calibri (MS) Bold"/>
                          <a:sym typeface="Calibri (MS) Bold"/>
                        </a:rPr>
                        <a:t>Đã làm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7" id="7"/>
          <p:cNvSpPr/>
          <p:nvPr/>
        </p:nvSpPr>
        <p:spPr>
          <a:xfrm flipH="false" flipV="false" rot="0">
            <a:off x="806291" y="7664291"/>
            <a:ext cx="16674941" cy="1747838"/>
          </a:xfrm>
          <a:custGeom>
            <a:avLst/>
            <a:gdLst/>
            <a:ahLst/>
            <a:cxnLst/>
            <a:rect r="r" b="b" t="t" l="l"/>
            <a:pathLst>
              <a:path h="1747838" w="16674941">
                <a:moveTo>
                  <a:pt x="0" y="0"/>
                </a:moveTo>
                <a:lnTo>
                  <a:pt x="16674941" y="0"/>
                </a:lnTo>
                <a:lnTo>
                  <a:pt x="16674941" y="1747838"/>
                </a:lnTo>
                <a:lnTo>
                  <a:pt x="0" y="174783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grpSp>
        <p:nvGrpSpPr>
          <p:cNvPr name="Group 8" id="8"/>
          <p:cNvGrpSpPr/>
          <p:nvPr/>
        </p:nvGrpSpPr>
        <p:grpSpPr>
          <a:xfrm rot="0">
            <a:off x="1303020" y="7680960"/>
            <a:ext cx="15681503" cy="1714500"/>
            <a:chOff x="0" y="0"/>
            <a:chExt cx="20908670" cy="2286000"/>
          </a:xfrm>
        </p:grpSpPr>
        <p:sp>
          <p:nvSpPr>
            <p:cNvPr name="Freeform 9" id="9"/>
            <p:cNvSpPr/>
            <p:nvPr/>
          </p:nvSpPr>
          <p:spPr>
            <a:xfrm flipH="false" flipV="false" rot="0">
              <a:off x="0" y="0"/>
              <a:ext cx="20908645" cy="2286000"/>
            </a:xfrm>
            <a:custGeom>
              <a:avLst/>
              <a:gdLst/>
              <a:ahLst/>
              <a:cxnLst/>
              <a:rect r="r" b="b" t="t" l="l"/>
              <a:pathLst>
                <a:path h="2286000" w="20908645">
                  <a:moveTo>
                    <a:pt x="0" y="0"/>
                  </a:moveTo>
                  <a:lnTo>
                    <a:pt x="20908645" y="0"/>
                  </a:lnTo>
                  <a:lnTo>
                    <a:pt x="20908645" y="2286000"/>
                  </a:lnTo>
                  <a:lnTo>
                    <a:pt x="0" y="2286000"/>
                  </a:lnTo>
                  <a:close/>
                </a:path>
              </a:pathLst>
            </a:custGeom>
            <a:blipFill>
              <a:blip r:embed="rId2">
                <a:alphaModFix amt="0"/>
              </a:blip>
              <a:stretch>
                <a:fillRect l="0" t="-128093" r="0" b="-128093"/>
              </a:stretch>
            </a:blipFill>
          </p:spPr>
          <p:txBody>
            <a:bodyPr/>
            <a:p/>
          </p:txBody>
        </p:sp>
      </p:grpSp>
      <p:grpSp>
        <p:nvGrpSpPr>
          <p:cNvPr name="Group 10" id="10"/>
          <p:cNvGrpSpPr/>
          <p:nvPr/>
        </p:nvGrpSpPr>
        <p:grpSpPr>
          <a:xfrm rot="0">
            <a:off x="1303020" y="7638097"/>
            <a:ext cx="15681503" cy="1757362"/>
            <a:chOff x="0" y="0"/>
            <a:chExt cx="20908670" cy="2343150"/>
          </a:xfrm>
        </p:grpSpPr>
        <p:sp>
          <p:nvSpPr>
            <p:cNvPr name="Freeform 11" id="11"/>
            <p:cNvSpPr/>
            <p:nvPr/>
          </p:nvSpPr>
          <p:spPr>
            <a:xfrm flipH="false" flipV="false" rot="0">
              <a:off x="0" y="0"/>
              <a:ext cx="20908671" cy="2343150"/>
            </a:xfrm>
            <a:custGeom>
              <a:avLst/>
              <a:gdLst/>
              <a:ahLst/>
              <a:cxnLst/>
              <a:rect r="r" b="b" t="t" l="l"/>
              <a:pathLst>
                <a:path h="2343150" w="20908671">
                  <a:moveTo>
                    <a:pt x="0" y="0"/>
                  </a:moveTo>
                  <a:lnTo>
                    <a:pt x="20908671" y="0"/>
                  </a:lnTo>
                  <a:lnTo>
                    <a:pt x="20908671" y="2343150"/>
                  </a:lnTo>
                  <a:lnTo>
                    <a:pt x="0" y="2343150"/>
                  </a:lnTo>
                  <a:close/>
                </a:path>
              </a:pathLst>
            </a:custGeom>
            <a:blipFill>
              <a:blip r:embed="rId5">
                <a:alphaModFix amt="0"/>
              </a:blip>
              <a:stretch>
                <a:fillRect l="0" t="-123871" r="0" b="-123871"/>
              </a:stretch>
            </a:blipFill>
          </p:spPr>
          <p:txBody>
            <a:bodyPr/>
            <a:p/>
          </p:txBody>
        </p:sp>
        <p:sp>
          <p:nvSpPr>
            <p:cNvPr name="TextBox 12" id="12"/>
            <p:cNvSpPr txBox="true"/>
            <p:nvPr/>
          </p:nvSpPr>
          <p:spPr>
            <a:xfrm>
              <a:off x="0" y="-57150"/>
              <a:ext cx="20908670" cy="2400300"/>
            </a:xfrm>
            <a:prstGeom prst="rect">
              <a:avLst/>
            </a:prstGeom>
          </p:spPr>
          <p:txBody>
            <a:bodyPr anchor="ctr" rtlCol="false" tIns="0" lIns="0" bIns="0" rIns="0"/>
            <a:lstStyle/>
            <a:p>
              <a:pPr algn="l">
                <a:lnSpc>
                  <a:spcPts val="2700"/>
                </a:lnSpc>
              </a:pPr>
              <a:r>
                <a:rPr lang="en-US" sz="2250">
                  <a:solidFill>
                    <a:srgbClr val="13294B"/>
                  </a:solidFill>
                  <a:latin typeface="Calibri (MS)"/>
                  <a:ea typeface="Calibri (MS)"/>
                  <a:cs typeface="Calibri (MS)"/>
                  <a:sym typeface="Calibri (MS)"/>
                </a:rPr>
                <a:t>RQ1: zero-shot EM 22,1 (ViVQA), 29,1 (ViTextVQA).  RQ2: QLoRA +51,7 / +21,1 EM.  RQ3: QLoRA nhận biết OCR +3,1 EM so với cùng QLoRA (full test, đủ dữ liệu).  RQ4: POPE tiếng Việt — B3-full không làm tăng hallucination; C3 chưa kết luận.</a:t>
              </a:r>
            </a:p>
          </p:txBody>
        </p:sp>
      </p:grpSp>
      <p:grpSp>
        <p:nvGrpSpPr>
          <p:cNvPr name="Group 13" id="13"/>
          <p:cNvGrpSpPr/>
          <p:nvPr/>
        </p:nvGrpSpPr>
        <p:grpSpPr>
          <a:xfrm rot="0">
            <a:off x="15458732" y="0"/>
            <a:ext cx="2829268" cy="1184338"/>
            <a:chOff x="0" y="0"/>
            <a:chExt cx="3772357" cy="1579118"/>
          </a:xfrm>
        </p:grpSpPr>
        <p:sp>
          <p:nvSpPr>
            <p:cNvPr name="Freeform 14" id="14"/>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6"/>
              <a:stretch>
                <a:fillRect l="0" t="0" r="1" b="0"/>
              </a:stretch>
            </a:blipFill>
          </p:spPr>
          <p:txBody>
            <a:bodyPr/>
            <a:p/>
          </p:txBody>
        </p:sp>
      </p:grpSp>
      <p:grpSp>
        <p:nvGrpSpPr>
          <p:cNvPr name="Group 15" id="15"/>
          <p:cNvGrpSpPr/>
          <p:nvPr/>
        </p:nvGrpSpPr>
        <p:grpSpPr>
          <a:xfrm rot="0">
            <a:off x="822960" y="9641205"/>
            <a:ext cx="13716000" cy="440055"/>
            <a:chOff x="0" y="0"/>
            <a:chExt cx="18288000" cy="586740"/>
          </a:xfrm>
        </p:grpSpPr>
        <p:sp>
          <p:nvSpPr>
            <p:cNvPr name="Freeform 16" id="16"/>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5">
                <a:alphaModFix amt="0"/>
              </a:blip>
              <a:stretch>
                <a:fillRect l="0" t="-557325" r="0" b="-557325"/>
              </a:stretch>
            </a:blipFill>
          </p:spPr>
          <p:txBody>
            <a:bodyPr/>
            <a:p/>
          </p:txBody>
        </p:sp>
        <p:sp>
          <p:nvSpPr>
            <p:cNvPr name="TextBox 17" id="17"/>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REVIEW 2 · BƯỚC TIẾP THEO</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Đến Review 3 — đi trước kế hoạch khoảng 2 tuần</a:t>
            </a:r>
          </a:p>
        </p:txBody>
      </p:sp>
      <p:sp>
        <p:nvSpPr>
          <p:cNvPr name="Freeform 6" id="6"/>
          <p:cNvSpPr/>
          <p:nvPr/>
        </p:nvSpPr>
        <p:spPr>
          <a:xfrm flipH="false" flipV="false" rot="0">
            <a:off x="806291" y="2383631"/>
            <a:ext cx="3833717" cy="4696778"/>
          </a:xfrm>
          <a:custGeom>
            <a:avLst/>
            <a:gdLst/>
            <a:ahLst/>
            <a:cxnLst/>
            <a:rect r="r" b="b" t="t" l="l"/>
            <a:pathLst>
              <a:path h="4696778" w="3833717">
                <a:moveTo>
                  <a:pt x="0" y="0"/>
                </a:moveTo>
                <a:lnTo>
                  <a:pt x="3833717" y="0"/>
                </a:lnTo>
                <a:lnTo>
                  <a:pt x="3833717" y="4696778"/>
                </a:lnTo>
                <a:lnTo>
                  <a:pt x="0" y="469677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Freeform 7" id="7"/>
          <p:cNvSpPr/>
          <p:nvPr/>
        </p:nvSpPr>
        <p:spPr>
          <a:xfrm flipH="false" flipV="false" rot="0">
            <a:off x="1217771" y="2795111"/>
            <a:ext cx="1336358" cy="1336358"/>
          </a:xfrm>
          <a:custGeom>
            <a:avLst/>
            <a:gdLst/>
            <a:ahLst/>
            <a:cxnLst/>
            <a:rect r="r" b="b" t="t" l="l"/>
            <a:pathLst>
              <a:path h="1336358" w="1336358">
                <a:moveTo>
                  <a:pt x="0" y="0"/>
                </a:moveTo>
                <a:lnTo>
                  <a:pt x="1336358" y="0"/>
                </a:lnTo>
                <a:lnTo>
                  <a:pt x="1336358" y="1336358"/>
                </a:lnTo>
                <a:lnTo>
                  <a:pt x="0" y="133635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grpSp>
        <p:nvGrpSpPr>
          <p:cNvPr name="Group 8" id="8"/>
          <p:cNvGrpSpPr/>
          <p:nvPr/>
        </p:nvGrpSpPr>
        <p:grpSpPr>
          <a:xfrm rot="0">
            <a:off x="1234440" y="2811780"/>
            <a:ext cx="1303020" cy="1303020"/>
            <a:chOff x="0" y="0"/>
            <a:chExt cx="1737360" cy="1737360"/>
          </a:xfrm>
        </p:grpSpPr>
        <p:sp>
          <p:nvSpPr>
            <p:cNvPr name="Freeform 9" id="9"/>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10" id="10"/>
          <p:cNvGrpSpPr/>
          <p:nvPr/>
        </p:nvGrpSpPr>
        <p:grpSpPr>
          <a:xfrm rot="0">
            <a:off x="1234440" y="2776061"/>
            <a:ext cx="1303020" cy="1338739"/>
            <a:chOff x="0" y="0"/>
            <a:chExt cx="1737360" cy="1784985"/>
          </a:xfrm>
        </p:grpSpPr>
        <p:sp>
          <p:nvSpPr>
            <p:cNvPr name="Freeform 11" id="11"/>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7">
                <a:alphaModFix amt="0"/>
              </a:blip>
              <a:stretch>
                <a:fillRect l="-81820" t="0" r="-81820" b="0"/>
              </a:stretch>
            </a:blipFill>
          </p:spPr>
          <p:txBody>
            <a:bodyPr/>
            <a:p/>
          </p:txBody>
        </p:sp>
        <p:sp>
          <p:nvSpPr>
            <p:cNvPr name="TextBox 12" id="12"/>
            <p:cNvSpPr txBox="true"/>
            <p:nvPr/>
          </p:nvSpPr>
          <p:spPr>
            <a:xfrm>
              <a:off x="0" y="-47625"/>
              <a:ext cx="1737360" cy="183261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a:t>
              </a:r>
            </a:p>
          </p:txBody>
        </p:sp>
      </p:grpSp>
      <p:sp>
        <p:nvSpPr>
          <p:cNvPr name="TextBox 13" id="13"/>
          <p:cNvSpPr txBox="true"/>
          <p:nvPr/>
        </p:nvSpPr>
        <p:spPr>
          <a:xfrm rot="0">
            <a:off x="1234440" y="4343400"/>
            <a:ext cx="2977401" cy="2446020"/>
          </a:xfrm>
          <a:prstGeom prst="rect">
            <a:avLst/>
          </a:prstGeom>
        </p:spPr>
        <p:txBody>
          <a:bodyPr anchor="t" rtlCol="false" tIns="0" lIns="0" bIns="0" rIns="0">
            <a:spAutoFit/>
          </a:bodyPr>
          <a:lstStyle/>
          <a:p>
            <a:pPr algn="l">
              <a:lnSpc>
                <a:spcPts val="2700"/>
              </a:lnSpc>
            </a:pPr>
            <a:r>
              <a:rPr lang="en-US" sz="2250">
                <a:solidFill>
                  <a:srgbClr val="243044"/>
                </a:solidFill>
                <a:latin typeface="Calibri (MS)"/>
                <a:ea typeface="Calibri (MS)"/>
                <a:cs typeface="Calibri (MS)"/>
                <a:sym typeface="Calibri (MS)"/>
              </a:rPr>
              <a:t>Đã xong: đo hallucination (POPE tiếng Việt) và phân tích lỗi — H4 ủng hộ một phần</a:t>
            </a:r>
          </a:p>
        </p:txBody>
      </p:sp>
      <p:sp>
        <p:nvSpPr>
          <p:cNvPr name="Freeform 14" id="14"/>
          <p:cNvSpPr/>
          <p:nvPr/>
        </p:nvSpPr>
        <p:spPr>
          <a:xfrm flipH="false" flipV="false" rot="0">
            <a:off x="5086712" y="2383631"/>
            <a:ext cx="3833717" cy="4696778"/>
          </a:xfrm>
          <a:custGeom>
            <a:avLst/>
            <a:gdLst/>
            <a:ahLst/>
            <a:cxnLst/>
            <a:rect r="r" b="b" t="t" l="l"/>
            <a:pathLst>
              <a:path h="4696778" w="3833717">
                <a:moveTo>
                  <a:pt x="0" y="0"/>
                </a:moveTo>
                <a:lnTo>
                  <a:pt x="3833717" y="0"/>
                </a:lnTo>
                <a:lnTo>
                  <a:pt x="3833717" y="4696778"/>
                </a:lnTo>
                <a:lnTo>
                  <a:pt x="0" y="469677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sp>
        <p:nvSpPr>
          <p:cNvPr name="Freeform 15" id="15"/>
          <p:cNvSpPr/>
          <p:nvPr/>
        </p:nvSpPr>
        <p:spPr>
          <a:xfrm flipH="false" flipV="false" rot="0">
            <a:off x="5498192" y="2795111"/>
            <a:ext cx="1336357" cy="1336358"/>
          </a:xfrm>
          <a:custGeom>
            <a:avLst/>
            <a:gdLst/>
            <a:ahLst/>
            <a:cxnLst/>
            <a:rect r="r" b="b" t="t" l="l"/>
            <a:pathLst>
              <a:path h="1336358" w="1336357">
                <a:moveTo>
                  <a:pt x="0" y="0"/>
                </a:moveTo>
                <a:lnTo>
                  <a:pt x="1336357" y="0"/>
                </a:lnTo>
                <a:lnTo>
                  <a:pt x="1336357" y="1336358"/>
                </a:lnTo>
                <a:lnTo>
                  <a:pt x="0" y="133635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grpSp>
        <p:nvGrpSpPr>
          <p:cNvPr name="Group 16" id="16"/>
          <p:cNvGrpSpPr/>
          <p:nvPr/>
        </p:nvGrpSpPr>
        <p:grpSpPr>
          <a:xfrm rot="0">
            <a:off x="5514861" y="2811780"/>
            <a:ext cx="1303020" cy="1303020"/>
            <a:chOff x="0" y="0"/>
            <a:chExt cx="1737360" cy="1737360"/>
          </a:xfrm>
        </p:grpSpPr>
        <p:sp>
          <p:nvSpPr>
            <p:cNvPr name="Freeform 17" id="17"/>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18" id="18"/>
          <p:cNvGrpSpPr/>
          <p:nvPr/>
        </p:nvGrpSpPr>
        <p:grpSpPr>
          <a:xfrm rot="0">
            <a:off x="5514861" y="2776061"/>
            <a:ext cx="1303020" cy="1338739"/>
            <a:chOff x="0" y="0"/>
            <a:chExt cx="1737360" cy="1784985"/>
          </a:xfrm>
        </p:grpSpPr>
        <p:sp>
          <p:nvSpPr>
            <p:cNvPr name="Freeform 19" id="19"/>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7">
                <a:alphaModFix amt="0"/>
              </a:blip>
              <a:stretch>
                <a:fillRect l="-81820" t="0" r="-81820" b="0"/>
              </a:stretch>
            </a:blipFill>
          </p:spPr>
          <p:txBody>
            <a:bodyPr/>
            <a:p/>
          </p:txBody>
        </p:sp>
        <p:sp>
          <p:nvSpPr>
            <p:cNvPr name="TextBox 20" id="20"/>
            <p:cNvSpPr txBox="true"/>
            <p:nvPr/>
          </p:nvSpPr>
          <p:spPr>
            <a:xfrm>
              <a:off x="0" y="-47625"/>
              <a:ext cx="1737360" cy="183261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1</a:t>
              </a:r>
            </a:p>
          </p:txBody>
        </p:sp>
      </p:grpSp>
      <p:sp>
        <p:nvSpPr>
          <p:cNvPr name="TextBox 21" id="21"/>
          <p:cNvSpPr txBox="true"/>
          <p:nvPr/>
        </p:nvSpPr>
        <p:spPr>
          <a:xfrm rot="0">
            <a:off x="5514861" y="4343400"/>
            <a:ext cx="2977401" cy="2446020"/>
          </a:xfrm>
          <a:prstGeom prst="rect">
            <a:avLst/>
          </a:prstGeom>
        </p:spPr>
        <p:txBody>
          <a:bodyPr anchor="t" rtlCol="false" tIns="0" lIns="0" bIns="0" rIns="0">
            <a:spAutoFit/>
          </a:bodyPr>
          <a:lstStyle/>
          <a:p>
            <a:pPr algn="l">
              <a:lnSpc>
                <a:spcPts val="2700"/>
              </a:lnSpc>
            </a:pPr>
            <a:r>
              <a:rPr lang="en-US" sz="2250">
                <a:solidFill>
                  <a:srgbClr val="243044"/>
                </a:solidFill>
                <a:latin typeface="Calibri (MS)"/>
                <a:ea typeface="Calibri (MS)"/>
                <a:cs typeface="Calibri (MS)"/>
                <a:sym typeface="Calibri (MS)"/>
              </a:rPr>
              <a:t>Sửa thiên vị trả lời “có” của adapter dùng chung trước khi làm prototype</a:t>
            </a:r>
          </a:p>
        </p:txBody>
      </p:sp>
      <p:sp>
        <p:nvSpPr>
          <p:cNvPr name="Freeform 22" id="22"/>
          <p:cNvSpPr/>
          <p:nvPr/>
        </p:nvSpPr>
        <p:spPr>
          <a:xfrm flipH="false" flipV="false" rot="0">
            <a:off x="9367133" y="2383631"/>
            <a:ext cx="3833717" cy="4696778"/>
          </a:xfrm>
          <a:custGeom>
            <a:avLst/>
            <a:gdLst/>
            <a:ahLst/>
            <a:cxnLst/>
            <a:rect r="r" b="b" t="t" l="l"/>
            <a:pathLst>
              <a:path h="4696778" w="3833717">
                <a:moveTo>
                  <a:pt x="0" y="0"/>
                </a:moveTo>
                <a:lnTo>
                  <a:pt x="3833717" y="0"/>
                </a:lnTo>
                <a:lnTo>
                  <a:pt x="3833717" y="4696778"/>
                </a:lnTo>
                <a:lnTo>
                  <a:pt x="0" y="469677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sp>
        <p:nvSpPr>
          <p:cNvPr name="Freeform 23" id="23"/>
          <p:cNvSpPr/>
          <p:nvPr/>
        </p:nvSpPr>
        <p:spPr>
          <a:xfrm flipH="false" flipV="false" rot="0">
            <a:off x="9778613" y="2795111"/>
            <a:ext cx="1336358" cy="1336358"/>
          </a:xfrm>
          <a:custGeom>
            <a:avLst/>
            <a:gdLst/>
            <a:ahLst/>
            <a:cxnLst/>
            <a:rect r="r" b="b" t="t" l="l"/>
            <a:pathLst>
              <a:path h="1336358" w="1336358">
                <a:moveTo>
                  <a:pt x="0" y="0"/>
                </a:moveTo>
                <a:lnTo>
                  <a:pt x="1336357" y="0"/>
                </a:lnTo>
                <a:lnTo>
                  <a:pt x="1336357" y="1336358"/>
                </a:lnTo>
                <a:lnTo>
                  <a:pt x="0" y="133635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grpSp>
        <p:nvGrpSpPr>
          <p:cNvPr name="Group 24" id="24"/>
          <p:cNvGrpSpPr/>
          <p:nvPr/>
        </p:nvGrpSpPr>
        <p:grpSpPr>
          <a:xfrm rot="0">
            <a:off x="9795281" y="2811780"/>
            <a:ext cx="1303020" cy="1303020"/>
            <a:chOff x="0" y="0"/>
            <a:chExt cx="1737360" cy="1737360"/>
          </a:xfrm>
        </p:grpSpPr>
        <p:sp>
          <p:nvSpPr>
            <p:cNvPr name="Freeform 25" id="25"/>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26" id="26"/>
          <p:cNvGrpSpPr/>
          <p:nvPr/>
        </p:nvGrpSpPr>
        <p:grpSpPr>
          <a:xfrm rot="0">
            <a:off x="9795281" y="2776061"/>
            <a:ext cx="1303020" cy="1338739"/>
            <a:chOff x="0" y="0"/>
            <a:chExt cx="1737360" cy="1784985"/>
          </a:xfrm>
        </p:grpSpPr>
        <p:sp>
          <p:nvSpPr>
            <p:cNvPr name="Freeform 27" id="27"/>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7">
                <a:alphaModFix amt="0"/>
              </a:blip>
              <a:stretch>
                <a:fillRect l="-81820" t="0" r="-81820" b="0"/>
              </a:stretch>
            </a:blipFill>
          </p:spPr>
          <p:txBody>
            <a:bodyPr/>
            <a:p/>
          </p:txBody>
        </p:sp>
        <p:sp>
          <p:nvSpPr>
            <p:cNvPr name="TextBox 28" id="28"/>
            <p:cNvSpPr txBox="true"/>
            <p:nvPr/>
          </p:nvSpPr>
          <p:spPr>
            <a:xfrm>
              <a:off x="0" y="-47625"/>
              <a:ext cx="1737360" cy="183261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2</a:t>
              </a:r>
            </a:p>
          </p:txBody>
        </p:sp>
      </p:grpSp>
      <p:sp>
        <p:nvSpPr>
          <p:cNvPr name="TextBox 29" id="29"/>
          <p:cNvSpPr txBox="true"/>
          <p:nvPr/>
        </p:nvSpPr>
        <p:spPr>
          <a:xfrm rot="0">
            <a:off x="9795281" y="4343400"/>
            <a:ext cx="2977401" cy="2446020"/>
          </a:xfrm>
          <a:prstGeom prst="rect">
            <a:avLst/>
          </a:prstGeom>
        </p:spPr>
        <p:txBody>
          <a:bodyPr anchor="t" rtlCol="false" tIns="0" lIns="0" bIns="0" rIns="0">
            <a:spAutoFit/>
          </a:bodyPr>
          <a:lstStyle/>
          <a:p>
            <a:pPr algn="l">
              <a:lnSpc>
                <a:spcPts val="2700"/>
              </a:lnSpc>
            </a:pPr>
            <a:r>
              <a:rPr lang="en-US" sz="2250">
                <a:solidFill>
                  <a:srgbClr val="243044"/>
                </a:solidFill>
                <a:latin typeface="Calibri (MS)"/>
                <a:ea typeface="Calibri (MS)"/>
                <a:cs typeface="Calibri (MS)"/>
                <a:sym typeface="Calibri (MS)"/>
              </a:rPr>
              <a:t>Prototype web: ảnh → OCR → câu trả lời kèm chữ OCR và độ tin cậy</a:t>
            </a:r>
          </a:p>
        </p:txBody>
      </p:sp>
      <p:sp>
        <p:nvSpPr>
          <p:cNvPr name="Freeform 30" id="30"/>
          <p:cNvSpPr/>
          <p:nvPr/>
        </p:nvSpPr>
        <p:spPr>
          <a:xfrm flipH="false" flipV="false" rot="0">
            <a:off x="13647553" y="2383631"/>
            <a:ext cx="3833717" cy="4696778"/>
          </a:xfrm>
          <a:custGeom>
            <a:avLst/>
            <a:gdLst/>
            <a:ahLst/>
            <a:cxnLst/>
            <a:rect r="r" b="b" t="t" l="l"/>
            <a:pathLst>
              <a:path h="4696778" w="3833717">
                <a:moveTo>
                  <a:pt x="0" y="0"/>
                </a:moveTo>
                <a:lnTo>
                  <a:pt x="3833718" y="0"/>
                </a:lnTo>
                <a:lnTo>
                  <a:pt x="3833718" y="4696778"/>
                </a:lnTo>
                <a:lnTo>
                  <a:pt x="0" y="469677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sp>
        <p:nvSpPr>
          <p:cNvPr name="Freeform 31" id="31"/>
          <p:cNvSpPr/>
          <p:nvPr/>
        </p:nvSpPr>
        <p:spPr>
          <a:xfrm flipH="false" flipV="false" rot="0">
            <a:off x="14059033" y="2795111"/>
            <a:ext cx="1336357" cy="1336358"/>
          </a:xfrm>
          <a:custGeom>
            <a:avLst/>
            <a:gdLst/>
            <a:ahLst/>
            <a:cxnLst/>
            <a:rect r="r" b="b" t="t" l="l"/>
            <a:pathLst>
              <a:path h="1336358" w="1336357">
                <a:moveTo>
                  <a:pt x="0" y="0"/>
                </a:moveTo>
                <a:lnTo>
                  <a:pt x="1336358" y="0"/>
                </a:lnTo>
                <a:lnTo>
                  <a:pt x="1336358" y="1336358"/>
                </a:lnTo>
                <a:lnTo>
                  <a:pt x="0" y="133635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grpSp>
        <p:nvGrpSpPr>
          <p:cNvPr name="Group 32" id="32"/>
          <p:cNvGrpSpPr/>
          <p:nvPr/>
        </p:nvGrpSpPr>
        <p:grpSpPr>
          <a:xfrm rot="0">
            <a:off x="14075702" y="2811780"/>
            <a:ext cx="1303020" cy="1303020"/>
            <a:chOff x="0" y="0"/>
            <a:chExt cx="1737360" cy="1737360"/>
          </a:xfrm>
        </p:grpSpPr>
        <p:sp>
          <p:nvSpPr>
            <p:cNvPr name="Freeform 33" id="33"/>
            <p:cNvSpPr/>
            <p:nvPr/>
          </p:nvSpPr>
          <p:spPr>
            <a:xfrm flipH="false" flipV="false" rot="0">
              <a:off x="0" y="0"/>
              <a:ext cx="1737360" cy="1737360"/>
            </a:xfrm>
            <a:custGeom>
              <a:avLst/>
              <a:gdLst/>
              <a:ahLst/>
              <a:cxnLst/>
              <a:rect r="r" b="b" t="t" l="l"/>
              <a:pathLst>
                <a:path h="1737360" w="1737360">
                  <a:moveTo>
                    <a:pt x="0" y="0"/>
                  </a:moveTo>
                  <a:lnTo>
                    <a:pt x="1737360" y="0"/>
                  </a:lnTo>
                  <a:lnTo>
                    <a:pt x="1737360" y="1737360"/>
                  </a:lnTo>
                  <a:lnTo>
                    <a:pt x="0" y="1737360"/>
                  </a:lnTo>
                  <a:close/>
                </a:path>
              </a:pathLst>
            </a:custGeom>
            <a:blipFill>
              <a:blip r:embed="rId2">
                <a:alphaModFix amt="0"/>
              </a:blip>
              <a:stretch>
                <a:fillRect l="-78392" t="0" r="-78393" b="0"/>
              </a:stretch>
            </a:blipFill>
          </p:spPr>
          <p:txBody>
            <a:bodyPr/>
            <a:p/>
          </p:txBody>
        </p:sp>
      </p:grpSp>
      <p:grpSp>
        <p:nvGrpSpPr>
          <p:cNvPr name="Group 34" id="34"/>
          <p:cNvGrpSpPr/>
          <p:nvPr/>
        </p:nvGrpSpPr>
        <p:grpSpPr>
          <a:xfrm rot="0">
            <a:off x="14075702" y="2776061"/>
            <a:ext cx="1303020" cy="1338739"/>
            <a:chOff x="0" y="0"/>
            <a:chExt cx="1737360" cy="1784985"/>
          </a:xfrm>
        </p:grpSpPr>
        <p:sp>
          <p:nvSpPr>
            <p:cNvPr name="Freeform 35" id="35"/>
            <p:cNvSpPr/>
            <p:nvPr/>
          </p:nvSpPr>
          <p:spPr>
            <a:xfrm flipH="false" flipV="false" rot="0">
              <a:off x="0" y="0"/>
              <a:ext cx="1737360" cy="1784985"/>
            </a:xfrm>
            <a:custGeom>
              <a:avLst/>
              <a:gdLst/>
              <a:ahLst/>
              <a:cxnLst/>
              <a:rect r="r" b="b" t="t" l="l"/>
              <a:pathLst>
                <a:path h="1784985" w="1737360">
                  <a:moveTo>
                    <a:pt x="0" y="0"/>
                  </a:moveTo>
                  <a:lnTo>
                    <a:pt x="1737360" y="0"/>
                  </a:lnTo>
                  <a:lnTo>
                    <a:pt x="1737360" y="1784985"/>
                  </a:lnTo>
                  <a:lnTo>
                    <a:pt x="0" y="1784985"/>
                  </a:lnTo>
                  <a:close/>
                </a:path>
              </a:pathLst>
            </a:custGeom>
            <a:blipFill>
              <a:blip r:embed="rId7">
                <a:alphaModFix amt="0"/>
              </a:blip>
              <a:stretch>
                <a:fillRect l="-81820" t="0" r="-81820" b="0"/>
              </a:stretch>
            </a:blipFill>
          </p:spPr>
          <p:txBody>
            <a:bodyPr/>
            <a:p/>
          </p:txBody>
        </p:sp>
        <p:sp>
          <p:nvSpPr>
            <p:cNvPr name="TextBox 36" id="36"/>
            <p:cNvSpPr txBox="true"/>
            <p:nvPr/>
          </p:nvSpPr>
          <p:spPr>
            <a:xfrm>
              <a:off x="0" y="-47625"/>
              <a:ext cx="1737360" cy="1832610"/>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3</a:t>
              </a:r>
            </a:p>
          </p:txBody>
        </p:sp>
      </p:grpSp>
      <p:sp>
        <p:nvSpPr>
          <p:cNvPr name="TextBox 37" id="37"/>
          <p:cNvSpPr txBox="true"/>
          <p:nvPr/>
        </p:nvSpPr>
        <p:spPr>
          <a:xfrm rot="0">
            <a:off x="14075702" y="4343400"/>
            <a:ext cx="2977401" cy="2446020"/>
          </a:xfrm>
          <a:prstGeom prst="rect">
            <a:avLst/>
          </a:prstGeom>
        </p:spPr>
        <p:txBody>
          <a:bodyPr anchor="t" rtlCol="false" tIns="0" lIns="0" bIns="0" rIns="0">
            <a:spAutoFit/>
          </a:bodyPr>
          <a:lstStyle/>
          <a:p>
            <a:pPr algn="l">
              <a:lnSpc>
                <a:spcPts val="2700"/>
              </a:lnSpc>
            </a:pPr>
            <a:r>
              <a:rPr lang="en-US" sz="2250">
                <a:solidFill>
                  <a:srgbClr val="243044"/>
                </a:solidFill>
                <a:latin typeface="Calibri (MS)"/>
                <a:ea typeface="Calibri (MS)"/>
                <a:cs typeface="Calibri (MS)"/>
                <a:sym typeface="Calibri (MS)"/>
              </a:rPr>
              <a:t>Review 3: bộ slide này + Phần C (kết quả cuối, lỗi, hallucination, demo)</a:t>
            </a:r>
          </a:p>
        </p:txBody>
      </p:sp>
      <p:sp>
        <p:nvSpPr>
          <p:cNvPr name="TextBox 38" id="38"/>
          <p:cNvSpPr txBox="true"/>
          <p:nvPr/>
        </p:nvSpPr>
        <p:spPr>
          <a:xfrm rot="0">
            <a:off x="822960" y="7448550"/>
            <a:ext cx="16641623" cy="712470"/>
          </a:xfrm>
          <a:prstGeom prst="rect">
            <a:avLst/>
          </a:prstGeom>
        </p:spPr>
        <p:txBody>
          <a:bodyPr anchor="t" rtlCol="false" tIns="0" lIns="0" bIns="0" rIns="0">
            <a:spAutoFit/>
          </a:bodyPr>
          <a:lstStyle/>
          <a:p>
            <a:pPr algn="l">
              <a:lnSpc>
                <a:spcPts val="2520"/>
              </a:lnSpc>
            </a:pPr>
            <a:r>
              <a:rPr lang="en-US" sz="2100">
                <a:solidFill>
                  <a:srgbClr val="6B7280"/>
                </a:solidFill>
                <a:latin typeface="Calibri (MS)"/>
                <a:ea typeface="Calibri (MS)"/>
                <a:cs typeface="Calibri (MS)"/>
                <a:sym typeface="Calibri (MS)"/>
              </a:rPr>
              <a:t>Mọi run giữ giao thức cố định, chỉ PEFT, và luật kết luận chốt trước.</a:t>
            </a:r>
          </a:p>
        </p:txBody>
      </p:sp>
      <p:grpSp>
        <p:nvGrpSpPr>
          <p:cNvPr name="Group 39" id="39"/>
          <p:cNvGrpSpPr/>
          <p:nvPr/>
        </p:nvGrpSpPr>
        <p:grpSpPr>
          <a:xfrm rot="0">
            <a:off x="15458732" y="0"/>
            <a:ext cx="2829268" cy="1184338"/>
            <a:chOff x="0" y="0"/>
            <a:chExt cx="3772357" cy="1579118"/>
          </a:xfrm>
        </p:grpSpPr>
        <p:sp>
          <p:nvSpPr>
            <p:cNvPr name="Freeform 40" id="40"/>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2"/>
              <a:stretch>
                <a:fillRect l="0" t="0" r="1" b="0"/>
              </a:stretch>
            </a:blipFill>
          </p:spPr>
          <p:txBody>
            <a:bodyPr/>
            <a:p/>
          </p:txBody>
        </p:sp>
      </p:grpSp>
      <p:grpSp>
        <p:nvGrpSpPr>
          <p:cNvPr name="Group 41" id="41"/>
          <p:cNvGrpSpPr/>
          <p:nvPr/>
        </p:nvGrpSpPr>
        <p:grpSpPr>
          <a:xfrm rot="0">
            <a:off x="822960" y="9641205"/>
            <a:ext cx="13716000" cy="440055"/>
            <a:chOff x="0" y="0"/>
            <a:chExt cx="18288000" cy="586740"/>
          </a:xfrm>
        </p:grpSpPr>
        <p:sp>
          <p:nvSpPr>
            <p:cNvPr name="Freeform 42" id="42"/>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7">
                <a:alphaModFix amt="0"/>
              </a:blip>
              <a:stretch>
                <a:fillRect l="0" t="-557325" r="0" b="-557325"/>
              </a:stretch>
            </a:blipFill>
          </p:spPr>
          <p:txBody>
            <a:bodyPr/>
            <a:p/>
          </p:txBody>
        </p:sp>
        <p:sp>
          <p:nvSpPr>
            <p:cNvPr name="TextBox 43" id="43"/>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606011" y="-1422978"/>
            <a:ext cx="18946825" cy="13987367"/>
          </a:xfrm>
          <a:custGeom>
            <a:avLst/>
            <a:gdLst/>
            <a:ahLst/>
            <a:cxnLst/>
            <a:rect r="r" b="b" t="t" l="l"/>
            <a:pathLst>
              <a:path h="13987367" w="18946825">
                <a:moveTo>
                  <a:pt x="0" y="0"/>
                </a:moveTo>
                <a:lnTo>
                  <a:pt x="18946825" y="0"/>
                </a:lnTo>
                <a:lnTo>
                  <a:pt x="18946825" y="13987367"/>
                </a:lnTo>
                <a:lnTo>
                  <a:pt x="0" y="139873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grpSp>
        <p:nvGrpSpPr>
          <p:cNvPr name="Group 3" id="3"/>
          <p:cNvGrpSpPr/>
          <p:nvPr/>
        </p:nvGrpSpPr>
        <p:grpSpPr>
          <a:xfrm rot="0">
            <a:off x="1152144" y="2425551"/>
            <a:ext cx="16184880" cy="1636395"/>
            <a:chOff x="0" y="0"/>
            <a:chExt cx="21579840" cy="2181860"/>
          </a:xfrm>
        </p:grpSpPr>
        <p:sp>
          <p:nvSpPr>
            <p:cNvPr name="Freeform 4" id="4"/>
            <p:cNvSpPr/>
            <p:nvPr/>
          </p:nvSpPr>
          <p:spPr>
            <a:xfrm flipH="false" flipV="false" rot="0">
              <a:off x="0" y="0"/>
              <a:ext cx="21579839" cy="2181860"/>
            </a:xfrm>
            <a:custGeom>
              <a:avLst/>
              <a:gdLst/>
              <a:ahLst/>
              <a:cxnLst/>
              <a:rect r="r" b="b" t="t" l="l"/>
              <a:pathLst>
                <a:path h="2181860" w="21579839">
                  <a:moveTo>
                    <a:pt x="0" y="0"/>
                  </a:moveTo>
                  <a:lnTo>
                    <a:pt x="21579839" y="0"/>
                  </a:lnTo>
                  <a:lnTo>
                    <a:pt x="21579839" y="2181860"/>
                  </a:lnTo>
                  <a:lnTo>
                    <a:pt x="0" y="2181860"/>
                  </a:lnTo>
                  <a:close/>
                </a:path>
              </a:pathLst>
            </a:custGeom>
            <a:blipFill>
              <a:blip r:embed="rId4">
                <a:alphaModFix amt="0"/>
              </a:blip>
              <a:stretch>
                <a:fillRect l="0" t="-365236" r="0" b="-365236"/>
              </a:stretch>
            </a:blipFill>
          </p:spPr>
          <p:txBody>
            <a:bodyPr/>
            <a:p/>
          </p:txBody>
        </p:sp>
      </p:grpSp>
      <p:grpSp>
        <p:nvGrpSpPr>
          <p:cNvPr name="Group 5" id="5"/>
          <p:cNvGrpSpPr/>
          <p:nvPr/>
        </p:nvGrpSpPr>
        <p:grpSpPr>
          <a:xfrm rot="0">
            <a:off x="1152144" y="4061936"/>
            <a:ext cx="15636240" cy="1508760"/>
            <a:chOff x="0" y="0"/>
            <a:chExt cx="20848320" cy="2011680"/>
          </a:xfrm>
        </p:grpSpPr>
        <p:sp>
          <p:nvSpPr>
            <p:cNvPr name="Freeform 6" id="6"/>
            <p:cNvSpPr/>
            <p:nvPr/>
          </p:nvSpPr>
          <p:spPr>
            <a:xfrm flipH="false" flipV="false" rot="0">
              <a:off x="0" y="0"/>
              <a:ext cx="20848320" cy="2011680"/>
            </a:xfrm>
            <a:custGeom>
              <a:avLst/>
              <a:gdLst/>
              <a:ahLst/>
              <a:cxnLst/>
              <a:rect r="r" b="b" t="t" l="l"/>
              <a:pathLst>
                <a:path h="2011680" w="20848320">
                  <a:moveTo>
                    <a:pt x="0" y="0"/>
                  </a:moveTo>
                  <a:lnTo>
                    <a:pt x="20848320" y="0"/>
                  </a:lnTo>
                  <a:lnTo>
                    <a:pt x="20848320" y="2011680"/>
                  </a:lnTo>
                  <a:lnTo>
                    <a:pt x="0" y="2011680"/>
                  </a:lnTo>
                  <a:close/>
                </a:path>
              </a:pathLst>
            </a:custGeom>
            <a:blipFill>
              <a:blip r:embed="rId4">
                <a:alphaModFix amt="0"/>
              </a:blip>
              <a:stretch>
                <a:fillRect l="0" t="-385097" r="0" b="-385097"/>
              </a:stretch>
            </a:blipFill>
          </p:spPr>
          <p:txBody>
            <a:bodyPr/>
            <a:p/>
          </p:txBody>
        </p:sp>
      </p:grpSp>
      <p:grpSp>
        <p:nvGrpSpPr>
          <p:cNvPr name="Group 7" id="7"/>
          <p:cNvGrpSpPr/>
          <p:nvPr/>
        </p:nvGrpSpPr>
        <p:grpSpPr>
          <a:xfrm rot="0">
            <a:off x="1152144" y="5788352"/>
            <a:ext cx="11795760" cy="559584"/>
            <a:chOff x="0" y="0"/>
            <a:chExt cx="15727680" cy="746112"/>
          </a:xfrm>
        </p:grpSpPr>
        <p:sp>
          <p:nvSpPr>
            <p:cNvPr name="Freeform 8" id="8"/>
            <p:cNvSpPr/>
            <p:nvPr/>
          </p:nvSpPr>
          <p:spPr>
            <a:xfrm flipH="false" flipV="false" rot="0">
              <a:off x="0" y="0"/>
              <a:ext cx="15727680" cy="746125"/>
            </a:xfrm>
            <a:custGeom>
              <a:avLst/>
              <a:gdLst/>
              <a:ahLst/>
              <a:cxnLst/>
              <a:rect r="r" b="b" t="t" l="l"/>
              <a:pathLst>
                <a:path h="746125" w="15727680">
                  <a:moveTo>
                    <a:pt x="0" y="0"/>
                  </a:moveTo>
                  <a:lnTo>
                    <a:pt x="15727680" y="0"/>
                  </a:lnTo>
                  <a:lnTo>
                    <a:pt x="15727680" y="746125"/>
                  </a:lnTo>
                  <a:lnTo>
                    <a:pt x="0" y="746125"/>
                  </a:lnTo>
                  <a:close/>
                </a:path>
              </a:pathLst>
            </a:custGeom>
            <a:blipFill>
              <a:blip r:embed="rId5">
                <a:alphaModFix amt="0"/>
              </a:blip>
              <a:stretch>
                <a:fillRect l="0" t="-360442" r="0" b="-360442"/>
              </a:stretch>
            </a:blipFill>
          </p:spPr>
          <p:txBody>
            <a:bodyPr/>
            <a:p/>
          </p:txBody>
        </p:sp>
      </p:grpSp>
      <p:grpSp>
        <p:nvGrpSpPr>
          <p:cNvPr name="Group 9" id="9"/>
          <p:cNvGrpSpPr/>
          <p:nvPr/>
        </p:nvGrpSpPr>
        <p:grpSpPr>
          <a:xfrm rot="0">
            <a:off x="1152144" y="6531216"/>
            <a:ext cx="14538960" cy="523427"/>
            <a:chOff x="0" y="0"/>
            <a:chExt cx="19385280" cy="697903"/>
          </a:xfrm>
        </p:grpSpPr>
        <p:sp>
          <p:nvSpPr>
            <p:cNvPr name="Freeform 10" id="10"/>
            <p:cNvSpPr/>
            <p:nvPr/>
          </p:nvSpPr>
          <p:spPr>
            <a:xfrm flipH="false" flipV="false" rot="0">
              <a:off x="0" y="0"/>
              <a:ext cx="19385280" cy="697865"/>
            </a:xfrm>
            <a:custGeom>
              <a:avLst/>
              <a:gdLst/>
              <a:ahLst/>
              <a:cxnLst/>
              <a:rect r="r" b="b" t="t" l="l"/>
              <a:pathLst>
                <a:path h="697865" w="19385280">
                  <a:moveTo>
                    <a:pt x="0" y="0"/>
                  </a:moveTo>
                  <a:lnTo>
                    <a:pt x="19385280" y="0"/>
                  </a:lnTo>
                  <a:lnTo>
                    <a:pt x="19385280" y="697865"/>
                  </a:lnTo>
                  <a:lnTo>
                    <a:pt x="0" y="697865"/>
                  </a:lnTo>
                  <a:close/>
                </a:path>
              </a:pathLst>
            </a:custGeom>
            <a:blipFill>
              <a:blip r:embed="rId4">
                <a:alphaModFix amt="0"/>
              </a:blip>
              <a:stretch>
                <a:fillRect l="0" t="-1116203" r="0" b="-1116209"/>
              </a:stretch>
            </a:blipFill>
          </p:spPr>
          <p:txBody>
            <a:bodyPr/>
            <a:p/>
          </p:txBody>
        </p:sp>
      </p:grpSp>
      <p:grpSp>
        <p:nvGrpSpPr>
          <p:cNvPr name="Group 11" id="11"/>
          <p:cNvGrpSpPr/>
          <p:nvPr/>
        </p:nvGrpSpPr>
        <p:grpSpPr>
          <a:xfrm rot="0">
            <a:off x="0" y="0"/>
            <a:ext cx="2829268" cy="1184338"/>
            <a:chOff x="0" y="0"/>
            <a:chExt cx="3772357" cy="1579118"/>
          </a:xfrm>
        </p:grpSpPr>
        <p:sp>
          <p:nvSpPr>
            <p:cNvPr name="Freeform 12" id="12"/>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6"/>
              <a:stretch>
                <a:fillRect l="0" t="0" r="1" b="0"/>
              </a:stretch>
            </a:blipFill>
          </p:spPr>
          <p:txBody>
            <a:bodyPr/>
            <a:p/>
          </p:txBody>
        </p:sp>
      </p:grpSp>
      <p:grpSp>
        <p:nvGrpSpPr>
          <p:cNvPr name="Group 13" id="13"/>
          <p:cNvGrpSpPr/>
          <p:nvPr/>
        </p:nvGrpSpPr>
        <p:grpSpPr>
          <a:xfrm rot="0">
            <a:off x="1152144" y="7273719"/>
            <a:ext cx="14538960" cy="523427"/>
            <a:chOff x="0" y="0"/>
            <a:chExt cx="19385280" cy="697903"/>
          </a:xfrm>
        </p:grpSpPr>
        <p:sp>
          <p:nvSpPr>
            <p:cNvPr name="Freeform 14" id="14"/>
            <p:cNvSpPr/>
            <p:nvPr/>
          </p:nvSpPr>
          <p:spPr>
            <a:xfrm flipH="false" flipV="false" rot="0">
              <a:off x="0" y="0"/>
              <a:ext cx="19385280" cy="697865"/>
            </a:xfrm>
            <a:custGeom>
              <a:avLst/>
              <a:gdLst/>
              <a:ahLst/>
              <a:cxnLst/>
              <a:rect r="r" b="b" t="t" l="l"/>
              <a:pathLst>
                <a:path h="697865" w="19385280">
                  <a:moveTo>
                    <a:pt x="0" y="0"/>
                  </a:moveTo>
                  <a:lnTo>
                    <a:pt x="19385280" y="0"/>
                  </a:lnTo>
                  <a:lnTo>
                    <a:pt x="19385280" y="697865"/>
                  </a:lnTo>
                  <a:lnTo>
                    <a:pt x="0" y="697865"/>
                  </a:lnTo>
                  <a:close/>
                </a:path>
              </a:pathLst>
            </a:custGeom>
            <a:blipFill>
              <a:blip r:embed="rId5">
                <a:alphaModFix amt="0"/>
              </a:blip>
              <a:stretch>
                <a:fillRect l="0" t="-490875" r="0" b="-490882"/>
              </a:stretch>
            </a:blipFill>
          </p:spPr>
          <p:txBody>
            <a:bodyPr/>
            <a:p/>
          </p:txBody>
        </p:sp>
      </p:grpSp>
      <p:sp>
        <p:nvSpPr>
          <p:cNvPr name="TextBox 15" id="15"/>
          <p:cNvSpPr txBox="true"/>
          <p:nvPr/>
        </p:nvSpPr>
        <p:spPr>
          <a:xfrm rot="0">
            <a:off x="660991" y="2802348"/>
            <a:ext cx="14381597" cy="4733085"/>
          </a:xfrm>
          <a:prstGeom prst="rect">
            <a:avLst/>
          </a:prstGeom>
        </p:spPr>
        <p:txBody>
          <a:bodyPr anchor="t" rtlCol="false" tIns="0" lIns="0" bIns="0" rIns="0">
            <a:spAutoFit/>
          </a:bodyPr>
          <a:lstStyle/>
          <a:p>
            <a:pPr algn="ctr">
              <a:lnSpc>
                <a:spcPts val="7466"/>
              </a:lnSpc>
            </a:pPr>
            <a:r>
              <a:rPr lang="en-US" sz="6222" b="true">
                <a:solidFill>
                  <a:srgbClr val="FFFFFF"/>
                </a:solidFill>
                <a:latin typeface="Noto Sans Bold"/>
                <a:ea typeface="Noto Sans Bold"/>
                <a:cs typeface="Noto Sans Bold"/>
                <a:sym typeface="Noto Sans Bold"/>
              </a:rPr>
              <a:t>Nhóm rất mong nhận được góp ý.</a:t>
            </a:r>
          </a:p>
          <a:p>
            <a:pPr algn="ctr">
              <a:lnSpc>
                <a:spcPts val="7466"/>
              </a:lnSpc>
            </a:pPr>
            <a:r>
              <a:rPr lang="en-US" sz="6222">
                <a:solidFill>
                  <a:srgbClr val="FFFFFF"/>
                </a:solidFill>
                <a:latin typeface="Noto Sans"/>
                <a:ea typeface="Noto Sans"/>
                <a:cs typeface="Noto Sans"/>
                <a:sym typeface="Noto Sans"/>
              </a:rPr>
              <a:t> </a:t>
            </a:r>
          </a:p>
          <a:p>
            <a:pPr algn="ctr">
              <a:lnSpc>
                <a:spcPts val="7466"/>
              </a:lnSpc>
            </a:pPr>
            <a:r>
              <a:rPr lang="en-US" sz="6222">
                <a:solidFill>
                  <a:srgbClr val="A8C4E0"/>
                </a:solidFill>
                <a:latin typeface="Noto Sans"/>
                <a:ea typeface="Noto Sans"/>
                <a:cs typeface="Noto Sans"/>
                <a:sym typeface="Noto Sans"/>
              </a:rPr>
              <a:t>Mọi con số trong bài đều có log và tái lập được (seed, config và giao thức đánh giá cố định).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2606011" y="-1422978"/>
            <a:ext cx="18946825" cy="13987367"/>
          </a:xfrm>
          <a:custGeom>
            <a:avLst/>
            <a:gdLst/>
            <a:ahLst/>
            <a:cxnLst/>
            <a:rect r="r" b="b" t="t" l="l"/>
            <a:pathLst>
              <a:path h="13987367" w="18946825">
                <a:moveTo>
                  <a:pt x="0" y="0"/>
                </a:moveTo>
                <a:lnTo>
                  <a:pt x="18946825" y="0"/>
                </a:lnTo>
                <a:lnTo>
                  <a:pt x="18946825" y="13987367"/>
                </a:lnTo>
                <a:lnTo>
                  <a:pt x="0" y="1398736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grpSp>
        <p:nvGrpSpPr>
          <p:cNvPr name="Group 3" id="3"/>
          <p:cNvGrpSpPr/>
          <p:nvPr/>
        </p:nvGrpSpPr>
        <p:grpSpPr>
          <a:xfrm rot="0">
            <a:off x="1152144" y="2425551"/>
            <a:ext cx="16184880" cy="1636395"/>
            <a:chOff x="0" y="0"/>
            <a:chExt cx="21579840" cy="2181860"/>
          </a:xfrm>
        </p:grpSpPr>
        <p:sp>
          <p:nvSpPr>
            <p:cNvPr name="Freeform 4" id="4"/>
            <p:cNvSpPr/>
            <p:nvPr/>
          </p:nvSpPr>
          <p:spPr>
            <a:xfrm flipH="false" flipV="false" rot="0">
              <a:off x="0" y="0"/>
              <a:ext cx="21579839" cy="2181860"/>
            </a:xfrm>
            <a:custGeom>
              <a:avLst/>
              <a:gdLst/>
              <a:ahLst/>
              <a:cxnLst/>
              <a:rect r="r" b="b" t="t" l="l"/>
              <a:pathLst>
                <a:path h="2181860" w="21579839">
                  <a:moveTo>
                    <a:pt x="0" y="0"/>
                  </a:moveTo>
                  <a:lnTo>
                    <a:pt x="21579839" y="0"/>
                  </a:lnTo>
                  <a:lnTo>
                    <a:pt x="21579839" y="2181860"/>
                  </a:lnTo>
                  <a:lnTo>
                    <a:pt x="0" y="2181860"/>
                  </a:lnTo>
                  <a:close/>
                </a:path>
              </a:pathLst>
            </a:custGeom>
            <a:blipFill>
              <a:blip r:embed="rId4">
                <a:alphaModFix amt="0"/>
              </a:blip>
              <a:stretch>
                <a:fillRect l="0" t="-365236" r="0" b="-365236"/>
              </a:stretch>
            </a:blipFill>
          </p:spPr>
          <p:txBody>
            <a:bodyPr/>
            <a:p/>
          </p:txBody>
        </p:sp>
      </p:grpSp>
      <p:grpSp>
        <p:nvGrpSpPr>
          <p:cNvPr name="Group 5" id="5"/>
          <p:cNvGrpSpPr/>
          <p:nvPr/>
        </p:nvGrpSpPr>
        <p:grpSpPr>
          <a:xfrm rot="0">
            <a:off x="1152144" y="4061936"/>
            <a:ext cx="15636240" cy="1508760"/>
            <a:chOff x="0" y="0"/>
            <a:chExt cx="20848320" cy="2011680"/>
          </a:xfrm>
        </p:grpSpPr>
        <p:sp>
          <p:nvSpPr>
            <p:cNvPr name="Freeform 6" id="6"/>
            <p:cNvSpPr/>
            <p:nvPr/>
          </p:nvSpPr>
          <p:spPr>
            <a:xfrm flipH="false" flipV="false" rot="0">
              <a:off x="0" y="0"/>
              <a:ext cx="20848320" cy="2011680"/>
            </a:xfrm>
            <a:custGeom>
              <a:avLst/>
              <a:gdLst/>
              <a:ahLst/>
              <a:cxnLst/>
              <a:rect r="r" b="b" t="t" l="l"/>
              <a:pathLst>
                <a:path h="2011680" w="20848320">
                  <a:moveTo>
                    <a:pt x="0" y="0"/>
                  </a:moveTo>
                  <a:lnTo>
                    <a:pt x="20848320" y="0"/>
                  </a:lnTo>
                  <a:lnTo>
                    <a:pt x="20848320" y="2011680"/>
                  </a:lnTo>
                  <a:lnTo>
                    <a:pt x="0" y="2011680"/>
                  </a:lnTo>
                  <a:close/>
                </a:path>
              </a:pathLst>
            </a:custGeom>
            <a:blipFill>
              <a:blip r:embed="rId4">
                <a:alphaModFix amt="0"/>
              </a:blip>
              <a:stretch>
                <a:fillRect l="0" t="-385097" r="0" b="-385097"/>
              </a:stretch>
            </a:blipFill>
          </p:spPr>
          <p:txBody>
            <a:bodyPr/>
            <a:p/>
          </p:txBody>
        </p:sp>
      </p:grpSp>
      <p:grpSp>
        <p:nvGrpSpPr>
          <p:cNvPr name="Group 7" id="7"/>
          <p:cNvGrpSpPr/>
          <p:nvPr/>
        </p:nvGrpSpPr>
        <p:grpSpPr>
          <a:xfrm rot="0">
            <a:off x="1152144" y="5788352"/>
            <a:ext cx="11795760" cy="559584"/>
            <a:chOff x="0" y="0"/>
            <a:chExt cx="15727680" cy="746112"/>
          </a:xfrm>
        </p:grpSpPr>
        <p:sp>
          <p:nvSpPr>
            <p:cNvPr name="Freeform 8" id="8"/>
            <p:cNvSpPr/>
            <p:nvPr/>
          </p:nvSpPr>
          <p:spPr>
            <a:xfrm flipH="false" flipV="false" rot="0">
              <a:off x="0" y="0"/>
              <a:ext cx="15727680" cy="746125"/>
            </a:xfrm>
            <a:custGeom>
              <a:avLst/>
              <a:gdLst/>
              <a:ahLst/>
              <a:cxnLst/>
              <a:rect r="r" b="b" t="t" l="l"/>
              <a:pathLst>
                <a:path h="746125" w="15727680">
                  <a:moveTo>
                    <a:pt x="0" y="0"/>
                  </a:moveTo>
                  <a:lnTo>
                    <a:pt x="15727680" y="0"/>
                  </a:lnTo>
                  <a:lnTo>
                    <a:pt x="15727680" y="746125"/>
                  </a:lnTo>
                  <a:lnTo>
                    <a:pt x="0" y="746125"/>
                  </a:lnTo>
                  <a:close/>
                </a:path>
              </a:pathLst>
            </a:custGeom>
            <a:blipFill>
              <a:blip r:embed="rId5">
                <a:alphaModFix amt="0"/>
              </a:blip>
              <a:stretch>
                <a:fillRect l="0" t="-360442" r="0" b="-360442"/>
              </a:stretch>
            </a:blipFill>
          </p:spPr>
          <p:txBody>
            <a:bodyPr/>
            <a:p/>
          </p:txBody>
        </p:sp>
      </p:grpSp>
      <p:grpSp>
        <p:nvGrpSpPr>
          <p:cNvPr name="Group 9" id="9"/>
          <p:cNvGrpSpPr/>
          <p:nvPr/>
        </p:nvGrpSpPr>
        <p:grpSpPr>
          <a:xfrm rot="0">
            <a:off x="1152144" y="6531216"/>
            <a:ext cx="14538960" cy="523427"/>
            <a:chOff x="0" y="0"/>
            <a:chExt cx="19385280" cy="697903"/>
          </a:xfrm>
        </p:grpSpPr>
        <p:sp>
          <p:nvSpPr>
            <p:cNvPr name="Freeform 10" id="10"/>
            <p:cNvSpPr/>
            <p:nvPr/>
          </p:nvSpPr>
          <p:spPr>
            <a:xfrm flipH="false" flipV="false" rot="0">
              <a:off x="0" y="0"/>
              <a:ext cx="19385280" cy="697865"/>
            </a:xfrm>
            <a:custGeom>
              <a:avLst/>
              <a:gdLst/>
              <a:ahLst/>
              <a:cxnLst/>
              <a:rect r="r" b="b" t="t" l="l"/>
              <a:pathLst>
                <a:path h="697865" w="19385280">
                  <a:moveTo>
                    <a:pt x="0" y="0"/>
                  </a:moveTo>
                  <a:lnTo>
                    <a:pt x="19385280" y="0"/>
                  </a:lnTo>
                  <a:lnTo>
                    <a:pt x="19385280" y="697865"/>
                  </a:lnTo>
                  <a:lnTo>
                    <a:pt x="0" y="697865"/>
                  </a:lnTo>
                  <a:close/>
                </a:path>
              </a:pathLst>
            </a:custGeom>
            <a:blipFill>
              <a:blip r:embed="rId4">
                <a:alphaModFix amt="0"/>
              </a:blip>
              <a:stretch>
                <a:fillRect l="0" t="-1116203" r="0" b="-1116209"/>
              </a:stretch>
            </a:blipFill>
          </p:spPr>
          <p:txBody>
            <a:bodyPr/>
            <a:p/>
          </p:txBody>
        </p:sp>
      </p:grpSp>
      <p:grpSp>
        <p:nvGrpSpPr>
          <p:cNvPr name="Group 11" id="11"/>
          <p:cNvGrpSpPr/>
          <p:nvPr/>
        </p:nvGrpSpPr>
        <p:grpSpPr>
          <a:xfrm rot="0">
            <a:off x="0" y="0"/>
            <a:ext cx="2829268" cy="1184338"/>
            <a:chOff x="0" y="0"/>
            <a:chExt cx="3772357" cy="1579118"/>
          </a:xfrm>
        </p:grpSpPr>
        <p:sp>
          <p:nvSpPr>
            <p:cNvPr name="Freeform 12" id="12"/>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6"/>
              <a:stretch>
                <a:fillRect l="0" t="0" r="1" b="0"/>
              </a:stretch>
            </a:blipFill>
          </p:spPr>
          <p:txBody>
            <a:bodyPr/>
            <a:p/>
          </p:txBody>
        </p:sp>
      </p:grpSp>
      <p:grpSp>
        <p:nvGrpSpPr>
          <p:cNvPr name="Group 13" id="13"/>
          <p:cNvGrpSpPr/>
          <p:nvPr/>
        </p:nvGrpSpPr>
        <p:grpSpPr>
          <a:xfrm rot="0">
            <a:off x="1152144" y="7273719"/>
            <a:ext cx="14538960" cy="523427"/>
            <a:chOff x="0" y="0"/>
            <a:chExt cx="19385280" cy="697903"/>
          </a:xfrm>
        </p:grpSpPr>
        <p:sp>
          <p:nvSpPr>
            <p:cNvPr name="Freeform 14" id="14"/>
            <p:cNvSpPr/>
            <p:nvPr/>
          </p:nvSpPr>
          <p:spPr>
            <a:xfrm flipH="false" flipV="false" rot="0">
              <a:off x="0" y="0"/>
              <a:ext cx="19385280" cy="697865"/>
            </a:xfrm>
            <a:custGeom>
              <a:avLst/>
              <a:gdLst/>
              <a:ahLst/>
              <a:cxnLst/>
              <a:rect r="r" b="b" t="t" l="l"/>
              <a:pathLst>
                <a:path h="697865" w="19385280">
                  <a:moveTo>
                    <a:pt x="0" y="0"/>
                  </a:moveTo>
                  <a:lnTo>
                    <a:pt x="19385280" y="0"/>
                  </a:lnTo>
                  <a:lnTo>
                    <a:pt x="19385280" y="697865"/>
                  </a:lnTo>
                  <a:lnTo>
                    <a:pt x="0" y="697865"/>
                  </a:lnTo>
                  <a:close/>
                </a:path>
              </a:pathLst>
            </a:custGeom>
            <a:blipFill>
              <a:blip r:embed="rId5">
                <a:alphaModFix amt="0"/>
              </a:blip>
              <a:stretch>
                <a:fillRect l="0" t="-490875" r="0" b="-490882"/>
              </a:stretch>
            </a:blipFill>
          </p:spPr>
          <p:txBody>
            <a:bodyPr/>
            <a:p/>
          </p:txBody>
        </p:sp>
      </p:grpSp>
      <p:sp>
        <p:nvSpPr>
          <p:cNvPr name="TextBox 15" id="15"/>
          <p:cNvSpPr txBox="true"/>
          <p:nvPr/>
        </p:nvSpPr>
        <p:spPr>
          <a:xfrm rot="0">
            <a:off x="768816" y="2584609"/>
            <a:ext cx="13565793" cy="5972175"/>
          </a:xfrm>
          <a:prstGeom prst="rect">
            <a:avLst/>
          </a:prstGeom>
        </p:spPr>
        <p:txBody>
          <a:bodyPr anchor="t" rtlCol="false" tIns="0" lIns="0" bIns="0" rIns="0">
            <a:spAutoFit/>
          </a:bodyPr>
          <a:lstStyle/>
          <a:p>
            <a:pPr algn="l">
              <a:lnSpc>
                <a:spcPts val="8074"/>
              </a:lnSpc>
            </a:pPr>
            <a:r>
              <a:rPr lang="en-US" sz="6728" b="true">
                <a:solidFill>
                  <a:srgbClr val="FFFFFF"/>
                </a:solidFill>
                <a:latin typeface="Noto Sans Bold"/>
                <a:ea typeface="Noto Sans Bold"/>
                <a:cs typeface="Noto Sans Bold"/>
                <a:sym typeface="Noto Sans Bold"/>
              </a:rPr>
              <a:t>Phụ lục</a:t>
            </a:r>
          </a:p>
          <a:p>
            <a:pPr algn="l">
              <a:lnSpc>
                <a:spcPts val="7354"/>
              </a:lnSpc>
            </a:pPr>
            <a:r>
              <a:rPr lang="en-US" sz="6128" b="true">
                <a:solidFill>
                  <a:srgbClr val="FFFFFF"/>
                </a:solidFill>
                <a:latin typeface="Noto Sans Bold"/>
                <a:ea typeface="Noto Sans Bold"/>
                <a:cs typeface="Noto Sans Bold"/>
                <a:sym typeface="Noto Sans Bold"/>
              </a:rPr>
              <a:t> </a:t>
            </a:r>
          </a:p>
          <a:p>
            <a:pPr algn="l" marL="1172112" indent="-586056" lvl="1">
              <a:lnSpc>
                <a:spcPts val="6514"/>
              </a:lnSpc>
              <a:buFont typeface="Arial"/>
              <a:buChar char="•"/>
            </a:pPr>
            <a:r>
              <a:rPr lang="en-US" sz="5428">
                <a:solidFill>
                  <a:srgbClr val="FFFFFF"/>
                </a:solidFill>
                <a:latin typeface="Noto Sans"/>
                <a:ea typeface="Noto Sans"/>
                <a:cs typeface="Noto Sans"/>
                <a:sym typeface="Noto Sans"/>
              </a:rPr>
              <a:t>Slide dự phòng — chỉ mở khi hội đồng hỏi</a:t>
            </a:r>
          </a:p>
          <a:p>
            <a:pPr algn="l" marL="1172112" indent="-586056" lvl="1">
              <a:lnSpc>
                <a:spcPts val="6514"/>
              </a:lnSpc>
              <a:buFont typeface="Arial"/>
              <a:buChar char="•"/>
            </a:pPr>
            <a:r>
              <a:rPr lang="en-US" sz="5428">
                <a:solidFill>
                  <a:srgbClr val="FFFFFF"/>
                </a:solidFill>
                <a:latin typeface="Noto Sans"/>
                <a:ea typeface="Noto Sans"/>
                <a:cs typeface="Noto Sans"/>
                <a:sym typeface="Noto Sans"/>
              </a:rPr>
              <a:t>Đối chứng, SOTA, độ vững qua seed</a:t>
            </a:r>
          </a:p>
          <a:p>
            <a:pPr algn="l" marL="1172112" indent="-586056" lvl="1">
              <a:lnSpc>
                <a:spcPts val="6514"/>
              </a:lnSpc>
              <a:buFont typeface="Arial"/>
              <a:buChar char="•"/>
            </a:pPr>
            <a:r>
              <a:rPr lang="en-US" sz="5428">
                <a:solidFill>
                  <a:srgbClr val="FFFFFF"/>
                </a:solidFill>
                <a:latin typeface="Noto Sans"/>
                <a:ea typeface="Noto Sans"/>
                <a:cs typeface="Noto Sans"/>
                <a:sym typeface="Noto Sans"/>
              </a:rPr>
              <a:t>Ablation LoRA, epoch ViVQA, adapter dùng chung, loại câu hỏi</a:t>
            </a:r>
          </a:p>
          <a:p>
            <a:pPr algn="l">
              <a:lnSpc>
                <a:spcPts val="5885"/>
              </a:lnSpc>
            </a:pPr>
          </a:p>
        </p:txBody>
      </p:sp>
      <p:sp>
        <p:nvSpPr>
          <p:cNvPr name="TextBox 16" id="16"/>
          <p:cNvSpPr txBox="true"/>
          <p:nvPr/>
        </p:nvSpPr>
        <p:spPr>
          <a:xfrm rot="0">
            <a:off x="638874" y="1375525"/>
            <a:ext cx="2712601" cy="695325"/>
          </a:xfrm>
          <a:prstGeom prst="rect">
            <a:avLst/>
          </a:prstGeom>
        </p:spPr>
        <p:txBody>
          <a:bodyPr anchor="t" rtlCol="false" tIns="0" lIns="0" bIns="0" rIns="0">
            <a:spAutoFit/>
          </a:bodyPr>
          <a:lstStyle/>
          <a:p>
            <a:pPr algn="ctr">
              <a:lnSpc>
                <a:spcPts val="5519"/>
              </a:lnSpc>
              <a:spcBef>
                <a:spcPct val="0"/>
              </a:spcBef>
            </a:pPr>
            <a:r>
              <a:rPr lang="en-US" b="true" sz="4599">
                <a:solidFill>
                  <a:srgbClr val="FFFFFF"/>
                </a:solidFill>
                <a:latin typeface="Noto Sans Bold"/>
                <a:ea typeface="Noto Sans Bold"/>
                <a:cs typeface="Noto Sans Bold"/>
                <a:sym typeface="Noto Sans Bold"/>
              </a:rPr>
              <a:t> Review 2</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PHỤ LỤC · P1 · ĐỐI CHỨNG</a:t>
            </a:r>
          </a:p>
        </p:txBody>
      </p:sp>
      <p:grpSp>
        <p:nvGrpSpPr>
          <p:cNvPr name="Group 5" id="5"/>
          <p:cNvGrpSpPr/>
          <p:nvPr/>
        </p:nvGrpSpPr>
        <p:grpSpPr>
          <a:xfrm rot="0">
            <a:off x="15458732" y="0"/>
            <a:ext cx="2829268" cy="1184338"/>
            <a:chOff x="0" y="0"/>
            <a:chExt cx="3772357" cy="1579118"/>
          </a:xfrm>
        </p:grpSpPr>
        <p:sp>
          <p:nvSpPr>
            <p:cNvPr name="Freeform 6" id="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1" b="0"/>
              </a:stretch>
            </a:blipFill>
          </p:spPr>
          <p:txBody>
            <a:bodyPr/>
            <a:p/>
          </p:txBody>
        </p:sp>
      </p:grpSp>
      <p:sp>
        <p:nvSpPr>
          <p:cNvPr name="TextBox 7" id="7"/>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Mức tăng là thật, không do rò rỉ, không chỉ do định dạng</a:t>
            </a:r>
          </a:p>
        </p:txBody>
      </p:sp>
      <p:sp>
        <p:nvSpPr>
          <p:cNvPr name="Freeform 8" id="8"/>
          <p:cNvSpPr/>
          <p:nvPr/>
        </p:nvSpPr>
        <p:spPr>
          <a:xfrm flipH="false" flipV="false" rot="0">
            <a:off x="806291" y="2040731"/>
            <a:ext cx="5382578" cy="3530917"/>
          </a:xfrm>
          <a:custGeom>
            <a:avLst/>
            <a:gdLst/>
            <a:ahLst/>
            <a:cxnLst/>
            <a:rect r="r" b="b" t="t" l="l"/>
            <a:pathLst>
              <a:path h="3530917" w="5382578">
                <a:moveTo>
                  <a:pt x="0" y="0"/>
                </a:moveTo>
                <a:lnTo>
                  <a:pt x="5382578" y="0"/>
                </a:lnTo>
                <a:lnTo>
                  <a:pt x="5382578" y="3530918"/>
                </a:lnTo>
                <a:lnTo>
                  <a:pt x="0" y="353091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9" id="9"/>
          <p:cNvSpPr txBox="true"/>
          <p:nvPr/>
        </p:nvSpPr>
        <p:spPr>
          <a:xfrm rot="0">
            <a:off x="1165860" y="2145792"/>
            <a:ext cx="4663440"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Phân tầng rò rỉ ViVQA</a:t>
            </a:r>
          </a:p>
        </p:txBody>
      </p:sp>
      <p:sp>
        <p:nvSpPr>
          <p:cNvPr name="TextBox 10" id="10"/>
          <p:cNvSpPr txBox="true"/>
          <p:nvPr/>
        </p:nvSpPr>
        <p:spPr>
          <a:xfrm rot="0">
            <a:off x="1165860" y="2785110"/>
            <a:ext cx="4663440" cy="263271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Tập sạch (n = 1.219): </a:t>
            </a:r>
            <a:r>
              <a:rPr lang="en-US" sz="2100" b="true">
                <a:solidFill>
                  <a:srgbClr val="1C7293"/>
                </a:solidFill>
                <a:latin typeface="Calibri (MS) Bold"/>
                <a:ea typeface="Calibri (MS) Bold"/>
                <a:cs typeface="Calibri (MS) Bold"/>
                <a:sym typeface="Calibri (MS) Bold"/>
              </a:rPr>
              <a:t>EM 25,0 → 69,1</a:t>
            </a:r>
          </a:p>
          <a:p>
            <a:pPr algn="l">
              <a:lnSpc>
                <a:spcPts val="2520"/>
              </a:lnSpc>
            </a:pPr>
            <a:r>
              <a:rPr lang="en-US" sz="2100">
                <a:solidFill>
                  <a:srgbClr val="243044"/>
                </a:solidFill>
                <a:latin typeface="Calibri (MS)"/>
                <a:ea typeface="Calibri (MS)"/>
                <a:cs typeface="Calibri (MS)"/>
                <a:sym typeface="Calibri (MS)"/>
              </a:rPr>
              <a:t>Mốc đoán theo phân bố đáp án: 14,4</a:t>
            </a:r>
          </a:p>
        </p:txBody>
      </p:sp>
      <p:sp>
        <p:nvSpPr>
          <p:cNvPr name="Freeform 11" id="11"/>
          <p:cNvSpPr/>
          <p:nvPr/>
        </p:nvSpPr>
        <p:spPr>
          <a:xfrm flipH="false" flipV="false" rot="0">
            <a:off x="806291" y="5881211"/>
            <a:ext cx="5382578" cy="3530917"/>
          </a:xfrm>
          <a:custGeom>
            <a:avLst/>
            <a:gdLst/>
            <a:ahLst/>
            <a:cxnLst/>
            <a:rect r="r" b="b" t="t" l="l"/>
            <a:pathLst>
              <a:path h="3530917" w="5382578">
                <a:moveTo>
                  <a:pt x="0" y="0"/>
                </a:moveTo>
                <a:lnTo>
                  <a:pt x="5382578" y="0"/>
                </a:lnTo>
                <a:lnTo>
                  <a:pt x="5382578" y="3530918"/>
                </a:lnTo>
                <a:lnTo>
                  <a:pt x="0" y="353091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12" id="12"/>
          <p:cNvSpPr txBox="true"/>
          <p:nvPr/>
        </p:nvSpPr>
        <p:spPr>
          <a:xfrm rot="0">
            <a:off x="1165860" y="5986272"/>
            <a:ext cx="4663440"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ViTextVQA: không trùng ảnh</a:t>
            </a:r>
          </a:p>
        </p:txBody>
      </p:sp>
      <p:sp>
        <p:nvSpPr>
          <p:cNvPr name="TextBox 13" id="13"/>
          <p:cNvSpPr txBox="true"/>
          <p:nvPr/>
        </p:nvSpPr>
        <p:spPr>
          <a:xfrm rot="0">
            <a:off x="1165860" y="6625590"/>
            <a:ext cx="4663440" cy="263271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0 ảnh trùng train–test, </a:t>
            </a:r>
            <a:r>
              <a:rPr lang="en-US" sz="2100" b="true">
                <a:solidFill>
                  <a:srgbClr val="1C7293"/>
                </a:solidFill>
                <a:latin typeface="Calibri (MS) Bold"/>
                <a:ea typeface="Calibri (MS) Bold"/>
                <a:cs typeface="Calibri (MS) Bold"/>
                <a:sym typeface="Calibri (MS) Bold"/>
              </a:rPr>
              <a:t>vẫn +21,1 EM trên full test</a:t>
            </a:r>
          </a:p>
        </p:txBody>
      </p:sp>
      <p:sp>
        <p:nvSpPr>
          <p:cNvPr name="Freeform 14" id="14"/>
          <p:cNvSpPr/>
          <p:nvPr/>
        </p:nvSpPr>
        <p:spPr>
          <a:xfrm flipH="false" flipV="false" rot="0">
            <a:off x="6704171" y="2040731"/>
            <a:ext cx="10777061" cy="7371397"/>
          </a:xfrm>
          <a:custGeom>
            <a:avLst/>
            <a:gdLst/>
            <a:ahLst/>
            <a:cxnLst/>
            <a:rect r="r" b="b" t="t" l="l"/>
            <a:pathLst>
              <a:path h="7371397" w="10777061">
                <a:moveTo>
                  <a:pt x="0" y="0"/>
                </a:moveTo>
                <a:lnTo>
                  <a:pt x="10777061" y="0"/>
                </a:lnTo>
                <a:lnTo>
                  <a:pt x="10777061" y="7371398"/>
                </a:lnTo>
                <a:lnTo>
                  <a:pt x="0" y="7371398"/>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TextBox 15" id="15"/>
          <p:cNvSpPr txBox="true"/>
          <p:nvPr/>
        </p:nvSpPr>
        <p:spPr>
          <a:xfrm rot="0">
            <a:off x="7132320" y="2145792"/>
            <a:ext cx="9920783"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Đối chứng few-shot: 5 ví dụ chữ trong prompt (FS5)</a:t>
            </a:r>
          </a:p>
        </p:txBody>
      </p:sp>
      <p:grpSp>
        <p:nvGrpSpPr>
          <p:cNvPr name="Group 16" id="16"/>
          <p:cNvGrpSpPr/>
          <p:nvPr/>
        </p:nvGrpSpPr>
        <p:grpSpPr>
          <a:xfrm rot="0">
            <a:off x="5893356" y="1778556"/>
            <a:ext cx="12398712" cy="6935629"/>
            <a:chOff x="0" y="0"/>
            <a:chExt cx="16531615" cy="9247505"/>
          </a:xfrm>
        </p:grpSpPr>
        <p:sp>
          <p:nvSpPr>
            <p:cNvPr name="Freeform 17" id="17"/>
            <p:cNvSpPr/>
            <p:nvPr/>
          </p:nvSpPr>
          <p:spPr>
            <a:xfrm flipH="false" flipV="false" rot="0">
              <a:off x="0" y="0"/>
              <a:ext cx="16531589" cy="9247505"/>
            </a:xfrm>
            <a:custGeom>
              <a:avLst/>
              <a:gdLst/>
              <a:ahLst/>
              <a:cxnLst/>
              <a:rect r="r" b="b" t="t" l="l"/>
              <a:pathLst>
                <a:path h="9247505" w="16531589">
                  <a:moveTo>
                    <a:pt x="0" y="0"/>
                  </a:moveTo>
                  <a:lnTo>
                    <a:pt x="16531589" y="0"/>
                  </a:lnTo>
                  <a:lnTo>
                    <a:pt x="16531589" y="9247505"/>
                  </a:lnTo>
                  <a:lnTo>
                    <a:pt x="0" y="9247505"/>
                  </a:lnTo>
                  <a:lnTo>
                    <a:pt x="0" y="0"/>
                  </a:lnTo>
                  <a:close/>
                </a:path>
              </a:pathLst>
            </a:custGeom>
            <a:blipFill>
              <a:blip r:embed="rId8"/>
              <a:stretch>
                <a:fillRect l="-21" t="0" r="-21" b="0"/>
              </a:stretch>
            </a:blipFill>
          </p:spPr>
          <p:txBody>
            <a:bodyPr/>
            <a:p/>
          </p:txBody>
        </p:sp>
      </p:grpSp>
      <p:sp>
        <p:nvSpPr>
          <p:cNvPr name="TextBox 18" id="18"/>
          <p:cNvSpPr txBox="true"/>
          <p:nvPr/>
        </p:nvSpPr>
        <p:spPr>
          <a:xfrm rot="0">
            <a:off x="7132320" y="7654290"/>
            <a:ext cx="9920783" cy="160401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Few-shot làm câu trả lời ngắn lại nhưng mất nội dung (EM −2,1 ở ViVQA, p = 0,004; −1,2 ở ViTextVQA, không ý nghĩa). B2 vượt FS5 ở cả hai (p ≈ 0) → QLoRA học nhiều hơn định dạng.</a:t>
            </a:r>
          </a:p>
        </p:txBody>
      </p:sp>
      <p:grpSp>
        <p:nvGrpSpPr>
          <p:cNvPr name="Group 19" id="19"/>
          <p:cNvGrpSpPr/>
          <p:nvPr/>
        </p:nvGrpSpPr>
        <p:grpSpPr>
          <a:xfrm rot="0">
            <a:off x="822960" y="9641205"/>
            <a:ext cx="13716000" cy="440055"/>
            <a:chOff x="0" y="0"/>
            <a:chExt cx="18288000" cy="586740"/>
          </a:xfrm>
        </p:grpSpPr>
        <p:sp>
          <p:nvSpPr>
            <p:cNvPr name="Freeform 20" id="20"/>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9">
                <a:alphaModFix amt="0"/>
              </a:blip>
              <a:stretch>
                <a:fillRect l="0" t="-557325" r="0" b="-557325"/>
              </a:stretch>
            </a:blipFill>
          </p:spPr>
          <p:txBody>
            <a:bodyPr/>
            <a:p/>
          </p:txBody>
        </p:sp>
        <p:sp>
          <p:nvSpPr>
            <p:cNvPr name="TextBox 21" id="21"/>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PHỤ LỤC · P2 · SO VỚI SOTA</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Full test ViTextVQA: cao hơn SOTA đã công bố</a:t>
            </a:r>
          </a:p>
        </p:txBody>
      </p:sp>
      <p:graphicFrame>
        <p:nvGraphicFramePr>
          <p:cNvPr name="Table 6" id="6"/>
          <p:cNvGraphicFramePr>
            <a:graphicFrameLocks noGrp="true"/>
          </p:cNvGraphicFramePr>
          <p:nvPr/>
        </p:nvGraphicFramePr>
        <p:xfrm>
          <a:off x="822960" y="2125980"/>
          <a:ext cx="16586200" cy="3352800"/>
        </p:xfrm>
        <a:graphic>
          <a:graphicData uri="http://schemas.openxmlformats.org/drawingml/2006/table">
            <a:tbl>
              <a:tblPr/>
              <a:tblGrid>
                <a:gridCol w="5454454"/>
                <a:gridCol w="3494287"/>
                <a:gridCol w="3494287"/>
                <a:gridCol w="4143171"/>
              </a:tblGrid>
              <a:tr h="8382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Model (full test, 10.028 câu)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EM [CI95]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F1 [CI95]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so với SOTA (luật: cận dưới CI95 &gt; số công bố)</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838200">
                <a:tc>
                  <a:txBody>
                    <a:bodyPr anchor="t" rtlCol="false"/>
                    <a:lstStyle/>
                    <a:p>
                      <a:pPr algn="l">
                        <a:lnSpc>
                          <a:spcPts val="2520"/>
                        </a:lnSpc>
                        <a:defRPr/>
                      </a:pPr>
                      <a:r>
                        <a:rPr lang="en-US" sz="2100">
                          <a:solidFill>
                            <a:srgbClr val="243044"/>
                          </a:solidFill>
                          <a:latin typeface="Calibri (MS)"/>
                          <a:ea typeface="Calibri (MS)"/>
                          <a:cs typeface="Calibri (MS)"/>
                          <a:sym typeface="Calibri (MS)"/>
                        </a:rPr>
                        <a:t>ViTextBLIP-2 · Nguyen và cs. [3], Table 6 (có train)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25,48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53,95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838200">
                <a:tc>
                  <a:txBody>
                    <a:bodyPr anchor="t" rtlCol="false"/>
                    <a:lstStyle/>
                    <a:p>
                      <a:pPr algn="l">
                        <a:lnSpc>
                          <a:spcPts val="2520"/>
                        </a:lnSpc>
                        <a:defRPr/>
                      </a:pPr>
                      <a:r>
                        <a:rPr lang="en-US" sz="2100">
                          <a:solidFill>
                            <a:srgbClr val="243044"/>
                          </a:solidFill>
                          <a:latin typeface="Calibri (MS)"/>
                          <a:ea typeface="Calibri (MS)"/>
                          <a:cs typeface="Calibri (MS)"/>
                          <a:sym typeface="Calibri (MS)"/>
                        </a:rPr>
                        <a:t>B1 · Qwen2.5-VL-3B zero-shot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29,12 [28,23; 29,99]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53,89 [53,11; 54,66]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520"/>
                        </a:lnSpc>
                        <a:defRPr/>
                      </a:pPr>
                      <a:r>
                        <a:rPr lang="en-US" sz="2100">
                          <a:solidFill>
                            <a:srgbClr val="243044"/>
                          </a:solidFill>
                          <a:latin typeface="Calibri (MS)"/>
                          <a:ea typeface="Calibri (MS)"/>
                          <a:cs typeface="Calibri (MS)"/>
                          <a:sym typeface="Calibri (MS)"/>
                        </a:rPr>
                        <a:t>cao hơn về EM; F1 ngang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838200">
                <a:tc>
                  <a:txBody>
                    <a:bodyPr anchor="t" rtlCol="false"/>
                    <a:lstStyle/>
                    <a:p>
                      <a:pPr algn="l">
                        <a:lnSpc>
                          <a:spcPts val="2520"/>
                        </a:lnSpc>
                        <a:defRPr/>
                      </a:pPr>
                      <a:r>
                        <a:rPr lang="en-US" sz="2100" b="true">
                          <a:solidFill>
                            <a:srgbClr val="13294B"/>
                          </a:solidFill>
                          <a:latin typeface="Calibri (MS) Bold"/>
                          <a:ea typeface="Calibri (MS) Bold"/>
                          <a:cs typeface="Calibri (MS) Bold"/>
                          <a:sym typeface="Calibri (MS) Bold"/>
                        </a:rPr>
                        <a:t>B2 · + QLoRA, 1 epoch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c>
                  <a:txBody>
                    <a:bodyPr anchor="t" rtlCol="false"/>
                    <a:lstStyle/>
                    <a:p>
                      <a:pPr algn="ctr">
                        <a:lnSpc>
                          <a:spcPts val="2520"/>
                        </a:lnSpc>
                        <a:defRPr/>
                      </a:pPr>
                      <a:r>
                        <a:rPr lang="en-US" sz="2100" b="true">
                          <a:solidFill>
                            <a:srgbClr val="13294B"/>
                          </a:solidFill>
                          <a:latin typeface="Calibri (MS) Bold"/>
                          <a:ea typeface="Calibri (MS) Bold"/>
                          <a:cs typeface="Calibri (MS) Bold"/>
                          <a:sym typeface="Calibri (MS) Bold"/>
                        </a:rPr>
                        <a:t>50,26 [49,27; 51,23]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c>
                  <a:txBody>
                    <a:bodyPr anchor="t" rtlCol="false"/>
                    <a:lstStyle/>
                    <a:p>
                      <a:pPr algn="ctr">
                        <a:lnSpc>
                          <a:spcPts val="2520"/>
                        </a:lnSpc>
                        <a:defRPr/>
                      </a:pPr>
                      <a:r>
                        <a:rPr lang="en-US" sz="2100" b="true">
                          <a:solidFill>
                            <a:srgbClr val="13294B"/>
                          </a:solidFill>
                          <a:latin typeface="Calibri (MS) Bold"/>
                          <a:ea typeface="Calibri (MS) Bold"/>
                          <a:cs typeface="Calibri (MS) Bold"/>
                          <a:sym typeface="Calibri (MS) Bold"/>
                        </a:rPr>
                        <a:t>71,16 [70,42; 71,89]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c>
                  <a:txBody>
                    <a:bodyPr anchor="t" rtlCol="false"/>
                    <a:lstStyle/>
                    <a:p>
                      <a:pPr algn="l">
                        <a:lnSpc>
                          <a:spcPts val="2520"/>
                        </a:lnSpc>
                        <a:defRPr/>
                      </a:pPr>
                      <a:r>
                        <a:rPr lang="en-US" sz="2100" b="true">
                          <a:solidFill>
                            <a:srgbClr val="13294B"/>
                          </a:solidFill>
                          <a:latin typeface="Calibri (MS) Bold"/>
                          <a:ea typeface="Calibri (MS) Bold"/>
                          <a:cs typeface="Calibri (MS) Bold"/>
                          <a:sym typeface="Calibri (MS) Bold"/>
                        </a:rPr>
                        <a:t>cao hơn cả EM và F1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r>
            </a:tbl>
          </a:graphicData>
        </a:graphic>
      </p:graphicFrame>
      <p:sp>
        <p:nvSpPr>
          <p:cNvPr name="Freeform 7" id="7"/>
          <p:cNvSpPr/>
          <p:nvPr/>
        </p:nvSpPr>
        <p:spPr>
          <a:xfrm flipH="false" flipV="false" rot="0">
            <a:off x="806291" y="5812631"/>
            <a:ext cx="5214842" cy="2570797"/>
          </a:xfrm>
          <a:custGeom>
            <a:avLst/>
            <a:gdLst/>
            <a:ahLst/>
            <a:cxnLst/>
            <a:rect r="r" b="b" t="t" l="l"/>
            <a:pathLst>
              <a:path h="2570797" w="5214842">
                <a:moveTo>
                  <a:pt x="0" y="0"/>
                </a:moveTo>
                <a:lnTo>
                  <a:pt x="5214843" y="0"/>
                </a:lnTo>
                <a:lnTo>
                  <a:pt x="5214843" y="2570798"/>
                </a:lnTo>
                <a:lnTo>
                  <a:pt x="0" y="257079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8" id="8"/>
          <p:cNvSpPr txBox="true"/>
          <p:nvPr/>
        </p:nvSpPr>
        <p:spPr>
          <a:xfrm rot="0">
            <a:off x="1165860" y="5958840"/>
            <a:ext cx="4495648" cy="6934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Tái lập được</a:t>
            </a:r>
          </a:p>
        </p:txBody>
      </p:sp>
      <p:sp>
        <p:nvSpPr>
          <p:cNvPr name="TextBox 9" id="9"/>
          <p:cNvSpPr txBox="true"/>
          <p:nvPr/>
        </p:nvSpPr>
        <p:spPr>
          <a:xfrm rot="0">
            <a:off x="1165860" y="6625590"/>
            <a:ext cx="4495648" cy="153543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Dự đoán full test trùng 100% với các run tập con trên 2.000 câu chung.</a:t>
            </a:r>
          </a:p>
        </p:txBody>
      </p:sp>
      <p:sp>
        <p:nvSpPr>
          <p:cNvPr name="Freeform 10" id="10"/>
          <p:cNvSpPr/>
          <p:nvPr/>
        </p:nvSpPr>
        <p:spPr>
          <a:xfrm flipH="false" flipV="false" rot="0">
            <a:off x="6536379" y="5812631"/>
            <a:ext cx="5214842" cy="2570797"/>
          </a:xfrm>
          <a:custGeom>
            <a:avLst/>
            <a:gdLst/>
            <a:ahLst/>
            <a:cxnLst/>
            <a:rect r="r" b="b" t="t" l="l"/>
            <a:pathLst>
              <a:path h="2570797" w="5214842">
                <a:moveTo>
                  <a:pt x="0" y="0"/>
                </a:moveTo>
                <a:lnTo>
                  <a:pt x="5214842" y="0"/>
                </a:lnTo>
                <a:lnTo>
                  <a:pt x="5214842" y="2570798"/>
                </a:lnTo>
                <a:lnTo>
                  <a:pt x="0" y="257079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1" id="11"/>
          <p:cNvSpPr txBox="true"/>
          <p:nvPr/>
        </p:nvSpPr>
        <p:spPr>
          <a:xfrm rot="0">
            <a:off x="6895948" y="5958840"/>
            <a:ext cx="4495648" cy="6934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Công bằng về loại</a:t>
            </a:r>
          </a:p>
        </p:txBody>
      </p:sp>
      <p:sp>
        <p:nvSpPr>
          <p:cNvPr name="TextBox 12" id="12"/>
          <p:cNvSpPr txBox="true"/>
          <p:nvPr/>
        </p:nvSpPr>
        <p:spPr>
          <a:xfrm rot="0">
            <a:off x="6895948" y="6625590"/>
            <a:ext cx="4495648" cy="153543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Cả B2 và ViTextBLIP-2 đều được train trên tập train ViTextVQA.</a:t>
            </a:r>
          </a:p>
        </p:txBody>
      </p:sp>
      <p:sp>
        <p:nvSpPr>
          <p:cNvPr name="Freeform 13" id="13"/>
          <p:cNvSpPr/>
          <p:nvPr/>
        </p:nvSpPr>
        <p:spPr>
          <a:xfrm flipH="false" flipV="false" rot="0">
            <a:off x="12266466" y="5812631"/>
            <a:ext cx="5214842" cy="2570797"/>
          </a:xfrm>
          <a:custGeom>
            <a:avLst/>
            <a:gdLst/>
            <a:ahLst/>
            <a:cxnLst/>
            <a:rect r="r" b="b" t="t" l="l"/>
            <a:pathLst>
              <a:path h="2570797" w="5214842">
                <a:moveTo>
                  <a:pt x="0" y="0"/>
                </a:moveTo>
                <a:lnTo>
                  <a:pt x="5214843" y="0"/>
                </a:lnTo>
                <a:lnTo>
                  <a:pt x="5214843" y="2570798"/>
                </a:lnTo>
                <a:lnTo>
                  <a:pt x="0" y="257079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TextBox 14" id="14"/>
          <p:cNvSpPr txBox="true"/>
          <p:nvPr/>
        </p:nvSpPr>
        <p:spPr>
          <a:xfrm rot="0">
            <a:off x="12626035" y="5958840"/>
            <a:ext cx="4495648" cy="6934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Giới hạn</a:t>
            </a:r>
          </a:p>
        </p:txBody>
      </p:sp>
      <p:sp>
        <p:nvSpPr>
          <p:cNvPr name="TextBox 15" id="15"/>
          <p:cNvSpPr txBox="true"/>
          <p:nvPr/>
        </p:nvSpPr>
        <p:spPr>
          <a:xfrm rot="0">
            <a:off x="12626035" y="6625590"/>
            <a:ext cx="4495648" cy="153543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Paper không công bố cách chuẩn hoá đáp án; phép so giả định cách chấm tương đương.</a:t>
            </a:r>
          </a:p>
        </p:txBody>
      </p:sp>
      <p:grpSp>
        <p:nvGrpSpPr>
          <p:cNvPr name="Group 16" id="16"/>
          <p:cNvGrpSpPr/>
          <p:nvPr/>
        </p:nvGrpSpPr>
        <p:grpSpPr>
          <a:xfrm rot="0">
            <a:off x="822960" y="8641080"/>
            <a:ext cx="16641623" cy="685800"/>
            <a:chOff x="0" y="0"/>
            <a:chExt cx="22188830" cy="914400"/>
          </a:xfrm>
        </p:grpSpPr>
        <p:sp>
          <p:nvSpPr>
            <p:cNvPr name="Freeform 17" id="17"/>
            <p:cNvSpPr/>
            <p:nvPr/>
          </p:nvSpPr>
          <p:spPr>
            <a:xfrm flipH="false" flipV="false" rot="0">
              <a:off x="0" y="0"/>
              <a:ext cx="22188805" cy="914400"/>
            </a:xfrm>
            <a:custGeom>
              <a:avLst/>
              <a:gdLst/>
              <a:ahLst/>
              <a:cxnLst/>
              <a:rect r="r" b="b" t="t" l="l"/>
              <a:pathLst>
                <a:path h="914400" w="22188805">
                  <a:moveTo>
                    <a:pt x="0" y="0"/>
                  </a:moveTo>
                  <a:lnTo>
                    <a:pt x="22188805" y="0"/>
                  </a:lnTo>
                  <a:lnTo>
                    <a:pt x="22188805" y="914400"/>
                  </a:lnTo>
                  <a:lnTo>
                    <a:pt x="0" y="914400"/>
                  </a:lnTo>
                  <a:close/>
                </a:path>
              </a:pathLst>
            </a:custGeom>
            <a:blipFill>
              <a:blip r:embed="rId2">
                <a:alphaModFix amt="0"/>
              </a:blip>
              <a:stretch>
                <a:fillRect l="0" t="-422494" r="0" b="-422495"/>
              </a:stretch>
            </a:blipFill>
          </p:spPr>
          <p:txBody>
            <a:bodyPr/>
            <a:p/>
          </p:txBody>
        </p:sp>
      </p:grpSp>
      <p:grpSp>
        <p:nvGrpSpPr>
          <p:cNvPr name="Group 18" id="18"/>
          <p:cNvGrpSpPr/>
          <p:nvPr/>
        </p:nvGrpSpPr>
        <p:grpSpPr>
          <a:xfrm rot="0">
            <a:off x="822960" y="8612505"/>
            <a:ext cx="16641623" cy="714375"/>
            <a:chOff x="0" y="0"/>
            <a:chExt cx="22188830" cy="952500"/>
          </a:xfrm>
        </p:grpSpPr>
        <p:sp>
          <p:nvSpPr>
            <p:cNvPr name="Freeform 19" id="19"/>
            <p:cNvSpPr/>
            <p:nvPr/>
          </p:nvSpPr>
          <p:spPr>
            <a:xfrm flipH="false" flipV="false" rot="0">
              <a:off x="0" y="0"/>
              <a:ext cx="22188830" cy="952500"/>
            </a:xfrm>
            <a:custGeom>
              <a:avLst/>
              <a:gdLst/>
              <a:ahLst/>
              <a:cxnLst/>
              <a:rect r="r" b="b" t="t" l="l"/>
              <a:pathLst>
                <a:path h="952500" w="22188830">
                  <a:moveTo>
                    <a:pt x="0" y="0"/>
                  </a:moveTo>
                  <a:lnTo>
                    <a:pt x="22188830" y="0"/>
                  </a:lnTo>
                  <a:lnTo>
                    <a:pt x="22188830" y="952500"/>
                  </a:lnTo>
                  <a:lnTo>
                    <a:pt x="0" y="952500"/>
                  </a:lnTo>
                  <a:close/>
                </a:path>
              </a:pathLst>
            </a:custGeom>
            <a:blipFill>
              <a:blip r:embed="rId7">
                <a:alphaModFix amt="0"/>
              </a:blip>
              <a:stretch>
                <a:fillRect l="0" t="-403910" r="0" b="-403910"/>
              </a:stretch>
            </a:blipFill>
          </p:spPr>
          <p:txBody>
            <a:bodyPr/>
            <a:p/>
          </p:txBody>
        </p:sp>
        <p:sp>
          <p:nvSpPr>
            <p:cNvPr name="TextBox 20" id="20"/>
            <p:cNvSpPr txBox="true"/>
            <p:nvPr/>
          </p:nvSpPr>
          <p:spPr>
            <a:xfrm>
              <a:off x="0" y="-38100"/>
              <a:ext cx="22188830" cy="990600"/>
            </a:xfrm>
            <a:prstGeom prst="rect">
              <a:avLst/>
            </a:prstGeom>
          </p:spPr>
          <p:txBody>
            <a:bodyPr anchor="b" rtlCol="false" tIns="0" lIns="0" bIns="0" rIns="0"/>
            <a:lstStyle/>
            <a:p>
              <a:pPr algn="l">
                <a:lnSpc>
                  <a:spcPts val="1800"/>
                </a:lnSpc>
              </a:pPr>
              <a:r>
                <a:rPr lang="en-US" sz="1500" u="sng">
                  <a:solidFill>
                    <a:srgbClr val="6B7280"/>
                  </a:solidFill>
                  <a:latin typeface="Calibri (MS)"/>
                  <a:ea typeface="Calibri (MS)"/>
                  <a:cs typeface="Calibri (MS)"/>
                  <a:sym typeface="Calibri (MS)"/>
                  <a:hlinkClick r:id="rId8" tooltip="https://arxiv.org/pdf/2404.10652"/>
                </a:rPr>
                <a:t>[3] Nguyen và cs., ViTextVQA, arXiv:2404.10652, 2024. CI95 = bootstrap ghép cặp, 10.000 lần lấy mẫu, seed 42. Số của nhóm: experiments/W07_B1_zeroshot_…_testfull, W07_B2_eval_…_testfull, W07_fulltest_summary_L4_seed42.</a:t>
              </a:r>
            </a:p>
          </p:txBody>
        </p:sp>
      </p:grpSp>
      <p:grpSp>
        <p:nvGrpSpPr>
          <p:cNvPr name="Group 21" id="21"/>
          <p:cNvGrpSpPr/>
          <p:nvPr/>
        </p:nvGrpSpPr>
        <p:grpSpPr>
          <a:xfrm rot="0">
            <a:off x="15458732" y="0"/>
            <a:ext cx="2829268" cy="1184338"/>
            <a:chOff x="0" y="0"/>
            <a:chExt cx="3772357" cy="1579118"/>
          </a:xfrm>
        </p:grpSpPr>
        <p:sp>
          <p:nvSpPr>
            <p:cNvPr name="Freeform 22" id="22"/>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9"/>
              <a:stretch>
                <a:fillRect l="0" t="0" r="1" b="0"/>
              </a:stretch>
            </a:blipFill>
          </p:spPr>
          <p:txBody>
            <a:bodyPr/>
            <a:p/>
          </p:txBody>
        </p:sp>
      </p:grpSp>
      <p:grpSp>
        <p:nvGrpSpPr>
          <p:cNvPr name="Group 23" id="23"/>
          <p:cNvGrpSpPr/>
          <p:nvPr/>
        </p:nvGrpSpPr>
        <p:grpSpPr>
          <a:xfrm rot="0">
            <a:off x="822960" y="9641205"/>
            <a:ext cx="13716000" cy="440055"/>
            <a:chOff x="0" y="0"/>
            <a:chExt cx="18288000" cy="586740"/>
          </a:xfrm>
        </p:grpSpPr>
        <p:sp>
          <p:nvSpPr>
            <p:cNvPr name="Freeform 24" id="24"/>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7">
                <a:alphaModFix amt="0"/>
              </a:blip>
              <a:stretch>
                <a:fillRect l="0" t="-557325" r="0" b="-557325"/>
              </a:stretch>
            </a:blipFill>
          </p:spPr>
          <p:txBody>
            <a:bodyPr/>
            <a:p/>
          </p:txBody>
        </p:sp>
        <p:sp>
          <p:nvSpPr>
            <p:cNvPr name="TextBox 25" id="25"/>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PHỤ LỤC · P3 · SOTA SO VỚI NHÓM</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ViTextBLIP-2 làm thế nào — và nhóm khác ở đâu</a:t>
            </a:r>
          </a:p>
        </p:txBody>
      </p:sp>
      <p:graphicFrame>
        <p:nvGraphicFramePr>
          <p:cNvPr name="Table 6" id="6"/>
          <p:cNvGraphicFramePr>
            <a:graphicFrameLocks noGrp="true"/>
          </p:cNvGraphicFramePr>
          <p:nvPr/>
        </p:nvGraphicFramePr>
        <p:xfrm>
          <a:off x="822960" y="1988820"/>
          <a:ext cx="16598900" cy="6172200"/>
        </p:xfrm>
        <a:graphic>
          <a:graphicData uri="http://schemas.openxmlformats.org/drawingml/2006/table">
            <a:tbl>
              <a:tblPr/>
              <a:tblGrid>
                <a:gridCol w="3032052"/>
                <a:gridCol w="6830910"/>
                <a:gridCol w="6735938"/>
              </a:tblGrid>
              <a:tr h="6858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Khía cạnh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ViTextBLIP-2 (SOTA, paper [3])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Nhóm: B2 = Qwen2.5-VL-3B + QLoRA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Thị giác</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ViT pretrained, đóng băng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ViT của Qwen2.5-VL (32 khối), đóng băng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Chữ trong ảnh (OCR)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SwinTextSpotter [4], không fine-tune, bộ ký tự tiếng Việt; token OCR trộn như đặc trưng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Không dùng OCR ngoài — VLM tự đọc chữ từ ảnh (OCR thêm ở B3, slide 28)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Mô hình ngôn ngữ</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ViT5 [5] (T5 tiếng Việt), đóng băng</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Decoder Qwen2.5-3B, 36 lớp, 4-bit NF4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Phần được train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Q-Former (khởi tạo từ BLIP-2) trộn ảnh, câu hỏi và OCR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LoRA trên q, k, v, o: 7,37 triệu tham số (0,196%)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Xử lý dữ liệu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Sắp chữ OCR trái-trên → phải-dưới (giúp hầu hết model)</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Split chính thức; chuẩn hoá tiếng Việt (NFC, chữ thường, giữ dấu thanh)</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Dữ liệu train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Toàn bộ train ViTextVQA</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Toàn bộ train ViTextVQA, 1 epoch (12,0 h trên 1 L4)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Metric</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EM, F1; không công bố cách chuẩn hoá</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l">
                        <a:lnSpc>
                          <a:spcPts val="2160"/>
                        </a:lnSpc>
                        <a:defRPr/>
                      </a:pPr>
                      <a:r>
                        <a:rPr lang="en-US" sz="1800">
                          <a:solidFill>
                            <a:srgbClr val="243044"/>
                          </a:solidFill>
                          <a:latin typeface="Calibri (MS)"/>
                          <a:ea typeface="Calibri (MS)"/>
                          <a:cs typeface="Calibri (MS)"/>
                          <a:sym typeface="Calibri (MS)"/>
                        </a:rPr>
                        <a:t>EM, ANLS (+ F1 để so); hàm chuẩn hoá công khai trong code</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160"/>
                        </a:lnSpc>
                        <a:defRPr/>
                      </a:pPr>
                      <a:r>
                        <a:rPr lang="en-US" sz="1800" b="true">
                          <a:solidFill>
                            <a:srgbClr val="13294B"/>
                          </a:solidFill>
                          <a:latin typeface="Calibri (MS) Bold"/>
                          <a:ea typeface="Calibri (MS) Bold"/>
                          <a:cs typeface="Calibri (MS) Bold"/>
                          <a:sym typeface="Calibri (MS) Bold"/>
                        </a:rPr>
                        <a:t>Full test (EM / F1)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c>
                  <a:txBody>
                    <a:bodyPr anchor="t" rtlCol="false"/>
                    <a:lstStyle/>
                    <a:p>
                      <a:pPr algn="l">
                        <a:lnSpc>
                          <a:spcPts val="2160"/>
                        </a:lnSpc>
                        <a:defRPr/>
                      </a:pPr>
                      <a:r>
                        <a:rPr lang="en-US" sz="1800" b="true">
                          <a:solidFill>
                            <a:srgbClr val="243044"/>
                          </a:solidFill>
                          <a:latin typeface="Calibri (MS) Bold"/>
                          <a:ea typeface="Calibri (MS) Bold"/>
                          <a:cs typeface="Calibri (MS) Bold"/>
                          <a:sym typeface="Calibri (MS) Bold"/>
                        </a:rPr>
                        <a:t>25,48 / 53,95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c>
                  <a:txBody>
                    <a:bodyPr anchor="t" rtlCol="false"/>
                    <a:lstStyle/>
                    <a:p>
                      <a:pPr algn="l">
                        <a:lnSpc>
                          <a:spcPts val="2160"/>
                        </a:lnSpc>
                        <a:defRPr/>
                      </a:pPr>
                      <a:r>
                        <a:rPr lang="en-US" sz="1800" b="true">
                          <a:solidFill>
                            <a:srgbClr val="243044"/>
                          </a:solidFill>
                          <a:latin typeface="Calibri (MS) Bold"/>
                          <a:ea typeface="Calibri (MS) Bold"/>
                          <a:cs typeface="Calibri (MS) Bold"/>
                          <a:sym typeface="Calibri (MS) Bold"/>
                        </a:rPr>
                        <a:t>50,26 / 71,16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E7F0F3"/>
                    </a:solidFill>
                  </a:tcPr>
                </a:tc>
              </a:tr>
            </a:tbl>
          </a:graphicData>
        </a:graphic>
      </p:graphicFrame>
      <p:grpSp>
        <p:nvGrpSpPr>
          <p:cNvPr name="Group 7" id="7"/>
          <p:cNvGrpSpPr/>
          <p:nvPr/>
        </p:nvGrpSpPr>
        <p:grpSpPr>
          <a:xfrm rot="0">
            <a:off x="822960" y="8641080"/>
            <a:ext cx="16641623" cy="850392"/>
            <a:chOff x="0" y="0"/>
            <a:chExt cx="22188830" cy="1133856"/>
          </a:xfrm>
        </p:grpSpPr>
        <p:sp>
          <p:nvSpPr>
            <p:cNvPr name="Freeform 8" id="8"/>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2">
                <a:alphaModFix amt="0"/>
              </a:blip>
              <a:stretch>
                <a:fillRect l="0" t="-331043" r="0" b="-331045"/>
              </a:stretch>
            </a:blipFill>
          </p:spPr>
          <p:txBody>
            <a:bodyPr/>
            <a:p/>
          </p:txBody>
        </p:sp>
      </p:grpSp>
      <p:grpSp>
        <p:nvGrpSpPr>
          <p:cNvPr name="Group 9" id="9"/>
          <p:cNvGrpSpPr/>
          <p:nvPr/>
        </p:nvGrpSpPr>
        <p:grpSpPr>
          <a:xfrm rot="0">
            <a:off x="780237" y="7962794"/>
            <a:ext cx="16641623" cy="878967"/>
            <a:chOff x="0" y="0"/>
            <a:chExt cx="22188830" cy="1171956"/>
          </a:xfrm>
        </p:grpSpPr>
        <p:sp>
          <p:nvSpPr>
            <p:cNvPr name="Freeform 10" id="10"/>
            <p:cNvSpPr/>
            <p:nvPr/>
          </p:nvSpPr>
          <p:spPr>
            <a:xfrm flipH="false" flipV="false" rot="0">
              <a:off x="0" y="0"/>
              <a:ext cx="22188830" cy="1171956"/>
            </a:xfrm>
            <a:custGeom>
              <a:avLst/>
              <a:gdLst/>
              <a:ahLst/>
              <a:cxnLst/>
              <a:rect r="r" b="b" t="t" l="l"/>
              <a:pathLst>
                <a:path h="1171956" w="22188830">
                  <a:moveTo>
                    <a:pt x="0" y="0"/>
                  </a:moveTo>
                  <a:lnTo>
                    <a:pt x="22188830" y="0"/>
                  </a:lnTo>
                  <a:lnTo>
                    <a:pt x="22188830" y="1171956"/>
                  </a:lnTo>
                  <a:lnTo>
                    <a:pt x="0" y="1171956"/>
                  </a:lnTo>
                  <a:close/>
                </a:path>
              </a:pathLst>
            </a:custGeom>
            <a:blipFill>
              <a:blip r:embed="rId3">
                <a:alphaModFix amt="0"/>
              </a:blip>
              <a:stretch>
                <a:fillRect l="0" t="-318913" r="0" b="-318913"/>
              </a:stretch>
            </a:blipFill>
          </p:spPr>
          <p:txBody>
            <a:bodyPr/>
            <a:p/>
          </p:txBody>
        </p:sp>
        <p:sp>
          <p:nvSpPr>
            <p:cNvPr name="TextBox 11" id="11"/>
            <p:cNvSpPr txBox="true"/>
            <p:nvPr/>
          </p:nvSpPr>
          <p:spPr>
            <a:xfrm>
              <a:off x="0" y="-38100"/>
              <a:ext cx="22188830" cy="1210056"/>
            </a:xfrm>
            <a:prstGeom prst="rect">
              <a:avLst/>
            </a:prstGeom>
          </p:spPr>
          <p:txBody>
            <a:bodyPr anchor="b" rtlCol="false" tIns="0" lIns="0" bIns="0" rIns="0"/>
            <a:lstStyle/>
            <a:p>
              <a:pPr algn="l">
                <a:lnSpc>
                  <a:spcPts val="1800"/>
                </a:lnSpc>
              </a:pPr>
              <a:r>
                <a:rPr lang="en-US" sz="1500" u="sng">
                  <a:solidFill>
                    <a:srgbClr val="6B7280"/>
                  </a:solidFill>
                  <a:latin typeface="Calibri (MS)"/>
                  <a:ea typeface="Calibri (MS)"/>
                  <a:cs typeface="Calibri (MS)"/>
                  <a:sym typeface="Calibri (MS)"/>
                  <a:hlinkClick r:id="rId4" tooltip="https://arxiv.org/pdf/2404.10652"/>
                </a:rPr>
                <a:t>[3] Nguyen và cs., ViTextVQA, arXiv:2404.10652, 2024 (bản mở rộng ESWA 2025) . Lưu ý: số 25,48 / 53,95 của paper nằm ở cột “OCR confidence” trong Table 10; bảng ablation báo 24,83 / 52,51 cho model đầy đủ.</a:t>
              </a:r>
            </a:p>
          </p:txBody>
        </p:sp>
      </p:grpSp>
      <p:sp>
        <p:nvSpPr>
          <p:cNvPr name="TextBox 12" id="12"/>
          <p:cNvSpPr txBox="true"/>
          <p:nvPr/>
        </p:nvSpPr>
        <p:spPr>
          <a:xfrm rot="0">
            <a:off x="780237" y="8803661"/>
            <a:ext cx="3521512" cy="266700"/>
          </a:xfrm>
          <a:prstGeom prst="rect">
            <a:avLst/>
          </a:prstGeom>
        </p:spPr>
        <p:txBody>
          <a:bodyPr anchor="t" rtlCol="false" tIns="0" lIns="0" bIns="0" rIns="0">
            <a:spAutoFit/>
          </a:bodyPr>
          <a:lstStyle/>
          <a:p>
            <a:pPr algn="ctr">
              <a:lnSpc>
                <a:spcPts val="1800"/>
              </a:lnSpc>
              <a:spcBef>
                <a:spcPct val="0"/>
              </a:spcBef>
            </a:pPr>
            <a:r>
              <a:rPr lang="en-US" sz="1500" u="sng">
                <a:solidFill>
                  <a:srgbClr val="6B7280"/>
                </a:solidFill>
                <a:latin typeface="Calibri (MS)"/>
                <a:ea typeface="Calibri (MS)"/>
                <a:cs typeface="Calibri (MS)"/>
                <a:sym typeface="Calibri (MS)"/>
                <a:hlinkClick r:id="rId5" tooltip="https://arxiv.org/pdf/2203.10209"/>
              </a:rPr>
              <a:t> [4] Huang và cs., SwinTextSpotter, CVPR 2022</a:t>
            </a:r>
          </a:p>
        </p:txBody>
      </p:sp>
      <p:sp>
        <p:nvSpPr>
          <p:cNvPr name="TextBox 13" id="13"/>
          <p:cNvSpPr txBox="true"/>
          <p:nvPr/>
        </p:nvSpPr>
        <p:spPr>
          <a:xfrm rot="0">
            <a:off x="780237" y="9105900"/>
            <a:ext cx="2987278" cy="266700"/>
          </a:xfrm>
          <a:prstGeom prst="rect">
            <a:avLst/>
          </a:prstGeom>
        </p:spPr>
        <p:txBody>
          <a:bodyPr anchor="t" rtlCol="false" tIns="0" lIns="0" bIns="0" rIns="0">
            <a:spAutoFit/>
          </a:bodyPr>
          <a:lstStyle/>
          <a:p>
            <a:pPr algn="ctr">
              <a:lnSpc>
                <a:spcPts val="1800"/>
              </a:lnSpc>
              <a:spcBef>
                <a:spcPct val="0"/>
              </a:spcBef>
            </a:pPr>
            <a:r>
              <a:rPr lang="en-US" sz="1500" u="sng">
                <a:solidFill>
                  <a:srgbClr val="6B7280"/>
                </a:solidFill>
                <a:latin typeface="Calibri (MS)"/>
                <a:ea typeface="Calibri (MS)"/>
                <a:cs typeface="Calibri (MS)"/>
                <a:sym typeface="Calibri (MS)"/>
                <a:hlinkClick r:id="rId6" tooltip="https://aclanthology.org/2022.naacl-srw.18.pdf"/>
              </a:rPr>
              <a:t>[5] Phan và cs., ViT5, NAACL SRW 2022</a:t>
            </a:r>
          </a:p>
        </p:txBody>
      </p:sp>
      <p:grpSp>
        <p:nvGrpSpPr>
          <p:cNvPr name="Group 14" id="14"/>
          <p:cNvGrpSpPr/>
          <p:nvPr/>
        </p:nvGrpSpPr>
        <p:grpSpPr>
          <a:xfrm rot="0">
            <a:off x="15458732" y="0"/>
            <a:ext cx="2829268" cy="1184338"/>
            <a:chOff x="0" y="0"/>
            <a:chExt cx="3772357" cy="1579118"/>
          </a:xfrm>
        </p:grpSpPr>
        <p:sp>
          <p:nvSpPr>
            <p:cNvPr name="Freeform 15" id="15"/>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7"/>
              <a:stretch>
                <a:fillRect l="0" t="0" r="1" b="0"/>
              </a:stretch>
            </a:blipFill>
          </p:spPr>
          <p:txBody>
            <a:bodyPr/>
            <a:p/>
          </p:txBody>
        </p:sp>
      </p:grpSp>
      <p:grpSp>
        <p:nvGrpSpPr>
          <p:cNvPr name="Group 16" id="16"/>
          <p:cNvGrpSpPr/>
          <p:nvPr/>
        </p:nvGrpSpPr>
        <p:grpSpPr>
          <a:xfrm rot="0">
            <a:off x="822960" y="9641205"/>
            <a:ext cx="13716000" cy="440055"/>
            <a:chOff x="0" y="0"/>
            <a:chExt cx="18288000" cy="586740"/>
          </a:xfrm>
        </p:grpSpPr>
        <p:sp>
          <p:nvSpPr>
            <p:cNvPr name="Freeform 17" id="17"/>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3">
                <a:alphaModFix amt="0"/>
              </a:blip>
              <a:stretch>
                <a:fillRect l="0" t="-557325" r="0" b="-557325"/>
              </a:stretch>
            </a:blipFill>
          </p:spPr>
          <p:txBody>
            <a:bodyPr/>
            <a:p/>
          </p:txBody>
        </p:sp>
        <p:sp>
          <p:nvSpPr>
            <p:cNvPr name="TextBox 18" id="18"/>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PHỤ LỤC · P4 · ĐỘ VỮNG</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Mức tăng giữ vững qua các seed và trên full test</a:t>
            </a:r>
          </a:p>
        </p:txBody>
      </p:sp>
      <p:grpSp>
        <p:nvGrpSpPr>
          <p:cNvPr name="Group 6" id="6"/>
          <p:cNvGrpSpPr/>
          <p:nvPr/>
        </p:nvGrpSpPr>
        <p:grpSpPr>
          <a:xfrm rot="0">
            <a:off x="54864" y="1289304"/>
            <a:ext cx="9217152" cy="7022592"/>
            <a:chOff x="0" y="0"/>
            <a:chExt cx="12289536" cy="9363456"/>
          </a:xfrm>
        </p:grpSpPr>
        <p:sp>
          <p:nvSpPr>
            <p:cNvPr name="Freeform 7" id="7"/>
            <p:cNvSpPr/>
            <p:nvPr/>
          </p:nvSpPr>
          <p:spPr>
            <a:xfrm flipH="false" flipV="false" rot="0">
              <a:off x="0" y="0"/>
              <a:ext cx="12289536" cy="9363456"/>
            </a:xfrm>
            <a:custGeom>
              <a:avLst/>
              <a:gdLst/>
              <a:ahLst/>
              <a:cxnLst/>
              <a:rect r="r" b="b" t="t" l="l"/>
              <a:pathLst>
                <a:path h="9363456" w="12289536">
                  <a:moveTo>
                    <a:pt x="0" y="0"/>
                  </a:moveTo>
                  <a:lnTo>
                    <a:pt x="12289536" y="0"/>
                  </a:lnTo>
                  <a:lnTo>
                    <a:pt x="12289536" y="9363456"/>
                  </a:lnTo>
                  <a:lnTo>
                    <a:pt x="0" y="9363456"/>
                  </a:lnTo>
                  <a:lnTo>
                    <a:pt x="0" y="0"/>
                  </a:lnTo>
                  <a:close/>
                </a:path>
              </a:pathLst>
            </a:custGeom>
            <a:blipFill>
              <a:blip r:embed="rId3"/>
              <a:stretch>
                <a:fillRect l="-35" t="0" r="-35" b="0"/>
              </a:stretch>
            </a:blipFill>
          </p:spPr>
          <p:txBody>
            <a:bodyPr/>
            <a:p/>
          </p:txBody>
        </p:sp>
      </p:grpSp>
      <p:sp>
        <p:nvSpPr>
          <p:cNvPr name="Freeform 8" id="8"/>
          <p:cNvSpPr/>
          <p:nvPr/>
        </p:nvSpPr>
        <p:spPr>
          <a:xfrm flipH="false" flipV="false" rot="0">
            <a:off x="806291" y="7801451"/>
            <a:ext cx="7714297" cy="1610678"/>
          </a:xfrm>
          <a:custGeom>
            <a:avLst/>
            <a:gdLst/>
            <a:ahLst/>
            <a:cxnLst/>
            <a:rect r="r" b="b" t="t" l="l"/>
            <a:pathLst>
              <a:path h="1610678" w="7714297">
                <a:moveTo>
                  <a:pt x="0" y="0"/>
                </a:moveTo>
                <a:lnTo>
                  <a:pt x="7714298" y="0"/>
                </a:lnTo>
                <a:lnTo>
                  <a:pt x="7714298" y="1610678"/>
                </a:lnTo>
                <a:lnTo>
                  <a:pt x="0" y="161067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grpSp>
        <p:nvGrpSpPr>
          <p:cNvPr name="Group 9" id="9"/>
          <p:cNvGrpSpPr/>
          <p:nvPr/>
        </p:nvGrpSpPr>
        <p:grpSpPr>
          <a:xfrm rot="0">
            <a:off x="1165860" y="7818120"/>
            <a:ext cx="6995160" cy="1577340"/>
            <a:chOff x="0" y="0"/>
            <a:chExt cx="9326880" cy="2103120"/>
          </a:xfrm>
        </p:grpSpPr>
        <p:sp>
          <p:nvSpPr>
            <p:cNvPr name="Freeform 10" id="10"/>
            <p:cNvSpPr/>
            <p:nvPr/>
          </p:nvSpPr>
          <p:spPr>
            <a:xfrm flipH="false" flipV="false" rot="0">
              <a:off x="0" y="0"/>
              <a:ext cx="9326880" cy="2103120"/>
            </a:xfrm>
            <a:custGeom>
              <a:avLst/>
              <a:gdLst/>
              <a:ahLst/>
              <a:cxnLst/>
              <a:rect r="r" b="b" t="t" l="l"/>
              <a:pathLst>
                <a:path h="2103120" w="9326880">
                  <a:moveTo>
                    <a:pt x="0" y="0"/>
                  </a:moveTo>
                  <a:lnTo>
                    <a:pt x="9326880" y="0"/>
                  </a:lnTo>
                  <a:lnTo>
                    <a:pt x="9326880" y="2103120"/>
                  </a:lnTo>
                  <a:lnTo>
                    <a:pt x="0" y="2103120"/>
                  </a:lnTo>
                  <a:close/>
                </a:path>
              </a:pathLst>
            </a:custGeom>
            <a:blipFill>
              <a:blip r:embed="rId2">
                <a:alphaModFix amt="0"/>
              </a:blip>
              <a:stretch>
                <a:fillRect l="0" t="-36352" r="0" b="-36351"/>
              </a:stretch>
            </a:blipFill>
          </p:spPr>
          <p:txBody>
            <a:bodyPr/>
            <a:p/>
          </p:txBody>
        </p:sp>
      </p:grpSp>
      <p:grpSp>
        <p:nvGrpSpPr>
          <p:cNvPr name="Group 11" id="11"/>
          <p:cNvGrpSpPr/>
          <p:nvPr/>
        </p:nvGrpSpPr>
        <p:grpSpPr>
          <a:xfrm rot="0">
            <a:off x="1165860" y="7782401"/>
            <a:ext cx="6995160" cy="1613059"/>
            <a:chOff x="0" y="0"/>
            <a:chExt cx="9326880" cy="2150745"/>
          </a:xfrm>
        </p:grpSpPr>
        <p:sp>
          <p:nvSpPr>
            <p:cNvPr name="Freeform 12" id="12"/>
            <p:cNvSpPr/>
            <p:nvPr/>
          </p:nvSpPr>
          <p:spPr>
            <a:xfrm flipH="false" flipV="false" rot="0">
              <a:off x="0" y="0"/>
              <a:ext cx="9326880" cy="2150745"/>
            </a:xfrm>
            <a:custGeom>
              <a:avLst/>
              <a:gdLst/>
              <a:ahLst/>
              <a:cxnLst/>
              <a:rect r="r" b="b" t="t" l="l"/>
              <a:pathLst>
                <a:path h="2150745" w="9326880">
                  <a:moveTo>
                    <a:pt x="0" y="0"/>
                  </a:moveTo>
                  <a:lnTo>
                    <a:pt x="9326880" y="0"/>
                  </a:lnTo>
                  <a:lnTo>
                    <a:pt x="9326880" y="2150745"/>
                  </a:lnTo>
                  <a:lnTo>
                    <a:pt x="0" y="2150745"/>
                  </a:lnTo>
                  <a:close/>
                </a:path>
              </a:pathLst>
            </a:custGeom>
            <a:blipFill>
              <a:blip r:embed="rId6">
                <a:alphaModFix amt="0"/>
              </a:blip>
              <a:stretch>
                <a:fillRect l="0" t="-34498" r="0" b="-34498"/>
              </a:stretch>
            </a:blipFill>
          </p:spPr>
          <p:txBody>
            <a:bodyPr/>
            <a:p/>
          </p:txBody>
        </p:sp>
        <p:sp>
          <p:nvSpPr>
            <p:cNvPr name="TextBox 13" id="13"/>
            <p:cNvSpPr txBox="true"/>
            <p:nvPr/>
          </p:nvSpPr>
          <p:spPr>
            <a:xfrm>
              <a:off x="0" y="-47625"/>
              <a:ext cx="9326880" cy="2198370"/>
            </a:xfrm>
            <a:prstGeom prst="rect">
              <a:avLst/>
            </a:prstGeom>
          </p:spPr>
          <p:txBody>
            <a:bodyPr anchor="ctr" rtlCol="false" tIns="0" lIns="0" bIns="0" rIns="0"/>
            <a:lstStyle/>
            <a:p>
              <a:pPr algn="l">
                <a:lnSpc>
                  <a:spcPts val="2520"/>
                </a:lnSpc>
              </a:pPr>
              <a:r>
                <a:rPr lang="en-US" sz="2100" b="true">
                  <a:solidFill>
                    <a:srgbClr val="13294B"/>
                  </a:solidFill>
                  <a:latin typeface="Calibri (MS) Bold"/>
                  <a:ea typeface="Calibri (MS) Bold"/>
                  <a:cs typeface="Calibri (MS) Bold"/>
                  <a:sym typeface="Calibri (MS) Bold"/>
                </a:rPr>
                <a:t>+3,57 ± 0,76 EM</a:t>
              </a:r>
              <a:r>
                <a:rPr lang="en-US" sz="2100">
                  <a:solidFill>
                    <a:srgbClr val="243044"/>
                  </a:solidFill>
                  <a:latin typeface="Calibri (MS)"/>
                  <a:ea typeface="Calibri (MS)"/>
                  <a:cs typeface="Calibri (MS)"/>
                  <a:sym typeface="Calibri (MS)"/>
                </a:rPr>
                <a:t> · cả 3 seed p ≤ 1,4 × 10⁻⁴ → ổn định (luật chốt trước)</a:t>
              </a:r>
            </a:p>
          </p:txBody>
        </p:sp>
      </p:grpSp>
      <p:graphicFrame>
        <p:nvGraphicFramePr>
          <p:cNvPr name="Table 14" id="14"/>
          <p:cNvGraphicFramePr>
            <a:graphicFrameLocks noGrp="true"/>
          </p:cNvGraphicFramePr>
          <p:nvPr/>
        </p:nvGraphicFramePr>
        <p:xfrm>
          <a:off x="9052560" y="2057400"/>
          <a:ext cx="8369300" cy="3429000"/>
        </p:xfrm>
        <a:graphic>
          <a:graphicData uri="http://schemas.openxmlformats.org/drawingml/2006/table">
            <a:tbl>
              <a:tblPr/>
              <a:tblGrid>
                <a:gridCol w="3450540"/>
                <a:gridCol w="1982200"/>
                <a:gridCol w="1515000"/>
                <a:gridCol w="1421560"/>
              </a:tblGrid>
              <a:tr h="6858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Full test (10.028 câu)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Dữ liệu train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EM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F1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ViTextBLIP-2 (paper)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toàn bộ</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25,48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53,95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B2-sub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46,56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67,83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85800">
                <a:tc>
                  <a:txBody>
                    <a:bodyPr anchor="t" rtlCol="false"/>
                    <a:lstStyle/>
                    <a:p>
                      <a:pPr algn="l">
                        <a:lnSpc>
                          <a:spcPts val="2520"/>
                        </a:lnSpc>
                        <a:defRPr/>
                      </a:pPr>
                      <a:r>
                        <a:rPr lang="en-US" sz="2100" b="true">
                          <a:solidFill>
                            <a:srgbClr val="13294B"/>
                          </a:solidFill>
                          <a:latin typeface="Calibri (MS) Bold"/>
                          <a:ea typeface="Calibri (MS) Bold"/>
                          <a:cs typeface="Calibri (MS) Bold"/>
                          <a:sym typeface="Calibri (MS) Bold"/>
                        </a:rPr>
                        <a:t>B3 (nhận biết OCR)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ctr">
                        <a:lnSpc>
                          <a:spcPts val="2520"/>
                        </a:lnSpc>
                        <a:defRPr/>
                      </a:pPr>
                      <a:r>
                        <a:rPr lang="en-US" sz="2100" b="true">
                          <a:solidFill>
                            <a:srgbClr val="13294B"/>
                          </a:solidFill>
                          <a:latin typeface="Calibri (MS) Bold"/>
                          <a:ea typeface="Calibri (MS) Bold"/>
                          <a:cs typeface="Calibri (MS) Bold"/>
                          <a:sym typeface="Calibri (MS) Bold"/>
                        </a:rPr>
                        <a:t>23%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ctr">
                        <a:lnSpc>
                          <a:spcPts val="2520"/>
                        </a:lnSpc>
                        <a:defRPr/>
                      </a:pPr>
                      <a:r>
                        <a:rPr lang="en-US" sz="2100" b="true">
                          <a:solidFill>
                            <a:srgbClr val="13294B"/>
                          </a:solidFill>
                          <a:latin typeface="Calibri (MS) Bold"/>
                          <a:ea typeface="Calibri (MS) Bold"/>
                          <a:cs typeface="Calibri (MS) Bold"/>
                          <a:sym typeface="Calibri (MS) Bold"/>
                        </a:rPr>
                        <a:t>49,10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c>
                  <a:txBody>
                    <a:bodyPr anchor="t" rtlCol="false"/>
                    <a:lstStyle/>
                    <a:p>
                      <a:pPr algn="ctr">
                        <a:lnSpc>
                          <a:spcPts val="2520"/>
                        </a:lnSpc>
                        <a:defRPr/>
                      </a:pPr>
                      <a:r>
                        <a:rPr lang="en-US" sz="2100" b="true">
                          <a:solidFill>
                            <a:srgbClr val="13294B"/>
                          </a:solidFill>
                          <a:latin typeface="Calibri (MS) Bold"/>
                          <a:ea typeface="Calibri (MS) Bold"/>
                          <a:cs typeface="Calibri (MS) Bold"/>
                          <a:sym typeface="Calibri (MS) Bold"/>
                        </a:rPr>
                        <a:t>70,03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FBF0DA"/>
                    </a:solidFill>
                  </a:tcPr>
                </a:tc>
              </a:tr>
              <a:tr h="685800">
                <a:tc>
                  <a:txBody>
                    <a:bodyPr anchor="t" rtlCol="false"/>
                    <a:lstStyle/>
                    <a:p>
                      <a:pPr algn="l">
                        <a:lnSpc>
                          <a:spcPts val="2520"/>
                        </a:lnSpc>
                        <a:defRPr/>
                      </a:pPr>
                      <a:r>
                        <a:rPr lang="en-US" sz="2100">
                          <a:solidFill>
                            <a:srgbClr val="243044"/>
                          </a:solidFill>
                          <a:latin typeface="Calibri (MS)"/>
                          <a:ea typeface="Calibri (MS)"/>
                          <a:cs typeface="Calibri (MS)"/>
                          <a:sym typeface="Calibri (MS)"/>
                        </a:rPr>
                        <a:t>B2 (QLoRA, không OCR)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100%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50,26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71,16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15" id="15"/>
          <p:cNvSpPr/>
          <p:nvPr/>
        </p:nvSpPr>
        <p:spPr>
          <a:xfrm flipH="false" flipV="false" rot="0">
            <a:off x="9035891" y="5812631"/>
            <a:ext cx="8445341" cy="3599497"/>
          </a:xfrm>
          <a:custGeom>
            <a:avLst/>
            <a:gdLst/>
            <a:ahLst/>
            <a:cxnLst/>
            <a:rect r="r" b="b" t="t" l="l"/>
            <a:pathLst>
              <a:path h="3599497" w="8445341">
                <a:moveTo>
                  <a:pt x="0" y="0"/>
                </a:moveTo>
                <a:lnTo>
                  <a:pt x="8445341" y="0"/>
                </a:lnTo>
                <a:lnTo>
                  <a:pt x="8445341" y="3599498"/>
                </a:lnTo>
                <a:lnTo>
                  <a:pt x="0" y="35994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sp>
        <p:nvSpPr>
          <p:cNvPr name="TextBox 16" id="16"/>
          <p:cNvSpPr txBox="true"/>
          <p:nvPr/>
        </p:nvSpPr>
        <p:spPr>
          <a:xfrm rot="0">
            <a:off x="9395460" y="5939790"/>
            <a:ext cx="7726223" cy="3318510"/>
          </a:xfrm>
          <a:prstGeom prst="rect">
            <a:avLst/>
          </a:prstGeom>
        </p:spPr>
        <p:txBody>
          <a:bodyPr anchor="t" rtlCol="false" tIns="0" lIns="0" bIns="0" rIns="0">
            <a:spAutoFit/>
          </a:bodyPr>
          <a:lstStyle/>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B3 so với B2-sub: +2,54 EM (672 so với 417 câu chỉ một model đúng, p = 10⁻¹⁴)</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Cao hơn ViTextBLIP-2 cả EM và F1 (cận dưới CI95 48,1 / 69,3)</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Đính chính: vẫn thấp hơn B2 dữ liệu đầy đủ 1,16 EM (p = 0,003); OCR bù ≈ 69% phần mất do cắt dữ liệu với 25% thời gian train</a:t>
            </a:r>
          </a:p>
        </p:txBody>
      </p:sp>
      <p:grpSp>
        <p:nvGrpSpPr>
          <p:cNvPr name="Group 17" id="17"/>
          <p:cNvGrpSpPr/>
          <p:nvPr/>
        </p:nvGrpSpPr>
        <p:grpSpPr>
          <a:xfrm rot="0">
            <a:off x="15458732" y="0"/>
            <a:ext cx="2829268" cy="1184338"/>
            <a:chOff x="0" y="0"/>
            <a:chExt cx="3772357" cy="1579118"/>
          </a:xfrm>
        </p:grpSpPr>
        <p:sp>
          <p:nvSpPr>
            <p:cNvPr name="Freeform 18" id="18"/>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9"/>
              <a:stretch>
                <a:fillRect l="0" t="0" r="1" b="0"/>
              </a:stretch>
            </a:blipFill>
          </p:spPr>
          <p:txBody>
            <a:bodyPr/>
            <a:p/>
          </p:txBody>
        </p:sp>
      </p:grpSp>
      <p:grpSp>
        <p:nvGrpSpPr>
          <p:cNvPr name="Group 19" id="19"/>
          <p:cNvGrpSpPr/>
          <p:nvPr/>
        </p:nvGrpSpPr>
        <p:grpSpPr>
          <a:xfrm rot="0">
            <a:off x="822960" y="9641205"/>
            <a:ext cx="13716000" cy="440055"/>
            <a:chOff x="0" y="0"/>
            <a:chExt cx="18288000" cy="586740"/>
          </a:xfrm>
        </p:grpSpPr>
        <p:sp>
          <p:nvSpPr>
            <p:cNvPr name="Freeform 20" id="20"/>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6">
                <a:alphaModFix amt="0"/>
              </a:blip>
              <a:stretch>
                <a:fillRect l="0" t="-557325" r="0" b="-557325"/>
              </a:stretch>
            </a:blipFill>
          </p:spPr>
          <p:txBody>
            <a:bodyPr/>
            <a:p/>
          </p:txBody>
        </p:sp>
        <p:sp>
          <p:nvSpPr>
            <p:cNvPr name="TextBox 21" id="21"/>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PHỤ LỤC · P5 · ABLATION CẤU HÌNH LoRA</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Cấu hình LoRA đã hợp lý — giữ r = 16 trên q, k, v, o</a:t>
            </a:r>
          </a:p>
        </p:txBody>
      </p:sp>
      <p:graphicFrame>
        <p:nvGraphicFramePr>
          <p:cNvPr name="Table 6" id="6"/>
          <p:cNvGraphicFramePr>
            <a:graphicFrameLocks noGrp="true"/>
          </p:cNvGraphicFramePr>
          <p:nvPr/>
        </p:nvGraphicFramePr>
        <p:xfrm>
          <a:off x="822960" y="2130552"/>
          <a:ext cx="16548100" cy="2794000"/>
        </p:xfrm>
        <a:graphic>
          <a:graphicData uri="http://schemas.openxmlformats.org/drawingml/2006/table">
            <a:tbl>
              <a:tblPr/>
              <a:tblGrid>
                <a:gridCol w="3737569"/>
                <a:gridCol w="3918969"/>
                <a:gridCol w="2377079"/>
                <a:gridCol w="1197988"/>
                <a:gridCol w="2739877"/>
                <a:gridCol w="2576618"/>
              </a:tblGrid>
              <a:tr h="6985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Run (công thức B3, test2000)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LoRA gắn vào</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Tham số train</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EM</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ΔEM so với B3 · p</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Train · adapter</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698500">
                <a:tc>
                  <a:txBody>
                    <a:bodyPr anchor="t" rtlCol="false"/>
                    <a:lstStyle/>
                    <a:p>
                      <a:pPr algn="l">
                        <a:lnSpc>
                          <a:spcPts val="2520"/>
                        </a:lnSpc>
                        <a:defRPr/>
                      </a:pPr>
                      <a:r>
                        <a:rPr lang="en-US" sz="2100" b="true">
                          <a:solidFill>
                            <a:srgbClr val="243044"/>
                          </a:solidFill>
                          <a:latin typeface="Calibri (MS) Bold"/>
                          <a:ea typeface="Calibri (MS) Bold"/>
                          <a:cs typeface="Calibri (MS) Bold"/>
                          <a:sym typeface="Calibri (MS) Bold"/>
                        </a:rPr>
                        <a:t>B3 (mốc)</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q, k, v, o · r 16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7,37 tr · 0,196%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49,25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3,0 h · 29,5 MB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98500">
                <a:tc>
                  <a:txBody>
                    <a:bodyPr anchor="t" rtlCol="false"/>
                    <a:lstStyle/>
                    <a:p>
                      <a:pPr algn="l">
                        <a:lnSpc>
                          <a:spcPts val="2520"/>
                        </a:lnSpc>
                        <a:defRPr/>
                      </a:pPr>
                      <a:r>
                        <a:rPr lang="en-US" sz="2100">
                          <a:solidFill>
                            <a:srgbClr val="243044"/>
                          </a:solidFill>
                          <a:latin typeface="Calibri (MS)"/>
                          <a:ea typeface="Calibri (MS)"/>
                          <a:cs typeface="Calibri (MS)"/>
                          <a:sym typeface="Calibri (MS)"/>
                        </a:rPr>
                        <a:t>A1 · module</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 MLP (gate, up, down) · r 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7,48 tr · 0,199%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48,70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−0,55 · p = 0,34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3,5 h · 30,0 MB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698500">
                <a:tc>
                  <a:txBody>
                    <a:bodyPr anchor="t" rtlCol="false"/>
                    <a:lstStyle/>
                    <a:p>
                      <a:pPr algn="l">
                        <a:lnSpc>
                          <a:spcPts val="2520"/>
                        </a:lnSpc>
                        <a:defRPr/>
                      </a:pPr>
                      <a:r>
                        <a:rPr lang="en-US" sz="2100">
                          <a:solidFill>
                            <a:srgbClr val="243044"/>
                          </a:solidFill>
                          <a:latin typeface="Calibri (MS)"/>
                          <a:ea typeface="Calibri (MS)"/>
                          <a:cs typeface="Calibri (MS)"/>
                          <a:sym typeface="Calibri (MS)"/>
                        </a:rPr>
                        <a:t>A2 · rank</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q, k, v, o · r 64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29,5 tr · 0,779%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50,30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+1,05 · p = 0,07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2,9 h · 118 MB</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7" id="7"/>
          <p:cNvSpPr/>
          <p:nvPr/>
        </p:nvSpPr>
        <p:spPr>
          <a:xfrm flipH="false" flipV="false" rot="0">
            <a:off x="806291" y="6018371"/>
            <a:ext cx="5214842" cy="2570797"/>
          </a:xfrm>
          <a:custGeom>
            <a:avLst/>
            <a:gdLst/>
            <a:ahLst/>
            <a:cxnLst/>
            <a:rect r="r" b="b" t="t" l="l"/>
            <a:pathLst>
              <a:path h="2570797" w="5214842">
                <a:moveTo>
                  <a:pt x="0" y="0"/>
                </a:moveTo>
                <a:lnTo>
                  <a:pt x="5214843" y="0"/>
                </a:lnTo>
                <a:lnTo>
                  <a:pt x="5214843" y="2570798"/>
                </a:lnTo>
                <a:lnTo>
                  <a:pt x="0" y="257079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8" id="8"/>
          <p:cNvSpPr txBox="true"/>
          <p:nvPr/>
        </p:nvSpPr>
        <p:spPr>
          <a:xfrm rot="0">
            <a:off x="1165860" y="6164580"/>
            <a:ext cx="4495648" cy="6934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A1: thêm MLP không giúp</a:t>
            </a:r>
          </a:p>
        </p:txBody>
      </p:sp>
      <p:sp>
        <p:nvSpPr>
          <p:cNvPr name="TextBox 9" id="9"/>
          <p:cNvSpPr txBox="true"/>
          <p:nvPr/>
        </p:nvSpPr>
        <p:spPr>
          <a:xfrm rot="0">
            <a:off x="1165860" y="6831330"/>
            <a:ext cx="4495648" cy="153543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Cùng ngân sách tham số: CI95 [−1,60; +0,45]; chậm hơn 17,5% mỗi step</a:t>
            </a:r>
          </a:p>
        </p:txBody>
      </p:sp>
      <p:sp>
        <p:nvSpPr>
          <p:cNvPr name="Freeform 10" id="10"/>
          <p:cNvSpPr/>
          <p:nvPr/>
        </p:nvSpPr>
        <p:spPr>
          <a:xfrm flipH="false" flipV="false" rot="0">
            <a:off x="6536379" y="6018371"/>
            <a:ext cx="5214842" cy="2570797"/>
          </a:xfrm>
          <a:custGeom>
            <a:avLst/>
            <a:gdLst/>
            <a:ahLst/>
            <a:cxnLst/>
            <a:rect r="r" b="b" t="t" l="l"/>
            <a:pathLst>
              <a:path h="2570797" w="5214842">
                <a:moveTo>
                  <a:pt x="0" y="0"/>
                </a:moveTo>
                <a:lnTo>
                  <a:pt x="5214842" y="0"/>
                </a:lnTo>
                <a:lnTo>
                  <a:pt x="5214842" y="2570798"/>
                </a:lnTo>
                <a:lnTo>
                  <a:pt x="0" y="257079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1" id="11"/>
          <p:cNvSpPr txBox="true"/>
          <p:nvPr/>
        </p:nvSpPr>
        <p:spPr>
          <a:xfrm rot="0">
            <a:off x="6895948" y="6164580"/>
            <a:ext cx="4495648" cy="6934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A2: rank 64 không khác rõ</a:t>
            </a:r>
          </a:p>
        </p:txBody>
      </p:sp>
      <p:sp>
        <p:nvSpPr>
          <p:cNvPr name="TextBox 12" id="12"/>
          <p:cNvSpPr txBox="true"/>
          <p:nvPr/>
        </p:nvSpPr>
        <p:spPr>
          <a:xfrm rot="0">
            <a:off x="6895948" y="6831330"/>
            <a:ext cx="4495648" cy="153543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CI95 [−0,05; +2,15], p = 0,07 — dưới ngưỡng; adapter lớn gấp 4</a:t>
            </a:r>
          </a:p>
        </p:txBody>
      </p:sp>
      <p:sp>
        <p:nvSpPr>
          <p:cNvPr name="Freeform 13" id="13"/>
          <p:cNvSpPr/>
          <p:nvPr/>
        </p:nvSpPr>
        <p:spPr>
          <a:xfrm flipH="false" flipV="false" rot="0">
            <a:off x="12266466" y="6018371"/>
            <a:ext cx="5214842" cy="2570797"/>
          </a:xfrm>
          <a:custGeom>
            <a:avLst/>
            <a:gdLst/>
            <a:ahLst/>
            <a:cxnLst/>
            <a:rect r="r" b="b" t="t" l="l"/>
            <a:pathLst>
              <a:path h="2570797" w="5214842">
                <a:moveTo>
                  <a:pt x="0" y="0"/>
                </a:moveTo>
                <a:lnTo>
                  <a:pt x="5214843" y="0"/>
                </a:lnTo>
                <a:lnTo>
                  <a:pt x="5214843" y="2570798"/>
                </a:lnTo>
                <a:lnTo>
                  <a:pt x="0" y="257079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TextBox 14" id="14"/>
          <p:cNvSpPr txBox="true"/>
          <p:nvPr/>
        </p:nvSpPr>
        <p:spPr>
          <a:xfrm rot="0">
            <a:off x="12626035" y="6164580"/>
            <a:ext cx="4495648" cy="69342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Quyết định</a:t>
            </a:r>
          </a:p>
        </p:txBody>
      </p:sp>
      <p:sp>
        <p:nvSpPr>
          <p:cNvPr name="TextBox 15" id="15"/>
          <p:cNvSpPr txBox="true"/>
          <p:nvPr/>
        </p:nvSpPr>
        <p:spPr>
          <a:xfrm rot="0">
            <a:off x="12626035" y="6831330"/>
            <a:ext cx="4495648" cy="153543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Giữ r = 16 trên q, k, v, o cho mọi run; không chọn cấu hình bằng test</a:t>
            </a:r>
          </a:p>
        </p:txBody>
      </p:sp>
      <p:grpSp>
        <p:nvGrpSpPr>
          <p:cNvPr name="Group 16" id="16"/>
          <p:cNvGrpSpPr/>
          <p:nvPr/>
        </p:nvGrpSpPr>
        <p:grpSpPr>
          <a:xfrm rot="0">
            <a:off x="822960" y="8709660"/>
            <a:ext cx="16641623" cy="850392"/>
            <a:chOff x="0" y="0"/>
            <a:chExt cx="22188830" cy="1133856"/>
          </a:xfrm>
        </p:grpSpPr>
        <p:sp>
          <p:nvSpPr>
            <p:cNvPr name="Freeform 17" id="17"/>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2">
                <a:alphaModFix amt="0"/>
              </a:blip>
              <a:stretch>
                <a:fillRect l="0" t="-331043" r="0" b="-331045"/>
              </a:stretch>
            </a:blipFill>
          </p:spPr>
          <p:txBody>
            <a:bodyPr/>
            <a:p/>
          </p:txBody>
        </p:sp>
      </p:grpSp>
      <p:grpSp>
        <p:nvGrpSpPr>
          <p:cNvPr name="Group 18" id="18"/>
          <p:cNvGrpSpPr/>
          <p:nvPr/>
        </p:nvGrpSpPr>
        <p:grpSpPr>
          <a:xfrm rot="0">
            <a:off x="822960" y="8681085"/>
            <a:ext cx="16641623" cy="878967"/>
            <a:chOff x="0" y="0"/>
            <a:chExt cx="22188830" cy="1171956"/>
          </a:xfrm>
        </p:grpSpPr>
        <p:sp>
          <p:nvSpPr>
            <p:cNvPr name="Freeform 19" id="19"/>
            <p:cNvSpPr/>
            <p:nvPr/>
          </p:nvSpPr>
          <p:spPr>
            <a:xfrm flipH="false" flipV="false" rot="0">
              <a:off x="0" y="0"/>
              <a:ext cx="22188830" cy="1171956"/>
            </a:xfrm>
            <a:custGeom>
              <a:avLst/>
              <a:gdLst/>
              <a:ahLst/>
              <a:cxnLst/>
              <a:rect r="r" b="b" t="t" l="l"/>
              <a:pathLst>
                <a:path h="1171956" w="22188830">
                  <a:moveTo>
                    <a:pt x="0" y="0"/>
                  </a:moveTo>
                  <a:lnTo>
                    <a:pt x="22188830" y="0"/>
                  </a:lnTo>
                  <a:lnTo>
                    <a:pt x="22188830" y="1171956"/>
                  </a:lnTo>
                  <a:lnTo>
                    <a:pt x="0" y="1171956"/>
                  </a:lnTo>
                  <a:close/>
                </a:path>
              </a:pathLst>
            </a:custGeom>
            <a:blipFill>
              <a:blip r:embed="rId7">
                <a:alphaModFix amt="0"/>
              </a:blip>
              <a:stretch>
                <a:fillRect l="0" t="-318913" r="0" b="-318913"/>
              </a:stretch>
            </a:blipFill>
          </p:spPr>
          <p:txBody>
            <a:bodyPr/>
            <a:p/>
          </p:txBody>
        </p:sp>
        <p:sp>
          <p:nvSpPr>
            <p:cNvPr name="TextBox 20" id="20"/>
            <p:cNvSpPr txBox="true"/>
            <p:nvPr/>
          </p:nvSpPr>
          <p:spPr>
            <a:xfrm>
              <a:off x="0" y="-38100"/>
              <a:ext cx="22188830" cy="1210056"/>
            </a:xfrm>
            <a:prstGeom prst="rect">
              <a:avLst/>
            </a:prstGeom>
          </p:spPr>
          <p:txBody>
            <a:bodyPr anchor="b" rtlCol="false" tIns="0" lIns="0" bIns="0" rIns="0"/>
            <a:lstStyle/>
            <a:p>
              <a:pPr algn="l">
                <a:lnSpc>
                  <a:spcPts val="1800"/>
                </a:lnSpc>
              </a:pPr>
              <a:r>
                <a:rPr lang="en-US" sz="1500">
                  <a:solidFill>
                    <a:srgbClr val="6B7280"/>
                  </a:solidFill>
                  <a:latin typeface="Calibri (MS)"/>
                  <a:ea typeface="Calibri (MS)"/>
                  <a:cs typeface="Calibri (MS)"/>
                  <a:sym typeface="Calibri (MS)"/>
                </a:rPr>
                <a:t>Luật chốt trước: chỉ kết luận khác biệt khi McNemar p &lt; 0,05. Một seed (42); độ lệch chuẩn EM của B3 qua 3 seed là 0,23 điểm. α = 2r ở mọi run; LoRA chỉ gắn vào LLM (0 lớp vision). Run: experiments/W10_A2_…, W10_A3_… (tên thư mục cũ).</a:t>
              </a:r>
            </a:p>
          </p:txBody>
        </p:sp>
      </p:grpSp>
      <p:grpSp>
        <p:nvGrpSpPr>
          <p:cNvPr name="Group 21" id="21"/>
          <p:cNvGrpSpPr/>
          <p:nvPr/>
        </p:nvGrpSpPr>
        <p:grpSpPr>
          <a:xfrm rot="0">
            <a:off x="15458732" y="0"/>
            <a:ext cx="2829268" cy="1184338"/>
            <a:chOff x="0" y="0"/>
            <a:chExt cx="3772357" cy="1579118"/>
          </a:xfrm>
        </p:grpSpPr>
        <p:sp>
          <p:nvSpPr>
            <p:cNvPr name="Freeform 22" id="22"/>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8"/>
              <a:stretch>
                <a:fillRect l="0" t="0" r="1" b="0"/>
              </a:stretch>
            </a:blipFill>
          </p:spPr>
          <p:txBody>
            <a:bodyPr/>
            <a:p/>
          </p:txBody>
        </p:sp>
      </p:grpSp>
      <p:grpSp>
        <p:nvGrpSpPr>
          <p:cNvPr name="Group 23" id="23"/>
          <p:cNvGrpSpPr/>
          <p:nvPr/>
        </p:nvGrpSpPr>
        <p:grpSpPr>
          <a:xfrm rot="0">
            <a:off x="822960" y="9641205"/>
            <a:ext cx="13716000" cy="440055"/>
            <a:chOff x="0" y="0"/>
            <a:chExt cx="18288000" cy="586740"/>
          </a:xfrm>
        </p:grpSpPr>
        <p:sp>
          <p:nvSpPr>
            <p:cNvPr name="Freeform 24" id="24"/>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7">
                <a:alphaModFix amt="0"/>
              </a:blip>
              <a:stretch>
                <a:fillRect l="0" t="-557325" r="0" b="-557325"/>
              </a:stretch>
            </a:blipFill>
          </p:spPr>
          <p:txBody>
            <a:bodyPr/>
            <a:p/>
          </p:txBody>
        </p:sp>
        <p:sp>
          <p:nvSpPr>
            <p:cNvPr name="TextBox 25" id="25"/>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PHỤ LỤC · P6 · ViVQA: SỐ EPOCH</a:t>
            </a:r>
          </a:p>
        </p:txBody>
      </p:sp>
      <p:grpSp>
        <p:nvGrpSpPr>
          <p:cNvPr name="Group 5" id="5"/>
          <p:cNvGrpSpPr/>
          <p:nvPr/>
        </p:nvGrpSpPr>
        <p:grpSpPr>
          <a:xfrm rot="0">
            <a:off x="15458732" y="0"/>
            <a:ext cx="2829268" cy="1184338"/>
            <a:chOff x="0" y="0"/>
            <a:chExt cx="3772357" cy="1579118"/>
          </a:xfrm>
        </p:grpSpPr>
        <p:sp>
          <p:nvSpPr>
            <p:cNvPr name="Freeform 6" id="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1" b="0"/>
              </a:stretch>
            </a:blipFill>
          </p:spPr>
          <p:txBody>
            <a:bodyPr/>
            <a:p/>
          </p:txBody>
        </p:sp>
      </p:grpSp>
      <p:sp>
        <p:nvSpPr>
          <p:cNvPr name="TextBox 7" id="7"/>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ViVQA: epoch thứ hai có ích — chọn mà không chạm test</a:t>
            </a:r>
          </a:p>
        </p:txBody>
      </p:sp>
      <p:grpSp>
        <p:nvGrpSpPr>
          <p:cNvPr name="Group 8" id="8"/>
          <p:cNvGrpSpPr/>
          <p:nvPr/>
        </p:nvGrpSpPr>
        <p:grpSpPr>
          <a:xfrm rot="0">
            <a:off x="-137160" y="1097280"/>
            <a:ext cx="11521440" cy="6858000"/>
            <a:chOff x="0" y="0"/>
            <a:chExt cx="15361920" cy="9144000"/>
          </a:xfrm>
        </p:grpSpPr>
        <p:sp>
          <p:nvSpPr>
            <p:cNvPr name="Freeform 9" id="9"/>
            <p:cNvSpPr/>
            <p:nvPr/>
          </p:nvSpPr>
          <p:spPr>
            <a:xfrm flipH="false" flipV="false" rot="0">
              <a:off x="0" y="0"/>
              <a:ext cx="15361920" cy="9144000"/>
            </a:xfrm>
            <a:custGeom>
              <a:avLst/>
              <a:gdLst/>
              <a:ahLst/>
              <a:cxnLst/>
              <a:rect r="r" b="b" t="t" l="l"/>
              <a:pathLst>
                <a:path h="9144000" w="15361920">
                  <a:moveTo>
                    <a:pt x="0" y="0"/>
                  </a:moveTo>
                  <a:lnTo>
                    <a:pt x="15361920" y="0"/>
                  </a:lnTo>
                  <a:lnTo>
                    <a:pt x="15361920" y="9144000"/>
                  </a:lnTo>
                  <a:lnTo>
                    <a:pt x="0" y="9144000"/>
                  </a:lnTo>
                  <a:lnTo>
                    <a:pt x="0" y="0"/>
                  </a:lnTo>
                  <a:close/>
                </a:path>
              </a:pathLst>
            </a:custGeom>
            <a:blipFill>
              <a:blip r:embed="rId4"/>
              <a:stretch>
                <a:fillRect l="-16" t="0" r="-16" b="0"/>
              </a:stretch>
            </a:blipFill>
          </p:spPr>
          <p:txBody>
            <a:bodyPr/>
            <a:p/>
          </p:txBody>
        </p:sp>
      </p:grpSp>
      <p:sp>
        <p:nvSpPr>
          <p:cNvPr name="Freeform 10" id="10"/>
          <p:cNvSpPr/>
          <p:nvPr/>
        </p:nvSpPr>
        <p:spPr>
          <a:xfrm flipH="false" flipV="false" rot="0">
            <a:off x="806291" y="7252811"/>
            <a:ext cx="9634538" cy="2159317"/>
          </a:xfrm>
          <a:custGeom>
            <a:avLst/>
            <a:gdLst/>
            <a:ahLst/>
            <a:cxnLst/>
            <a:rect r="r" b="b" t="t" l="l"/>
            <a:pathLst>
              <a:path h="2159317" w="9634538">
                <a:moveTo>
                  <a:pt x="0" y="0"/>
                </a:moveTo>
                <a:lnTo>
                  <a:pt x="9634538" y="0"/>
                </a:lnTo>
                <a:lnTo>
                  <a:pt x="9634538" y="2159318"/>
                </a:lnTo>
                <a:lnTo>
                  <a:pt x="0" y="215931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grpSp>
        <p:nvGrpSpPr>
          <p:cNvPr name="Group 11" id="11"/>
          <p:cNvGrpSpPr/>
          <p:nvPr/>
        </p:nvGrpSpPr>
        <p:grpSpPr>
          <a:xfrm rot="0">
            <a:off x="1165860" y="7269480"/>
            <a:ext cx="8915400" cy="2125980"/>
            <a:chOff x="0" y="0"/>
            <a:chExt cx="11887200" cy="2834640"/>
          </a:xfrm>
        </p:grpSpPr>
        <p:sp>
          <p:nvSpPr>
            <p:cNvPr name="Freeform 12" id="12"/>
            <p:cNvSpPr/>
            <p:nvPr/>
          </p:nvSpPr>
          <p:spPr>
            <a:xfrm flipH="false" flipV="false" rot="0">
              <a:off x="0" y="0"/>
              <a:ext cx="11887200" cy="2834640"/>
            </a:xfrm>
            <a:custGeom>
              <a:avLst/>
              <a:gdLst/>
              <a:ahLst/>
              <a:cxnLst/>
              <a:rect r="r" b="b" t="t" l="l"/>
              <a:pathLst>
                <a:path h="2834640" w="11887200">
                  <a:moveTo>
                    <a:pt x="0" y="0"/>
                  </a:moveTo>
                  <a:lnTo>
                    <a:pt x="11887200" y="0"/>
                  </a:lnTo>
                  <a:lnTo>
                    <a:pt x="11887200" y="2834640"/>
                  </a:lnTo>
                  <a:lnTo>
                    <a:pt x="0" y="2834640"/>
                  </a:lnTo>
                  <a:close/>
                </a:path>
              </a:pathLst>
            </a:custGeom>
            <a:blipFill>
              <a:blip r:embed="rId2">
                <a:alphaModFix amt="0"/>
              </a:blip>
              <a:stretch>
                <a:fillRect l="0" t="-31654" r="0" b="-31654"/>
              </a:stretch>
            </a:blipFill>
          </p:spPr>
          <p:txBody>
            <a:bodyPr/>
            <a:p/>
          </p:txBody>
        </p:sp>
      </p:grpSp>
      <p:grpSp>
        <p:nvGrpSpPr>
          <p:cNvPr name="Group 13" id="13"/>
          <p:cNvGrpSpPr/>
          <p:nvPr/>
        </p:nvGrpSpPr>
        <p:grpSpPr>
          <a:xfrm rot="0">
            <a:off x="1165860" y="7233761"/>
            <a:ext cx="8915400" cy="2161699"/>
            <a:chOff x="0" y="0"/>
            <a:chExt cx="11887200" cy="2882265"/>
          </a:xfrm>
        </p:grpSpPr>
        <p:sp>
          <p:nvSpPr>
            <p:cNvPr name="Freeform 14" id="14"/>
            <p:cNvSpPr/>
            <p:nvPr/>
          </p:nvSpPr>
          <p:spPr>
            <a:xfrm flipH="false" flipV="false" rot="0">
              <a:off x="0" y="0"/>
              <a:ext cx="11887200" cy="2882265"/>
            </a:xfrm>
            <a:custGeom>
              <a:avLst/>
              <a:gdLst/>
              <a:ahLst/>
              <a:cxnLst/>
              <a:rect r="r" b="b" t="t" l="l"/>
              <a:pathLst>
                <a:path h="2882265" w="11887200">
                  <a:moveTo>
                    <a:pt x="0" y="0"/>
                  </a:moveTo>
                  <a:lnTo>
                    <a:pt x="11887200" y="0"/>
                  </a:lnTo>
                  <a:lnTo>
                    <a:pt x="11887200" y="2882265"/>
                  </a:lnTo>
                  <a:lnTo>
                    <a:pt x="0" y="2882265"/>
                  </a:lnTo>
                  <a:close/>
                </a:path>
              </a:pathLst>
            </a:custGeom>
            <a:blipFill>
              <a:blip r:embed="rId7">
                <a:alphaModFix amt="0"/>
              </a:blip>
              <a:stretch>
                <a:fillRect l="0" t="-30361" r="0" b="-30361"/>
              </a:stretch>
            </a:blipFill>
          </p:spPr>
          <p:txBody>
            <a:bodyPr/>
            <a:p/>
          </p:txBody>
        </p:sp>
        <p:sp>
          <p:nvSpPr>
            <p:cNvPr name="TextBox 15" id="15"/>
            <p:cNvSpPr txBox="true"/>
            <p:nvPr/>
          </p:nvSpPr>
          <p:spPr>
            <a:xfrm>
              <a:off x="0" y="-47625"/>
              <a:ext cx="11887200" cy="2929890"/>
            </a:xfrm>
            <a:prstGeom prst="rect">
              <a:avLst/>
            </a:prstGeom>
          </p:spPr>
          <p:txBody>
            <a:bodyPr anchor="ctr" rtlCol="false" tIns="0" lIns="0" bIns="0" rIns="0"/>
            <a:lstStyle/>
            <a:p>
              <a:pPr algn="l">
                <a:lnSpc>
                  <a:spcPts val="2520"/>
                </a:lnSpc>
              </a:pPr>
              <a:r>
                <a:rPr lang="en-US" sz="2100">
                  <a:solidFill>
                    <a:srgbClr val="13294B"/>
                  </a:solidFill>
                  <a:latin typeface="Calibri (MS)"/>
                  <a:ea typeface="Calibri (MS)"/>
                  <a:cs typeface="Calibri (MS)"/>
                  <a:sym typeface="Calibri (MS)"/>
                </a:rPr>
                <a:t>Luật chốt trước: EM cao nhất trên val sạch; giữ C1 trừ khi hơn có ý nghĩa → C3 (+3,9 EM, p = 1,4 × 10⁻⁴)</a:t>
              </a:r>
            </a:p>
          </p:txBody>
        </p:sp>
      </p:grpSp>
      <p:sp>
        <p:nvSpPr>
          <p:cNvPr name="Freeform 16" id="16"/>
          <p:cNvSpPr/>
          <p:nvPr/>
        </p:nvSpPr>
        <p:spPr>
          <a:xfrm flipH="false" flipV="false" rot="0">
            <a:off x="10956131" y="2040731"/>
            <a:ext cx="6525101" cy="3599497"/>
          </a:xfrm>
          <a:custGeom>
            <a:avLst/>
            <a:gdLst/>
            <a:ahLst/>
            <a:cxnLst/>
            <a:rect r="r" b="b" t="t" l="l"/>
            <a:pathLst>
              <a:path h="3599497" w="6525101">
                <a:moveTo>
                  <a:pt x="0" y="0"/>
                </a:moveTo>
                <a:lnTo>
                  <a:pt x="6525101" y="0"/>
                </a:lnTo>
                <a:lnTo>
                  <a:pt x="6525101" y="3599498"/>
                </a:lnTo>
                <a:lnTo>
                  <a:pt x="0" y="359949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txBody>
          <a:bodyPr/>
          <a:p/>
        </p:txBody>
      </p:sp>
      <p:sp>
        <p:nvSpPr>
          <p:cNvPr name="TextBox 17" id="17"/>
          <p:cNvSpPr txBox="true"/>
          <p:nvPr/>
        </p:nvSpPr>
        <p:spPr>
          <a:xfrm rot="0">
            <a:off x="11384280" y="2244090"/>
            <a:ext cx="5668823" cy="1253490"/>
          </a:xfrm>
          <a:prstGeom prst="rect">
            <a:avLst/>
          </a:prstGeom>
        </p:spPr>
        <p:txBody>
          <a:bodyPr anchor="t" rtlCol="false" tIns="0" lIns="0" bIns="0" rIns="0">
            <a:spAutoFit/>
          </a:bodyPr>
          <a:lstStyle/>
          <a:p>
            <a:pPr algn="l">
              <a:lnSpc>
                <a:spcPts val="7200"/>
              </a:lnSpc>
            </a:pPr>
            <a:r>
              <a:rPr lang="en-US" sz="6000" b="true">
                <a:solidFill>
                  <a:srgbClr val="13294B"/>
                </a:solidFill>
                <a:latin typeface="Cambria Bold"/>
                <a:ea typeface="Cambria Bold"/>
                <a:cs typeface="Cambria Bold"/>
                <a:sym typeface="Cambria Bold"/>
              </a:rPr>
              <a:t>73,8 → 76,6</a:t>
            </a:r>
          </a:p>
        </p:txBody>
      </p:sp>
      <p:sp>
        <p:nvSpPr>
          <p:cNvPr name="TextBox 18" id="18"/>
          <p:cNvSpPr txBox="true"/>
          <p:nvPr/>
        </p:nvSpPr>
        <p:spPr>
          <a:xfrm rot="0">
            <a:off x="11384280" y="3470910"/>
            <a:ext cx="5668823" cy="132969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EM test ViVQA (3.001 câu), chạm một lần: +2,9, p = 4,6 × 10⁻⁹</a:t>
            </a:r>
          </a:p>
        </p:txBody>
      </p:sp>
      <p:sp>
        <p:nvSpPr>
          <p:cNvPr name="TextBox 19" id="19"/>
          <p:cNvSpPr txBox="true"/>
          <p:nvPr/>
        </p:nvSpPr>
        <p:spPr>
          <a:xfrm rot="0">
            <a:off x="11384280" y="4293870"/>
            <a:ext cx="5668823" cy="1261110"/>
          </a:xfrm>
          <a:prstGeom prst="rect">
            <a:avLst/>
          </a:prstGeom>
        </p:spPr>
        <p:txBody>
          <a:bodyPr anchor="t" rtlCol="false" tIns="0" lIns="0" bIns="0" rIns="0">
            <a:spAutoFit/>
          </a:bodyPr>
          <a:lstStyle/>
          <a:p>
            <a:pPr algn="l">
              <a:lnSpc>
                <a:spcPts val="2340"/>
              </a:lnSpc>
            </a:pPr>
            <a:r>
              <a:rPr lang="en-US" sz="1950" i="true">
                <a:solidFill>
                  <a:srgbClr val="243044"/>
                </a:solidFill>
                <a:latin typeface="Calibri (MS) Italics"/>
                <a:ea typeface="Calibri (MS) Italics"/>
                <a:cs typeface="Calibri (MS) Italics"/>
                <a:sym typeface="Calibri (MS) Italics"/>
              </a:rPr>
              <a:t>Không phải nhớ ảnh (kiểm sau): trên phần test sạch — ảnh và cặp hỏi–đáp chưa thấy, n = 1.219 — +3,2 EM (69,1 → 72,3, p = 1,5 × 10⁻⁴)</a:t>
            </a:r>
          </a:p>
        </p:txBody>
      </p:sp>
      <p:sp>
        <p:nvSpPr>
          <p:cNvPr name="Freeform 20" id="20"/>
          <p:cNvSpPr/>
          <p:nvPr/>
        </p:nvSpPr>
        <p:spPr>
          <a:xfrm flipH="false" flipV="false" rot="0">
            <a:off x="10956131" y="5881211"/>
            <a:ext cx="6525101" cy="3530917"/>
          </a:xfrm>
          <a:custGeom>
            <a:avLst/>
            <a:gdLst/>
            <a:ahLst/>
            <a:cxnLst/>
            <a:rect r="r" b="b" t="t" l="l"/>
            <a:pathLst>
              <a:path h="3530917" w="6525101">
                <a:moveTo>
                  <a:pt x="0" y="0"/>
                </a:moveTo>
                <a:lnTo>
                  <a:pt x="6525101" y="0"/>
                </a:lnTo>
                <a:lnTo>
                  <a:pt x="6525101" y="3530918"/>
                </a:lnTo>
                <a:lnTo>
                  <a:pt x="0" y="353091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txBody>
          <a:bodyPr/>
          <a:p/>
        </p:txBody>
      </p:sp>
      <p:sp>
        <p:nvSpPr>
          <p:cNvPr name="TextBox 21" id="21"/>
          <p:cNvSpPr txBox="true"/>
          <p:nvPr/>
        </p:nvSpPr>
        <p:spPr>
          <a:xfrm rot="0">
            <a:off x="11384280" y="5986272"/>
            <a:ext cx="5668823" cy="624840"/>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Vì sao dùng val sạch</a:t>
            </a:r>
          </a:p>
        </p:txBody>
      </p:sp>
      <p:sp>
        <p:nvSpPr>
          <p:cNvPr name="TextBox 22" id="22"/>
          <p:cNvSpPr txBox="true"/>
          <p:nvPr/>
        </p:nvSpPr>
        <p:spPr>
          <a:xfrm rot="0">
            <a:off x="11384280" y="6557010"/>
            <a:ext cx="5668823" cy="2769870"/>
          </a:xfrm>
          <a:prstGeom prst="rect">
            <a:avLst/>
          </a:prstGeom>
        </p:spPr>
        <p:txBody>
          <a:bodyPr anchor="t" rtlCol="false" tIns="0" lIns="0" bIns="0" rIns="0">
            <a:spAutoFit/>
          </a:bodyPr>
          <a:lstStyle/>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512 / 1.200 câu val dùng chung ảnh với train</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Train lâu hơn nhớ ảnh → val thường thiên vị</a:t>
            </a:r>
          </a:p>
          <a:p>
            <a:pPr algn="l" marL="443866" indent="-147955" lvl="2">
              <a:lnSpc>
                <a:spcPts val="2520"/>
              </a:lnSpc>
              <a:buFont typeface="Arial"/>
              <a:buChar char="⚬"/>
            </a:pPr>
            <a:r>
              <a:rPr lang="en-US" sz="2100">
                <a:solidFill>
                  <a:srgbClr val="243044"/>
                </a:solidFill>
                <a:latin typeface="Calibri (MS)"/>
                <a:ea typeface="Calibri (MS)"/>
                <a:cs typeface="Calibri (MS)"/>
                <a:sym typeface="Calibri (MS)"/>
              </a:rPr>
              <a:t>Chi phí: 6,1 giờ thay vì 3,0 giờ trên một L4</a:t>
            </a:r>
          </a:p>
        </p:txBody>
      </p:sp>
      <p:grpSp>
        <p:nvGrpSpPr>
          <p:cNvPr name="Group 23" id="23"/>
          <p:cNvGrpSpPr/>
          <p:nvPr/>
        </p:nvGrpSpPr>
        <p:grpSpPr>
          <a:xfrm rot="0">
            <a:off x="822960" y="9641205"/>
            <a:ext cx="13716000" cy="440055"/>
            <a:chOff x="0" y="0"/>
            <a:chExt cx="18288000" cy="586740"/>
          </a:xfrm>
        </p:grpSpPr>
        <p:sp>
          <p:nvSpPr>
            <p:cNvPr name="Freeform 24" id="24"/>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7">
                <a:alphaModFix amt="0"/>
              </a:blip>
              <a:stretch>
                <a:fillRect l="0" t="-557325" r="0" b="-557325"/>
              </a:stretch>
            </a:blipFill>
          </p:spPr>
          <p:txBody>
            <a:bodyPr/>
            <a:p/>
          </p:txBody>
        </p:sp>
        <p:sp>
          <p:nvSpPr>
            <p:cNvPr name="TextBox 25" id="25"/>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PHỤ LỤC · P7 · ADAPTER DÙNG CHUNG (SH)</a:t>
            </a:r>
          </a:p>
        </p:txBody>
      </p:sp>
      <p:sp>
        <p:nvSpPr>
          <p:cNvPr name="TextBox 5" id="5"/>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Một adapter cho hai dataset — không kém</a:t>
            </a:r>
          </a:p>
        </p:txBody>
      </p:sp>
      <p:sp>
        <p:nvSpPr>
          <p:cNvPr name="Freeform 6" id="6"/>
          <p:cNvSpPr/>
          <p:nvPr/>
        </p:nvSpPr>
        <p:spPr>
          <a:xfrm flipH="false" flipV="false" rot="0">
            <a:off x="806291" y="2383631"/>
            <a:ext cx="3833717" cy="4010978"/>
          </a:xfrm>
          <a:custGeom>
            <a:avLst/>
            <a:gdLst/>
            <a:ahLst/>
            <a:cxnLst/>
            <a:rect r="r" b="b" t="t" l="l"/>
            <a:pathLst>
              <a:path h="4010978" w="3833717">
                <a:moveTo>
                  <a:pt x="0" y="0"/>
                </a:moveTo>
                <a:lnTo>
                  <a:pt x="3833717" y="0"/>
                </a:lnTo>
                <a:lnTo>
                  <a:pt x="3833717" y="4010978"/>
                </a:lnTo>
                <a:lnTo>
                  <a:pt x="0" y="401097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7" id="7"/>
          <p:cNvSpPr txBox="true"/>
          <p:nvPr/>
        </p:nvSpPr>
        <p:spPr>
          <a:xfrm rot="0">
            <a:off x="1234440" y="2998470"/>
            <a:ext cx="2977401" cy="1253490"/>
          </a:xfrm>
          <a:prstGeom prst="rect">
            <a:avLst/>
          </a:prstGeom>
        </p:spPr>
        <p:txBody>
          <a:bodyPr anchor="t" rtlCol="false" tIns="0" lIns="0" bIns="0" rIns="0">
            <a:spAutoFit/>
          </a:bodyPr>
          <a:lstStyle/>
          <a:p>
            <a:pPr algn="l">
              <a:lnSpc>
                <a:spcPts val="6480"/>
              </a:lnSpc>
            </a:pPr>
            <a:r>
              <a:rPr lang="en-US" sz="5400" b="true">
                <a:solidFill>
                  <a:srgbClr val="1C7293"/>
                </a:solidFill>
                <a:latin typeface="Cambria Bold"/>
                <a:ea typeface="Cambria Bold"/>
                <a:cs typeface="Cambria Bold"/>
                <a:sym typeface="Cambria Bold"/>
              </a:rPr>
              <a:t>−0,27</a:t>
            </a:r>
          </a:p>
        </p:txBody>
      </p:sp>
      <p:sp>
        <p:nvSpPr>
          <p:cNvPr name="TextBox 8" id="8"/>
          <p:cNvSpPr txBox="true"/>
          <p:nvPr/>
        </p:nvSpPr>
        <p:spPr>
          <a:xfrm rot="0">
            <a:off x="1234440" y="4225290"/>
            <a:ext cx="2977401" cy="132969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ViVQA: SH so với C1 (cùng 1 epoch); CI95 [−1,13; +0,60] → không kém</a:t>
            </a:r>
          </a:p>
        </p:txBody>
      </p:sp>
      <p:sp>
        <p:nvSpPr>
          <p:cNvPr name="Freeform 9" id="9"/>
          <p:cNvSpPr/>
          <p:nvPr/>
        </p:nvSpPr>
        <p:spPr>
          <a:xfrm flipH="false" flipV="false" rot="0">
            <a:off x="5086712" y="2383631"/>
            <a:ext cx="3833717" cy="4010978"/>
          </a:xfrm>
          <a:custGeom>
            <a:avLst/>
            <a:gdLst/>
            <a:ahLst/>
            <a:cxnLst/>
            <a:rect r="r" b="b" t="t" l="l"/>
            <a:pathLst>
              <a:path h="4010978" w="3833717">
                <a:moveTo>
                  <a:pt x="0" y="0"/>
                </a:moveTo>
                <a:lnTo>
                  <a:pt x="3833717" y="0"/>
                </a:lnTo>
                <a:lnTo>
                  <a:pt x="3833717" y="4010978"/>
                </a:lnTo>
                <a:lnTo>
                  <a:pt x="0" y="401097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0" id="10"/>
          <p:cNvSpPr txBox="true"/>
          <p:nvPr/>
        </p:nvSpPr>
        <p:spPr>
          <a:xfrm rot="0">
            <a:off x="5514861" y="2998470"/>
            <a:ext cx="2977401" cy="1253490"/>
          </a:xfrm>
          <a:prstGeom prst="rect">
            <a:avLst/>
          </a:prstGeom>
        </p:spPr>
        <p:txBody>
          <a:bodyPr anchor="t" rtlCol="false" tIns="0" lIns="0" bIns="0" rIns="0">
            <a:spAutoFit/>
          </a:bodyPr>
          <a:lstStyle/>
          <a:p>
            <a:pPr algn="l">
              <a:lnSpc>
                <a:spcPts val="6480"/>
              </a:lnSpc>
            </a:pPr>
            <a:r>
              <a:rPr lang="en-US" sz="5400" b="true">
                <a:solidFill>
                  <a:srgbClr val="13294B"/>
                </a:solidFill>
                <a:latin typeface="Cambria Bold"/>
                <a:ea typeface="Cambria Bold"/>
                <a:cs typeface="Cambria Bold"/>
                <a:sym typeface="Cambria Bold"/>
              </a:rPr>
              <a:t>+0,25</a:t>
            </a:r>
          </a:p>
        </p:txBody>
      </p:sp>
      <p:sp>
        <p:nvSpPr>
          <p:cNvPr name="TextBox 11" id="11"/>
          <p:cNvSpPr txBox="true"/>
          <p:nvPr/>
        </p:nvSpPr>
        <p:spPr>
          <a:xfrm rot="0">
            <a:off x="5514861" y="4225290"/>
            <a:ext cx="2977401" cy="132969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ViTextVQA test2000: SH so với B3 (cùng 8k câu); CI95 [−0,95; +1,45] → không kém</a:t>
            </a:r>
          </a:p>
        </p:txBody>
      </p:sp>
      <p:sp>
        <p:nvSpPr>
          <p:cNvPr name="Freeform 12" id="12"/>
          <p:cNvSpPr/>
          <p:nvPr/>
        </p:nvSpPr>
        <p:spPr>
          <a:xfrm flipH="false" flipV="false" rot="0">
            <a:off x="9367133" y="2383631"/>
            <a:ext cx="3833717" cy="4010978"/>
          </a:xfrm>
          <a:custGeom>
            <a:avLst/>
            <a:gdLst/>
            <a:ahLst/>
            <a:cxnLst/>
            <a:rect r="r" b="b" t="t" l="l"/>
            <a:pathLst>
              <a:path h="4010978" w="3833717">
                <a:moveTo>
                  <a:pt x="0" y="0"/>
                </a:moveTo>
                <a:lnTo>
                  <a:pt x="3833717" y="0"/>
                </a:lnTo>
                <a:lnTo>
                  <a:pt x="3833717" y="4010978"/>
                </a:lnTo>
                <a:lnTo>
                  <a:pt x="0" y="401097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3" id="13"/>
          <p:cNvSpPr txBox="true"/>
          <p:nvPr/>
        </p:nvSpPr>
        <p:spPr>
          <a:xfrm rot="0">
            <a:off x="9795281" y="2998470"/>
            <a:ext cx="2977401" cy="1253490"/>
          </a:xfrm>
          <a:prstGeom prst="rect">
            <a:avLst/>
          </a:prstGeom>
        </p:spPr>
        <p:txBody>
          <a:bodyPr anchor="t" rtlCol="false" tIns="0" lIns="0" bIns="0" rIns="0">
            <a:spAutoFit/>
          </a:bodyPr>
          <a:lstStyle/>
          <a:p>
            <a:pPr algn="l">
              <a:lnSpc>
                <a:spcPts val="6480"/>
              </a:lnSpc>
            </a:pPr>
            <a:r>
              <a:rPr lang="en-US" sz="5400" b="true">
                <a:solidFill>
                  <a:srgbClr val="13294B"/>
                </a:solidFill>
                <a:latin typeface="Cambria Bold"/>
                <a:ea typeface="Cambria Bold"/>
                <a:cs typeface="Cambria Bold"/>
                <a:sym typeface="Cambria Bold"/>
              </a:rPr>
              <a:t>+0,15</a:t>
            </a:r>
          </a:p>
        </p:txBody>
      </p:sp>
      <p:sp>
        <p:nvSpPr>
          <p:cNvPr name="TextBox 14" id="14"/>
          <p:cNvSpPr txBox="true"/>
          <p:nvPr/>
        </p:nvSpPr>
        <p:spPr>
          <a:xfrm rot="0">
            <a:off x="9795281" y="4225290"/>
            <a:ext cx="2977401" cy="132969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Câu ViVQA có dòng OCR vô nghĩa (n = 1.328): không bị hại; chép nhầm OCR 0,3%</a:t>
            </a:r>
          </a:p>
        </p:txBody>
      </p:sp>
      <p:sp>
        <p:nvSpPr>
          <p:cNvPr name="Freeform 15" id="15"/>
          <p:cNvSpPr/>
          <p:nvPr/>
        </p:nvSpPr>
        <p:spPr>
          <a:xfrm flipH="false" flipV="false" rot="0">
            <a:off x="13647553" y="2383631"/>
            <a:ext cx="3833717" cy="4010978"/>
          </a:xfrm>
          <a:custGeom>
            <a:avLst/>
            <a:gdLst/>
            <a:ahLst/>
            <a:cxnLst/>
            <a:rect r="r" b="b" t="t" l="l"/>
            <a:pathLst>
              <a:path h="4010978" w="3833717">
                <a:moveTo>
                  <a:pt x="0" y="0"/>
                </a:moveTo>
                <a:lnTo>
                  <a:pt x="3833718" y="0"/>
                </a:lnTo>
                <a:lnTo>
                  <a:pt x="3833718" y="4010978"/>
                </a:lnTo>
                <a:lnTo>
                  <a:pt x="0" y="401097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txBody>
          <a:bodyPr/>
          <a:p/>
        </p:txBody>
      </p:sp>
      <p:sp>
        <p:nvSpPr>
          <p:cNvPr name="TextBox 16" id="16"/>
          <p:cNvSpPr txBox="true"/>
          <p:nvPr/>
        </p:nvSpPr>
        <p:spPr>
          <a:xfrm rot="0">
            <a:off x="14075702" y="2998470"/>
            <a:ext cx="2977401" cy="1253490"/>
          </a:xfrm>
          <a:prstGeom prst="rect">
            <a:avLst/>
          </a:prstGeom>
        </p:spPr>
        <p:txBody>
          <a:bodyPr anchor="t" rtlCol="false" tIns="0" lIns="0" bIns="0" rIns="0">
            <a:spAutoFit/>
          </a:bodyPr>
          <a:lstStyle/>
          <a:p>
            <a:pPr algn="l">
              <a:lnSpc>
                <a:spcPts val="6480"/>
              </a:lnSpc>
            </a:pPr>
            <a:r>
              <a:rPr lang="en-US" sz="5400" b="true">
                <a:solidFill>
                  <a:srgbClr val="E8A33D"/>
                </a:solidFill>
                <a:latin typeface="Cambria Bold"/>
                <a:ea typeface="Cambria Bold"/>
                <a:cs typeface="Cambria Bold"/>
                <a:sym typeface="Cambria Bold"/>
              </a:rPr>
              <a:t>1</a:t>
            </a:r>
          </a:p>
        </p:txBody>
      </p:sp>
      <p:sp>
        <p:nvSpPr>
          <p:cNvPr name="TextBox 17" id="17"/>
          <p:cNvSpPr txBox="true"/>
          <p:nvPr/>
        </p:nvSpPr>
        <p:spPr>
          <a:xfrm rot="0">
            <a:off x="14075702" y="4225290"/>
            <a:ext cx="2977401" cy="1329690"/>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adapter (29,5 MB) thay vì 2; train 6,1 h = C1 + B3; demo không cần bộ chọn</a:t>
            </a:r>
          </a:p>
        </p:txBody>
      </p:sp>
      <p:sp>
        <p:nvSpPr>
          <p:cNvPr name="Freeform 18" id="18"/>
          <p:cNvSpPr/>
          <p:nvPr/>
        </p:nvSpPr>
        <p:spPr>
          <a:xfrm flipH="false" flipV="false" rot="0">
            <a:off x="806291" y="6841331"/>
            <a:ext cx="16674941" cy="1473517"/>
          </a:xfrm>
          <a:custGeom>
            <a:avLst/>
            <a:gdLst/>
            <a:ahLst/>
            <a:cxnLst/>
            <a:rect r="r" b="b" t="t" l="l"/>
            <a:pathLst>
              <a:path h="1473517" w="16674941">
                <a:moveTo>
                  <a:pt x="0" y="0"/>
                </a:moveTo>
                <a:lnTo>
                  <a:pt x="16674941" y="0"/>
                </a:lnTo>
                <a:lnTo>
                  <a:pt x="16674941" y="1473518"/>
                </a:lnTo>
                <a:lnTo>
                  <a:pt x="0" y="147351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19" id="19"/>
          <p:cNvGrpSpPr/>
          <p:nvPr/>
        </p:nvGrpSpPr>
        <p:grpSpPr>
          <a:xfrm rot="0">
            <a:off x="1303020" y="6858000"/>
            <a:ext cx="15681503" cy="1440180"/>
            <a:chOff x="0" y="0"/>
            <a:chExt cx="20908670" cy="1920240"/>
          </a:xfrm>
        </p:grpSpPr>
        <p:sp>
          <p:nvSpPr>
            <p:cNvPr name="Freeform 20" id="20"/>
            <p:cNvSpPr/>
            <p:nvPr/>
          </p:nvSpPr>
          <p:spPr>
            <a:xfrm flipH="false" flipV="false" rot="0">
              <a:off x="0" y="0"/>
              <a:ext cx="20908645" cy="1920240"/>
            </a:xfrm>
            <a:custGeom>
              <a:avLst/>
              <a:gdLst/>
              <a:ahLst/>
              <a:cxnLst/>
              <a:rect r="r" b="b" t="t" l="l"/>
              <a:pathLst>
                <a:path h="1920240" w="20908645">
                  <a:moveTo>
                    <a:pt x="0" y="0"/>
                  </a:moveTo>
                  <a:lnTo>
                    <a:pt x="20908645" y="0"/>
                  </a:lnTo>
                  <a:lnTo>
                    <a:pt x="20908645" y="1920240"/>
                  </a:lnTo>
                  <a:lnTo>
                    <a:pt x="0" y="1920240"/>
                  </a:lnTo>
                  <a:close/>
                </a:path>
              </a:pathLst>
            </a:custGeom>
            <a:blipFill>
              <a:blip r:embed="rId2">
                <a:alphaModFix amt="0"/>
              </a:blip>
              <a:stretch>
                <a:fillRect l="0" t="-162016" r="0" b="-162016"/>
              </a:stretch>
            </a:blipFill>
          </p:spPr>
          <p:txBody>
            <a:bodyPr/>
            <a:p/>
          </p:txBody>
        </p:sp>
      </p:grpSp>
      <p:grpSp>
        <p:nvGrpSpPr>
          <p:cNvPr name="Group 21" id="21"/>
          <p:cNvGrpSpPr/>
          <p:nvPr/>
        </p:nvGrpSpPr>
        <p:grpSpPr>
          <a:xfrm rot="0">
            <a:off x="1303020" y="6829425"/>
            <a:ext cx="15681503" cy="1468755"/>
            <a:chOff x="0" y="0"/>
            <a:chExt cx="20908670" cy="1958340"/>
          </a:xfrm>
        </p:grpSpPr>
        <p:sp>
          <p:nvSpPr>
            <p:cNvPr name="Freeform 22" id="22"/>
            <p:cNvSpPr/>
            <p:nvPr/>
          </p:nvSpPr>
          <p:spPr>
            <a:xfrm flipH="false" flipV="false" rot="0">
              <a:off x="0" y="0"/>
              <a:ext cx="20908671" cy="1958340"/>
            </a:xfrm>
            <a:custGeom>
              <a:avLst/>
              <a:gdLst/>
              <a:ahLst/>
              <a:cxnLst/>
              <a:rect r="r" b="b" t="t" l="l"/>
              <a:pathLst>
                <a:path h="1958340" w="20908671">
                  <a:moveTo>
                    <a:pt x="0" y="0"/>
                  </a:moveTo>
                  <a:lnTo>
                    <a:pt x="20908671" y="0"/>
                  </a:lnTo>
                  <a:lnTo>
                    <a:pt x="20908671" y="1958340"/>
                  </a:lnTo>
                  <a:lnTo>
                    <a:pt x="0" y="1958340"/>
                  </a:lnTo>
                  <a:close/>
                </a:path>
              </a:pathLst>
            </a:custGeom>
            <a:blipFill>
              <a:blip r:embed="rId9">
                <a:alphaModFix amt="0"/>
              </a:blip>
              <a:stretch>
                <a:fillRect l="0" t="-158036" r="0" b="-158036"/>
              </a:stretch>
            </a:blipFill>
          </p:spPr>
          <p:txBody>
            <a:bodyPr/>
            <a:p/>
          </p:txBody>
        </p:sp>
        <p:sp>
          <p:nvSpPr>
            <p:cNvPr name="TextBox 23" id="23"/>
            <p:cNvSpPr txBox="true"/>
            <p:nvPr/>
          </p:nvSpPr>
          <p:spPr>
            <a:xfrm>
              <a:off x="0" y="-38100"/>
              <a:ext cx="20908670" cy="1996440"/>
            </a:xfrm>
            <a:prstGeom prst="rect">
              <a:avLst/>
            </a:prstGeom>
          </p:spPr>
          <p:txBody>
            <a:bodyPr anchor="ctr" rtlCol="false" tIns="0" lIns="0" bIns="0" rIns="0"/>
            <a:lstStyle/>
            <a:p>
              <a:pPr algn="l">
                <a:lnSpc>
                  <a:spcPts val="2879"/>
                </a:lnSpc>
              </a:pPr>
              <a:r>
                <a:rPr lang="en-US" sz="2400">
                  <a:solidFill>
                    <a:srgbClr val="13294B"/>
                  </a:solidFill>
                  <a:latin typeface="Calibri (MS)"/>
                  <a:ea typeface="Calibri (MS)"/>
                  <a:cs typeface="Calibri (MS)"/>
                  <a:sym typeface="Calibri (MS)"/>
                </a:rPr>
                <a:t>Luật chốt trước: không kém nếu cận dưới CI95 ΔEM &gt; −1,5 trên cả hai → ĐẠT. Đánh đổi: SH là bản rẻ (1 epoch ViVQA, 23% ViTextVQA), thấp hơn C3 3,1 và B3-full 4,4 EM → bảng chính giữ C3 / B3-full; prototype dùng SH.</a:t>
              </a:r>
            </a:p>
          </p:txBody>
        </p:sp>
      </p:grpSp>
      <p:grpSp>
        <p:nvGrpSpPr>
          <p:cNvPr name="Group 24" id="24"/>
          <p:cNvGrpSpPr/>
          <p:nvPr/>
        </p:nvGrpSpPr>
        <p:grpSpPr>
          <a:xfrm rot="0">
            <a:off x="15458732" y="0"/>
            <a:ext cx="2829268" cy="1184338"/>
            <a:chOff x="0" y="0"/>
            <a:chExt cx="3772357" cy="1579118"/>
          </a:xfrm>
        </p:grpSpPr>
        <p:sp>
          <p:nvSpPr>
            <p:cNvPr name="Freeform 25" id="25"/>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10"/>
              <a:stretch>
                <a:fillRect l="0" t="0" r="1" b="0"/>
              </a:stretch>
            </a:blipFill>
          </p:spPr>
          <p:txBody>
            <a:bodyPr/>
            <a:p/>
          </p:txBody>
        </p:sp>
      </p:grpSp>
      <p:grpSp>
        <p:nvGrpSpPr>
          <p:cNvPr name="Group 26" id="26"/>
          <p:cNvGrpSpPr/>
          <p:nvPr/>
        </p:nvGrpSpPr>
        <p:grpSpPr>
          <a:xfrm rot="0">
            <a:off x="822960" y="9641205"/>
            <a:ext cx="13716000" cy="440055"/>
            <a:chOff x="0" y="0"/>
            <a:chExt cx="18288000" cy="586740"/>
          </a:xfrm>
        </p:grpSpPr>
        <p:sp>
          <p:nvSpPr>
            <p:cNvPr name="Freeform 27" id="27"/>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9">
                <a:alphaModFix amt="0"/>
              </a:blip>
              <a:stretch>
                <a:fillRect l="0" t="-557325" r="0" b="-557325"/>
              </a:stretch>
            </a:blipFill>
          </p:spPr>
          <p:txBody>
            <a:bodyPr/>
            <a:p/>
          </p:txBody>
        </p:sp>
        <p:sp>
          <p:nvSpPr>
            <p:cNvPr name="TextBox 28" id="28"/>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9669780"/>
            <a:ext cx="13716000" cy="411480"/>
            <a:chOff x="0" y="0"/>
            <a:chExt cx="18288000" cy="548640"/>
          </a:xfrm>
        </p:grpSpPr>
        <p:sp>
          <p:nvSpPr>
            <p:cNvPr name="Freeform 3" id="3"/>
            <p:cNvSpPr/>
            <p:nvPr/>
          </p:nvSpPr>
          <p:spPr>
            <a:xfrm flipH="false" flipV="false" rot="0">
              <a:off x="0" y="0"/>
              <a:ext cx="18288000" cy="548640"/>
            </a:xfrm>
            <a:custGeom>
              <a:avLst/>
              <a:gdLst/>
              <a:ahLst/>
              <a:cxnLst/>
              <a:rect r="r" b="b" t="t" l="l"/>
              <a:pathLst>
                <a:path h="548640" w="18288000">
                  <a:moveTo>
                    <a:pt x="0" y="0"/>
                  </a:moveTo>
                  <a:lnTo>
                    <a:pt x="18288000" y="0"/>
                  </a:lnTo>
                  <a:lnTo>
                    <a:pt x="18288000" y="548640"/>
                  </a:lnTo>
                  <a:lnTo>
                    <a:pt x="0" y="548640"/>
                  </a:lnTo>
                  <a:close/>
                </a:path>
              </a:pathLst>
            </a:custGeom>
            <a:blipFill>
              <a:blip r:embed="rId2">
                <a:alphaModFix amt="0"/>
              </a:blip>
              <a:stretch>
                <a:fillRect l="0" t="-599048" r="0" b="-599050"/>
              </a:stretch>
            </a:blipFill>
          </p:spPr>
          <p:txBody>
            <a:bodyPr/>
            <a:p/>
          </p:txBody>
        </p:sp>
      </p:grpSp>
      <p:sp>
        <p:nvSpPr>
          <p:cNvPr name="TextBox 4" id="4"/>
          <p:cNvSpPr txBox="true"/>
          <p:nvPr/>
        </p:nvSpPr>
        <p:spPr>
          <a:xfrm rot="0">
            <a:off x="822960" y="381762"/>
            <a:ext cx="16641623" cy="468630"/>
          </a:xfrm>
          <a:prstGeom prst="rect">
            <a:avLst/>
          </a:prstGeom>
        </p:spPr>
        <p:txBody>
          <a:bodyPr anchor="t" rtlCol="false" tIns="0" lIns="0" bIns="0" rIns="0">
            <a:spAutoFit/>
          </a:bodyPr>
          <a:lstStyle/>
          <a:p>
            <a:pPr algn="l">
              <a:lnSpc>
                <a:spcPts val="1980"/>
              </a:lnSpc>
            </a:pPr>
            <a:r>
              <a:rPr lang="en-US" b="true" sz="1650" spc="298">
                <a:solidFill>
                  <a:srgbClr val="1C7293"/>
                </a:solidFill>
                <a:latin typeface="Calibri (MS) Bold"/>
                <a:ea typeface="Calibri (MS) Bold"/>
                <a:cs typeface="Calibri (MS) Bold"/>
                <a:sym typeface="Calibri (MS) Bold"/>
              </a:rPr>
              <a:t>PHỤ LỤC · P8 · KẾT QUẢ THEO LOẠI CÂU HỎI</a:t>
            </a:r>
          </a:p>
        </p:txBody>
      </p:sp>
      <p:grpSp>
        <p:nvGrpSpPr>
          <p:cNvPr name="Group 5" id="5"/>
          <p:cNvGrpSpPr/>
          <p:nvPr/>
        </p:nvGrpSpPr>
        <p:grpSpPr>
          <a:xfrm rot="0">
            <a:off x="15458732" y="0"/>
            <a:ext cx="2829268" cy="1184338"/>
            <a:chOff x="0" y="0"/>
            <a:chExt cx="3772357" cy="1579118"/>
          </a:xfrm>
        </p:grpSpPr>
        <p:sp>
          <p:nvSpPr>
            <p:cNvPr name="Freeform 6" id="6"/>
            <p:cNvSpPr/>
            <p:nvPr/>
          </p:nvSpPr>
          <p:spPr>
            <a:xfrm flipH="false" flipV="false" rot="0">
              <a:off x="0" y="0"/>
              <a:ext cx="3772408" cy="1579118"/>
            </a:xfrm>
            <a:custGeom>
              <a:avLst/>
              <a:gdLst/>
              <a:ahLst/>
              <a:cxnLst/>
              <a:rect r="r" b="b" t="t" l="l"/>
              <a:pathLst>
                <a:path h="1579118" w="3772408">
                  <a:moveTo>
                    <a:pt x="0" y="0"/>
                  </a:moveTo>
                  <a:lnTo>
                    <a:pt x="3772408" y="0"/>
                  </a:lnTo>
                  <a:lnTo>
                    <a:pt x="3772408" y="1579118"/>
                  </a:lnTo>
                  <a:lnTo>
                    <a:pt x="0" y="1579118"/>
                  </a:lnTo>
                  <a:lnTo>
                    <a:pt x="0" y="0"/>
                  </a:lnTo>
                  <a:close/>
                </a:path>
              </a:pathLst>
            </a:custGeom>
            <a:blipFill>
              <a:blip r:embed="rId3"/>
              <a:stretch>
                <a:fillRect l="0" t="0" r="1" b="0"/>
              </a:stretch>
            </a:blipFill>
          </p:spPr>
          <p:txBody>
            <a:bodyPr/>
            <a:p/>
          </p:txBody>
        </p:sp>
      </p:grpSp>
      <p:sp>
        <p:nvSpPr>
          <p:cNvPr name="TextBox 7" id="7"/>
          <p:cNvSpPr txBox="true"/>
          <p:nvPr/>
        </p:nvSpPr>
        <p:spPr>
          <a:xfrm rot="0">
            <a:off x="822960" y="831342"/>
            <a:ext cx="16641623" cy="979170"/>
          </a:xfrm>
          <a:prstGeom prst="rect">
            <a:avLst/>
          </a:prstGeom>
        </p:spPr>
        <p:txBody>
          <a:bodyPr anchor="t" rtlCol="false" tIns="0" lIns="0" bIns="0" rIns="0">
            <a:spAutoFit/>
          </a:bodyPr>
          <a:lstStyle/>
          <a:p>
            <a:pPr algn="l">
              <a:lnSpc>
                <a:spcPts val="5759"/>
              </a:lnSpc>
            </a:pPr>
            <a:r>
              <a:rPr lang="en-US" sz="4800" b="true">
                <a:solidFill>
                  <a:srgbClr val="13294B"/>
                </a:solidFill>
                <a:latin typeface="Cambria Bold"/>
                <a:ea typeface="Cambria Bold"/>
                <a:cs typeface="Cambria Bold"/>
                <a:sym typeface="Cambria Bold"/>
              </a:rPr>
              <a:t>OCR giúp nhiều nhất ở câu phải chép đúng từng ký tự</a:t>
            </a:r>
          </a:p>
        </p:txBody>
      </p:sp>
      <p:graphicFrame>
        <p:nvGraphicFramePr>
          <p:cNvPr name="Table 8" id="8"/>
          <p:cNvGraphicFramePr>
            <a:graphicFrameLocks noGrp="true"/>
          </p:cNvGraphicFramePr>
          <p:nvPr/>
        </p:nvGraphicFramePr>
        <p:xfrm>
          <a:off x="822960" y="2011680"/>
          <a:ext cx="10858500" cy="6007100"/>
        </p:xfrm>
        <a:graphic>
          <a:graphicData uri="http://schemas.openxmlformats.org/drawingml/2006/table">
            <a:tbl>
              <a:tblPr/>
              <a:tblGrid>
                <a:gridCol w="4541650"/>
                <a:gridCol w="1330458"/>
                <a:gridCol w="1330458"/>
                <a:gridCol w="1511371"/>
                <a:gridCol w="2144563"/>
              </a:tblGrid>
              <a:tr h="546100">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Loại câu hỏi (số câu)</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B1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B2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B3-full</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c>
                  <a:txBody>
                    <a:bodyPr anchor="t" rtlCol="false"/>
                    <a:lstStyle/>
                    <a:p>
                      <a:pPr algn="l">
                        <a:lnSpc>
                          <a:spcPts val="2340"/>
                        </a:lnSpc>
                        <a:defRPr/>
                      </a:pPr>
                      <a:r>
                        <a:rPr lang="en-US" sz="1950" b="true">
                          <a:solidFill>
                            <a:srgbClr val="FFFFFF"/>
                          </a:solidFill>
                          <a:latin typeface="Calibri (MS) Bold"/>
                          <a:ea typeface="Calibri (MS) Bold"/>
                          <a:cs typeface="Calibri (MS) Bold"/>
                          <a:sym typeface="Calibri (MS) Bold"/>
                        </a:rPr>
                        <a:t>Δ B2 → B3-full</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solidFill>
                      <a:srgbClr val="13294B"/>
                    </a:solidFill>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Liên hệ: SĐT, web (641)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47,9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55,5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64,1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+8,6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Tên người (420)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40,7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54,8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61,2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+6,4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Khác ⚠ (2.404)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21,5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46,1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49,6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Số, thời gian (1.041)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41,2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55,7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58,8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Địa điểm (969)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25,3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44,0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47,0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+3,0</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Nội dung chữ ⚠ (777)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27,4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48,6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51,1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Tên riêng ⚠ (1.971)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34,9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55,7</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57,6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Sản phẩm, dịch vụ (1.144)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16,5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42,5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44,1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+1,6</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a:solidFill>
                            <a:srgbClr val="243044"/>
                          </a:solidFill>
                          <a:latin typeface="Calibri (MS)"/>
                          <a:ea typeface="Calibri (MS)"/>
                          <a:cs typeface="Calibri (MS)"/>
                          <a:sym typeface="Calibri (MS)"/>
                        </a:rPr>
                        <a:t>Nguồn ảnh (661)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24,5</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57,2</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58,1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a:solidFill>
                            <a:srgbClr val="243044"/>
                          </a:solidFill>
                          <a:latin typeface="Calibri (MS)"/>
                          <a:ea typeface="Calibri (MS)"/>
                          <a:cs typeface="Calibri (MS)"/>
                          <a:sym typeface="Calibri (MS)"/>
                        </a:rPr>
                        <a:t>+0,9</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r h="546100">
                <a:tc>
                  <a:txBody>
                    <a:bodyPr anchor="t" rtlCol="false"/>
                    <a:lstStyle/>
                    <a:p>
                      <a:pPr algn="l">
                        <a:lnSpc>
                          <a:spcPts val="2520"/>
                        </a:lnSpc>
                        <a:defRPr/>
                      </a:pPr>
                      <a:r>
                        <a:rPr lang="en-US" sz="2100" b="true">
                          <a:solidFill>
                            <a:srgbClr val="243044"/>
                          </a:solidFill>
                          <a:latin typeface="Calibri (MS) Bold"/>
                          <a:ea typeface="Calibri (MS) Bold"/>
                          <a:cs typeface="Calibri (MS) Bold"/>
                          <a:sym typeface="Calibri (MS) Bold"/>
                        </a:rPr>
                        <a:t>Tất cả (10.028)</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29,1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50,3</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53,4</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c>
                  <a:txBody>
                    <a:bodyPr anchor="t" rtlCol="false"/>
                    <a:lstStyle/>
                    <a:p>
                      <a:pPr algn="ctr">
                        <a:lnSpc>
                          <a:spcPts val="2520"/>
                        </a:lnSpc>
                        <a:defRPr/>
                      </a:pPr>
                      <a:r>
                        <a:rPr lang="en-US" sz="2100" b="true">
                          <a:solidFill>
                            <a:srgbClr val="243044"/>
                          </a:solidFill>
                          <a:latin typeface="Calibri (MS) Bold"/>
                          <a:ea typeface="Calibri (MS) Bold"/>
                          <a:cs typeface="Calibri (MS) Bold"/>
                          <a:sym typeface="Calibri (MS) Bold"/>
                        </a:rPr>
                        <a:t>+3,1</a:t>
                      </a:r>
                      <a:endParaRPr lang="en-US" sz="1100"/>
                    </a:p>
                  </a:txBody>
                  <a:tcPr marL="76200" marR="76200" marT="76200" marB="76200" anchor="t">
                    <a:lnL cmpd="sng" algn="ctr" cap="flat" w="9525">
                      <a:solidFill>
                        <a:srgbClr val="E2E7EE"/>
                      </a:solidFill>
                      <a:prstDash val="solid"/>
                      <a:round/>
                      <a:headEnd type="none" w="med" len="med"/>
                      <a:tailEnd type="none" w="med" len="med"/>
                    </a:lnL>
                    <a:lnR cmpd="sng" algn="ctr" cap="flat" w="9525">
                      <a:solidFill>
                        <a:srgbClr val="E2E7EE"/>
                      </a:solidFill>
                      <a:prstDash val="solid"/>
                      <a:round/>
                      <a:headEnd type="none" w="med" len="med"/>
                      <a:tailEnd type="none" w="med" len="med"/>
                    </a:lnR>
                    <a:lnT cmpd="sng" algn="ctr" cap="flat" w="9525">
                      <a:solidFill>
                        <a:srgbClr val="E2E7EE"/>
                      </a:solidFill>
                      <a:prstDash val="solid"/>
                      <a:round/>
                      <a:headEnd type="none" w="med" len="med"/>
                      <a:tailEnd type="none" w="med" len="med"/>
                    </a:lnT>
                    <a:lnB cmpd="sng" algn="ctr" cap="flat" w="9525">
                      <a:solidFill>
                        <a:srgbClr val="E2E7EE"/>
                      </a:solidFill>
                      <a:prstDash val="solid"/>
                      <a:round/>
                      <a:headEnd type="none" w="med" len="med"/>
                      <a:tailEnd type="none" w="med" len="med"/>
                    </a:lnB>
                  </a:tcPr>
                </a:tc>
              </a:tr>
            </a:tbl>
          </a:graphicData>
        </a:graphic>
      </p:graphicFrame>
      <p:sp>
        <p:nvSpPr>
          <p:cNvPr name="Freeform 9" id="9"/>
          <p:cNvSpPr/>
          <p:nvPr/>
        </p:nvSpPr>
        <p:spPr>
          <a:xfrm flipH="false" flipV="false" rot="0">
            <a:off x="12016883" y="2006394"/>
            <a:ext cx="5455691" cy="1903381"/>
          </a:xfrm>
          <a:custGeom>
            <a:avLst/>
            <a:gdLst/>
            <a:ahLst/>
            <a:cxnLst/>
            <a:rect r="r" b="b" t="t" l="l"/>
            <a:pathLst>
              <a:path h="1903381" w="5455691">
                <a:moveTo>
                  <a:pt x="0" y="0"/>
                </a:moveTo>
                <a:lnTo>
                  <a:pt x="5455691" y="0"/>
                </a:lnTo>
                <a:lnTo>
                  <a:pt x="5455691" y="1903380"/>
                </a:lnTo>
                <a:lnTo>
                  <a:pt x="0" y="190338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10" id="10"/>
          <p:cNvSpPr txBox="true"/>
          <p:nvPr/>
        </p:nvSpPr>
        <p:spPr>
          <a:xfrm rot="0">
            <a:off x="12344400" y="2129028"/>
            <a:ext cx="4846320" cy="696468"/>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Chép chính xác: lợi nhiều nhất</a:t>
            </a:r>
          </a:p>
        </p:txBody>
      </p:sp>
      <p:sp>
        <p:nvSpPr>
          <p:cNvPr name="TextBox 11" id="11"/>
          <p:cNvSpPr txBox="true"/>
          <p:nvPr/>
        </p:nvSpPr>
        <p:spPr>
          <a:xfrm rot="0">
            <a:off x="12344400" y="2741295"/>
            <a:ext cx="4846320" cy="1099185"/>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Liên hệ +8,6; bỏ OCR khỏi B3 thì loại này giảm mạnh nhất (64,4 → 53,0)</a:t>
            </a:r>
          </a:p>
        </p:txBody>
      </p:sp>
      <p:sp>
        <p:nvSpPr>
          <p:cNvPr name="Freeform 12" id="12"/>
          <p:cNvSpPr/>
          <p:nvPr/>
        </p:nvSpPr>
        <p:spPr>
          <a:xfrm flipH="false" flipV="false" rot="0">
            <a:off x="12016883" y="4082082"/>
            <a:ext cx="5455691" cy="1903381"/>
          </a:xfrm>
          <a:custGeom>
            <a:avLst/>
            <a:gdLst/>
            <a:ahLst/>
            <a:cxnLst/>
            <a:rect r="r" b="b" t="t" l="l"/>
            <a:pathLst>
              <a:path h="1903381" w="5455691">
                <a:moveTo>
                  <a:pt x="0" y="0"/>
                </a:moveTo>
                <a:lnTo>
                  <a:pt x="5455691" y="0"/>
                </a:lnTo>
                <a:lnTo>
                  <a:pt x="5455691" y="1903380"/>
                </a:lnTo>
                <a:lnTo>
                  <a:pt x="0" y="190338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txBody>
          <a:bodyPr/>
          <a:p/>
        </p:txBody>
      </p:sp>
      <p:sp>
        <p:nvSpPr>
          <p:cNvPr name="TextBox 13" id="13"/>
          <p:cNvSpPr txBox="true"/>
          <p:nvPr/>
        </p:nvSpPr>
        <p:spPr>
          <a:xfrm rot="0">
            <a:off x="12344400" y="4204716"/>
            <a:ext cx="4846320" cy="696468"/>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Watermark: OCR ít giúp</a:t>
            </a:r>
          </a:p>
        </p:txBody>
      </p:sp>
      <p:sp>
        <p:nvSpPr>
          <p:cNvPr name="TextBox 14" id="14"/>
          <p:cNvSpPr txBox="true"/>
          <p:nvPr/>
        </p:nvSpPr>
        <p:spPr>
          <a:xfrm rot="0">
            <a:off x="12344400" y="4816983"/>
            <a:ext cx="4846320" cy="1099185"/>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Nguồn ảnh +0,9 — chữ nhỏ, mờ, nằm ở góc ảnh</a:t>
            </a:r>
          </a:p>
        </p:txBody>
      </p:sp>
      <p:sp>
        <p:nvSpPr>
          <p:cNvPr name="Freeform 15" id="15"/>
          <p:cNvSpPr/>
          <p:nvPr/>
        </p:nvSpPr>
        <p:spPr>
          <a:xfrm flipH="false" flipV="false" rot="0">
            <a:off x="12016883" y="6157770"/>
            <a:ext cx="5455691" cy="1903381"/>
          </a:xfrm>
          <a:custGeom>
            <a:avLst/>
            <a:gdLst/>
            <a:ahLst/>
            <a:cxnLst/>
            <a:rect r="r" b="b" t="t" l="l"/>
            <a:pathLst>
              <a:path h="1903381" w="5455691">
                <a:moveTo>
                  <a:pt x="0" y="0"/>
                </a:moveTo>
                <a:lnTo>
                  <a:pt x="5455691" y="0"/>
                </a:lnTo>
                <a:lnTo>
                  <a:pt x="5455691" y="1903380"/>
                </a:lnTo>
                <a:lnTo>
                  <a:pt x="0" y="19033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TextBox 16" id="16"/>
          <p:cNvSpPr txBox="true"/>
          <p:nvPr/>
        </p:nvSpPr>
        <p:spPr>
          <a:xfrm rot="0">
            <a:off x="12344400" y="6280404"/>
            <a:ext cx="4846320" cy="696468"/>
          </a:xfrm>
          <a:prstGeom prst="rect">
            <a:avLst/>
          </a:prstGeom>
        </p:spPr>
        <p:txBody>
          <a:bodyPr anchor="t" rtlCol="false" tIns="0" lIns="0" bIns="0" rIns="0">
            <a:spAutoFit/>
          </a:bodyPr>
          <a:lstStyle/>
          <a:p>
            <a:pPr algn="l">
              <a:lnSpc>
                <a:spcPts val="2879"/>
              </a:lnSpc>
            </a:pPr>
            <a:r>
              <a:rPr lang="en-US" sz="2400" b="true">
                <a:solidFill>
                  <a:srgbClr val="13294B"/>
                </a:solidFill>
                <a:latin typeface="Calibri (MS) Bold"/>
                <a:ea typeface="Calibri (MS) Bold"/>
                <a:cs typeface="Calibri (MS) Bold"/>
                <a:sym typeface="Calibri (MS) Bold"/>
              </a:rPr>
              <a:t>Khó nhất: phải suy ra từ chữ</a:t>
            </a:r>
          </a:p>
        </p:txBody>
      </p:sp>
      <p:sp>
        <p:nvSpPr>
          <p:cNvPr name="TextBox 17" id="17"/>
          <p:cNvSpPr txBox="true"/>
          <p:nvPr/>
        </p:nvSpPr>
        <p:spPr>
          <a:xfrm rot="0">
            <a:off x="12344400" y="6892671"/>
            <a:ext cx="4846320" cy="1099185"/>
          </a:xfrm>
          <a:prstGeom prst="rect">
            <a:avLst/>
          </a:prstGeom>
        </p:spPr>
        <p:txBody>
          <a:bodyPr anchor="t" rtlCol="false" tIns="0" lIns="0" bIns="0" rIns="0">
            <a:spAutoFit/>
          </a:bodyPr>
          <a:lstStyle/>
          <a:p>
            <a:pPr algn="l">
              <a:lnSpc>
                <a:spcPts val="2520"/>
              </a:lnSpc>
            </a:pPr>
            <a:r>
              <a:rPr lang="en-US" sz="2100">
                <a:solidFill>
                  <a:srgbClr val="243044"/>
                </a:solidFill>
                <a:latin typeface="Calibri (MS)"/>
                <a:ea typeface="Calibri (MS)"/>
                <a:cs typeface="Calibri (MS)"/>
                <a:sym typeface="Calibri (MS)"/>
              </a:rPr>
              <a:t>Sản phẩm, dịch vụ 44,1; địa điểm 47,0 → trọng tâm phân tích lỗi tiếp theo</a:t>
            </a:r>
          </a:p>
        </p:txBody>
      </p:sp>
      <p:grpSp>
        <p:nvGrpSpPr>
          <p:cNvPr name="Group 18" id="18"/>
          <p:cNvGrpSpPr/>
          <p:nvPr/>
        </p:nvGrpSpPr>
        <p:grpSpPr>
          <a:xfrm rot="0">
            <a:off x="822960" y="8709660"/>
            <a:ext cx="16641623" cy="850392"/>
            <a:chOff x="0" y="0"/>
            <a:chExt cx="22188830" cy="1133856"/>
          </a:xfrm>
        </p:grpSpPr>
        <p:sp>
          <p:nvSpPr>
            <p:cNvPr name="Freeform 19" id="19"/>
            <p:cNvSpPr/>
            <p:nvPr/>
          </p:nvSpPr>
          <p:spPr>
            <a:xfrm flipH="false" flipV="false" rot="0">
              <a:off x="0" y="0"/>
              <a:ext cx="22188805" cy="1133856"/>
            </a:xfrm>
            <a:custGeom>
              <a:avLst/>
              <a:gdLst/>
              <a:ahLst/>
              <a:cxnLst/>
              <a:rect r="r" b="b" t="t" l="l"/>
              <a:pathLst>
                <a:path h="1133856" w="22188805">
                  <a:moveTo>
                    <a:pt x="0" y="0"/>
                  </a:moveTo>
                  <a:lnTo>
                    <a:pt x="22188805" y="0"/>
                  </a:lnTo>
                  <a:lnTo>
                    <a:pt x="22188805" y="1133856"/>
                  </a:lnTo>
                  <a:lnTo>
                    <a:pt x="0" y="1133856"/>
                  </a:lnTo>
                  <a:close/>
                </a:path>
              </a:pathLst>
            </a:custGeom>
            <a:blipFill>
              <a:blip r:embed="rId2">
                <a:alphaModFix amt="0"/>
              </a:blip>
              <a:stretch>
                <a:fillRect l="0" t="-331043" r="0" b="-331045"/>
              </a:stretch>
            </a:blipFill>
          </p:spPr>
          <p:txBody>
            <a:bodyPr/>
            <a:p/>
          </p:txBody>
        </p:sp>
      </p:grpSp>
      <p:grpSp>
        <p:nvGrpSpPr>
          <p:cNvPr name="Group 20" id="20"/>
          <p:cNvGrpSpPr/>
          <p:nvPr/>
        </p:nvGrpSpPr>
        <p:grpSpPr>
          <a:xfrm rot="0">
            <a:off x="822960" y="8681085"/>
            <a:ext cx="16641623" cy="878967"/>
            <a:chOff x="0" y="0"/>
            <a:chExt cx="22188830" cy="1171956"/>
          </a:xfrm>
        </p:grpSpPr>
        <p:sp>
          <p:nvSpPr>
            <p:cNvPr name="Freeform 21" id="21"/>
            <p:cNvSpPr/>
            <p:nvPr/>
          </p:nvSpPr>
          <p:spPr>
            <a:xfrm flipH="false" flipV="false" rot="0">
              <a:off x="0" y="0"/>
              <a:ext cx="22188830" cy="1171956"/>
            </a:xfrm>
            <a:custGeom>
              <a:avLst/>
              <a:gdLst/>
              <a:ahLst/>
              <a:cxnLst/>
              <a:rect r="r" b="b" t="t" l="l"/>
              <a:pathLst>
                <a:path h="1171956" w="22188830">
                  <a:moveTo>
                    <a:pt x="0" y="0"/>
                  </a:moveTo>
                  <a:lnTo>
                    <a:pt x="22188830" y="0"/>
                  </a:lnTo>
                  <a:lnTo>
                    <a:pt x="22188830" y="1171956"/>
                  </a:lnTo>
                  <a:lnTo>
                    <a:pt x="0" y="1171956"/>
                  </a:lnTo>
                  <a:close/>
                </a:path>
              </a:pathLst>
            </a:custGeom>
            <a:blipFill>
              <a:blip r:embed="rId8">
                <a:alphaModFix amt="0"/>
              </a:blip>
              <a:stretch>
                <a:fillRect l="0" t="-318913" r="0" b="-318913"/>
              </a:stretch>
            </a:blipFill>
          </p:spPr>
          <p:txBody>
            <a:bodyPr/>
            <a:p/>
          </p:txBody>
        </p:sp>
        <p:sp>
          <p:nvSpPr>
            <p:cNvPr name="TextBox 22" id="22"/>
            <p:cNvSpPr txBox="true"/>
            <p:nvPr/>
          </p:nvSpPr>
          <p:spPr>
            <a:xfrm>
              <a:off x="0" y="-38100"/>
              <a:ext cx="22188830" cy="1210056"/>
            </a:xfrm>
            <a:prstGeom prst="rect">
              <a:avLst/>
            </a:prstGeom>
          </p:spPr>
          <p:txBody>
            <a:bodyPr anchor="b" rtlCol="false" tIns="0" lIns="0" bIns="0" rIns="0"/>
            <a:lstStyle/>
            <a:p>
              <a:pPr algn="l">
                <a:lnSpc>
                  <a:spcPts val="1800"/>
                </a:lnSpc>
              </a:pPr>
              <a:r>
                <a:rPr lang="en-US" sz="1500">
                  <a:solidFill>
                    <a:srgbClr val="6B7280"/>
                  </a:solidFill>
                  <a:latin typeface="Calibri (MS)"/>
                  <a:ea typeface="Calibri (MS)"/>
                  <a:cs typeface="Calibri (MS)"/>
                  <a:sym typeface="Calibri (MS)"/>
                </a:rPr>
                <a:t>Loại câu hỏi gán bằng luật từ khoá qt-v1 (thiết kế trên dev, đóng băng trước khi chạy test); kiểm bằng 150 câu gán tay mù: khớp 80,7%. ⚠ = precision &lt; 80%, chỉ mô tả. EM %, full test; chưa kiểm định theo loại.</a:t>
              </a:r>
            </a:p>
          </p:txBody>
        </p:sp>
      </p:grpSp>
      <p:grpSp>
        <p:nvGrpSpPr>
          <p:cNvPr name="Group 23" id="23"/>
          <p:cNvGrpSpPr/>
          <p:nvPr/>
        </p:nvGrpSpPr>
        <p:grpSpPr>
          <a:xfrm rot="0">
            <a:off x="822960" y="9641205"/>
            <a:ext cx="13716000" cy="440055"/>
            <a:chOff x="0" y="0"/>
            <a:chExt cx="18288000" cy="586740"/>
          </a:xfrm>
        </p:grpSpPr>
        <p:sp>
          <p:nvSpPr>
            <p:cNvPr name="Freeform 24" id="24"/>
            <p:cNvSpPr/>
            <p:nvPr/>
          </p:nvSpPr>
          <p:spPr>
            <a:xfrm flipH="false" flipV="false" rot="0">
              <a:off x="0" y="0"/>
              <a:ext cx="18288000" cy="586740"/>
            </a:xfrm>
            <a:custGeom>
              <a:avLst/>
              <a:gdLst/>
              <a:ahLst/>
              <a:cxnLst/>
              <a:rect r="r" b="b" t="t" l="l"/>
              <a:pathLst>
                <a:path h="586740" w="18288000">
                  <a:moveTo>
                    <a:pt x="0" y="0"/>
                  </a:moveTo>
                  <a:lnTo>
                    <a:pt x="18288000" y="0"/>
                  </a:lnTo>
                  <a:lnTo>
                    <a:pt x="18288000" y="586740"/>
                  </a:lnTo>
                  <a:lnTo>
                    <a:pt x="0" y="586740"/>
                  </a:lnTo>
                  <a:close/>
                </a:path>
              </a:pathLst>
            </a:custGeom>
            <a:blipFill>
              <a:blip r:embed="rId8">
                <a:alphaModFix amt="0"/>
              </a:blip>
              <a:stretch>
                <a:fillRect l="0" t="-557325" r="0" b="-557325"/>
              </a:stretch>
            </a:blipFill>
          </p:spPr>
          <p:txBody>
            <a:bodyPr/>
            <a:p/>
          </p:txBody>
        </p:sp>
        <p:sp>
          <p:nvSpPr>
            <p:cNvPr name="TextBox 25" id="25"/>
            <p:cNvSpPr txBox="true"/>
            <p:nvPr/>
          </p:nvSpPr>
          <p:spPr>
            <a:xfrm>
              <a:off x="0" y="-38100"/>
              <a:ext cx="18288000" cy="624840"/>
            </a:xfrm>
            <a:prstGeom prst="rect">
              <a:avLst/>
            </a:prstGeom>
          </p:spPr>
          <p:txBody>
            <a:bodyPr anchor="ctr" rtlCol="false" tIns="0" lIns="0" bIns="0" rIns="0"/>
            <a:lstStyle/>
            <a:p>
              <a:pPr algn="l">
                <a:lnSpc>
                  <a:spcPts val="1800"/>
                </a:lnSpc>
              </a:pPr>
              <a:r>
                <a:rPr lang="en-US" sz="1500">
                  <a:solidFill>
                    <a:srgbClr val="6B7280"/>
                  </a:solidFill>
                  <a:latin typeface="Calibri (MS)"/>
                  <a:ea typeface="Calibri (MS)"/>
                  <a:cs typeface="Calibri (MS)"/>
                  <a:sym typeface="Calibri (MS)"/>
                </a:rPr>
                <a:t>ViVQA-VLM · Review 2 · GFA26AI35 · Đại học FPT</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DAHYjFeCKIc</dc:identifier>
  <dcterms:modified xsi:type="dcterms:W3CDTF">2011-08-01T06:04:30Z</dcterms:modified>
  <cp:revision>1</cp:revision>
  <dc:title>KLTN</dc:title>
</cp:coreProperties>
</file>