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bd35ed-fed4-c599-5707-db5722ff4e79}">
          <p14:sldIdLst>
            <p14:sldId id="256"/>
          </p14:sldIdLst>
        </p14:section>
        <p14:section name="Summary" id="{c3bbe5e6-5cee-5282-e94f-05f3ab3f69fa}">
          <p14:sldIdLst>
            <p14:sldId id="257"/>
          </p14:sldIdLst>
        </p14:section>
        <p14:section name="Feedback" id="{7313a6b8-004e-7112-5cc0-73c660fe100f}">
          <p14:sldIdLst>
            <p14:sldId id="258"/>
          </p14:sldIdLst>
        </p14:section>
        <p14:section name="Data &amp; baseline" id="{8d07adf7-b27c-cdd0-1542-e6f232df1110}">
          <p14:sldIdLst>
            <p14:sldId id="259"/>
            <p14:sldId id="260"/>
            <p14:sldId id="261"/>
          </p14:sldIdLst>
        </p14:section>
        <p14:section name="Results" id="{9e29faf6-d535-e60f-0fd2-924f652703d9}">
          <p14:sldIdLst>
            <p14:sldId id="262"/>
            <p14:sldId id="263"/>
            <p14:sldId id="264"/>
          </p14:sldIdLst>
        </p14:section>
        <p14:section name="Improvement" id="{0efb8de8-83bc-80de-24cd-e7c01cf19643}">
          <p14:sldIdLst>
            <p14:sldId id="265"/>
            <p14:sldId id="266"/>
            <p14:sldId id="267"/>
          </p14:sldIdLst>
        </p14:section>
        <p14:section name="Analysis &amp; plan" id="{e269a539-991f-7b85-443d-5807ba6ffc33}">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TextVQA val (5,000 questions), VQA accuracy</a:t>
            </a:r>
          </a:p>
        </c:rich>
      </c:tx>
      <c:layout/>
      <c:overlay val="0"/>
    </c:title>
    <c:autoTitleDeleted val="0"/>
    <c:plotArea>
      <c:layout/>
      <c:barChart>
        <c:barDir val="col"/>
        <c:grouping val="clustered"/>
        <c:varyColors val="0"/>
        <c:ser>
          <c:idx val="0"/>
          <c:order val="0"/>
          <c:tx>
            <c:strRef>
              <c:f>Sheet1!$B$1</c:f>
              <c:strCache>
                <c:ptCount val="1"/>
                <c:pt idx="0">
                  <c:v>VQA-Acc</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Qwen2.5-VL report</c:v>
                  </c:pt>
                  <c:pt idx="1">
                    <c:v>R0 · bf16, full res.</c:v>
                  </c:pt>
                  <c:pt idx="2">
                    <c:v>R0b · 4-bit, 512 tok.</c:v>
                  </c:pt>
                </c:lvl>
              </c:multiLvlStrCache>
            </c:multiLvlStrRef>
          </c:cat>
          <c:val>
            <c:numRef>
              <c:f>Sheet1!$B$2:$B$4</c:f>
              <c:numCache>
                <c:formatCode>General</c:formatCode>
                <c:ptCount val="3"/>
                <c:pt idx="0">
                  <c:v>79.3</c:v>
                </c:pt>
                <c:pt idx="1">
                  <c:v>79.6</c:v>
                </c:pt>
                <c:pt idx="2">
                  <c:v>75.21</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Sheet1!$A$2:$A$5</c:f>
              <c:multiLvlStrCache>
                <c:ptCount val="4"/>
                <c:lvl>
                  <c:pt idx="0">
                    <c:v>number</c:v>
                  </c:pt>
                  <c:pt idx="1">
                    <c:v>color</c:v>
                  </c:pt>
                  <c:pt idx="2">
                    <c:v>object</c:v>
                  </c:pt>
                  <c:pt idx="3">
                    <c:v>location</c:v>
                  </c:pt>
                </c:lvl>
              </c:multiLvlStrCache>
            </c:multiLvlStrRef>
          </c:cat>
          <c:val>
            <c:numRef>
              <c:f>Sheet1!$B$2:$B$5</c:f>
              <c:numCache>
                <c:formatCode>General</c:formatCode>
                <c:ptCount val="4"/>
                <c:pt idx="0">
                  <c:v>69.1</c:v>
                </c:pt>
                <c:pt idx="1">
                  <c:v>44.8</c:v>
                </c:pt>
                <c:pt idx="2">
                  <c:v>5.7</c:v>
                </c:pt>
                <c:pt idx="3">
                  <c:v>0.7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Exact Match (%)</a:t>
            </a:r>
          </a:p>
        </c:rich>
      </c:tx>
      <c:layout/>
      <c:overlay val="0"/>
    </c:title>
    <c:autoTitleDeleted val="0"/>
    <c:plotArea>
      <c:layout/>
      <c:barChart>
        <c:barDir val="col"/>
        <c:grouping val="clustered"/>
        <c:varyColors val="0"/>
        <c:ser>
          <c:idx val="0"/>
          <c:order val="0"/>
          <c:tx>
            <c:strRef>
              <c:f>Sheet1!$B$1</c:f>
              <c:strCache>
                <c:ptCount val="1"/>
                <c:pt idx="0">
                  <c:v>B1 zero-shot</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full</c:v>
                  </c:pt>
                </c:lvl>
              </c:multiLvlStrCache>
            </c:multiLvlStrRef>
          </c:cat>
          <c:val>
            <c:numRef>
              <c:f>Sheet1!$B$2:$B$4</c:f>
              <c:numCache>
                <c:formatCode>General</c:formatCode>
                <c:ptCount val="3"/>
                <c:pt idx="0">
                  <c:v>22.09</c:v>
                </c:pt>
                <c:pt idx="1">
                  <c:v>28.8</c:v>
                </c:pt>
                <c:pt idx="2">
                  <c:v>29.12</c:v>
                </c:pt>
              </c:numCache>
            </c:numRef>
          </c:val>
        </c:ser>
        <c:ser>
          <c:idx val="1"/>
          <c:order val="1"/>
          <c:tx>
            <c:strRef>
              <c:f>Sheet1!$C$1</c:f>
              <c:strCache>
                <c:ptCount val="1"/>
                <c:pt idx="0">
                  <c:v>B2 QLoRA 1 epoch</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full</c:v>
                  </c:pt>
                </c:lvl>
              </c:multiLvlStrCache>
            </c:multiLvlStrRef>
          </c:cat>
          <c:val>
            <c:numRef>
              <c:f>Sheet1!$C$2:$C$4</c:f>
              <c:numCache>
                <c:formatCode>General</c:formatCode>
                <c:ptCount val="3"/>
                <c:pt idx="0">
                  <c:v>73.78</c:v>
                </c:pt>
                <c:pt idx="1">
                  <c:v>49.7</c:v>
                </c:pt>
                <c:pt idx="2">
                  <c:v>50.26</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B1</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Sheet1!$B$2:$B$3</c:f>
              <c:numCache>
                <c:formatCode>General</c:formatCode>
                <c:ptCount val="2"/>
                <c:pt idx="0">
                  <c:v>22.09</c:v>
                </c:pt>
                <c:pt idx="1">
                  <c:v>28.8</c:v>
                </c:pt>
              </c:numCache>
            </c:numRef>
          </c:val>
        </c:ser>
        <c:ser>
          <c:idx val="1"/>
          <c:order val="1"/>
          <c:tx>
            <c:strRef>
              <c:f>Sheet1!$C$1</c:f>
              <c:strCache>
                <c:ptCount val="1"/>
                <c:pt idx="0">
                  <c:v>FS5</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Sheet1!$C$2:$C$3</c:f>
              <c:numCache>
                <c:formatCode>General</c:formatCode>
                <c:ptCount val="2"/>
                <c:pt idx="0">
                  <c:v>20.03</c:v>
                </c:pt>
                <c:pt idx="1">
                  <c:v>27.6</c:v>
                </c:pt>
              </c:numCache>
            </c:numRef>
          </c:val>
        </c:ser>
        <c:ser>
          <c:idx val="2"/>
          <c:order val="2"/>
          <c:tx>
            <c:strRef>
              <c:f>Sheet1!$D$1</c:f>
              <c:strCache>
                <c:ptCount val="1"/>
                <c:pt idx="0">
                  <c:v>B2</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Sheet1!$D$2:$D$3</c:f>
              <c:numCache>
                <c:formatCode>General</c:formatCode>
                <c:ptCount val="2"/>
                <c:pt idx="0">
                  <c:v>73.78</c:v>
                </c:pt>
                <c:pt idx="1">
                  <c:v>49.7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Automatic buckets, B2 errors on full ViTextVQA test (n = 4,988)</a:t>
            </a:r>
          </a:p>
        </c:rich>
      </c:tx>
      <c:layout/>
      <c:overlay val="0"/>
    </c:title>
    <c:autoTitleDeleted val="0"/>
    <c:plotArea>
      <c:layout/>
      <c:barChart>
        <c:barDir val="bar"/>
        <c:grouping val="clustered"/>
        <c:varyColors val="0"/>
        <c:ser>
          <c:idx val="0"/>
          <c:order val="0"/>
          <c:tx>
            <c:strRef>
              <c:f>Sheet1!$B$1</c:f>
              <c:strCache>
                <c:ptCount val="1"/>
                <c:pt idx="0">
                  <c:v>% of B2 errors</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Sheet1!$A$2:$A$6</c:f>
              <c:multiLvlStrCache>
                <c:ptCount val="5"/>
                <c:lvl>
                  <c:pt idx="0">
                    <c:v>other: content / region</c:v>
                  </c:pt>
                  <c:pt idx="1">
                    <c:v>1–2 characters off</c:v>
                  </c:pt>
                  <c:pt idx="2">
                    <c:v>answer too long</c:v>
                  </c:pt>
                  <c:pt idx="3">
                    <c:v>answer too short</c:v>
                  </c:pt>
                  <c:pt idx="4">
                    <c:v>tone marks only</c:v>
                  </c:pt>
                </c:lvl>
              </c:multiLvlStrCache>
            </c:multiLvlStrRef>
          </c:cat>
          <c:val>
            <c:numRef>
              <c:f>Sheet1!$B$2:$B$6</c:f>
              <c:numCache>
                <c:formatCode>General</c:formatCode>
                <c:ptCount val="5"/>
                <c:pt idx="0">
                  <c:v>47.4</c:v>
                </c:pt>
                <c:pt idx="1">
                  <c:v>16.8</c:v>
                </c:pt>
                <c:pt idx="2">
                  <c:v>13.6</c:v>
                </c:pt>
                <c:pt idx="3">
                  <c:v>13.2</c:v>
                </c:pt>
                <c:pt idx="4">
                  <c:v>9</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Nhóm trình bày Review 2: tái lập baseline Qwen2.5-VL-3B và kết quả cải tiến đầu tiên bằng QLoRA. Toàn bộ số liệu đều có log và có thể chạy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cần nhớ. Một: pipeline đánh giá của nhóm tái lập đúng số công bố của Qwen2.5-VL-3B trên TextVQA (79,6 so với 79,3), nên các số tiếng Việt phía sau đáng tin. Hai: QLoRA chỉ train 0,2% tham số nhưng tăng EM rất mạnh trên cả hai bộ dữ liệu, có kiểm định thống kê. Ba: trên toàn bộ test ViTextVQA, B2 vượt SOTA của paper ViTextBLIP-2.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buổi họp ngày 07/10, thầy Trí yêu cầu năm việc trước khi bàn cải tiến. Bảng này cho thấy mỗi yêu cầu được xử lý ở slide nào. Các góp ý của reviewer Review 1 đã được sửa trong bản báo cáo Review 1 và ghi trong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ViVQA được tạo từ COCO-QA, câu hỏi sinh tự động rồi dịch bằng Google Translate. Vì vậy có các điểm nhiễu N1 đến N4, ví dụ purple bị dịch thành tía. Nhóm cũng kiểm tra rò rỉ: ở ViVQA, 46% ảnh test xuất hiện trong train; ở ViTextVQA thì không có ảnh trùng nào, nên đây là phép thử tổng quát hoá sạch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baseline mà thầy yêu cầu. Ảnh đi qua vision encoder 32 khối, được gộp còn 256 đến 512 token, rồi ghép với câu hỏi đưa vào decoder 36 lớp. Toàn bộ trọng số gốc đóng băng và lượng tử 4-bit. Phần duy nhất được train là LoRA ở 4 phép chiếu q, k, v, o của self-attention — ô màu 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run dùng chung một giao thức: split và seed cố định, cùng prompt, cấu hình khoá trong file config, cùng hàm chuẩn hoá và metric, và log đầy đủ commit, GPU, thời gian. So sánh hai run luôn dùng kiểm định ghép cặp McNemar cho EM và bootstrap cho ANLS. Luật kết luận được chốt trước khi chạy để tránh chọn kết quả có lợi.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chưa paper nào công bố Qwen2.5-VL-3B trên ViVQA hay ViTextVQA, nên không thể so trực tiếp. Nhóm kiểm chứng pipeline bằng một con số đã công bố: TextVQA val trong báo cáo Qwen2.5-VL là 79,3. Nhóm chạy được 79,6, nằm trong ngưỡng ±2 điểm đã chốt. Cấu hình tiết kiệm của nhóm (4-bit, 512 token) mất 4,4 điểm nhưng giảm VRAM 4,3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là baseline zero-shot chính thức. Lỗi lớn nhất là định dạng: model trả lời dài hơn đáp án chuẩn, ví dụ 'Lịch tết năm 2021' trong khi đáp án là '2021'. Trên ViTextVQA có 19% câu model đọc ra đúng đáp án nhưng EM vẫn tính sai. Theo loại câu hỏi, ViVQA rất yếu ở vị trí và đồ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của paper ViTextVQA có dòng QwenVL-7b đạt EM 28 trên 100 câu. Nhóm chạy Qwen2-VL-7B trong đúng điều kiện của baseline. Kết quả 7B kém 3B 12,6 điểm EM, p rất nhỏ, chậm hơn và tốn VRAM hơn. Nguyên nhân chính là 7B trả lời dài, trung bình 8,2 từ. Table 7 chỉ có 100 câu nên sai số khoảng ±9 điểm, không đủ để chọn giữa 3B và 7B. Vì vậy nhóm giữ Qwen2.5-VL-3B.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khác B1 đúng một biến: có adapter LoRA. Chỉ một epoch, EM ViVQA tăng từ 22 lên 74, ViTextVQA từ 29 lên 50 trên toàn bộ test. Cả hai đạt luật chốt trước: EM tăng và McNemar p nhỏ hơn 0,05. Chi phí rất thấp: 3 giờ train cho ViVQA, 12 giờ cho ViTextVQA, VRAM dưới 7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phép đối chứng. Một: ở ViVQA, trên phần test sạch chưa từng xuất hiện trong train, EM vẫn tăng từ 25 lên 69. Hai: ViTextVQA không có ảnh trùng mà vẫn tăng 21 điểm. Ba: đưa 5 ví dụ đáp án vào prompt (few-shot) không giúp gì, thậm chí giảm ở ViVQA. Vậy QLoRA học được nhiều hơn là cách trả lời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toàn bộ 10.028 câu test, B2 đạt EM 50,3 và F1 71,2, cao hơn ViTextBLIP-2 là SOTA của paper, với cận dưới khoảng tin cậy vẫn cao hơn số công bố. B1 zero-shot chỉ cao hơn về EM, còn F1 thì ngang. Chạy lại trên 2.000 câu chung cho kết quả trùng 100%. Giới hạn: paper không công bố cách chuẩn hoá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với các giả thuyết đã nêu ở Review 1. H1 được ủng hộ mạnh. H2 chỉ đạt một nửa: VRAM giảm nhiều nhưng độ chính xác giữ 94,5%, dưới mức 97%. H7 chưa được ủng hộ với dạng few-shot đã thử. H8: duyệt tay 200 lỗi của B2 cho thấy chỉ khoảng 7% là hallucination thật; nhưng H8 so sánh với zero-shot, nên cần đo thêm B1 ở tuần 11 — vì vậy vẫn để Đang chờ. H3 đến H6 thuộc kế hoạch W8 đến W12.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tự động 4.988 câu B2 còn sai trên full test ViTextVQA. 9% chỉ sai dấu thanh, ví dụ thủy và thúy — đây là thách thức riêng của tiếng Việt. 17% chỉ lệch một hai ký tự, thường là đọc chữ hoặc số. Khoảng 27% sai về độ dài: thừa hoặc thiếu chữ so với gold. 47% còn lại sai về nội dung hoặc vùng ảnh. Nhóm đã duyệt tay 200 lỗi của B2 có xem ảnh, 4 người cùng nhãn gợi ý của AI, trưởng nhóm phân xử các chỗ lệch. Kết quả: 54% câu bị EM chấm sai thực ra đúng ý — EM quá khắt khe; 12,5% do gold nhiễu; ở ViTextVQA lỗi thật chủ yếu là đọc sai chữ 28% và đọc nhầm vùng chữ 23%; hallucination thật chỉ 7%. Độ đồng thuận giữa hai người gán nhãn độc lập kappa 0,62; bỏ 42 dòng có AI hỗ trợ thì kết luận không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tuần 8 đến tuần 13: chạy QLoRA chính thức nhiều epoch và chọn epoch trên tập dev, thử làm sạch nhãn nhiễu, OCR-enhanced prompting cho ViTextVQA, ablation cấu hình LoRA, adapter dùng chung cho hai dataset, đo hallucination có hệ thống, rồi dựng prototype web cho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rtlCol="0"/>
          <a:lstStyle>
            <a:lvl1pPr algn="l" indent="0" marL="0">
              <a:buNone/>
              <a:defRPr lang="en-US" sz="1800" dirty="0">
                <a:solidFill>
                  <a:schemeClr val="bg1"/>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ViVQA-VLM · Review 2 · GFA26AI35 · FPT University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ViVQA-VLM</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Efficient Vietnamese Visual Question Answering using Vision-Language Models</a:t>
            </a:r>
            <a:endParaRPr lang="en-US" sz="1800" dirty="0"/>
          </a:p>
          <a:p>
            <a:pPr algn="l" indent="0" marL="0">
              <a:buNone/>
            </a:pPr>
            <a:r>
              <a:rPr lang="en-US" sz="10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800" b="1" dirty="0">
                <a:solidFill>
                  <a:srgbClr val="E8A33D"/>
                </a:solidFill>
                <a:latin typeface="Calibri" pitchFamily="34" charset="0"/>
                <a:ea typeface="Calibri" pitchFamily="34" charset="-122"/>
                <a:cs typeface="Calibri" pitchFamily="34" charset="-120"/>
              </a:rPr>
              <a:t>Review 2  ·  Baseline reproduction and first PEFT results</a:t>
            </a:r>
            <a:endParaRPr lang="en-US" sz="1800" dirty="0"/>
          </a:p>
          <a:p>
            <a:pPr algn="l" indent="0" marL="0">
              <a:buNone/>
            </a:pPr>
            <a:r>
              <a:rPr lang="en-US" sz="18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Supervisors:  </a:t>
            </a:r>
            <a:pPr algn="l" indent="0" marL="0">
              <a:buNone/>
            </a:pPr>
            <a:r>
              <a:rPr lang="en-US" sz="1500" dirty="0">
                <a:solidFill>
                  <a:schemeClr val="bg1"/>
                </a:solidFill>
                <a:latin typeface="Calibri" pitchFamily="34" charset="0"/>
                <a:ea typeface="Calibri" pitchFamily="34" charset="-122"/>
                <a:cs typeface="Calibri" pitchFamily="34" charset="-120"/>
              </a:rPr>
              <a:t>Đặng Ngọc Minh Đức · Phạm Minh Trí</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Team:  </a:t>
            </a:r>
            <a:pPr algn="l" indent="0" marL="0">
              <a:buNone/>
            </a:pPr>
            <a:r>
              <a:rPr lang="en-US" sz="1500" dirty="0">
                <a:solidFill>
                  <a:schemeClr val="bg1"/>
                </a:solidFill>
                <a:latin typeface="Calibri" pitchFamily="34" charset="0"/>
                <a:ea typeface="Calibri" pitchFamily="34" charset="-122"/>
                <a:cs typeface="Calibri" pitchFamily="34" charset="-120"/>
              </a:rPr>
              <a:t>Phạm Lê Huy Hoàng (Leader) · Văn Quang Trường · Trần Quốc Huân · Hồ Đắc Toàn</a:t>
            </a:r>
            <a:endParaRPr lang="en-US" sz="1800" dirty="0"/>
          </a:p>
          <a:p>
            <a:pPr algn="l" indent="0" marL="0">
              <a:buNone/>
            </a:pPr>
            <a:r>
              <a:rPr lang="en-US" sz="15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300" dirty="0">
                <a:solidFill>
                  <a:srgbClr val="A8C4E0"/>
                </a:solidFill>
                <a:latin typeface="Calibri" pitchFamily="34" charset="0"/>
                <a:ea typeface="Calibri" pitchFamily="34" charset="-122"/>
                <a:cs typeface="Calibri" pitchFamily="34" charset="-120"/>
              </a:rPr>
              <a:t>Group GFA26AI35  ·  FPT University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SUMMARY</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Three results of this milestone</a:t>
            </a:r>
            <a:endParaRPr lang="en-US" sz="3200" dirty="0"/>
          </a:p>
        </p:txBody>
      </p:sp>
      <p:sp>
        <p:nvSpPr>
          <p:cNvPr id="5" name="card_1"/>
          <p:cNvSpPr/>
          <p:nvPr/>
        </p:nvSpPr>
        <p:spPr>
          <a:xfrm>
            <a:off x="548640" y="1600200"/>
            <a:ext cx="3454298" cy="2651760"/>
          </a:xfrm>
          <a:prstGeom prst="roundRect">
            <a:avLst>
              <a:gd name="adj" fmla="val 2759"/>
            </a:avLst>
          </a:prstGeom>
          <a:solidFill>
            <a:schemeClr val="bg2"/>
          </a:solidFill>
          <a:ln w="12700">
            <a:solidFill>
              <a:schemeClr val="bg2"/>
            </a:solidFill>
            <a:prstDash val="solid"/>
          </a:ln>
        </p:spPr>
      </p:sp>
      <p:sp>
        <p:nvSpPr>
          <p:cNvPr id="6" name="text_2"/>
          <p:cNvSpPr txBox="1"/>
          <p:nvPr/>
        </p:nvSpPr>
        <p:spPr>
          <a:xfrm>
            <a:off x="868680" y="2057400"/>
            <a:ext cx="2814218"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79.6</a:t>
            </a:r>
            <a:endParaRPr lang="en-US" sz="4000" dirty="0"/>
          </a:p>
        </p:txBody>
      </p:sp>
      <p:sp>
        <p:nvSpPr>
          <p:cNvPr id="7" name="text_3"/>
          <p:cNvSpPr txBox="1"/>
          <p:nvPr/>
        </p:nvSpPr>
        <p:spPr>
          <a:xfrm>
            <a:off x="868680" y="2926080"/>
            <a:ext cx="2814218"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Pipeline check — TextVQA val, Qwen2.5-VL-3B; the official report gives 79.3</a:t>
            </a:r>
            <a:endParaRPr lang="en-US" sz="1400" dirty="0"/>
          </a:p>
        </p:txBody>
      </p:sp>
      <p:sp>
        <p:nvSpPr>
          <p:cNvPr id="8" name="card_4"/>
          <p:cNvSpPr/>
          <p:nvPr/>
        </p:nvSpPr>
        <p:spPr>
          <a:xfrm>
            <a:off x="4368698" y="1600200"/>
            <a:ext cx="3454298" cy="2651760"/>
          </a:xfrm>
          <a:prstGeom prst="roundRect">
            <a:avLst>
              <a:gd name="adj" fmla="val 2759"/>
            </a:avLst>
          </a:prstGeom>
          <a:solidFill>
            <a:schemeClr val="bg2"/>
          </a:solidFill>
          <a:ln w="12700">
            <a:solidFill>
              <a:schemeClr val="bg2"/>
            </a:solidFill>
            <a:prstDash val="solid"/>
          </a:ln>
        </p:spPr>
      </p:sp>
      <p:sp>
        <p:nvSpPr>
          <p:cNvPr id="9" name="text_5"/>
          <p:cNvSpPr txBox="1"/>
          <p:nvPr/>
        </p:nvSpPr>
        <p:spPr>
          <a:xfrm>
            <a:off x="4688738" y="2057400"/>
            <a:ext cx="2814218" cy="82296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+21.1 EM</a:t>
            </a:r>
            <a:endParaRPr lang="en-US" sz="4000" dirty="0"/>
          </a:p>
        </p:txBody>
      </p:sp>
      <p:sp>
        <p:nvSpPr>
          <p:cNvPr id="10" name="text_6"/>
          <p:cNvSpPr txBox="1"/>
          <p:nvPr/>
        </p:nvSpPr>
        <p:spPr>
          <a:xfrm>
            <a:off x="4688738" y="2926080"/>
            <a:ext cx="2814218"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QLoRA over zero-shot on the full ViTextVQA test (+51.7 EM on ViVQA); McNemar p ≈ 0</a:t>
            </a:r>
            <a:endParaRPr lang="en-US" sz="1400" dirty="0"/>
          </a:p>
        </p:txBody>
      </p:sp>
      <p:sp>
        <p:nvSpPr>
          <p:cNvPr id="11" name="card_7"/>
          <p:cNvSpPr/>
          <p:nvPr/>
        </p:nvSpPr>
        <p:spPr>
          <a:xfrm>
            <a:off x="8188757" y="1600200"/>
            <a:ext cx="3454298" cy="2651760"/>
          </a:xfrm>
          <a:prstGeom prst="roundRect">
            <a:avLst>
              <a:gd name="adj" fmla="val 2759"/>
            </a:avLst>
          </a:prstGeom>
          <a:solidFill>
            <a:schemeClr val="bg2"/>
          </a:solidFill>
          <a:ln w="12700">
            <a:solidFill>
              <a:schemeClr val="bg2"/>
            </a:solidFill>
            <a:prstDash val="solid"/>
          </a:ln>
        </p:spPr>
      </p:sp>
      <p:sp>
        <p:nvSpPr>
          <p:cNvPr id="12" name="text_8"/>
          <p:cNvSpPr txBox="1"/>
          <p:nvPr/>
        </p:nvSpPr>
        <p:spPr>
          <a:xfrm>
            <a:off x="8508797" y="2057400"/>
            <a:ext cx="2814218"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50.3 vs 25.5</a:t>
            </a:r>
            <a:endParaRPr lang="en-US" sz="4000" dirty="0"/>
          </a:p>
        </p:txBody>
      </p:sp>
      <p:sp>
        <p:nvSpPr>
          <p:cNvPr id="13" name="text_9"/>
          <p:cNvSpPr txBox="1"/>
          <p:nvPr/>
        </p:nvSpPr>
        <p:spPr>
          <a:xfrm>
            <a:off x="8508797" y="2926080"/>
            <a:ext cx="2814218"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on the full ViTextVQA test vs the published SOTA ViTextBLIP-2</a:t>
            </a:r>
            <a:endParaRPr lang="en-US" sz="1400" dirty="0"/>
          </a:p>
        </p:txBody>
      </p:sp>
      <p:sp>
        <p:nvSpPr>
          <p:cNvPr id="14" name="card_10"/>
          <p:cNvSpPr/>
          <p:nvPr/>
        </p:nvSpPr>
        <p:spPr>
          <a:xfrm>
            <a:off x="548640" y="4572000"/>
            <a:ext cx="11094415" cy="960120"/>
          </a:xfrm>
          <a:prstGeom prst="roundRect">
            <a:avLst>
              <a:gd name="adj" fmla="val 7619"/>
            </a:avLst>
          </a:prstGeom>
          <a:solidFill>
            <a:schemeClr val="accent4"/>
          </a:solidFill>
          <a:ln w="12700">
            <a:solidFill>
              <a:schemeClr val="accent4"/>
            </a:solidFill>
            <a:prstDash val="solid"/>
          </a:ln>
        </p:spPr>
      </p:sp>
      <p:sp>
        <p:nvSpPr>
          <p:cNvPr id="15" name="text_11"/>
          <p:cNvSpPr txBox="1"/>
          <p:nvPr/>
        </p:nvSpPr>
        <p:spPr>
          <a:xfrm>
            <a:off x="868680" y="4572000"/>
            <a:ext cx="10454335" cy="960120"/>
          </a:xfrm>
          <a:prstGeom prst="rect">
            <a:avLst/>
          </a:prstGeom>
          <a:noFill/>
          <a:ln/>
        </p:spPr>
        <p:txBody>
          <a:bodyPr wrap="square" lIns="0" tIns="0" rIns="0" bIns="0" rtlCol="0" anchor="ctr"/>
          <a:lstStyle/>
          <a:p>
            <a:pPr indent="0" marL="0">
              <a:buNone/>
            </a:pPr>
            <a:r>
              <a:rPr lang="en-US" sz="1600" dirty="0">
                <a:solidFill>
                  <a:schemeClr val="tx2"/>
                </a:solidFill>
                <a:latin typeface="Calibri" pitchFamily="34" charset="0"/>
                <a:ea typeface="Calibri" pitchFamily="34" charset="-122"/>
                <a:cs typeface="Calibri" pitchFamily="34" charset="-120"/>
              </a:rPr>
              <a:t>Efficient by design: QLoRA trains 7.37 M parameters (0.196%), a 29.5 MB adapter, on a single NVIDIA L4 GPU — no full fine-tuning.</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01 · RESPONSE TO FEEDBACK</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Advisor feedback (07/10) and what we did</a:t>
            </a:r>
            <a:endParaRPr lang="en-US" sz="3200" dirty="0"/>
          </a:p>
        </p:txBody>
      </p:sp>
      <p:graphicFrame>
        <p:nvGraphicFramePr>
          <p:cNvPr id="4" name="table_12"/>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291840"/>
                <a:gridCol w="6675120"/>
                <a:gridCol w="112471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Feedback</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No baseline architecture diagram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Component-level diagram of Qwen2.5-VL-3B with LoRA placement (Fig. 7A)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Explain the dataset and its noise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ViVQA build pipeline + noise points N1–N4 (Fig. 6A); train–test leakage check; 400-sample manual audit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4, 14</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Re-run the baseline with a stated evaluation method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Frozen protocol (Fig. 7B); pipeline validated on a published number (R0); zero-shot B1 on both datasets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Know the SOTA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ViTextBLIP-2 compared on the full test; Table 7 LMM row checked with Qwen2-VL-7B (R1)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9, 12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Run experiments before discussing improvements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QLoRA pilot (B2) + three controls: leakage strata, few-shot prompt, backbone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10–11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02 · DATASET UNDERSTANDING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is machine-translated — noise is built in</a:t>
            </a:r>
            <a:endParaRPr lang="en-US" sz="3200" dirty="0"/>
          </a:p>
        </p:txBody>
      </p:sp>
      <p:pic>
        <p:nvPicPr>
          <p:cNvPr id="5" name="figure_13" descr="a6">    </p:cNvPr>
          <p:cNvPicPr>
            <a:picLocks noChangeAspect="1"/>
          </p:cNvPicPr>
          <p:nvPr/>
        </p:nvPicPr>
        <p:blipFill>
          <a:blip r:embed="rId1"/>
          <a:stretch>
            <a:fillRect/>
          </a:stretch>
        </p:blipFill>
        <p:spPr>
          <a:xfrm>
            <a:off x="1144641" y="1371600"/>
            <a:ext cx="9902414" cy="3840480"/>
          </a:xfrm>
          <a:prstGeom prst="rect">
            <a:avLst/>
          </a:prstGeom>
        </p:spPr>
      </p:pic>
      <p:sp>
        <p:nvSpPr>
          <p:cNvPr id="6" name="card_14"/>
          <p:cNvSpPr/>
          <p:nvPr/>
        </p:nvSpPr>
        <p:spPr>
          <a:xfrm>
            <a:off x="548640" y="5486400"/>
            <a:ext cx="5364328" cy="777240"/>
          </a:xfrm>
          <a:prstGeom prst="roundRect">
            <a:avLst>
              <a:gd name="adj" fmla="val 9412"/>
            </a:avLst>
          </a:prstGeom>
          <a:solidFill>
            <a:schemeClr val="bg2"/>
          </a:solidFill>
          <a:ln w="12700">
            <a:solidFill>
              <a:schemeClr val="bg2"/>
            </a:solidFill>
            <a:prstDash val="solid"/>
          </a:ln>
        </p:spPr>
      </p:sp>
      <p:sp>
        <p:nvSpPr>
          <p:cNvPr id="7" name="text_15"/>
          <p:cNvSpPr txBox="1"/>
          <p:nvPr/>
        </p:nvSpPr>
        <p:spPr>
          <a:xfrm>
            <a:off x="822960"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ViVQA  </a:t>
            </a:r>
            <a:pPr indent="0" marL="0">
              <a:buNone/>
            </a:pPr>
            <a:r>
              <a:rPr lang="en-US" sz="1400" dirty="0">
                <a:solidFill>
                  <a:schemeClr val="tx1"/>
                </a:solidFill>
                <a:latin typeface="Calibri" pitchFamily="34" charset="0"/>
                <a:ea typeface="Calibri" pitchFamily="34" charset="-122"/>
                <a:cs typeface="Calibri" pitchFamily="34" charset="-120"/>
              </a:rPr>
              <a:t>1,274 / 2,789 test images also appear in train; 99.4% of test answers belong to the 333 train answers (closed vocabulary)</a:t>
            </a:r>
            <a:endParaRPr lang="en-US" sz="1400" dirty="0"/>
          </a:p>
        </p:txBody>
      </p:sp>
      <p:sp>
        <p:nvSpPr>
          <p:cNvPr id="8" name="card_16"/>
          <p:cNvSpPr/>
          <p:nvPr/>
        </p:nvSpPr>
        <p:spPr>
          <a:xfrm>
            <a:off x="6278728" y="5486400"/>
            <a:ext cx="5364328" cy="777240"/>
          </a:xfrm>
          <a:prstGeom prst="roundRect">
            <a:avLst>
              <a:gd name="adj" fmla="val 9412"/>
            </a:avLst>
          </a:prstGeom>
          <a:solidFill>
            <a:schemeClr val="accent4"/>
          </a:solidFill>
          <a:ln w="12700">
            <a:solidFill>
              <a:schemeClr val="accent4"/>
            </a:solidFill>
            <a:prstDash val="solid"/>
          </a:ln>
        </p:spPr>
      </p:sp>
      <p:sp>
        <p:nvSpPr>
          <p:cNvPr id="9" name="text_17"/>
          <p:cNvSpPr txBox="1"/>
          <p:nvPr/>
        </p:nvSpPr>
        <p:spPr>
          <a:xfrm>
            <a:off x="6553048"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ViTextVQA  </a:t>
            </a:r>
            <a:pPr indent="0" marL="0">
              <a:buNone/>
            </a:pPr>
            <a:r>
              <a:rPr lang="en-US" sz="1400" dirty="0">
                <a:solidFill>
                  <a:schemeClr val="tx1"/>
                </a:solidFill>
                <a:latin typeface="Calibri" pitchFamily="34" charset="0"/>
                <a:ea typeface="Calibri" pitchFamily="34" charset="-122"/>
                <a:cs typeface="Calibri" pitchFamily="34" charset="-120"/>
              </a:rPr>
              <a:t>0 images shared between train/dev and test; 46% of test answers occur in train → a cleaner test of generalization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03 · BASELINE ARCHITECTURE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Qwen2.5-VL-3B-Instruct</a:t>
            </a:r>
            <a:endParaRPr lang="en-US" sz="3200" dirty="0"/>
          </a:p>
        </p:txBody>
      </p:sp>
      <p:pic>
        <p:nvPicPr>
          <p:cNvPr id="5" name="figure_18" descr="a7">    </p:cNvPr>
          <p:cNvPicPr>
            <a:picLocks noChangeAspect="1"/>
          </p:cNvPicPr>
          <p:nvPr/>
        </p:nvPicPr>
        <p:blipFill>
          <a:blip r:embed="rId1"/>
          <a:stretch>
            <a:fillRect/>
          </a:stretch>
        </p:blipFill>
        <p:spPr>
          <a:xfrm>
            <a:off x="548640" y="1325880"/>
            <a:ext cx="8138160" cy="4641536"/>
          </a:xfrm>
          <a:prstGeom prst="rect">
            <a:avLst/>
          </a:prstGeom>
        </p:spPr>
      </p:pic>
      <p:sp>
        <p:nvSpPr>
          <p:cNvPr id="6" name="card_19"/>
          <p:cNvSpPr/>
          <p:nvPr/>
        </p:nvSpPr>
        <p:spPr>
          <a:xfrm>
            <a:off x="9052560" y="1325880"/>
            <a:ext cx="2590495" cy="2240280"/>
          </a:xfrm>
          <a:prstGeom prst="roundRect">
            <a:avLst>
              <a:gd name="adj" fmla="val 3265"/>
            </a:avLst>
          </a:prstGeom>
          <a:solidFill>
            <a:schemeClr val="accent5"/>
          </a:solidFill>
          <a:ln w="12700">
            <a:solidFill>
              <a:schemeClr val="accent5"/>
            </a:solidFill>
            <a:prstDash val="solid"/>
          </a:ln>
        </p:spPr>
      </p:sp>
      <p:sp>
        <p:nvSpPr>
          <p:cNvPr id="7" name="text_20"/>
          <p:cNvSpPr txBox="1"/>
          <p:nvPr/>
        </p:nvSpPr>
        <p:spPr>
          <a:xfrm>
            <a:off x="9281160" y="1463040"/>
            <a:ext cx="21332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Trained (QLoRA)</a:t>
            </a:r>
            <a:endParaRPr lang="en-US" sz="1600" dirty="0"/>
          </a:p>
        </p:txBody>
      </p:sp>
      <p:sp>
        <p:nvSpPr>
          <p:cNvPr id="8" name="list_21"/>
          <p:cNvSpPr txBox="1"/>
          <p:nvPr/>
        </p:nvSpPr>
        <p:spPr>
          <a:xfrm>
            <a:off x="9281160" y="1874520"/>
            <a:ext cx="2133295" cy="1600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LoRA r = 16, α = 32 on q, k, v, o</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7,372,800 params = 0.196%</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Adapter 29.5 MB</a:t>
            </a:r>
            <a:endParaRPr lang="en-US" sz="1400" dirty="0"/>
          </a:p>
        </p:txBody>
      </p:sp>
      <p:sp>
        <p:nvSpPr>
          <p:cNvPr id="9" name="card_22"/>
          <p:cNvSpPr/>
          <p:nvPr/>
        </p:nvSpPr>
        <p:spPr>
          <a:xfrm>
            <a:off x="9052560" y="3749040"/>
            <a:ext cx="2590495" cy="2514600"/>
          </a:xfrm>
          <a:prstGeom prst="roundRect">
            <a:avLst>
              <a:gd name="adj" fmla="val 2909"/>
            </a:avLst>
          </a:prstGeom>
          <a:solidFill>
            <a:schemeClr val="bg2"/>
          </a:solidFill>
          <a:ln w="12700">
            <a:solidFill>
              <a:schemeClr val="bg2"/>
            </a:solidFill>
            <a:prstDash val="solid"/>
          </a:ln>
        </p:spPr>
      </p:sp>
      <p:sp>
        <p:nvSpPr>
          <p:cNvPr id="10" name="text_23"/>
          <p:cNvSpPr txBox="1"/>
          <p:nvPr/>
        </p:nvSpPr>
        <p:spPr>
          <a:xfrm>
            <a:off x="9281160" y="3886200"/>
            <a:ext cx="21332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Frozen</a:t>
            </a:r>
            <a:endParaRPr lang="en-US" sz="1600" dirty="0"/>
          </a:p>
        </p:txBody>
      </p:sp>
      <p:sp>
        <p:nvSpPr>
          <p:cNvPr id="11" name="list_24"/>
          <p:cNvSpPr txBox="1"/>
          <p:nvPr/>
        </p:nvSpPr>
        <p:spPr>
          <a:xfrm>
            <a:off x="9281160" y="4297680"/>
            <a:ext cx="2133295"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ViT (32 blocks) + patch merger</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LLM decoder, 36 layers, 4-bit NF4</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256–512 visual tokens per image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03 · EVALUATION PROTOCOL</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Every run follows one frozen protocol</a:t>
            </a:r>
            <a:endParaRPr lang="en-US" sz="3200" dirty="0"/>
          </a:p>
        </p:txBody>
      </p:sp>
      <p:pic>
        <p:nvPicPr>
          <p:cNvPr id="5" name="figure_25" descr="b7">    </p:cNvPr>
          <p:cNvPicPr>
            <a:picLocks noChangeAspect="1"/>
          </p:cNvPicPr>
          <p:nvPr/>
        </p:nvPicPr>
        <p:blipFill>
          <a:blip r:embed="rId1"/>
          <a:stretch>
            <a:fillRect/>
          </a:stretch>
        </p:blipFill>
        <p:spPr>
          <a:xfrm>
            <a:off x="548640" y="1325880"/>
            <a:ext cx="11094415" cy="2161935"/>
          </a:xfrm>
          <a:prstGeom prst="rect">
            <a:avLst/>
          </a:prstGeom>
        </p:spPr>
      </p:pic>
      <p:sp>
        <p:nvSpPr>
          <p:cNvPr id="6" name="card_26"/>
          <p:cNvSpPr/>
          <p:nvPr/>
        </p:nvSpPr>
        <p:spPr>
          <a:xfrm>
            <a:off x="548640" y="3807855"/>
            <a:ext cx="3454298" cy="2455785"/>
          </a:xfrm>
          <a:prstGeom prst="roundRect">
            <a:avLst>
              <a:gd name="adj" fmla="val 2979"/>
            </a:avLst>
          </a:prstGeom>
          <a:solidFill>
            <a:schemeClr val="bg2"/>
          </a:solidFill>
          <a:ln w="12700">
            <a:solidFill>
              <a:schemeClr val="bg2"/>
            </a:solidFill>
            <a:prstDash val="solid"/>
          </a:ln>
        </p:spPr>
      </p:sp>
      <p:sp>
        <p:nvSpPr>
          <p:cNvPr id="7" name="text_27"/>
          <p:cNvSpPr txBox="1"/>
          <p:nvPr/>
        </p:nvSpPr>
        <p:spPr>
          <a:xfrm>
            <a:off x="777240" y="394501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Frozen configuration</a:t>
            </a:r>
            <a:endParaRPr lang="en-US" sz="1600" dirty="0"/>
          </a:p>
        </p:txBody>
      </p:sp>
      <p:sp>
        <p:nvSpPr>
          <p:cNvPr id="8" name="list_28"/>
          <p:cNvSpPr txBox="1"/>
          <p:nvPr/>
        </p:nvSpPr>
        <p:spPr>
          <a:xfrm>
            <a:off x="777240" y="4356495"/>
            <a:ext cx="2997098" cy="18157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bf16 compute, 4-bit NF4 + double quant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512 visual tokens max</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Greedy decoding, 32 new tokens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Seed 42 · NVIDIA L4</a:t>
            </a:r>
            <a:endParaRPr lang="en-US" sz="1400" dirty="0"/>
          </a:p>
        </p:txBody>
      </p:sp>
      <p:sp>
        <p:nvSpPr>
          <p:cNvPr id="9" name="card_29"/>
          <p:cNvSpPr/>
          <p:nvPr/>
        </p:nvSpPr>
        <p:spPr>
          <a:xfrm>
            <a:off x="4368698" y="3807855"/>
            <a:ext cx="3454298" cy="2455785"/>
          </a:xfrm>
          <a:prstGeom prst="roundRect">
            <a:avLst>
              <a:gd name="adj" fmla="val 2979"/>
            </a:avLst>
          </a:prstGeom>
          <a:solidFill>
            <a:schemeClr val="bg2"/>
          </a:solidFill>
          <a:ln w="12700">
            <a:solidFill>
              <a:schemeClr val="bg2"/>
            </a:solidFill>
            <a:prstDash val="solid"/>
          </a:ln>
        </p:spPr>
      </p:sp>
      <p:sp>
        <p:nvSpPr>
          <p:cNvPr id="10" name="text_30"/>
          <p:cNvSpPr txBox="1"/>
          <p:nvPr/>
        </p:nvSpPr>
        <p:spPr>
          <a:xfrm>
            <a:off x="4597298" y="394501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Metrics</a:t>
            </a:r>
            <a:endParaRPr lang="en-US" sz="1600" dirty="0"/>
          </a:p>
        </p:txBody>
      </p:sp>
      <p:sp>
        <p:nvSpPr>
          <p:cNvPr id="11" name="list_31"/>
          <p:cNvSpPr txBox="1"/>
          <p:nvPr/>
        </p:nvSpPr>
        <p:spPr>
          <a:xfrm>
            <a:off x="4597298" y="4356495"/>
            <a:ext cx="2997098" cy="18157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Primary: EM, VQA-Acc,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Secondary: token-F1 (to compare with the paper)</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Symmetric Vietnamese normalization, tone marks kept</a:t>
            </a:r>
            <a:endParaRPr lang="en-US" sz="1400" dirty="0"/>
          </a:p>
        </p:txBody>
      </p:sp>
      <p:sp>
        <p:nvSpPr>
          <p:cNvPr id="12" name="card_32"/>
          <p:cNvSpPr/>
          <p:nvPr/>
        </p:nvSpPr>
        <p:spPr>
          <a:xfrm>
            <a:off x="8188757" y="3807855"/>
            <a:ext cx="3454298" cy="2455785"/>
          </a:xfrm>
          <a:prstGeom prst="roundRect">
            <a:avLst>
              <a:gd name="adj" fmla="val 2979"/>
            </a:avLst>
          </a:prstGeom>
          <a:solidFill>
            <a:schemeClr val="bg2"/>
          </a:solidFill>
          <a:ln w="12700">
            <a:solidFill>
              <a:schemeClr val="bg2"/>
            </a:solidFill>
            <a:prstDash val="solid"/>
          </a:ln>
        </p:spPr>
      </p:sp>
      <p:sp>
        <p:nvSpPr>
          <p:cNvPr id="13" name="text_33"/>
          <p:cNvSpPr txBox="1"/>
          <p:nvPr/>
        </p:nvSpPr>
        <p:spPr>
          <a:xfrm>
            <a:off x="8417357" y="394501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Statistics</a:t>
            </a:r>
            <a:endParaRPr lang="en-US" sz="1600" dirty="0"/>
          </a:p>
        </p:txBody>
      </p:sp>
      <p:sp>
        <p:nvSpPr>
          <p:cNvPr id="14" name="list_34"/>
          <p:cNvSpPr txBox="1"/>
          <p:nvPr/>
        </p:nvSpPr>
        <p:spPr>
          <a:xfrm>
            <a:off x="8417357" y="4356495"/>
            <a:ext cx="2997098" cy="18157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Paired McNemar exact test (EM)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Paired bootstrap CI95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Decision rules fixed before each run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04 · PIPELINE VALIDATION (R0)</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Our pipeline reproduces the published number</a:t>
            </a:r>
            <a:endParaRPr lang="en-US" sz="3200" dirty="0"/>
          </a:p>
        </p:txBody>
      </p:sp>
      <p:graphicFrame>
        <p:nvGraphicFramePr>
          <p:cNvPr id="5" name="chart_35" descr=""/>
          <p:cNvGraphicFramePr/>
          <p:nvPr/>
        </p:nvGraphicFramePr>
        <p:xfrm>
          <a:off x="548640" y="137160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6" name="card_36"/>
          <p:cNvSpPr/>
          <p:nvPr/>
        </p:nvSpPr>
        <p:spPr>
          <a:xfrm>
            <a:off x="7498080" y="1371600"/>
            <a:ext cx="4144975" cy="2240280"/>
          </a:xfrm>
          <a:prstGeom prst="roundRect">
            <a:avLst>
              <a:gd name="adj" fmla="val 3265"/>
            </a:avLst>
          </a:prstGeom>
          <a:solidFill>
            <a:schemeClr val="accent4"/>
          </a:solidFill>
          <a:ln w="12700">
            <a:solidFill>
              <a:schemeClr val="accent4"/>
            </a:solidFill>
            <a:prstDash val="solid"/>
          </a:ln>
        </p:spPr>
      </p:sp>
      <p:sp>
        <p:nvSpPr>
          <p:cNvPr id="7" name="text_37"/>
          <p:cNvSpPr txBox="1"/>
          <p:nvPr/>
        </p:nvSpPr>
        <p:spPr>
          <a:xfrm>
            <a:off x="7772400" y="150876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Rule fixed before the run</a:t>
            </a:r>
            <a:endParaRPr lang="en-US" sz="1600" dirty="0"/>
          </a:p>
        </p:txBody>
      </p:sp>
      <p:sp>
        <p:nvSpPr>
          <p:cNvPr id="8" name="text_38"/>
          <p:cNvSpPr txBox="1"/>
          <p:nvPr/>
        </p:nvSpPr>
        <p:spPr>
          <a:xfrm>
            <a:off x="7772400" y="1920240"/>
            <a:ext cx="3596335"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Reproduced if |ours − 79.3| ≤ 2.0 on the full val set → 79.6 (+0.3): reproduced.</a:t>
            </a:r>
            <a:endParaRPr lang="en-US" sz="1500" dirty="0"/>
          </a:p>
        </p:txBody>
      </p:sp>
      <p:sp>
        <p:nvSpPr>
          <p:cNvPr id="9" name="card_39"/>
          <p:cNvSpPr/>
          <p:nvPr/>
        </p:nvSpPr>
        <p:spPr>
          <a:xfrm>
            <a:off x="7498080" y="3794760"/>
            <a:ext cx="4144975" cy="2423160"/>
          </a:xfrm>
          <a:prstGeom prst="roundRect">
            <a:avLst>
              <a:gd name="adj" fmla="val 3019"/>
            </a:avLst>
          </a:prstGeom>
          <a:solidFill>
            <a:schemeClr val="bg2"/>
          </a:solidFill>
          <a:ln w="12700">
            <a:solidFill>
              <a:schemeClr val="bg2"/>
            </a:solidFill>
            <a:prstDash val="solid"/>
          </a:ln>
        </p:spPr>
      </p:sp>
      <p:sp>
        <p:nvSpPr>
          <p:cNvPr id="10" name="text_40"/>
          <p:cNvSpPr txBox="1"/>
          <p:nvPr/>
        </p:nvSpPr>
        <p:spPr>
          <a:xfrm>
            <a:off x="7772400" y="393192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Cost of the efficient setup</a:t>
            </a:r>
            <a:endParaRPr lang="en-US" sz="1600" dirty="0"/>
          </a:p>
        </p:txBody>
      </p:sp>
      <p:sp>
        <p:nvSpPr>
          <p:cNvPr id="11" name="list_41"/>
          <p:cNvSpPr txBox="1"/>
          <p:nvPr/>
        </p:nvSpPr>
        <p:spPr>
          <a:xfrm>
            <a:off x="7772400" y="4343400"/>
            <a:ext cx="3596335" cy="17373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−4.4 points accuracy</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VRAM 10.9 → 2.5 GB (4.3× less)</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H2 (≥ 97% kept): not met — 94.5%</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04 · ZERO-SHOT BASELINE (B1)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Zero-shot fails mostly on answer format</a:t>
            </a:r>
            <a:endParaRPr lang="en-US" sz="3200" dirty="0"/>
          </a:p>
        </p:txBody>
      </p:sp>
      <p:graphicFrame>
        <p:nvGraphicFramePr>
          <p:cNvPr id="9" name="table_42"/>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3017520"/>
                <a:gridCol w="1005840"/>
                <a:gridCol w="1005840"/>
                <a:gridCol w="1005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set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ANLS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ViVQA (3,001)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38.1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subset (2,000)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full (10,028)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43"/>
          <p:cNvSpPr/>
          <p:nvPr/>
        </p:nvSpPr>
        <p:spPr>
          <a:xfrm>
            <a:off x="548640" y="3520440"/>
            <a:ext cx="6035040" cy="2743200"/>
          </a:xfrm>
          <a:prstGeom prst="roundRect">
            <a:avLst>
              <a:gd name="adj" fmla="val 2667"/>
            </a:avLst>
          </a:prstGeom>
          <a:solidFill>
            <a:schemeClr val="bg2"/>
          </a:solidFill>
          <a:ln w="12700">
            <a:solidFill>
              <a:schemeClr val="bg2"/>
            </a:solidFill>
            <a:prstDash val="solid"/>
          </a:ln>
        </p:spPr>
      </p:sp>
      <p:sp>
        <p:nvSpPr>
          <p:cNvPr id="7" name="text_44"/>
          <p:cNvSpPr txBox="1"/>
          <p:nvPr/>
        </p:nvSpPr>
        <p:spPr>
          <a:xfrm>
            <a:off x="822960" y="3657600"/>
            <a:ext cx="54864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ViVQA EM by question type</a:t>
            </a:r>
            <a:endParaRPr lang="en-US" sz="1600" dirty="0"/>
          </a:p>
        </p:txBody>
      </p:sp>
      <p:graphicFrame>
        <p:nvGraphicFramePr>
          <p:cNvPr id="8" name="chart_45" descr=""/>
          <p:cNvGraphicFramePr/>
          <p:nvPr/>
        </p:nvGraphicFramePr>
        <p:xfrm>
          <a:off x="731520" y="4023360"/>
          <a:ext cx="5669280" cy="2148840"/>
        </p:xfrm>
        <a:graphic xmlns:a="http://schemas.openxmlformats.org/drawingml/2006/main">
          <a:graphicData uri="http://schemas.openxmlformats.org/drawingml/2006/chart">
            <c:chart xmlns:c="http://schemas.openxmlformats.org/drawingml/2006/chart" r:id="rId1"/>
          </a:graphicData>
        </a:graphic>
      </p:graphicFrame>
      <p:sp>
        <p:nvSpPr>
          <p:cNvPr id="9" name="card_46"/>
          <p:cNvSpPr/>
          <p:nvPr/>
        </p:nvSpPr>
        <p:spPr>
          <a:xfrm>
            <a:off x="6949440" y="1417320"/>
            <a:ext cx="4693615" cy="4846320"/>
          </a:xfrm>
          <a:prstGeom prst="roundRect">
            <a:avLst>
              <a:gd name="adj" fmla="val 1559"/>
            </a:avLst>
          </a:prstGeom>
          <a:solidFill>
            <a:schemeClr val="accent5"/>
          </a:solidFill>
          <a:ln w="12700">
            <a:solidFill>
              <a:schemeClr val="accent5"/>
            </a:solidFill>
            <a:prstDash val="solid"/>
          </a:ln>
        </p:spPr>
      </p:sp>
      <p:sp>
        <p:nvSpPr>
          <p:cNvPr id="10" name="text_47"/>
          <p:cNvSpPr txBox="1"/>
          <p:nvPr/>
        </p:nvSpPr>
        <p:spPr>
          <a:xfrm>
            <a:off x="7223760" y="1554480"/>
            <a:ext cx="414497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Main failure: verbose answers</a:t>
            </a:r>
            <a:endParaRPr lang="en-US" sz="1600" dirty="0"/>
          </a:p>
        </p:txBody>
      </p:sp>
      <p:sp>
        <p:nvSpPr>
          <p:cNvPr id="11" name="list_48"/>
          <p:cNvSpPr txBox="1"/>
          <p:nvPr/>
        </p:nvSpPr>
        <p:spPr>
          <a:xfrm>
            <a:off x="7223760" y="2011680"/>
            <a:ext cx="4144975" cy="41148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Words per answer: 2.9 vs gold 1.6 (ViVQA); 5.5 vs 3.7 (ViTextVQA)</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19% of ViTextVQA answers contain the gold answer but fail EM</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“Lịch tết năm 2021” vs gold “2021”</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Also: code-switching (“truck”), hallucination, noisy gold (“tía”)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04 · BACKBONE ABLATION (R1)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 larger model is not better here</a:t>
            </a:r>
            <a:endParaRPr lang="en-US" sz="3200" dirty="0"/>
          </a:p>
        </p:txBody>
      </p:sp>
      <p:graphicFrame>
        <p:nvGraphicFramePr>
          <p:cNvPr id="10" name="table_49"/>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599432"/>
                <a:gridCol w="1097280"/>
                <a:gridCol w="1097280"/>
                <a:gridCol w="1280160"/>
                <a:gridCol w="1280160"/>
                <a:gridCol w="17373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 (ViTextVQA, 2,000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words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 /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VRAM GB</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75488">
                <a:tc>
                  <a:txBody>
                    <a:bodyPr/>
                    <a:lstStyle/>
                    <a:p>
                      <a:pPr algn="l" indent="0" marL="0">
                        <a:buNone/>
                      </a:pPr>
                      <a:r>
                        <a:rPr lang="en-US" sz="1400" b="1" dirty="0">
                          <a:solidFill>
                            <a:srgbClr val="243044"/>
                          </a:solidFill>
                          <a:latin typeface="Calibri" pitchFamily="34" charset="0"/>
                          <a:ea typeface="Calibri" pitchFamily="34" charset="-122"/>
                          <a:cs typeface="Calibri" pitchFamily="34" charset="-120"/>
                        </a:rPr>
                        <a:t>B1 · Qwen2.5-VL-3B · 4-bit · 512 tok.</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0.86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 2.5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R1b · Qwen2-VL-7B · 4-bit · 512 tok.</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 · Qwen2-VL-7B · bf16 · full res.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Paper Table 7 · “QwenVL-7b” (100 q.)</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50"/>
          <p:cNvSpPr/>
          <p:nvPr/>
        </p:nvSpPr>
        <p:spPr>
          <a:xfrm>
            <a:off x="548640" y="4114800"/>
            <a:ext cx="3454298" cy="1783080"/>
          </a:xfrm>
          <a:prstGeom prst="roundRect">
            <a:avLst>
              <a:gd name="adj" fmla="val 4103"/>
            </a:avLst>
          </a:prstGeom>
          <a:solidFill>
            <a:schemeClr val="bg2"/>
          </a:solidFill>
          <a:ln w="12700">
            <a:solidFill>
              <a:schemeClr val="bg2"/>
            </a:solidFill>
            <a:prstDash val="solid"/>
          </a:ln>
        </p:spPr>
      </p:sp>
      <p:sp>
        <p:nvSpPr>
          <p:cNvPr id="7" name="text_51"/>
          <p:cNvSpPr txBox="1"/>
          <p:nvPr/>
        </p:nvSpPr>
        <p:spPr>
          <a:xfrm>
            <a:off x="777240" y="42519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7B &lt; 3B under identical conditions</a:t>
            </a:r>
            <a:endParaRPr lang="en-US" sz="1600" dirty="0"/>
          </a:p>
        </p:txBody>
      </p:sp>
      <p:sp>
        <p:nvSpPr>
          <p:cNvPr id="8" name="text_52"/>
          <p:cNvSpPr txBox="1"/>
          <p:nvPr/>
        </p:nvSpPr>
        <p:spPr>
          <a:xfrm>
            <a:off x="777240" y="470916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−12.6 EM, McNemar p ≈ 10⁻³³; higher resolution does not help (R1 = R1b, p = 0.45)</a:t>
            </a:r>
            <a:endParaRPr lang="en-US" sz="1400" dirty="0"/>
          </a:p>
        </p:txBody>
      </p:sp>
      <p:sp>
        <p:nvSpPr>
          <p:cNvPr id="9" name="card_53"/>
          <p:cNvSpPr/>
          <p:nvPr/>
        </p:nvSpPr>
        <p:spPr>
          <a:xfrm>
            <a:off x="4368698" y="4114800"/>
            <a:ext cx="3454298" cy="1783080"/>
          </a:xfrm>
          <a:prstGeom prst="roundRect">
            <a:avLst>
              <a:gd name="adj" fmla="val 4103"/>
            </a:avLst>
          </a:prstGeom>
          <a:solidFill>
            <a:schemeClr val="bg2"/>
          </a:solidFill>
          <a:ln w="12700">
            <a:solidFill>
              <a:schemeClr val="bg2"/>
            </a:solidFill>
            <a:prstDash val="solid"/>
          </a:ln>
        </p:spPr>
      </p:sp>
      <p:sp>
        <p:nvSpPr>
          <p:cNvPr id="10" name="text_54"/>
          <p:cNvSpPr txBox="1"/>
          <p:nvPr/>
        </p:nvSpPr>
        <p:spPr>
          <a:xfrm>
            <a:off x="4597298" y="42519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instruction following</a:t>
            </a:r>
            <a:endParaRPr lang="en-US" sz="1600" dirty="0"/>
          </a:p>
        </p:txBody>
      </p:sp>
      <p:sp>
        <p:nvSpPr>
          <p:cNvPr id="11" name="text_55"/>
          <p:cNvSpPr txBox="1"/>
          <p:nvPr/>
        </p:nvSpPr>
        <p:spPr>
          <a:xfrm>
            <a:off x="4597298" y="470916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7B writes 8.2 words per answer vs gold 3.7 — EM fails even when the text is read correctly</a:t>
            </a:r>
            <a:endParaRPr lang="en-US" sz="1400" dirty="0"/>
          </a:p>
        </p:txBody>
      </p:sp>
      <p:sp>
        <p:nvSpPr>
          <p:cNvPr id="12" name="card_56"/>
          <p:cNvSpPr/>
          <p:nvPr/>
        </p:nvSpPr>
        <p:spPr>
          <a:xfrm>
            <a:off x="8188757" y="4114800"/>
            <a:ext cx="3454298" cy="1783080"/>
          </a:xfrm>
          <a:prstGeom prst="roundRect">
            <a:avLst>
              <a:gd name="adj" fmla="val 4103"/>
            </a:avLst>
          </a:prstGeom>
          <a:solidFill>
            <a:schemeClr val="accent4"/>
          </a:solidFill>
          <a:ln w="12700">
            <a:solidFill>
              <a:schemeClr val="accent4"/>
            </a:solidFill>
            <a:prstDash val="solid"/>
          </a:ln>
        </p:spPr>
      </p:sp>
      <p:sp>
        <p:nvSpPr>
          <p:cNvPr id="13" name="text_57"/>
          <p:cNvSpPr txBox="1"/>
          <p:nvPr/>
        </p:nvSpPr>
        <p:spPr>
          <a:xfrm>
            <a:off x="8417357" y="42519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Table 7 cannot decide</a:t>
            </a:r>
            <a:endParaRPr lang="en-US" sz="1600" dirty="0"/>
          </a:p>
        </p:txBody>
      </p:sp>
      <p:sp>
        <p:nvSpPr>
          <p:cNvPr id="14" name="text_58"/>
          <p:cNvSpPr txBox="1"/>
          <p:nvPr/>
        </p:nvSpPr>
        <p:spPr>
          <a:xfrm>
            <a:off x="8417357" y="470916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 = 100 → ±9 EM; B1 is already consistent with it. Decision: keep Qwen2.5-VL-3B</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05 · QLoRA (B2)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QLoRA, one epoch: large and significant gains</a:t>
            </a:r>
            <a:endParaRPr lang="en-US" sz="3200" dirty="0"/>
          </a:p>
        </p:txBody>
      </p:sp>
      <p:graphicFrame>
        <p:nvGraphicFramePr>
          <p:cNvPr id="5" name="chart_59" descr=""/>
          <p:cNvGraphicFramePr/>
          <p:nvPr/>
        </p:nvGraphicFramePr>
        <p:xfrm>
          <a:off x="548640" y="1371600"/>
          <a:ext cx="67665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_60"/>
          <p:cNvGraphicFramePr>
            <a:graphicFrameLocks noGrp="1"/>
          </p:cNvGraphicFramePr>
          <p:nvPr>
            <p:extLst>
              <p:ext uri="{D42A27DB-BD31-4B8C-83A1-F6EECF244321}">
                <p14:modId xmlns:p14="http://schemas.microsoft.com/office/powerpoint/2010/main" val="1579011935"/>
              </p:ext>
            </p:extLst>
          </p:nvPr>
        </p:nvGraphicFramePr>
        <p:xfrm>
          <a:off x="7680960" y="1371600"/>
          <a:ext cx="3962095" cy="914400"/>
        </p:xfrm>
        <a:graphic>
          <a:graphicData uri="http://schemas.openxmlformats.org/drawingml/2006/table">
            <a:tbl>
              <a:tblPr/>
              <a:tblGrid>
                <a:gridCol w="1828800"/>
                <a:gridCol w="1243584"/>
                <a:gridCol w="1252728"/>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Train samples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10,799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35,159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Train time (L4)</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12.0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Peak VRAM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6.6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6.9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Inference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0.57 s / q</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 s / q</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61"/>
          <p:cNvSpPr/>
          <p:nvPr/>
        </p:nvSpPr>
        <p:spPr>
          <a:xfrm>
            <a:off x="7680960" y="3886200"/>
            <a:ext cx="3962095" cy="2377440"/>
          </a:xfrm>
          <a:prstGeom prst="roundRect">
            <a:avLst>
              <a:gd name="adj" fmla="val 3077"/>
            </a:avLst>
          </a:prstGeom>
          <a:solidFill>
            <a:schemeClr val="accent4"/>
          </a:solidFill>
          <a:ln w="12700">
            <a:solidFill>
              <a:schemeClr val="accent4"/>
            </a:solidFill>
            <a:prstDash val="solid"/>
          </a:ln>
        </p:spPr>
      </p:sp>
      <p:sp>
        <p:nvSpPr>
          <p:cNvPr id="8" name="text_62"/>
          <p:cNvSpPr txBox="1"/>
          <p:nvPr/>
        </p:nvSpPr>
        <p:spPr>
          <a:xfrm>
            <a:off x="7909560" y="4023360"/>
            <a:ext cx="35048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Rule fixed before the run</a:t>
            </a:r>
            <a:endParaRPr lang="en-US" sz="1600" dirty="0"/>
          </a:p>
        </p:txBody>
      </p:sp>
      <p:sp>
        <p:nvSpPr>
          <p:cNvPr id="9" name="text_63"/>
          <p:cNvSpPr txBox="1"/>
          <p:nvPr/>
        </p:nvSpPr>
        <p:spPr>
          <a:xfrm>
            <a:off x="7909560" y="4434840"/>
            <a:ext cx="3504895" cy="1737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Improvement if EM rises and McNemar p &lt; 0.05 → met on both datasets (ViTextVQA full: 2,543 vs 423 questions only one model gets right).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05 · CONTROLS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gain is real, not leakage and not just format</a:t>
            </a:r>
            <a:endParaRPr lang="en-US" sz="3200" dirty="0"/>
          </a:p>
        </p:txBody>
      </p:sp>
      <p:sp>
        <p:nvSpPr>
          <p:cNvPr id="5" name="card_64"/>
          <p:cNvSpPr/>
          <p:nvPr/>
        </p:nvSpPr>
        <p:spPr>
          <a:xfrm>
            <a:off x="548640" y="1371600"/>
            <a:ext cx="3566160" cy="2331720"/>
          </a:xfrm>
          <a:prstGeom prst="roundRect">
            <a:avLst>
              <a:gd name="adj" fmla="val 3137"/>
            </a:avLst>
          </a:prstGeom>
          <a:solidFill>
            <a:schemeClr val="bg2"/>
          </a:solidFill>
          <a:ln w="12700">
            <a:solidFill>
              <a:schemeClr val="bg2"/>
            </a:solidFill>
            <a:prstDash val="solid"/>
          </a:ln>
        </p:spPr>
      </p:sp>
      <p:sp>
        <p:nvSpPr>
          <p:cNvPr id="6" name="text_65"/>
          <p:cNvSpPr txBox="1"/>
          <p:nvPr/>
        </p:nvSpPr>
        <p:spPr>
          <a:xfrm>
            <a:off x="777240" y="148132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ViVQA leakage strata</a:t>
            </a:r>
            <a:endParaRPr lang="en-US" sz="1600" dirty="0"/>
          </a:p>
        </p:txBody>
      </p:sp>
      <p:sp>
        <p:nvSpPr>
          <p:cNvPr id="7" name="text_66"/>
          <p:cNvSpPr txBox="1"/>
          <p:nvPr/>
        </p:nvSpPr>
        <p:spPr>
          <a:xfrm>
            <a:off x="777240" y="192024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Clean subset (n = 1,219): </a:t>
            </a:r>
            <a:pPr indent="0" marL="0">
              <a:buNone/>
            </a:pPr>
            <a:r>
              <a:rPr lang="en-US" sz="1400" b="1" dirty="0">
                <a:solidFill>
                  <a:srgbClr val="1C7293"/>
                </a:solidFill>
                <a:latin typeface="Calibri" pitchFamily="34" charset="0"/>
                <a:ea typeface="Calibri" pitchFamily="34" charset="-122"/>
                <a:cs typeface="Calibri" pitchFamily="34" charset="-120"/>
              </a:rPr>
              <a:t>EM 25.0 → 69.1</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Answer-prior baseline: 14.4</a:t>
            </a:r>
            <a:endParaRPr lang="en-US" sz="1400" dirty="0"/>
          </a:p>
        </p:txBody>
      </p:sp>
      <p:sp>
        <p:nvSpPr>
          <p:cNvPr id="8" name="card_67"/>
          <p:cNvSpPr/>
          <p:nvPr/>
        </p:nvSpPr>
        <p:spPr>
          <a:xfrm>
            <a:off x="548640" y="3931920"/>
            <a:ext cx="3566160" cy="2331720"/>
          </a:xfrm>
          <a:prstGeom prst="roundRect">
            <a:avLst>
              <a:gd name="adj" fmla="val 3137"/>
            </a:avLst>
          </a:prstGeom>
          <a:solidFill>
            <a:schemeClr val="bg2"/>
          </a:solidFill>
          <a:ln w="12700">
            <a:solidFill>
              <a:schemeClr val="bg2"/>
            </a:solidFill>
            <a:prstDash val="solid"/>
          </a:ln>
        </p:spPr>
      </p:sp>
      <p:sp>
        <p:nvSpPr>
          <p:cNvPr id="9" name="text_68"/>
          <p:cNvSpPr txBox="1"/>
          <p:nvPr/>
        </p:nvSpPr>
        <p:spPr>
          <a:xfrm>
            <a:off x="777240" y="404164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ViTextVQA: no shared images</a:t>
            </a:r>
            <a:endParaRPr lang="en-US" sz="1600" dirty="0"/>
          </a:p>
        </p:txBody>
      </p:sp>
      <p:sp>
        <p:nvSpPr>
          <p:cNvPr id="10" name="text_69"/>
          <p:cNvSpPr txBox="1"/>
          <p:nvPr/>
        </p:nvSpPr>
        <p:spPr>
          <a:xfrm>
            <a:off x="777240" y="448056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0 train–test image overlap, </a:t>
            </a:r>
            <a:pPr indent="0" marL="0">
              <a:buNone/>
            </a:pPr>
            <a:r>
              <a:rPr lang="en-US" sz="1400" b="1" dirty="0">
                <a:solidFill>
                  <a:srgbClr val="1C7293"/>
                </a:solidFill>
                <a:latin typeface="Calibri" pitchFamily="34" charset="0"/>
                <a:ea typeface="Calibri" pitchFamily="34" charset="-122"/>
                <a:cs typeface="Calibri" pitchFamily="34" charset="-120"/>
              </a:rPr>
              <a:t>yet +21.1 EM on the full test</a:t>
            </a:r>
            <a:endParaRPr lang="en-US" sz="1400" dirty="0"/>
          </a:p>
        </p:txBody>
      </p:sp>
      <p:sp>
        <p:nvSpPr>
          <p:cNvPr id="11" name="card_70"/>
          <p:cNvSpPr/>
          <p:nvPr/>
        </p:nvSpPr>
        <p:spPr>
          <a:xfrm>
            <a:off x="4480560" y="1371600"/>
            <a:ext cx="7162495" cy="4892040"/>
          </a:xfrm>
          <a:prstGeom prst="roundRect">
            <a:avLst>
              <a:gd name="adj" fmla="val 1495"/>
            </a:avLst>
          </a:prstGeom>
          <a:solidFill>
            <a:schemeClr val="bg2"/>
          </a:solidFill>
          <a:ln w="12700">
            <a:solidFill>
              <a:schemeClr val="bg2"/>
            </a:solidFill>
            <a:prstDash val="solid"/>
          </a:ln>
        </p:spPr>
      </p:sp>
      <p:sp>
        <p:nvSpPr>
          <p:cNvPr id="12" name="text_71"/>
          <p:cNvSpPr txBox="1"/>
          <p:nvPr/>
        </p:nvSpPr>
        <p:spPr>
          <a:xfrm>
            <a:off x="4754880" y="1481328"/>
            <a:ext cx="661385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Few-shot control: 5 text examples in the prompt (FS5)</a:t>
            </a:r>
            <a:endParaRPr lang="en-US" sz="1600" dirty="0"/>
          </a:p>
        </p:txBody>
      </p:sp>
      <p:graphicFrame>
        <p:nvGraphicFramePr>
          <p:cNvPr id="13" name="chart_72" descr=""/>
          <p:cNvGraphicFramePr/>
          <p:nvPr/>
        </p:nvGraphicFramePr>
        <p:xfrm>
          <a:off x="4617720" y="1874520"/>
          <a:ext cx="6888175" cy="3246120"/>
        </p:xfrm>
        <a:graphic xmlns:a="http://schemas.openxmlformats.org/drawingml/2006/main">
          <a:graphicData uri="http://schemas.openxmlformats.org/drawingml/2006/chart">
            <c:chart xmlns:c="http://schemas.openxmlformats.org/drawingml/2006/chart" r:id="rId1"/>
          </a:graphicData>
        </a:graphic>
      </p:graphicFrame>
      <p:sp>
        <p:nvSpPr>
          <p:cNvPr id="14" name="text_73"/>
          <p:cNvSpPr txBox="1"/>
          <p:nvPr/>
        </p:nvSpPr>
        <p:spPr>
          <a:xfrm>
            <a:off x="4754880" y="5166360"/>
            <a:ext cx="6613855"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Few-shot shortens answers but loses content (EM −2.1 on ViVQA, p = 0.004; −1.2 on ViTextVQA, n.s.). B2 beats FS5 on both (p ≈ 0) → QLoRA learns more than answer format.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05 · COMPARISON WITH SOTA</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Full ViTextVQA test: above the published SOTA</a:t>
            </a:r>
            <a:endParaRPr lang="en-US" sz="3200" dirty="0"/>
          </a:p>
        </p:txBody>
      </p:sp>
      <p:graphicFrame>
        <p:nvGraphicFramePr>
          <p:cNvPr id="13" name="table_74"/>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57600"/>
                <a:gridCol w="2331720"/>
                <a:gridCol w="2331720"/>
                <a:gridCol w="277063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(full test, 10,028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vs SOTA (rule: CI95 lower bound &gt; published)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 paper Table 6 (trained)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B1 · Qwen2.5-VL-3B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29.12 [28.23, 29.99]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53.89 [53.11, 54.66]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higher on EM; F1 indistinguishable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B2 · + QLoRA, 1 epoch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50.26 [49.27, 51.23]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71.16 [70.42, 71.89]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higher on EM and F1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card_75"/>
          <p:cNvSpPr/>
          <p:nvPr/>
        </p:nvSpPr>
        <p:spPr>
          <a:xfrm>
            <a:off x="548640" y="3931920"/>
            <a:ext cx="3454298" cy="1783080"/>
          </a:xfrm>
          <a:prstGeom prst="roundRect">
            <a:avLst>
              <a:gd name="adj" fmla="val 4103"/>
            </a:avLst>
          </a:prstGeom>
          <a:solidFill>
            <a:schemeClr val="bg2"/>
          </a:solidFill>
          <a:ln w="12700">
            <a:solidFill>
              <a:schemeClr val="bg2"/>
            </a:solidFill>
            <a:prstDash val="solid"/>
          </a:ln>
        </p:spPr>
      </p:sp>
      <p:sp>
        <p:nvSpPr>
          <p:cNvPr id="7" name="text_76"/>
          <p:cNvSpPr txBox="1"/>
          <p:nvPr/>
        </p:nvSpPr>
        <p:spPr>
          <a:xfrm>
            <a:off x="777240" y="406908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Reproducible</a:t>
            </a:r>
            <a:endParaRPr lang="en-US" sz="1600" dirty="0"/>
          </a:p>
        </p:txBody>
      </p:sp>
      <p:sp>
        <p:nvSpPr>
          <p:cNvPr id="8" name="text_77"/>
          <p:cNvSpPr txBox="1"/>
          <p:nvPr/>
        </p:nvSpPr>
        <p:spPr>
          <a:xfrm>
            <a:off x="777240" y="452628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Full-test predictions match the earlier subset runs on all 2,000 shared questions (100%).</a:t>
            </a:r>
            <a:endParaRPr lang="en-US" sz="1400" dirty="0"/>
          </a:p>
        </p:txBody>
      </p:sp>
      <p:sp>
        <p:nvSpPr>
          <p:cNvPr id="9" name="card_78"/>
          <p:cNvSpPr/>
          <p:nvPr/>
        </p:nvSpPr>
        <p:spPr>
          <a:xfrm>
            <a:off x="4368698" y="3931920"/>
            <a:ext cx="3454298" cy="1783080"/>
          </a:xfrm>
          <a:prstGeom prst="roundRect">
            <a:avLst>
              <a:gd name="adj" fmla="val 4103"/>
            </a:avLst>
          </a:prstGeom>
          <a:solidFill>
            <a:schemeClr val="bg2"/>
          </a:solidFill>
          <a:ln w="12700">
            <a:solidFill>
              <a:schemeClr val="bg2"/>
            </a:solidFill>
            <a:prstDash val="solid"/>
          </a:ln>
        </p:spPr>
      </p:sp>
      <p:sp>
        <p:nvSpPr>
          <p:cNvPr id="10" name="text_79"/>
          <p:cNvSpPr txBox="1"/>
          <p:nvPr/>
        </p:nvSpPr>
        <p:spPr>
          <a:xfrm>
            <a:off x="4597298" y="406908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Fair in kind</a:t>
            </a:r>
            <a:endParaRPr lang="en-US" sz="1600" dirty="0"/>
          </a:p>
        </p:txBody>
      </p:sp>
      <p:sp>
        <p:nvSpPr>
          <p:cNvPr id="11" name="text_80"/>
          <p:cNvSpPr txBox="1"/>
          <p:nvPr/>
        </p:nvSpPr>
        <p:spPr>
          <a:xfrm>
            <a:off x="4597298" y="452628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Both B2 and ViTextBLIP-2 are trained on the ViTextVQA train split.</a:t>
            </a:r>
            <a:endParaRPr lang="en-US" sz="1400" dirty="0"/>
          </a:p>
        </p:txBody>
      </p:sp>
      <p:sp>
        <p:nvSpPr>
          <p:cNvPr id="12" name="card_81"/>
          <p:cNvSpPr/>
          <p:nvPr/>
        </p:nvSpPr>
        <p:spPr>
          <a:xfrm>
            <a:off x="8188757" y="3931920"/>
            <a:ext cx="3454298" cy="1783080"/>
          </a:xfrm>
          <a:prstGeom prst="roundRect">
            <a:avLst>
              <a:gd name="adj" fmla="val 4103"/>
            </a:avLst>
          </a:prstGeom>
          <a:solidFill>
            <a:schemeClr val="accent5"/>
          </a:solidFill>
          <a:ln w="12700">
            <a:solidFill>
              <a:schemeClr val="accent5"/>
            </a:solidFill>
            <a:prstDash val="solid"/>
          </a:ln>
        </p:spPr>
      </p:sp>
      <p:sp>
        <p:nvSpPr>
          <p:cNvPr id="13" name="text_82"/>
          <p:cNvSpPr txBox="1"/>
          <p:nvPr/>
        </p:nvSpPr>
        <p:spPr>
          <a:xfrm>
            <a:off x="8417357" y="406908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Limitation</a:t>
            </a:r>
            <a:endParaRPr lang="en-US" sz="1600" dirty="0"/>
          </a:p>
        </p:txBody>
      </p:sp>
      <p:sp>
        <p:nvSpPr>
          <p:cNvPr id="14" name="text_83"/>
          <p:cNvSpPr txBox="1"/>
          <p:nvPr/>
        </p:nvSpPr>
        <p:spPr>
          <a:xfrm>
            <a:off x="8417357" y="452628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paper does not publish its answer normalization; the comparison assumes equivalent scoring.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06 · HYPOTHESES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What the evidence says so far</a:t>
            </a:r>
            <a:endParaRPr lang="en-US" sz="3200" dirty="0"/>
          </a:p>
        </p:txBody>
      </p:sp>
      <p:graphicFrame>
        <p:nvGraphicFramePr>
          <p:cNvPr id="14" name="table_84"/>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754880"/>
                <a:gridCol w="4507992"/>
                <a:gridCol w="18288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Hypothesis (Review 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H1  QLoRA ≥ +5 EM over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+51.7 (ViVQA), +21.1 (ViTextVQA full), p ≈ 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1C7293"/>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H2  4-bit keeps ≥ 97% accuracy, VRAM −40%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Keeps 94.5%; VRAM −77% (R0 vs R0b)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E8A33D"/>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H7  Vietnamese format prompt ≥ +3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Few-shot variant: −2.1 / −1.2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Not supported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H8  PEFT does not increase hallucination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Audit: 7% of B2 errors are hallucinations (CI 4–11%); B1 comparison in W11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Pending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H3–H6  LoRA config, shared adapter, OCR prompting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Planned W8–W12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Pending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85"/>
          <p:cNvSpPr/>
          <p:nvPr/>
        </p:nvSpPr>
        <p:spPr>
          <a:xfrm>
            <a:off x="548640" y="5120640"/>
            <a:ext cx="11094415" cy="1143000"/>
          </a:xfrm>
          <a:prstGeom prst="roundRect">
            <a:avLst>
              <a:gd name="adj" fmla="val 6400"/>
            </a:avLst>
          </a:prstGeom>
          <a:solidFill>
            <a:schemeClr val="accent4"/>
          </a:solidFill>
          <a:ln w="12700">
            <a:solidFill>
              <a:schemeClr val="accent4"/>
            </a:solidFill>
            <a:prstDash val="solid"/>
          </a:ln>
        </p:spPr>
      </p:sp>
      <p:sp>
        <p:nvSpPr>
          <p:cNvPr id="7" name="text_86"/>
          <p:cNvSpPr txBox="1"/>
          <p:nvPr/>
        </p:nvSpPr>
        <p:spPr>
          <a:xfrm>
            <a:off x="868680" y="5120640"/>
            <a:ext cx="10454335" cy="114300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RQ1 answered: zero-shot reaches EM 22.1 (ViVQA) and 29.1 (ViTextVQA).   RQ2 answered: QLoRA adds +51.7 and +21.1 EM.</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06 · ERROR &amp; HALLUCINATION ANALYSIS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Where B2 still fails</a:t>
            </a:r>
            <a:endParaRPr lang="en-US" sz="3200" dirty="0"/>
          </a:p>
        </p:txBody>
      </p:sp>
      <p:graphicFrame>
        <p:nvGraphicFramePr>
          <p:cNvPr id="5" name="chart_87" descr=""/>
          <p:cNvGraphicFramePr/>
          <p:nvPr/>
        </p:nvGraphicFramePr>
        <p:xfrm>
          <a:off x="548640" y="1325880"/>
          <a:ext cx="640080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_88"/>
          <p:cNvGraphicFramePr>
            <a:graphicFrameLocks noGrp="1"/>
          </p:cNvGraphicFramePr>
          <p:nvPr>
            <p:extLst>
              <p:ext uri="{D42A27DB-BD31-4B8C-83A1-F6EECF244321}">
                <p14:modId xmlns:p14="http://schemas.microsoft.com/office/powerpoint/2010/main" val="1579011935"/>
              </p:ext>
            </p:extLst>
          </p:nvPr>
        </p:nvGraphicFramePr>
        <p:xfrm>
          <a:off x="548640" y="4343400"/>
          <a:ext cx="6400800" cy="914400"/>
        </p:xfrm>
        <a:graphic>
          <a:graphicData uri="http://schemas.openxmlformats.org/drawingml/2006/table">
            <a:tbl>
              <a:tblPr/>
              <a:tblGrid>
                <a:gridCol w="1645920"/>
                <a:gridCol w="2240280"/>
                <a:gridCol w="25146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Bucket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B2 answer</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Gold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tone marks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thủy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thúy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1–2 chars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372 . 568 . 177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372 . 566 . 177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too short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ủy ban 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89"/>
          <p:cNvSpPr/>
          <p:nvPr/>
        </p:nvSpPr>
        <p:spPr>
          <a:xfrm>
            <a:off x="7315200" y="1371600"/>
            <a:ext cx="4327855" cy="4892040"/>
          </a:xfrm>
          <a:prstGeom prst="roundRect">
            <a:avLst>
              <a:gd name="adj" fmla="val 1690"/>
            </a:avLst>
          </a:prstGeom>
          <a:solidFill>
            <a:schemeClr val="bg2"/>
          </a:solidFill>
          <a:ln w="12700">
            <a:solidFill>
              <a:schemeClr val="bg2"/>
            </a:solidFill>
            <a:prstDash val="solid"/>
          </a:ln>
        </p:spPr>
      </p:sp>
      <p:sp>
        <p:nvSpPr>
          <p:cNvPr id="8" name="text_90"/>
          <p:cNvSpPr txBox="1"/>
          <p:nvPr/>
        </p:nvSpPr>
        <p:spPr>
          <a:xfrm>
            <a:off x="7589520" y="1508760"/>
            <a:ext cx="3779215" cy="6858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Manual audit: 200 B2 errors (adjudicated)</a:t>
            </a:r>
            <a:endParaRPr lang="en-US" sz="1600" dirty="0"/>
          </a:p>
        </p:txBody>
      </p:sp>
      <p:sp>
        <p:nvSpPr>
          <p:cNvPr id="9" name="list_91"/>
          <p:cNvSpPr txBox="1"/>
          <p:nvPr/>
        </p:nvSpPr>
        <p:spPr>
          <a:xfrm>
            <a:off x="7589520" y="2194560"/>
            <a:ext cx="3779215" cy="39776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54% are correct in meaning: EM is too strict (ViVQA 62%, ViTextVQA 46%)</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Noisy gold: 12.5% (ViVQA 19%)</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ViTextVQA real errors: OCR 28%, wrong text region 23%, tone marks 8%</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Hallucination (not in the image): 7% of errors (95% CI 4–11%)</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4 annotators + AI pre-labels; κ = 0.62 (2 independent annotators); same conclusions without the 42 AI-assisted rows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PART 07 · NEXT STEPS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Plan to Review 3 (week 13)</a:t>
            </a:r>
            <a:endParaRPr lang="en-US" sz="3200" dirty="0"/>
          </a:p>
        </p:txBody>
      </p:sp>
      <p:sp>
        <p:nvSpPr>
          <p:cNvPr id="5" name="card_92"/>
          <p:cNvSpPr/>
          <p:nvPr/>
        </p:nvSpPr>
        <p:spPr>
          <a:xfrm>
            <a:off x="548640" y="1600200"/>
            <a:ext cx="2533574" cy="3108960"/>
          </a:xfrm>
          <a:prstGeom prst="roundRect">
            <a:avLst>
              <a:gd name="adj" fmla="val 2887"/>
            </a:avLst>
          </a:prstGeom>
          <a:solidFill>
            <a:schemeClr val="accent4"/>
          </a:solidFill>
          <a:ln w="12700">
            <a:solidFill>
              <a:schemeClr val="accent4"/>
            </a:solidFill>
            <a:prstDash val="solid"/>
          </a:ln>
        </p:spPr>
      </p:sp>
      <p:sp>
        <p:nvSpPr>
          <p:cNvPr id="6" name="dot_93"/>
          <p:cNvSpPr/>
          <p:nvPr/>
        </p:nvSpPr>
        <p:spPr>
          <a:xfrm>
            <a:off x="822960" y="1874520"/>
            <a:ext cx="868680" cy="868680"/>
          </a:xfrm>
          <a:prstGeom prst="ellipse">
            <a:avLst/>
          </a:prstGeom>
          <a:solidFill>
            <a:srgbClr val="1C7293"/>
          </a:solidFill>
          <a:ln w="12700">
            <a:solidFill>
              <a:srgbClr val="FFFFFF"/>
            </a:solidFill>
            <a:prstDash val="solid"/>
          </a:ln>
        </p:spPr>
      </p:sp>
      <p:sp>
        <p:nvSpPr>
          <p:cNvPr id="7" name="text_94"/>
          <p:cNvSpPr txBox="1"/>
          <p:nvPr/>
        </p:nvSpPr>
        <p:spPr>
          <a:xfrm>
            <a:off x="822960"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W8</a:t>
            </a:r>
            <a:endParaRPr lang="en-US" sz="1400" dirty="0"/>
          </a:p>
        </p:txBody>
      </p:sp>
      <p:sp>
        <p:nvSpPr>
          <p:cNvPr id="8" name="text_95"/>
          <p:cNvSpPr txBox="1"/>
          <p:nvPr/>
        </p:nvSpPr>
        <p:spPr>
          <a:xfrm>
            <a:off x="822960"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Main QLoRA run: 3 epochs, epoch chosen on dev; label-noise cleaning ablation</a:t>
            </a:r>
            <a:endParaRPr lang="en-US" sz="1500" dirty="0"/>
          </a:p>
        </p:txBody>
      </p:sp>
      <p:sp>
        <p:nvSpPr>
          <p:cNvPr id="9" name="card_96"/>
          <p:cNvSpPr/>
          <p:nvPr/>
        </p:nvSpPr>
        <p:spPr>
          <a:xfrm>
            <a:off x="3402254" y="1600200"/>
            <a:ext cx="2533574" cy="3108960"/>
          </a:xfrm>
          <a:prstGeom prst="roundRect">
            <a:avLst>
              <a:gd name="adj" fmla="val 2887"/>
            </a:avLst>
          </a:prstGeom>
          <a:solidFill>
            <a:schemeClr val="bg2"/>
          </a:solidFill>
          <a:ln w="12700">
            <a:solidFill>
              <a:schemeClr val="bg2"/>
            </a:solidFill>
            <a:prstDash val="solid"/>
          </a:ln>
        </p:spPr>
      </p:sp>
      <p:sp>
        <p:nvSpPr>
          <p:cNvPr id="10" name="dot_97"/>
          <p:cNvSpPr/>
          <p:nvPr/>
        </p:nvSpPr>
        <p:spPr>
          <a:xfrm>
            <a:off x="3676574" y="1874520"/>
            <a:ext cx="868680" cy="868680"/>
          </a:xfrm>
          <a:prstGeom prst="ellipse">
            <a:avLst/>
          </a:prstGeom>
          <a:solidFill>
            <a:srgbClr val="13294B"/>
          </a:solidFill>
          <a:ln w="12700">
            <a:solidFill>
              <a:srgbClr val="FFFFFF"/>
            </a:solidFill>
            <a:prstDash val="solid"/>
          </a:ln>
        </p:spPr>
      </p:sp>
      <p:sp>
        <p:nvSpPr>
          <p:cNvPr id="11" name="text_98"/>
          <p:cNvSpPr txBox="1"/>
          <p:nvPr/>
        </p:nvSpPr>
        <p:spPr>
          <a:xfrm>
            <a:off x="3676574"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W9–10</a:t>
            </a:r>
            <a:endParaRPr lang="en-US" sz="1400" dirty="0"/>
          </a:p>
        </p:txBody>
      </p:sp>
      <p:sp>
        <p:nvSpPr>
          <p:cNvPr id="12" name="text_99"/>
          <p:cNvSpPr txBox="1"/>
          <p:nvPr/>
        </p:nvSpPr>
        <p:spPr>
          <a:xfrm>
            <a:off x="3676574"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OCR-enhanced prompting (H6); LoRA rank and target-module ablations (H3, H4)</a:t>
            </a:r>
            <a:endParaRPr lang="en-US" sz="1500" dirty="0"/>
          </a:p>
        </p:txBody>
      </p:sp>
      <p:sp>
        <p:nvSpPr>
          <p:cNvPr id="13" name="card_100"/>
          <p:cNvSpPr/>
          <p:nvPr/>
        </p:nvSpPr>
        <p:spPr>
          <a:xfrm>
            <a:off x="6255868" y="1600200"/>
            <a:ext cx="2533574" cy="3108960"/>
          </a:xfrm>
          <a:prstGeom prst="roundRect">
            <a:avLst>
              <a:gd name="adj" fmla="val 2887"/>
            </a:avLst>
          </a:prstGeom>
          <a:solidFill>
            <a:schemeClr val="bg2"/>
          </a:solidFill>
          <a:ln w="12700">
            <a:solidFill>
              <a:schemeClr val="bg2"/>
            </a:solidFill>
            <a:prstDash val="solid"/>
          </a:ln>
        </p:spPr>
      </p:sp>
      <p:sp>
        <p:nvSpPr>
          <p:cNvPr id="14" name="dot_101"/>
          <p:cNvSpPr/>
          <p:nvPr/>
        </p:nvSpPr>
        <p:spPr>
          <a:xfrm>
            <a:off x="6530188" y="1874520"/>
            <a:ext cx="868680" cy="868680"/>
          </a:xfrm>
          <a:prstGeom prst="ellipse">
            <a:avLst/>
          </a:prstGeom>
          <a:solidFill>
            <a:srgbClr val="13294B"/>
          </a:solidFill>
          <a:ln w="12700">
            <a:solidFill>
              <a:srgbClr val="FFFFFF"/>
            </a:solidFill>
            <a:prstDash val="solid"/>
          </a:ln>
        </p:spPr>
      </p:sp>
      <p:sp>
        <p:nvSpPr>
          <p:cNvPr id="15" name="text_102"/>
          <p:cNvSpPr txBox="1"/>
          <p:nvPr/>
        </p:nvSpPr>
        <p:spPr>
          <a:xfrm>
            <a:off x="6530188"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W11</a:t>
            </a:r>
            <a:endParaRPr lang="en-US" sz="1400" dirty="0"/>
          </a:p>
        </p:txBody>
      </p:sp>
      <p:sp>
        <p:nvSpPr>
          <p:cNvPr id="16" name="text_103"/>
          <p:cNvSpPr txBox="1"/>
          <p:nvPr/>
        </p:nvSpPr>
        <p:spPr>
          <a:xfrm>
            <a:off x="6530188"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Shared adapter for both datasets (H5); systematic hallucination evaluation (H8)</a:t>
            </a:r>
            <a:endParaRPr lang="en-US" sz="1500" dirty="0"/>
          </a:p>
        </p:txBody>
      </p:sp>
      <p:sp>
        <p:nvSpPr>
          <p:cNvPr id="17" name="card_104"/>
          <p:cNvSpPr/>
          <p:nvPr/>
        </p:nvSpPr>
        <p:spPr>
          <a:xfrm>
            <a:off x="9109481" y="1600200"/>
            <a:ext cx="2533574" cy="3108960"/>
          </a:xfrm>
          <a:prstGeom prst="roundRect">
            <a:avLst>
              <a:gd name="adj" fmla="val 2887"/>
            </a:avLst>
          </a:prstGeom>
          <a:solidFill>
            <a:schemeClr val="bg2"/>
          </a:solidFill>
          <a:ln w="12700">
            <a:solidFill>
              <a:schemeClr val="bg2"/>
            </a:solidFill>
            <a:prstDash val="solid"/>
          </a:ln>
        </p:spPr>
      </p:sp>
      <p:sp>
        <p:nvSpPr>
          <p:cNvPr id="18" name="dot_105"/>
          <p:cNvSpPr/>
          <p:nvPr/>
        </p:nvSpPr>
        <p:spPr>
          <a:xfrm>
            <a:off x="9383801" y="1874520"/>
            <a:ext cx="868680" cy="868680"/>
          </a:xfrm>
          <a:prstGeom prst="ellipse">
            <a:avLst/>
          </a:prstGeom>
          <a:solidFill>
            <a:srgbClr val="13294B"/>
          </a:solidFill>
          <a:ln w="12700">
            <a:solidFill>
              <a:srgbClr val="FFFFFF"/>
            </a:solidFill>
            <a:prstDash val="solid"/>
          </a:ln>
        </p:spPr>
      </p:sp>
      <p:sp>
        <p:nvSpPr>
          <p:cNvPr id="19" name="text_106"/>
          <p:cNvSpPr txBox="1"/>
          <p:nvPr/>
        </p:nvSpPr>
        <p:spPr>
          <a:xfrm>
            <a:off x="9383801"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W12–13</a:t>
            </a:r>
            <a:endParaRPr lang="en-US" sz="1400" dirty="0"/>
          </a:p>
        </p:txBody>
      </p:sp>
      <p:sp>
        <p:nvSpPr>
          <p:cNvPr id="20" name="text_107"/>
          <p:cNvSpPr txBox="1"/>
          <p:nvPr/>
        </p:nvSpPr>
        <p:spPr>
          <a:xfrm>
            <a:off x="9383801"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Web prototype (upload image, ask in Vietnamese); Review 3</a:t>
            </a:r>
            <a:endParaRPr lang="en-US" sz="1500" dirty="0"/>
          </a:p>
        </p:txBody>
      </p:sp>
      <p:sp>
        <p:nvSpPr>
          <p:cNvPr id="21" name="text_108"/>
          <p:cNvSpPr txBox="1"/>
          <p:nvPr/>
        </p:nvSpPr>
        <p:spPr>
          <a:xfrm>
            <a:off x="548640" y="5029200"/>
            <a:ext cx="11094415" cy="4114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All runs keep the frozen protocol, PEFT only, and pre-registered decision rules.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We welcome your feedback.</a:t>
            </a:r>
            <a:endParaRPr lang="en-US" sz="1800" dirty="0"/>
          </a:p>
          <a:p>
            <a:pPr algn="l" indent="0" marL="0">
              <a:buNone/>
            </a:pPr>
            <a:r>
              <a:rPr lang="en-US" sz="12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dirty="0">
                <a:solidFill>
                  <a:srgbClr val="A8C4E0"/>
                </a:solidFill>
                <a:latin typeface="Calibri" pitchFamily="34" charset="0"/>
                <a:ea typeface="Calibri" pitchFamily="34" charset="-122"/>
                <a:cs typeface="Calibri" pitchFamily="34" charset="-120"/>
              </a:rPr>
              <a:t>Code, configs and every run log: github.com/PLHGNAOH/ViVQA-VLM</a:t>
            </a:r>
            <a:endParaRPr lang="en-US" sz="1800" dirty="0"/>
          </a:p>
        </p:txBody>
      </p:sp>
    </p:spTree>
  </p:cSld>
  <p:clrMapOvr>
    <a:masterClrMapping/>
  </p:clrMapOvr>
</p:sld>
</file>

<file path=ppt/theme/theme1.xml><?xml version="1.0" encoding="utf-8"?>
<a:theme xmlns:a="http://schemas.openxmlformats.org/drawingml/2006/main" name="ViVQA-VLM Review">
  <a:themeElements>
    <a:clrScheme name="ViVQA-VLM Review">
      <a:dk1>
        <a:srgbClr val="243044"/>
      </a:dk1>
      <a:lt1>
        <a:srgbClr val="FFFFFF"/>
      </a:lt1>
      <a:dk2>
        <a:srgbClr val="13294B"/>
      </a:dk2>
      <a:lt2>
        <a:srgbClr val="F3F5F8"/>
      </a:lt2>
      <a:accent1>
        <a:srgbClr val="1C7293"/>
      </a:accent1>
      <a:accent2>
        <a:srgbClr val="E8A33D"/>
      </a:accent2>
      <a:accent3>
        <a:srgbClr val="6B7280"/>
      </a:accent3>
      <a:accent4>
        <a:srgbClr val="E7F0F3"/>
      </a:accent4>
      <a:accent5>
        <a:srgbClr val="FBF0DA"/>
      </a:accent5>
      <a:accent6>
        <a:srgbClr val="B42318"/>
      </a:accent6>
      <a:hlink>
        <a:srgbClr val="1C7293"/>
      </a:hlink>
      <a:folHlink>
        <a:srgbClr val="13294B"/>
      </a:folHlink>
    </a:clrScheme>
    <a:fontScheme name="ViVQA-VLM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ViVQA-VLM Review 2</dc:title>
  <dc:subject>PptxGenJS Presentation</dc:subject>
  <dc:creator>Phạm Lê Huy Hoàng</dc:creator>
  <cp:lastModifiedBy>Phạm Lê Huy Hoàng</cp:lastModifiedBy>
  <cp:revision>1</cp:revision>
  <dcterms:created xsi:type="dcterms:W3CDTF">2026-10-12T04:25:37Z</dcterms:created>
  <dcterms:modified xsi:type="dcterms:W3CDTF">2026-10-12T04:25:37Z</dcterms:modified>
</cp:coreProperties>
</file>