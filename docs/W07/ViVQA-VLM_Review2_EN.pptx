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d31336-1483-f772-303d-9eca77bee076}">
          <p14:sldIdLst>
            <p14:sldId id="256"/>
          </p14:sldIdLst>
        </p14:section>
        <p14:section name="Summary" id="{88de5b05-74a9-e450-805c-71de4635bede}">
          <p14:sldIdLst>
            <p14:sldId id="257"/>
          </p14:sldIdLst>
        </p14:section>
        <p14:section name="Feedback" id="{2aafca7b-a07f-badc-24c2-c59c5dfd4ab8}">
          <p14:sldIdLst>
            <p14:sldId id="258"/>
          </p14:sldIdLst>
        </p14:section>
        <p14:section name="Data &amp; baseline" id="{f572b23e-f640-8719-aab9-1605c6ae8987}">
          <p14:sldIdLst>
            <p14:sldId id="259"/>
            <p14:sldId id="260"/>
            <p14:sldId id="261"/>
          </p14:sldIdLst>
        </p14:section>
        <p14:section name="Results" id="{31599c63-dd53-58dd-2955-503c20920f41}">
          <p14:sldIdLst>
            <p14:sldId id="262"/>
            <p14:sldId id="263"/>
            <p14:sldId id="264"/>
          </p14:sldIdLst>
        </p14:section>
        <p14:section name="Improvement" id="{e7779ccd-79f8-58d4-2213-07dc89341f94}">
          <p14:sldIdLst>
            <p14:sldId id="265"/>
            <p14:sldId id="266"/>
            <p14:sldId id="267"/>
            <p14:sldId id="268"/>
            <p14:sldId id="269"/>
          </p14:sldIdLst>
        </p14:section>
        <p14:section name="OCR-aware QLoRA" id="{bff3339b-1dce-bceb-7b44-cb1dbb48a4d2}">
          <p14:sldIdLst>
            <p14:sldId id="270"/>
            <p14:sldId id="271"/>
            <p14:sldId id="272"/>
            <p14:sldId id="273"/>
          </p14:sldIdLst>
        </p14:section>
        <p14:section name="Analysis &amp; plan" id="{db9092e6-e4e1-3f23-1c25-1e00e3161be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questions),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Qwen2.5-VL report</c:v>
                  </c:pt>
                  <c:pt idx="1">
                    <c:v>R0 · bf16, full res.</c:v>
                  </c:pt>
                  <c:pt idx="2">
                    <c:v>R0b · 4-bit, 512 tok.</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number</c:v>
                  </c:pt>
                  <c:pt idx="1">
                    <c:v>color</c:v>
                  </c:pt>
                  <c:pt idx="2">
                    <c:v>object</c:v>
                  </c:pt>
                  <c:pt idx="3">
                    <c:v>location</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Automatic buckets, B2 errors on full ViTextVQA test (n = 4,988)</a:t>
            </a:r>
          </a:p>
        </c:rich>
      </c:tx>
      <c:layout/>
      <c:overlay val="0"/>
    </c:title>
    <c:autoTitleDeleted val="0"/>
    <c:plotArea>
      <c:layout/>
      <c:barChart>
        <c:barDir val="bar"/>
        <c:grouping val="clustered"/>
        <c:varyColors val="0"/>
        <c:ser>
          <c:idx val="0"/>
          <c:order val="0"/>
          <c:tx>
            <c:strRef>
              <c:f>Sheet1!$B$1</c:f>
              <c:strCache>
                <c:ptCount val="1"/>
                <c:pt idx="0">
                  <c:v>% of B2 errors</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other: content / region</c:v>
                  </c:pt>
                  <c:pt idx="1">
                    <c:v>1–2 characters off</c:v>
                  </c:pt>
                  <c:pt idx="2">
                    <c:v>answer too long</c:v>
                  </c:pt>
                  <c:pt idx="3">
                    <c:v>answer too short</c:v>
                  </c:pt>
                  <c:pt idx="4">
                    <c:v>tone marks only</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test subset 2,000 q., 3 training seeds</a:t>
            </a:r>
          </a:p>
        </c:rich>
      </c:tx>
      <c:layout/>
      <c:overlay val="0"/>
    </c:title>
    <c:autoTitleDeleted val="0"/>
    <c:plotArea>
      <c:layout/>
      <c:barChart>
        <c:barDir val="col"/>
        <c:grouping val="clustered"/>
        <c:varyColors val="0"/>
        <c:ser>
          <c:idx val="0"/>
          <c:order val="0"/>
          <c:tx>
            <c:strRef>
              <c:f>Sheet1!$B$1</c:f>
              <c:strCache>
                <c:ptCount val="1"/>
                <c:pt idx="0">
                  <c:v>B2-sub (no OCR)</c:v>
                </c:pt>
              </c:strCache>
            </c:strRef>
          </c:tx>
          <c:spPr>
            <a:solidFill>
              <a:srgbClr val="6B7280"/>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Sheet1!$B$2:$B$4</c:f>
              <c:numCache>
                <c:formatCode>General</c:formatCode>
                <c:ptCount val="3"/>
                <c:pt idx="0">
                  <c:v>45.55</c:v>
                </c:pt>
                <c:pt idx="1">
                  <c:v>44.75</c:v>
                </c:pt>
                <c:pt idx="2">
                  <c:v>46.05</c:v>
                </c:pt>
              </c:numCache>
            </c:numRef>
          </c:val>
        </c:ser>
        <c:ser>
          <c:idx val="1"/>
          <c:order val="1"/>
          <c:tx>
            <c:strRef>
              <c:f>Sheet1!$C$1</c:f>
              <c:strCache>
                <c:ptCount val="1"/>
                <c:pt idx="0">
                  <c:v>B3 (OCR-aware)</c:v>
                </c:pt>
              </c:strCache>
            </c:strRef>
          </c:tx>
          <c:spPr>
            <a:solidFill>
              <a:srgbClr val="E8A33D"/>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Sheet1!$C$2:$C$4</c:f>
              <c:numCache>
                <c:formatCode>General</c:formatCode>
                <c:ptCount val="3"/>
                <c:pt idx="0">
                  <c:v>49.25</c:v>
                </c:pt>
                <c:pt idx="1">
                  <c:v>49</c:v>
                </c:pt>
                <c:pt idx="2">
                  <c:v>48.8</c:v>
                </c:pt>
              </c:numCache>
            </c:numRef>
          </c:val>
        </c:ser>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52"/>
          <c:min val="4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on image-disjoint val (688 q.)</a:t>
            </a:r>
          </a:p>
        </c:rich>
      </c:tx>
      <c:layout/>
      <c:overlay val="0"/>
    </c:title>
    <c:autoTitleDeleted val="0"/>
    <c:plotArea>
      <c:layout/>
      <c:barChart>
        <c:barDir val="bar"/>
        <c:grouping val="clustered"/>
        <c:varyColors val="0"/>
        <c:ser>
          <c:idx val="0"/>
          <c:order val="0"/>
          <c:tx>
            <c:strRef>
              <c:f>Sheet1!$B$1</c:f>
              <c:strCache>
                <c:ptCount val="1"/>
                <c:pt idx="0">
                  <c:v>EM</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dPt>
            <c:idx val="0"/>
            <c:invertIfNegative val="0"/>
            <c:bubble3D val="0"/>
            <c:spPr>
              <a:solidFill>
                <a:srgbClr val="6B7280"/>
              </a:solidFill>
              <a:effectLst/>
            </c:spPr>
          </c:dPt>
          <c:dPt>
            <c:idx val="1"/>
            <c:invertIfNegative val="0"/>
            <c:bubble3D val="0"/>
            <c:spPr>
              <a:solidFill>
                <a:srgbClr val="6B7280"/>
              </a:solidFill>
              <a:effectLst/>
            </c:spPr>
          </c:dPt>
          <c:dPt>
            <c:idx val="2"/>
            <c:invertIfNegative val="0"/>
            <c:bubble3D val="0"/>
            <c:spPr>
              <a:solidFill>
                <a:srgbClr val="E8A33D"/>
              </a:solidFill>
              <a:effectLst/>
            </c:spPr>
          </c:dPt>
          <c:cat>
            <c:multiLvlStrRef>
              <c:f>Sheet1!$A$2:$A$4</c:f>
              <c:multiLvlStrCache>
                <c:ptCount val="3"/>
                <c:lvl>
                  <c:pt idx="0">
                    <c:v>C1 · B2, 1-epoch schedule</c:v>
                  </c:pt>
                  <c:pt idx="1">
                    <c:v>C2 · 2-epoch schedule, after epoch 1</c:v>
                  </c:pt>
                  <c:pt idx="2">
                    <c:v>C3 · 2-epoch schedule, after epoch 2</c:v>
                  </c:pt>
                </c:lvl>
              </c:multiLvlStrCache>
            </c:multiLvlStrRef>
          </c:cat>
          <c:val>
            <c:numRef>
              <c:f>Sheet1!$B$2:$B$4</c:f>
              <c:numCache>
                <c:formatCode>General</c:formatCode>
                <c:ptCount val="3"/>
                <c:pt idx="0">
                  <c:v>73.11</c:v>
                </c:pt>
                <c:pt idx="1">
                  <c:v>71.51</c:v>
                </c:pt>
                <c:pt idx="2">
                  <c:v>77.03</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kết quả QLoRA, và phương pháp đề xuất là QLoRA nhận biết OCR.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 Bốn: phương pháp đề xuất, QLoRA nhận biết OCR, tăng thêm 2,5 điểm EM so với cùng QLoRA trên cùng dữ liệu, ổn định qua 3 seed và trên full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 Khung bên phải tóm tắt đầu vào và đầu ra của từng khối: ảnh được resize tối đa 401.408 điểm ảnh rồi cắt thành patch 14 nhân 14; patch merger gộp 2 nhân 2 patch thành 1 token 2048 chiều, ra 256 đến 512 token ảnh; prompt P0 ghép token ảnh với câu hỏi theo chat template; decoder sinh đáp án tham lam, tối đa 32 token. Lưu ý: baseline KHÔNG dùng OCR — OCR là phần cải tiến B3 ở phần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 Dòng chân trang giải thích các từ viết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 Nguồn của từng model và paper ghi ở chân trang, kèm thư mục run trong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trình của SOTA. ViTextBLIP-2 giữ đóng băng một Vision Transformer, một hệ OCR là SwinTextSpotter dùng nguyên không fine-tune, và mô hình ngôn ngữ tiếng Việt ViT5; phần duy nhất được train là Q-Former khởi tạo từ BLIP-2, có nhiệm vụ trộn đặc trưng ảnh, câu hỏi và chữ OCR. Paper cũng chỉ ra sắp xếp chữ OCR từ trái-trên xuống phải-dưới giúp hầu hết các model. Nhóm khác ở ba điểm. Một: dùng một VLM đã được pretrain sẵn khả năng đọc chữ, Qwen2.5-VL-3B, lượng tử 4-bit. Hai: chỉ gắn LoRA, 0,2% tham số. Ba: B2 không dùng OCR ngoài — model tự đọc chữ từ ảnh; OCR được đưa vào ở B3, phần 06, dưới dạng một dòng văn bản trong prompt. Về đánh giá, paper báo EM và F1 nhưng không công bố cách chuẩn hoá; nhóm báo thêm ANLS và công khai hàm chuẩn hoá. Một lưu ý khi đọc paper: con số 25,48 / 53,95 nằm ở cột sắp xếp theo độ tin cậy OCR của Table 10, còn bảng ablation lại báo 24,83 / 52,51 cho model đầy đủ — paper không giải thích chênh lệch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Chính các lỗi đọc chữ này dẫn tới phương pháp đề xuất ở phần sau. Độ đồng thuận giữa hai người gán nhãn độc lập kappa 0,62; bỏ 42 dòng có AI hỗ trợ thì kết luận không đổi. Nguồn từng con số ghi ở chân trang: lệnh tái tạo phân loại tự động và file kết quả duyệt tay trong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phân tích lỗi, nhóm đề xuất B3: QLoRA nhận biết OCR. Ảnh được chạy OCR trước — PaddleOCR dò vùng chữ, VietOCR đọc chữ tiếng Việt — rồi đúng một dòng 'Văn bản đọc được trong ảnh' được chèn trước câu hỏi. Điểm mấu chốt: dòng OCR có mặt cả lúc train lẫn lúc test, nên model học khi nào tin OCR, khi nào tin ảnh. Backend OCR được chọn trên dev300 bằng luật chốt trước: PaddleOCR bản Latin làm rơi dấu tiếng Việt, ví dụ 'Kiểu Thẩm' thành 'Kiu Thm'; VietOCR giữ được đáp án trong văn bản OCR ở 37,7% câu so với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ablation bắt buộc có và không có OCR, làm thành bảng hai nhân hai trên cùng tập con và cùng 2.000 câu test. Chỉ chèn OCR lúc test cho model chưa train cùng OCR: không tăng, kể cả với zero-shot B1 và B2 ở tuần 8. Train cùng OCR mà lúc test bỏ OCR: cũng không tăng. Chỉ khi có cả hai thì EM tăng 4,35 điểm, p cỡ 10 mũ trừ 8. Tương tác là 4,9 điểm, khoảng tin cậy 3,2 đến 6,6. Vậy đóng góp không phải là thêm OCR vào prompt, mà là dạy model cách dùng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hội đồng hay đặt: một seed có phải may mắn không, và tập con có đại diện không. Ba seed huấn luyện 42, 43, 44, cùng tập con: cả ba seed B3 đều thắng B2-sub có ý nghĩa, trung bình cộng 3,57 điểm EM, độ lệch chuẩn 0,76. Trên toàn bộ 10.028 câu test, B3 thắng B2-sub 2,54 điểm, p cỡ 10 mũ trừ 14, và cao hơn ViTextBLIP-2 ở cả EM lẫn F1. Nhóm cũng đính chính: B3 dùng 23% dữ liệu vẫn thấp hơn B2 train toàn bộ 1,16 điểm; OCR bù được khoảng 69% phần mất do cắt dữ liệu. Về ANLS, mức tăng là 1,55 điểm, dưới ngưỡng 3 điểm của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ViVQA, câu hỏi là train một hay hai epoch. Val của ViVQA được tách theo câu hỏi nên 43% câu val dùng chung ảnh với train; train lâu hơn dễ nhớ ảnh và làm val đẹp giả. Vì vậy nhóm chỉ chọn epoch trên 688 câu val có ảnh chưa từng xuất hiện trong train. Lịch hai epoch sau epoch 2 hơn B2 một epoch 3,9 điểm, có ý nghĩa, nên được chọn. Chỉ khi đó mới chấm test, một lần: EM tăng từ 73,8 lên 76,6, p cỡ 10 mũ trừ 9. Kiểm tra thêm sau khi có kết quả: trên phần test sạch, ảnh và cặp hỏi đáp chưa từng thấy, mức tăng vẫn là 3,2 điểm — nên đây không phải do model nhớ ảnh. Chi phí: gấp đôi thời gian train, 6,1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H6 chỉ ủng hộ một phần: OCR cộng hưởng mạnh với QLoRA, nhưng ANLS chỉ tăng 1,55 điểm, dưới ngưỡng 3 điểm đã đặt — nhóm báo đúng như vậy. H3 đến H5 thuộc kế hoạch tuần 10 đến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10 đến tuần 13: train QLoRA nhận biết OCR trên toàn bộ dữ liệu ViTextVQA để xem có vượt B2 không, ablation rank và module gắn LoRA, adapter dùng chung cho hai dataset, đo hallucination có hệ thống kể cả B3, rồi dựng prototype web: tải ảnh, chạy OCR, hỏi bằng tiếng Việt —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FPT University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QLoRA and the proposed OCR-aware QLoRA</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Supervisors: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Team: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(Leader)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Group GFA26AI35  ·  FPT University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SUMMARY</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Four results of this milestone</a:t>
            </a:r>
            <a:endParaRPr lang="en-US" sz="3200" dirty="0"/>
          </a:p>
        </p:txBody>
      </p:sp>
      <p:sp>
        <p:nvSpPr>
          <p:cNvPr id="5" name="card_1"/>
          <p:cNvSpPr/>
          <p:nvPr/>
        </p:nvSpPr>
        <p:spPr>
          <a:xfrm>
            <a:off x="548640" y="1600200"/>
            <a:ext cx="2533574" cy="2651760"/>
          </a:xfrm>
          <a:prstGeom prst="roundRect">
            <a:avLst>
              <a:gd name="adj" fmla="val 2887"/>
            </a:avLst>
          </a:prstGeom>
          <a:solidFill>
            <a:schemeClr val="bg2"/>
          </a:solidFill>
          <a:ln w="12700">
            <a:solidFill>
              <a:schemeClr val="bg2"/>
            </a:solidFill>
            <a:prstDash val="solid"/>
          </a:ln>
        </p:spPr>
      </p:sp>
      <p:sp>
        <p:nvSpPr>
          <p:cNvPr id="6" name="text_2"/>
          <p:cNvSpPr txBox="1"/>
          <p:nvPr/>
        </p:nvSpPr>
        <p:spPr>
          <a:xfrm>
            <a:off x="822960" y="2011680"/>
            <a:ext cx="1984934" cy="82296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79.6</a:t>
            </a:r>
            <a:endParaRPr lang="en-US" sz="3600" dirty="0"/>
          </a:p>
        </p:txBody>
      </p:sp>
      <p:sp>
        <p:nvSpPr>
          <p:cNvPr id="7" name="text_3"/>
          <p:cNvSpPr txBox="1"/>
          <p:nvPr/>
        </p:nvSpPr>
        <p:spPr>
          <a:xfrm>
            <a:off x="822960"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Pipeline check — TextVQA val, Qwen2.5-VL-3B; the official report gives 79.3</a:t>
            </a:r>
            <a:endParaRPr lang="en-US" sz="1400" dirty="0"/>
          </a:p>
        </p:txBody>
      </p:sp>
      <p:sp>
        <p:nvSpPr>
          <p:cNvPr id="8" name="card_4"/>
          <p:cNvSpPr/>
          <p:nvPr/>
        </p:nvSpPr>
        <p:spPr>
          <a:xfrm>
            <a:off x="3402254" y="1600200"/>
            <a:ext cx="2533574" cy="2651760"/>
          </a:xfrm>
          <a:prstGeom prst="roundRect">
            <a:avLst>
              <a:gd name="adj" fmla="val 2887"/>
            </a:avLst>
          </a:prstGeom>
          <a:solidFill>
            <a:schemeClr val="bg2"/>
          </a:solidFill>
          <a:ln w="12700">
            <a:solidFill>
              <a:schemeClr val="bg2"/>
            </a:solidFill>
            <a:prstDash val="solid"/>
          </a:ln>
        </p:spPr>
      </p:sp>
      <p:sp>
        <p:nvSpPr>
          <p:cNvPr id="9" name="text_5"/>
          <p:cNvSpPr txBox="1"/>
          <p:nvPr/>
        </p:nvSpPr>
        <p:spPr>
          <a:xfrm>
            <a:off x="3676574"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+21.1</a:t>
            </a:r>
            <a:endParaRPr lang="en-US" sz="3600" dirty="0"/>
          </a:p>
        </p:txBody>
      </p:sp>
      <p:sp>
        <p:nvSpPr>
          <p:cNvPr id="10" name="text_6"/>
          <p:cNvSpPr txBox="1"/>
          <p:nvPr/>
        </p:nvSpPr>
        <p:spPr>
          <a:xfrm>
            <a:off x="3676574"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QLoRA over zero-shot, full ViTextVQA test (+51.7 on ViVQA); p ≈ 0</a:t>
            </a:r>
            <a:endParaRPr lang="en-US" sz="1400" dirty="0"/>
          </a:p>
        </p:txBody>
      </p:sp>
      <p:sp>
        <p:nvSpPr>
          <p:cNvPr id="11" name="card_7"/>
          <p:cNvSpPr/>
          <p:nvPr/>
        </p:nvSpPr>
        <p:spPr>
          <a:xfrm>
            <a:off x="6255868" y="1600200"/>
            <a:ext cx="2533574" cy="2651760"/>
          </a:xfrm>
          <a:prstGeom prst="roundRect">
            <a:avLst>
              <a:gd name="adj" fmla="val 2887"/>
            </a:avLst>
          </a:prstGeom>
          <a:solidFill>
            <a:schemeClr val="bg2"/>
          </a:solidFill>
          <a:ln w="12700">
            <a:solidFill>
              <a:schemeClr val="bg2"/>
            </a:solidFill>
            <a:prstDash val="solid"/>
          </a:ln>
        </p:spPr>
      </p:sp>
      <p:sp>
        <p:nvSpPr>
          <p:cNvPr id="12" name="text_8"/>
          <p:cNvSpPr txBox="1"/>
          <p:nvPr/>
        </p:nvSpPr>
        <p:spPr>
          <a:xfrm>
            <a:off x="6530188"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50.3</a:t>
            </a:r>
            <a:endParaRPr lang="en-US" sz="3600" dirty="0"/>
          </a:p>
        </p:txBody>
      </p:sp>
      <p:sp>
        <p:nvSpPr>
          <p:cNvPr id="13" name="text_9"/>
          <p:cNvSpPr txBox="1"/>
          <p:nvPr/>
        </p:nvSpPr>
        <p:spPr>
          <a:xfrm>
            <a:off x="6530188"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on the full ViTextVQA test vs 25.5 for the published SOTA ViTextBLIP-2</a:t>
            </a:r>
            <a:endParaRPr lang="en-US" sz="1400" dirty="0"/>
          </a:p>
        </p:txBody>
      </p:sp>
      <p:sp>
        <p:nvSpPr>
          <p:cNvPr id="14" name="card_10"/>
          <p:cNvSpPr/>
          <p:nvPr/>
        </p:nvSpPr>
        <p:spPr>
          <a:xfrm>
            <a:off x="9109481" y="1600200"/>
            <a:ext cx="2533574" cy="2651760"/>
          </a:xfrm>
          <a:prstGeom prst="roundRect">
            <a:avLst>
              <a:gd name="adj" fmla="val 2887"/>
            </a:avLst>
          </a:prstGeom>
          <a:solidFill>
            <a:schemeClr val="accent5"/>
          </a:solidFill>
          <a:ln w="12700">
            <a:solidFill>
              <a:schemeClr val="accent5"/>
            </a:solidFill>
            <a:prstDash val="solid"/>
          </a:ln>
        </p:spPr>
      </p:sp>
      <p:sp>
        <p:nvSpPr>
          <p:cNvPr id="15" name="text_11"/>
          <p:cNvSpPr txBox="1"/>
          <p:nvPr/>
        </p:nvSpPr>
        <p:spPr>
          <a:xfrm>
            <a:off x="9383801" y="2011680"/>
            <a:ext cx="1984934"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+2.5</a:t>
            </a:r>
            <a:endParaRPr lang="en-US" sz="3600" dirty="0"/>
          </a:p>
        </p:txBody>
      </p:sp>
      <p:sp>
        <p:nvSpPr>
          <p:cNvPr id="16" name="text_12"/>
          <p:cNvSpPr txBox="1"/>
          <p:nvPr/>
        </p:nvSpPr>
        <p:spPr>
          <a:xfrm>
            <a:off x="9383801"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OCR-aware QLoRA vs the same QLoRA without OCR (full test, p = 10⁻¹⁴; stable over 3 seeds)</a:t>
            </a:r>
            <a:endParaRPr lang="en-US" sz="1400" dirty="0"/>
          </a:p>
        </p:txBody>
      </p:sp>
      <p:sp>
        <p:nvSpPr>
          <p:cNvPr id="17" name="card_13"/>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8" name="text_14"/>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Efficient by design: QLoRA trains 7.37 M parameters (0.196%), a 29.5 MB adapter, on a single NVIDIA L4 GPU — no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01 · RESPONSE TO FEEDBACK</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Advisor feedback (07/10) and what we did</a:t>
            </a:r>
            <a:endParaRPr lang="en-US" sz="3200" dirty="0"/>
          </a:p>
        </p:txBody>
      </p:sp>
      <p:graphicFrame>
        <p:nvGraphicFramePr>
          <p:cNvPr id="4" name="table_15"/>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Feedback</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No baseline architecture diagram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Component-level diagram of Qwen2.5-VL-3B with LoRA placement (Fig.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Explain the dataset and its noise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ViVQA build pipeline + noise points N1–N4 (Fig. 6A); train–test leakage check; 400-sample manual audit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Re-run the baseline with a stated evaluation method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Frozen protocol (Fig. 7B); pipeline validated on a published number (R0); zero-shot B1 on both datasets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Know the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ViTextBLIP-2 compared on the full test; Table 7 LMM row checked with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Run experiments before discussing improvements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(B2) + three controls; then the proposed OCR-aware QLoRA (B3) with ablations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02 · DATASET UNDERSTANDING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is machine-translated — noise is built in</a:t>
            </a:r>
            <a:endParaRPr lang="en-US" sz="3200" dirty="0"/>
          </a:p>
        </p:txBody>
      </p:sp>
      <p:pic>
        <p:nvPicPr>
          <p:cNvPr id="5" name="figure_16"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7"/>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8"/>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test images also appear in train; 99.4% of test answers belong to the 333 train answers (closed vocabulary)</a:t>
            </a:r>
            <a:endParaRPr lang="en-US" sz="1400" dirty="0"/>
          </a:p>
        </p:txBody>
      </p:sp>
      <p:sp>
        <p:nvSpPr>
          <p:cNvPr id="8" name="card_19"/>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20"/>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images shared between train/dev and test; 46% of test answers occur in train → a cleaner test of generalization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BASELINE ARCHITECTURE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21" descr="a7">    </p:cNvPr>
          <p:cNvPicPr>
            <a:picLocks noChangeAspect="1"/>
          </p:cNvPicPr>
          <p:nvPr/>
        </p:nvPicPr>
        <p:blipFill>
          <a:blip r:embed="rId1"/>
          <a:stretch>
            <a:fillRect/>
          </a:stretch>
        </p:blipFill>
        <p:spPr>
          <a:xfrm>
            <a:off x="548640" y="1325880"/>
            <a:ext cx="7589520" cy="4328624"/>
          </a:xfrm>
          <a:prstGeom prst="rect">
            <a:avLst/>
          </a:prstGeom>
        </p:spPr>
      </p:pic>
      <p:sp>
        <p:nvSpPr>
          <p:cNvPr id="6" name="card_22"/>
          <p:cNvSpPr/>
          <p:nvPr/>
        </p:nvSpPr>
        <p:spPr>
          <a:xfrm>
            <a:off x="8503920" y="1325880"/>
            <a:ext cx="3139135" cy="1691640"/>
          </a:xfrm>
          <a:prstGeom prst="roundRect">
            <a:avLst>
              <a:gd name="adj" fmla="val 4324"/>
            </a:avLst>
          </a:prstGeom>
          <a:solidFill>
            <a:schemeClr val="accent5"/>
          </a:solidFill>
          <a:ln w="12700">
            <a:solidFill>
              <a:schemeClr val="accent5"/>
            </a:solidFill>
            <a:prstDash val="solid"/>
          </a:ln>
        </p:spPr>
      </p:sp>
      <p:sp>
        <p:nvSpPr>
          <p:cNvPr id="7" name="text_23"/>
          <p:cNvSpPr txBox="1"/>
          <p:nvPr/>
        </p:nvSpPr>
        <p:spPr>
          <a:xfrm>
            <a:off x="8732520" y="1417320"/>
            <a:ext cx="2681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Trained (QLoRA)</a:t>
            </a:r>
            <a:endParaRPr lang="en-US" sz="1600" dirty="0"/>
          </a:p>
        </p:txBody>
      </p:sp>
      <p:sp>
        <p:nvSpPr>
          <p:cNvPr id="8" name="list_24"/>
          <p:cNvSpPr txBox="1"/>
          <p:nvPr/>
        </p:nvSpPr>
        <p:spPr>
          <a:xfrm>
            <a:off x="8732520" y="1783080"/>
            <a:ext cx="2681935" cy="1188720"/>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LoRA r = 16, α = 32 on q, k, v, o</a:t>
            </a:r>
            <a:endParaRPr lang="en-US" sz="1200" dirty="0"/>
          </a:p>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7,372,800 params = 0.196% · 29.5 MB</a:t>
            </a:r>
            <a:endParaRPr lang="en-US" sz="1200" dirty="0"/>
          </a:p>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Everything else frozen, LLM in 4-bit NF4</a:t>
            </a:r>
            <a:endParaRPr lang="en-US" sz="1200" dirty="0"/>
          </a:p>
        </p:txBody>
      </p:sp>
      <p:sp>
        <p:nvSpPr>
          <p:cNvPr id="9" name="card_25"/>
          <p:cNvSpPr/>
          <p:nvPr/>
        </p:nvSpPr>
        <p:spPr>
          <a:xfrm>
            <a:off x="8503920" y="3154680"/>
            <a:ext cx="3139135" cy="3108960"/>
          </a:xfrm>
          <a:prstGeom prst="roundRect">
            <a:avLst>
              <a:gd name="adj" fmla="val 2353"/>
            </a:avLst>
          </a:prstGeom>
          <a:solidFill>
            <a:schemeClr val="bg2"/>
          </a:solidFill>
          <a:ln w="12700">
            <a:solidFill>
              <a:schemeClr val="bg2"/>
            </a:solidFill>
            <a:prstDash val="solid"/>
          </a:ln>
        </p:spPr>
      </p:sp>
      <p:sp>
        <p:nvSpPr>
          <p:cNvPr id="10" name="text_26"/>
          <p:cNvSpPr txBox="1"/>
          <p:nvPr/>
        </p:nvSpPr>
        <p:spPr>
          <a:xfrm>
            <a:off x="8732520" y="3246120"/>
            <a:ext cx="2681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Data flow (in → out)</a:t>
            </a:r>
            <a:endParaRPr lang="en-US" sz="1600" dirty="0"/>
          </a:p>
        </p:txBody>
      </p:sp>
      <p:sp>
        <p:nvSpPr>
          <p:cNvPr id="11" name="text_27"/>
          <p:cNvSpPr txBox="1"/>
          <p:nvPr/>
        </p:nvSpPr>
        <p:spPr>
          <a:xfrm>
            <a:off x="8732520" y="3639312"/>
            <a:ext cx="2681935" cy="2103120"/>
          </a:xfrm>
          <a:prstGeom prst="rect">
            <a:avLst/>
          </a:prstGeom>
          <a:noFill/>
          <a:ln/>
        </p:spPr>
        <p:txBody>
          <a:bodyPr wrap="square" lIns="0" tIns="0" rIns="0" bIns="0" rtlCol="0" anchor="t"/>
          <a:lstStyle/>
          <a:p>
            <a:pPr indent="0" marL="0">
              <a:buNone/>
            </a:pPr>
            <a:r>
              <a:rPr lang="en-US" sz="1150" b="1" dirty="0">
                <a:solidFill>
                  <a:srgbClr val="13294B"/>
                </a:solidFill>
                <a:latin typeface="Calibri" pitchFamily="34" charset="0"/>
                <a:ea typeface="Calibri" pitchFamily="34" charset="-122"/>
                <a:cs typeface="Calibri" pitchFamily="34" charset="-120"/>
              </a:rPr>
              <a:t>1 · Image → ViT: </a:t>
            </a:r>
            <a:pPr indent="0" marL="0">
              <a:buNone/>
            </a:pPr>
            <a:r>
              <a:rPr lang="en-US" sz="1150" dirty="0">
                <a:solidFill>
                  <a:schemeClr val="tx1"/>
                </a:solidFill>
                <a:latin typeface="Calibri" pitchFamily="34" charset="0"/>
                <a:ea typeface="Calibri" pitchFamily="34" charset="-122"/>
                <a:cs typeface="Calibri" pitchFamily="34" charset="-120"/>
              </a:rPr>
              <a:t>≤ 401,408 px → 14×14 patches → 32 blocks</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2 · Patch merger: </a:t>
            </a:r>
            <a:pPr indent="0" marL="0">
              <a:buNone/>
            </a:pPr>
            <a:r>
              <a:rPr lang="en-US" sz="1150" dirty="0">
                <a:solidFill>
                  <a:schemeClr val="tx1"/>
                </a:solidFill>
                <a:latin typeface="Calibri" pitchFamily="34" charset="0"/>
                <a:ea typeface="Calibri" pitchFamily="34" charset="-122"/>
                <a:cs typeface="Calibri" pitchFamily="34" charset="-120"/>
              </a:rPr>
              <a:t>2×2 patches → 1 token (2048-d) → 256–512 visual tokens</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3 · Prompt P0: </a:t>
            </a:r>
            <a:pPr indent="0" marL="0">
              <a:buNone/>
            </a:pPr>
            <a:r>
              <a:rPr lang="en-US" sz="1150" dirty="0">
                <a:solidFill>
                  <a:schemeClr val="tx1"/>
                </a:solidFill>
                <a:latin typeface="Calibri" pitchFamily="34" charset="0"/>
                <a:ea typeface="Calibri" pitchFamily="34" charset="-122"/>
                <a:cs typeface="Calibri" pitchFamily="34" charset="-120"/>
              </a:rPr>
              <a:t>chat template + visual tokens + Vietnamese question</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4 · Decoder (+LoRA): </a:t>
            </a:r>
            <a:pPr indent="0" marL="0">
              <a:buNone/>
            </a:pPr>
            <a:r>
              <a:rPr lang="en-US" sz="1150" dirty="0">
                <a:solidFill>
                  <a:schemeClr val="tx1"/>
                </a:solidFill>
                <a:latin typeface="Calibri" pitchFamily="34" charset="0"/>
                <a:ea typeface="Calibri" pitchFamily="34" charset="-122"/>
                <a:cs typeface="Calibri" pitchFamily="34" charset="-120"/>
              </a:rPr>
              <a:t>greedy, ≤ 32 new tokens → normalize → EM / ANLS</a:t>
            </a:r>
            <a:endParaRPr lang="en-US" sz="1150" dirty="0"/>
          </a:p>
        </p:txBody>
      </p:sp>
      <p:sp>
        <p:nvSpPr>
          <p:cNvPr id="12" name="text_28"/>
          <p:cNvSpPr txBox="1"/>
          <p:nvPr/>
        </p:nvSpPr>
        <p:spPr>
          <a:xfrm>
            <a:off x="8732520" y="5760720"/>
            <a:ext cx="2681935" cy="411480"/>
          </a:xfrm>
          <a:prstGeom prst="rect">
            <a:avLst/>
          </a:prstGeom>
          <a:noFill/>
          <a:ln/>
        </p:spPr>
        <p:txBody>
          <a:bodyPr wrap="square" lIns="0" tIns="0" rIns="0" bIns="0" rtlCol="0" anchor="t"/>
          <a:lstStyle/>
          <a:p>
            <a:pPr indent="0" marL="0">
              <a:buNone/>
            </a:pPr>
            <a:r>
              <a:rPr lang="en-US" sz="1100" i="1" dirty="0">
                <a:solidFill>
                  <a:srgbClr val="1C7293"/>
                </a:solidFill>
                <a:latin typeface="Calibri" pitchFamily="34" charset="0"/>
                <a:ea typeface="Calibri" pitchFamily="34" charset="-122"/>
                <a:cs typeface="Calibri" pitchFamily="34" charset="-120"/>
              </a:rPr>
              <a:t>No OCR in the baseline — OCR is the B3 improvement (Part 06).</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EVALUATION PROTOCOL</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Every run follows one frozen protocol</a:t>
            </a:r>
            <a:endParaRPr lang="en-US" sz="3200" dirty="0"/>
          </a:p>
        </p:txBody>
      </p:sp>
      <p:pic>
        <p:nvPicPr>
          <p:cNvPr id="5" name="figure_29"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30"/>
          <p:cNvSpPr/>
          <p:nvPr/>
        </p:nvSpPr>
        <p:spPr>
          <a:xfrm>
            <a:off x="548640" y="3762135"/>
            <a:ext cx="3454298" cy="1998585"/>
          </a:xfrm>
          <a:prstGeom prst="roundRect">
            <a:avLst>
              <a:gd name="adj" fmla="val 3660"/>
            </a:avLst>
          </a:prstGeom>
          <a:solidFill>
            <a:schemeClr val="bg2"/>
          </a:solidFill>
          <a:ln w="12700">
            <a:solidFill>
              <a:schemeClr val="bg2"/>
            </a:solidFill>
            <a:prstDash val="solid"/>
          </a:ln>
        </p:spPr>
      </p:sp>
      <p:sp>
        <p:nvSpPr>
          <p:cNvPr id="7" name="text_31"/>
          <p:cNvSpPr txBox="1"/>
          <p:nvPr/>
        </p:nvSpPr>
        <p:spPr>
          <a:xfrm>
            <a:off x="777240"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 configuration</a:t>
            </a:r>
            <a:endParaRPr lang="en-US" sz="1600" dirty="0"/>
          </a:p>
        </p:txBody>
      </p:sp>
      <p:sp>
        <p:nvSpPr>
          <p:cNvPr id="8" name="list_32"/>
          <p:cNvSpPr txBox="1"/>
          <p:nvPr/>
        </p:nvSpPr>
        <p:spPr>
          <a:xfrm>
            <a:off x="777240"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bf16 compute,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visual tokens max</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decoding, 32 new tokens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33"/>
          <p:cNvSpPr/>
          <p:nvPr/>
        </p:nvSpPr>
        <p:spPr>
          <a:xfrm>
            <a:off x="4368698" y="3762135"/>
            <a:ext cx="3454298" cy="1998585"/>
          </a:xfrm>
          <a:prstGeom prst="roundRect">
            <a:avLst>
              <a:gd name="adj" fmla="val 3660"/>
            </a:avLst>
          </a:prstGeom>
          <a:solidFill>
            <a:schemeClr val="bg2"/>
          </a:solidFill>
          <a:ln w="12700">
            <a:solidFill>
              <a:schemeClr val="bg2"/>
            </a:solidFill>
            <a:prstDash val="solid"/>
          </a:ln>
        </p:spPr>
      </p:sp>
      <p:sp>
        <p:nvSpPr>
          <p:cNvPr id="10" name="text_34"/>
          <p:cNvSpPr txBox="1"/>
          <p:nvPr/>
        </p:nvSpPr>
        <p:spPr>
          <a:xfrm>
            <a:off x="4597298"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Metrics</a:t>
            </a:r>
            <a:endParaRPr lang="en-US" sz="1600" dirty="0"/>
          </a:p>
        </p:txBody>
      </p:sp>
      <p:sp>
        <p:nvSpPr>
          <p:cNvPr id="11" name="list_35"/>
          <p:cNvSpPr txBox="1"/>
          <p:nvPr/>
        </p:nvSpPr>
        <p:spPr>
          <a:xfrm>
            <a:off x="4597298"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Primary: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Secondary: token-F1 (to compare with the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Symmetric Vietnamese normalization, tone marks kept</a:t>
            </a:r>
            <a:endParaRPr lang="en-US" sz="1400" dirty="0"/>
          </a:p>
        </p:txBody>
      </p:sp>
      <p:sp>
        <p:nvSpPr>
          <p:cNvPr id="12" name="card_36"/>
          <p:cNvSpPr/>
          <p:nvPr/>
        </p:nvSpPr>
        <p:spPr>
          <a:xfrm>
            <a:off x="8188757" y="3762135"/>
            <a:ext cx="3454298" cy="1998585"/>
          </a:xfrm>
          <a:prstGeom prst="roundRect">
            <a:avLst>
              <a:gd name="adj" fmla="val 3660"/>
            </a:avLst>
          </a:prstGeom>
          <a:solidFill>
            <a:schemeClr val="bg2"/>
          </a:solidFill>
          <a:ln w="12700">
            <a:solidFill>
              <a:schemeClr val="bg2"/>
            </a:solidFill>
            <a:prstDash val="solid"/>
          </a:ln>
        </p:spPr>
      </p:sp>
      <p:sp>
        <p:nvSpPr>
          <p:cNvPr id="13" name="text_37"/>
          <p:cNvSpPr txBox="1"/>
          <p:nvPr/>
        </p:nvSpPr>
        <p:spPr>
          <a:xfrm>
            <a:off x="8417357"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Statistics</a:t>
            </a:r>
            <a:endParaRPr lang="en-US" sz="1600" dirty="0"/>
          </a:p>
        </p:txBody>
      </p:sp>
      <p:sp>
        <p:nvSpPr>
          <p:cNvPr id="14" name="list_38"/>
          <p:cNvSpPr txBox="1"/>
          <p:nvPr/>
        </p:nvSpPr>
        <p:spPr>
          <a:xfrm>
            <a:off x="8417357"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McNemar exact test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bootstrap CI95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Decision rules fixed before each run</a:t>
            </a:r>
            <a:endParaRPr lang="en-US" sz="1400" dirty="0"/>
          </a:p>
        </p:txBody>
      </p:sp>
      <p:sp>
        <p:nvSpPr>
          <p:cNvPr id="15" name="text_39"/>
          <p:cNvSpPr txBox="1"/>
          <p:nvPr/>
        </p:nvSpPr>
        <p:spPr>
          <a:xfrm>
            <a:off x="548640" y="5833872"/>
            <a:ext cx="11094415" cy="54864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EM = Exact Match · VQA-Acc = VQA Accuracy (min(#matching gold / 3, 1); = EM with one gold answer) · ANLS = Average Normalized Levenshtein Similarity (threshold 0.5) · F1 = token-level F1 · bf16 = bfloat16 · NF4 = 4-bit NormalFloat (QLoRA) · CI95 = 95% confidence interval · McNemar = paired test on questions where exactly one run is correct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PIPELINE VALIDATION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pipeline reproduces the published number</a:t>
            </a:r>
            <a:endParaRPr lang="en-US" sz="3200" dirty="0"/>
          </a:p>
        </p:txBody>
      </p:sp>
      <p:graphicFrame>
        <p:nvGraphicFramePr>
          <p:cNvPr id="5" name="chart_40"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41"/>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42"/>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8" name="text_43"/>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Reproduced if |ours − 79.3| ≤ 2.0 on the full val set → 79.6 (+0.3): reproduced.</a:t>
            </a:r>
            <a:endParaRPr lang="en-US" sz="1500" dirty="0"/>
          </a:p>
        </p:txBody>
      </p:sp>
      <p:sp>
        <p:nvSpPr>
          <p:cNvPr id="9" name="card_44"/>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5"/>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Cost of the efficient setup</a:t>
            </a:r>
            <a:endParaRPr lang="en-US" sz="1600" dirty="0"/>
          </a:p>
        </p:txBody>
      </p:sp>
      <p:sp>
        <p:nvSpPr>
          <p:cNvPr id="11" name="list_46"/>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points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(4.3× less)</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 97% kept): not met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ZERO-SHOT BASELINE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fails mostly on answer format</a:t>
            </a:r>
            <a:endParaRPr lang="en-US" sz="3200" dirty="0"/>
          </a:p>
        </p:txBody>
      </p:sp>
      <p:graphicFrame>
        <p:nvGraphicFramePr>
          <p:cNvPr id="9" name="table_47"/>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 set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subset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full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8"/>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9"/>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by question type</a:t>
            </a:r>
            <a:endParaRPr lang="en-US" sz="1600" dirty="0"/>
          </a:p>
        </p:txBody>
      </p:sp>
      <p:graphicFrame>
        <p:nvGraphicFramePr>
          <p:cNvPr id="8" name="chart_50"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51"/>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52"/>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Main failure: verbose answers</a:t>
            </a:r>
            <a:endParaRPr lang="en-US" sz="1600" dirty="0"/>
          </a:p>
        </p:txBody>
      </p:sp>
      <p:sp>
        <p:nvSpPr>
          <p:cNvPr id="11" name="list_53"/>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Words per answer: 2.9 vs gold 1.6 (ViVQA); 5.5 vs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of ViTextVQA answers contain the gold answer but fail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vs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Also: code-switching (“truck”), hallucination, noisy gold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BACKBONE ABLATION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 larger model is not better here</a:t>
            </a:r>
            <a:endParaRPr lang="en-US" sz="3200" dirty="0"/>
          </a:p>
        </p:txBody>
      </p:sp>
      <p:graphicFrame>
        <p:nvGraphicFramePr>
          <p:cNvPr id="10" name="table_5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words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[1]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[2]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[2] · bf16 · full res.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paper [3] Table 7 · “QwenVL-7b” (100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5"/>
          <p:cNvSpPr/>
          <p:nvPr/>
        </p:nvSpPr>
        <p:spPr>
          <a:xfrm>
            <a:off x="548640" y="4023360"/>
            <a:ext cx="3454298" cy="1691640"/>
          </a:xfrm>
          <a:prstGeom prst="roundRect">
            <a:avLst>
              <a:gd name="adj" fmla="val 4324"/>
            </a:avLst>
          </a:prstGeom>
          <a:solidFill>
            <a:schemeClr val="bg2"/>
          </a:solidFill>
          <a:ln w="12700">
            <a:solidFill>
              <a:schemeClr val="bg2"/>
            </a:solidFill>
            <a:prstDash val="solid"/>
          </a:ln>
        </p:spPr>
      </p:sp>
      <p:sp>
        <p:nvSpPr>
          <p:cNvPr id="7" name="text_56"/>
          <p:cNvSpPr txBox="1"/>
          <p:nvPr/>
        </p:nvSpPr>
        <p:spPr>
          <a:xfrm>
            <a:off x="777240"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under identical conditions</a:t>
            </a:r>
            <a:endParaRPr lang="en-US" sz="1600" dirty="0"/>
          </a:p>
        </p:txBody>
      </p:sp>
      <p:sp>
        <p:nvSpPr>
          <p:cNvPr id="8" name="text_57"/>
          <p:cNvSpPr txBox="1"/>
          <p:nvPr/>
        </p:nvSpPr>
        <p:spPr>
          <a:xfrm>
            <a:off x="777240"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higher resolution does not help (R1 = R1b, p = 0.45)</a:t>
            </a:r>
            <a:endParaRPr lang="en-US" sz="1400" dirty="0"/>
          </a:p>
        </p:txBody>
      </p:sp>
      <p:sp>
        <p:nvSpPr>
          <p:cNvPr id="9" name="card_58"/>
          <p:cNvSpPr/>
          <p:nvPr/>
        </p:nvSpPr>
        <p:spPr>
          <a:xfrm>
            <a:off x="4368698" y="4023360"/>
            <a:ext cx="3454298" cy="1691640"/>
          </a:xfrm>
          <a:prstGeom prst="roundRect">
            <a:avLst>
              <a:gd name="adj" fmla="val 4324"/>
            </a:avLst>
          </a:prstGeom>
          <a:solidFill>
            <a:schemeClr val="bg2"/>
          </a:solidFill>
          <a:ln w="12700">
            <a:solidFill>
              <a:schemeClr val="bg2"/>
            </a:solidFill>
            <a:prstDash val="solid"/>
          </a:ln>
        </p:spPr>
      </p:sp>
      <p:sp>
        <p:nvSpPr>
          <p:cNvPr id="10" name="text_59"/>
          <p:cNvSpPr txBox="1"/>
          <p:nvPr/>
        </p:nvSpPr>
        <p:spPr>
          <a:xfrm>
            <a:off x="4597298"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instruction following</a:t>
            </a:r>
            <a:endParaRPr lang="en-US" sz="1600" dirty="0"/>
          </a:p>
        </p:txBody>
      </p:sp>
      <p:sp>
        <p:nvSpPr>
          <p:cNvPr id="11" name="text_60"/>
          <p:cNvSpPr txBox="1"/>
          <p:nvPr/>
        </p:nvSpPr>
        <p:spPr>
          <a:xfrm>
            <a:off x="4597298"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writes 8.2 words per answer vs gold 3.7 — EM fails even when the text is read correctly</a:t>
            </a:r>
            <a:endParaRPr lang="en-US" sz="1400" dirty="0"/>
          </a:p>
        </p:txBody>
      </p:sp>
      <p:sp>
        <p:nvSpPr>
          <p:cNvPr id="12" name="card_61"/>
          <p:cNvSpPr/>
          <p:nvPr/>
        </p:nvSpPr>
        <p:spPr>
          <a:xfrm>
            <a:off x="8188757" y="4023360"/>
            <a:ext cx="3454298" cy="1691640"/>
          </a:xfrm>
          <a:prstGeom prst="roundRect">
            <a:avLst>
              <a:gd name="adj" fmla="val 4324"/>
            </a:avLst>
          </a:prstGeom>
          <a:solidFill>
            <a:schemeClr val="accent4"/>
          </a:solidFill>
          <a:ln w="12700">
            <a:solidFill>
              <a:schemeClr val="accent4"/>
            </a:solidFill>
            <a:prstDash val="solid"/>
          </a:ln>
        </p:spPr>
      </p:sp>
      <p:sp>
        <p:nvSpPr>
          <p:cNvPr id="13" name="text_62"/>
          <p:cNvSpPr txBox="1"/>
          <p:nvPr/>
        </p:nvSpPr>
        <p:spPr>
          <a:xfrm>
            <a:off x="8417357"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cannot decide</a:t>
            </a:r>
            <a:endParaRPr lang="en-US" sz="1600" dirty="0"/>
          </a:p>
        </p:txBody>
      </p:sp>
      <p:sp>
        <p:nvSpPr>
          <p:cNvPr id="14" name="text_63"/>
          <p:cNvSpPr txBox="1"/>
          <p:nvPr/>
        </p:nvSpPr>
        <p:spPr>
          <a:xfrm>
            <a:off x="8417357"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is already consistent with it. Decision: keep Qwen2.5-VL-3B</a:t>
            </a:r>
            <a:endParaRPr lang="en-US" sz="1400" dirty="0"/>
          </a:p>
        </p:txBody>
      </p:sp>
      <p:sp>
        <p:nvSpPr>
          <p:cNvPr id="15" name="text_64"/>
          <p:cNvSpPr txBox="1"/>
          <p:nvPr/>
        </p:nvSpPr>
        <p:spPr>
          <a:xfrm>
            <a:off x="548640" y="5806440"/>
            <a:ext cx="11094415" cy="566928"/>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[1] Bai et al., Qwen2.5-VL Technical Report, arXiv:2502.13923, 2025 · [2] Wang et al., Qwen2-VL, arXiv:2409.12191, 2024 · [3] Nguyen et al., ViTextVQA, arXiv:2404.10652, 2024 (ext. in Expert Systems with Applications, 2025). Our runs: experiments/W07_B1_zeroshot_…_test2000, W07_R1_…, W07_R1b_… (same 2,000 questions, seed 42).</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one epoch: large and significant gains</a:t>
            </a:r>
            <a:endParaRPr lang="en-US" sz="3200" dirty="0"/>
          </a:p>
        </p:txBody>
      </p:sp>
      <p:graphicFrame>
        <p:nvGraphicFramePr>
          <p:cNvPr id="5" name="chart_65"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6"/>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samples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time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Peak VRAM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Inference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7"/>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8"/>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9" name="text_69"/>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Improvement if EM rises and McNemar p &lt; 0.05 → met on both datasets (ViTextVQA full: 2,543 vs 423 questions only one model gets right).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CONTROLS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is real, not leakage and not just format</a:t>
            </a:r>
            <a:endParaRPr lang="en-US" sz="3200" dirty="0"/>
          </a:p>
        </p:txBody>
      </p:sp>
      <p:sp>
        <p:nvSpPr>
          <p:cNvPr id="5" name="card_70"/>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71"/>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leakage strata</a:t>
            </a:r>
            <a:endParaRPr lang="en-US" sz="1600" dirty="0"/>
          </a:p>
        </p:txBody>
      </p:sp>
      <p:sp>
        <p:nvSpPr>
          <p:cNvPr id="7" name="text_72"/>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Clean subset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Answer-prior baseline: 14.4</a:t>
            </a:r>
            <a:endParaRPr lang="en-US" sz="1400" dirty="0"/>
          </a:p>
        </p:txBody>
      </p:sp>
      <p:sp>
        <p:nvSpPr>
          <p:cNvPr id="8" name="card_73"/>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74"/>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no shared images</a:t>
            </a:r>
            <a:endParaRPr lang="en-US" sz="1600" dirty="0"/>
          </a:p>
        </p:txBody>
      </p:sp>
      <p:sp>
        <p:nvSpPr>
          <p:cNvPr id="10" name="text_75"/>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train–test image overlap, </a:t>
            </a:r>
            <a:pPr indent="0" marL="0">
              <a:buNone/>
            </a:pPr>
            <a:r>
              <a:rPr lang="en-US" sz="1400" b="1" dirty="0">
                <a:solidFill>
                  <a:srgbClr val="1C7293"/>
                </a:solidFill>
                <a:latin typeface="Calibri" pitchFamily="34" charset="0"/>
                <a:ea typeface="Calibri" pitchFamily="34" charset="-122"/>
                <a:cs typeface="Calibri" pitchFamily="34" charset="-120"/>
              </a:rPr>
              <a:t>yet +21.1 EM on the full test</a:t>
            </a:r>
            <a:endParaRPr lang="en-US" sz="1400" dirty="0"/>
          </a:p>
        </p:txBody>
      </p:sp>
      <p:sp>
        <p:nvSpPr>
          <p:cNvPr id="11" name="card_76"/>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7"/>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Few-shot control: 5 text examples in the prompt (FS5)</a:t>
            </a:r>
            <a:endParaRPr lang="en-US" sz="1600" dirty="0"/>
          </a:p>
        </p:txBody>
      </p:sp>
      <p:graphicFrame>
        <p:nvGraphicFramePr>
          <p:cNvPr id="13" name="chart_78"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9"/>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shortens answers but loses content (EM −2.1 on ViVQA, p = 0.004; −1.2 on ViTextVQA, n.s.). B2 beats FS5 on both (p ≈ 0) → QLoRA learns more than answer format.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COMPARISON WITH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ViTextVQA test: above the published SOTA</a:t>
            </a:r>
            <a:endParaRPr lang="en-US" sz="3200" dirty="0"/>
          </a:p>
        </p:txBody>
      </p:sp>
      <p:graphicFrame>
        <p:nvGraphicFramePr>
          <p:cNvPr id="13" name="table_8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vs SOTA (rule: CI95 lower bound &gt; published)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Nguyen et al. [3], Table 6 (trained)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higher on EM; F1 indistinguishable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higher on EM and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81"/>
          <p:cNvSpPr/>
          <p:nvPr/>
        </p:nvSpPr>
        <p:spPr>
          <a:xfrm>
            <a:off x="548640" y="3886200"/>
            <a:ext cx="3454298" cy="1691640"/>
          </a:xfrm>
          <a:prstGeom prst="roundRect">
            <a:avLst>
              <a:gd name="adj" fmla="val 4324"/>
            </a:avLst>
          </a:prstGeom>
          <a:solidFill>
            <a:schemeClr val="bg2"/>
          </a:solidFill>
          <a:ln w="12700">
            <a:solidFill>
              <a:schemeClr val="bg2"/>
            </a:solidFill>
            <a:prstDash val="solid"/>
          </a:ln>
        </p:spPr>
      </p:sp>
      <p:sp>
        <p:nvSpPr>
          <p:cNvPr id="7" name="text_82"/>
          <p:cNvSpPr txBox="1"/>
          <p:nvPr/>
        </p:nvSpPr>
        <p:spPr>
          <a:xfrm>
            <a:off x="777240"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Reproducible</a:t>
            </a:r>
            <a:endParaRPr lang="en-US" sz="1600" dirty="0"/>
          </a:p>
        </p:txBody>
      </p:sp>
      <p:sp>
        <p:nvSpPr>
          <p:cNvPr id="8" name="text_83"/>
          <p:cNvSpPr txBox="1"/>
          <p:nvPr/>
        </p:nvSpPr>
        <p:spPr>
          <a:xfrm>
            <a:off x="777240"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Full-test predictions match the earlier subset runs on all 2,000 shared questions (100%).</a:t>
            </a:r>
            <a:endParaRPr lang="en-US" sz="1400" dirty="0"/>
          </a:p>
        </p:txBody>
      </p:sp>
      <p:sp>
        <p:nvSpPr>
          <p:cNvPr id="9" name="card_84"/>
          <p:cNvSpPr/>
          <p:nvPr/>
        </p:nvSpPr>
        <p:spPr>
          <a:xfrm>
            <a:off x="4368698" y="3886200"/>
            <a:ext cx="3454298" cy="1691640"/>
          </a:xfrm>
          <a:prstGeom prst="roundRect">
            <a:avLst>
              <a:gd name="adj" fmla="val 4324"/>
            </a:avLst>
          </a:prstGeom>
          <a:solidFill>
            <a:schemeClr val="bg2"/>
          </a:solidFill>
          <a:ln w="12700">
            <a:solidFill>
              <a:schemeClr val="bg2"/>
            </a:solidFill>
            <a:prstDash val="solid"/>
          </a:ln>
        </p:spPr>
      </p:sp>
      <p:sp>
        <p:nvSpPr>
          <p:cNvPr id="10" name="text_85"/>
          <p:cNvSpPr txBox="1"/>
          <p:nvPr/>
        </p:nvSpPr>
        <p:spPr>
          <a:xfrm>
            <a:off x="4597298"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Fair in kind</a:t>
            </a:r>
            <a:endParaRPr lang="en-US" sz="1600" dirty="0"/>
          </a:p>
        </p:txBody>
      </p:sp>
      <p:sp>
        <p:nvSpPr>
          <p:cNvPr id="11" name="text_86"/>
          <p:cNvSpPr txBox="1"/>
          <p:nvPr/>
        </p:nvSpPr>
        <p:spPr>
          <a:xfrm>
            <a:off x="4597298"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Both B2 and ViTextBLIP-2 are trained on the ViTextVQA train split.</a:t>
            </a:r>
            <a:endParaRPr lang="en-US" sz="1400" dirty="0"/>
          </a:p>
        </p:txBody>
      </p:sp>
      <p:sp>
        <p:nvSpPr>
          <p:cNvPr id="12" name="card_87"/>
          <p:cNvSpPr/>
          <p:nvPr/>
        </p:nvSpPr>
        <p:spPr>
          <a:xfrm>
            <a:off x="8188757" y="3886200"/>
            <a:ext cx="3454298" cy="1691640"/>
          </a:xfrm>
          <a:prstGeom prst="roundRect">
            <a:avLst>
              <a:gd name="adj" fmla="val 4324"/>
            </a:avLst>
          </a:prstGeom>
          <a:solidFill>
            <a:schemeClr val="accent5"/>
          </a:solidFill>
          <a:ln w="12700">
            <a:solidFill>
              <a:schemeClr val="accent5"/>
            </a:solidFill>
            <a:prstDash val="solid"/>
          </a:ln>
        </p:spPr>
      </p:sp>
      <p:sp>
        <p:nvSpPr>
          <p:cNvPr id="13" name="text_88"/>
          <p:cNvSpPr txBox="1"/>
          <p:nvPr/>
        </p:nvSpPr>
        <p:spPr>
          <a:xfrm>
            <a:off x="8417357"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Limitation</a:t>
            </a:r>
            <a:endParaRPr lang="en-US" sz="1600" dirty="0"/>
          </a:p>
        </p:txBody>
      </p:sp>
      <p:sp>
        <p:nvSpPr>
          <p:cNvPr id="14" name="text_89"/>
          <p:cNvSpPr txBox="1"/>
          <p:nvPr/>
        </p:nvSpPr>
        <p:spPr>
          <a:xfrm>
            <a:off x="8417357"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paper does not publish its answer normalization; the comparison assumes equivalent scoring.</a:t>
            </a:r>
            <a:endParaRPr lang="en-US" sz="1400" dirty="0"/>
          </a:p>
        </p:txBody>
      </p:sp>
      <p:sp>
        <p:nvSpPr>
          <p:cNvPr id="15" name="text_90"/>
          <p:cNvSpPr txBox="1"/>
          <p:nvPr/>
        </p:nvSpPr>
        <p:spPr>
          <a:xfrm>
            <a:off x="548640" y="5760720"/>
            <a:ext cx="11094415" cy="45720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[3] Nguyen et al., ViTextVQA, arXiv:2404.10652, 2024. CI95 = paired bootstrap, 10,000 resamples, seed 42. Our numbers: experiments/W07_B1_zeroshot_…_testfull, W07_B2_eval_…_testfull, W07_fulltest_summary_L4_seed42.</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SOTA APPROACH VS OURS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ViTextBLIP-2 works — and how we differ</a:t>
            </a:r>
            <a:endParaRPr lang="en-US" sz="3200" dirty="0"/>
          </a:p>
        </p:txBody>
      </p:sp>
      <p:graphicFrame>
        <p:nvGraphicFramePr>
          <p:cNvPr id="14" name="table_9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11680"/>
                <a:gridCol w="4572000"/>
                <a:gridCol w="450799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ViTextBLIP-2 (SOTA, paper [3])</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B2 = Qwen2.5-VL-3B + QLoRA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Vision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Frozen pre-trained ViT</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Qwen2.5-VL ViT (32 blocks), frozen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Scene text (OCR)</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SwinTextSpotter [4], not fine-tuned, Vietnamese charset; OCR tokens fused as features</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No external OCR — the VLM reads text from pixels (OCR added in B3, Part 06)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Language model</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ViT5 [5] (Vietnamese T5), frozen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Qwen2.5-3B decoder, 36 layers, 4-bit NF4</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What is trained</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Q-Former (initialized from BLIP-2) fusing image, question and OCR</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LoRA on q, k, v, o: 7.37 M params (0.196%)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Data handling</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OCR tokens ordered top-left → bottom-right (helps most models)</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Official split; Vietnamese normalization (NFC, lowercase, tone marks kept)</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Training data</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Full ViTextVQA train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Full ViTextVQA train, 1 epoch (3.03 h on one L4)</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Metrics</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EM, F1; answer normalization not published</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EM, ANLS (+ F1 to compare); normalization published in code</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Full test (EM / F1)</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indent="0" marL="0">
                        <a:buNone/>
                      </a:pPr>
                      <a:r>
                        <a:rPr lang="en-US" sz="1200" b="1" dirty="0">
                          <a:solidFill>
                            <a:srgbClr val="243044"/>
                          </a:solidFill>
                          <a:latin typeface="Calibri" pitchFamily="34" charset="0"/>
                          <a:ea typeface="Calibri" pitchFamily="34" charset="-122"/>
                          <a:cs typeface="Calibri" pitchFamily="34" charset="-120"/>
                        </a:rPr>
                        <a:t>25.48 / 53.95</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indent="0" marL="0">
                        <a:buNone/>
                      </a:pPr>
                      <a:r>
                        <a:rPr lang="en-US" sz="1200" b="1" dirty="0">
                          <a:solidFill>
                            <a:srgbClr val="243044"/>
                          </a:solidFill>
                          <a:latin typeface="Calibri" pitchFamily="34" charset="0"/>
                          <a:ea typeface="Calibri" pitchFamily="34" charset="-122"/>
                          <a:cs typeface="Calibri" pitchFamily="34" charset="-120"/>
                        </a:rPr>
                        <a:t>50.26 / 71.16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text_92"/>
          <p:cNvSpPr txBox="1"/>
          <p:nvPr/>
        </p:nvSpPr>
        <p:spPr>
          <a:xfrm>
            <a:off x="548640" y="5760720"/>
            <a:ext cx="11094415" cy="566928"/>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[3] Nguyen et al., ViTextVQA, arXiv:2404.10652, 2024 (ext. ESWA 2025) · [4] Huang et al., SwinTextSpotter, CVPR 2022 · [5] Phan et al., ViT5, NAACL SRW 2022. Note: the paper's 25.48 / 53.95 is the “OCR confidence” column of its Table 10; its ablation reports 24.83 / 52.51 for the full model.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ERROR &amp; HALLUCINATION ANALYSIS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Where B2 still fails</a:t>
            </a:r>
            <a:endParaRPr lang="en-US" sz="3200" dirty="0"/>
          </a:p>
        </p:txBody>
      </p:sp>
      <p:graphicFrame>
        <p:nvGraphicFramePr>
          <p:cNvPr id="5" name="chart_93"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_94"/>
          <p:cNvGraphicFramePr>
            <a:graphicFrameLocks noGrp="1"/>
          </p:cNvGraphicFramePr>
          <p:nvPr>
            <p:extLst>
              <p:ext uri="{D42A27DB-BD31-4B8C-83A1-F6EECF244321}">
                <p14:modId xmlns:p14="http://schemas.microsoft.com/office/powerpoint/2010/main" val="1579011935"/>
              </p:ext>
            </p:extLst>
          </p:nvPr>
        </p:nvGraphicFramePr>
        <p:xfrm>
          <a:off x="548640" y="4224528"/>
          <a:ext cx="6400800" cy="914400"/>
        </p:xfrm>
        <a:graphic>
          <a:graphicData uri="http://schemas.openxmlformats.org/drawingml/2006/table">
            <a:tbl>
              <a:tblPr/>
              <a:tblGrid>
                <a:gridCol w="1645920"/>
                <a:gridCol w="2240280"/>
                <a:gridCol w="251460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Bucket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answer</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tone marks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1–2 chars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too short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95"/>
          <p:cNvSpPr/>
          <p:nvPr/>
        </p:nvSpPr>
        <p:spPr>
          <a:xfrm>
            <a:off x="7315200" y="1371600"/>
            <a:ext cx="4327855" cy="4526280"/>
          </a:xfrm>
          <a:prstGeom prst="roundRect">
            <a:avLst>
              <a:gd name="adj" fmla="val 1690"/>
            </a:avLst>
          </a:prstGeom>
          <a:solidFill>
            <a:schemeClr val="bg2"/>
          </a:solidFill>
          <a:ln w="12700">
            <a:solidFill>
              <a:schemeClr val="bg2"/>
            </a:solidFill>
            <a:prstDash val="solid"/>
          </a:ln>
        </p:spPr>
      </p:sp>
      <p:sp>
        <p:nvSpPr>
          <p:cNvPr id="8" name="text_96"/>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Manual audit: 200 B2 errors (adjudicated)</a:t>
            </a:r>
            <a:endParaRPr lang="en-US" sz="1600" dirty="0"/>
          </a:p>
        </p:txBody>
      </p:sp>
      <p:sp>
        <p:nvSpPr>
          <p:cNvPr id="9" name="list_97"/>
          <p:cNvSpPr txBox="1"/>
          <p:nvPr/>
        </p:nvSpPr>
        <p:spPr>
          <a:xfrm>
            <a:off x="7589520" y="2194560"/>
            <a:ext cx="3779215" cy="36118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54% are correct in meaning: EM is too strict (ViVQA 62%, ViTextVQA 46%)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Noisy gold: 12.5% (ViVQA 19%)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ViTextVQA real errors: OCR 28%, wrong text region 23%, tone marks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Hallucination (not in the image): 7% of errors (95% CI 4–11%)</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4 annotators + AI pre-labels; κ = 0.62 (2 independent annotators); same conclusions without the 42 AI-assisted rows</a:t>
            </a:r>
            <a:endParaRPr lang="en-US" sz="1400" dirty="0"/>
          </a:p>
        </p:txBody>
      </p:sp>
      <p:sp>
        <p:nvSpPr>
          <p:cNvPr id="10" name="text_98"/>
          <p:cNvSpPr txBox="1"/>
          <p:nvPr/>
        </p:nvSpPr>
        <p:spPr>
          <a:xfrm>
            <a:off x="548640" y="5852160"/>
            <a:ext cx="11094415" cy="50292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Sources — buckets: python -m src.eval.answer_format --buckets on experiments/W07_B2_eval_qlora_r16_ep1_vitextvqa_testfull_… (4,988 = 10,028 − 5,040 correct). Manual audit: docs/W07/audit/W07_error_audit_final.json (labels in docs/W07/audit/labels/, computed by compute_error_audit.py).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PROPOSED METHOD (B3)</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OCR-aware QLoRA: train the model to use OCR text</a:t>
            </a:r>
            <a:endParaRPr lang="en-US" sz="3200" dirty="0"/>
          </a:p>
        </p:txBody>
      </p:sp>
      <p:sp>
        <p:nvSpPr>
          <p:cNvPr id="5" name="card_99"/>
          <p:cNvSpPr/>
          <p:nvPr/>
        </p:nvSpPr>
        <p:spPr>
          <a:xfrm>
            <a:off x="548640" y="1417320"/>
            <a:ext cx="1984797" cy="1188720"/>
          </a:xfrm>
          <a:prstGeom prst="roundRect">
            <a:avLst>
              <a:gd name="adj" fmla="val 6154"/>
            </a:avLst>
          </a:prstGeom>
          <a:solidFill>
            <a:schemeClr val="bg2"/>
          </a:solidFill>
          <a:ln w="12700">
            <a:solidFill>
              <a:schemeClr val="bg2"/>
            </a:solidFill>
            <a:prstDash val="solid"/>
          </a:ln>
        </p:spPr>
      </p:sp>
      <p:sp>
        <p:nvSpPr>
          <p:cNvPr id="6" name="text_100"/>
          <p:cNvSpPr txBox="1"/>
          <p:nvPr/>
        </p:nvSpPr>
        <p:spPr>
          <a:xfrm>
            <a:off x="640080"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Image</a:t>
            </a:r>
            <a:endParaRPr lang="en-US" sz="1500" dirty="0"/>
          </a:p>
        </p:txBody>
      </p:sp>
      <p:sp>
        <p:nvSpPr>
          <p:cNvPr id="7" name="text_101"/>
          <p:cNvSpPr txBox="1"/>
          <p:nvPr/>
        </p:nvSpPr>
        <p:spPr>
          <a:xfrm>
            <a:off x="685800"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scene text</a:t>
            </a:r>
            <a:endParaRPr lang="en-US" sz="1200" dirty="0"/>
          </a:p>
        </p:txBody>
      </p:sp>
      <p:sp>
        <p:nvSpPr>
          <p:cNvPr id="8" name="arrow_102"/>
          <p:cNvSpPr/>
          <p:nvPr/>
        </p:nvSpPr>
        <p:spPr>
          <a:xfrm>
            <a:off x="2579157" y="1911096"/>
            <a:ext cx="201168" cy="201168"/>
          </a:xfrm>
          <a:prstGeom prst="rightArrow">
            <a:avLst/>
          </a:prstGeom>
          <a:solidFill>
            <a:srgbClr val="6B7280"/>
          </a:solidFill>
          <a:ln w="12700">
            <a:solidFill>
              <a:srgbClr val="6B7280"/>
            </a:solidFill>
            <a:prstDash val="solid"/>
          </a:ln>
        </p:spPr>
      </p:sp>
      <p:sp>
        <p:nvSpPr>
          <p:cNvPr id="9" name="card_103"/>
          <p:cNvSpPr/>
          <p:nvPr/>
        </p:nvSpPr>
        <p:spPr>
          <a:xfrm>
            <a:off x="2826045" y="1417320"/>
            <a:ext cx="1984797" cy="1188720"/>
          </a:xfrm>
          <a:prstGeom prst="roundRect">
            <a:avLst>
              <a:gd name="adj" fmla="val 6154"/>
            </a:avLst>
          </a:prstGeom>
          <a:solidFill>
            <a:schemeClr val="bg2"/>
          </a:solidFill>
          <a:ln w="12700">
            <a:solidFill>
              <a:schemeClr val="bg2"/>
            </a:solidFill>
            <a:prstDash val="solid"/>
          </a:ln>
        </p:spPr>
      </p:sp>
      <p:sp>
        <p:nvSpPr>
          <p:cNvPr id="10" name="text_104"/>
          <p:cNvSpPr txBox="1"/>
          <p:nvPr/>
        </p:nvSpPr>
        <p:spPr>
          <a:xfrm>
            <a:off x="2917485"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PaddleOCR</a:t>
            </a:r>
            <a:endParaRPr lang="en-US" sz="1500" dirty="0"/>
          </a:p>
        </p:txBody>
      </p:sp>
      <p:sp>
        <p:nvSpPr>
          <p:cNvPr id="11" name="text_105"/>
          <p:cNvSpPr txBox="1"/>
          <p:nvPr/>
        </p:nvSpPr>
        <p:spPr>
          <a:xfrm>
            <a:off x="2963205"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detects text lines</a:t>
            </a:r>
            <a:endParaRPr lang="en-US" sz="1200" dirty="0"/>
          </a:p>
        </p:txBody>
      </p:sp>
      <p:sp>
        <p:nvSpPr>
          <p:cNvPr id="12" name="arrow_106"/>
          <p:cNvSpPr/>
          <p:nvPr/>
        </p:nvSpPr>
        <p:spPr>
          <a:xfrm>
            <a:off x="4856561" y="1911096"/>
            <a:ext cx="201168" cy="201168"/>
          </a:xfrm>
          <a:prstGeom prst="rightArrow">
            <a:avLst/>
          </a:prstGeom>
          <a:solidFill>
            <a:srgbClr val="6B7280"/>
          </a:solidFill>
          <a:ln w="12700">
            <a:solidFill>
              <a:srgbClr val="6B7280"/>
            </a:solidFill>
            <a:prstDash val="solid"/>
          </a:ln>
        </p:spPr>
      </p:sp>
      <p:sp>
        <p:nvSpPr>
          <p:cNvPr id="13" name="card_107"/>
          <p:cNvSpPr/>
          <p:nvPr/>
        </p:nvSpPr>
        <p:spPr>
          <a:xfrm>
            <a:off x="5103449" y="1417320"/>
            <a:ext cx="1984797" cy="1188720"/>
          </a:xfrm>
          <a:prstGeom prst="roundRect">
            <a:avLst>
              <a:gd name="adj" fmla="val 6154"/>
            </a:avLst>
          </a:prstGeom>
          <a:solidFill>
            <a:schemeClr val="bg2"/>
          </a:solidFill>
          <a:ln w="12700">
            <a:solidFill>
              <a:schemeClr val="bg2"/>
            </a:solidFill>
            <a:prstDash val="solid"/>
          </a:ln>
        </p:spPr>
      </p:sp>
      <p:sp>
        <p:nvSpPr>
          <p:cNvPr id="14" name="text_108"/>
          <p:cNvSpPr txBox="1"/>
          <p:nvPr/>
        </p:nvSpPr>
        <p:spPr>
          <a:xfrm>
            <a:off x="519488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VietOCR</a:t>
            </a:r>
            <a:endParaRPr lang="en-US" sz="1500" dirty="0"/>
          </a:p>
        </p:txBody>
      </p:sp>
      <p:sp>
        <p:nvSpPr>
          <p:cNvPr id="15" name="text_109"/>
          <p:cNvSpPr txBox="1"/>
          <p:nvPr/>
        </p:nvSpPr>
        <p:spPr>
          <a:xfrm>
            <a:off x="524060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reads Vietnamese, keeps tone marks</a:t>
            </a:r>
            <a:endParaRPr lang="en-US" sz="1200" dirty="0"/>
          </a:p>
        </p:txBody>
      </p:sp>
      <p:sp>
        <p:nvSpPr>
          <p:cNvPr id="16" name="arrow_110"/>
          <p:cNvSpPr/>
          <p:nvPr/>
        </p:nvSpPr>
        <p:spPr>
          <a:xfrm>
            <a:off x="7133966" y="1911096"/>
            <a:ext cx="201168" cy="201168"/>
          </a:xfrm>
          <a:prstGeom prst="rightArrow">
            <a:avLst/>
          </a:prstGeom>
          <a:solidFill>
            <a:srgbClr val="6B7280"/>
          </a:solidFill>
          <a:ln w="12700">
            <a:solidFill>
              <a:srgbClr val="6B7280"/>
            </a:solidFill>
            <a:prstDash val="solid"/>
          </a:ln>
        </p:spPr>
      </p:sp>
      <p:sp>
        <p:nvSpPr>
          <p:cNvPr id="17" name="card_111"/>
          <p:cNvSpPr/>
          <p:nvPr/>
        </p:nvSpPr>
        <p:spPr>
          <a:xfrm>
            <a:off x="7380854" y="1417320"/>
            <a:ext cx="1984797" cy="1188720"/>
          </a:xfrm>
          <a:prstGeom prst="roundRect">
            <a:avLst>
              <a:gd name="adj" fmla="val 6154"/>
            </a:avLst>
          </a:prstGeom>
          <a:solidFill>
            <a:schemeClr val="accent4"/>
          </a:solidFill>
          <a:ln w="12700">
            <a:solidFill>
              <a:schemeClr val="accent4"/>
            </a:solidFill>
            <a:prstDash val="solid"/>
          </a:ln>
        </p:spPr>
      </p:sp>
      <p:sp>
        <p:nvSpPr>
          <p:cNvPr id="18" name="text_112"/>
          <p:cNvSpPr txBox="1"/>
          <p:nvPr/>
        </p:nvSpPr>
        <p:spPr>
          <a:xfrm>
            <a:off x="7472294"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9" name="text_113"/>
          <p:cNvSpPr txBox="1"/>
          <p:nvPr/>
        </p:nvSpPr>
        <p:spPr>
          <a:xfrm>
            <a:off x="7518014"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1 OCR line + question</a:t>
            </a:r>
            <a:endParaRPr lang="en-US" sz="1200" dirty="0"/>
          </a:p>
        </p:txBody>
      </p:sp>
      <p:sp>
        <p:nvSpPr>
          <p:cNvPr id="20" name="arrow_114"/>
          <p:cNvSpPr/>
          <p:nvPr/>
        </p:nvSpPr>
        <p:spPr>
          <a:xfrm>
            <a:off x="9411371" y="1911096"/>
            <a:ext cx="201168" cy="201168"/>
          </a:xfrm>
          <a:prstGeom prst="rightArrow">
            <a:avLst/>
          </a:prstGeom>
          <a:solidFill>
            <a:srgbClr val="6B7280"/>
          </a:solidFill>
          <a:ln w="12700">
            <a:solidFill>
              <a:srgbClr val="6B7280"/>
            </a:solidFill>
            <a:prstDash val="solid"/>
          </a:ln>
        </p:spPr>
      </p:sp>
      <p:sp>
        <p:nvSpPr>
          <p:cNvPr id="21" name="card_115"/>
          <p:cNvSpPr/>
          <p:nvPr/>
        </p:nvSpPr>
        <p:spPr>
          <a:xfrm>
            <a:off x="9658259" y="1417320"/>
            <a:ext cx="1984797" cy="1188720"/>
          </a:xfrm>
          <a:prstGeom prst="roundRect">
            <a:avLst>
              <a:gd name="adj" fmla="val 6154"/>
            </a:avLst>
          </a:prstGeom>
          <a:solidFill>
            <a:schemeClr val="accent5"/>
          </a:solidFill>
          <a:ln w="12700">
            <a:solidFill>
              <a:schemeClr val="accent5"/>
            </a:solidFill>
            <a:prstDash val="solid"/>
          </a:ln>
        </p:spPr>
      </p:sp>
      <p:sp>
        <p:nvSpPr>
          <p:cNvPr id="22" name="text_116"/>
          <p:cNvSpPr txBox="1"/>
          <p:nvPr/>
        </p:nvSpPr>
        <p:spPr>
          <a:xfrm>
            <a:off x="974969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Qwen2.5-VL + LoRA</a:t>
            </a:r>
            <a:endParaRPr lang="en-US" sz="1500" dirty="0"/>
          </a:p>
        </p:txBody>
      </p:sp>
      <p:sp>
        <p:nvSpPr>
          <p:cNvPr id="23" name="text_117"/>
          <p:cNvSpPr txBox="1"/>
          <p:nvPr/>
        </p:nvSpPr>
        <p:spPr>
          <a:xfrm>
            <a:off x="979541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LoRA trained with the OCR line</a:t>
            </a:r>
            <a:endParaRPr lang="en-US" sz="1200" dirty="0"/>
          </a:p>
        </p:txBody>
      </p:sp>
      <p:sp>
        <p:nvSpPr>
          <p:cNvPr id="24" name="card_118"/>
          <p:cNvSpPr/>
          <p:nvPr/>
        </p:nvSpPr>
        <p:spPr>
          <a:xfrm>
            <a:off x="548640" y="2834640"/>
            <a:ext cx="11094415" cy="685800"/>
          </a:xfrm>
          <a:prstGeom prst="roundRect">
            <a:avLst>
              <a:gd name="adj" fmla="val 10667"/>
            </a:avLst>
          </a:prstGeom>
          <a:solidFill>
            <a:schemeClr val="bg2"/>
          </a:solidFill>
          <a:ln w="12700">
            <a:solidFill>
              <a:schemeClr val="bg2"/>
            </a:solidFill>
            <a:prstDash val="solid"/>
          </a:ln>
        </p:spPr>
      </p:sp>
      <p:sp>
        <p:nvSpPr>
          <p:cNvPr id="25" name="text_119"/>
          <p:cNvSpPr txBox="1"/>
          <p:nvPr/>
        </p:nvSpPr>
        <p:spPr>
          <a:xfrm>
            <a:off x="822960" y="2834640"/>
            <a:ext cx="10545775" cy="6858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Prompt line:  </a:t>
            </a:r>
            <a:pPr indent="0" marL="0">
              <a:buNone/>
            </a:pPr>
            <a:r>
              <a:rPr lang="en-US" sz="1300" dirty="0">
                <a:solidFill>
                  <a:schemeClr val="tx1"/>
                </a:solidFill>
                <a:latin typeface="Courier New" pitchFamily="34" charset="0"/>
                <a:ea typeface="Courier New" pitchFamily="34" charset="-122"/>
                <a:cs typeface="Courier New" pitchFamily="34" charset="-120"/>
              </a:rPr>
              <a:t>Văn bản đọc được trong ảnh: NHÀ THUỐC TÂM AN | 0919 467 868 …   Câu hỏi: tên nhà thuốc là gì?</a:t>
            </a:r>
            <a:endParaRPr lang="en-US" sz="1400" dirty="0"/>
          </a:p>
        </p:txBody>
      </p:sp>
      <p:sp>
        <p:nvSpPr>
          <p:cNvPr id="26" name="card_120"/>
          <p:cNvSpPr/>
          <p:nvPr/>
        </p:nvSpPr>
        <p:spPr>
          <a:xfrm>
            <a:off x="548640" y="3794760"/>
            <a:ext cx="3454298" cy="2468880"/>
          </a:xfrm>
          <a:prstGeom prst="roundRect">
            <a:avLst>
              <a:gd name="adj" fmla="val 2963"/>
            </a:avLst>
          </a:prstGeom>
          <a:solidFill>
            <a:schemeClr val="bg2"/>
          </a:solidFill>
          <a:ln w="12700">
            <a:solidFill>
              <a:schemeClr val="bg2"/>
            </a:solidFill>
            <a:prstDash val="solid"/>
          </a:ln>
        </p:spPr>
      </p:sp>
      <p:sp>
        <p:nvSpPr>
          <p:cNvPr id="27" name="text_121"/>
          <p:cNvSpPr txBox="1"/>
          <p:nvPr/>
        </p:nvSpPr>
        <p:spPr>
          <a:xfrm>
            <a:off x="777240"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OCR</a:t>
            </a:r>
            <a:endParaRPr lang="en-US" sz="1600" dirty="0"/>
          </a:p>
        </p:txBody>
      </p:sp>
      <p:sp>
        <p:nvSpPr>
          <p:cNvPr id="28" name="list_122"/>
          <p:cNvSpPr txBox="1"/>
          <p:nvPr/>
        </p:nvSpPr>
        <p:spPr>
          <a:xfrm>
            <a:off x="777240"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Audit of real B2 errors on ViTextVQA: OCR misreads 28%, wrong text region 23%, tone marks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Vietnamese scene text is a stated research gap (G2)</a:t>
            </a:r>
            <a:endParaRPr lang="en-US" sz="1400" dirty="0"/>
          </a:p>
        </p:txBody>
      </p:sp>
      <p:sp>
        <p:nvSpPr>
          <p:cNvPr id="29" name="card_123"/>
          <p:cNvSpPr/>
          <p:nvPr/>
        </p:nvSpPr>
        <p:spPr>
          <a:xfrm>
            <a:off x="4368698" y="3794760"/>
            <a:ext cx="3454298" cy="2468880"/>
          </a:xfrm>
          <a:prstGeom prst="roundRect">
            <a:avLst>
              <a:gd name="adj" fmla="val 2963"/>
            </a:avLst>
          </a:prstGeom>
          <a:solidFill>
            <a:schemeClr val="bg2"/>
          </a:solidFill>
          <a:ln w="12700">
            <a:solidFill>
              <a:schemeClr val="bg2"/>
            </a:solidFill>
            <a:prstDash val="solid"/>
          </a:ln>
        </p:spPr>
      </p:sp>
      <p:sp>
        <p:nvSpPr>
          <p:cNvPr id="30" name="text_124"/>
          <p:cNvSpPr txBox="1"/>
          <p:nvPr/>
        </p:nvSpPr>
        <p:spPr>
          <a:xfrm>
            <a:off x="4597298"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Which OCR (rule fixed on dev300)</a:t>
            </a:r>
            <a:endParaRPr lang="en-US" sz="1600" dirty="0"/>
          </a:p>
        </p:txBody>
      </p:sp>
      <p:sp>
        <p:nvSpPr>
          <p:cNvPr id="31" name="list_125"/>
          <p:cNvSpPr txBox="1"/>
          <p:nvPr/>
        </p:nvSpPr>
        <p:spPr>
          <a:xfrm>
            <a:off x="4597298"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PaddleOCR Latin drops tone marks: “Kiểu Thẩm” → “Kiu Thm”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Gold answer inside OCR text: VietOCR 37.7% vs 27.0% (p = 0.0008) → VietOCR</a:t>
            </a:r>
            <a:endParaRPr lang="en-US" sz="1400" dirty="0"/>
          </a:p>
        </p:txBody>
      </p:sp>
      <p:sp>
        <p:nvSpPr>
          <p:cNvPr id="32" name="card_126"/>
          <p:cNvSpPr/>
          <p:nvPr/>
        </p:nvSpPr>
        <p:spPr>
          <a:xfrm>
            <a:off x="8188757" y="3794760"/>
            <a:ext cx="3454298" cy="2468880"/>
          </a:xfrm>
          <a:prstGeom prst="roundRect">
            <a:avLst>
              <a:gd name="adj" fmla="val 2963"/>
            </a:avLst>
          </a:prstGeom>
          <a:solidFill>
            <a:schemeClr val="accent4"/>
          </a:solidFill>
          <a:ln w="12700">
            <a:solidFill>
              <a:schemeClr val="accent4"/>
            </a:solidFill>
            <a:prstDash val="solid"/>
          </a:ln>
        </p:spPr>
      </p:sp>
      <p:sp>
        <p:nvSpPr>
          <p:cNvPr id="33" name="text_127"/>
          <p:cNvSpPr txBox="1"/>
          <p:nvPr/>
        </p:nvSpPr>
        <p:spPr>
          <a:xfrm>
            <a:off x="8417357"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What is trained</a:t>
            </a:r>
            <a:endParaRPr lang="en-US" sz="1600" dirty="0"/>
          </a:p>
        </p:txBody>
      </p:sp>
      <p:sp>
        <p:nvSpPr>
          <p:cNvPr id="34" name="list_128"/>
          <p:cNvSpPr txBox="1"/>
          <p:nvPr/>
        </p:nvSpPr>
        <p:spPr>
          <a:xfrm>
            <a:off x="8417357"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Same QLoRA as B2 (r = 16, 0.196% params); only the prompt gains the OCR line</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Controlled test: 8,000-question train subset, B3 vs B2-sub (same subset, no OCR)</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ABLATION: OCR AT TRAIN × OCR AT TEST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 helps only when the model is trained with it</a:t>
            </a:r>
            <a:endParaRPr lang="en-US" sz="3200" dirty="0"/>
          </a:p>
        </p:txBody>
      </p:sp>
      <p:sp>
        <p:nvSpPr>
          <p:cNvPr id="5" name="text_129"/>
          <p:cNvSpPr txBox="1"/>
          <p:nvPr/>
        </p:nvSpPr>
        <p:spPr>
          <a:xfrm>
            <a:off x="233172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without OCR</a:t>
            </a:r>
            <a:endParaRPr lang="en-US" sz="1400" dirty="0"/>
          </a:p>
        </p:txBody>
      </p:sp>
      <p:sp>
        <p:nvSpPr>
          <p:cNvPr id="6" name="text_130"/>
          <p:cNvSpPr txBox="1"/>
          <p:nvPr/>
        </p:nvSpPr>
        <p:spPr>
          <a:xfrm>
            <a:off x="470916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 OCR</a:t>
            </a:r>
            <a:endParaRPr lang="en-US" sz="1400" dirty="0"/>
          </a:p>
        </p:txBody>
      </p:sp>
      <p:sp>
        <p:nvSpPr>
          <p:cNvPr id="7" name="text_131"/>
          <p:cNvSpPr txBox="1"/>
          <p:nvPr/>
        </p:nvSpPr>
        <p:spPr>
          <a:xfrm>
            <a:off x="548640" y="178308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without OCR</a:t>
            </a:r>
            <a:endParaRPr lang="en-US" sz="1400" dirty="0"/>
          </a:p>
        </p:txBody>
      </p:sp>
      <p:sp>
        <p:nvSpPr>
          <p:cNvPr id="8" name="text_132"/>
          <p:cNvSpPr txBox="1"/>
          <p:nvPr/>
        </p:nvSpPr>
        <p:spPr>
          <a:xfrm>
            <a:off x="548640" y="333756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 OCR</a:t>
            </a:r>
            <a:endParaRPr lang="en-US" sz="1400" dirty="0"/>
          </a:p>
        </p:txBody>
      </p:sp>
      <p:sp>
        <p:nvSpPr>
          <p:cNvPr id="9" name="card_133"/>
          <p:cNvSpPr/>
          <p:nvPr/>
        </p:nvSpPr>
        <p:spPr>
          <a:xfrm>
            <a:off x="2331720" y="1783080"/>
            <a:ext cx="2240280" cy="1417320"/>
          </a:xfrm>
          <a:prstGeom prst="roundRect">
            <a:avLst>
              <a:gd name="adj" fmla="val 5161"/>
            </a:avLst>
          </a:prstGeom>
          <a:solidFill>
            <a:schemeClr val="bg2"/>
          </a:solidFill>
          <a:ln w="12700">
            <a:solidFill>
              <a:schemeClr val="bg2"/>
            </a:solidFill>
            <a:prstDash val="solid"/>
          </a:ln>
        </p:spPr>
      </p:sp>
      <p:sp>
        <p:nvSpPr>
          <p:cNvPr id="10" name="text_134"/>
          <p:cNvSpPr txBox="1"/>
          <p:nvPr/>
        </p:nvSpPr>
        <p:spPr>
          <a:xfrm>
            <a:off x="233172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45.55</a:t>
            </a:r>
            <a:endParaRPr lang="en-US" sz="3400" dirty="0"/>
          </a:p>
        </p:txBody>
      </p:sp>
      <p:sp>
        <p:nvSpPr>
          <p:cNvPr id="11" name="text_135"/>
          <p:cNvSpPr txBox="1"/>
          <p:nvPr/>
        </p:nvSpPr>
        <p:spPr>
          <a:xfrm>
            <a:off x="242316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a:t>
            </a:r>
            <a:endParaRPr lang="en-US" sz="1300" dirty="0"/>
          </a:p>
        </p:txBody>
      </p:sp>
      <p:sp>
        <p:nvSpPr>
          <p:cNvPr id="12" name="card_136"/>
          <p:cNvSpPr/>
          <p:nvPr/>
        </p:nvSpPr>
        <p:spPr>
          <a:xfrm>
            <a:off x="4709160" y="1783080"/>
            <a:ext cx="2240280" cy="1417320"/>
          </a:xfrm>
          <a:prstGeom prst="roundRect">
            <a:avLst>
              <a:gd name="adj" fmla="val 5161"/>
            </a:avLst>
          </a:prstGeom>
          <a:solidFill>
            <a:schemeClr val="bg2"/>
          </a:solidFill>
          <a:ln w="12700">
            <a:solidFill>
              <a:schemeClr val="bg2"/>
            </a:solidFill>
            <a:prstDash val="solid"/>
          </a:ln>
        </p:spPr>
      </p:sp>
      <p:sp>
        <p:nvSpPr>
          <p:cNvPr id="13" name="text_137"/>
          <p:cNvSpPr txBox="1"/>
          <p:nvPr/>
        </p:nvSpPr>
        <p:spPr>
          <a:xfrm>
            <a:off x="470916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44.90</a:t>
            </a:r>
            <a:endParaRPr lang="en-US" sz="3400" dirty="0"/>
          </a:p>
        </p:txBody>
      </p:sp>
      <p:sp>
        <p:nvSpPr>
          <p:cNvPr id="14" name="text_138"/>
          <p:cNvSpPr txBox="1"/>
          <p:nvPr/>
        </p:nvSpPr>
        <p:spPr>
          <a:xfrm>
            <a:off x="480060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 + OCR at test</a:t>
            </a:r>
            <a:endParaRPr lang="en-US" sz="1300" dirty="0"/>
          </a:p>
        </p:txBody>
      </p:sp>
      <p:sp>
        <p:nvSpPr>
          <p:cNvPr id="15" name="card_139"/>
          <p:cNvSpPr/>
          <p:nvPr/>
        </p:nvSpPr>
        <p:spPr>
          <a:xfrm>
            <a:off x="2331720" y="3337560"/>
            <a:ext cx="2240280" cy="1417320"/>
          </a:xfrm>
          <a:prstGeom prst="roundRect">
            <a:avLst>
              <a:gd name="adj" fmla="val 5161"/>
            </a:avLst>
          </a:prstGeom>
          <a:solidFill>
            <a:schemeClr val="bg2"/>
          </a:solidFill>
          <a:ln w="12700">
            <a:solidFill>
              <a:schemeClr val="bg2"/>
            </a:solidFill>
            <a:prstDash val="solid"/>
          </a:ln>
        </p:spPr>
      </p:sp>
      <p:sp>
        <p:nvSpPr>
          <p:cNvPr id="16" name="text_140"/>
          <p:cNvSpPr txBox="1"/>
          <p:nvPr/>
        </p:nvSpPr>
        <p:spPr>
          <a:xfrm>
            <a:off x="2331720" y="350215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45.00</a:t>
            </a:r>
            <a:endParaRPr lang="en-US" sz="3400" dirty="0"/>
          </a:p>
        </p:txBody>
      </p:sp>
      <p:sp>
        <p:nvSpPr>
          <p:cNvPr id="17" name="text_141"/>
          <p:cNvSpPr txBox="1"/>
          <p:nvPr/>
        </p:nvSpPr>
        <p:spPr>
          <a:xfrm>
            <a:off x="242316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OCR removed at test</a:t>
            </a:r>
            <a:endParaRPr lang="en-US" sz="1300" dirty="0"/>
          </a:p>
        </p:txBody>
      </p:sp>
      <p:sp>
        <p:nvSpPr>
          <p:cNvPr id="18" name="card_142"/>
          <p:cNvSpPr/>
          <p:nvPr/>
        </p:nvSpPr>
        <p:spPr>
          <a:xfrm>
            <a:off x="4709160" y="3337560"/>
            <a:ext cx="2240280" cy="1417320"/>
          </a:xfrm>
          <a:prstGeom prst="roundRect">
            <a:avLst>
              <a:gd name="adj" fmla="val 5161"/>
            </a:avLst>
          </a:prstGeom>
          <a:solidFill>
            <a:schemeClr val="accent5"/>
          </a:solidFill>
          <a:ln w="12700">
            <a:solidFill>
              <a:schemeClr val="accent5"/>
            </a:solidFill>
            <a:prstDash val="solid"/>
          </a:ln>
        </p:spPr>
      </p:sp>
      <p:sp>
        <p:nvSpPr>
          <p:cNvPr id="19" name="text_143"/>
          <p:cNvSpPr txBox="1"/>
          <p:nvPr/>
        </p:nvSpPr>
        <p:spPr>
          <a:xfrm>
            <a:off x="4709160" y="3502152"/>
            <a:ext cx="2240280" cy="685800"/>
          </a:xfrm>
          <a:prstGeom prst="rect">
            <a:avLst/>
          </a:prstGeom>
          <a:noFill/>
          <a:ln/>
        </p:spPr>
        <p:txBody>
          <a:bodyPr wrap="square" lIns="0" tIns="0" rIns="0" bIns="0" rtlCol="0" anchor="t"/>
          <a:lstStyle/>
          <a:p>
            <a:pPr algn="ctr" indent="0" marL="0">
              <a:buNone/>
            </a:pPr>
            <a:r>
              <a:rPr lang="en-US" sz="3400" b="1" dirty="0">
                <a:solidFill>
                  <a:schemeClr val="accent2"/>
                </a:solidFill>
                <a:latin typeface="Cambria" pitchFamily="34" charset="0"/>
                <a:ea typeface="Cambria" pitchFamily="34" charset="-122"/>
                <a:cs typeface="Cambria" pitchFamily="34" charset="-120"/>
              </a:rPr>
              <a:t>49.25</a:t>
            </a:r>
            <a:endParaRPr lang="en-US" sz="3400" dirty="0"/>
          </a:p>
        </p:txBody>
      </p:sp>
      <p:sp>
        <p:nvSpPr>
          <p:cNvPr id="20" name="text_144"/>
          <p:cNvSpPr txBox="1"/>
          <p:nvPr/>
        </p:nvSpPr>
        <p:spPr>
          <a:xfrm>
            <a:off x="480060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(proposed)</a:t>
            </a:r>
            <a:endParaRPr lang="en-US" sz="1300" dirty="0"/>
          </a:p>
        </p:txBody>
      </p:sp>
      <p:sp>
        <p:nvSpPr>
          <p:cNvPr id="21" name="text_145"/>
          <p:cNvSpPr txBox="1"/>
          <p:nvPr/>
        </p:nvSpPr>
        <p:spPr>
          <a:xfrm>
            <a:off x="2331720" y="4864608"/>
            <a:ext cx="4617720" cy="320040"/>
          </a:xfrm>
          <a:prstGeom prst="rect">
            <a:avLst/>
          </a:prstGeom>
          <a:noFill/>
          <a:ln/>
        </p:spPr>
        <p:txBody>
          <a:bodyPr wrap="square" lIns="0" tIns="0" rIns="0" bIns="0" rtlCol="0" anchor="t"/>
          <a:lstStyle/>
          <a:p>
            <a:pPr algn="ctr" indent="0" marL="0">
              <a:buNone/>
            </a:pPr>
            <a:r>
              <a:rPr lang="en-US" sz="1200" dirty="0">
                <a:solidFill>
                  <a:schemeClr val="accent3"/>
                </a:solidFill>
                <a:latin typeface="Calibri" pitchFamily="34" charset="0"/>
                <a:ea typeface="Calibri" pitchFamily="34" charset="-122"/>
                <a:cs typeface="Calibri" pitchFamily="34" charset="-120"/>
              </a:rPr>
              <a:t>EM (%), ViTextVQA test subset (2,000 q.), seed 42</a:t>
            </a:r>
            <a:endParaRPr lang="en-US" sz="1200" dirty="0"/>
          </a:p>
        </p:txBody>
      </p:sp>
      <p:sp>
        <p:nvSpPr>
          <p:cNvPr id="22" name="card_146"/>
          <p:cNvSpPr/>
          <p:nvPr/>
        </p:nvSpPr>
        <p:spPr>
          <a:xfrm>
            <a:off x="7360920" y="1371600"/>
            <a:ext cx="4282135" cy="2103120"/>
          </a:xfrm>
          <a:prstGeom prst="roundRect">
            <a:avLst>
              <a:gd name="adj" fmla="val 3478"/>
            </a:avLst>
          </a:prstGeom>
          <a:solidFill>
            <a:schemeClr val="bg2"/>
          </a:solidFill>
          <a:ln w="12700">
            <a:solidFill>
              <a:schemeClr val="bg2"/>
            </a:solidFill>
            <a:prstDash val="solid"/>
          </a:ln>
        </p:spPr>
      </p:sp>
      <p:sp>
        <p:nvSpPr>
          <p:cNvPr id="23" name="text_147"/>
          <p:cNvSpPr txBox="1"/>
          <p:nvPr/>
        </p:nvSpPr>
        <p:spPr>
          <a:xfrm>
            <a:off x="7589520" y="1481328"/>
            <a:ext cx="3824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Paired tests (McNemar, EM)</a:t>
            </a:r>
            <a:endParaRPr lang="en-US" sz="1600" dirty="0"/>
          </a:p>
        </p:txBody>
      </p:sp>
      <p:sp>
        <p:nvSpPr>
          <p:cNvPr id="24" name="list_148"/>
          <p:cNvSpPr txBox="1"/>
          <p:nvPr/>
        </p:nvSpPr>
        <p:spPr>
          <a:xfrm>
            <a:off x="7589520" y="1874520"/>
            <a:ext cx="3824935" cy="1554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test only: −0.65 (p = 0.49)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train only: −0.55 (p = 0.35)</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Both at train and test: +4.35 (p = 2 × 10⁻⁸)</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Removing OCR from B3: −4.25 (p = 4 × 10⁻⁹)</a:t>
            </a:r>
            <a:endParaRPr lang="en-US" sz="1400" dirty="0"/>
          </a:p>
        </p:txBody>
      </p:sp>
      <p:sp>
        <p:nvSpPr>
          <p:cNvPr id="25" name="card_149"/>
          <p:cNvSpPr/>
          <p:nvPr/>
        </p:nvSpPr>
        <p:spPr>
          <a:xfrm>
            <a:off x="7360920" y="3657600"/>
            <a:ext cx="4282135" cy="1280160"/>
          </a:xfrm>
          <a:prstGeom prst="roundRect">
            <a:avLst>
              <a:gd name="adj" fmla="val 5714"/>
            </a:avLst>
          </a:prstGeom>
          <a:solidFill>
            <a:schemeClr val="accent4"/>
          </a:solidFill>
          <a:ln w="12700">
            <a:solidFill>
              <a:schemeClr val="accent4"/>
            </a:solidFill>
            <a:prstDash val="solid"/>
          </a:ln>
        </p:spPr>
      </p:sp>
      <p:sp>
        <p:nvSpPr>
          <p:cNvPr id="26" name="text_150"/>
          <p:cNvSpPr txBox="1"/>
          <p:nvPr/>
        </p:nvSpPr>
        <p:spPr>
          <a:xfrm>
            <a:off x="7589520" y="3657600"/>
            <a:ext cx="3824935" cy="12801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Interaction +4.9 EM </a:t>
            </a:r>
            <a:pPr indent="0" marL="0">
              <a:buNone/>
            </a:pPr>
            <a:r>
              <a:rPr lang="en-US" sz="1500" dirty="0">
                <a:solidFill>
                  <a:schemeClr val="tx1"/>
                </a:solidFill>
                <a:latin typeface="Calibri" pitchFamily="34" charset="0"/>
                <a:ea typeface="Calibri" pitchFamily="34" charset="-122"/>
                <a:cs typeface="Calibri" pitchFamily="34" charset="-120"/>
              </a:rPr>
              <a:t>(CI95 +3.2 to +6.6) → OCR is needed at both train and test</a:t>
            </a:r>
            <a:endParaRPr lang="en-US" sz="1500" dirty="0"/>
          </a:p>
        </p:txBody>
      </p:sp>
      <p:sp>
        <p:nvSpPr>
          <p:cNvPr id="27" name="card_151"/>
          <p:cNvSpPr/>
          <p:nvPr/>
        </p:nvSpPr>
        <p:spPr>
          <a:xfrm>
            <a:off x="548640" y="5349240"/>
            <a:ext cx="11094415" cy="914400"/>
          </a:xfrm>
          <a:prstGeom prst="roundRect">
            <a:avLst>
              <a:gd name="adj" fmla="val 8000"/>
            </a:avLst>
          </a:prstGeom>
          <a:solidFill>
            <a:schemeClr val="accent5"/>
          </a:solidFill>
          <a:ln w="12700">
            <a:solidFill>
              <a:schemeClr val="accent5"/>
            </a:solidFill>
            <a:prstDash val="solid"/>
          </a:ln>
        </p:spPr>
      </p:sp>
      <p:sp>
        <p:nvSpPr>
          <p:cNvPr id="28" name="text_152"/>
          <p:cNvSpPr txBox="1"/>
          <p:nvPr/>
        </p:nvSpPr>
        <p:spPr>
          <a:xfrm>
            <a:off x="822960" y="5349240"/>
            <a:ext cx="10545775" cy="91440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Takeaway  </a:t>
            </a:r>
            <a:pPr indent="0" marL="0">
              <a:buNone/>
            </a:pPr>
            <a:r>
              <a:rPr lang="en-US" sz="1500" dirty="0">
                <a:solidFill>
                  <a:schemeClr val="tx1"/>
                </a:solidFill>
                <a:latin typeface="Calibri" pitchFamily="34" charset="0"/>
                <a:ea typeface="Calibri" pitchFamily="34" charset="-122"/>
                <a:cs typeface="Calibri" pitchFamily="34" charset="-120"/>
              </a:rPr>
              <a:t>the contribution is not “add OCR to the prompt” — it is teaching the model, with QLoRA, when to trust OCR and when to trust the image.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ROBUSTNESS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holds across seeds and on the full test</a:t>
            </a:r>
            <a:endParaRPr lang="en-US" sz="3200" dirty="0"/>
          </a:p>
        </p:txBody>
      </p:sp>
      <p:graphicFrame>
        <p:nvGraphicFramePr>
          <p:cNvPr id="5" name="chart_153"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card_154"/>
          <p:cNvSpPr/>
          <p:nvPr/>
        </p:nvSpPr>
        <p:spPr>
          <a:xfrm>
            <a:off x="548640" y="5212080"/>
            <a:ext cx="5120640" cy="1051560"/>
          </a:xfrm>
          <a:prstGeom prst="roundRect">
            <a:avLst>
              <a:gd name="adj" fmla="val 6957"/>
            </a:avLst>
          </a:prstGeom>
          <a:solidFill>
            <a:schemeClr val="accent4"/>
          </a:solidFill>
          <a:ln w="12700">
            <a:solidFill>
              <a:schemeClr val="accent4"/>
            </a:solidFill>
            <a:prstDash val="solid"/>
          </a:ln>
        </p:spPr>
      </p:sp>
      <p:sp>
        <p:nvSpPr>
          <p:cNvPr id="7" name="text_155"/>
          <p:cNvSpPr txBox="1"/>
          <p:nvPr/>
        </p:nvSpPr>
        <p:spPr>
          <a:xfrm>
            <a:off x="777240" y="5212080"/>
            <a:ext cx="4663440" cy="105156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+3.57 ± 0.76 EM</a:t>
            </a:r>
            <a:pPr indent="0" marL="0">
              <a:buNone/>
            </a:pPr>
            <a:r>
              <a:rPr lang="en-US" sz="1400" dirty="0">
                <a:solidFill>
                  <a:schemeClr val="tx1"/>
                </a:solidFill>
                <a:latin typeface="Calibri" pitchFamily="34" charset="0"/>
                <a:ea typeface="Calibri" pitchFamily="34" charset="-122"/>
                <a:cs typeface="Calibri" pitchFamily="34" charset="-120"/>
              </a:rPr>
              <a:t> · all 3 seeds p ≤ 1.4 × 10⁻⁴ → stable (pre-registered rule)</a:t>
            </a:r>
            <a:endParaRPr lang="en-US" sz="1400" dirty="0"/>
          </a:p>
        </p:txBody>
      </p:sp>
      <p:graphicFrame>
        <p:nvGraphicFramePr>
          <p:cNvPr id="18" name="table_156"/>
          <p:cNvGraphicFramePr>
            <a:graphicFrameLocks noGrp="1"/>
          </p:cNvGraphicFramePr>
          <p:nvPr>
            <p:extLst>
              <p:ext uri="{D42A27DB-BD31-4B8C-83A1-F6EECF244321}">
                <p14:modId xmlns:p14="http://schemas.microsoft.com/office/powerpoint/2010/main" val="1579011935"/>
              </p:ext>
            </p:extLst>
          </p:nvPr>
        </p:nvGraphicFramePr>
        <p:xfrm>
          <a:off x="6035040" y="1371600"/>
          <a:ext cx="5608015" cy="914400"/>
        </p:xfrm>
        <a:graphic>
          <a:graphicData uri="http://schemas.openxmlformats.org/drawingml/2006/table">
            <a:tbl>
              <a:tblPr/>
              <a:tblGrid>
                <a:gridCol w="2331720"/>
                <a:gridCol w="1325880"/>
                <a:gridCol w="1005840"/>
                <a:gridCol w="9418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Train data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(paper)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B2-sub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46.56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67.83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B3 (OCR-aware)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49.10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70.03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 (QLoRA, no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50.26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71.16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card_157"/>
          <p:cNvSpPr/>
          <p:nvPr/>
        </p:nvSpPr>
        <p:spPr>
          <a:xfrm>
            <a:off x="6035040" y="3886200"/>
            <a:ext cx="5608015" cy="2377440"/>
          </a:xfrm>
          <a:prstGeom prst="roundRect">
            <a:avLst>
              <a:gd name="adj" fmla="val 3077"/>
            </a:avLst>
          </a:prstGeom>
          <a:solidFill>
            <a:schemeClr val="bg2"/>
          </a:solidFill>
          <a:ln w="12700">
            <a:solidFill>
              <a:schemeClr val="bg2"/>
            </a:solidFill>
            <a:prstDash val="solid"/>
          </a:ln>
        </p:spPr>
      </p:sp>
      <p:sp>
        <p:nvSpPr>
          <p:cNvPr id="10" name="list_158"/>
          <p:cNvSpPr txBox="1"/>
          <p:nvPr/>
        </p:nvSpPr>
        <p:spPr>
          <a:xfrm>
            <a:off x="6263640" y="4023360"/>
            <a:ext cx="5150815"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B3 vs B2-sub: +2.54 EM (672 vs 417 questions only one model gets right, p = 10⁻¹⁴)</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Above ViTextBLIP-2 on EM and F1 (CI95 lower bounds 48.1 / 69.3)</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Correction: still 1.16 EM below full-data B2 (p = 0.003); OCR recovers ≈ 69% of the data-cut gap with 25% of the training time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ViVQA: TRAINING LENGTH</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a second epoch helps — chosen without touching test</a:t>
            </a:r>
            <a:endParaRPr lang="en-US" sz="3200" dirty="0"/>
          </a:p>
        </p:txBody>
      </p:sp>
      <p:graphicFrame>
        <p:nvGraphicFramePr>
          <p:cNvPr id="5" name="chart_159" descr=""/>
          <p:cNvGraphicFramePr/>
          <p:nvPr/>
        </p:nvGraphicFramePr>
        <p:xfrm>
          <a:off x="548640" y="137160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card_160"/>
          <p:cNvSpPr/>
          <p:nvPr/>
        </p:nvSpPr>
        <p:spPr>
          <a:xfrm>
            <a:off x="548640" y="4846320"/>
            <a:ext cx="6400800" cy="1417320"/>
          </a:xfrm>
          <a:prstGeom prst="roundRect">
            <a:avLst>
              <a:gd name="adj" fmla="val 5161"/>
            </a:avLst>
          </a:prstGeom>
          <a:solidFill>
            <a:schemeClr val="accent4"/>
          </a:solidFill>
          <a:ln w="12700">
            <a:solidFill>
              <a:schemeClr val="accent4"/>
            </a:solidFill>
            <a:prstDash val="solid"/>
          </a:ln>
        </p:spPr>
      </p:sp>
      <p:sp>
        <p:nvSpPr>
          <p:cNvPr id="7" name="text_161"/>
          <p:cNvSpPr txBox="1"/>
          <p:nvPr/>
        </p:nvSpPr>
        <p:spPr>
          <a:xfrm>
            <a:off x="777240" y="4846320"/>
            <a:ext cx="5943600" cy="14173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Rule fixed before the run: highest EM on image-disjoint val; keep C1 unless significantly better → C3 (+3.9 EM, p = 1.4 × 10⁻⁴)</a:t>
            </a:r>
            <a:endParaRPr lang="en-US" sz="1400" dirty="0"/>
          </a:p>
        </p:txBody>
      </p:sp>
      <p:sp>
        <p:nvSpPr>
          <p:cNvPr id="8" name="card_162"/>
          <p:cNvSpPr/>
          <p:nvPr/>
        </p:nvSpPr>
        <p:spPr>
          <a:xfrm>
            <a:off x="7315200" y="1371600"/>
            <a:ext cx="4327855" cy="2377440"/>
          </a:xfrm>
          <a:prstGeom prst="roundRect">
            <a:avLst>
              <a:gd name="adj" fmla="val 3077"/>
            </a:avLst>
          </a:prstGeom>
          <a:solidFill>
            <a:schemeClr val="accent5"/>
          </a:solidFill>
          <a:ln w="12700">
            <a:solidFill>
              <a:schemeClr val="accent5"/>
            </a:solidFill>
            <a:prstDash val="solid"/>
          </a:ln>
        </p:spPr>
      </p:sp>
      <p:sp>
        <p:nvSpPr>
          <p:cNvPr id="9" name="text_163"/>
          <p:cNvSpPr txBox="1"/>
          <p:nvPr/>
        </p:nvSpPr>
        <p:spPr>
          <a:xfrm>
            <a:off x="7589520" y="1508760"/>
            <a:ext cx="3779215"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73.8 → 76.6</a:t>
            </a:r>
            <a:endParaRPr lang="en-US" sz="4000" dirty="0"/>
          </a:p>
        </p:txBody>
      </p:sp>
      <p:sp>
        <p:nvSpPr>
          <p:cNvPr id="10" name="text_164"/>
          <p:cNvSpPr txBox="1"/>
          <p:nvPr/>
        </p:nvSpPr>
        <p:spPr>
          <a:xfrm>
            <a:off x="7589520" y="2377440"/>
            <a:ext cx="3779215"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ViVQA test EM (3,001 q.), touched once: +2.9, p = 4.6 × 10⁻⁹</a:t>
            </a:r>
            <a:endParaRPr lang="en-US" sz="1400" dirty="0"/>
          </a:p>
        </p:txBody>
      </p:sp>
      <p:sp>
        <p:nvSpPr>
          <p:cNvPr id="11" name="text_165"/>
          <p:cNvSpPr txBox="1"/>
          <p:nvPr/>
        </p:nvSpPr>
        <p:spPr>
          <a:xfrm>
            <a:off x="7589520" y="2926080"/>
            <a:ext cx="3779215" cy="777240"/>
          </a:xfrm>
          <a:prstGeom prst="rect">
            <a:avLst/>
          </a:prstGeom>
          <a:noFill/>
          <a:ln/>
        </p:spPr>
        <p:txBody>
          <a:bodyPr wrap="square" lIns="0" tIns="0" rIns="0" bIns="0" rtlCol="0" anchor="t"/>
          <a:lstStyle/>
          <a:p>
            <a:pPr indent="0" marL="0">
              <a:buNone/>
            </a:pPr>
            <a:r>
              <a:rPr lang="en-US" sz="1300" i="1" dirty="0">
                <a:solidFill>
                  <a:schemeClr val="tx1"/>
                </a:solidFill>
                <a:latin typeface="Calibri" pitchFamily="34" charset="0"/>
                <a:ea typeface="Calibri" pitchFamily="34" charset="-122"/>
                <a:cs typeface="Calibri" pitchFamily="34" charset="-120"/>
              </a:rPr>
              <a:t>Not image memorisation (post-hoc): on the clean test subset — unseen images and unseen QA, n = 1,219 — +3.2 EM (69.1 → 72.3, p = 1.5 × 10⁻⁴)</a:t>
            </a:r>
            <a:endParaRPr lang="en-US" sz="1300" dirty="0"/>
          </a:p>
        </p:txBody>
      </p:sp>
      <p:sp>
        <p:nvSpPr>
          <p:cNvPr id="12" name="card_166"/>
          <p:cNvSpPr/>
          <p:nvPr/>
        </p:nvSpPr>
        <p:spPr>
          <a:xfrm>
            <a:off x="7315200" y="3931920"/>
            <a:ext cx="4327855" cy="2331720"/>
          </a:xfrm>
          <a:prstGeom prst="roundRect">
            <a:avLst>
              <a:gd name="adj" fmla="val 3137"/>
            </a:avLst>
          </a:prstGeom>
          <a:solidFill>
            <a:schemeClr val="bg2"/>
          </a:solidFill>
          <a:ln w="12700">
            <a:solidFill>
              <a:schemeClr val="bg2"/>
            </a:solidFill>
            <a:prstDash val="solid"/>
          </a:ln>
        </p:spPr>
      </p:sp>
      <p:sp>
        <p:nvSpPr>
          <p:cNvPr id="13" name="text_167"/>
          <p:cNvSpPr txBox="1"/>
          <p:nvPr/>
        </p:nvSpPr>
        <p:spPr>
          <a:xfrm>
            <a:off x="7589520" y="4041648"/>
            <a:ext cx="377921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image-disjoint val</a:t>
            </a:r>
            <a:endParaRPr lang="en-US" sz="1600" dirty="0"/>
          </a:p>
        </p:txBody>
      </p:sp>
      <p:sp>
        <p:nvSpPr>
          <p:cNvPr id="14" name="list_168"/>
          <p:cNvSpPr txBox="1"/>
          <p:nvPr/>
        </p:nvSpPr>
        <p:spPr>
          <a:xfrm>
            <a:off x="7589520" y="4434840"/>
            <a:ext cx="3779215" cy="17830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of 1,200 val questions share an image with train</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Longer training memorises images → plain val would favour it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Cost: 6.1 h instead of 3.0 h on one L4</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HYPOTHESES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What the evidence says so far</a:t>
            </a:r>
            <a:endParaRPr lang="en-US" sz="3200" dirty="0"/>
          </a:p>
        </p:txBody>
      </p:sp>
      <p:graphicFrame>
        <p:nvGraphicFramePr>
          <p:cNvPr id="20" name="table_169"/>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4507992"/>
                <a:gridCol w="182880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Hypothesis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over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full),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keeps ≥ 97% accuracy,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Keeps 94.5%; VRAM −77% (R0 vs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H6  OCR prompting ≥ +3 ANLS, synergy with QLoRA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Synergy: interaction +4.9 EM; but ANLS +1.55 ± 0.40 (&lt; +3)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Vietnamese format prompt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Few-shot variant: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does not increase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Audit: 7% of B2 errors are hallucinations (CI 4–11%); B1 comparison in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H3–H5  LoRA config, shared adapter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Planned W10–W12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170"/>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171"/>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zero-shot EM 22.1 (ViVQA), 29.1 (ViTextVQA).  RQ2: QLoRA +51.7 / +21.1 EM.  RQ3: OCR-aware QLoRA +2.5 EM over the same QLoRA (full test).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NEXT STEPS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Plan to Review 3 (week 13)</a:t>
            </a:r>
            <a:endParaRPr lang="en-US" sz="3200" dirty="0"/>
          </a:p>
        </p:txBody>
      </p:sp>
      <p:sp>
        <p:nvSpPr>
          <p:cNvPr id="5" name="card_172"/>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173"/>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174"/>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W10</a:t>
            </a:r>
            <a:endParaRPr lang="en-US" sz="1400" dirty="0"/>
          </a:p>
        </p:txBody>
      </p:sp>
      <p:sp>
        <p:nvSpPr>
          <p:cNvPr id="8" name="text_175"/>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OCR-aware QLoRA on the full ViTextVQA train set; LoRA rank and target-module ablations (H3, H4)</a:t>
            </a:r>
            <a:endParaRPr lang="en-US" sz="1500" dirty="0"/>
          </a:p>
        </p:txBody>
      </p:sp>
      <p:sp>
        <p:nvSpPr>
          <p:cNvPr id="9" name="card_176"/>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177"/>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178"/>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2" name="text_179"/>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Shared adapter for both datasets (H5); systematic hallucination evaluation incl. B3 (H8)</a:t>
            </a:r>
            <a:endParaRPr lang="en-US" sz="1500" dirty="0"/>
          </a:p>
        </p:txBody>
      </p:sp>
      <p:sp>
        <p:nvSpPr>
          <p:cNvPr id="13" name="card_180"/>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81"/>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82"/>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a:t>
            </a:r>
            <a:endParaRPr lang="en-US" sz="1400" dirty="0"/>
          </a:p>
        </p:txBody>
      </p:sp>
      <p:sp>
        <p:nvSpPr>
          <p:cNvPr id="16" name="text_183"/>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Web prototype: upload image → OCR → answer in Vietnamese</a:t>
            </a:r>
            <a:endParaRPr lang="en-US" sz="1500" dirty="0"/>
          </a:p>
        </p:txBody>
      </p:sp>
      <p:sp>
        <p:nvSpPr>
          <p:cNvPr id="17" name="card_184"/>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85"/>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86"/>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W13</a:t>
            </a:r>
            <a:endParaRPr lang="en-US" sz="1400" dirty="0"/>
          </a:p>
        </p:txBody>
      </p:sp>
      <p:sp>
        <p:nvSpPr>
          <p:cNvPr id="20" name="text_187"/>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Review 3: final results, ablations, error analysis, live demo</a:t>
            </a:r>
            <a:endParaRPr lang="en-US" sz="1500" dirty="0"/>
          </a:p>
        </p:txBody>
      </p:sp>
      <p:sp>
        <p:nvSpPr>
          <p:cNvPr id="21" name="text_188"/>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All runs keep the frozen protocol, PEFT only, and pre-registered decision rules.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We welcome your feedback.</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Every number in this talk comes from a logged, reproducible run (fixed seed, config and evaluation protocol).</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2026-10-18T12:45:55Z</dcterms:created>
  <dcterms:modified xsi:type="dcterms:W3CDTF">2026-10-18T12:45:55Z</dcterms:modified>
</cp:coreProperties>
</file>