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e74f817-0a59-5cc1-26c3-d58731a6bab7}">
          <p14:sldIdLst>
            <p14:sldId id="256"/>
          </p14:sldIdLst>
        </p14:section>
        <p14:section name="Summary" id="{f1072e48-8469-a1af-a9cd-ae718bb981f2}">
          <p14:sldIdLst>
            <p14:sldId id="257"/>
          </p14:sldIdLst>
        </p14:section>
        <p14:section name="Feedback" id="{dc632f28-2f38-9856-d6a4-449dd64f875d}">
          <p14:sldIdLst>
            <p14:sldId id="258"/>
          </p14:sldIdLst>
        </p14:section>
        <p14:section name="Data &amp; baseline" id="{b1893a6e-bcad-3781-c44d-35ce3423b43f}">
          <p14:sldIdLst>
            <p14:sldId id="259"/>
            <p14:sldId id="260"/>
            <p14:sldId id="261"/>
          </p14:sldIdLst>
        </p14:section>
        <p14:section name="Results" id="{58ce38aa-1582-6556-06a6-1005b0e51aeb}">
          <p14:sldIdLst>
            <p14:sldId id="262"/>
            <p14:sldId id="263"/>
            <p14:sldId id="264"/>
          </p14:sldIdLst>
        </p14:section>
        <p14:section name="Improvement" id="{d76c3b3d-21ce-df14-4b39-1fc709706fcc}">
          <p14:sldIdLst>
            <p14:sldId id="265"/>
            <p14:sldId id="266"/>
            <p14:sldId id="267"/>
            <p14:sldId id="268"/>
          </p14:sldIdLst>
        </p14:section>
        <p14:section name="OCR-aware QLoRA" id="{9e2504bd-8294-6ec2-dd3c-d502f81c1f26}">
          <p14:sldIdLst>
            <p14:sldId id="269"/>
            <p14:sldId id="270"/>
            <p14:sldId id="271"/>
            <p14:sldId id="272"/>
          </p14:sldIdLst>
        </p14:section>
        <p14:section name="Analysis &amp; plan" id="{3850f793-0b9f-fcb6-965e-472057ff18a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TextVQA val (5,000 questions), VQA accuracy</a:t>
            </a:r>
          </a:p>
        </c:rich>
      </c:tx>
      <c:layout/>
      <c:overlay val="0"/>
    </c:title>
    <c:autoTitleDeleted val="0"/>
    <c:plotArea>
      <c:layout/>
      <c:barChart>
        <c:barDir val="col"/>
        <c:grouping val="clustered"/>
        <c:varyColors val="0"/>
        <c:ser>
          <c:idx val="0"/>
          <c:order val="0"/>
          <c:tx>
            <c:strRef>
              <c:f>Sheet1!$B$1</c:f>
              <c:strCache>
                <c:ptCount val="1"/>
                <c:pt idx="0">
                  <c:v>VQA-Acc</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Qwen2.5-VL report</c:v>
                  </c:pt>
                  <c:pt idx="1">
                    <c:v>R0 · bf16, full res.</c:v>
                  </c:pt>
                  <c:pt idx="2">
                    <c:v>R0b · 4-bit, 512 tok.</c:v>
                  </c:pt>
                </c:lvl>
              </c:multiLvlStrCache>
            </c:multiLvlStrRef>
          </c:cat>
          <c:val>
            <c:numRef>
              <c:f>Sheet1!$B$2:$B$4</c:f>
              <c:numCache>
                <c:formatCode>General</c:formatCode>
                <c:ptCount val="3"/>
                <c:pt idx="0">
                  <c:v>79.3</c:v>
                </c:pt>
                <c:pt idx="1">
                  <c:v>79.6</c:v>
                </c:pt>
                <c:pt idx="2">
                  <c:v>75.21</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5"/>
          <c:min val="6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EM</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Sheet1!$A$2:$A$5</c:f>
              <c:multiLvlStrCache>
                <c:ptCount val="4"/>
                <c:lvl>
                  <c:pt idx="0">
                    <c:v>number</c:v>
                  </c:pt>
                  <c:pt idx="1">
                    <c:v>color</c:v>
                  </c:pt>
                  <c:pt idx="2">
                    <c:v>object</c:v>
                  </c:pt>
                  <c:pt idx="3">
                    <c:v>location</c:v>
                  </c:pt>
                </c:lvl>
              </c:multiLvlStrCache>
            </c:multiLvlStrRef>
          </c:cat>
          <c:val>
            <c:numRef>
              <c:f>Sheet1!$B$2:$B$5</c:f>
              <c:numCache>
                <c:formatCode>General</c:formatCode>
                <c:ptCount val="4"/>
                <c:pt idx="0">
                  <c:v>69.1</c:v>
                </c:pt>
                <c:pt idx="1">
                  <c:v>44.8</c:v>
                </c:pt>
                <c:pt idx="2">
                  <c:v>5.7</c:v>
                </c:pt>
                <c:pt idx="3">
                  <c:v>0.7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Exact Match (%)</a:t>
            </a:r>
          </a:p>
        </c:rich>
      </c:tx>
      <c:layout/>
      <c:overlay val="0"/>
    </c:title>
    <c:autoTitleDeleted val="0"/>
    <c:plotArea>
      <c:layout/>
      <c:barChart>
        <c:barDir val="col"/>
        <c:grouping val="clustered"/>
        <c:varyColors val="0"/>
        <c:ser>
          <c:idx val="0"/>
          <c:order val="0"/>
          <c:tx>
            <c:strRef>
              <c:f>Sheet1!$B$1</c:f>
              <c:strCache>
                <c:ptCount val="1"/>
                <c:pt idx="0">
                  <c:v>B1 zero-shot</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full</c:v>
                  </c:pt>
                </c:lvl>
              </c:multiLvlStrCache>
            </c:multiLvlStrRef>
          </c:cat>
          <c:val>
            <c:numRef>
              <c:f>Sheet1!$B$2:$B$4</c:f>
              <c:numCache>
                <c:formatCode>General</c:formatCode>
                <c:ptCount val="3"/>
                <c:pt idx="0">
                  <c:v>22.09</c:v>
                </c:pt>
                <c:pt idx="1">
                  <c:v>28.8</c:v>
                </c:pt>
                <c:pt idx="2">
                  <c:v>29.12</c:v>
                </c:pt>
              </c:numCache>
            </c:numRef>
          </c:val>
        </c:ser>
        <c:ser>
          <c:idx val="1"/>
          <c:order val="1"/>
          <c:tx>
            <c:strRef>
              <c:f>Sheet1!$C$1</c:f>
              <c:strCache>
                <c:ptCount val="1"/>
                <c:pt idx="0">
                  <c:v>B2 QLoRA 1 epoch</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ViVQA</c:v>
                  </c:pt>
                  <c:pt idx="1">
                    <c:v>ViTextVQA (2,000)</c:v>
                  </c:pt>
                  <c:pt idx="2">
                    <c:v>ViTextVQA full</c:v>
                  </c:pt>
                </c:lvl>
              </c:multiLvlStrCache>
            </c:multiLvlStrRef>
          </c:cat>
          <c:val>
            <c:numRef>
              <c:f>Sheet1!$C$2:$C$4</c:f>
              <c:numCache>
                <c:formatCode>General</c:formatCode>
                <c:ptCount val="3"/>
                <c:pt idx="0">
                  <c:v>73.78</c:v>
                </c:pt>
                <c:pt idx="1">
                  <c:v>49.7</c:v>
                </c:pt>
                <c:pt idx="2">
                  <c:v>50.26</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B1</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Sheet1!$B$2:$B$3</c:f>
              <c:numCache>
                <c:formatCode>General</c:formatCode>
                <c:ptCount val="2"/>
                <c:pt idx="0">
                  <c:v>22.09</c:v>
                </c:pt>
                <c:pt idx="1">
                  <c:v>28.8</c:v>
                </c:pt>
              </c:numCache>
            </c:numRef>
          </c:val>
        </c:ser>
        <c:ser>
          <c:idx val="1"/>
          <c:order val="1"/>
          <c:tx>
            <c:strRef>
              <c:f>Sheet1!$C$1</c:f>
              <c:strCache>
                <c:ptCount val="1"/>
                <c:pt idx="0">
                  <c:v>FS5</c:v>
                </c:pt>
              </c:strCache>
            </c:strRef>
          </c:tx>
          <c:spPr>
            <a:solidFill>
              <a:srgbClr val="E8A33D"/>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Sheet1!$C$2:$C$3</c:f>
              <c:numCache>
                <c:formatCode>General</c:formatCode>
                <c:ptCount val="2"/>
                <c:pt idx="0">
                  <c:v>20.03</c:v>
                </c:pt>
                <c:pt idx="1">
                  <c:v>27.6</c:v>
                </c:pt>
              </c:numCache>
            </c:numRef>
          </c:val>
        </c:ser>
        <c:ser>
          <c:idx val="2"/>
          <c:order val="2"/>
          <c:tx>
            <c:strRef>
              <c:f>Sheet1!$D$1</c:f>
              <c:strCache>
                <c:ptCount val="1"/>
                <c:pt idx="0">
                  <c:v>B2</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Sheet1!$A$2:$A$3</c:f>
              <c:multiLvlStrCache>
                <c:ptCount val="2"/>
                <c:lvl>
                  <c:pt idx="0">
                    <c:v>ViVQA</c:v>
                  </c:pt>
                  <c:pt idx="1">
                    <c:v>ViTextVQA (2,000)</c:v>
                  </c:pt>
                </c:lvl>
              </c:multiLvlStrCache>
            </c:multiLvlStrRef>
          </c:cat>
          <c:val>
            <c:numRef>
              <c:f>Sheet1!$D$2:$D$3</c:f>
              <c:numCache>
                <c:formatCode>General</c:formatCode>
                <c:ptCount val="2"/>
                <c:pt idx="0">
                  <c:v>73.78</c:v>
                </c:pt>
                <c:pt idx="1">
                  <c:v>49.7</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90"/>
          <c:min val="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Automatic buckets, B2 errors on full ViTextVQA test (n = 4,988)</a:t>
            </a:r>
          </a:p>
        </c:rich>
      </c:tx>
      <c:layout/>
      <c:overlay val="0"/>
    </c:title>
    <c:autoTitleDeleted val="0"/>
    <c:plotArea>
      <c:layout/>
      <c:barChart>
        <c:barDir val="bar"/>
        <c:grouping val="clustered"/>
        <c:varyColors val="0"/>
        <c:ser>
          <c:idx val="0"/>
          <c:order val="0"/>
          <c:tx>
            <c:strRef>
              <c:f>Sheet1!$B$1</c:f>
              <c:strCache>
                <c:ptCount val="1"/>
                <c:pt idx="0">
                  <c:v>% of B2 errors</c:v>
                </c:pt>
              </c:strCache>
            </c:strRef>
          </c:tx>
          <c:spPr>
            <a:solidFill>
              <a:srgbClr val="1C7293"/>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Sheet1!$A$2:$A$6</c:f>
              <c:multiLvlStrCache>
                <c:ptCount val="5"/>
                <c:lvl>
                  <c:pt idx="0">
                    <c:v>other: content / region</c:v>
                  </c:pt>
                  <c:pt idx="1">
                    <c:v>1–2 characters off</c:v>
                  </c:pt>
                  <c:pt idx="2">
                    <c:v>answer too long</c:v>
                  </c:pt>
                  <c:pt idx="3">
                    <c:v>answer too short</c:v>
                  </c:pt>
                  <c:pt idx="4">
                    <c:v>tone marks only</c:v>
                  </c:pt>
                </c:lvl>
              </c:multiLvlStrCache>
            </c:multiLvlStrRef>
          </c:cat>
          <c:val>
            <c:numRef>
              <c:f>Sheet1!$B$2:$B$6</c:f>
              <c:numCache>
                <c:formatCode>General</c:formatCode>
                <c:ptCount val="5"/>
                <c:pt idx="0">
                  <c:v>47.4</c:v>
                </c:pt>
                <c:pt idx="1">
                  <c:v>16.8</c:v>
                </c:pt>
                <c:pt idx="2">
                  <c:v>13.6</c:v>
                </c:pt>
                <c:pt idx="3">
                  <c:v>13.2</c:v>
                </c:pt>
                <c:pt idx="4">
                  <c:v>9</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EM (%), test subset 2,000 q., 3 training seeds</a:t>
            </a:r>
          </a:p>
        </c:rich>
      </c:tx>
      <c:layout/>
      <c:overlay val="0"/>
    </c:title>
    <c:autoTitleDeleted val="0"/>
    <c:plotArea>
      <c:layout/>
      <c:barChart>
        <c:barDir val="col"/>
        <c:grouping val="clustered"/>
        <c:varyColors val="0"/>
        <c:ser>
          <c:idx val="0"/>
          <c:order val="0"/>
          <c:tx>
            <c:strRef>
              <c:f>Sheet1!$B$1</c:f>
              <c:strCache>
                <c:ptCount val="1"/>
                <c:pt idx="0">
                  <c:v>B2-sub (no OCR)</c:v>
                </c:pt>
              </c:strCache>
            </c:strRef>
          </c:tx>
          <c:spPr>
            <a:solidFill>
              <a:srgbClr val="6B7280"/>
            </a:solidFill>
            <a:effectLst/>
          </c:spPr>
          <c:invertIfNegative val="0"/>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seed 42</c:v>
                  </c:pt>
                  <c:pt idx="1">
                    <c:v>seed 43</c:v>
                  </c:pt>
                  <c:pt idx="2">
                    <c:v>seed 44</c:v>
                  </c:pt>
                </c:lvl>
              </c:multiLvlStrCache>
            </c:multiLvlStrRef>
          </c:cat>
          <c:val>
            <c:numRef>
              <c:f>Sheet1!$B$2:$B$4</c:f>
              <c:numCache>
                <c:formatCode>General</c:formatCode>
                <c:ptCount val="3"/>
                <c:pt idx="0">
                  <c:v>45.55</c:v>
                </c:pt>
                <c:pt idx="1">
                  <c:v>44.75</c:v>
                </c:pt>
                <c:pt idx="2">
                  <c:v>46.05</c:v>
                </c:pt>
              </c:numCache>
            </c:numRef>
          </c:val>
        </c:ser>
        <c:ser>
          <c:idx val="1"/>
          <c:order val="1"/>
          <c:tx>
            <c:strRef>
              <c:f>Sheet1!$C$1</c:f>
              <c:strCache>
                <c:ptCount val="1"/>
                <c:pt idx="0">
                  <c:v>B3 (OCR-aware)</c:v>
                </c:pt>
              </c:strCache>
            </c:strRef>
          </c:tx>
          <c:spPr>
            <a:solidFill>
              <a:srgbClr val="E8A33D"/>
            </a:solidFill>
            <a:effectLst/>
          </c:spPr>
          <c:invertIfNegative val="0"/>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cat>
            <c:multiLvlStrRef>
              <c:f>Sheet1!$A$2:$A$4</c:f>
              <c:multiLvlStrCache>
                <c:ptCount val="3"/>
                <c:lvl>
                  <c:pt idx="0">
                    <c:v>seed 42</c:v>
                  </c:pt>
                  <c:pt idx="1">
                    <c:v>seed 43</c:v>
                  </c:pt>
                  <c:pt idx="2">
                    <c:v>seed 44</c:v>
                  </c:pt>
                </c:lvl>
              </c:multiLvlStrCache>
            </c:multiLvlStrRef>
          </c:cat>
          <c:val>
            <c:numRef>
              <c:f>Sheet1!$C$2:$C$4</c:f>
              <c:numCache>
                <c:formatCode>General</c:formatCode>
                <c:ptCount val="3"/>
                <c:pt idx="0">
                  <c:v>49.25</c:v>
                </c:pt>
                <c:pt idx="1">
                  <c:v>49</c:v>
                </c:pt>
                <c:pt idx="2">
                  <c:v>48.8</c:v>
                </c:pt>
              </c:numCache>
            </c:numRef>
          </c:val>
        </c:ser>
        <c:dLbls>
          <c:numFmt formatCode="0.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52"/>
          <c:min val="40"/>
        </c:scaling>
        <c:delete val="0"/>
        <c:axPos val="l"/>
        <c:majorGridlines>
          <c:spPr>
            <a:ln w="9525" cap="flat">
              <a:solidFill>
                <a:srgbClr val="E2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430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43044"/>
                </a:solidFill>
                <a:latin typeface="+mn-lt"/>
              </a:defRPr>
            </a:pPr>
            <a:r>
              <a:rPr sz="1400" b="0" i="0" u="none" strike="noStrike">
                <a:solidFill>
                  <a:srgbClr val="243044"/>
                </a:solidFill>
                <a:latin typeface="+mn-lt"/>
              </a:rPr>
              <a:t>EM (%) on image-disjoint val (688 q.)</a:t>
            </a:r>
          </a:p>
        </c:rich>
      </c:tx>
      <c:layout/>
      <c:overlay val="0"/>
    </c:title>
    <c:autoTitleDeleted val="0"/>
    <c:plotArea>
      <c:layout/>
      <c:barChart>
        <c:barDir val="bar"/>
        <c:grouping val="clustered"/>
        <c:varyColors val="0"/>
        <c:ser>
          <c:idx val="0"/>
          <c:order val="0"/>
          <c:tx>
            <c:strRef>
              <c:f>Sheet1!$B$1</c:f>
              <c:strCache>
                <c:ptCount val="1"/>
                <c:pt idx="0">
                  <c:v>EM</c:v>
                </c:pt>
              </c:strCache>
            </c:strRef>
          </c:tx>
          <c:spPr>
            <a:solidFill>
              <a:srgbClr val="6B7280"/>
            </a:solidFill>
            <a:effectLst/>
          </c:spPr>
          <c:invertIfNegative val="0"/>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dPt>
            <c:idx val="0"/>
            <c:invertIfNegative val="0"/>
            <c:bubble3D val="0"/>
            <c:spPr>
              <a:solidFill>
                <a:srgbClr val="6B7280"/>
              </a:solidFill>
              <a:effectLst/>
            </c:spPr>
          </c:dPt>
          <c:dPt>
            <c:idx val="1"/>
            <c:invertIfNegative val="0"/>
            <c:bubble3D val="0"/>
            <c:spPr>
              <a:solidFill>
                <a:srgbClr val="6B7280"/>
              </a:solidFill>
              <a:effectLst/>
            </c:spPr>
          </c:dPt>
          <c:dPt>
            <c:idx val="2"/>
            <c:invertIfNegative val="0"/>
            <c:bubble3D val="0"/>
            <c:spPr>
              <a:solidFill>
                <a:srgbClr val="E8A33D"/>
              </a:solidFill>
              <a:effectLst/>
            </c:spPr>
          </c:dPt>
          <c:cat>
            <c:multiLvlStrRef>
              <c:f>Sheet1!$A$2:$A$4</c:f>
              <c:multiLvlStrCache>
                <c:ptCount val="3"/>
                <c:lvl>
                  <c:pt idx="0">
                    <c:v>C1 · B2, 1-epoch schedule</c:v>
                  </c:pt>
                  <c:pt idx="1">
                    <c:v>C2 · 2-epoch schedule, after epoch 1</c:v>
                  </c:pt>
                  <c:pt idx="2">
                    <c:v>C3 · 2-epoch schedule, after epoch 2</c:v>
                  </c:pt>
                </c:lvl>
              </c:multiLvlStrCache>
            </c:multiLvlStrRef>
          </c:cat>
          <c:val>
            <c:numRef>
              <c:f>Sheet1!$B$2:$B$4</c:f>
              <c:numCache>
                <c:formatCode>General</c:formatCode>
                <c:ptCount val="3"/>
                <c:pt idx="0">
                  <c:v>73.11</c:v>
                </c:pt>
                <c:pt idx="1">
                  <c:v>71.51</c:v>
                </c:pt>
                <c:pt idx="2">
                  <c:v>77.03</c:v>
                </c:pt>
              </c:numCache>
            </c:numRef>
          </c:val>
        </c:ser>
        <c:dLbls>
          <c:numFmt formatCode="0.0" sourceLinked="0"/>
          <c:txPr>
            <a:bodyPr/>
            <a:lstStyle/>
            <a:p>
              <a:pPr>
                <a:defRPr b="0" i="0" strike="noStrike" sz="1200" u="none">
                  <a:solidFill>
                    <a:srgbClr val="2430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2"/>
        <c:crosses val="autoZero"/>
        <c:auto val="1"/>
        <c:lblAlgn val="ctr"/>
        <c:noMultiLvlLbl val="1"/>
      </c:catAx>
      <c:valAx>
        <c:axId val="2094734552"/>
        <c:scaling>
          <c:orientation val="minMax"/>
          <c:max val="8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hội đồng. Nhóm trình bày Review 2: tái lập baseline Qwen2.5-VL-3B, kết quả QLoRA, và phương pháp đề xuất là QLoRA nhận biết OCR. Toàn bộ số liệu đều có log và có thể chạy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con số cần nhớ. Một: pipeline đánh giá của nhóm tái lập đúng số công bố của Qwen2.5-VL-3B trên TextVQA (79,6 so với 79,3), nên các số tiếng Việt phía sau đáng tin. Hai: QLoRA chỉ train 0,2% tham số nhưng tăng EM rất mạnh trên cả hai bộ dữ liệu, có kiểm định thống kê. Ba: trên toàn bộ test ViTextVQA, B2 vượt SOTA của paper ViTextBLIP-2. Bốn: phương pháp đề xuất, QLoRA nhận biết OCR, tăng thêm 2,5 điểm EM so với cùng QLoRA trên cùng dữ liệu, ổn định qua 3 seed và trên full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buổi họp ngày 07/10, thầy Trí yêu cầu năm việc trước khi bàn cải tiến. Bảng này cho thấy mỗi yêu cầu được xử lý ở slide nào. Các góp ý của reviewer Review 1 đã được sửa trong bản báo cáo Review 1 và ghi trong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ViVQA được tạo từ COCO-QA, câu hỏi sinh tự động rồi dịch bằng Google Translate. Vì vậy có các điểm nhiễu N1 đến N4, ví dụ purple bị dịch thành tía. Nhóm cũng kiểm tra rò rỉ: ở ViVQA, 46% ảnh test xuất hiện trong train; ở ViTextVQA thì không có ảnh trùng nào, nên đây là phép thử tổng quát hoá sạch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baseline mà thầy yêu cầu. Ảnh đi qua vision encoder 32 khối, được gộp còn 256 đến 512 token, rồi ghép với câu hỏi đưa vào decoder 36 lớp. Toàn bộ trọng số gốc đóng băng và lượng tử 4-bit. Phần duy nhất được train là LoRA ở 4 phép chiếu q, k, v, o của self-attention — ô màu cam.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run dùng chung một giao thức: split và seed cố định, cùng prompt, cấu hình khoá trong file config, cùng hàm chuẩn hoá và metric, và log đầy đủ commit, GPU, thời gian. So sánh hai run luôn dùng kiểm định ghép cặp McNemar cho EM và bootstrap cho ANLS. Luật kết luận được chốt trước khi chạy để tránh chọn kết quả có lợi.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chưa paper nào công bố Qwen2.5-VL-3B trên ViVQA hay ViTextVQA, nên không thể so trực tiếp. Nhóm kiểm chứng pipeline bằng một con số đã công bố: TextVQA val trong báo cáo Qwen2.5-VL là 79,3. Nhóm chạy được 79,6, nằm trong ngưỡng ±2 điểm đã chốt. Cấu hình tiết kiệm của nhóm (4-bit, 512 token) mất 4,4 điểm nhưng giảm VRAM 4,3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là baseline zero-shot chính thức. Lỗi lớn nhất là định dạng: model trả lời dài hơn đáp án chuẩn, ví dụ 'Lịch tết năm 2021' trong khi đáp án là '2021'. Trên ViTextVQA có 19% câu model đọc ra đúng đáp án nhưng EM vẫn tính sai. Theo loại câu hỏi, ViVQA rất yếu ở vị trí và đồ vật.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 của paper ViTextVQA có dòng QwenVL-7b đạt EM 28 trên 100 câu. Nhóm chạy Qwen2-VL-7B trong đúng điều kiện của baseline. Kết quả 7B kém 3B 12,6 điểm EM, p rất nhỏ, chậm hơn và tốn VRAM hơn. Nguyên nhân chính là 7B trả lời dài, trung bình 8,2 từ. Table 7 chỉ có 100 câu nên sai số khoảng ±9 điểm, không đủ để chọn giữa 3B và 7B. Vì vậy nhóm giữ Qwen2.5-VL-3B.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khác B1 đúng một biến: có adapter LoRA. Chỉ một epoch, EM ViVQA tăng từ 22 lên 74, ViTextVQA từ 29 lên 50 trên toàn bộ test. Cả hai đạt luật chốt trước: EM tăng và McNemar p nhỏ hơn 0,05. Chi phí rất thấp: 3 giờ train cho ViVQA, 12 giờ cho ViTextVQA, VRAM dưới 7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phép đối chứng. Một: ở ViVQA, trên phần test sạch chưa từng xuất hiện trong train, EM vẫn tăng từ 25 lên 69. Hai: ViTextVQA không có ảnh trùng mà vẫn tăng 21 điểm. Ba: đưa 5 ví dụ đáp án vào prompt (few-shot) không giúp gì, thậm chí giảm ở ViVQA. Vậy QLoRA học được nhiều hơn là cách trả lời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toàn bộ 10.028 câu test, B2 đạt EM 50,3 và F1 71,2, cao hơn ViTextBLIP-2 là SOTA của paper, với cận dưới khoảng tin cậy vẫn cao hơn số công bố. B1 zero-shot chỉ cao hơn về EM, còn F1 thì ngang. Chạy lại trên 2.000 câu chung cho kết quả trùng 100%. Giới hạn: paper không công bố cách chuẩn hoá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loại tự động 4.988 câu B2 còn sai trên full test ViTextVQA. 9% chỉ sai dấu thanh, ví dụ thủy và thúy — đây là thách thức riêng của tiếng Việt. 17% chỉ lệch một hai ký tự, thường là đọc chữ hoặc số. Khoảng 27% sai về độ dài: thừa hoặc thiếu chữ so với gold. 47% còn lại sai về nội dung hoặc vùng ảnh. Nhóm đã duyệt tay 200 lỗi của B2 có xem ảnh, 4 người cùng nhãn gợi ý của AI, trưởng nhóm phân xử các chỗ lệch. Kết quả: 54% câu bị EM chấm sai thực ra đúng ý — EM quá khắt khe; 12,5% do gold nhiễu; ở ViTextVQA lỗi thật chủ yếu là đọc sai chữ 28% và đọc nhầm vùng chữ 23%; hallucination thật chỉ 7%. Chính các lỗi đọc chữ này dẫn tới phương pháp đề xuất ở phần sau. Độ đồng thuận giữa hai người gán nhãn độc lập kappa 0,62; bỏ 42 dòng có AI hỗ trợ thì kết luận không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phân tích lỗi, nhóm đề xuất B3: QLoRA nhận biết OCR. Ảnh được chạy OCR trước — PaddleOCR dò vùng chữ, VietOCR đọc chữ tiếng Việt — rồi đúng một dòng 'Văn bản đọc được trong ảnh' được chèn trước câu hỏi. Điểm mấu chốt: dòng OCR có mặt cả lúc train lẫn lúc test, nên model học khi nào tin OCR, khi nào tin ảnh. Backend OCR được chọn trên dev300 bằng luật chốt trước: PaddleOCR bản Latin làm rơi dấu tiếng Việt, ví dụ 'Kiểu Thẩm' thành 'Kiu Thm'; VietOCR giữ được đáp án trong văn bản OCR ở 37,7% câu so với 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ablation bắt buộc có và không có OCR, làm thành bảng hai nhân hai trên cùng tập con và cùng 2.000 câu test. Chỉ chèn OCR lúc test cho model chưa train cùng OCR: không tăng, kể cả với zero-shot B1 và B2 ở tuần 8. Train cùng OCR mà lúc test bỏ OCR: cũng không tăng. Chỉ khi có cả hai thì EM tăng 4,35 điểm, p cỡ 10 mũ trừ 8. Tương tác là 4,9 điểm, khoảng tin cậy 3,2 đến 6,6. Vậy đóng góp không phải là thêm OCR vào prompt, mà là dạy model cách dùng OCR.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câu hỏi hội đồng hay đặt: một seed có phải may mắn không, và tập con có đại diện không. Ba seed huấn luyện 42, 43, 44, cùng tập con: cả ba seed B3 đều thắng B2-sub có ý nghĩa, trung bình cộng 3,57 điểm EM, độ lệch chuẩn 0,76. Trên toàn bộ 10.028 câu test, B3 thắng B2-sub 2,54 điểm, p cỡ 10 mũ trừ 14, và cao hơn ViTextBLIP-2 ở cả EM lẫn F1. Nhóm cũng đính chính: B3 dùng 23% dữ liệu vẫn thấp hơn B2 train toàn bộ 1,16 điểm; OCR bù được khoảng 69% phần mất do cắt dữ liệu. Về ANLS, mức tăng là 1,55 điểm, dưới ngưỡng 3 điểm của H6.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ViVQA, câu hỏi là train một hay hai epoch. Val của ViVQA được tách theo câu hỏi nên 43% câu val dùng chung ảnh với train; train lâu hơn dễ nhớ ảnh và làm val đẹp giả. Vì vậy nhóm chỉ chọn epoch trên 688 câu val có ảnh chưa từng xuất hiện trong train. Lịch hai epoch sau epoch 2 hơn B2 một epoch 3,9 điểm, có ý nghĩa, nên được chọn. Chỉ khi đó mới chấm test, một lần: EM tăng từ 73,8 lên 76,6, p cỡ 10 mũ trừ 9. Kiểm tra thêm sau khi có kết quả: trên phần test sạch, ảnh và cặp hỏi đáp chưa từng thấy, mức tăng vẫn là 3,2 điểm — nên đây không phải do model nhớ ảnh. Chi phí: gấp đôi thời gian train, 6,1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Đối chiếu với các giả thuyết đã nêu ở Review 1. H1 được ủng hộ mạnh. H2 chỉ đạt một nửa: VRAM giảm nhiều nhưng độ chính xác giữ 94,5%, dưới mức 97%. H7 chưa được ủng hộ với dạng few-shot đã thử. H8: duyệt tay 200 lỗi của B2 cho thấy chỉ khoảng 7% là hallucination thật; nhưng H8 so sánh với zero-shot, nên cần đo thêm B1 ở tuần 11 — vì vậy vẫn để Đang chờ. H6 chỉ ủng hộ một phần: OCR cộng hưởng mạnh với QLoRA, nhưng ANLS chỉ tăng 1,55 điểm, dưới ngưỡng 3 điểm đã đặt — nhóm báo đúng như vậy. H3 đến H5 thuộc kế hoạch tuần 10 đến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tuần 10 đến tuần 13: train QLoRA nhận biết OCR trên toàn bộ dữ liệu ViTextVQA để xem có vượt B2 không, ablation rank và module gắn LoRA, adapter dùng chung cho hai dataset, đo hallucination có hệ thống kể cả B3, rồi dựng prototype web: tải ảnh, chạy OCR, hỏi bằng tiếng Việt — cho Review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hội đồng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329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rtlCol="0"/>
          <a:lstStyle>
            <a:lvl1pPr algn="l" indent="0" marL="0">
              <a:buNone/>
              <a:defRPr lang="en-US" sz="1800" dirty="0">
                <a:solidFill>
                  <a:schemeClr val="bg1"/>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rtlCol="0"/>
          <a:lstStyle>
            <a:lvl1pPr indent="0" marL="0">
              <a:buNone/>
              <a:defRPr lang="en-US" sz="1100" b="1" spc="2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ViVQA-VLM · Review 2 · GFA26AI35 · FPT University</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ViVQA-VLM</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Efficient Vietnamese Visual Question Answering using Vision-Language Models</a:t>
            </a:r>
            <a:endParaRPr lang="en-US" sz="1800" dirty="0"/>
          </a:p>
          <a:p>
            <a:pPr algn="l" indent="0" marL="0">
              <a:buNone/>
            </a:pPr>
            <a:r>
              <a:rPr lang="en-US" sz="10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800" b="1" dirty="0">
                <a:solidFill>
                  <a:srgbClr val="E8A33D"/>
                </a:solidFill>
                <a:latin typeface="Calibri" pitchFamily="34" charset="0"/>
                <a:ea typeface="Calibri" pitchFamily="34" charset="-122"/>
                <a:cs typeface="Calibri" pitchFamily="34" charset="-120"/>
              </a:rPr>
              <a:t>Review 2  ·  Baseline, QLoRA and the proposed OCR-aware QLoRA</a:t>
            </a:r>
            <a:endParaRPr lang="en-US" sz="1800" dirty="0"/>
          </a:p>
          <a:p>
            <a:pPr algn="l" indent="0" marL="0">
              <a:buNone/>
            </a:pPr>
            <a:r>
              <a:rPr lang="en-US" sz="18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Supervisors:  </a:t>
            </a:r>
            <a:pPr algn="l" indent="0" marL="0">
              <a:buNone/>
            </a:pPr>
            <a:r>
              <a:rPr lang="en-US" sz="1500" dirty="0">
                <a:solidFill>
                  <a:schemeClr val="bg1"/>
                </a:solidFill>
                <a:latin typeface="Calibri" pitchFamily="34" charset="0"/>
                <a:ea typeface="Calibri" pitchFamily="34" charset="-122"/>
                <a:cs typeface="Calibri" pitchFamily="34" charset="-120"/>
              </a:rPr>
              <a:t>Đặng Ngọc Minh Đức · Phạm Minh Trí</a:t>
            </a:r>
            <a:endParaRPr lang="en-US" sz="1800" dirty="0"/>
          </a:p>
          <a:p>
            <a:pPr algn="l" indent="0" marL="0">
              <a:buNone/>
            </a:pPr>
            <a:r>
              <a:rPr lang="en-US" sz="1500" b="1" dirty="0">
                <a:solidFill>
                  <a:schemeClr val="bg1"/>
                </a:solidFill>
                <a:latin typeface="Calibri" pitchFamily="34" charset="0"/>
                <a:ea typeface="Calibri" pitchFamily="34" charset="-122"/>
                <a:cs typeface="Calibri" pitchFamily="34" charset="-120"/>
              </a:rPr>
              <a:t>Team:  </a:t>
            </a:r>
            <a:pPr algn="l" indent="0" marL="0">
              <a:buNone/>
            </a:pPr>
            <a:r>
              <a:rPr lang="en-US" sz="1500" dirty="0">
                <a:solidFill>
                  <a:schemeClr val="bg1"/>
                </a:solidFill>
                <a:latin typeface="Calibri" pitchFamily="34" charset="0"/>
                <a:ea typeface="Calibri" pitchFamily="34" charset="-122"/>
                <a:cs typeface="Calibri" pitchFamily="34" charset="-120"/>
              </a:rPr>
              <a:t>Phạm Lê Huy Hoàng (Leader) · Văn Quang Trường · Trần Quốc Huân · Hồ Đắc Toàn</a:t>
            </a:r>
            <a:endParaRPr lang="en-US" sz="1800" dirty="0"/>
          </a:p>
          <a:p>
            <a:pPr algn="l" indent="0" marL="0">
              <a:buNone/>
            </a:pPr>
            <a:r>
              <a:rPr lang="en-US" sz="15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300" dirty="0">
                <a:solidFill>
                  <a:srgbClr val="A8C4E0"/>
                </a:solidFill>
                <a:latin typeface="Calibri" pitchFamily="34" charset="0"/>
                <a:ea typeface="Calibri" pitchFamily="34" charset="-122"/>
                <a:cs typeface="Calibri" pitchFamily="34" charset="-120"/>
              </a:rPr>
              <a:t>Group GFA26AI35  ·  FPT University  ·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SUMMARY</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Four results of this milestone</a:t>
            </a:r>
            <a:endParaRPr lang="en-US" sz="3200" dirty="0"/>
          </a:p>
        </p:txBody>
      </p:sp>
      <p:sp>
        <p:nvSpPr>
          <p:cNvPr id="5" name="card_1"/>
          <p:cNvSpPr/>
          <p:nvPr/>
        </p:nvSpPr>
        <p:spPr>
          <a:xfrm>
            <a:off x="548640" y="1600200"/>
            <a:ext cx="2533574" cy="2651760"/>
          </a:xfrm>
          <a:prstGeom prst="roundRect">
            <a:avLst>
              <a:gd name="adj" fmla="val 2887"/>
            </a:avLst>
          </a:prstGeom>
          <a:solidFill>
            <a:schemeClr val="bg2"/>
          </a:solidFill>
          <a:ln w="12700">
            <a:solidFill>
              <a:schemeClr val="bg2"/>
            </a:solidFill>
            <a:prstDash val="solid"/>
          </a:ln>
        </p:spPr>
      </p:sp>
      <p:sp>
        <p:nvSpPr>
          <p:cNvPr id="6" name="text_2"/>
          <p:cNvSpPr txBox="1"/>
          <p:nvPr/>
        </p:nvSpPr>
        <p:spPr>
          <a:xfrm>
            <a:off x="822960" y="2011680"/>
            <a:ext cx="1984934" cy="82296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79.6</a:t>
            </a:r>
            <a:endParaRPr lang="en-US" sz="3600" dirty="0"/>
          </a:p>
        </p:txBody>
      </p:sp>
      <p:sp>
        <p:nvSpPr>
          <p:cNvPr id="7" name="text_3"/>
          <p:cNvSpPr txBox="1"/>
          <p:nvPr/>
        </p:nvSpPr>
        <p:spPr>
          <a:xfrm>
            <a:off x="822960"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Pipeline check — TextVQA val, Qwen2.5-VL-3B; the official report gives 79.3</a:t>
            </a:r>
            <a:endParaRPr lang="en-US" sz="1400" dirty="0"/>
          </a:p>
        </p:txBody>
      </p:sp>
      <p:sp>
        <p:nvSpPr>
          <p:cNvPr id="8" name="card_4"/>
          <p:cNvSpPr/>
          <p:nvPr/>
        </p:nvSpPr>
        <p:spPr>
          <a:xfrm>
            <a:off x="3402254" y="1600200"/>
            <a:ext cx="2533574" cy="2651760"/>
          </a:xfrm>
          <a:prstGeom prst="roundRect">
            <a:avLst>
              <a:gd name="adj" fmla="val 2887"/>
            </a:avLst>
          </a:prstGeom>
          <a:solidFill>
            <a:schemeClr val="bg2"/>
          </a:solidFill>
          <a:ln w="12700">
            <a:solidFill>
              <a:schemeClr val="bg2"/>
            </a:solidFill>
            <a:prstDash val="solid"/>
          </a:ln>
        </p:spPr>
      </p:sp>
      <p:sp>
        <p:nvSpPr>
          <p:cNvPr id="9" name="text_5"/>
          <p:cNvSpPr txBox="1"/>
          <p:nvPr/>
        </p:nvSpPr>
        <p:spPr>
          <a:xfrm>
            <a:off x="3676574" y="2011680"/>
            <a:ext cx="1984934"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+21.1</a:t>
            </a:r>
            <a:endParaRPr lang="en-US" sz="3600" dirty="0"/>
          </a:p>
        </p:txBody>
      </p:sp>
      <p:sp>
        <p:nvSpPr>
          <p:cNvPr id="10" name="text_6"/>
          <p:cNvSpPr txBox="1"/>
          <p:nvPr/>
        </p:nvSpPr>
        <p:spPr>
          <a:xfrm>
            <a:off x="3676574"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from QLoRA over zero-shot, full ViTextVQA test (+51.7 on ViVQA); p ≈ 0</a:t>
            </a:r>
            <a:endParaRPr lang="en-US" sz="1400" dirty="0"/>
          </a:p>
        </p:txBody>
      </p:sp>
      <p:sp>
        <p:nvSpPr>
          <p:cNvPr id="11" name="card_7"/>
          <p:cNvSpPr/>
          <p:nvPr/>
        </p:nvSpPr>
        <p:spPr>
          <a:xfrm>
            <a:off x="6255868" y="1600200"/>
            <a:ext cx="2533574" cy="2651760"/>
          </a:xfrm>
          <a:prstGeom prst="roundRect">
            <a:avLst>
              <a:gd name="adj" fmla="val 2887"/>
            </a:avLst>
          </a:prstGeom>
          <a:solidFill>
            <a:schemeClr val="bg2"/>
          </a:solidFill>
          <a:ln w="12700">
            <a:solidFill>
              <a:schemeClr val="bg2"/>
            </a:solidFill>
            <a:prstDash val="solid"/>
          </a:ln>
        </p:spPr>
      </p:sp>
      <p:sp>
        <p:nvSpPr>
          <p:cNvPr id="12" name="text_8"/>
          <p:cNvSpPr txBox="1"/>
          <p:nvPr/>
        </p:nvSpPr>
        <p:spPr>
          <a:xfrm>
            <a:off x="6530188" y="2011680"/>
            <a:ext cx="1984934"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50.3</a:t>
            </a:r>
            <a:endParaRPr lang="en-US" sz="3600" dirty="0"/>
          </a:p>
        </p:txBody>
      </p:sp>
      <p:sp>
        <p:nvSpPr>
          <p:cNvPr id="13" name="text_9"/>
          <p:cNvSpPr txBox="1"/>
          <p:nvPr/>
        </p:nvSpPr>
        <p:spPr>
          <a:xfrm>
            <a:off x="6530188"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on the full ViTextVQA test vs 25.5 for the published SOTA ViTextBLIP-2</a:t>
            </a:r>
            <a:endParaRPr lang="en-US" sz="1400" dirty="0"/>
          </a:p>
        </p:txBody>
      </p:sp>
      <p:sp>
        <p:nvSpPr>
          <p:cNvPr id="14" name="card_10"/>
          <p:cNvSpPr/>
          <p:nvPr/>
        </p:nvSpPr>
        <p:spPr>
          <a:xfrm>
            <a:off x="9109481" y="1600200"/>
            <a:ext cx="2533574" cy="2651760"/>
          </a:xfrm>
          <a:prstGeom prst="roundRect">
            <a:avLst>
              <a:gd name="adj" fmla="val 2887"/>
            </a:avLst>
          </a:prstGeom>
          <a:solidFill>
            <a:schemeClr val="accent5"/>
          </a:solidFill>
          <a:ln w="12700">
            <a:solidFill>
              <a:schemeClr val="accent5"/>
            </a:solidFill>
            <a:prstDash val="solid"/>
          </a:ln>
        </p:spPr>
      </p:sp>
      <p:sp>
        <p:nvSpPr>
          <p:cNvPr id="15" name="text_11"/>
          <p:cNvSpPr txBox="1"/>
          <p:nvPr/>
        </p:nvSpPr>
        <p:spPr>
          <a:xfrm>
            <a:off x="9383801" y="2011680"/>
            <a:ext cx="1984934" cy="82296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+2.5</a:t>
            </a:r>
            <a:endParaRPr lang="en-US" sz="3600" dirty="0"/>
          </a:p>
        </p:txBody>
      </p:sp>
      <p:sp>
        <p:nvSpPr>
          <p:cNvPr id="16" name="text_12"/>
          <p:cNvSpPr txBox="1"/>
          <p:nvPr/>
        </p:nvSpPr>
        <p:spPr>
          <a:xfrm>
            <a:off x="9383801" y="2880360"/>
            <a:ext cx="1984934"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EM from OCR-aware QLoRA vs the same QLoRA without OCR (full test, p = 10⁻¹⁴; stable over 3 seeds)</a:t>
            </a:r>
            <a:endParaRPr lang="en-US" sz="1400" dirty="0"/>
          </a:p>
        </p:txBody>
      </p:sp>
      <p:sp>
        <p:nvSpPr>
          <p:cNvPr id="17" name="card_13"/>
          <p:cNvSpPr/>
          <p:nvPr/>
        </p:nvSpPr>
        <p:spPr>
          <a:xfrm>
            <a:off x="548640" y="4572000"/>
            <a:ext cx="11094415" cy="960120"/>
          </a:xfrm>
          <a:prstGeom prst="roundRect">
            <a:avLst>
              <a:gd name="adj" fmla="val 7619"/>
            </a:avLst>
          </a:prstGeom>
          <a:solidFill>
            <a:schemeClr val="accent4"/>
          </a:solidFill>
          <a:ln w="12700">
            <a:solidFill>
              <a:schemeClr val="accent4"/>
            </a:solidFill>
            <a:prstDash val="solid"/>
          </a:ln>
        </p:spPr>
      </p:sp>
      <p:sp>
        <p:nvSpPr>
          <p:cNvPr id="18" name="text_14"/>
          <p:cNvSpPr txBox="1"/>
          <p:nvPr/>
        </p:nvSpPr>
        <p:spPr>
          <a:xfrm>
            <a:off x="868680" y="4572000"/>
            <a:ext cx="10454335" cy="960120"/>
          </a:xfrm>
          <a:prstGeom prst="rect">
            <a:avLst/>
          </a:prstGeom>
          <a:noFill/>
          <a:ln/>
        </p:spPr>
        <p:txBody>
          <a:bodyPr wrap="square" lIns="0" tIns="0" rIns="0" bIns="0" rtlCol="0" anchor="ctr"/>
          <a:lstStyle/>
          <a:p>
            <a:pPr indent="0" marL="0">
              <a:buNone/>
            </a:pPr>
            <a:r>
              <a:rPr lang="en-US" sz="1600" dirty="0">
                <a:solidFill>
                  <a:schemeClr val="tx2"/>
                </a:solidFill>
                <a:latin typeface="Calibri" pitchFamily="34" charset="0"/>
                <a:ea typeface="Calibri" pitchFamily="34" charset="-122"/>
                <a:cs typeface="Calibri" pitchFamily="34" charset="-120"/>
              </a:rPr>
              <a:t>Efficient by design: QLoRA trains 7.37 M parameters (0.196%), a 29.5 MB adapter, on a single NVIDIA L4 GPU — no full fine-tuning.</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01 · RESPONSE TO FEEDBACK</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Advisor feedback (07/10) and what we did</a:t>
            </a:r>
            <a:endParaRPr lang="en-US" sz="3200" dirty="0"/>
          </a:p>
        </p:txBody>
      </p:sp>
      <p:graphicFrame>
        <p:nvGraphicFramePr>
          <p:cNvPr id="4" name="table_15"/>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291840"/>
                <a:gridCol w="6675120"/>
                <a:gridCol w="112471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Feedback</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Action</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Slide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No baseline architecture diagram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Component-level diagram of Qwen2.5-VL-3B with LoRA placement (Fig. 7A)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Explain the dataset and its noise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ViVQA build pipeline + noise points N1–N4 (Fig. 6A); train–test leakage check; 400-sample manual audit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4, 13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Re-run the baseline with a stated evaluation method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Frozen protocol (Fig. 7B); pipeline validated on a published number (R0); zero-shot B1 on both datasets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6–8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Know the SOTA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ViTextBLIP-2 compared on the full test; Table 7 LMM row checked with Qwen2-VL-7B (R1)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9, 12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Run experiments before discussing improvements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QLoRA (B2) + three controls; then the proposed OCR-aware QLoRA (B3) with ablations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10–17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02 · DATASET UNDERSTANDING</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is machine-translated — noise is built in</a:t>
            </a:r>
            <a:endParaRPr lang="en-US" sz="3200" dirty="0"/>
          </a:p>
        </p:txBody>
      </p:sp>
      <p:pic>
        <p:nvPicPr>
          <p:cNvPr id="5" name="figure_16" descr="a6">    </p:cNvPr>
          <p:cNvPicPr>
            <a:picLocks noChangeAspect="1"/>
          </p:cNvPicPr>
          <p:nvPr/>
        </p:nvPicPr>
        <p:blipFill>
          <a:blip r:embed="rId1"/>
          <a:stretch>
            <a:fillRect/>
          </a:stretch>
        </p:blipFill>
        <p:spPr>
          <a:xfrm>
            <a:off x="1144641" y="1371600"/>
            <a:ext cx="9902414" cy="3840480"/>
          </a:xfrm>
          <a:prstGeom prst="rect">
            <a:avLst/>
          </a:prstGeom>
        </p:spPr>
      </p:pic>
      <p:sp>
        <p:nvSpPr>
          <p:cNvPr id="6" name="card_17"/>
          <p:cNvSpPr/>
          <p:nvPr/>
        </p:nvSpPr>
        <p:spPr>
          <a:xfrm>
            <a:off x="548640" y="5486400"/>
            <a:ext cx="5364328" cy="777240"/>
          </a:xfrm>
          <a:prstGeom prst="roundRect">
            <a:avLst>
              <a:gd name="adj" fmla="val 9412"/>
            </a:avLst>
          </a:prstGeom>
          <a:solidFill>
            <a:schemeClr val="bg2"/>
          </a:solidFill>
          <a:ln w="12700">
            <a:solidFill>
              <a:schemeClr val="bg2"/>
            </a:solidFill>
            <a:prstDash val="solid"/>
          </a:ln>
        </p:spPr>
      </p:sp>
      <p:sp>
        <p:nvSpPr>
          <p:cNvPr id="7" name="text_18"/>
          <p:cNvSpPr txBox="1"/>
          <p:nvPr/>
        </p:nvSpPr>
        <p:spPr>
          <a:xfrm>
            <a:off x="822960"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ViVQA  </a:t>
            </a:r>
            <a:pPr indent="0" marL="0">
              <a:buNone/>
            </a:pPr>
            <a:r>
              <a:rPr lang="en-US" sz="1400" dirty="0">
                <a:solidFill>
                  <a:schemeClr val="tx1"/>
                </a:solidFill>
                <a:latin typeface="Calibri" pitchFamily="34" charset="0"/>
                <a:ea typeface="Calibri" pitchFamily="34" charset="-122"/>
                <a:cs typeface="Calibri" pitchFamily="34" charset="-120"/>
              </a:rPr>
              <a:t>1,274 / 2,789 test images also appear in train; 99.4% of test answers belong to the 333 train answers (closed vocabulary)</a:t>
            </a:r>
            <a:endParaRPr lang="en-US" sz="1400" dirty="0"/>
          </a:p>
        </p:txBody>
      </p:sp>
      <p:sp>
        <p:nvSpPr>
          <p:cNvPr id="8" name="card_19"/>
          <p:cNvSpPr/>
          <p:nvPr/>
        </p:nvSpPr>
        <p:spPr>
          <a:xfrm>
            <a:off x="6278728" y="5486400"/>
            <a:ext cx="5364328" cy="777240"/>
          </a:xfrm>
          <a:prstGeom prst="roundRect">
            <a:avLst>
              <a:gd name="adj" fmla="val 9412"/>
            </a:avLst>
          </a:prstGeom>
          <a:solidFill>
            <a:schemeClr val="accent4"/>
          </a:solidFill>
          <a:ln w="12700">
            <a:solidFill>
              <a:schemeClr val="accent4"/>
            </a:solidFill>
            <a:prstDash val="solid"/>
          </a:ln>
        </p:spPr>
      </p:sp>
      <p:sp>
        <p:nvSpPr>
          <p:cNvPr id="9" name="text_20"/>
          <p:cNvSpPr txBox="1"/>
          <p:nvPr/>
        </p:nvSpPr>
        <p:spPr>
          <a:xfrm>
            <a:off x="6553048" y="5623560"/>
            <a:ext cx="4815688" cy="50292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ViTextVQA  </a:t>
            </a:r>
            <a:pPr indent="0" marL="0">
              <a:buNone/>
            </a:pPr>
            <a:r>
              <a:rPr lang="en-US" sz="1400" dirty="0">
                <a:solidFill>
                  <a:schemeClr val="tx1"/>
                </a:solidFill>
                <a:latin typeface="Calibri" pitchFamily="34" charset="0"/>
                <a:ea typeface="Calibri" pitchFamily="34" charset="-122"/>
                <a:cs typeface="Calibri" pitchFamily="34" charset="-120"/>
              </a:rPr>
              <a:t>0 images shared between train/dev and test; 46% of test answers occur in train → a cleaner test of generalization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03 · BASELINE ARCHITECTURE</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Qwen2.5-VL-3B-Instruct</a:t>
            </a:r>
            <a:endParaRPr lang="en-US" sz="3200" dirty="0"/>
          </a:p>
        </p:txBody>
      </p:sp>
      <p:pic>
        <p:nvPicPr>
          <p:cNvPr id="5" name="figure_21" descr="a7">    </p:cNvPr>
          <p:cNvPicPr>
            <a:picLocks noChangeAspect="1"/>
          </p:cNvPicPr>
          <p:nvPr/>
        </p:nvPicPr>
        <p:blipFill>
          <a:blip r:embed="rId1"/>
          <a:stretch>
            <a:fillRect/>
          </a:stretch>
        </p:blipFill>
        <p:spPr>
          <a:xfrm>
            <a:off x="548640" y="1325880"/>
            <a:ext cx="8138160" cy="4641536"/>
          </a:xfrm>
          <a:prstGeom prst="rect">
            <a:avLst/>
          </a:prstGeom>
        </p:spPr>
      </p:pic>
      <p:sp>
        <p:nvSpPr>
          <p:cNvPr id="6" name="card_22"/>
          <p:cNvSpPr/>
          <p:nvPr/>
        </p:nvSpPr>
        <p:spPr>
          <a:xfrm>
            <a:off x="9052560" y="1325880"/>
            <a:ext cx="2590495" cy="2240280"/>
          </a:xfrm>
          <a:prstGeom prst="roundRect">
            <a:avLst>
              <a:gd name="adj" fmla="val 3265"/>
            </a:avLst>
          </a:prstGeom>
          <a:solidFill>
            <a:schemeClr val="accent5"/>
          </a:solidFill>
          <a:ln w="12700">
            <a:solidFill>
              <a:schemeClr val="accent5"/>
            </a:solidFill>
            <a:prstDash val="solid"/>
          </a:ln>
        </p:spPr>
      </p:sp>
      <p:sp>
        <p:nvSpPr>
          <p:cNvPr id="7" name="text_23"/>
          <p:cNvSpPr txBox="1"/>
          <p:nvPr/>
        </p:nvSpPr>
        <p:spPr>
          <a:xfrm>
            <a:off x="9281160" y="146304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Trained (QLoRA)</a:t>
            </a:r>
            <a:endParaRPr lang="en-US" sz="1600" dirty="0"/>
          </a:p>
        </p:txBody>
      </p:sp>
      <p:sp>
        <p:nvSpPr>
          <p:cNvPr id="8" name="list_24"/>
          <p:cNvSpPr txBox="1"/>
          <p:nvPr/>
        </p:nvSpPr>
        <p:spPr>
          <a:xfrm>
            <a:off x="9281160" y="1874520"/>
            <a:ext cx="2133295" cy="16002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LoRA r = 16, α = 32 on q, k, v, o</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7,372,800 params = 0.196%</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Adapter 29.5 MB</a:t>
            </a:r>
            <a:endParaRPr lang="en-US" sz="1400" dirty="0"/>
          </a:p>
        </p:txBody>
      </p:sp>
      <p:sp>
        <p:nvSpPr>
          <p:cNvPr id="9" name="card_25"/>
          <p:cNvSpPr/>
          <p:nvPr/>
        </p:nvSpPr>
        <p:spPr>
          <a:xfrm>
            <a:off x="9052560" y="3749040"/>
            <a:ext cx="2590495" cy="2514600"/>
          </a:xfrm>
          <a:prstGeom prst="roundRect">
            <a:avLst>
              <a:gd name="adj" fmla="val 2909"/>
            </a:avLst>
          </a:prstGeom>
          <a:solidFill>
            <a:schemeClr val="bg2"/>
          </a:solidFill>
          <a:ln w="12700">
            <a:solidFill>
              <a:schemeClr val="bg2"/>
            </a:solidFill>
            <a:prstDash val="solid"/>
          </a:ln>
        </p:spPr>
      </p:sp>
      <p:sp>
        <p:nvSpPr>
          <p:cNvPr id="10" name="text_26"/>
          <p:cNvSpPr txBox="1"/>
          <p:nvPr/>
        </p:nvSpPr>
        <p:spPr>
          <a:xfrm>
            <a:off x="9281160" y="3886200"/>
            <a:ext cx="21332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Frozen</a:t>
            </a:r>
            <a:endParaRPr lang="en-US" sz="1600" dirty="0"/>
          </a:p>
        </p:txBody>
      </p:sp>
      <p:sp>
        <p:nvSpPr>
          <p:cNvPr id="11" name="list_27"/>
          <p:cNvSpPr txBox="1"/>
          <p:nvPr/>
        </p:nvSpPr>
        <p:spPr>
          <a:xfrm>
            <a:off x="9281160" y="4297680"/>
            <a:ext cx="2133295" cy="18288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ViT (32 blocks) + patch merger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LLM decoder, 36 layers, 4-bit NF4</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256–512 visual tokens per image</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03 · EVALUATION PROTOCOL</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Every run follows one frozen protocol</a:t>
            </a:r>
            <a:endParaRPr lang="en-US" sz="3200" dirty="0"/>
          </a:p>
        </p:txBody>
      </p:sp>
      <p:pic>
        <p:nvPicPr>
          <p:cNvPr id="5" name="figure_28" descr="b7">    </p:cNvPr>
          <p:cNvPicPr>
            <a:picLocks noChangeAspect="1"/>
          </p:cNvPicPr>
          <p:nvPr/>
        </p:nvPicPr>
        <p:blipFill>
          <a:blip r:embed="rId1"/>
          <a:stretch>
            <a:fillRect/>
          </a:stretch>
        </p:blipFill>
        <p:spPr>
          <a:xfrm>
            <a:off x="548640" y="1325880"/>
            <a:ext cx="11094415" cy="2161935"/>
          </a:xfrm>
          <a:prstGeom prst="rect">
            <a:avLst/>
          </a:prstGeom>
        </p:spPr>
      </p:pic>
      <p:sp>
        <p:nvSpPr>
          <p:cNvPr id="6" name="card_29"/>
          <p:cNvSpPr/>
          <p:nvPr/>
        </p:nvSpPr>
        <p:spPr>
          <a:xfrm>
            <a:off x="548640" y="3807855"/>
            <a:ext cx="3454298" cy="2455785"/>
          </a:xfrm>
          <a:prstGeom prst="roundRect">
            <a:avLst>
              <a:gd name="adj" fmla="val 2979"/>
            </a:avLst>
          </a:prstGeom>
          <a:solidFill>
            <a:schemeClr val="bg2"/>
          </a:solidFill>
          <a:ln w="12700">
            <a:solidFill>
              <a:schemeClr val="bg2"/>
            </a:solidFill>
            <a:prstDash val="solid"/>
          </a:ln>
        </p:spPr>
      </p:sp>
      <p:sp>
        <p:nvSpPr>
          <p:cNvPr id="7" name="text_30"/>
          <p:cNvSpPr txBox="1"/>
          <p:nvPr/>
        </p:nvSpPr>
        <p:spPr>
          <a:xfrm>
            <a:off x="777240"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Frozen configuration</a:t>
            </a:r>
            <a:endParaRPr lang="en-US" sz="1600" dirty="0"/>
          </a:p>
        </p:txBody>
      </p:sp>
      <p:sp>
        <p:nvSpPr>
          <p:cNvPr id="8" name="list_31"/>
          <p:cNvSpPr txBox="1"/>
          <p:nvPr/>
        </p:nvSpPr>
        <p:spPr>
          <a:xfrm>
            <a:off x="777240"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bf16 compute, 4-bit NF4 + double quant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512 visual tokens max</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Greedy decoding, 32 new tokens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Seed 42 · NVIDIA L4</a:t>
            </a:r>
            <a:endParaRPr lang="en-US" sz="1400" dirty="0"/>
          </a:p>
        </p:txBody>
      </p:sp>
      <p:sp>
        <p:nvSpPr>
          <p:cNvPr id="9" name="card_32"/>
          <p:cNvSpPr/>
          <p:nvPr/>
        </p:nvSpPr>
        <p:spPr>
          <a:xfrm>
            <a:off x="4368698" y="3807855"/>
            <a:ext cx="3454298" cy="2455785"/>
          </a:xfrm>
          <a:prstGeom prst="roundRect">
            <a:avLst>
              <a:gd name="adj" fmla="val 2979"/>
            </a:avLst>
          </a:prstGeom>
          <a:solidFill>
            <a:schemeClr val="bg2"/>
          </a:solidFill>
          <a:ln w="12700">
            <a:solidFill>
              <a:schemeClr val="bg2"/>
            </a:solidFill>
            <a:prstDash val="solid"/>
          </a:ln>
        </p:spPr>
      </p:sp>
      <p:sp>
        <p:nvSpPr>
          <p:cNvPr id="10" name="text_33"/>
          <p:cNvSpPr txBox="1"/>
          <p:nvPr/>
        </p:nvSpPr>
        <p:spPr>
          <a:xfrm>
            <a:off x="4597298"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Metrics</a:t>
            </a:r>
            <a:endParaRPr lang="en-US" sz="1600" dirty="0"/>
          </a:p>
        </p:txBody>
      </p:sp>
      <p:sp>
        <p:nvSpPr>
          <p:cNvPr id="11" name="list_34"/>
          <p:cNvSpPr txBox="1"/>
          <p:nvPr/>
        </p:nvSpPr>
        <p:spPr>
          <a:xfrm>
            <a:off x="4597298"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Primary: EM, VQA-Acc,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Secondary: token-F1 (to compare with the paper)</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Symmetric Vietnamese normalization, tone marks kept</a:t>
            </a:r>
            <a:endParaRPr lang="en-US" sz="1400" dirty="0"/>
          </a:p>
        </p:txBody>
      </p:sp>
      <p:sp>
        <p:nvSpPr>
          <p:cNvPr id="12" name="card_35"/>
          <p:cNvSpPr/>
          <p:nvPr/>
        </p:nvSpPr>
        <p:spPr>
          <a:xfrm>
            <a:off x="8188757" y="3807855"/>
            <a:ext cx="3454298" cy="2455785"/>
          </a:xfrm>
          <a:prstGeom prst="roundRect">
            <a:avLst>
              <a:gd name="adj" fmla="val 2979"/>
            </a:avLst>
          </a:prstGeom>
          <a:solidFill>
            <a:schemeClr val="bg2"/>
          </a:solidFill>
          <a:ln w="12700">
            <a:solidFill>
              <a:schemeClr val="bg2"/>
            </a:solidFill>
            <a:prstDash val="solid"/>
          </a:ln>
        </p:spPr>
      </p:sp>
      <p:sp>
        <p:nvSpPr>
          <p:cNvPr id="13" name="text_36"/>
          <p:cNvSpPr txBox="1"/>
          <p:nvPr/>
        </p:nvSpPr>
        <p:spPr>
          <a:xfrm>
            <a:off x="8417357" y="3945015"/>
            <a:ext cx="2997098"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Statistics</a:t>
            </a:r>
            <a:endParaRPr lang="en-US" sz="1600" dirty="0"/>
          </a:p>
        </p:txBody>
      </p:sp>
      <p:sp>
        <p:nvSpPr>
          <p:cNvPr id="14" name="list_37"/>
          <p:cNvSpPr txBox="1"/>
          <p:nvPr/>
        </p:nvSpPr>
        <p:spPr>
          <a:xfrm>
            <a:off x="8417357" y="4356495"/>
            <a:ext cx="2997098" cy="1815705"/>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Paired McNemar exact test (EM)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Paired bootstrap CI95 (ANLS)</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Decision rules fixed before each run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PIPELINE VALIDATION (R0)</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Our pipeline reproduces the published number</a:t>
            </a:r>
            <a:endParaRPr lang="en-US" sz="3200" dirty="0"/>
          </a:p>
        </p:txBody>
      </p:sp>
      <p:graphicFrame>
        <p:nvGraphicFramePr>
          <p:cNvPr id="5" name="chart_38" descr=""/>
          <p:cNvGraphicFramePr/>
          <p:nvPr/>
        </p:nvGraphicFramePr>
        <p:xfrm>
          <a:off x="548640" y="137160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6" name="card_39"/>
          <p:cNvSpPr/>
          <p:nvPr/>
        </p:nvSpPr>
        <p:spPr>
          <a:xfrm>
            <a:off x="7498080" y="1371600"/>
            <a:ext cx="4144975" cy="2240280"/>
          </a:xfrm>
          <a:prstGeom prst="roundRect">
            <a:avLst>
              <a:gd name="adj" fmla="val 3265"/>
            </a:avLst>
          </a:prstGeom>
          <a:solidFill>
            <a:schemeClr val="accent4"/>
          </a:solidFill>
          <a:ln w="12700">
            <a:solidFill>
              <a:schemeClr val="accent4"/>
            </a:solidFill>
            <a:prstDash val="solid"/>
          </a:ln>
        </p:spPr>
      </p:sp>
      <p:sp>
        <p:nvSpPr>
          <p:cNvPr id="7" name="text_40"/>
          <p:cNvSpPr txBox="1"/>
          <p:nvPr/>
        </p:nvSpPr>
        <p:spPr>
          <a:xfrm>
            <a:off x="7772400" y="150876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Rule fixed before the run</a:t>
            </a:r>
            <a:endParaRPr lang="en-US" sz="1600" dirty="0"/>
          </a:p>
        </p:txBody>
      </p:sp>
      <p:sp>
        <p:nvSpPr>
          <p:cNvPr id="8" name="text_41"/>
          <p:cNvSpPr txBox="1"/>
          <p:nvPr/>
        </p:nvSpPr>
        <p:spPr>
          <a:xfrm>
            <a:off x="7772400" y="1920240"/>
            <a:ext cx="3596335"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Reproduced if |ours − 79.3| ≤ 2.0 on the full val set → 79.6 (+0.3): reproduced.</a:t>
            </a:r>
            <a:endParaRPr lang="en-US" sz="1500" dirty="0"/>
          </a:p>
        </p:txBody>
      </p:sp>
      <p:sp>
        <p:nvSpPr>
          <p:cNvPr id="9" name="card_42"/>
          <p:cNvSpPr/>
          <p:nvPr/>
        </p:nvSpPr>
        <p:spPr>
          <a:xfrm>
            <a:off x="7498080" y="3794760"/>
            <a:ext cx="4144975" cy="2423160"/>
          </a:xfrm>
          <a:prstGeom prst="roundRect">
            <a:avLst>
              <a:gd name="adj" fmla="val 3019"/>
            </a:avLst>
          </a:prstGeom>
          <a:solidFill>
            <a:schemeClr val="bg2"/>
          </a:solidFill>
          <a:ln w="12700">
            <a:solidFill>
              <a:schemeClr val="bg2"/>
            </a:solidFill>
            <a:prstDash val="solid"/>
          </a:ln>
        </p:spPr>
      </p:sp>
      <p:sp>
        <p:nvSpPr>
          <p:cNvPr id="10" name="text_43"/>
          <p:cNvSpPr txBox="1"/>
          <p:nvPr/>
        </p:nvSpPr>
        <p:spPr>
          <a:xfrm>
            <a:off x="7772400" y="3931920"/>
            <a:ext cx="35963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Cost of the efficient setup</a:t>
            </a:r>
            <a:endParaRPr lang="en-US" sz="1600" dirty="0"/>
          </a:p>
        </p:txBody>
      </p:sp>
      <p:sp>
        <p:nvSpPr>
          <p:cNvPr id="11" name="list_44"/>
          <p:cNvSpPr txBox="1"/>
          <p:nvPr/>
        </p:nvSpPr>
        <p:spPr>
          <a:xfrm>
            <a:off x="7772400" y="4343400"/>
            <a:ext cx="3596335" cy="17373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−4.4 points accuracy</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VRAM 10.9 → 2.5 GB (4.3× less)</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H2 (≥ 97% kept): not met — 94.5%</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ZERO-SHOT BASELINE (B1)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Zero-shot fails mostly on answer format</a:t>
            </a:r>
            <a:endParaRPr lang="en-US" sz="3200" dirty="0"/>
          </a:p>
        </p:txBody>
      </p:sp>
      <p:graphicFrame>
        <p:nvGraphicFramePr>
          <p:cNvPr id="9" name="table_45"/>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3017520"/>
                <a:gridCol w="1005840"/>
                <a:gridCol w="1005840"/>
                <a:gridCol w="10058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Test set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ANLS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ViVQA (3,001)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22.1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38.1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subset (2,000)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ViTextVQA full (10,028)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47.6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46"/>
          <p:cNvSpPr/>
          <p:nvPr/>
        </p:nvSpPr>
        <p:spPr>
          <a:xfrm>
            <a:off x="548640" y="3520440"/>
            <a:ext cx="6035040" cy="2743200"/>
          </a:xfrm>
          <a:prstGeom prst="roundRect">
            <a:avLst>
              <a:gd name="adj" fmla="val 2667"/>
            </a:avLst>
          </a:prstGeom>
          <a:solidFill>
            <a:schemeClr val="bg2"/>
          </a:solidFill>
          <a:ln w="12700">
            <a:solidFill>
              <a:schemeClr val="bg2"/>
            </a:solidFill>
            <a:prstDash val="solid"/>
          </a:ln>
        </p:spPr>
      </p:sp>
      <p:sp>
        <p:nvSpPr>
          <p:cNvPr id="7" name="text_47"/>
          <p:cNvSpPr txBox="1"/>
          <p:nvPr/>
        </p:nvSpPr>
        <p:spPr>
          <a:xfrm>
            <a:off x="822960" y="3657600"/>
            <a:ext cx="548640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EM by question type</a:t>
            </a:r>
            <a:endParaRPr lang="en-US" sz="1600" dirty="0"/>
          </a:p>
        </p:txBody>
      </p:sp>
      <p:graphicFrame>
        <p:nvGraphicFramePr>
          <p:cNvPr id="8" name="chart_48" descr=""/>
          <p:cNvGraphicFramePr/>
          <p:nvPr/>
        </p:nvGraphicFramePr>
        <p:xfrm>
          <a:off x="731520" y="4023360"/>
          <a:ext cx="5669280" cy="2148840"/>
        </p:xfrm>
        <a:graphic xmlns:a="http://schemas.openxmlformats.org/drawingml/2006/main">
          <a:graphicData uri="http://schemas.openxmlformats.org/drawingml/2006/chart">
            <c:chart xmlns:c="http://schemas.openxmlformats.org/drawingml/2006/chart" r:id="rId1"/>
          </a:graphicData>
        </a:graphic>
      </p:graphicFrame>
      <p:sp>
        <p:nvSpPr>
          <p:cNvPr id="9" name="card_49"/>
          <p:cNvSpPr/>
          <p:nvPr/>
        </p:nvSpPr>
        <p:spPr>
          <a:xfrm>
            <a:off x="6949440" y="1417320"/>
            <a:ext cx="4693615" cy="4846320"/>
          </a:xfrm>
          <a:prstGeom prst="roundRect">
            <a:avLst>
              <a:gd name="adj" fmla="val 1559"/>
            </a:avLst>
          </a:prstGeom>
          <a:solidFill>
            <a:schemeClr val="accent5"/>
          </a:solidFill>
          <a:ln w="12700">
            <a:solidFill>
              <a:schemeClr val="accent5"/>
            </a:solidFill>
            <a:prstDash val="solid"/>
          </a:ln>
        </p:spPr>
      </p:sp>
      <p:sp>
        <p:nvSpPr>
          <p:cNvPr id="10" name="text_50"/>
          <p:cNvSpPr txBox="1"/>
          <p:nvPr/>
        </p:nvSpPr>
        <p:spPr>
          <a:xfrm>
            <a:off x="7223760" y="1554480"/>
            <a:ext cx="414497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Main failure: verbose answers</a:t>
            </a:r>
            <a:endParaRPr lang="en-US" sz="1600" dirty="0"/>
          </a:p>
        </p:txBody>
      </p:sp>
      <p:sp>
        <p:nvSpPr>
          <p:cNvPr id="11" name="list_51"/>
          <p:cNvSpPr txBox="1"/>
          <p:nvPr/>
        </p:nvSpPr>
        <p:spPr>
          <a:xfrm>
            <a:off x="7223760" y="2011680"/>
            <a:ext cx="4144975" cy="41148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Words per answer: 2.9 vs gold 1.6 (ViVQA); 5.5 vs 3.7 (ViTextVQA)</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19% of ViTextVQA answers contain the gold answer but fail EM</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“Lịch tết năm 2021” vs gold “2021”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Also: code-switching (“truck”), hallucination, noisy gold (“tía”)</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04 · BACKBONE ABLATION (R1)</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A larger model is not better here</a:t>
            </a:r>
            <a:endParaRPr lang="en-US" sz="3200" dirty="0"/>
          </a:p>
        </p:txBody>
      </p:sp>
      <p:graphicFrame>
        <p:nvGraphicFramePr>
          <p:cNvPr id="10" name="table_52"/>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599432"/>
                <a:gridCol w="1097280"/>
                <a:gridCol w="1097280"/>
                <a:gridCol w="1280160"/>
                <a:gridCol w="1280160"/>
                <a:gridCol w="173736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Run (ViTextVQA, 2,000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words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 /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VRAM GB</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75488">
                <a:tc>
                  <a:txBody>
                    <a:bodyPr/>
                    <a:lstStyle/>
                    <a:p>
                      <a:pPr algn="l" indent="0" marL="0">
                        <a:buNone/>
                      </a:pPr>
                      <a:r>
                        <a:rPr lang="en-US" sz="1400" b="1" dirty="0">
                          <a:solidFill>
                            <a:srgbClr val="243044"/>
                          </a:solidFill>
                          <a:latin typeface="Calibri" pitchFamily="34" charset="0"/>
                          <a:ea typeface="Calibri" pitchFamily="34" charset="-122"/>
                          <a:cs typeface="Calibri" pitchFamily="34" charset="-120"/>
                        </a:rPr>
                        <a:t>B1 · Qwen2.5-VL-3B · 4-bit · 512 tok.</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b="1" dirty="0">
                          <a:solidFill>
                            <a:srgbClr val="243044"/>
                          </a:solidFill>
                          <a:latin typeface="Calibri" pitchFamily="34" charset="0"/>
                          <a:ea typeface="Calibri" pitchFamily="34" charset="-122"/>
                          <a:cs typeface="Calibri" pitchFamily="34" charset="-120"/>
                        </a:rPr>
                        <a:t>≈ 2.5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R1b · Qwen2-VL-7B · 4-bit · 512 tok.</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R1 · Qwen2-VL-7B · bf16 · full res.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8.2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7548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Paper Table 7 · “QwenVL-7b” (100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28.0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53"/>
          <p:cNvSpPr/>
          <p:nvPr/>
        </p:nvSpPr>
        <p:spPr>
          <a:xfrm>
            <a:off x="548640" y="4114800"/>
            <a:ext cx="3454298" cy="1783080"/>
          </a:xfrm>
          <a:prstGeom prst="roundRect">
            <a:avLst>
              <a:gd name="adj" fmla="val 4103"/>
            </a:avLst>
          </a:prstGeom>
          <a:solidFill>
            <a:schemeClr val="bg2"/>
          </a:solidFill>
          <a:ln w="12700">
            <a:solidFill>
              <a:schemeClr val="bg2"/>
            </a:solidFill>
            <a:prstDash val="solid"/>
          </a:ln>
        </p:spPr>
      </p:sp>
      <p:sp>
        <p:nvSpPr>
          <p:cNvPr id="7" name="text_54"/>
          <p:cNvSpPr txBox="1"/>
          <p:nvPr/>
        </p:nvSpPr>
        <p:spPr>
          <a:xfrm>
            <a:off x="777240"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7B &lt; 3B under identical conditions</a:t>
            </a:r>
            <a:endParaRPr lang="en-US" sz="1600" dirty="0"/>
          </a:p>
        </p:txBody>
      </p:sp>
      <p:sp>
        <p:nvSpPr>
          <p:cNvPr id="8" name="text_55"/>
          <p:cNvSpPr txBox="1"/>
          <p:nvPr/>
        </p:nvSpPr>
        <p:spPr>
          <a:xfrm>
            <a:off x="777240"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−12.6 EM, McNemar p ≈ 10⁻³³; higher resolution does not help (R1 = R1b, p = 0.45)</a:t>
            </a:r>
            <a:endParaRPr lang="en-US" sz="1400" dirty="0"/>
          </a:p>
        </p:txBody>
      </p:sp>
      <p:sp>
        <p:nvSpPr>
          <p:cNvPr id="9" name="card_56"/>
          <p:cNvSpPr/>
          <p:nvPr/>
        </p:nvSpPr>
        <p:spPr>
          <a:xfrm>
            <a:off x="4368698" y="4114800"/>
            <a:ext cx="3454298" cy="1783080"/>
          </a:xfrm>
          <a:prstGeom prst="roundRect">
            <a:avLst>
              <a:gd name="adj" fmla="val 4103"/>
            </a:avLst>
          </a:prstGeom>
          <a:solidFill>
            <a:schemeClr val="bg2"/>
          </a:solidFill>
          <a:ln w="12700">
            <a:solidFill>
              <a:schemeClr val="bg2"/>
            </a:solidFill>
            <a:prstDash val="solid"/>
          </a:ln>
        </p:spPr>
      </p:sp>
      <p:sp>
        <p:nvSpPr>
          <p:cNvPr id="10" name="text_57"/>
          <p:cNvSpPr txBox="1"/>
          <p:nvPr/>
        </p:nvSpPr>
        <p:spPr>
          <a:xfrm>
            <a:off x="4597298"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instruction following</a:t>
            </a:r>
            <a:endParaRPr lang="en-US" sz="1600" dirty="0"/>
          </a:p>
        </p:txBody>
      </p:sp>
      <p:sp>
        <p:nvSpPr>
          <p:cNvPr id="11" name="text_58"/>
          <p:cNvSpPr txBox="1"/>
          <p:nvPr/>
        </p:nvSpPr>
        <p:spPr>
          <a:xfrm>
            <a:off x="4597298"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7B writes 8.2 words per answer vs gold 3.7 — EM fails even when the text is read correctly</a:t>
            </a:r>
            <a:endParaRPr lang="en-US" sz="1400" dirty="0"/>
          </a:p>
        </p:txBody>
      </p:sp>
      <p:sp>
        <p:nvSpPr>
          <p:cNvPr id="12" name="card_59"/>
          <p:cNvSpPr/>
          <p:nvPr/>
        </p:nvSpPr>
        <p:spPr>
          <a:xfrm>
            <a:off x="8188757" y="4114800"/>
            <a:ext cx="3454298" cy="1783080"/>
          </a:xfrm>
          <a:prstGeom prst="roundRect">
            <a:avLst>
              <a:gd name="adj" fmla="val 4103"/>
            </a:avLst>
          </a:prstGeom>
          <a:solidFill>
            <a:schemeClr val="accent4"/>
          </a:solidFill>
          <a:ln w="12700">
            <a:solidFill>
              <a:schemeClr val="accent4"/>
            </a:solidFill>
            <a:prstDash val="solid"/>
          </a:ln>
        </p:spPr>
      </p:sp>
      <p:sp>
        <p:nvSpPr>
          <p:cNvPr id="13" name="text_60"/>
          <p:cNvSpPr txBox="1"/>
          <p:nvPr/>
        </p:nvSpPr>
        <p:spPr>
          <a:xfrm>
            <a:off x="8417357" y="425196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Table 7 cannot decide</a:t>
            </a:r>
            <a:endParaRPr lang="en-US" sz="1600" dirty="0"/>
          </a:p>
        </p:txBody>
      </p:sp>
      <p:sp>
        <p:nvSpPr>
          <p:cNvPr id="14" name="text_61"/>
          <p:cNvSpPr txBox="1"/>
          <p:nvPr/>
        </p:nvSpPr>
        <p:spPr>
          <a:xfrm>
            <a:off x="8417357" y="470916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 = 100 → ±9 EM; B1 is already consistent with it. Decision: keep Qwen2.5-VL-3B</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QLoRA (B2)</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QLoRA, one epoch: large and significant gains</a:t>
            </a:r>
            <a:endParaRPr lang="en-US" sz="3200" dirty="0"/>
          </a:p>
        </p:txBody>
      </p:sp>
      <p:graphicFrame>
        <p:nvGraphicFramePr>
          <p:cNvPr id="5" name="chart_62" descr=""/>
          <p:cNvGraphicFramePr/>
          <p:nvPr/>
        </p:nvGraphicFramePr>
        <p:xfrm>
          <a:off x="548640" y="1371600"/>
          <a:ext cx="6766560" cy="48920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_63"/>
          <p:cNvGraphicFramePr>
            <a:graphicFrameLocks noGrp="1"/>
          </p:cNvGraphicFramePr>
          <p:nvPr>
            <p:extLst>
              <p:ext uri="{D42A27DB-BD31-4B8C-83A1-F6EECF244321}">
                <p14:modId xmlns:p14="http://schemas.microsoft.com/office/powerpoint/2010/main" val="1579011935"/>
              </p:ext>
            </p:extLst>
          </p:nvPr>
        </p:nvGraphicFramePr>
        <p:xfrm>
          <a:off x="7680960" y="1371600"/>
          <a:ext cx="3962095" cy="914400"/>
        </p:xfrm>
        <a:graphic>
          <a:graphicData uri="http://schemas.openxmlformats.org/drawingml/2006/table">
            <a:tbl>
              <a:tblPr/>
              <a:tblGrid>
                <a:gridCol w="1828800"/>
                <a:gridCol w="1243584"/>
                <a:gridCol w="1252728"/>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Cost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ViTextVQA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Train samples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10,799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35,159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Train time (L4)</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3.0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12.0 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Peak VRAM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6.6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6.9 GB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Inference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0.57 s /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 s / q</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64"/>
          <p:cNvSpPr/>
          <p:nvPr/>
        </p:nvSpPr>
        <p:spPr>
          <a:xfrm>
            <a:off x="7680960" y="3886200"/>
            <a:ext cx="3962095" cy="2377440"/>
          </a:xfrm>
          <a:prstGeom prst="roundRect">
            <a:avLst>
              <a:gd name="adj" fmla="val 3077"/>
            </a:avLst>
          </a:prstGeom>
          <a:solidFill>
            <a:schemeClr val="accent4"/>
          </a:solidFill>
          <a:ln w="12700">
            <a:solidFill>
              <a:schemeClr val="accent4"/>
            </a:solidFill>
            <a:prstDash val="solid"/>
          </a:ln>
        </p:spPr>
      </p:sp>
      <p:sp>
        <p:nvSpPr>
          <p:cNvPr id="8" name="text_65"/>
          <p:cNvSpPr txBox="1"/>
          <p:nvPr/>
        </p:nvSpPr>
        <p:spPr>
          <a:xfrm>
            <a:off x="7909560" y="4023360"/>
            <a:ext cx="350489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Rule fixed before the run</a:t>
            </a:r>
            <a:endParaRPr lang="en-US" sz="1600" dirty="0"/>
          </a:p>
        </p:txBody>
      </p:sp>
      <p:sp>
        <p:nvSpPr>
          <p:cNvPr id="9" name="text_66"/>
          <p:cNvSpPr txBox="1"/>
          <p:nvPr/>
        </p:nvSpPr>
        <p:spPr>
          <a:xfrm>
            <a:off x="7909560" y="4434840"/>
            <a:ext cx="3504895" cy="17373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Improvement if EM rises and McNemar p &lt; 0.05 → met on both datasets (ViTextVQA full: 2,543 vs 423 questions only one model gets right).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CONTROLS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gain is real, not leakage and not just format</a:t>
            </a:r>
            <a:endParaRPr lang="en-US" sz="3200" dirty="0"/>
          </a:p>
        </p:txBody>
      </p:sp>
      <p:sp>
        <p:nvSpPr>
          <p:cNvPr id="5" name="card_67"/>
          <p:cNvSpPr/>
          <p:nvPr/>
        </p:nvSpPr>
        <p:spPr>
          <a:xfrm>
            <a:off x="548640" y="1371600"/>
            <a:ext cx="3566160" cy="2331720"/>
          </a:xfrm>
          <a:prstGeom prst="roundRect">
            <a:avLst>
              <a:gd name="adj" fmla="val 3137"/>
            </a:avLst>
          </a:prstGeom>
          <a:solidFill>
            <a:schemeClr val="bg2"/>
          </a:solidFill>
          <a:ln w="12700">
            <a:solidFill>
              <a:schemeClr val="bg2"/>
            </a:solidFill>
            <a:prstDash val="solid"/>
          </a:ln>
        </p:spPr>
      </p:sp>
      <p:sp>
        <p:nvSpPr>
          <p:cNvPr id="6" name="text_68"/>
          <p:cNvSpPr txBox="1"/>
          <p:nvPr/>
        </p:nvSpPr>
        <p:spPr>
          <a:xfrm>
            <a:off x="777240" y="148132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ViVQA leakage strata</a:t>
            </a:r>
            <a:endParaRPr lang="en-US" sz="1600" dirty="0"/>
          </a:p>
        </p:txBody>
      </p:sp>
      <p:sp>
        <p:nvSpPr>
          <p:cNvPr id="7" name="text_69"/>
          <p:cNvSpPr txBox="1"/>
          <p:nvPr/>
        </p:nvSpPr>
        <p:spPr>
          <a:xfrm>
            <a:off x="777240" y="192024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Clean subset (n = 1,219): </a:t>
            </a:r>
            <a:pPr indent="0" marL="0">
              <a:buNone/>
            </a:pPr>
            <a:r>
              <a:rPr lang="en-US" sz="1400" b="1" dirty="0">
                <a:solidFill>
                  <a:srgbClr val="1C7293"/>
                </a:solidFill>
                <a:latin typeface="Calibri" pitchFamily="34" charset="0"/>
                <a:ea typeface="Calibri" pitchFamily="34" charset="-122"/>
                <a:cs typeface="Calibri" pitchFamily="34" charset="-120"/>
              </a:rPr>
              <a:t>EM 25.0 → 69.1</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Answer-prior baseline: 14.4</a:t>
            </a:r>
            <a:endParaRPr lang="en-US" sz="1400" dirty="0"/>
          </a:p>
        </p:txBody>
      </p:sp>
      <p:sp>
        <p:nvSpPr>
          <p:cNvPr id="8" name="card_70"/>
          <p:cNvSpPr/>
          <p:nvPr/>
        </p:nvSpPr>
        <p:spPr>
          <a:xfrm>
            <a:off x="548640" y="3931920"/>
            <a:ext cx="3566160" cy="2331720"/>
          </a:xfrm>
          <a:prstGeom prst="roundRect">
            <a:avLst>
              <a:gd name="adj" fmla="val 3137"/>
            </a:avLst>
          </a:prstGeom>
          <a:solidFill>
            <a:schemeClr val="bg2"/>
          </a:solidFill>
          <a:ln w="12700">
            <a:solidFill>
              <a:schemeClr val="bg2"/>
            </a:solidFill>
            <a:prstDash val="solid"/>
          </a:ln>
        </p:spPr>
      </p:sp>
      <p:sp>
        <p:nvSpPr>
          <p:cNvPr id="9" name="text_71"/>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ViTextVQA: no shared images</a:t>
            </a:r>
            <a:endParaRPr lang="en-US" sz="1600" dirty="0"/>
          </a:p>
        </p:txBody>
      </p:sp>
      <p:sp>
        <p:nvSpPr>
          <p:cNvPr id="10" name="text_72"/>
          <p:cNvSpPr txBox="1"/>
          <p:nvPr/>
        </p:nvSpPr>
        <p:spPr>
          <a:xfrm>
            <a:off x="777240" y="4480560"/>
            <a:ext cx="3108960" cy="1691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0 train–test image overlap, </a:t>
            </a:r>
            <a:pPr indent="0" marL="0">
              <a:buNone/>
            </a:pPr>
            <a:r>
              <a:rPr lang="en-US" sz="1400" b="1" dirty="0">
                <a:solidFill>
                  <a:srgbClr val="1C7293"/>
                </a:solidFill>
                <a:latin typeface="Calibri" pitchFamily="34" charset="0"/>
                <a:ea typeface="Calibri" pitchFamily="34" charset="-122"/>
                <a:cs typeface="Calibri" pitchFamily="34" charset="-120"/>
              </a:rPr>
              <a:t>yet +21.1 EM on the full test</a:t>
            </a:r>
            <a:endParaRPr lang="en-US" sz="1400" dirty="0"/>
          </a:p>
        </p:txBody>
      </p:sp>
      <p:sp>
        <p:nvSpPr>
          <p:cNvPr id="11" name="card_73"/>
          <p:cNvSpPr/>
          <p:nvPr/>
        </p:nvSpPr>
        <p:spPr>
          <a:xfrm>
            <a:off x="4480560" y="1371600"/>
            <a:ext cx="7162495" cy="4892040"/>
          </a:xfrm>
          <a:prstGeom prst="roundRect">
            <a:avLst>
              <a:gd name="adj" fmla="val 1495"/>
            </a:avLst>
          </a:prstGeom>
          <a:solidFill>
            <a:schemeClr val="bg2"/>
          </a:solidFill>
          <a:ln w="12700">
            <a:solidFill>
              <a:schemeClr val="bg2"/>
            </a:solidFill>
            <a:prstDash val="solid"/>
          </a:ln>
        </p:spPr>
      </p:sp>
      <p:sp>
        <p:nvSpPr>
          <p:cNvPr id="12" name="text_74"/>
          <p:cNvSpPr txBox="1"/>
          <p:nvPr/>
        </p:nvSpPr>
        <p:spPr>
          <a:xfrm>
            <a:off x="4754880" y="1481328"/>
            <a:ext cx="661385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Few-shot control: 5 text examples in the prompt (FS5)</a:t>
            </a:r>
            <a:endParaRPr lang="en-US" sz="1600" dirty="0"/>
          </a:p>
        </p:txBody>
      </p:sp>
      <p:graphicFrame>
        <p:nvGraphicFramePr>
          <p:cNvPr id="13" name="chart_75" descr=""/>
          <p:cNvGraphicFramePr/>
          <p:nvPr/>
        </p:nvGraphicFramePr>
        <p:xfrm>
          <a:off x="4617720" y="1874520"/>
          <a:ext cx="6888175" cy="3246120"/>
        </p:xfrm>
        <a:graphic xmlns:a="http://schemas.openxmlformats.org/drawingml/2006/main">
          <a:graphicData uri="http://schemas.openxmlformats.org/drawingml/2006/chart">
            <c:chart xmlns:c="http://schemas.openxmlformats.org/drawingml/2006/chart" r:id="rId1"/>
          </a:graphicData>
        </a:graphic>
      </p:graphicFrame>
      <p:sp>
        <p:nvSpPr>
          <p:cNvPr id="14" name="text_76"/>
          <p:cNvSpPr txBox="1"/>
          <p:nvPr/>
        </p:nvSpPr>
        <p:spPr>
          <a:xfrm>
            <a:off x="4754880" y="5166360"/>
            <a:ext cx="6613855" cy="10058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Few-shot shortens answers but loses content (EM −2.1 on ViVQA, p = 0.004; −1.2 on ViTextVQA, n.s.). B2 beats FS5 on both (p ≈ 0) → QLoRA learns more than answer format.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COMPARISON WITH SOTA</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Full ViTextVQA test: above the published SOTA</a:t>
            </a:r>
            <a:endParaRPr lang="en-US" sz="3200" dirty="0"/>
          </a:p>
        </p:txBody>
      </p:sp>
      <p:graphicFrame>
        <p:nvGraphicFramePr>
          <p:cNvPr id="13" name="table_77"/>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57600"/>
                <a:gridCol w="2331720"/>
                <a:gridCol w="2331720"/>
                <a:gridCol w="277063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Model (full test, 10,028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 [CI95]</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vs SOTA (rule: CI95 lower bound &gt; published)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 paper Table 6 (trained)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B1 · Qwen2.5-VL-3B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29.12 [28.23, 29.99]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53.89 [53.11, 54.66]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higher on EM; F1 indistinguishable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566928">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B2 · + QLoRA, 1 epoch</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50.26 [49.27, 51.23]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71.16 [70.42, 71.89]</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higher on EM and F1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E7F0F3"/>
                    </a:solidFill>
                  </a:tcPr>
                </a:tc>
              </a:tr>
            </a:tbl>
          </a:graphicData>
        </a:graphic>
      </p:graphicFrame>
      <p:sp>
        <p:nvSpPr>
          <p:cNvPr id="6" name="card_78"/>
          <p:cNvSpPr/>
          <p:nvPr/>
        </p:nvSpPr>
        <p:spPr>
          <a:xfrm>
            <a:off x="548640" y="3931920"/>
            <a:ext cx="3454298" cy="1783080"/>
          </a:xfrm>
          <a:prstGeom prst="roundRect">
            <a:avLst>
              <a:gd name="adj" fmla="val 4103"/>
            </a:avLst>
          </a:prstGeom>
          <a:solidFill>
            <a:schemeClr val="bg2"/>
          </a:solidFill>
          <a:ln w="12700">
            <a:solidFill>
              <a:schemeClr val="bg2"/>
            </a:solidFill>
            <a:prstDash val="solid"/>
          </a:ln>
        </p:spPr>
      </p:sp>
      <p:sp>
        <p:nvSpPr>
          <p:cNvPr id="7" name="text_79"/>
          <p:cNvSpPr txBox="1"/>
          <p:nvPr/>
        </p:nvSpPr>
        <p:spPr>
          <a:xfrm>
            <a:off x="777240"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Reproducible</a:t>
            </a:r>
            <a:endParaRPr lang="en-US" sz="1600" dirty="0"/>
          </a:p>
        </p:txBody>
      </p:sp>
      <p:sp>
        <p:nvSpPr>
          <p:cNvPr id="8" name="text_80"/>
          <p:cNvSpPr txBox="1"/>
          <p:nvPr/>
        </p:nvSpPr>
        <p:spPr>
          <a:xfrm>
            <a:off x="777240"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Full-test predictions match the earlier subset runs on all 2,000 shared questions (100%).</a:t>
            </a:r>
            <a:endParaRPr lang="en-US" sz="1400" dirty="0"/>
          </a:p>
        </p:txBody>
      </p:sp>
      <p:sp>
        <p:nvSpPr>
          <p:cNvPr id="9" name="card_81"/>
          <p:cNvSpPr/>
          <p:nvPr/>
        </p:nvSpPr>
        <p:spPr>
          <a:xfrm>
            <a:off x="4368698" y="3931920"/>
            <a:ext cx="3454298" cy="1783080"/>
          </a:xfrm>
          <a:prstGeom prst="roundRect">
            <a:avLst>
              <a:gd name="adj" fmla="val 4103"/>
            </a:avLst>
          </a:prstGeom>
          <a:solidFill>
            <a:schemeClr val="bg2"/>
          </a:solidFill>
          <a:ln w="12700">
            <a:solidFill>
              <a:schemeClr val="bg2"/>
            </a:solidFill>
            <a:prstDash val="solid"/>
          </a:ln>
        </p:spPr>
      </p:sp>
      <p:sp>
        <p:nvSpPr>
          <p:cNvPr id="10" name="text_82"/>
          <p:cNvSpPr txBox="1"/>
          <p:nvPr/>
        </p:nvSpPr>
        <p:spPr>
          <a:xfrm>
            <a:off x="4597298"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Fair in kind</a:t>
            </a:r>
            <a:endParaRPr lang="en-US" sz="1600" dirty="0"/>
          </a:p>
        </p:txBody>
      </p:sp>
      <p:sp>
        <p:nvSpPr>
          <p:cNvPr id="11" name="text_83"/>
          <p:cNvSpPr txBox="1"/>
          <p:nvPr/>
        </p:nvSpPr>
        <p:spPr>
          <a:xfrm>
            <a:off x="4597298"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Both B2 and ViTextBLIP-2 are trained on the ViTextVQA train split.</a:t>
            </a:r>
            <a:endParaRPr lang="en-US" sz="1400" dirty="0"/>
          </a:p>
        </p:txBody>
      </p:sp>
      <p:sp>
        <p:nvSpPr>
          <p:cNvPr id="12" name="card_84"/>
          <p:cNvSpPr/>
          <p:nvPr/>
        </p:nvSpPr>
        <p:spPr>
          <a:xfrm>
            <a:off x="8188757" y="3931920"/>
            <a:ext cx="3454298" cy="1783080"/>
          </a:xfrm>
          <a:prstGeom prst="roundRect">
            <a:avLst>
              <a:gd name="adj" fmla="val 4103"/>
            </a:avLst>
          </a:prstGeom>
          <a:solidFill>
            <a:schemeClr val="accent5"/>
          </a:solidFill>
          <a:ln w="12700">
            <a:solidFill>
              <a:schemeClr val="accent5"/>
            </a:solidFill>
            <a:prstDash val="solid"/>
          </a:ln>
        </p:spPr>
      </p:sp>
      <p:sp>
        <p:nvSpPr>
          <p:cNvPr id="13" name="text_85"/>
          <p:cNvSpPr txBox="1"/>
          <p:nvPr/>
        </p:nvSpPr>
        <p:spPr>
          <a:xfrm>
            <a:off x="8417357" y="406908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Limitation</a:t>
            </a:r>
            <a:endParaRPr lang="en-US" sz="1600" dirty="0"/>
          </a:p>
        </p:txBody>
      </p:sp>
      <p:sp>
        <p:nvSpPr>
          <p:cNvPr id="14" name="text_86"/>
          <p:cNvSpPr txBox="1"/>
          <p:nvPr/>
        </p:nvSpPr>
        <p:spPr>
          <a:xfrm>
            <a:off x="8417357" y="4526280"/>
            <a:ext cx="2997098" cy="10515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 paper does not publish its answer normalization; the comparison assumes equivalent scoring.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05 · ERROR &amp; HALLUCINATION ANALYSIS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Where B2 still fails</a:t>
            </a:r>
            <a:endParaRPr lang="en-US" sz="3200" dirty="0"/>
          </a:p>
        </p:txBody>
      </p:sp>
      <p:graphicFrame>
        <p:nvGraphicFramePr>
          <p:cNvPr id="5" name="chart_87" descr=""/>
          <p:cNvGraphicFramePr/>
          <p:nvPr/>
        </p:nvGraphicFramePr>
        <p:xfrm>
          <a:off x="548640" y="1325880"/>
          <a:ext cx="640080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table_88"/>
          <p:cNvGraphicFramePr>
            <a:graphicFrameLocks noGrp="1"/>
          </p:cNvGraphicFramePr>
          <p:nvPr>
            <p:extLst>
              <p:ext uri="{D42A27DB-BD31-4B8C-83A1-F6EECF244321}">
                <p14:modId xmlns:p14="http://schemas.microsoft.com/office/powerpoint/2010/main" val="1579011935"/>
              </p:ext>
            </p:extLst>
          </p:nvPr>
        </p:nvGraphicFramePr>
        <p:xfrm>
          <a:off x="548640" y="4343400"/>
          <a:ext cx="6400800" cy="914400"/>
        </p:xfrm>
        <a:graphic>
          <a:graphicData uri="http://schemas.openxmlformats.org/drawingml/2006/table">
            <a:tbl>
              <a:tblPr/>
              <a:tblGrid>
                <a:gridCol w="1645920"/>
                <a:gridCol w="2240280"/>
                <a:gridCol w="25146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Bucket</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B2 answer</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Gold</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tone marks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thủy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đặng việt thúy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1–2 chars</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372 . 568 . 177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372 . 566 . 177</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too short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ủy ban nhân dân quận 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7" name="card_89"/>
          <p:cNvSpPr/>
          <p:nvPr/>
        </p:nvSpPr>
        <p:spPr>
          <a:xfrm>
            <a:off x="7315200" y="1371600"/>
            <a:ext cx="4327855" cy="4892040"/>
          </a:xfrm>
          <a:prstGeom prst="roundRect">
            <a:avLst>
              <a:gd name="adj" fmla="val 1690"/>
            </a:avLst>
          </a:prstGeom>
          <a:solidFill>
            <a:schemeClr val="bg2"/>
          </a:solidFill>
          <a:ln w="12700">
            <a:solidFill>
              <a:schemeClr val="bg2"/>
            </a:solidFill>
            <a:prstDash val="solid"/>
          </a:ln>
        </p:spPr>
      </p:sp>
      <p:sp>
        <p:nvSpPr>
          <p:cNvPr id="8" name="text_90"/>
          <p:cNvSpPr txBox="1"/>
          <p:nvPr/>
        </p:nvSpPr>
        <p:spPr>
          <a:xfrm>
            <a:off x="7589520" y="1508760"/>
            <a:ext cx="3779215" cy="68580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Manual audit: 200 B2 errors (adjudicated)</a:t>
            </a:r>
            <a:endParaRPr lang="en-US" sz="1600" dirty="0"/>
          </a:p>
        </p:txBody>
      </p:sp>
      <p:sp>
        <p:nvSpPr>
          <p:cNvPr id="9" name="list_91"/>
          <p:cNvSpPr txBox="1"/>
          <p:nvPr/>
        </p:nvSpPr>
        <p:spPr>
          <a:xfrm>
            <a:off x="7589520" y="2194560"/>
            <a:ext cx="3779215" cy="39776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54% are correct in meaning: EM is too strict (ViVQA 62%, ViTextVQA 46%)</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Noisy gold: 12.5% (ViVQA 19%)</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ViTextVQA real errors: OCR 28%, wrong text region 23%, tone marks 8%</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Hallucination (not in the image): 7% of errors (95% CI 4–11%)</a:t>
            </a:r>
            <a:endParaRPr lang="en-US" sz="1500" dirty="0"/>
          </a:p>
          <a:p>
            <a:pPr marL="177800" indent="-1778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4 annotators + AI pre-labels; κ = 0.62 (2 independent annotators); same conclusions without the 42 AI-assisted rows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PROPOSED METHOD (B3)</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OCR-aware QLoRA: train the model to use OCR text</a:t>
            </a:r>
            <a:endParaRPr lang="en-US" sz="3200" dirty="0"/>
          </a:p>
        </p:txBody>
      </p:sp>
      <p:sp>
        <p:nvSpPr>
          <p:cNvPr id="5" name="card_92"/>
          <p:cNvSpPr/>
          <p:nvPr/>
        </p:nvSpPr>
        <p:spPr>
          <a:xfrm>
            <a:off x="548640" y="1417320"/>
            <a:ext cx="1984797" cy="1188720"/>
          </a:xfrm>
          <a:prstGeom prst="roundRect">
            <a:avLst>
              <a:gd name="adj" fmla="val 6154"/>
            </a:avLst>
          </a:prstGeom>
          <a:solidFill>
            <a:schemeClr val="bg2"/>
          </a:solidFill>
          <a:ln w="12700">
            <a:solidFill>
              <a:schemeClr val="bg2"/>
            </a:solidFill>
            <a:prstDash val="solid"/>
          </a:ln>
        </p:spPr>
      </p:sp>
      <p:sp>
        <p:nvSpPr>
          <p:cNvPr id="6" name="text_93"/>
          <p:cNvSpPr txBox="1"/>
          <p:nvPr/>
        </p:nvSpPr>
        <p:spPr>
          <a:xfrm>
            <a:off x="640080"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Image</a:t>
            </a:r>
            <a:endParaRPr lang="en-US" sz="1500" dirty="0"/>
          </a:p>
        </p:txBody>
      </p:sp>
      <p:sp>
        <p:nvSpPr>
          <p:cNvPr id="7" name="text_94"/>
          <p:cNvSpPr txBox="1"/>
          <p:nvPr/>
        </p:nvSpPr>
        <p:spPr>
          <a:xfrm>
            <a:off x="685800"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scene text</a:t>
            </a:r>
            <a:endParaRPr lang="en-US" sz="1200" dirty="0"/>
          </a:p>
        </p:txBody>
      </p:sp>
      <p:sp>
        <p:nvSpPr>
          <p:cNvPr id="8" name="arrow_95"/>
          <p:cNvSpPr/>
          <p:nvPr/>
        </p:nvSpPr>
        <p:spPr>
          <a:xfrm>
            <a:off x="2579157" y="1911096"/>
            <a:ext cx="201168" cy="201168"/>
          </a:xfrm>
          <a:prstGeom prst="rightArrow">
            <a:avLst/>
          </a:prstGeom>
          <a:solidFill>
            <a:srgbClr val="6B7280"/>
          </a:solidFill>
          <a:ln w="12700">
            <a:solidFill>
              <a:srgbClr val="6B7280"/>
            </a:solidFill>
            <a:prstDash val="solid"/>
          </a:ln>
        </p:spPr>
      </p:sp>
      <p:sp>
        <p:nvSpPr>
          <p:cNvPr id="9" name="card_96"/>
          <p:cNvSpPr/>
          <p:nvPr/>
        </p:nvSpPr>
        <p:spPr>
          <a:xfrm>
            <a:off x="2826045" y="1417320"/>
            <a:ext cx="1984797" cy="1188720"/>
          </a:xfrm>
          <a:prstGeom prst="roundRect">
            <a:avLst>
              <a:gd name="adj" fmla="val 6154"/>
            </a:avLst>
          </a:prstGeom>
          <a:solidFill>
            <a:schemeClr val="bg2"/>
          </a:solidFill>
          <a:ln w="12700">
            <a:solidFill>
              <a:schemeClr val="bg2"/>
            </a:solidFill>
            <a:prstDash val="solid"/>
          </a:ln>
        </p:spPr>
      </p:sp>
      <p:sp>
        <p:nvSpPr>
          <p:cNvPr id="10" name="text_97"/>
          <p:cNvSpPr txBox="1"/>
          <p:nvPr/>
        </p:nvSpPr>
        <p:spPr>
          <a:xfrm>
            <a:off x="2917485"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PaddleOCR</a:t>
            </a:r>
            <a:endParaRPr lang="en-US" sz="1500" dirty="0"/>
          </a:p>
        </p:txBody>
      </p:sp>
      <p:sp>
        <p:nvSpPr>
          <p:cNvPr id="11" name="text_98"/>
          <p:cNvSpPr txBox="1"/>
          <p:nvPr/>
        </p:nvSpPr>
        <p:spPr>
          <a:xfrm>
            <a:off x="2963205"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detects text lines</a:t>
            </a:r>
            <a:endParaRPr lang="en-US" sz="1200" dirty="0"/>
          </a:p>
        </p:txBody>
      </p:sp>
      <p:sp>
        <p:nvSpPr>
          <p:cNvPr id="12" name="arrow_99"/>
          <p:cNvSpPr/>
          <p:nvPr/>
        </p:nvSpPr>
        <p:spPr>
          <a:xfrm>
            <a:off x="4856561" y="1911096"/>
            <a:ext cx="201168" cy="201168"/>
          </a:xfrm>
          <a:prstGeom prst="rightArrow">
            <a:avLst/>
          </a:prstGeom>
          <a:solidFill>
            <a:srgbClr val="6B7280"/>
          </a:solidFill>
          <a:ln w="12700">
            <a:solidFill>
              <a:srgbClr val="6B7280"/>
            </a:solidFill>
            <a:prstDash val="solid"/>
          </a:ln>
        </p:spPr>
      </p:sp>
      <p:sp>
        <p:nvSpPr>
          <p:cNvPr id="13" name="card_100"/>
          <p:cNvSpPr/>
          <p:nvPr/>
        </p:nvSpPr>
        <p:spPr>
          <a:xfrm>
            <a:off x="5103449" y="1417320"/>
            <a:ext cx="1984797" cy="1188720"/>
          </a:xfrm>
          <a:prstGeom prst="roundRect">
            <a:avLst>
              <a:gd name="adj" fmla="val 6154"/>
            </a:avLst>
          </a:prstGeom>
          <a:solidFill>
            <a:schemeClr val="bg2"/>
          </a:solidFill>
          <a:ln w="12700">
            <a:solidFill>
              <a:schemeClr val="bg2"/>
            </a:solidFill>
            <a:prstDash val="solid"/>
          </a:ln>
        </p:spPr>
      </p:sp>
      <p:sp>
        <p:nvSpPr>
          <p:cNvPr id="14" name="text_101"/>
          <p:cNvSpPr txBox="1"/>
          <p:nvPr/>
        </p:nvSpPr>
        <p:spPr>
          <a:xfrm>
            <a:off x="5194889"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VietOCR</a:t>
            </a:r>
            <a:endParaRPr lang="en-US" sz="1500" dirty="0"/>
          </a:p>
        </p:txBody>
      </p:sp>
      <p:sp>
        <p:nvSpPr>
          <p:cNvPr id="15" name="text_102"/>
          <p:cNvSpPr txBox="1"/>
          <p:nvPr/>
        </p:nvSpPr>
        <p:spPr>
          <a:xfrm>
            <a:off x="5240609"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reads Vietnamese, keeps tone marks</a:t>
            </a:r>
            <a:endParaRPr lang="en-US" sz="1200" dirty="0"/>
          </a:p>
        </p:txBody>
      </p:sp>
      <p:sp>
        <p:nvSpPr>
          <p:cNvPr id="16" name="arrow_103"/>
          <p:cNvSpPr/>
          <p:nvPr/>
        </p:nvSpPr>
        <p:spPr>
          <a:xfrm>
            <a:off x="7133966" y="1911096"/>
            <a:ext cx="201168" cy="201168"/>
          </a:xfrm>
          <a:prstGeom prst="rightArrow">
            <a:avLst/>
          </a:prstGeom>
          <a:solidFill>
            <a:srgbClr val="6B7280"/>
          </a:solidFill>
          <a:ln w="12700">
            <a:solidFill>
              <a:srgbClr val="6B7280"/>
            </a:solidFill>
            <a:prstDash val="solid"/>
          </a:ln>
        </p:spPr>
      </p:sp>
      <p:sp>
        <p:nvSpPr>
          <p:cNvPr id="17" name="card_104"/>
          <p:cNvSpPr/>
          <p:nvPr/>
        </p:nvSpPr>
        <p:spPr>
          <a:xfrm>
            <a:off x="7380854" y="1417320"/>
            <a:ext cx="1984797" cy="1188720"/>
          </a:xfrm>
          <a:prstGeom prst="roundRect">
            <a:avLst>
              <a:gd name="adj" fmla="val 6154"/>
            </a:avLst>
          </a:prstGeom>
          <a:solidFill>
            <a:schemeClr val="accent4"/>
          </a:solidFill>
          <a:ln w="12700">
            <a:solidFill>
              <a:schemeClr val="accent4"/>
            </a:solidFill>
            <a:prstDash val="solid"/>
          </a:ln>
        </p:spPr>
      </p:sp>
      <p:sp>
        <p:nvSpPr>
          <p:cNvPr id="18" name="text_105"/>
          <p:cNvSpPr txBox="1"/>
          <p:nvPr/>
        </p:nvSpPr>
        <p:spPr>
          <a:xfrm>
            <a:off x="7472294"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Prompt</a:t>
            </a:r>
            <a:endParaRPr lang="en-US" sz="1500" dirty="0"/>
          </a:p>
        </p:txBody>
      </p:sp>
      <p:sp>
        <p:nvSpPr>
          <p:cNvPr id="19" name="text_106"/>
          <p:cNvSpPr txBox="1"/>
          <p:nvPr/>
        </p:nvSpPr>
        <p:spPr>
          <a:xfrm>
            <a:off x="7518014"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1 OCR line + question</a:t>
            </a:r>
            <a:endParaRPr lang="en-US" sz="1200" dirty="0"/>
          </a:p>
        </p:txBody>
      </p:sp>
      <p:sp>
        <p:nvSpPr>
          <p:cNvPr id="20" name="arrow_107"/>
          <p:cNvSpPr/>
          <p:nvPr/>
        </p:nvSpPr>
        <p:spPr>
          <a:xfrm>
            <a:off x="9411371" y="1911096"/>
            <a:ext cx="201168" cy="201168"/>
          </a:xfrm>
          <a:prstGeom prst="rightArrow">
            <a:avLst/>
          </a:prstGeom>
          <a:solidFill>
            <a:srgbClr val="6B7280"/>
          </a:solidFill>
          <a:ln w="12700">
            <a:solidFill>
              <a:srgbClr val="6B7280"/>
            </a:solidFill>
            <a:prstDash val="solid"/>
          </a:ln>
        </p:spPr>
      </p:sp>
      <p:sp>
        <p:nvSpPr>
          <p:cNvPr id="21" name="card_108"/>
          <p:cNvSpPr/>
          <p:nvPr/>
        </p:nvSpPr>
        <p:spPr>
          <a:xfrm>
            <a:off x="9658259" y="1417320"/>
            <a:ext cx="1984797" cy="1188720"/>
          </a:xfrm>
          <a:prstGeom prst="roundRect">
            <a:avLst>
              <a:gd name="adj" fmla="val 6154"/>
            </a:avLst>
          </a:prstGeom>
          <a:solidFill>
            <a:schemeClr val="accent5"/>
          </a:solidFill>
          <a:ln w="12700">
            <a:solidFill>
              <a:schemeClr val="accent5"/>
            </a:solidFill>
            <a:prstDash val="solid"/>
          </a:ln>
        </p:spPr>
      </p:sp>
      <p:sp>
        <p:nvSpPr>
          <p:cNvPr id="22" name="text_109"/>
          <p:cNvSpPr txBox="1"/>
          <p:nvPr/>
        </p:nvSpPr>
        <p:spPr>
          <a:xfrm>
            <a:off x="9749699" y="1527048"/>
            <a:ext cx="1801917" cy="384048"/>
          </a:xfrm>
          <a:prstGeom prst="rect">
            <a:avLst/>
          </a:prstGeom>
          <a:noFill/>
          <a:ln/>
        </p:spPr>
        <p:txBody>
          <a:bodyPr wrap="square" lIns="0" tIns="0" rIns="0" bIns="0" rtlCol="0" anchor="t"/>
          <a:lstStyle/>
          <a:p>
            <a:pPr algn="ctr" indent="0" marL="0">
              <a:buNone/>
            </a:pPr>
            <a:r>
              <a:rPr lang="en-US" sz="1500" b="1" dirty="0">
                <a:solidFill>
                  <a:schemeClr val="tx2"/>
                </a:solidFill>
                <a:latin typeface="Calibri" pitchFamily="34" charset="0"/>
                <a:ea typeface="Calibri" pitchFamily="34" charset="-122"/>
                <a:cs typeface="Calibri" pitchFamily="34" charset="-120"/>
              </a:rPr>
              <a:t>Qwen2.5-VL + LoRA</a:t>
            </a:r>
            <a:endParaRPr lang="en-US" sz="1500" dirty="0"/>
          </a:p>
        </p:txBody>
      </p:sp>
      <p:sp>
        <p:nvSpPr>
          <p:cNvPr id="23" name="text_110"/>
          <p:cNvSpPr txBox="1"/>
          <p:nvPr/>
        </p:nvSpPr>
        <p:spPr>
          <a:xfrm>
            <a:off x="9795419" y="1984248"/>
            <a:ext cx="1710477" cy="548640"/>
          </a:xfrm>
          <a:prstGeom prst="rect">
            <a:avLst/>
          </a:prstGeom>
          <a:noFill/>
          <a:ln/>
        </p:spPr>
        <p:txBody>
          <a:bodyPr wrap="square" lIns="0" tIns="0" rIns="0" bIns="0" rtlCol="0" anchor="t"/>
          <a:lstStyle/>
          <a:p>
            <a:pPr algn="ctr" indent="0" marL="0">
              <a:buNone/>
            </a:pPr>
            <a:r>
              <a:rPr lang="en-US" sz="1200" dirty="0">
                <a:solidFill>
                  <a:schemeClr val="tx1"/>
                </a:solidFill>
                <a:latin typeface="Calibri" pitchFamily="34" charset="0"/>
                <a:ea typeface="Calibri" pitchFamily="34" charset="-122"/>
                <a:cs typeface="Calibri" pitchFamily="34" charset="-120"/>
              </a:rPr>
              <a:t>LoRA trained with the OCR line</a:t>
            </a:r>
            <a:endParaRPr lang="en-US" sz="1200" dirty="0"/>
          </a:p>
        </p:txBody>
      </p:sp>
      <p:sp>
        <p:nvSpPr>
          <p:cNvPr id="24" name="card_111"/>
          <p:cNvSpPr/>
          <p:nvPr/>
        </p:nvSpPr>
        <p:spPr>
          <a:xfrm>
            <a:off x="548640" y="2834640"/>
            <a:ext cx="11094415" cy="685800"/>
          </a:xfrm>
          <a:prstGeom prst="roundRect">
            <a:avLst>
              <a:gd name="adj" fmla="val 10667"/>
            </a:avLst>
          </a:prstGeom>
          <a:solidFill>
            <a:schemeClr val="bg2"/>
          </a:solidFill>
          <a:ln w="12700">
            <a:solidFill>
              <a:schemeClr val="bg2"/>
            </a:solidFill>
            <a:prstDash val="solid"/>
          </a:ln>
        </p:spPr>
      </p:sp>
      <p:sp>
        <p:nvSpPr>
          <p:cNvPr id="25" name="text_112"/>
          <p:cNvSpPr txBox="1"/>
          <p:nvPr/>
        </p:nvSpPr>
        <p:spPr>
          <a:xfrm>
            <a:off x="822960" y="2834640"/>
            <a:ext cx="10545775" cy="68580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Prompt line:  </a:t>
            </a:r>
            <a:pPr indent="0" marL="0">
              <a:buNone/>
            </a:pPr>
            <a:r>
              <a:rPr lang="en-US" sz="1300" dirty="0">
                <a:solidFill>
                  <a:schemeClr val="tx1"/>
                </a:solidFill>
                <a:latin typeface="Courier New" pitchFamily="34" charset="0"/>
                <a:ea typeface="Courier New" pitchFamily="34" charset="-122"/>
                <a:cs typeface="Courier New" pitchFamily="34" charset="-120"/>
              </a:rPr>
              <a:t>Văn bản đọc được trong ảnh: NHÀ THUỐC TÂM AN | 0919 467 868 …   Câu hỏi: tên nhà thuốc là gì?</a:t>
            </a:r>
            <a:endParaRPr lang="en-US" sz="1400" dirty="0"/>
          </a:p>
        </p:txBody>
      </p:sp>
      <p:sp>
        <p:nvSpPr>
          <p:cNvPr id="26" name="card_113"/>
          <p:cNvSpPr/>
          <p:nvPr/>
        </p:nvSpPr>
        <p:spPr>
          <a:xfrm>
            <a:off x="548640" y="3794760"/>
            <a:ext cx="3454298" cy="2468880"/>
          </a:xfrm>
          <a:prstGeom prst="roundRect">
            <a:avLst>
              <a:gd name="adj" fmla="val 2963"/>
            </a:avLst>
          </a:prstGeom>
          <a:solidFill>
            <a:schemeClr val="bg2"/>
          </a:solidFill>
          <a:ln w="12700">
            <a:solidFill>
              <a:schemeClr val="bg2"/>
            </a:solidFill>
            <a:prstDash val="solid"/>
          </a:ln>
        </p:spPr>
      </p:sp>
      <p:sp>
        <p:nvSpPr>
          <p:cNvPr id="27" name="text_114"/>
          <p:cNvSpPr txBox="1"/>
          <p:nvPr/>
        </p:nvSpPr>
        <p:spPr>
          <a:xfrm>
            <a:off x="777240"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OCR</a:t>
            </a:r>
            <a:endParaRPr lang="en-US" sz="1600" dirty="0"/>
          </a:p>
        </p:txBody>
      </p:sp>
      <p:sp>
        <p:nvSpPr>
          <p:cNvPr id="28" name="list_115"/>
          <p:cNvSpPr txBox="1"/>
          <p:nvPr/>
        </p:nvSpPr>
        <p:spPr>
          <a:xfrm>
            <a:off x="777240"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Audit of real B2 errors on ViTextVQA: OCR misreads 28%, wrong text region 23%, tone marks 8%</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Vietnamese scene text is a stated research gap (G2)</a:t>
            </a:r>
            <a:endParaRPr lang="en-US" sz="1400" dirty="0"/>
          </a:p>
        </p:txBody>
      </p:sp>
      <p:sp>
        <p:nvSpPr>
          <p:cNvPr id="29" name="card_116"/>
          <p:cNvSpPr/>
          <p:nvPr/>
        </p:nvSpPr>
        <p:spPr>
          <a:xfrm>
            <a:off x="4368698" y="3794760"/>
            <a:ext cx="3454298" cy="2468880"/>
          </a:xfrm>
          <a:prstGeom prst="roundRect">
            <a:avLst>
              <a:gd name="adj" fmla="val 2963"/>
            </a:avLst>
          </a:prstGeom>
          <a:solidFill>
            <a:schemeClr val="bg2"/>
          </a:solidFill>
          <a:ln w="12700">
            <a:solidFill>
              <a:schemeClr val="bg2"/>
            </a:solidFill>
            <a:prstDash val="solid"/>
          </a:ln>
        </p:spPr>
      </p:sp>
      <p:sp>
        <p:nvSpPr>
          <p:cNvPr id="30" name="text_117"/>
          <p:cNvSpPr txBox="1"/>
          <p:nvPr/>
        </p:nvSpPr>
        <p:spPr>
          <a:xfrm>
            <a:off x="4597298"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Which OCR (rule fixed on dev300)</a:t>
            </a:r>
            <a:endParaRPr lang="en-US" sz="1600" dirty="0"/>
          </a:p>
        </p:txBody>
      </p:sp>
      <p:sp>
        <p:nvSpPr>
          <p:cNvPr id="31" name="list_118"/>
          <p:cNvSpPr txBox="1"/>
          <p:nvPr/>
        </p:nvSpPr>
        <p:spPr>
          <a:xfrm>
            <a:off x="4597298"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PaddleOCR Latin drops tone marks: “Kiểu Thẩm” → “Kiu Thm”</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Gold answer inside OCR text: VietOCR 37.7% vs 27.0% (p = 0.0008) → VietOCR</a:t>
            </a:r>
            <a:endParaRPr lang="en-US" sz="1400" dirty="0"/>
          </a:p>
        </p:txBody>
      </p:sp>
      <p:sp>
        <p:nvSpPr>
          <p:cNvPr id="32" name="card_119"/>
          <p:cNvSpPr/>
          <p:nvPr/>
        </p:nvSpPr>
        <p:spPr>
          <a:xfrm>
            <a:off x="8188757" y="3794760"/>
            <a:ext cx="3454298" cy="2468880"/>
          </a:xfrm>
          <a:prstGeom prst="roundRect">
            <a:avLst>
              <a:gd name="adj" fmla="val 2963"/>
            </a:avLst>
          </a:prstGeom>
          <a:solidFill>
            <a:schemeClr val="accent4"/>
          </a:solidFill>
          <a:ln w="12700">
            <a:solidFill>
              <a:schemeClr val="accent4"/>
            </a:solidFill>
            <a:prstDash val="solid"/>
          </a:ln>
        </p:spPr>
      </p:sp>
      <p:sp>
        <p:nvSpPr>
          <p:cNvPr id="33" name="text_120"/>
          <p:cNvSpPr txBox="1"/>
          <p:nvPr/>
        </p:nvSpPr>
        <p:spPr>
          <a:xfrm>
            <a:off x="8417357" y="3931920"/>
            <a:ext cx="2997098" cy="41148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What is trained</a:t>
            </a:r>
            <a:endParaRPr lang="en-US" sz="1600" dirty="0"/>
          </a:p>
        </p:txBody>
      </p:sp>
      <p:sp>
        <p:nvSpPr>
          <p:cNvPr id="34" name="list_121"/>
          <p:cNvSpPr txBox="1"/>
          <p:nvPr/>
        </p:nvSpPr>
        <p:spPr>
          <a:xfrm>
            <a:off x="8417357" y="4389120"/>
            <a:ext cx="2997098" cy="17373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Same QLoRA as B2 (r = 16, 0.196% params); only the prompt gains the OCR line</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Controlled test: 8,000-question train subset, B3 vs B2-sub (same subset, no OCR)</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ABLATION: OCR AT TRAIN × OCR AT TEST</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OCR helps only when the model is trained with it</a:t>
            </a:r>
            <a:endParaRPr lang="en-US" sz="3200" dirty="0"/>
          </a:p>
        </p:txBody>
      </p:sp>
      <p:sp>
        <p:nvSpPr>
          <p:cNvPr id="5" name="text_122"/>
          <p:cNvSpPr txBox="1"/>
          <p:nvPr/>
        </p:nvSpPr>
        <p:spPr>
          <a:xfrm>
            <a:off x="2331720" y="1371600"/>
            <a:ext cx="2240280" cy="365760"/>
          </a:xfrm>
          <a:prstGeom prst="rect">
            <a:avLst/>
          </a:prstGeom>
          <a:noFill/>
          <a:ln/>
        </p:spPr>
        <p:txBody>
          <a:bodyPr wrap="square" lIns="0" tIns="0" rIns="0" bIns="0" rtlCol="0" anchor="t"/>
          <a:lstStyle/>
          <a:p>
            <a:pPr algn="ctr" indent="0" marL="0">
              <a:buNone/>
            </a:pPr>
            <a:r>
              <a:rPr lang="en-US" sz="1400" b="1" dirty="0">
                <a:solidFill>
                  <a:schemeClr val="tx2"/>
                </a:solidFill>
                <a:latin typeface="Calibri" pitchFamily="34" charset="0"/>
                <a:ea typeface="Calibri" pitchFamily="34" charset="-122"/>
                <a:cs typeface="Calibri" pitchFamily="34" charset="-120"/>
              </a:rPr>
              <a:t>Test without OCR</a:t>
            </a:r>
            <a:endParaRPr lang="en-US" sz="1400" dirty="0"/>
          </a:p>
        </p:txBody>
      </p:sp>
      <p:sp>
        <p:nvSpPr>
          <p:cNvPr id="6" name="text_123"/>
          <p:cNvSpPr txBox="1"/>
          <p:nvPr/>
        </p:nvSpPr>
        <p:spPr>
          <a:xfrm>
            <a:off x="4709160" y="1371600"/>
            <a:ext cx="2240280" cy="365760"/>
          </a:xfrm>
          <a:prstGeom prst="rect">
            <a:avLst/>
          </a:prstGeom>
          <a:noFill/>
          <a:ln/>
        </p:spPr>
        <p:txBody>
          <a:bodyPr wrap="square" lIns="0" tIns="0" rIns="0" bIns="0" rtlCol="0" anchor="t"/>
          <a:lstStyle/>
          <a:p>
            <a:pPr algn="ctr" indent="0" marL="0">
              <a:buNone/>
            </a:pPr>
            <a:r>
              <a:rPr lang="en-US" sz="1400" b="1" dirty="0">
                <a:solidFill>
                  <a:schemeClr val="tx2"/>
                </a:solidFill>
                <a:latin typeface="Calibri" pitchFamily="34" charset="0"/>
                <a:ea typeface="Calibri" pitchFamily="34" charset="-122"/>
                <a:cs typeface="Calibri" pitchFamily="34" charset="-120"/>
              </a:rPr>
              <a:t>Test with OCR</a:t>
            </a:r>
            <a:endParaRPr lang="en-US" sz="1400" dirty="0"/>
          </a:p>
        </p:txBody>
      </p:sp>
      <p:sp>
        <p:nvSpPr>
          <p:cNvPr id="7" name="text_124"/>
          <p:cNvSpPr txBox="1"/>
          <p:nvPr/>
        </p:nvSpPr>
        <p:spPr>
          <a:xfrm>
            <a:off x="548640" y="1783080"/>
            <a:ext cx="1691640" cy="1417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Train without OCR</a:t>
            </a:r>
            <a:endParaRPr lang="en-US" sz="1400" dirty="0"/>
          </a:p>
        </p:txBody>
      </p:sp>
      <p:sp>
        <p:nvSpPr>
          <p:cNvPr id="8" name="text_125"/>
          <p:cNvSpPr txBox="1"/>
          <p:nvPr/>
        </p:nvSpPr>
        <p:spPr>
          <a:xfrm>
            <a:off x="548640" y="3337560"/>
            <a:ext cx="1691640" cy="141732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Train with OCR</a:t>
            </a:r>
            <a:endParaRPr lang="en-US" sz="1400" dirty="0"/>
          </a:p>
        </p:txBody>
      </p:sp>
      <p:sp>
        <p:nvSpPr>
          <p:cNvPr id="9" name="card_126"/>
          <p:cNvSpPr/>
          <p:nvPr/>
        </p:nvSpPr>
        <p:spPr>
          <a:xfrm>
            <a:off x="2331720" y="1783080"/>
            <a:ext cx="2240280" cy="1417320"/>
          </a:xfrm>
          <a:prstGeom prst="roundRect">
            <a:avLst>
              <a:gd name="adj" fmla="val 5161"/>
            </a:avLst>
          </a:prstGeom>
          <a:solidFill>
            <a:schemeClr val="bg2"/>
          </a:solidFill>
          <a:ln w="12700">
            <a:solidFill>
              <a:schemeClr val="bg2"/>
            </a:solidFill>
            <a:prstDash val="solid"/>
          </a:ln>
        </p:spPr>
      </p:sp>
      <p:sp>
        <p:nvSpPr>
          <p:cNvPr id="10" name="text_127"/>
          <p:cNvSpPr txBox="1"/>
          <p:nvPr/>
        </p:nvSpPr>
        <p:spPr>
          <a:xfrm>
            <a:off x="2331720" y="194767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45.55</a:t>
            </a:r>
            <a:endParaRPr lang="en-US" sz="3400" dirty="0"/>
          </a:p>
        </p:txBody>
      </p:sp>
      <p:sp>
        <p:nvSpPr>
          <p:cNvPr id="11" name="text_128"/>
          <p:cNvSpPr txBox="1"/>
          <p:nvPr/>
        </p:nvSpPr>
        <p:spPr>
          <a:xfrm>
            <a:off x="2423160" y="265176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B2-sub</a:t>
            </a:r>
            <a:endParaRPr lang="en-US" sz="1300" dirty="0"/>
          </a:p>
        </p:txBody>
      </p:sp>
      <p:sp>
        <p:nvSpPr>
          <p:cNvPr id="12" name="card_129"/>
          <p:cNvSpPr/>
          <p:nvPr/>
        </p:nvSpPr>
        <p:spPr>
          <a:xfrm>
            <a:off x="4709160" y="1783080"/>
            <a:ext cx="2240280" cy="1417320"/>
          </a:xfrm>
          <a:prstGeom prst="roundRect">
            <a:avLst>
              <a:gd name="adj" fmla="val 5161"/>
            </a:avLst>
          </a:prstGeom>
          <a:solidFill>
            <a:schemeClr val="bg2"/>
          </a:solidFill>
          <a:ln w="12700">
            <a:solidFill>
              <a:schemeClr val="bg2"/>
            </a:solidFill>
            <a:prstDash val="solid"/>
          </a:ln>
        </p:spPr>
      </p:sp>
      <p:sp>
        <p:nvSpPr>
          <p:cNvPr id="13" name="text_130"/>
          <p:cNvSpPr txBox="1"/>
          <p:nvPr/>
        </p:nvSpPr>
        <p:spPr>
          <a:xfrm>
            <a:off x="4709160" y="194767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44.90</a:t>
            </a:r>
            <a:endParaRPr lang="en-US" sz="3400" dirty="0"/>
          </a:p>
        </p:txBody>
      </p:sp>
      <p:sp>
        <p:nvSpPr>
          <p:cNvPr id="14" name="text_131"/>
          <p:cNvSpPr txBox="1"/>
          <p:nvPr/>
        </p:nvSpPr>
        <p:spPr>
          <a:xfrm>
            <a:off x="4800600" y="265176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B2-sub + OCR at test</a:t>
            </a:r>
            <a:endParaRPr lang="en-US" sz="1300" dirty="0"/>
          </a:p>
        </p:txBody>
      </p:sp>
      <p:sp>
        <p:nvSpPr>
          <p:cNvPr id="15" name="card_132"/>
          <p:cNvSpPr/>
          <p:nvPr/>
        </p:nvSpPr>
        <p:spPr>
          <a:xfrm>
            <a:off x="2331720" y="3337560"/>
            <a:ext cx="2240280" cy="1417320"/>
          </a:xfrm>
          <a:prstGeom prst="roundRect">
            <a:avLst>
              <a:gd name="adj" fmla="val 5161"/>
            </a:avLst>
          </a:prstGeom>
          <a:solidFill>
            <a:schemeClr val="bg2"/>
          </a:solidFill>
          <a:ln w="12700">
            <a:solidFill>
              <a:schemeClr val="bg2"/>
            </a:solidFill>
            <a:prstDash val="solid"/>
          </a:ln>
        </p:spPr>
      </p:sp>
      <p:sp>
        <p:nvSpPr>
          <p:cNvPr id="16" name="text_133"/>
          <p:cNvSpPr txBox="1"/>
          <p:nvPr/>
        </p:nvSpPr>
        <p:spPr>
          <a:xfrm>
            <a:off x="2331720" y="3502152"/>
            <a:ext cx="2240280" cy="685800"/>
          </a:xfrm>
          <a:prstGeom prst="rect">
            <a:avLst/>
          </a:prstGeom>
          <a:noFill/>
          <a:ln/>
        </p:spPr>
        <p:txBody>
          <a:bodyPr wrap="square" lIns="0" tIns="0" rIns="0" bIns="0" rtlCol="0" anchor="t"/>
          <a:lstStyle/>
          <a:p>
            <a:pPr algn="ctr" indent="0" marL="0">
              <a:buNone/>
            </a:pPr>
            <a:r>
              <a:rPr lang="en-US" sz="3400" b="1" dirty="0">
                <a:solidFill>
                  <a:schemeClr val="tx2"/>
                </a:solidFill>
                <a:latin typeface="Cambria" pitchFamily="34" charset="0"/>
                <a:ea typeface="Cambria" pitchFamily="34" charset="-122"/>
                <a:cs typeface="Cambria" pitchFamily="34" charset="-120"/>
              </a:rPr>
              <a:t>45.00</a:t>
            </a:r>
            <a:endParaRPr lang="en-US" sz="3400" dirty="0"/>
          </a:p>
        </p:txBody>
      </p:sp>
      <p:sp>
        <p:nvSpPr>
          <p:cNvPr id="17" name="text_134"/>
          <p:cNvSpPr txBox="1"/>
          <p:nvPr/>
        </p:nvSpPr>
        <p:spPr>
          <a:xfrm>
            <a:off x="2423160" y="420624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B3, OCR removed at test</a:t>
            </a:r>
            <a:endParaRPr lang="en-US" sz="1300" dirty="0"/>
          </a:p>
        </p:txBody>
      </p:sp>
      <p:sp>
        <p:nvSpPr>
          <p:cNvPr id="18" name="card_135"/>
          <p:cNvSpPr/>
          <p:nvPr/>
        </p:nvSpPr>
        <p:spPr>
          <a:xfrm>
            <a:off x="4709160" y="3337560"/>
            <a:ext cx="2240280" cy="1417320"/>
          </a:xfrm>
          <a:prstGeom prst="roundRect">
            <a:avLst>
              <a:gd name="adj" fmla="val 5161"/>
            </a:avLst>
          </a:prstGeom>
          <a:solidFill>
            <a:schemeClr val="accent5"/>
          </a:solidFill>
          <a:ln w="12700">
            <a:solidFill>
              <a:schemeClr val="accent5"/>
            </a:solidFill>
            <a:prstDash val="solid"/>
          </a:ln>
        </p:spPr>
      </p:sp>
      <p:sp>
        <p:nvSpPr>
          <p:cNvPr id="19" name="text_136"/>
          <p:cNvSpPr txBox="1"/>
          <p:nvPr/>
        </p:nvSpPr>
        <p:spPr>
          <a:xfrm>
            <a:off x="4709160" y="3502152"/>
            <a:ext cx="2240280" cy="685800"/>
          </a:xfrm>
          <a:prstGeom prst="rect">
            <a:avLst/>
          </a:prstGeom>
          <a:noFill/>
          <a:ln/>
        </p:spPr>
        <p:txBody>
          <a:bodyPr wrap="square" lIns="0" tIns="0" rIns="0" bIns="0" rtlCol="0" anchor="t"/>
          <a:lstStyle/>
          <a:p>
            <a:pPr algn="ctr" indent="0" marL="0">
              <a:buNone/>
            </a:pPr>
            <a:r>
              <a:rPr lang="en-US" sz="3400" b="1" dirty="0">
                <a:solidFill>
                  <a:schemeClr val="accent2"/>
                </a:solidFill>
                <a:latin typeface="Cambria" pitchFamily="34" charset="0"/>
                <a:ea typeface="Cambria" pitchFamily="34" charset="-122"/>
                <a:cs typeface="Cambria" pitchFamily="34" charset="-120"/>
              </a:rPr>
              <a:t>49.25</a:t>
            </a:r>
            <a:endParaRPr lang="en-US" sz="3400" dirty="0"/>
          </a:p>
        </p:txBody>
      </p:sp>
      <p:sp>
        <p:nvSpPr>
          <p:cNvPr id="20" name="text_137"/>
          <p:cNvSpPr txBox="1"/>
          <p:nvPr/>
        </p:nvSpPr>
        <p:spPr>
          <a:xfrm>
            <a:off x="4800600" y="4206240"/>
            <a:ext cx="2057400" cy="411480"/>
          </a:xfrm>
          <a:prstGeom prst="rect">
            <a:avLst/>
          </a:prstGeom>
          <a:noFill/>
          <a:ln/>
        </p:spPr>
        <p:txBody>
          <a:bodyPr wrap="square" lIns="0" tIns="0" rIns="0" bIns="0" rtlCol="0" anchor="t"/>
          <a:lstStyle/>
          <a:p>
            <a:pPr algn="ctr" indent="0" marL="0">
              <a:buNone/>
            </a:pPr>
            <a:r>
              <a:rPr lang="en-US" sz="1300" dirty="0">
                <a:solidFill>
                  <a:schemeClr val="tx1"/>
                </a:solidFill>
                <a:latin typeface="Calibri" pitchFamily="34" charset="0"/>
                <a:ea typeface="Calibri" pitchFamily="34" charset="-122"/>
                <a:cs typeface="Calibri" pitchFamily="34" charset="-120"/>
              </a:rPr>
              <a:t>B3 (proposed)</a:t>
            </a:r>
            <a:endParaRPr lang="en-US" sz="1300" dirty="0"/>
          </a:p>
        </p:txBody>
      </p:sp>
      <p:sp>
        <p:nvSpPr>
          <p:cNvPr id="21" name="text_138"/>
          <p:cNvSpPr txBox="1"/>
          <p:nvPr/>
        </p:nvSpPr>
        <p:spPr>
          <a:xfrm>
            <a:off x="2331720" y="4864608"/>
            <a:ext cx="4617720" cy="320040"/>
          </a:xfrm>
          <a:prstGeom prst="rect">
            <a:avLst/>
          </a:prstGeom>
          <a:noFill/>
          <a:ln/>
        </p:spPr>
        <p:txBody>
          <a:bodyPr wrap="square" lIns="0" tIns="0" rIns="0" bIns="0" rtlCol="0" anchor="t"/>
          <a:lstStyle/>
          <a:p>
            <a:pPr algn="ctr" indent="0" marL="0">
              <a:buNone/>
            </a:pPr>
            <a:r>
              <a:rPr lang="en-US" sz="1200" dirty="0">
                <a:solidFill>
                  <a:schemeClr val="accent3"/>
                </a:solidFill>
                <a:latin typeface="Calibri" pitchFamily="34" charset="0"/>
                <a:ea typeface="Calibri" pitchFamily="34" charset="-122"/>
                <a:cs typeface="Calibri" pitchFamily="34" charset="-120"/>
              </a:rPr>
              <a:t>EM (%), ViTextVQA test subset (2,000 q.), seed 42</a:t>
            </a:r>
            <a:endParaRPr lang="en-US" sz="1200" dirty="0"/>
          </a:p>
        </p:txBody>
      </p:sp>
      <p:sp>
        <p:nvSpPr>
          <p:cNvPr id="22" name="card_139"/>
          <p:cNvSpPr/>
          <p:nvPr/>
        </p:nvSpPr>
        <p:spPr>
          <a:xfrm>
            <a:off x="7360920" y="1371600"/>
            <a:ext cx="4282135" cy="2103120"/>
          </a:xfrm>
          <a:prstGeom prst="roundRect">
            <a:avLst>
              <a:gd name="adj" fmla="val 3478"/>
            </a:avLst>
          </a:prstGeom>
          <a:solidFill>
            <a:schemeClr val="bg2"/>
          </a:solidFill>
          <a:ln w="12700">
            <a:solidFill>
              <a:schemeClr val="bg2"/>
            </a:solidFill>
            <a:prstDash val="solid"/>
          </a:ln>
        </p:spPr>
      </p:sp>
      <p:sp>
        <p:nvSpPr>
          <p:cNvPr id="23" name="text_140"/>
          <p:cNvSpPr txBox="1"/>
          <p:nvPr/>
        </p:nvSpPr>
        <p:spPr>
          <a:xfrm>
            <a:off x="7589520" y="1481328"/>
            <a:ext cx="382493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Paired tests (McNemar, EM)</a:t>
            </a:r>
            <a:endParaRPr lang="en-US" sz="1600" dirty="0"/>
          </a:p>
        </p:txBody>
      </p:sp>
      <p:sp>
        <p:nvSpPr>
          <p:cNvPr id="24" name="list_141"/>
          <p:cNvSpPr txBox="1"/>
          <p:nvPr/>
        </p:nvSpPr>
        <p:spPr>
          <a:xfrm>
            <a:off x="7589520" y="1874520"/>
            <a:ext cx="3824935" cy="15544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OCR at test only: −0.65 (p = 0.49)</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OCR at train only: −0.55 (p = 0.35)</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Both at train and test: +4.35 (p = 2 × 10⁻⁸)</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Removing OCR from B3: −4.25 (p = 4 × 10⁻⁹)</a:t>
            </a:r>
            <a:endParaRPr lang="en-US" sz="1400" dirty="0"/>
          </a:p>
        </p:txBody>
      </p:sp>
      <p:sp>
        <p:nvSpPr>
          <p:cNvPr id="25" name="card_142"/>
          <p:cNvSpPr/>
          <p:nvPr/>
        </p:nvSpPr>
        <p:spPr>
          <a:xfrm>
            <a:off x="7360920" y="3657600"/>
            <a:ext cx="4282135" cy="1280160"/>
          </a:xfrm>
          <a:prstGeom prst="roundRect">
            <a:avLst>
              <a:gd name="adj" fmla="val 5714"/>
            </a:avLst>
          </a:prstGeom>
          <a:solidFill>
            <a:schemeClr val="accent4"/>
          </a:solidFill>
          <a:ln w="12700">
            <a:solidFill>
              <a:schemeClr val="accent4"/>
            </a:solidFill>
            <a:prstDash val="solid"/>
          </a:ln>
        </p:spPr>
      </p:sp>
      <p:sp>
        <p:nvSpPr>
          <p:cNvPr id="26" name="text_143"/>
          <p:cNvSpPr txBox="1"/>
          <p:nvPr/>
        </p:nvSpPr>
        <p:spPr>
          <a:xfrm>
            <a:off x="7589520" y="3657600"/>
            <a:ext cx="3824935" cy="128016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Interaction +4.9 EM </a:t>
            </a:r>
            <a:pPr indent="0" marL="0">
              <a:buNone/>
            </a:pPr>
            <a:r>
              <a:rPr lang="en-US" sz="1500" dirty="0">
                <a:solidFill>
                  <a:schemeClr val="tx1"/>
                </a:solidFill>
                <a:latin typeface="Calibri" pitchFamily="34" charset="0"/>
                <a:ea typeface="Calibri" pitchFamily="34" charset="-122"/>
                <a:cs typeface="Calibri" pitchFamily="34" charset="-120"/>
              </a:rPr>
              <a:t>(CI95 +3.2 to +6.6) → OCR is needed at both train and test</a:t>
            </a:r>
            <a:endParaRPr lang="en-US" sz="1500" dirty="0"/>
          </a:p>
        </p:txBody>
      </p:sp>
      <p:sp>
        <p:nvSpPr>
          <p:cNvPr id="27" name="card_144"/>
          <p:cNvSpPr/>
          <p:nvPr/>
        </p:nvSpPr>
        <p:spPr>
          <a:xfrm>
            <a:off x="548640" y="5349240"/>
            <a:ext cx="11094415" cy="914400"/>
          </a:xfrm>
          <a:prstGeom prst="roundRect">
            <a:avLst>
              <a:gd name="adj" fmla="val 8000"/>
            </a:avLst>
          </a:prstGeom>
          <a:solidFill>
            <a:schemeClr val="accent5"/>
          </a:solidFill>
          <a:ln w="12700">
            <a:solidFill>
              <a:schemeClr val="accent5"/>
            </a:solidFill>
            <a:prstDash val="solid"/>
          </a:ln>
        </p:spPr>
      </p:sp>
      <p:sp>
        <p:nvSpPr>
          <p:cNvPr id="28" name="text_145"/>
          <p:cNvSpPr txBox="1"/>
          <p:nvPr/>
        </p:nvSpPr>
        <p:spPr>
          <a:xfrm>
            <a:off x="822960" y="5349240"/>
            <a:ext cx="10545775" cy="914400"/>
          </a:xfrm>
          <a:prstGeom prst="rect">
            <a:avLst/>
          </a:prstGeom>
          <a:noFill/>
          <a:ln/>
        </p:spPr>
        <p:txBody>
          <a:bodyPr wrap="square" lIns="0" tIns="0" rIns="0" bIns="0" rtlCol="0" anchor="ctr"/>
          <a:lstStyle/>
          <a:p>
            <a:pPr indent="0" marL="0">
              <a:buNone/>
            </a:pPr>
            <a:r>
              <a:rPr lang="en-US" sz="1500" b="1" dirty="0">
                <a:solidFill>
                  <a:srgbClr val="13294B"/>
                </a:solidFill>
                <a:latin typeface="Calibri" pitchFamily="34" charset="0"/>
                <a:ea typeface="Calibri" pitchFamily="34" charset="-122"/>
                <a:cs typeface="Calibri" pitchFamily="34" charset="-120"/>
              </a:rPr>
              <a:t>Takeaway  </a:t>
            </a:r>
            <a:pPr indent="0" marL="0">
              <a:buNone/>
            </a:pPr>
            <a:r>
              <a:rPr lang="en-US" sz="1500" dirty="0">
                <a:solidFill>
                  <a:schemeClr val="tx1"/>
                </a:solidFill>
                <a:latin typeface="Calibri" pitchFamily="34" charset="0"/>
                <a:ea typeface="Calibri" pitchFamily="34" charset="-122"/>
                <a:cs typeface="Calibri" pitchFamily="34" charset="-120"/>
              </a:rPr>
              <a:t>the contribution is not “add OCR to the prompt” — it is teaching the model, with QLoRA, when to trust OCR and when to trust the image.</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ROBUSTNESS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The gain holds across seeds and on the full test</a:t>
            </a:r>
            <a:endParaRPr lang="en-US" sz="3200" dirty="0"/>
          </a:p>
        </p:txBody>
      </p:sp>
      <p:graphicFrame>
        <p:nvGraphicFramePr>
          <p:cNvPr id="5" name="chart_146" descr=""/>
          <p:cNvGraphicFramePr/>
          <p:nvPr/>
        </p:nvGraphicFramePr>
        <p:xfrm>
          <a:off x="548640" y="1371600"/>
          <a:ext cx="5120640" cy="3657600"/>
        </p:xfrm>
        <a:graphic xmlns:a="http://schemas.openxmlformats.org/drawingml/2006/main">
          <a:graphicData uri="http://schemas.openxmlformats.org/drawingml/2006/chart">
            <c:chart xmlns:c="http://schemas.openxmlformats.org/drawingml/2006/chart" r:id="rId1"/>
          </a:graphicData>
        </a:graphic>
      </p:graphicFrame>
      <p:sp>
        <p:nvSpPr>
          <p:cNvPr id="6" name="card_147"/>
          <p:cNvSpPr/>
          <p:nvPr/>
        </p:nvSpPr>
        <p:spPr>
          <a:xfrm>
            <a:off x="548640" y="5212080"/>
            <a:ext cx="5120640" cy="1051560"/>
          </a:xfrm>
          <a:prstGeom prst="roundRect">
            <a:avLst>
              <a:gd name="adj" fmla="val 6957"/>
            </a:avLst>
          </a:prstGeom>
          <a:solidFill>
            <a:schemeClr val="accent4"/>
          </a:solidFill>
          <a:ln w="12700">
            <a:solidFill>
              <a:schemeClr val="accent4"/>
            </a:solidFill>
            <a:prstDash val="solid"/>
          </a:ln>
        </p:spPr>
      </p:sp>
      <p:sp>
        <p:nvSpPr>
          <p:cNvPr id="7" name="text_148"/>
          <p:cNvSpPr txBox="1"/>
          <p:nvPr/>
        </p:nvSpPr>
        <p:spPr>
          <a:xfrm>
            <a:off x="777240" y="5212080"/>
            <a:ext cx="4663440" cy="105156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+3.57 ± 0.76 EM</a:t>
            </a:r>
            <a:pPr indent="0" marL="0">
              <a:buNone/>
            </a:pPr>
            <a:r>
              <a:rPr lang="en-US" sz="1400" dirty="0">
                <a:solidFill>
                  <a:schemeClr val="tx1"/>
                </a:solidFill>
                <a:latin typeface="Calibri" pitchFamily="34" charset="0"/>
                <a:ea typeface="Calibri" pitchFamily="34" charset="-122"/>
                <a:cs typeface="Calibri" pitchFamily="34" charset="-120"/>
              </a:rPr>
              <a:t> · all 3 seeds p ≤ 1.4 × 10⁻⁴ → stable (pre-registered rule)</a:t>
            </a:r>
            <a:endParaRPr lang="en-US" sz="1400" dirty="0"/>
          </a:p>
        </p:txBody>
      </p:sp>
      <p:graphicFrame>
        <p:nvGraphicFramePr>
          <p:cNvPr id="17" name="table_149"/>
          <p:cNvGraphicFramePr>
            <a:graphicFrameLocks noGrp="1"/>
          </p:cNvGraphicFramePr>
          <p:nvPr>
            <p:extLst>
              <p:ext uri="{D42A27DB-BD31-4B8C-83A1-F6EECF244321}">
                <p14:modId xmlns:p14="http://schemas.microsoft.com/office/powerpoint/2010/main" val="1579011935"/>
              </p:ext>
            </p:extLst>
          </p:nvPr>
        </p:nvGraphicFramePr>
        <p:xfrm>
          <a:off x="6035040" y="1371600"/>
          <a:ext cx="5608015" cy="914400"/>
        </p:xfrm>
        <a:graphic>
          <a:graphicData uri="http://schemas.openxmlformats.org/drawingml/2006/table">
            <a:tbl>
              <a:tblPr/>
              <a:tblGrid>
                <a:gridCol w="2331720"/>
                <a:gridCol w="1325880"/>
                <a:gridCol w="1005840"/>
                <a:gridCol w="94183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Full test (10,028 q.)</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Train data</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EM</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ViTextBLIP-2 (paper)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full</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25.48</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53.95</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B2-sub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46.56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67.83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57200">
                <a:tc>
                  <a:txBody>
                    <a:bodyPr/>
                    <a:lstStyle/>
                    <a:p>
                      <a:pPr algn="l" indent="0" marL="0">
                        <a:buNone/>
                      </a:pPr>
                      <a:r>
                        <a:rPr lang="en-US" sz="1400" b="1" dirty="0">
                          <a:solidFill>
                            <a:srgbClr val="13294B"/>
                          </a:solidFill>
                          <a:latin typeface="Calibri" pitchFamily="34" charset="0"/>
                          <a:ea typeface="Calibri" pitchFamily="34" charset="-122"/>
                          <a:cs typeface="Calibri" pitchFamily="34" charset="-120"/>
                        </a:rPr>
                        <a:t>B3 (OCR-aware)</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49.10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c>
                  <a:txBody>
                    <a:bodyPr/>
                    <a:lstStyle/>
                    <a:p>
                      <a:pPr algn="ctr" indent="0" marL="0">
                        <a:buNone/>
                      </a:pPr>
                      <a:r>
                        <a:rPr lang="en-US" sz="1400" b="1" dirty="0">
                          <a:solidFill>
                            <a:srgbClr val="13294B"/>
                          </a:solidFill>
                          <a:latin typeface="Calibri" pitchFamily="34" charset="0"/>
                          <a:ea typeface="Calibri" pitchFamily="34" charset="-122"/>
                          <a:cs typeface="Calibri" pitchFamily="34" charset="-120"/>
                        </a:rPr>
                        <a:t>70.03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FBF0DA"/>
                    </a:solidFill>
                  </a:tcPr>
                </a:tc>
              </a:tr>
              <a:tr h="457200">
                <a:tc>
                  <a:txBody>
                    <a:bodyPr/>
                    <a:lstStyle/>
                    <a:p>
                      <a:pPr algn="l" indent="0" marL="0">
                        <a:buNone/>
                      </a:pPr>
                      <a:r>
                        <a:rPr lang="en-US" sz="1400" dirty="0">
                          <a:solidFill>
                            <a:srgbClr val="243044"/>
                          </a:solidFill>
                          <a:latin typeface="Calibri" pitchFamily="34" charset="0"/>
                          <a:ea typeface="Calibri" pitchFamily="34" charset="-122"/>
                          <a:cs typeface="Calibri" pitchFamily="34" charset="-120"/>
                        </a:rPr>
                        <a:t>B2 (QLoRA, no OCR)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50.26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algn="ctr" indent="0" marL="0">
                        <a:buNone/>
                      </a:pPr>
                      <a:r>
                        <a:rPr lang="en-US" sz="1400" dirty="0">
                          <a:solidFill>
                            <a:srgbClr val="243044"/>
                          </a:solidFill>
                          <a:latin typeface="Calibri" pitchFamily="34" charset="0"/>
                          <a:ea typeface="Calibri" pitchFamily="34" charset="-122"/>
                          <a:cs typeface="Calibri" pitchFamily="34" charset="-120"/>
                        </a:rPr>
                        <a:t>71.16</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9" name="card_150"/>
          <p:cNvSpPr/>
          <p:nvPr/>
        </p:nvSpPr>
        <p:spPr>
          <a:xfrm>
            <a:off x="6035040" y="3886200"/>
            <a:ext cx="5608015" cy="2377440"/>
          </a:xfrm>
          <a:prstGeom prst="roundRect">
            <a:avLst>
              <a:gd name="adj" fmla="val 3077"/>
            </a:avLst>
          </a:prstGeom>
          <a:solidFill>
            <a:schemeClr val="bg2"/>
          </a:solidFill>
          <a:ln w="12700">
            <a:solidFill>
              <a:schemeClr val="bg2"/>
            </a:solidFill>
            <a:prstDash val="solid"/>
          </a:ln>
        </p:spPr>
      </p:sp>
      <p:sp>
        <p:nvSpPr>
          <p:cNvPr id="10" name="list_151"/>
          <p:cNvSpPr txBox="1"/>
          <p:nvPr/>
        </p:nvSpPr>
        <p:spPr>
          <a:xfrm>
            <a:off x="6263640" y="4023360"/>
            <a:ext cx="5150815" cy="21488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B3 vs B2-sub: +2.54 EM (672 vs 417 questions only one model gets right, p = 10⁻¹⁴)</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Above ViTextBLIP-2 on EM and F1 (CI95 lower bounds 48.1 / 69.3)</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Correction: still 1.16 EM below full-data B2 (p = 0.003); OCR recovers ≈ 69% of the data-cut gap with 25% of the training time</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06 · ViVQA: TRAINING LENGTH</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ViVQA: a second epoch helps — chosen without touching test</a:t>
            </a:r>
            <a:endParaRPr lang="en-US" sz="3200" dirty="0"/>
          </a:p>
        </p:txBody>
      </p:sp>
      <p:graphicFrame>
        <p:nvGraphicFramePr>
          <p:cNvPr id="5" name="chart_152" descr=""/>
          <p:cNvGraphicFramePr/>
          <p:nvPr/>
        </p:nvGraphicFramePr>
        <p:xfrm>
          <a:off x="548640" y="1371600"/>
          <a:ext cx="6400800" cy="3291840"/>
        </p:xfrm>
        <a:graphic xmlns:a="http://schemas.openxmlformats.org/drawingml/2006/main">
          <a:graphicData uri="http://schemas.openxmlformats.org/drawingml/2006/chart">
            <c:chart xmlns:c="http://schemas.openxmlformats.org/drawingml/2006/chart" r:id="rId1"/>
          </a:graphicData>
        </a:graphic>
      </p:graphicFrame>
      <p:sp>
        <p:nvSpPr>
          <p:cNvPr id="6" name="card_153"/>
          <p:cNvSpPr/>
          <p:nvPr/>
        </p:nvSpPr>
        <p:spPr>
          <a:xfrm>
            <a:off x="548640" y="4846320"/>
            <a:ext cx="6400800" cy="1417320"/>
          </a:xfrm>
          <a:prstGeom prst="roundRect">
            <a:avLst>
              <a:gd name="adj" fmla="val 5161"/>
            </a:avLst>
          </a:prstGeom>
          <a:solidFill>
            <a:schemeClr val="accent4"/>
          </a:solidFill>
          <a:ln w="12700">
            <a:solidFill>
              <a:schemeClr val="accent4"/>
            </a:solidFill>
            <a:prstDash val="solid"/>
          </a:ln>
        </p:spPr>
      </p:sp>
      <p:sp>
        <p:nvSpPr>
          <p:cNvPr id="7" name="text_154"/>
          <p:cNvSpPr txBox="1"/>
          <p:nvPr/>
        </p:nvSpPr>
        <p:spPr>
          <a:xfrm>
            <a:off x="777240" y="4846320"/>
            <a:ext cx="5943600" cy="141732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Rule fixed before the run: highest EM on image-disjoint val; keep C1 unless significantly better → C3 (+3.9 EM, p = 1.4 × 10⁻⁴)</a:t>
            </a:r>
            <a:endParaRPr lang="en-US" sz="1400" dirty="0"/>
          </a:p>
        </p:txBody>
      </p:sp>
      <p:sp>
        <p:nvSpPr>
          <p:cNvPr id="8" name="card_155"/>
          <p:cNvSpPr/>
          <p:nvPr/>
        </p:nvSpPr>
        <p:spPr>
          <a:xfrm>
            <a:off x="7315200" y="1371600"/>
            <a:ext cx="4327855" cy="2377440"/>
          </a:xfrm>
          <a:prstGeom prst="roundRect">
            <a:avLst>
              <a:gd name="adj" fmla="val 3077"/>
            </a:avLst>
          </a:prstGeom>
          <a:solidFill>
            <a:schemeClr val="accent5"/>
          </a:solidFill>
          <a:ln w="12700">
            <a:solidFill>
              <a:schemeClr val="accent5"/>
            </a:solidFill>
            <a:prstDash val="solid"/>
          </a:ln>
        </p:spPr>
      </p:sp>
      <p:sp>
        <p:nvSpPr>
          <p:cNvPr id="9" name="text_156"/>
          <p:cNvSpPr txBox="1"/>
          <p:nvPr/>
        </p:nvSpPr>
        <p:spPr>
          <a:xfrm>
            <a:off x="7589520" y="1508760"/>
            <a:ext cx="3779215"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73.8 → 76.6</a:t>
            </a:r>
            <a:endParaRPr lang="en-US" sz="4000" dirty="0"/>
          </a:p>
        </p:txBody>
      </p:sp>
      <p:sp>
        <p:nvSpPr>
          <p:cNvPr id="10" name="text_157"/>
          <p:cNvSpPr txBox="1"/>
          <p:nvPr/>
        </p:nvSpPr>
        <p:spPr>
          <a:xfrm>
            <a:off x="7589520" y="2377440"/>
            <a:ext cx="3779215"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ViVQA test EM (3,001 q.), touched once: +2.9, p = 4.6 × 10⁻⁹</a:t>
            </a:r>
            <a:endParaRPr lang="en-US" sz="1400" dirty="0"/>
          </a:p>
        </p:txBody>
      </p:sp>
      <p:sp>
        <p:nvSpPr>
          <p:cNvPr id="11" name="text_158"/>
          <p:cNvSpPr txBox="1"/>
          <p:nvPr/>
        </p:nvSpPr>
        <p:spPr>
          <a:xfrm>
            <a:off x="7589520" y="2926080"/>
            <a:ext cx="3779215" cy="777240"/>
          </a:xfrm>
          <a:prstGeom prst="rect">
            <a:avLst/>
          </a:prstGeom>
          <a:noFill/>
          <a:ln/>
        </p:spPr>
        <p:txBody>
          <a:bodyPr wrap="square" lIns="0" tIns="0" rIns="0" bIns="0" rtlCol="0" anchor="t"/>
          <a:lstStyle/>
          <a:p>
            <a:pPr indent="0" marL="0">
              <a:buNone/>
            </a:pPr>
            <a:r>
              <a:rPr lang="en-US" sz="1300" i="1" dirty="0">
                <a:solidFill>
                  <a:schemeClr val="tx1"/>
                </a:solidFill>
                <a:latin typeface="Calibri" pitchFamily="34" charset="0"/>
                <a:ea typeface="Calibri" pitchFamily="34" charset="-122"/>
                <a:cs typeface="Calibri" pitchFamily="34" charset="-120"/>
              </a:rPr>
              <a:t>Not image memorisation (post-hoc): on the clean test subset — unseen images and unseen QA, n = 1,219 — +3.2 EM (69.1 → 72.3, p = 1.5 × 10⁻⁴)</a:t>
            </a:r>
            <a:endParaRPr lang="en-US" sz="1300" dirty="0"/>
          </a:p>
        </p:txBody>
      </p:sp>
      <p:sp>
        <p:nvSpPr>
          <p:cNvPr id="12" name="card_159"/>
          <p:cNvSpPr/>
          <p:nvPr/>
        </p:nvSpPr>
        <p:spPr>
          <a:xfrm>
            <a:off x="7315200" y="3931920"/>
            <a:ext cx="4327855" cy="2331720"/>
          </a:xfrm>
          <a:prstGeom prst="roundRect">
            <a:avLst>
              <a:gd name="adj" fmla="val 3137"/>
            </a:avLst>
          </a:prstGeom>
          <a:solidFill>
            <a:schemeClr val="bg2"/>
          </a:solidFill>
          <a:ln w="12700">
            <a:solidFill>
              <a:schemeClr val="bg2"/>
            </a:solidFill>
            <a:prstDash val="solid"/>
          </a:ln>
        </p:spPr>
      </p:sp>
      <p:sp>
        <p:nvSpPr>
          <p:cNvPr id="13" name="text_160"/>
          <p:cNvSpPr txBox="1"/>
          <p:nvPr/>
        </p:nvSpPr>
        <p:spPr>
          <a:xfrm>
            <a:off x="7589520" y="4041648"/>
            <a:ext cx="3779215" cy="365760"/>
          </a:xfrm>
          <a:prstGeom prst="rect">
            <a:avLst/>
          </a:prstGeom>
          <a:noFill/>
          <a:ln/>
        </p:spPr>
        <p:txBody>
          <a:bodyPr wrap="square" lIns="0" tIns="0" rIns="0" bIns="0" rtlCol="0" anchor="t"/>
          <a:lstStyle/>
          <a:p>
            <a:pPr indent="0" marL="0">
              <a:buNone/>
            </a:pPr>
            <a:r>
              <a:rPr lang="en-US" sz="1600" b="1" dirty="0">
                <a:solidFill>
                  <a:schemeClr val="tx2"/>
                </a:solidFill>
                <a:latin typeface="Calibri" pitchFamily="34" charset="0"/>
                <a:ea typeface="Calibri" pitchFamily="34" charset="-122"/>
                <a:cs typeface="Calibri" pitchFamily="34" charset="-120"/>
              </a:rPr>
              <a:t>Why image-disjoint val</a:t>
            </a:r>
            <a:endParaRPr lang="en-US" sz="1600" dirty="0"/>
          </a:p>
        </p:txBody>
      </p:sp>
      <p:sp>
        <p:nvSpPr>
          <p:cNvPr id="14" name="list_161"/>
          <p:cNvSpPr txBox="1"/>
          <p:nvPr/>
        </p:nvSpPr>
        <p:spPr>
          <a:xfrm>
            <a:off x="7589520" y="4434840"/>
            <a:ext cx="3779215" cy="17830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512 of 1,200 val questions share an image with train</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Longer training memorises images → plain val would favour it</a:t>
            </a:r>
            <a:endParaRPr lang="en-US" sz="1400" dirty="0"/>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Cost: 6.1 h instead of 3.0 h on one L4</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07 · HYPOTHESES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What the evidence says so far</a:t>
            </a:r>
            <a:endParaRPr lang="en-US" sz="3200" dirty="0"/>
          </a:p>
        </p:txBody>
      </p:sp>
      <p:graphicFrame>
        <p:nvGraphicFramePr>
          <p:cNvPr id="19"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4754880"/>
                <a:gridCol w="4507992"/>
                <a:gridCol w="1828800"/>
              </a:tblGrid>
              <a:tr h="49377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Hypothesis (Review 1)</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solidFill>
                      <a:srgbClr val="13294B"/>
                    </a:solidFill>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H1  QLoRA ≥ +5 EM over zero-shot</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+51.7 (ViVQA), +21.1 (ViTextVQA full), p ≈ 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1C7293"/>
                          </a:solidFill>
                          <a:latin typeface="Calibri" pitchFamily="34" charset="0"/>
                          <a:ea typeface="Calibri" pitchFamily="34" charset="-122"/>
                          <a:cs typeface="Calibri" pitchFamily="34" charset="-120"/>
                        </a:rPr>
                        <a:t>Supported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H2  4-bit keeps ≥ 97% accuracy, VRAM −40%</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Keeps 94.5%; VRAM −77% (R0 vs R0b)</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Partly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H6  OCR prompting ≥ +3 ANLS, synergy with QLoRA</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Synergy: interaction +4.9 EM; but ANLS +1.55 ± 0.40 (&lt; +3)</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E8A33D"/>
                          </a:solidFill>
                          <a:latin typeface="Calibri" pitchFamily="34" charset="0"/>
                          <a:ea typeface="Calibri" pitchFamily="34" charset="-122"/>
                          <a:cs typeface="Calibri" pitchFamily="34" charset="-120"/>
                        </a:rPr>
                        <a:t>Partly</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H7  Vietnamese format prompt ≥ +3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Few-shot variant: −2.1 / −1.2 EM</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B42318"/>
                          </a:solidFill>
                          <a:latin typeface="Calibri" pitchFamily="34" charset="0"/>
                          <a:ea typeface="Calibri" pitchFamily="34" charset="-122"/>
                          <a:cs typeface="Calibri" pitchFamily="34" charset="-120"/>
                        </a:rPr>
                        <a:t>Not supported</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H8  PEFT does not increase hallucination</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Audit: 7% of B2 errors are hallucinations (CI 4–11%); B1 comparison in W11</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r h="493776">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H3–H5  LoRA config, shared adapter</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dirty="0">
                          <a:solidFill>
                            <a:srgbClr val="243044"/>
                          </a:solidFill>
                          <a:latin typeface="Calibri" pitchFamily="34" charset="0"/>
                          <a:ea typeface="Calibri" pitchFamily="34" charset="-122"/>
                          <a:cs typeface="Calibri" pitchFamily="34" charset="-120"/>
                        </a:rPr>
                        <a:t>Planned W10–W12</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c>
                  <a:txBody>
                    <a:bodyPr/>
                    <a:lstStyle/>
                    <a:p>
                      <a:pPr indent="0" marL="0">
                        <a:buNone/>
                      </a:pPr>
                      <a:r>
                        <a:rPr lang="en-US" sz="1400" b="1" dirty="0">
                          <a:solidFill>
                            <a:srgbClr val="6B728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76200" marR="76200" marT="38100" marB="38100" anchor="ctr">
                    <a:lnL w="9525" cap="flat" cmpd="sng" algn="ctr">
                      <a:solidFill>
                        <a:srgbClr val="E2E7EE"/>
                      </a:solidFill>
                      <a:prstDash val="solid"/>
                      <a:round/>
                      <a:headEnd type="none" w="med" len="med"/>
                      <a:tailEnd type="none" w="med" len="med"/>
                    </a:lnL>
                    <a:lnR w="9525" cap="flat" cmpd="sng" algn="ctr">
                      <a:solidFill>
                        <a:srgbClr val="E2E7EE"/>
                      </a:solidFill>
                      <a:prstDash val="solid"/>
                      <a:round/>
                      <a:headEnd type="none" w="med" len="med"/>
                      <a:tailEnd type="none" w="med" len="med"/>
                    </a:lnR>
                    <a:lnT w="9525" cap="flat" cmpd="sng" algn="ctr">
                      <a:solidFill>
                        <a:srgbClr val="E2E7EE"/>
                      </a:solidFill>
                      <a:prstDash val="solid"/>
                      <a:round/>
                      <a:headEnd type="none" w="med" len="med"/>
                      <a:tailEnd type="none" w="med" len="med"/>
                    </a:lnT>
                    <a:lnB w="9525" cap="flat" cmpd="sng" algn="ctr">
                      <a:solidFill>
                        <a:srgbClr val="E2E7EE"/>
                      </a:solidFill>
                      <a:prstDash val="solid"/>
                      <a:round/>
                      <a:headEnd type="none" w="med" len="med"/>
                      <a:tailEnd type="none" w="med" len="med"/>
                    </a:lnB>
                  </a:tcPr>
                </a:tc>
              </a:tr>
            </a:tbl>
          </a:graphicData>
        </a:graphic>
      </p:graphicFrame>
      <p:sp>
        <p:nvSpPr>
          <p:cNvPr id="6" name="card_163"/>
          <p:cNvSpPr/>
          <p:nvPr/>
        </p:nvSpPr>
        <p:spPr>
          <a:xfrm>
            <a:off x="548640" y="5120640"/>
            <a:ext cx="11094415" cy="1143000"/>
          </a:xfrm>
          <a:prstGeom prst="roundRect">
            <a:avLst>
              <a:gd name="adj" fmla="val 6400"/>
            </a:avLst>
          </a:prstGeom>
          <a:solidFill>
            <a:schemeClr val="accent4"/>
          </a:solidFill>
          <a:ln w="12700">
            <a:solidFill>
              <a:schemeClr val="accent4"/>
            </a:solidFill>
            <a:prstDash val="solid"/>
          </a:ln>
        </p:spPr>
      </p:sp>
      <p:sp>
        <p:nvSpPr>
          <p:cNvPr id="7" name="text_164"/>
          <p:cNvSpPr txBox="1"/>
          <p:nvPr/>
        </p:nvSpPr>
        <p:spPr>
          <a:xfrm>
            <a:off x="868680" y="5120640"/>
            <a:ext cx="10454335" cy="1143000"/>
          </a:xfrm>
          <a:prstGeom prst="rect">
            <a:avLst/>
          </a:prstGeom>
          <a:noFill/>
          <a:ln/>
        </p:spPr>
        <p:txBody>
          <a:bodyPr wrap="square" lIns="0" tIns="0" rIns="0" bIns="0" rtlCol="0" anchor="ctr"/>
          <a:lstStyle/>
          <a:p>
            <a:pPr indent="0" marL="0">
              <a:buNone/>
            </a:pPr>
            <a:r>
              <a:rPr lang="en-US" sz="1500" dirty="0">
                <a:solidFill>
                  <a:schemeClr val="tx2"/>
                </a:solidFill>
                <a:latin typeface="Calibri" pitchFamily="34" charset="0"/>
                <a:ea typeface="Calibri" pitchFamily="34" charset="-122"/>
                <a:cs typeface="Calibri" pitchFamily="34" charset="-120"/>
              </a:rPr>
              <a:t>RQ1: zero-shot EM 22.1 (ViVQA), 29.1 (ViTextVQA).  RQ2: QLoRA +51.7 / +21.1 EM.  RQ3: OCR-aware QLoRA +2.5 EM over the same QLoRA (full test).</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latin typeface="Calibri" pitchFamily="34" charset="0"/>
                <a:ea typeface="Calibri" pitchFamily="34" charset="-122"/>
                <a:cs typeface="Calibri" pitchFamily="34" charset="-120"/>
              </a:rPr>
              <a:t>PART 07 · NEXT STEPS</a:t>
            </a:r>
            <a:endParaRPr lang="en-US" sz="1100" dirty="0"/>
          </a:p>
        </p:txBody>
      </p:sp>
      <p:sp>
        <p:nvSpPr>
          <p:cNvPr id="3" name="Text 0"/>
          <p:cNvSpPr/>
          <p:nvPr>
            <p:ph idx="101" type="title" hasCustomPrompt="1"/>
          </p:nvPr>
        </p:nvSpPr>
        <p:spPr>
          <a:xfrm>
            <a:off x="548640" y="566928"/>
            <a:ext cx="11094415" cy="640080"/>
          </a:xfrm>
          <a:prstGeom prst="rect">
            <a:avLst/>
          </a:prstGeom>
          <a:noFill/>
          <a:ln/>
        </p:spPr>
        <p:txBody>
          <a:bodyPr wrap="square" lIns="0" tIns="0" rIns="0" bIns="0" rtlCol="0" anchor="t"/>
          <a:lstStyle/>
          <a:p>
            <a:pPr algn="l" indent="0" marL="0">
              <a:buNone/>
            </a:pPr>
            <a:r>
              <a:rPr lang="en-US" sz="3200" b="1" dirty="0">
                <a:solidFill>
                  <a:schemeClr val="tx2"/>
                </a:solidFill>
                <a:latin typeface="Cambria" pitchFamily="34" charset="0"/>
                <a:ea typeface="Cambria" pitchFamily="34" charset="-122"/>
                <a:cs typeface="Cambria" pitchFamily="34" charset="-120"/>
              </a:rPr>
              <a:t>Plan to Review 3 (week 13)</a:t>
            </a:r>
            <a:endParaRPr lang="en-US" sz="3200" dirty="0"/>
          </a:p>
        </p:txBody>
      </p:sp>
      <p:sp>
        <p:nvSpPr>
          <p:cNvPr id="5" name="card_165"/>
          <p:cNvSpPr/>
          <p:nvPr/>
        </p:nvSpPr>
        <p:spPr>
          <a:xfrm>
            <a:off x="548640" y="1600200"/>
            <a:ext cx="2533574" cy="3108960"/>
          </a:xfrm>
          <a:prstGeom prst="roundRect">
            <a:avLst>
              <a:gd name="adj" fmla="val 2887"/>
            </a:avLst>
          </a:prstGeom>
          <a:solidFill>
            <a:schemeClr val="accent4"/>
          </a:solidFill>
          <a:ln w="12700">
            <a:solidFill>
              <a:schemeClr val="accent4"/>
            </a:solidFill>
            <a:prstDash val="solid"/>
          </a:ln>
        </p:spPr>
      </p:sp>
      <p:sp>
        <p:nvSpPr>
          <p:cNvPr id="6" name="dot_166"/>
          <p:cNvSpPr/>
          <p:nvPr/>
        </p:nvSpPr>
        <p:spPr>
          <a:xfrm>
            <a:off x="822960" y="1874520"/>
            <a:ext cx="868680" cy="868680"/>
          </a:xfrm>
          <a:prstGeom prst="ellipse">
            <a:avLst/>
          </a:prstGeom>
          <a:solidFill>
            <a:srgbClr val="1C7293"/>
          </a:solidFill>
          <a:ln w="12700">
            <a:solidFill>
              <a:srgbClr val="FFFFFF"/>
            </a:solidFill>
            <a:prstDash val="solid"/>
          </a:ln>
        </p:spPr>
      </p:sp>
      <p:sp>
        <p:nvSpPr>
          <p:cNvPr id="7" name="text_167"/>
          <p:cNvSpPr txBox="1"/>
          <p:nvPr/>
        </p:nvSpPr>
        <p:spPr>
          <a:xfrm>
            <a:off x="822960"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W10</a:t>
            </a:r>
            <a:endParaRPr lang="en-US" sz="1400" dirty="0"/>
          </a:p>
        </p:txBody>
      </p:sp>
      <p:sp>
        <p:nvSpPr>
          <p:cNvPr id="8" name="text_168"/>
          <p:cNvSpPr txBox="1"/>
          <p:nvPr/>
        </p:nvSpPr>
        <p:spPr>
          <a:xfrm>
            <a:off x="822960"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OCR-aware QLoRA on the full ViTextVQA train set; LoRA rank and target-module ablations (H3, H4)</a:t>
            </a:r>
            <a:endParaRPr lang="en-US" sz="1500" dirty="0"/>
          </a:p>
        </p:txBody>
      </p:sp>
      <p:sp>
        <p:nvSpPr>
          <p:cNvPr id="9" name="card_169"/>
          <p:cNvSpPr/>
          <p:nvPr/>
        </p:nvSpPr>
        <p:spPr>
          <a:xfrm>
            <a:off x="3402254" y="1600200"/>
            <a:ext cx="2533574" cy="3108960"/>
          </a:xfrm>
          <a:prstGeom prst="roundRect">
            <a:avLst>
              <a:gd name="adj" fmla="val 2887"/>
            </a:avLst>
          </a:prstGeom>
          <a:solidFill>
            <a:schemeClr val="bg2"/>
          </a:solidFill>
          <a:ln w="12700">
            <a:solidFill>
              <a:schemeClr val="bg2"/>
            </a:solidFill>
            <a:prstDash val="solid"/>
          </a:ln>
        </p:spPr>
      </p:sp>
      <p:sp>
        <p:nvSpPr>
          <p:cNvPr id="10" name="dot_170"/>
          <p:cNvSpPr/>
          <p:nvPr/>
        </p:nvSpPr>
        <p:spPr>
          <a:xfrm>
            <a:off x="3676574" y="1874520"/>
            <a:ext cx="868680" cy="868680"/>
          </a:xfrm>
          <a:prstGeom prst="ellipse">
            <a:avLst/>
          </a:prstGeom>
          <a:solidFill>
            <a:srgbClr val="13294B"/>
          </a:solidFill>
          <a:ln w="12700">
            <a:solidFill>
              <a:srgbClr val="FFFFFF"/>
            </a:solidFill>
            <a:prstDash val="solid"/>
          </a:ln>
        </p:spPr>
      </p:sp>
      <p:sp>
        <p:nvSpPr>
          <p:cNvPr id="11" name="text_171"/>
          <p:cNvSpPr txBox="1"/>
          <p:nvPr/>
        </p:nvSpPr>
        <p:spPr>
          <a:xfrm>
            <a:off x="3676574"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W11</a:t>
            </a:r>
            <a:endParaRPr lang="en-US" sz="1400" dirty="0"/>
          </a:p>
        </p:txBody>
      </p:sp>
      <p:sp>
        <p:nvSpPr>
          <p:cNvPr id="12" name="text_172"/>
          <p:cNvSpPr txBox="1"/>
          <p:nvPr/>
        </p:nvSpPr>
        <p:spPr>
          <a:xfrm>
            <a:off x="3676574"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Shared adapter for both datasets (H5); systematic hallucination evaluation incl. B3 (H8)</a:t>
            </a:r>
            <a:endParaRPr lang="en-US" sz="1500" dirty="0"/>
          </a:p>
        </p:txBody>
      </p:sp>
      <p:sp>
        <p:nvSpPr>
          <p:cNvPr id="13" name="card_173"/>
          <p:cNvSpPr/>
          <p:nvPr/>
        </p:nvSpPr>
        <p:spPr>
          <a:xfrm>
            <a:off x="6255868" y="1600200"/>
            <a:ext cx="2533574" cy="3108960"/>
          </a:xfrm>
          <a:prstGeom prst="roundRect">
            <a:avLst>
              <a:gd name="adj" fmla="val 2887"/>
            </a:avLst>
          </a:prstGeom>
          <a:solidFill>
            <a:schemeClr val="bg2"/>
          </a:solidFill>
          <a:ln w="12700">
            <a:solidFill>
              <a:schemeClr val="bg2"/>
            </a:solidFill>
            <a:prstDash val="solid"/>
          </a:ln>
        </p:spPr>
      </p:sp>
      <p:sp>
        <p:nvSpPr>
          <p:cNvPr id="14" name="dot_174"/>
          <p:cNvSpPr/>
          <p:nvPr/>
        </p:nvSpPr>
        <p:spPr>
          <a:xfrm>
            <a:off x="6530188" y="1874520"/>
            <a:ext cx="868680" cy="868680"/>
          </a:xfrm>
          <a:prstGeom prst="ellipse">
            <a:avLst/>
          </a:prstGeom>
          <a:solidFill>
            <a:srgbClr val="13294B"/>
          </a:solidFill>
          <a:ln w="12700">
            <a:solidFill>
              <a:srgbClr val="FFFFFF"/>
            </a:solidFill>
            <a:prstDash val="solid"/>
          </a:ln>
        </p:spPr>
      </p:sp>
      <p:sp>
        <p:nvSpPr>
          <p:cNvPr id="15" name="text_175"/>
          <p:cNvSpPr txBox="1"/>
          <p:nvPr/>
        </p:nvSpPr>
        <p:spPr>
          <a:xfrm>
            <a:off x="6530188"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W12</a:t>
            </a:r>
            <a:endParaRPr lang="en-US" sz="1400" dirty="0"/>
          </a:p>
        </p:txBody>
      </p:sp>
      <p:sp>
        <p:nvSpPr>
          <p:cNvPr id="16" name="text_176"/>
          <p:cNvSpPr txBox="1"/>
          <p:nvPr/>
        </p:nvSpPr>
        <p:spPr>
          <a:xfrm>
            <a:off x="6530188"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Web prototype: upload image → OCR → answer in Vietnamese</a:t>
            </a:r>
            <a:endParaRPr lang="en-US" sz="1500" dirty="0"/>
          </a:p>
        </p:txBody>
      </p:sp>
      <p:sp>
        <p:nvSpPr>
          <p:cNvPr id="17" name="card_177"/>
          <p:cNvSpPr/>
          <p:nvPr/>
        </p:nvSpPr>
        <p:spPr>
          <a:xfrm>
            <a:off x="9109481" y="1600200"/>
            <a:ext cx="2533574" cy="3108960"/>
          </a:xfrm>
          <a:prstGeom prst="roundRect">
            <a:avLst>
              <a:gd name="adj" fmla="val 2887"/>
            </a:avLst>
          </a:prstGeom>
          <a:solidFill>
            <a:schemeClr val="bg2"/>
          </a:solidFill>
          <a:ln w="12700">
            <a:solidFill>
              <a:schemeClr val="bg2"/>
            </a:solidFill>
            <a:prstDash val="solid"/>
          </a:ln>
        </p:spPr>
      </p:sp>
      <p:sp>
        <p:nvSpPr>
          <p:cNvPr id="18" name="dot_178"/>
          <p:cNvSpPr/>
          <p:nvPr/>
        </p:nvSpPr>
        <p:spPr>
          <a:xfrm>
            <a:off x="9383801" y="1874520"/>
            <a:ext cx="868680" cy="868680"/>
          </a:xfrm>
          <a:prstGeom prst="ellipse">
            <a:avLst/>
          </a:prstGeom>
          <a:solidFill>
            <a:srgbClr val="13294B"/>
          </a:solidFill>
          <a:ln w="12700">
            <a:solidFill>
              <a:srgbClr val="FFFFFF"/>
            </a:solidFill>
            <a:prstDash val="solid"/>
          </a:ln>
        </p:spPr>
      </p:sp>
      <p:sp>
        <p:nvSpPr>
          <p:cNvPr id="19" name="text_179"/>
          <p:cNvSpPr txBox="1"/>
          <p:nvPr/>
        </p:nvSpPr>
        <p:spPr>
          <a:xfrm>
            <a:off x="9383801" y="18745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W13</a:t>
            </a:r>
            <a:endParaRPr lang="en-US" sz="1400" dirty="0"/>
          </a:p>
        </p:txBody>
      </p:sp>
      <p:sp>
        <p:nvSpPr>
          <p:cNvPr id="20" name="text_180"/>
          <p:cNvSpPr txBox="1"/>
          <p:nvPr/>
        </p:nvSpPr>
        <p:spPr>
          <a:xfrm>
            <a:off x="9383801" y="2971800"/>
            <a:ext cx="1984934" cy="155448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Review 3: final results, ablations, error analysis, live demo</a:t>
            </a:r>
            <a:endParaRPr lang="en-US" sz="1500" dirty="0"/>
          </a:p>
        </p:txBody>
      </p:sp>
      <p:sp>
        <p:nvSpPr>
          <p:cNvPr id="21" name="text_181"/>
          <p:cNvSpPr txBox="1"/>
          <p:nvPr/>
        </p:nvSpPr>
        <p:spPr>
          <a:xfrm>
            <a:off x="548640" y="5029200"/>
            <a:ext cx="11094415" cy="4114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All runs keep the frozen protocol, PEFT only, and pre-registered decision rules.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11094415"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Thank you</a:t>
            </a:r>
            <a:endParaRPr lang="en-US" sz="5400" dirty="0"/>
          </a:p>
        </p:txBody>
      </p:sp>
      <p:sp>
        <p:nvSpPr>
          <p:cNvPr id="3" name="Text 0"/>
          <p:cNvSpPr/>
          <p:nvPr>
            <p:ph idx="101" type="body" hasCustomPrompt="1"/>
          </p:nvPr>
        </p:nvSpPr>
        <p:spPr>
          <a:xfrm>
            <a:off x="548640" y="2743200"/>
            <a:ext cx="11094415" cy="3291840"/>
          </a:xfrm>
          <a:prstGeom prst="rect">
            <a:avLst/>
          </a:prstGeom>
          <a:noFill/>
          <a:ln/>
        </p:spPr>
        <p:txBody>
          <a:bodyPr wrap="square" lIns="0" tIns="0" rIns="0" bIns="0" rtlCol="0" anchor="t"/>
          <a:lstStyle/>
          <a:p>
            <a:pPr algn="l" indent="0" marL="0">
              <a:buNone/>
            </a:pPr>
            <a:r>
              <a:rPr lang="en-US" sz="2000" dirty="0">
                <a:solidFill>
                  <a:schemeClr val="bg1"/>
                </a:solidFill>
                <a:latin typeface="Calibri" pitchFamily="34" charset="0"/>
                <a:ea typeface="Calibri" pitchFamily="34" charset="-122"/>
                <a:cs typeface="Calibri" pitchFamily="34" charset="-120"/>
              </a:rPr>
              <a:t>We welcome your feedback.</a:t>
            </a:r>
            <a:endParaRPr lang="en-US" sz="1800" dirty="0"/>
          </a:p>
          <a:p>
            <a:pPr algn="l" indent="0" marL="0">
              <a:buNone/>
            </a:pPr>
            <a:r>
              <a:rPr lang="en-US" sz="1200" dirty="0">
                <a:solidFill>
                  <a:schemeClr val="bg1"/>
                </a:solidFill>
                <a:latin typeface="Calibri" pitchFamily="34" charset="0"/>
                <a:ea typeface="Calibri" pitchFamily="34" charset="-122"/>
                <a:cs typeface="Calibri" pitchFamily="34" charset="-120"/>
              </a:rPr>
              <a:t> </a:t>
            </a:r>
            <a:endParaRPr lang="en-US" sz="1800" dirty="0"/>
          </a:p>
          <a:p>
            <a:pPr algn="l" indent="0" marL="0">
              <a:buNone/>
            </a:pPr>
            <a:r>
              <a:rPr lang="en-US" sz="1500" dirty="0">
                <a:solidFill>
                  <a:srgbClr val="A8C4E0"/>
                </a:solidFill>
                <a:latin typeface="Calibri" pitchFamily="34" charset="0"/>
                <a:ea typeface="Calibri" pitchFamily="34" charset="-122"/>
                <a:cs typeface="Calibri" pitchFamily="34" charset="-120"/>
              </a:rPr>
              <a:t>Code, configs and every run log: github.com/PLHGNAOH/ViVQA-VLM</a:t>
            </a:r>
            <a:endParaRPr lang="en-US" sz="1800" dirty="0"/>
          </a:p>
        </p:txBody>
      </p:sp>
    </p:spTree>
  </p:cSld>
  <p:clrMapOvr>
    <a:masterClrMapping/>
  </p:clrMapOvr>
</p:sld>
</file>

<file path=ppt/theme/theme1.xml><?xml version="1.0" encoding="utf-8"?>
<a:theme xmlns:a="http://schemas.openxmlformats.org/drawingml/2006/main" name="ViVQA-VLM Review">
  <a:themeElements>
    <a:clrScheme name="ViVQA-VLM Review">
      <a:dk1>
        <a:srgbClr val="243044"/>
      </a:dk1>
      <a:lt1>
        <a:srgbClr val="FFFFFF"/>
      </a:lt1>
      <a:dk2>
        <a:srgbClr val="13294B"/>
      </a:dk2>
      <a:lt2>
        <a:srgbClr val="F3F5F8"/>
      </a:lt2>
      <a:accent1>
        <a:srgbClr val="1C7293"/>
      </a:accent1>
      <a:accent2>
        <a:srgbClr val="E8A33D"/>
      </a:accent2>
      <a:accent3>
        <a:srgbClr val="6B7280"/>
      </a:accent3>
      <a:accent4>
        <a:srgbClr val="E7F0F3"/>
      </a:accent4>
      <a:accent5>
        <a:srgbClr val="FBF0DA"/>
      </a:accent5>
      <a:accent6>
        <a:srgbClr val="B42318"/>
      </a:accent6>
      <a:hlink>
        <a:srgbClr val="1C7293"/>
      </a:hlink>
      <a:folHlink>
        <a:srgbClr val="13294B"/>
      </a:folHlink>
    </a:clrScheme>
    <a:fontScheme name="ViVQA-VLM Revie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ViVQA-VLM Review 2</dc:title>
  <dc:subject>PptxGenJS Presentation</dc:subject>
  <dc:creator>Phạm Lê Huy Hoàng</dc:creator>
  <cp:lastModifiedBy>Phạm Lê Huy Hoàng</cp:lastModifiedBy>
  <cp:revision>1</cp:revision>
  <dcterms:created xsi:type="dcterms:W3CDTF">2026-10-17T01:42:59Z</dcterms:created>
  <dcterms:modified xsi:type="dcterms:W3CDTF">2026-10-17T01:42:59Z</dcterms:modified>
</cp:coreProperties>
</file>