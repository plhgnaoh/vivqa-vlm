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de2470e-099f-b26f-4f45-0a2b6345740e}">
          <p14:sldIdLst>
            <p14:sldId id="256"/>
          </p14:sldIdLst>
        </p14:section>
        <p14:section name="Tóm tắt" id="{2bce775a-6390-46e5-69ef-e59d3882ff1c}">
          <p14:sldIdLst>
            <p14:sldId id="257"/>
          </p14:sldIdLst>
        </p14:section>
        <p14:section name="Góp ý" id="{849e6be1-b29c-8ffd-3053-5defd06dc9bb}">
          <p14:sldIdLst>
            <p14:sldId id="258"/>
          </p14:sldIdLst>
        </p14:section>
        <p14:section name="Dữ liệu &amp; baseline" id="{f71cb33c-a350-12d8-68ea-284de305483b}">
          <p14:sldIdLst>
            <p14:sldId id="259"/>
            <p14:sldId id="260"/>
            <p14:sldId id="261"/>
          </p14:sldIdLst>
        </p14:section>
        <p14:section name="Kết quả" id="{d2b239e6-9a0c-2101-7f3f-d5eb8394ae3b}">
          <p14:sldIdLst>
            <p14:sldId id="262"/>
            <p14:sldId id="263"/>
            <p14:sldId id="264"/>
          </p14:sldIdLst>
        </p14:section>
        <p14:section name="Cải tiến" id="{cbef7d6a-46b2-5a10-99d7-fa6f023cf5a6}">
          <p14:sldIdLst>
            <p14:sldId id="265"/>
            <p14:sldId id="266"/>
            <p14:sldId id="267"/>
            <p14:sldId id="268"/>
            <p14:sldId id="269"/>
          </p14:sldIdLst>
        </p14:section>
        <p14:section name="QLoRA nhận biết OCR" id="{5ff20dde-7383-63f8-772a-6cb3da0c7b6a}">
          <p14:sldIdLst>
            <p14:sldId id="270"/>
            <p14:sldId id="271"/>
            <p14:sldId id="272"/>
            <p14:sldId id="273"/>
          </p14:sldIdLst>
        </p14:section>
        <p14:section name="Phân tích &amp; kế hoạch" id="{752b7a6e-2775-4432-6980-b0cbcc349e9a}">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câu),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Báo cáo Qwen2.5-VL</c:v>
                  </c:pt>
                  <c:pt idx="1">
                    <c:v>R0 · bf16, đủ độ phân giải</c:v>
                  </c:pt>
                  <c:pt idx="2">
                    <c:v>R0b · 4-bit, 512 token</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số lượng</c:v>
                  </c:pt>
                  <c:pt idx="1">
                    <c:v>màu</c:v>
                  </c:pt>
                  <c:pt idx="2">
                    <c:v>đồ vật</c:v>
                  </c:pt>
                  <c:pt idx="3">
                    <c:v>vị trí</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đầy đủ</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Phân loại tự động lỗi B2, full test ViTextVQA (n = 4.988)</a:t>
            </a:r>
          </a:p>
        </c:rich>
      </c:tx>
      <c:layout/>
      <c:overlay val="0"/>
    </c:title>
    <c:autoTitleDeleted val="0"/>
    <c:plotArea>
      <c:layout/>
      <c:barChart>
        <c:barDir val="bar"/>
        <c:grouping val="clustered"/>
        <c:varyColors val="0"/>
        <c:ser>
          <c:idx val="0"/>
          <c:order val="0"/>
          <c:tx>
            <c:strRef>
              <c:f>Sheet1!$B$1</c:f>
              <c:strCache>
                <c:ptCount val="1"/>
                <c:pt idx="0">
                  <c:v>% lỗi của 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khác: nội dung / vùng ảnh</c:v>
                  </c:pt>
                  <c:pt idx="1">
                    <c:v>lệch 1–2 ký tự</c:v>
                  </c:pt>
                  <c:pt idx="2">
                    <c:v>trả lời thừa chữ</c:v>
                  </c:pt>
                  <c:pt idx="3">
                    <c:v>trả lời thiếu chữ</c:v>
                  </c:pt>
                  <c:pt idx="4">
                    <c:v>chỉ sai dấu thanh</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tập con 2.000 câu, 3 seed huấn luyện</a:t>
            </a:r>
          </a:p>
        </c:rich>
      </c:tx>
      <c:layout/>
      <c:overlay val="0"/>
    </c:title>
    <c:autoTitleDeleted val="0"/>
    <c:plotArea>
      <c:layout/>
      <c:barChart>
        <c:barDir val="col"/>
        <c:grouping val="clustered"/>
        <c:varyColors val="0"/>
        <c:ser>
          <c:idx val="0"/>
          <c:order val="0"/>
          <c:tx>
            <c:strRef>
              <c:f>Sheet1!$B$1</c:f>
              <c:strCache>
                <c:ptCount val="1"/>
                <c:pt idx="0">
                  <c:v>B2-sub (không OCR)</c:v>
                </c:pt>
              </c:strCache>
            </c:strRef>
          </c:tx>
          <c:spPr>
            <a:solidFill>
              <a:srgbClr val="6B7280"/>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Sheet1!$B$2:$B$4</c:f>
              <c:numCache>
                <c:formatCode>General</c:formatCode>
                <c:ptCount val="3"/>
                <c:pt idx="0">
                  <c:v>45.55</c:v>
                </c:pt>
                <c:pt idx="1">
                  <c:v>44.75</c:v>
                </c:pt>
                <c:pt idx="2">
                  <c:v>46.05</c:v>
                </c:pt>
              </c:numCache>
            </c:numRef>
          </c:val>
        </c:ser>
        <c:ser>
          <c:idx val="1"/>
          <c:order val="1"/>
          <c:tx>
            <c:strRef>
              <c:f>Sheet1!$C$1</c:f>
              <c:strCache>
                <c:ptCount val="1"/>
                <c:pt idx="0">
                  <c:v>B3 (nhận biết OCR)</c:v>
                </c:pt>
              </c:strCache>
            </c:strRef>
          </c:tx>
          <c:spPr>
            <a:solidFill>
              <a:srgbClr val="E8A33D"/>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Sheet1!$C$2:$C$4</c:f>
              <c:numCache>
                <c:formatCode>General</c:formatCode>
                <c:ptCount val="3"/>
                <c:pt idx="0">
                  <c:v>49.25</c:v>
                </c:pt>
                <c:pt idx="1">
                  <c:v>49</c:v>
                </c:pt>
                <c:pt idx="2">
                  <c:v>48.8</c:v>
                </c:pt>
              </c:numCache>
            </c:numRef>
          </c:val>
        </c:ser>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52"/>
          <c:min val="4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trên val sạch, ảnh không trùng train (688 câu)</a:t>
            </a:r>
          </a:p>
        </c:rich>
      </c:tx>
      <c:layout/>
      <c:overlay val="0"/>
    </c:title>
    <c:autoTitleDeleted val="0"/>
    <c:plotArea>
      <c:layout/>
      <c:barChart>
        <c:barDir val="bar"/>
        <c:grouping val="clustered"/>
        <c:varyColors val="0"/>
        <c:ser>
          <c:idx val="0"/>
          <c:order val="0"/>
          <c:tx>
            <c:strRef>
              <c:f>Sheet1!$B$1</c:f>
              <c:strCache>
                <c:ptCount val="1"/>
                <c:pt idx="0">
                  <c:v>EM</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dPt>
            <c:idx val="0"/>
            <c:invertIfNegative val="0"/>
            <c:bubble3D val="0"/>
            <c:spPr>
              <a:solidFill>
                <a:srgbClr val="6B7280"/>
              </a:solidFill>
              <a:effectLst/>
            </c:spPr>
          </c:dPt>
          <c:dPt>
            <c:idx val="1"/>
            <c:invertIfNegative val="0"/>
            <c:bubble3D val="0"/>
            <c:spPr>
              <a:solidFill>
                <a:srgbClr val="6B7280"/>
              </a:solidFill>
              <a:effectLst/>
            </c:spPr>
          </c:dPt>
          <c:dPt>
            <c:idx val="2"/>
            <c:invertIfNegative val="0"/>
            <c:bubble3D val="0"/>
            <c:spPr>
              <a:solidFill>
                <a:srgbClr val="E8A33D"/>
              </a:solidFill>
              <a:effectLst/>
            </c:spPr>
          </c:dPt>
          <c:cat>
            <c:multiLvlStrRef>
              <c:f>Sheet1!$A$2:$A$4</c:f>
              <c:multiLvlStrCache>
                <c:ptCount val="3"/>
                <c:lvl>
                  <c:pt idx="0">
                    <c:v>C1 · B2, lịch 1 epoch</c:v>
                  </c:pt>
                  <c:pt idx="1">
                    <c:v>C2 · lịch 2 epoch, sau epoch 1</c:v>
                  </c:pt>
                  <c:pt idx="2">
                    <c:v>C3 · lịch 2 epoch, sau epoch 2</c:v>
                  </c:pt>
                </c:lvl>
              </c:multiLvlStrCache>
            </c:multiLvlStrRef>
          </c:cat>
          <c:val>
            <c:numRef>
              <c:f>Sheet1!$B$2:$B$4</c:f>
              <c:numCache>
                <c:formatCode>General</c:formatCode>
                <c:ptCount val="3"/>
                <c:pt idx="0">
                  <c:v>73.11</c:v>
                </c:pt>
                <c:pt idx="1">
                  <c:v>71.51</c:v>
                </c:pt>
                <c:pt idx="2">
                  <c:v>77.03</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kết quả QLoRA, và phương pháp đề xuất là QLoRA nhận biết OCR.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 Bốn: phương pháp đề xuất, QLoRA nhận biết OCR, tăng thêm 2,5 điểm EM so với cùng QLoRA trên cùng dữ liệu, ổn định qua 3 seed và trên full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 Khung bên phải tóm tắt đầu vào và đầu ra của từng khối: ảnh được resize tối đa 401.408 điểm ảnh rồi cắt thành patch 14 nhân 14; patch merger gộp 2 nhân 2 patch thành 1 token 2048 chiều, ra 256 đến 512 token ảnh; prompt P0 ghép token ảnh với câu hỏi theo chat template; decoder sinh đáp án tham lam, tối đa 32 token. Lưu ý: baseline KHÔNG dùng OCR — OCR là phần cải tiến B3 ở phần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 Dòng chân trang giải thích các từ viết tắt.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 Nguồn của từng model và paper ghi ở chân trang, kèm thư mục run trong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quy trình của SOTA. ViTextBLIP-2 giữ đóng băng một Vision Transformer, một hệ OCR là SwinTextSpotter dùng nguyên không fine-tune, và mô hình ngôn ngữ tiếng Việt ViT5; phần duy nhất được train là Q-Former khởi tạo từ BLIP-2, có nhiệm vụ trộn đặc trưng ảnh, câu hỏi và chữ OCR. Paper cũng chỉ ra sắp xếp chữ OCR từ trái-trên xuống phải-dưới giúp hầu hết các model. Nhóm khác ở ba điểm. Một: dùng một VLM đã được pretrain sẵn khả năng đọc chữ, Qwen2.5-VL-3B, lượng tử 4-bit. Hai: chỉ gắn LoRA, 0,2% tham số. Ba: B2 không dùng OCR ngoài — model tự đọc chữ từ ảnh; OCR được đưa vào ở B3, phần 06, dưới dạng một dòng văn bản trong prompt. Về đánh giá, paper báo EM và F1 nhưng không công bố cách chuẩn hoá; nhóm báo thêm ANLS và công khai hàm chuẩn hoá. Một lưu ý khi đọc paper: con số 25,48 / 53,95 nằm ở cột sắp xếp theo độ tin cậy OCR của Table 10, còn bảng ablation lại báo 24,83 / 52,51 cho model đầy đủ — paper không giải thích chênh lệch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Nhóm đã duyệt tay 200 lỗi của B2 có xem ảnh, 4 người cùng nhãn gợi ý của AI, trưởng nhóm phân xử các chỗ lệch. Kết quả: 54% câu bị EM chấm sai thực ra đúng ý — EM quá khắt khe; 12,5% do gold nhiễu; ở ViTextVQA lỗi thật chủ yếu là đọc sai chữ 28% và đọc nhầm vùng chữ 23%; hallucination thật chỉ 7%. Chính các lỗi đọc chữ này dẫn tới phương pháp đề xuất ở phần sau. Độ đồng thuận giữa hai người gán nhãn độc lập kappa 0,62; bỏ 42 dòng có AI hỗ trợ thì kết luận không đổi. Nguồn từng con số ghi ở chân trang: lệnh tái tạo phân loại tự động và file kết quả duyệt tay trong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phân tích lỗi, nhóm đề xuất B3: QLoRA nhận biết OCR. Ảnh được chạy OCR trước — PaddleOCR dò vùng chữ, VietOCR đọc chữ tiếng Việt — rồi đúng một dòng 'Văn bản đọc được trong ảnh' được chèn trước câu hỏi. Điểm mấu chốt: dòng OCR có mặt cả lúc train lẫn lúc test, nên model học khi nào tin OCR, khi nào tin ảnh. Backend OCR được chọn trên dev300 bằng luật chốt trước: PaddleOCR bản Latin làm rơi dấu tiếng Việt, ví dụ 'Kiểu Thẩm' thành 'Kiu Thm'; VietOCR giữ được đáp án trong văn bản OCR ở 37,7% câu so với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ablation bắt buộc có và không có OCR, làm thành bảng hai nhân hai trên cùng tập con và cùng 2.000 câu test. Chỉ chèn OCR lúc test cho model chưa train cùng OCR: không tăng, kể cả với zero-shot B1 và B2 ở tuần 8. Train cùng OCR mà lúc test bỏ OCR: cũng không tăng. Chỉ khi có cả hai thì EM tăng 4,35 điểm, p cỡ 10 mũ trừ 8. Tương tác là 4,9 điểm, khoảng tin cậy 3,2 đến 6,6. Vậy đóng góp không phải là thêm OCR vào prompt, mà là dạy model cách dùng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hỏi hội đồng hay đặt: một seed có phải may mắn không, và tập con có đại diện không. Ba seed huấn luyện 42, 43, 44, cùng tập con: cả ba seed B3 đều thắng B2-sub có ý nghĩa, trung bình cộng 3,57 điểm EM, độ lệch chuẩn 0,76. Trên toàn bộ 10.028 câu test, B3 thắng B2-sub 2,54 điểm, p cỡ 10 mũ trừ 14, và cao hơn ViTextBLIP-2 ở cả EM lẫn F1. Nhóm cũng đính chính: B3 dùng 23% dữ liệu vẫn thấp hơn B2 train toàn bộ 1,16 điểm; OCR bù được khoảng 69% phần mất do cắt dữ liệu. Về ANLS, mức tăng là 1,55 điểm, dưới ngưỡng 3 điểm của H6.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ViVQA, câu hỏi là train một hay hai epoch. Val của ViVQA được tách theo câu hỏi nên 43% câu val dùng chung ảnh với train; train lâu hơn dễ nhớ ảnh và làm val đẹp giả. Vì vậy nhóm chỉ chọn epoch trên 688 câu val có ảnh chưa từng xuất hiện trong train. Lịch hai epoch sau epoch 2 hơn B2 một epoch 3,9 điểm, có ý nghĩa, nên được chọn. Chỉ khi đó mới chấm test, một lần: EM tăng từ 73,8 lên 76,6, p cỡ 10 mũ trừ 9. Kiểm tra thêm sau khi có kết quả: trên phần test sạch, ảnh và cặp hỏi đáp chưa từng thấy, mức tăng vẫn là 3,2 điểm — nên đây không phải do model nhớ ảnh. Chi phí: gấp đôi thời gian train, 6,1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duyệt tay 200 lỗi của B2 cho thấy chỉ khoảng 7% là hallucination thật; nhưng H8 so sánh với zero-shot, nên cần đo thêm B1 ở tuần 11 — vì vậy vẫn để Đang chờ. H6 chỉ ủng hộ một phần: OCR cộng hưởng mạnh với QLoRA, nhưng ANLS chỉ tăng 1,55 điểm, dưới ngưỡng 3 điểm đã đặt — nhóm báo đúng như vậy. H3 đến H5 thuộc kế hoạch tuần 10 đến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10 đến tuần 13: train QLoRA nhận biết OCR trên toàn bộ dữ liệu ViTextVQA để xem có vượt B2 không, ablation rank và module gắn LoRA, adapter dùng chung cho hai dataset, đo hallucination có hệ thống kể cả B3, rồi dựng prototype web: tải ảnh, chạy OCR, hỏi bằng tiếng Việt —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Đại học FPT</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Baseline, QLoRA và đề xuất QLoRA nhận biết OCR</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GVHD: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Nhóm: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(Trưởng nhóm)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Nhóm GFA26AI35  ·  Đại học FPT  ·  Tháng 10/2026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TÓM TẮT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Bốn kết quả chính của mốc này</a:t>
            </a:r>
            <a:endParaRPr lang="en-US" sz="3200" dirty="0"/>
          </a:p>
        </p:txBody>
      </p:sp>
      <p:sp>
        <p:nvSpPr>
          <p:cNvPr id="5" name="card_1"/>
          <p:cNvSpPr/>
          <p:nvPr/>
        </p:nvSpPr>
        <p:spPr>
          <a:xfrm>
            <a:off x="548640" y="1600200"/>
            <a:ext cx="2533574" cy="2651760"/>
          </a:xfrm>
          <a:prstGeom prst="roundRect">
            <a:avLst>
              <a:gd name="adj" fmla="val 2887"/>
            </a:avLst>
          </a:prstGeom>
          <a:solidFill>
            <a:schemeClr val="bg2"/>
          </a:solidFill>
          <a:ln w="12700">
            <a:solidFill>
              <a:schemeClr val="bg2"/>
            </a:solidFill>
            <a:prstDash val="solid"/>
          </a:ln>
        </p:spPr>
      </p:sp>
      <p:sp>
        <p:nvSpPr>
          <p:cNvPr id="6" name="text_2"/>
          <p:cNvSpPr txBox="1"/>
          <p:nvPr/>
        </p:nvSpPr>
        <p:spPr>
          <a:xfrm>
            <a:off x="822960" y="2011680"/>
            <a:ext cx="1984934" cy="82296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79,6</a:t>
            </a:r>
            <a:endParaRPr lang="en-US" sz="3600" dirty="0"/>
          </a:p>
        </p:txBody>
      </p:sp>
      <p:sp>
        <p:nvSpPr>
          <p:cNvPr id="7" name="text_3"/>
          <p:cNvSpPr txBox="1"/>
          <p:nvPr/>
        </p:nvSpPr>
        <p:spPr>
          <a:xfrm>
            <a:off x="822960"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Kiểm chứng pipeline — TextVQA val, Qwen2.5-VL-3B; báo cáo chính thức ghi 79,3</a:t>
            </a:r>
            <a:endParaRPr lang="en-US" sz="1400" dirty="0"/>
          </a:p>
        </p:txBody>
      </p:sp>
      <p:sp>
        <p:nvSpPr>
          <p:cNvPr id="8" name="card_4"/>
          <p:cNvSpPr/>
          <p:nvPr/>
        </p:nvSpPr>
        <p:spPr>
          <a:xfrm>
            <a:off x="3402254" y="1600200"/>
            <a:ext cx="2533574" cy="2651760"/>
          </a:xfrm>
          <a:prstGeom prst="roundRect">
            <a:avLst>
              <a:gd name="adj" fmla="val 2887"/>
            </a:avLst>
          </a:prstGeom>
          <a:solidFill>
            <a:schemeClr val="bg2"/>
          </a:solidFill>
          <a:ln w="12700">
            <a:solidFill>
              <a:schemeClr val="bg2"/>
            </a:solidFill>
            <a:prstDash val="solid"/>
          </a:ln>
        </p:spPr>
      </p:sp>
      <p:sp>
        <p:nvSpPr>
          <p:cNvPr id="9" name="text_5"/>
          <p:cNvSpPr txBox="1"/>
          <p:nvPr/>
        </p:nvSpPr>
        <p:spPr>
          <a:xfrm>
            <a:off x="3676574"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+21,1</a:t>
            </a:r>
            <a:endParaRPr lang="en-US" sz="3600" dirty="0"/>
          </a:p>
        </p:txBody>
      </p:sp>
      <p:sp>
        <p:nvSpPr>
          <p:cNvPr id="10" name="text_6"/>
          <p:cNvSpPr txBox="1"/>
          <p:nvPr/>
        </p:nvSpPr>
        <p:spPr>
          <a:xfrm>
            <a:off x="3676574"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nhờ QLoRA so với zero-shot, full test ViTextVQA (+51,7 ở ViVQA); p ≈ 0</a:t>
            </a:r>
            <a:endParaRPr lang="en-US" sz="1400" dirty="0"/>
          </a:p>
        </p:txBody>
      </p:sp>
      <p:sp>
        <p:nvSpPr>
          <p:cNvPr id="11" name="card_7"/>
          <p:cNvSpPr/>
          <p:nvPr/>
        </p:nvSpPr>
        <p:spPr>
          <a:xfrm>
            <a:off x="6255868" y="1600200"/>
            <a:ext cx="2533574" cy="2651760"/>
          </a:xfrm>
          <a:prstGeom prst="roundRect">
            <a:avLst>
              <a:gd name="adj" fmla="val 2887"/>
            </a:avLst>
          </a:prstGeom>
          <a:solidFill>
            <a:schemeClr val="bg2"/>
          </a:solidFill>
          <a:ln w="12700">
            <a:solidFill>
              <a:schemeClr val="bg2"/>
            </a:solidFill>
            <a:prstDash val="solid"/>
          </a:ln>
        </p:spPr>
      </p:sp>
      <p:sp>
        <p:nvSpPr>
          <p:cNvPr id="12" name="text_8"/>
          <p:cNvSpPr txBox="1"/>
          <p:nvPr/>
        </p:nvSpPr>
        <p:spPr>
          <a:xfrm>
            <a:off x="6530188"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50,3</a:t>
            </a:r>
            <a:endParaRPr lang="en-US" sz="3600" dirty="0"/>
          </a:p>
        </p:txBody>
      </p:sp>
      <p:sp>
        <p:nvSpPr>
          <p:cNvPr id="13" name="text_9"/>
          <p:cNvSpPr txBox="1"/>
          <p:nvPr/>
        </p:nvSpPr>
        <p:spPr>
          <a:xfrm>
            <a:off x="6530188"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trên full test ViTextVQA so với 25,5 của SOTA công bố ViTextBLIP-2</a:t>
            </a:r>
            <a:endParaRPr lang="en-US" sz="1400" dirty="0"/>
          </a:p>
        </p:txBody>
      </p:sp>
      <p:sp>
        <p:nvSpPr>
          <p:cNvPr id="14" name="card_10"/>
          <p:cNvSpPr/>
          <p:nvPr/>
        </p:nvSpPr>
        <p:spPr>
          <a:xfrm>
            <a:off x="9109481" y="1600200"/>
            <a:ext cx="2533574" cy="2651760"/>
          </a:xfrm>
          <a:prstGeom prst="roundRect">
            <a:avLst>
              <a:gd name="adj" fmla="val 2887"/>
            </a:avLst>
          </a:prstGeom>
          <a:solidFill>
            <a:schemeClr val="accent5"/>
          </a:solidFill>
          <a:ln w="12700">
            <a:solidFill>
              <a:schemeClr val="accent5"/>
            </a:solidFill>
            <a:prstDash val="solid"/>
          </a:ln>
        </p:spPr>
      </p:sp>
      <p:sp>
        <p:nvSpPr>
          <p:cNvPr id="15" name="text_11"/>
          <p:cNvSpPr txBox="1"/>
          <p:nvPr/>
        </p:nvSpPr>
        <p:spPr>
          <a:xfrm>
            <a:off x="9383801" y="2011680"/>
            <a:ext cx="1984934"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+2,5</a:t>
            </a:r>
            <a:endParaRPr lang="en-US" sz="3600" dirty="0"/>
          </a:p>
        </p:txBody>
      </p:sp>
      <p:sp>
        <p:nvSpPr>
          <p:cNvPr id="16" name="text_12"/>
          <p:cNvSpPr txBox="1"/>
          <p:nvPr/>
        </p:nvSpPr>
        <p:spPr>
          <a:xfrm>
            <a:off x="9383801"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nhờ QLoRA nhận biết OCR so với cùng QLoRA không OCR (full test, p = 10⁻¹⁴; ổn định qua 3 seed)</a:t>
            </a:r>
            <a:endParaRPr lang="en-US" sz="1400" dirty="0"/>
          </a:p>
        </p:txBody>
      </p:sp>
      <p:sp>
        <p:nvSpPr>
          <p:cNvPr id="17" name="card_13"/>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8" name="text_14"/>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Hiệu quả theo thiết kế: QLoRA chỉ train 7,37 triệu tham số (0,196%), adapter 29,5 MB, trên một GPU NVIDIA L4 — không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01 · XỬ LÝ GÓP Ý</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Góp ý của GVHD (07/10) và việc nhóm đã làm</a:t>
            </a:r>
            <a:endParaRPr lang="en-US" sz="3200" dirty="0"/>
          </a:p>
        </p:txBody>
      </p:sp>
      <p:graphicFrame>
        <p:nvGraphicFramePr>
          <p:cNvPr id="4" name="table_15"/>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Góp ý</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Việc đã làm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Chưa có sơ đồ kiến trúc baseline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Sơ đồ từng thành phần của Qwen2.5-VL-3B và vị trí gắn LoRA (Hình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Giải thích dataset và nhiễu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Quy trình tạo ViVQA + điểm nhiễu N1–N4 (Hình 6A); kiểm tra rò rỉ train–test; duyệt tay 400 mẫu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lại baseline với phương pháp đánh giá rõ ràng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Giao thức cố định (Hình 7B); kiểm chứng pipeline bằng số đã công bố (R0); B1 zero-shot trên 2 dataset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Nắm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So với ViTextBLIP-2 trên full test; kiểm dòng LMM ở Table 7 bằng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Chạy thí nghiệm rồi mới bàn cải tiến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(B2) + ba đối chứng; sau đó phương pháp đề xuất QLoRA nhận biết OCR (B3) kèm ablation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02 · HIỂU DỮ LIỆU</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được dịch máy — nhiễu nằm sẵn trong dữ liệu</a:t>
            </a:r>
            <a:endParaRPr lang="en-US" sz="3200" dirty="0"/>
          </a:p>
        </p:txBody>
      </p:sp>
      <p:pic>
        <p:nvPicPr>
          <p:cNvPr id="5" name="figure_16"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7"/>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8"/>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ảnh test cũng có trong train; 99,4% đáp án test thuộc 333 đáp án của train (từ vựng đóng)</a:t>
            </a:r>
            <a:endParaRPr lang="en-US" sz="1400" dirty="0"/>
          </a:p>
        </p:txBody>
      </p:sp>
      <p:sp>
        <p:nvSpPr>
          <p:cNvPr id="8" name="card_19"/>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20"/>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ảnh trùng giữa train/dev và test; 46% đáp án test có trong train → phép thử tổng quát hoá sạch hơn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KIẾN TRÚC BASELINE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21" descr="a7">    </p:cNvPr>
          <p:cNvPicPr>
            <a:picLocks noChangeAspect="1"/>
          </p:cNvPicPr>
          <p:nvPr/>
        </p:nvPicPr>
        <p:blipFill>
          <a:blip r:embed="rId1"/>
          <a:stretch>
            <a:fillRect/>
          </a:stretch>
        </p:blipFill>
        <p:spPr>
          <a:xfrm>
            <a:off x="548640" y="1325880"/>
            <a:ext cx="7589520" cy="4328624"/>
          </a:xfrm>
          <a:prstGeom prst="rect">
            <a:avLst/>
          </a:prstGeom>
        </p:spPr>
      </p:pic>
      <p:sp>
        <p:nvSpPr>
          <p:cNvPr id="6" name="card_22"/>
          <p:cNvSpPr/>
          <p:nvPr/>
        </p:nvSpPr>
        <p:spPr>
          <a:xfrm>
            <a:off x="8503920" y="1325880"/>
            <a:ext cx="3139135" cy="1691640"/>
          </a:xfrm>
          <a:prstGeom prst="roundRect">
            <a:avLst>
              <a:gd name="adj" fmla="val 4324"/>
            </a:avLst>
          </a:prstGeom>
          <a:solidFill>
            <a:schemeClr val="accent5"/>
          </a:solidFill>
          <a:ln w="12700">
            <a:solidFill>
              <a:schemeClr val="accent5"/>
            </a:solidFill>
            <a:prstDash val="solid"/>
          </a:ln>
        </p:spPr>
      </p:sp>
      <p:sp>
        <p:nvSpPr>
          <p:cNvPr id="7" name="text_23"/>
          <p:cNvSpPr txBox="1"/>
          <p:nvPr/>
        </p:nvSpPr>
        <p:spPr>
          <a:xfrm>
            <a:off x="8732520" y="1417320"/>
            <a:ext cx="2681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Được train (QLoRA)</a:t>
            </a:r>
            <a:endParaRPr lang="en-US" sz="1600" dirty="0"/>
          </a:p>
        </p:txBody>
      </p:sp>
      <p:sp>
        <p:nvSpPr>
          <p:cNvPr id="8" name="list_24"/>
          <p:cNvSpPr txBox="1"/>
          <p:nvPr/>
        </p:nvSpPr>
        <p:spPr>
          <a:xfrm>
            <a:off x="8732520" y="1783080"/>
            <a:ext cx="2681935" cy="1188720"/>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chemeClr val="tx1"/>
                </a:solidFill>
                <a:latin typeface="Calibri" pitchFamily="34" charset="0"/>
                <a:ea typeface="Calibri" pitchFamily="34" charset="-122"/>
                <a:cs typeface="Calibri" pitchFamily="34" charset="-120"/>
              </a:rPr>
              <a:t>LoRA r = 16, α = 32 trên q, k, v, o</a:t>
            </a:r>
            <a:endParaRPr lang="en-US" sz="1200" dirty="0"/>
          </a:p>
          <a:p>
            <a:pPr marL="177800" indent="-177800">
              <a:spcAft>
                <a:spcPts val="200"/>
              </a:spcAft>
              <a:buSzPct val="100000"/>
              <a:buChar char="•"/>
            </a:pPr>
            <a:r>
              <a:rPr lang="en-US" sz="1200" dirty="0">
                <a:solidFill>
                  <a:schemeClr val="tx1"/>
                </a:solidFill>
                <a:latin typeface="Calibri" pitchFamily="34" charset="0"/>
                <a:ea typeface="Calibri" pitchFamily="34" charset="-122"/>
                <a:cs typeface="Calibri" pitchFamily="34" charset="-120"/>
              </a:rPr>
              <a:t>7.372.800 tham số = 0,196% · 29,5 MB</a:t>
            </a:r>
            <a:endParaRPr lang="en-US" sz="1200" dirty="0"/>
          </a:p>
          <a:p>
            <a:pPr marL="177800" indent="-177800">
              <a:spcAft>
                <a:spcPts val="200"/>
              </a:spcAft>
              <a:buSzPct val="100000"/>
              <a:buChar char="•"/>
            </a:pPr>
            <a:r>
              <a:rPr lang="en-US" sz="1200" dirty="0">
                <a:solidFill>
                  <a:schemeClr val="tx1"/>
                </a:solidFill>
                <a:latin typeface="Calibri" pitchFamily="34" charset="0"/>
                <a:ea typeface="Calibri" pitchFamily="34" charset="-122"/>
                <a:cs typeface="Calibri" pitchFamily="34" charset="-120"/>
              </a:rPr>
              <a:t>Còn lại đóng băng, LLM 4-bit NF4</a:t>
            </a:r>
            <a:endParaRPr lang="en-US" sz="1200" dirty="0"/>
          </a:p>
        </p:txBody>
      </p:sp>
      <p:sp>
        <p:nvSpPr>
          <p:cNvPr id="9" name="card_25"/>
          <p:cNvSpPr/>
          <p:nvPr/>
        </p:nvSpPr>
        <p:spPr>
          <a:xfrm>
            <a:off x="8503920" y="3154680"/>
            <a:ext cx="3139135" cy="3108960"/>
          </a:xfrm>
          <a:prstGeom prst="roundRect">
            <a:avLst>
              <a:gd name="adj" fmla="val 2353"/>
            </a:avLst>
          </a:prstGeom>
          <a:solidFill>
            <a:schemeClr val="bg2"/>
          </a:solidFill>
          <a:ln w="12700">
            <a:solidFill>
              <a:schemeClr val="bg2"/>
            </a:solidFill>
            <a:prstDash val="solid"/>
          </a:ln>
        </p:spPr>
      </p:sp>
      <p:sp>
        <p:nvSpPr>
          <p:cNvPr id="10" name="text_26"/>
          <p:cNvSpPr txBox="1"/>
          <p:nvPr/>
        </p:nvSpPr>
        <p:spPr>
          <a:xfrm>
            <a:off x="8732520" y="3246120"/>
            <a:ext cx="2681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Luồng dữ liệu (vào → ra)</a:t>
            </a:r>
            <a:endParaRPr lang="en-US" sz="1600" dirty="0"/>
          </a:p>
        </p:txBody>
      </p:sp>
      <p:sp>
        <p:nvSpPr>
          <p:cNvPr id="11" name="text_27"/>
          <p:cNvSpPr txBox="1"/>
          <p:nvPr/>
        </p:nvSpPr>
        <p:spPr>
          <a:xfrm>
            <a:off x="8732520" y="3639312"/>
            <a:ext cx="2681935" cy="2103120"/>
          </a:xfrm>
          <a:prstGeom prst="rect">
            <a:avLst/>
          </a:prstGeom>
          <a:noFill/>
          <a:ln/>
        </p:spPr>
        <p:txBody>
          <a:bodyPr wrap="square" lIns="0" tIns="0" rIns="0" bIns="0" rtlCol="0" anchor="t"/>
          <a:lstStyle/>
          <a:p>
            <a:pPr indent="0" marL="0">
              <a:buNone/>
            </a:pPr>
            <a:r>
              <a:rPr lang="en-US" sz="1150" b="1" dirty="0">
                <a:solidFill>
                  <a:srgbClr val="13294B"/>
                </a:solidFill>
                <a:latin typeface="Calibri" pitchFamily="34" charset="0"/>
                <a:ea typeface="Calibri" pitchFamily="34" charset="-122"/>
                <a:cs typeface="Calibri" pitchFamily="34" charset="-120"/>
              </a:rPr>
              <a:t>1 · Ảnh → ViT: </a:t>
            </a:r>
            <a:pPr indent="0" marL="0">
              <a:buNone/>
            </a:pPr>
            <a:r>
              <a:rPr lang="en-US" sz="1150" dirty="0">
                <a:solidFill>
                  <a:schemeClr val="tx1"/>
                </a:solidFill>
                <a:latin typeface="Calibri" pitchFamily="34" charset="0"/>
                <a:ea typeface="Calibri" pitchFamily="34" charset="-122"/>
                <a:cs typeface="Calibri" pitchFamily="34" charset="-120"/>
              </a:rPr>
              <a:t>≤ 401.408 px → patch 14×14 → 32 khối</a:t>
            </a:r>
            <a:endParaRPr lang="en-US" sz="1150" dirty="0"/>
          </a:p>
          <a:p>
            <a:pPr indent="0" marL="0">
              <a:buNone/>
            </a:pPr>
            <a:r>
              <a:rPr lang="en-US" sz="3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3294B"/>
                </a:solidFill>
                <a:latin typeface="Calibri" pitchFamily="34" charset="0"/>
                <a:ea typeface="Calibri" pitchFamily="34" charset="-122"/>
                <a:cs typeface="Calibri" pitchFamily="34" charset="-120"/>
              </a:rPr>
              <a:t>2 · Patch merger: </a:t>
            </a:r>
            <a:pPr indent="0" marL="0">
              <a:buNone/>
            </a:pPr>
            <a:r>
              <a:rPr lang="en-US" sz="1150" dirty="0">
                <a:solidFill>
                  <a:schemeClr val="tx1"/>
                </a:solidFill>
                <a:latin typeface="Calibri" pitchFamily="34" charset="0"/>
                <a:ea typeface="Calibri" pitchFamily="34" charset="-122"/>
                <a:cs typeface="Calibri" pitchFamily="34" charset="-120"/>
              </a:rPr>
              <a:t>2×2 patch → 1 token (2048 chiều) → 256–512 token ảnh</a:t>
            </a:r>
            <a:endParaRPr lang="en-US" sz="1150" dirty="0"/>
          </a:p>
          <a:p>
            <a:pPr indent="0" marL="0">
              <a:buNone/>
            </a:pPr>
            <a:r>
              <a:rPr lang="en-US" sz="3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3294B"/>
                </a:solidFill>
                <a:latin typeface="Calibri" pitchFamily="34" charset="0"/>
                <a:ea typeface="Calibri" pitchFamily="34" charset="-122"/>
                <a:cs typeface="Calibri" pitchFamily="34" charset="-120"/>
              </a:rPr>
              <a:t>3 · Prompt P0: </a:t>
            </a:r>
            <a:pPr indent="0" marL="0">
              <a:buNone/>
            </a:pPr>
            <a:r>
              <a:rPr lang="en-US" sz="1150" dirty="0">
                <a:solidFill>
                  <a:schemeClr val="tx1"/>
                </a:solidFill>
                <a:latin typeface="Calibri" pitchFamily="34" charset="0"/>
                <a:ea typeface="Calibri" pitchFamily="34" charset="-122"/>
                <a:cs typeface="Calibri" pitchFamily="34" charset="-120"/>
              </a:rPr>
              <a:t>chat template + token ảnh + câu hỏi tiếng Việt</a:t>
            </a:r>
            <a:endParaRPr lang="en-US" sz="1150" dirty="0"/>
          </a:p>
          <a:p>
            <a:pPr indent="0" marL="0">
              <a:buNone/>
            </a:pPr>
            <a:r>
              <a:rPr lang="en-US" sz="300" dirty="0">
                <a:solidFill>
                  <a:schemeClr val="tx1"/>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3294B"/>
                </a:solidFill>
                <a:latin typeface="Calibri" pitchFamily="34" charset="0"/>
                <a:ea typeface="Calibri" pitchFamily="34" charset="-122"/>
                <a:cs typeface="Calibri" pitchFamily="34" charset="-120"/>
              </a:rPr>
              <a:t>4 · Decoder (+LoRA): </a:t>
            </a:r>
            <a:pPr indent="0" marL="0">
              <a:buNone/>
            </a:pPr>
            <a:r>
              <a:rPr lang="en-US" sz="1150" dirty="0">
                <a:solidFill>
                  <a:schemeClr val="tx1"/>
                </a:solidFill>
                <a:latin typeface="Calibri" pitchFamily="34" charset="0"/>
                <a:ea typeface="Calibri" pitchFamily="34" charset="-122"/>
                <a:cs typeface="Calibri" pitchFamily="34" charset="-120"/>
              </a:rPr>
              <a:t>sinh tham lam, ≤ 32 token → chuẩn hoá → EM / ANLS</a:t>
            </a:r>
            <a:endParaRPr lang="en-US" sz="1150" dirty="0"/>
          </a:p>
        </p:txBody>
      </p:sp>
      <p:sp>
        <p:nvSpPr>
          <p:cNvPr id="12" name="text_28"/>
          <p:cNvSpPr txBox="1"/>
          <p:nvPr/>
        </p:nvSpPr>
        <p:spPr>
          <a:xfrm>
            <a:off x="8732520" y="5760720"/>
            <a:ext cx="2681935" cy="411480"/>
          </a:xfrm>
          <a:prstGeom prst="rect">
            <a:avLst/>
          </a:prstGeom>
          <a:noFill/>
          <a:ln/>
        </p:spPr>
        <p:txBody>
          <a:bodyPr wrap="square" lIns="0" tIns="0" rIns="0" bIns="0" rtlCol="0" anchor="t"/>
          <a:lstStyle/>
          <a:p>
            <a:pPr indent="0" marL="0">
              <a:buNone/>
            </a:pPr>
            <a:r>
              <a:rPr lang="en-US" sz="1100" i="1" dirty="0">
                <a:solidFill>
                  <a:srgbClr val="1C7293"/>
                </a:solidFill>
                <a:latin typeface="Calibri" pitchFamily="34" charset="0"/>
                <a:ea typeface="Calibri" pitchFamily="34" charset="-122"/>
                <a:cs typeface="Calibri" pitchFamily="34" charset="-120"/>
              </a:rPr>
              <a:t>Baseline không dùng OCR — OCR là cải tiến B3 (Phần 06).</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03 · GIAO THỨC ĐÁNH GIÁ</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Mọi run theo một giao thức cố định</a:t>
            </a:r>
            <a:endParaRPr lang="en-US" sz="3200" dirty="0"/>
          </a:p>
        </p:txBody>
      </p:sp>
      <p:pic>
        <p:nvPicPr>
          <p:cNvPr id="5" name="figure_29"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30"/>
          <p:cNvSpPr/>
          <p:nvPr/>
        </p:nvSpPr>
        <p:spPr>
          <a:xfrm>
            <a:off x="548640" y="3762135"/>
            <a:ext cx="3454298" cy="1998585"/>
          </a:xfrm>
          <a:prstGeom prst="roundRect">
            <a:avLst>
              <a:gd name="adj" fmla="val 3660"/>
            </a:avLst>
          </a:prstGeom>
          <a:solidFill>
            <a:schemeClr val="bg2"/>
          </a:solidFill>
          <a:ln w="12700">
            <a:solidFill>
              <a:schemeClr val="bg2"/>
            </a:solidFill>
            <a:prstDash val="solid"/>
          </a:ln>
        </p:spPr>
      </p:sp>
      <p:sp>
        <p:nvSpPr>
          <p:cNvPr id="7" name="text_31"/>
          <p:cNvSpPr txBox="1"/>
          <p:nvPr/>
        </p:nvSpPr>
        <p:spPr>
          <a:xfrm>
            <a:off x="777240" y="389929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Cấu hình cố định</a:t>
            </a:r>
            <a:endParaRPr lang="en-US" sz="1600" dirty="0"/>
          </a:p>
        </p:txBody>
      </p:sp>
      <p:sp>
        <p:nvSpPr>
          <p:cNvPr id="8" name="list_32"/>
          <p:cNvSpPr txBox="1"/>
          <p:nvPr/>
        </p:nvSpPr>
        <p:spPr>
          <a:xfrm>
            <a:off x="777240" y="4310775"/>
            <a:ext cx="2997098" cy="13585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Tính bf16,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Tối đa 512 token ảnh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32 token sinh</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33"/>
          <p:cNvSpPr/>
          <p:nvPr/>
        </p:nvSpPr>
        <p:spPr>
          <a:xfrm>
            <a:off x="4368698" y="3762135"/>
            <a:ext cx="3454298" cy="1998585"/>
          </a:xfrm>
          <a:prstGeom prst="roundRect">
            <a:avLst>
              <a:gd name="adj" fmla="val 3660"/>
            </a:avLst>
          </a:prstGeom>
          <a:solidFill>
            <a:schemeClr val="bg2"/>
          </a:solidFill>
          <a:ln w="12700">
            <a:solidFill>
              <a:schemeClr val="bg2"/>
            </a:solidFill>
            <a:prstDash val="solid"/>
          </a:ln>
        </p:spPr>
      </p:sp>
      <p:sp>
        <p:nvSpPr>
          <p:cNvPr id="10" name="text_34"/>
          <p:cNvSpPr txBox="1"/>
          <p:nvPr/>
        </p:nvSpPr>
        <p:spPr>
          <a:xfrm>
            <a:off x="4597298" y="389929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a:t>
            </a:r>
            <a:endParaRPr lang="en-US" sz="1600" dirty="0"/>
          </a:p>
        </p:txBody>
      </p:sp>
      <p:sp>
        <p:nvSpPr>
          <p:cNvPr id="11" name="list_35"/>
          <p:cNvSpPr txBox="1"/>
          <p:nvPr/>
        </p:nvSpPr>
        <p:spPr>
          <a:xfrm>
            <a:off x="4597298" y="4310775"/>
            <a:ext cx="2997098" cy="13585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Chính: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Phụ: token-F1 (để so với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Chuẩn hoá tiếng Việt đối xứng, giữ dấu thanh</a:t>
            </a:r>
            <a:endParaRPr lang="en-US" sz="1400" dirty="0"/>
          </a:p>
        </p:txBody>
      </p:sp>
      <p:sp>
        <p:nvSpPr>
          <p:cNvPr id="12" name="card_36"/>
          <p:cNvSpPr/>
          <p:nvPr/>
        </p:nvSpPr>
        <p:spPr>
          <a:xfrm>
            <a:off x="8188757" y="3762135"/>
            <a:ext cx="3454298" cy="1998585"/>
          </a:xfrm>
          <a:prstGeom prst="roundRect">
            <a:avLst>
              <a:gd name="adj" fmla="val 3660"/>
            </a:avLst>
          </a:prstGeom>
          <a:solidFill>
            <a:schemeClr val="bg2"/>
          </a:solidFill>
          <a:ln w="12700">
            <a:solidFill>
              <a:schemeClr val="bg2"/>
            </a:solidFill>
            <a:prstDash val="solid"/>
          </a:ln>
        </p:spPr>
      </p:sp>
      <p:sp>
        <p:nvSpPr>
          <p:cNvPr id="13" name="text_37"/>
          <p:cNvSpPr txBox="1"/>
          <p:nvPr/>
        </p:nvSpPr>
        <p:spPr>
          <a:xfrm>
            <a:off x="8417357" y="389929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Thống kê</a:t>
            </a:r>
            <a:endParaRPr lang="en-US" sz="1600" dirty="0"/>
          </a:p>
        </p:txBody>
      </p:sp>
      <p:sp>
        <p:nvSpPr>
          <p:cNvPr id="14" name="list_38"/>
          <p:cNvSpPr txBox="1"/>
          <p:nvPr/>
        </p:nvSpPr>
        <p:spPr>
          <a:xfrm>
            <a:off x="8417357" y="4310775"/>
            <a:ext cx="2997098" cy="13585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Kiểm định McNemar chính xác, ghép cặp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CI95 bootstrap ghép cặp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Luật kết luận chốt trước mỗi run</a:t>
            </a:r>
            <a:endParaRPr lang="en-US" sz="1400" dirty="0"/>
          </a:p>
        </p:txBody>
      </p:sp>
      <p:sp>
        <p:nvSpPr>
          <p:cNvPr id="15" name="text_39"/>
          <p:cNvSpPr txBox="1"/>
          <p:nvPr/>
        </p:nvSpPr>
        <p:spPr>
          <a:xfrm>
            <a:off x="548640" y="5833872"/>
            <a:ext cx="11094415" cy="548640"/>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EM = Exact Match (khớp tuyệt đối) · VQA-Acc = VQA Accuracy (min(số gold khớp / 3, 1); = EM khi chỉ có 1 gold) · ANLS = Average Normalized Levenshtein Similarity (ngưỡng 0,5) · F1 = F1 theo token · bf16 = bfloat16 · NF4 = 4-bit NormalFloat (QLoRA) · CI95 = khoảng tin cậy 95% · McNemar = kiểm định ghép cặp trên các câu chỉ một run đúng</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KIỂM CHỨNG PIPELINE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Pipeline của nhóm tái lập được số đã công bố</a:t>
            </a:r>
            <a:endParaRPr lang="en-US" sz="3200" dirty="0"/>
          </a:p>
        </p:txBody>
      </p:sp>
      <p:graphicFrame>
        <p:nvGraphicFramePr>
          <p:cNvPr id="5" name="chart_40"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41"/>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42"/>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8" name="text_43"/>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Tái lập được nếu |nhóm − 79,3| ≤ 2,0 trên toàn bộ val → 79,6 (+0,3): đạt.</a:t>
            </a:r>
            <a:endParaRPr lang="en-US" sz="1500" dirty="0"/>
          </a:p>
        </p:txBody>
      </p:sp>
      <p:sp>
        <p:nvSpPr>
          <p:cNvPr id="9" name="card_44"/>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5"/>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Cái giá của cấu hình tiết kiệm</a:t>
            </a:r>
            <a:endParaRPr lang="en-US" sz="1600" dirty="0"/>
          </a:p>
        </p:txBody>
      </p:sp>
      <p:sp>
        <p:nvSpPr>
          <p:cNvPr id="11" name="list_46"/>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điểm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(ít hơn 4,3 lần)</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(giữ ≥ 97%): chưa đạt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BASELINE ZERO-SHOT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sai chủ yếu ở định dạng câu trả lời</a:t>
            </a:r>
            <a:endParaRPr lang="en-US" sz="3200" dirty="0"/>
          </a:p>
        </p:txBody>
      </p:sp>
      <p:graphicFrame>
        <p:nvGraphicFramePr>
          <p:cNvPr id="9" name="table_47"/>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Tập test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tập con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đầy đủ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8"/>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9"/>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theo loại câu hỏi</a:t>
            </a:r>
            <a:endParaRPr lang="en-US" sz="1600" dirty="0"/>
          </a:p>
        </p:txBody>
      </p:sp>
      <p:graphicFrame>
        <p:nvGraphicFramePr>
          <p:cNvPr id="8" name="chart_50"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51"/>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52"/>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Lỗi chính: trả lời dài dòng</a:t>
            </a:r>
            <a:endParaRPr lang="en-US" sz="1600" dirty="0"/>
          </a:p>
        </p:txBody>
      </p:sp>
      <p:sp>
        <p:nvSpPr>
          <p:cNvPr id="11" name="list_53"/>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Số từ mỗi câu trả lời: 2,9 so với gold 1,6 (ViVQA); 5,5 so với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câu trả lời ViTextVQA chứa đáp án gold nhưng vẫn trượt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so với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Ngoài ra: chen tiếng Anh (“truck”), hallucination, gold nhiễu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04 · ABLATION BACKBONE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Model lớn hơn không tốt hơn ở bài này</a:t>
            </a:r>
            <a:endParaRPr lang="en-US" sz="3200" dirty="0"/>
          </a:p>
        </p:txBody>
      </p:sp>
      <p:graphicFrame>
        <p:nvGraphicFramePr>
          <p:cNvPr id="10" name="table_54"/>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số từ</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[1]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[2] · 4-bit · 512 token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[2] · bf16 · đủ độ phân giải</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Paper ViTextVQA [3] Table 7 · “QwenVL-7b” (100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5"/>
          <p:cNvSpPr/>
          <p:nvPr/>
        </p:nvSpPr>
        <p:spPr>
          <a:xfrm>
            <a:off x="548640" y="4023360"/>
            <a:ext cx="3454298" cy="1691640"/>
          </a:xfrm>
          <a:prstGeom prst="roundRect">
            <a:avLst>
              <a:gd name="adj" fmla="val 4324"/>
            </a:avLst>
          </a:prstGeom>
          <a:solidFill>
            <a:schemeClr val="bg2"/>
          </a:solidFill>
          <a:ln w="12700">
            <a:solidFill>
              <a:schemeClr val="bg2"/>
            </a:solidFill>
            <a:prstDash val="solid"/>
          </a:ln>
        </p:spPr>
      </p:sp>
      <p:sp>
        <p:nvSpPr>
          <p:cNvPr id="7" name="text_56"/>
          <p:cNvSpPr txBox="1"/>
          <p:nvPr/>
        </p:nvSpPr>
        <p:spPr>
          <a:xfrm>
            <a:off x="777240" y="41605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trong cùng điều kiện</a:t>
            </a:r>
            <a:endParaRPr lang="en-US" sz="1600" dirty="0"/>
          </a:p>
        </p:txBody>
      </p:sp>
      <p:sp>
        <p:nvSpPr>
          <p:cNvPr id="8" name="text_57"/>
          <p:cNvSpPr txBox="1"/>
          <p:nvPr/>
        </p:nvSpPr>
        <p:spPr>
          <a:xfrm>
            <a:off x="777240" y="461772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tăng độ phân giải không giúp (R1 = R1b, p = 0,45)</a:t>
            </a:r>
            <a:endParaRPr lang="en-US" sz="1400" dirty="0"/>
          </a:p>
        </p:txBody>
      </p:sp>
      <p:sp>
        <p:nvSpPr>
          <p:cNvPr id="9" name="card_58"/>
          <p:cNvSpPr/>
          <p:nvPr/>
        </p:nvSpPr>
        <p:spPr>
          <a:xfrm>
            <a:off x="4368698" y="4023360"/>
            <a:ext cx="3454298" cy="1691640"/>
          </a:xfrm>
          <a:prstGeom prst="roundRect">
            <a:avLst>
              <a:gd name="adj" fmla="val 4324"/>
            </a:avLst>
          </a:prstGeom>
          <a:solidFill>
            <a:schemeClr val="bg2"/>
          </a:solidFill>
          <a:ln w="12700">
            <a:solidFill>
              <a:schemeClr val="bg2"/>
            </a:solidFill>
            <a:prstDash val="solid"/>
          </a:ln>
        </p:spPr>
      </p:sp>
      <p:sp>
        <p:nvSpPr>
          <p:cNvPr id="10" name="text_59"/>
          <p:cNvSpPr txBox="1"/>
          <p:nvPr/>
        </p:nvSpPr>
        <p:spPr>
          <a:xfrm>
            <a:off x="4597298" y="41605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tuân thủ chỉ dẫn</a:t>
            </a:r>
            <a:endParaRPr lang="en-US" sz="1600" dirty="0"/>
          </a:p>
        </p:txBody>
      </p:sp>
      <p:sp>
        <p:nvSpPr>
          <p:cNvPr id="11" name="text_60"/>
          <p:cNvSpPr txBox="1"/>
          <p:nvPr/>
        </p:nvSpPr>
        <p:spPr>
          <a:xfrm>
            <a:off x="4597298" y="461772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trả lời 8,2 từ so với gold 3,7 — EM trượt dù đọc đúng chữ</a:t>
            </a:r>
            <a:endParaRPr lang="en-US" sz="1400" dirty="0"/>
          </a:p>
        </p:txBody>
      </p:sp>
      <p:sp>
        <p:nvSpPr>
          <p:cNvPr id="12" name="card_61"/>
          <p:cNvSpPr/>
          <p:nvPr/>
        </p:nvSpPr>
        <p:spPr>
          <a:xfrm>
            <a:off x="8188757" y="4023360"/>
            <a:ext cx="3454298" cy="1691640"/>
          </a:xfrm>
          <a:prstGeom prst="roundRect">
            <a:avLst>
              <a:gd name="adj" fmla="val 4324"/>
            </a:avLst>
          </a:prstGeom>
          <a:solidFill>
            <a:schemeClr val="accent4"/>
          </a:solidFill>
          <a:ln w="12700">
            <a:solidFill>
              <a:schemeClr val="accent4"/>
            </a:solidFill>
            <a:prstDash val="solid"/>
          </a:ln>
        </p:spPr>
      </p:sp>
      <p:sp>
        <p:nvSpPr>
          <p:cNvPr id="13" name="text_62"/>
          <p:cNvSpPr txBox="1"/>
          <p:nvPr/>
        </p:nvSpPr>
        <p:spPr>
          <a:xfrm>
            <a:off x="8417357" y="41605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không đủ để quyết định</a:t>
            </a:r>
            <a:endParaRPr lang="en-US" sz="1600" dirty="0"/>
          </a:p>
        </p:txBody>
      </p:sp>
      <p:sp>
        <p:nvSpPr>
          <p:cNvPr id="14" name="text_63"/>
          <p:cNvSpPr txBox="1"/>
          <p:nvPr/>
        </p:nvSpPr>
        <p:spPr>
          <a:xfrm>
            <a:off x="8417357" y="461772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đã nhất quán với nó. Quyết định: giữ Qwen2.5-VL-3B</a:t>
            </a:r>
            <a:endParaRPr lang="en-US" sz="1400" dirty="0"/>
          </a:p>
        </p:txBody>
      </p:sp>
      <p:sp>
        <p:nvSpPr>
          <p:cNvPr id="15" name="text_64"/>
          <p:cNvSpPr txBox="1"/>
          <p:nvPr/>
        </p:nvSpPr>
        <p:spPr>
          <a:xfrm>
            <a:off x="548640" y="5806440"/>
            <a:ext cx="11094415" cy="566928"/>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[1] Bai và cs., Qwen2.5-VL Technical Report, arXiv:2502.13923, 2025 · [2] Wang và cs., Qwen2-VL, arXiv:2409.12191, 2024 · [3] Nguyen và cs., ViTextVQA, arXiv:2404.10652, 2024 (bản mở rộng: Expert Systems with Applications, 2025). Run của nhóm: experiments/W07_B1_zeroshot_…_test2000, W07_R1_…, W07_R1b_… (cùng 2.000 câu, seed 42).</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một epoch: tăng lớn và có ý nghĩa thống kê</a:t>
            </a:r>
            <a:endParaRPr lang="en-US" sz="3200" dirty="0"/>
          </a:p>
        </p:txBody>
      </p:sp>
      <p:graphicFrame>
        <p:nvGraphicFramePr>
          <p:cNvPr id="5" name="chart_65"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6"/>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Chi phí</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Mẫu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Thời gian train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VRAM đỉnh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Suy luận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câu</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7"/>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8"/>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Luật chốt trước khi chạy</a:t>
            </a:r>
            <a:endParaRPr lang="en-US" sz="1600" dirty="0"/>
          </a:p>
        </p:txBody>
      </p:sp>
      <p:sp>
        <p:nvSpPr>
          <p:cNvPr id="9" name="text_69"/>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Cải thiện nếu EM tăng và McNemar p &lt; 0,05 → đạt trên cả hai dataset (ViTextVQA đầy đủ: 2.543 so với 423 câu chỉ một model đúng).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ĐỐI CHỨNG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Mức tăng là thật, không do rò rỉ, không chỉ do định dạng</a:t>
            </a:r>
            <a:endParaRPr lang="en-US" sz="3200" dirty="0"/>
          </a:p>
        </p:txBody>
      </p:sp>
      <p:sp>
        <p:nvSpPr>
          <p:cNvPr id="5" name="card_70"/>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71"/>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Phân tầng rò rỉ ViVQA</a:t>
            </a:r>
            <a:endParaRPr lang="en-US" sz="1600" dirty="0"/>
          </a:p>
        </p:txBody>
      </p:sp>
      <p:sp>
        <p:nvSpPr>
          <p:cNvPr id="7" name="text_72"/>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Tập sạch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Mốc đoán theo phân bố đáp án: 14,4</a:t>
            </a:r>
            <a:endParaRPr lang="en-US" sz="1400" dirty="0"/>
          </a:p>
        </p:txBody>
      </p:sp>
      <p:sp>
        <p:nvSpPr>
          <p:cNvPr id="8" name="card_73"/>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74"/>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không trùng ảnh</a:t>
            </a:r>
            <a:endParaRPr lang="en-US" sz="1600" dirty="0"/>
          </a:p>
        </p:txBody>
      </p:sp>
      <p:sp>
        <p:nvSpPr>
          <p:cNvPr id="10" name="text_75"/>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ảnh trùng train–test, </a:t>
            </a:r>
            <a:pPr indent="0" marL="0">
              <a:buNone/>
            </a:pPr>
            <a:r>
              <a:rPr lang="en-US" sz="1400" b="1" dirty="0">
                <a:solidFill>
                  <a:srgbClr val="1C7293"/>
                </a:solidFill>
                <a:latin typeface="Calibri" pitchFamily="34" charset="0"/>
                <a:ea typeface="Calibri" pitchFamily="34" charset="-122"/>
                <a:cs typeface="Calibri" pitchFamily="34" charset="-120"/>
              </a:rPr>
              <a:t>vẫn +21,1 EM trên full test</a:t>
            </a:r>
            <a:endParaRPr lang="en-US" sz="1400" dirty="0"/>
          </a:p>
        </p:txBody>
      </p:sp>
      <p:sp>
        <p:nvSpPr>
          <p:cNvPr id="11" name="card_76"/>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7"/>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Đối chứng few-shot: 5 ví dụ chữ trong prompt (FS5)</a:t>
            </a:r>
            <a:endParaRPr lang="en-US" sz="1600" dirty="0"/>
          </a:p>
        </p:txBody>
      </p:sp>
      <p:graphicFrame>
        <p:nvGraphicFramePr>
          <p:cNvPr id="13" name="chart_78"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9"/>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làm câu trả lời ngắn lại nhưng mất nội dung (EM −2,1 ở ViVQA, p = 0,004; −1,2 ở ViTextVQA, không ý nghĩa). B2 vượt FS5 ở cả hai (p ≈ 0) → QLoRA học nhiều hơn định dạng.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SO VỚI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test ViTextVQA: cao hơn SOTA đã công bố</a:t>
            </a:r>
            <a:endParaRPr lang="en-US" sz="3200" dirty="0"/>
          </a:p>
        </p:txBody>
      </p:sp>
      <p:graphicFrame>
        <p:nvGraphicFramePr>
          <p:cNvPr id="13" name="table_8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 với SOTA (luật: cận dưới CI95 &gt; số công bố)</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Nguyen và cs. [3], Table 6 (có train)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cao hơn về EM; F1 ngang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cao hơn cả EM và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81"/>
          <p:cNvSpPr/>
          <p:nvPr/>
        </p:nvSpPr>
        <p:spPr>
          <a:xfrm>
            <a:off x="548640" y="3886200"/>
            <a:ext cx="3454298" cy="1691640"/>
          </a:xfrm>
          <a:prstGeom prst="roundRect">
            <a:avLst>
              <a:gd name="adj" fmla="val 4324"/>
            </a:avLst>
          </a:prstGeom>
          <a:solidFill>
            <a:schemeClr val="bg2"/>
          </a:solidFill>
          <a:ln w="12700">
            <a:solidFill>
              <a:schemeClr val="bg2"/>
            </a:solidFill>
            <a:prstDash val="solid"/>
          </a:ln>
        </p:spPr>
      </p:sp>
      <p:sp>
        <p:nvSpPr>
          <p:cNvPr id="7" name="text_82"/>
          <p:cNvSpPr txBox="1"/>
          <p:nvPr/>
        </p:nvSpPr>
        <p:spPr>
          <a:xfrm>
            <a:off x="777240" y="40233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Tái lập được</a:t>
            </a:r>
            <a:endParaRPr lang="en-US" sz="1600" dirty="0"/>
          </a:p>
        </p:txBody>
      </p:sp>
      <p:sp>
        <p:nvSpPr>
          <p:cNvPr id="8" name="text_83"/>
          <p:cNvSpPr txBox="1"/>
          <p:nvPr/>
        </p:nvSpPr>
        <p:spPr>
          <a:xfrm>
            <a:off x="777240" y="448056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Dự đoán full test trùng 100% với các run tập con trên 2.000 câu chung.</a:t>
            </a:r>
            <a:endParaRPr lang="en-US" sz="1400" dirty="0"/>
          </a:p>
        </p:txBody>
      </p:sp>
      <p:sp>
        <p:nvSpPr>
          <p:cNvPr id="9" name="card_84"/>
          <p:cNvSpPr/>
          <p:nvPr/>
        </p:nvSpPr>
        <p:spPr>
          <a:xfrm>
            <a:off x="4368698" y="3886200"/>
            <a:ext cx="3454298" cy="1691640"/>
          </a:xfrm>
          <a:prstGeom prst="roundRect">
            <a:avLst>
              <a:gd name="adj" fmla="val 4324"/>
            </a:avLst>
          </a:prstGeom>
          <a:solidFill>
            <a:schemeClr val="bg2"/>
          </a:solidFill>
          <a:ln w="12700">
            <a:solidFill>
              <a:schemeClr val="bg2"/>
            </a:solidFill>
            <a:prstDash val="solid"/>
          </a:ln>
        </p:spPr>
      </p:sp>
      <p:sp>
        <p:nvSpPr>
          <p:cNvPr id="10" name="text_85"/>
          <p:cNvSpPr txBox="1"/>
          <p:nvPr/>
        </p:nvSpPr>
        <p:spPr>
          <a:xfrm>
            <a:off x="4597298" y="40233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Công bằng về loại</a:t>
            </a:r>
            <a:endParaRPr lang="en-US" sz="1600" dirty="0"/>
          </a:p>
        </p:txBody>
      </p:sp>
      <p:sp>
        <p:nvSpPr>
          <p:cNvPr id="11" name="text_86"/>
          <p:cNvSpPr txBox="1"/>
          <p:nvPr/>
        </p:nvSpPr>
        <p:spPr>
          <a:xfrm>
            <a:off x="4597298" y="448056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Cả B2 và ViTextBLIP-2 đều được train trên tập train ViTextVQA.</a:t>
            </a:r>
            <a:endParaRPr lang="en-US" sz="1400" dirty="0"/>
          </a:p>
        </p:txBody>
      </p:sp>
      <p:sp>
        <p:nvSpPr>
          <p:cNvPr id="12" name="card_87"/>
          <p:cNvSpPr/>
          <p:nvPr/>
        </p:nvSpPr>
        <p:spPr>
          <a:xfrm>
            <a:off x="8188757" y="3886200"/>
            <a:ext cx="3454298" cy="1691640"/>
          </a:xfrm>
          <a:prstGeom prst="roundRect">
            <a:avLst>
              <a:gd name="adj" fmla="val 4324"/>
            </a:avLst>
          </a:prstGeom>
          <a:solidFill>
            <a:schemeClr val="accent5"/>
          </a:solidFill>
          <a:ln w="12700">
            <a:solidFill>
              <a:schemeClr val="accent5"/>
            </a:solidFill>
            <a:prstDash val="solid"/>
          </a:ln>
        </p:spPr>
      </p:sp>
      <p:sp>
        <p:nvSpPr>
          <p:cNvPr id="13" name="text_88"/>
          <p:cNvSpPr txBox="1"/>
          <p:nvPr/>
        </p:nvSpPr>
        <p:spPr>
          <a:xfrm>
            <a:off x="8417357" y="40233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Giới hạn</a:t>
            </a:r>
            <a:endParaRPr lang="en-US" sz="1600" dirty="0"/>
          </a:p>
        </p:txBody>
      </p:sp>
      <p:sp>
        <p:nvSpPr>
          <p:cNvPr id="14" name="text_89"/>
          <p:cNvSpPr txBox="1"/>
          <p:nvPr/>
        </p:nvSpPr>
        <p:spPr>
          <a:xfrm>
            <a:off x="8417357" y="4480560"/>
            <a:ext cx="2997098" cy="9601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Paper không công bố cách chuẩn hoá đáp án; phép so giả định cách chấm tương đương.</a:t>
            </a:r>
            <a:endParaRPr lang="en-US" sz="1400" dirty="0"/>
          </a:p>
        </p:txBody>
      </p:sp>
      <p:sp>
        <p:nvSpPr>
          <p:cNvPr id="15" name="text_90"/>
          <p:cNvSpPr txBox="1"/>
          <p:nvPr/>
        </p:nvSpPr>
        <p:spPr>
          <a:xfrm>
            <a:off x="548640" y="5760720"/>
            <a:ext cx="11094415" cy="457200"/>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[3] Nguyen và cs., ViTextVQA, arXiv:2404.10652, 2024. CI95 = bootstrap ghép cặp, 10.000 lần lấy mẫu, seed 42. Số của nhóm: experiments/W07_B1_zeroshot_…_testfull, W07_B2_eval_…_testfull, W07_fulltest_summary_L4_seed42.</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CÁCH LÀM CỦA SOTA SO VỚI NHÓM</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ViTextBLIP-2 làm thế nào — và nhóm khác ở đâu</a:t>
            </a:r>
            <a:endParaRPr lang="en-US" sz="3200" dirty="0"/>
          </a:p>
        </p:txBody>
      </p:sp>
      <p:graphicFrame>
        <p:nvGraphicFramePr>
          <p:cNvPr id="14" name="table_9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011680"/>
                <a:gridCol w="4572000"/>
                <a:gridCol w="450799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Khía cạnh</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ViTextBLIP-2 (SOTA, paper [3])</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Nhóm: B2 = Qwen2.5-VL-3B + QLoRA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Thị giác</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ViT pretrained, đóng băng</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ViT của Qwen2.5-VL (32 khối), đóng băng</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Chữ trong ảnh (OCR)</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SwinTextSpotter [4], không fine-tune, bộ ký tự tiếng Việt; token OCR trộn như đặc trưng</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Không dùng OCR ngoài — VLM tự đọc chữ từ ảnh (OCR thêm ở B3, Phần 06)</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Mô hình ngôn ngữ</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ViT5 [5] (T5 tiếng Việt), đóng băng</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Decoder Qwen2.5-3B, 36 lớp, 4-bit NF4</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Phần được train</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Q-Former (khởi tạo từ BLIP-2) trộn ảnh, câu hỏi và OCR</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LoRA trên q, k, v, o: 7,37 triệu tham số (0,196%)</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Xử lý dữ liệu</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Sắp chữ OCR trái-trên → phải-dưới (giúp hầu hết model)</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Split chính thức; chuẩn hoá tiếng Việt (NFC, chữ thường, giữ dấu thanh)</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Dữ liệu train</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Toàn bộ train ViTextVQA</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Toàn bộ train ViTextVQA, 1 epoch (3,03 h trên 1 L4)</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EM, F1; không công bố cách chuẩn hoá</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200" dirty="0">
                          <a:solidFill>
                            <a:srgbClr val="243044"/>
                          </a:solidFill>
                          <a:latin typeface="Calibri" pitchFamily="34" charset="0"/>
                          <a:ea typeface="Calibri" pitchFamily="34" charset="-122"/>
                          <a:cs typeface="Calibri" pitchFamily="34" charset="-120"/>
                        </a:rPr>
                        <a:t>EM, ANLS (+ F1 để so); hàm chuẩn hoá công khai trong code</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Full test (EM / F1)</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indent="0" marL="0">
                        <a:buNone/>
                      </a:pPr>
                      <a:r>
                        <a:rPr lang="en-US" sz="1200" b="1" dirty="0">
                          <a:solidFill>
                            <a:srgbClr val="243044"/>
                          </a:solidFill>
                          <a:latin typeface="Calibri" pitchFamily="34" charset="0"/>
                          <a:ea typeface="Calibri" pitchFamily="34" charset="-122"/>
                          <a:cs typeface="Calibri" pitchFamily="34" charset="-120"/>
                        </a:rPr>
                        <a:t>25,48 / 53,95</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indent="0" marL="0">
                        <a:buNone/>
                      </a:pPr>
                      <a:r>
                        <a:rPr lang="en-US" sz="1200" b="1" dirty="0">
                          <a:solidFill>
                            <a:srgbClr val="243044"/>
                          </a:solidFill>
                          <a:latin typeface="Calibri" pitchFamily="34" charset="0"/>
                          <a:ea typeface="Calibri" pitchFamily="34" charset="-122"/>
                          <a:cs typeface="Calibri" pitchFamily="34" charset="-120"/>
                        </a:rPr>
                        <a:t>50,26 / 71,16</a:t>
                      </a:r>
                      <a:endParaRPr lang="en-US" sz="12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text_92"/>
          <p:cNvSpPr txBox="1"/>
          <p:nvPr/>
        </p:nvSpPr>
        <p:spPr>
          <a:xfrm>
            <a:off x="548640" y="5760720"/>
            <a:ext cx="11094415" cy="566928"/>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[3] Nguyen và cs., ViTextVQA, arXiv:2404.10652, 2024 (bản mở rộng ESWA 2025) · [4] Huang và cs., SwinTextSpotter, CVPR 2022 · [5] Phan và cs., ViT5, NAACL SRW 2022. Lưu ý: số 25,48 / 53,95 của paper nằm ở cột “OCR confidence” trong Table 10; bảng ablation báo 24,83 / 52,51 cho model đầy đủ.</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05 · PHÂN TÍCH LỖI &amp; HALLUCINATION</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B2 còn sai ở đâu</a:t>
            </a:r>
            <a:endParaRPr lang="en-US" sz="3200" dirty="0"/>
          </a:p>
        </p:txBody>
      </p:sp>
      <p:graphicFrame>
        <p:nvGraphicFramePr>
          <p:cNvPr id="5" name="chart_93"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_94"/>
          <p:cNvGraphicFramePr>
            <a:graphicFrameLocks noGrp="1"/>
          </p:cNvGraphicFramePr>
          <p:nvPr>
            <p:extLst>
              <p:ext uri="{D42A27DB-BD31-4B8C-83A1-F6EECF244321}">
                <p14:modId xmlns:p14="http://schemas.microsoft.com/office/powerpoint/2010/main" val="1579011935"/>
              </p:ext>
            </p:extLst>
          </p:nvPr>
        </p:nvGraphicFramePr>
        <p:xfrm>
          <a:off x="548640" y="4224528"/>
          <a:ext cx="6400800" cy="914400"/>
        </p:xfrm>
        <a:graphic>
          <a:graphicData uri="http://schemas.openxmlformats.org/drawingml/2006/table">
            <a:tbl>
              <a:tblPr/>
              <a:tblGrid>
                <a:gridCol w="1645920"/>
                <a:gridCol w="2240280"/>
                <a:gridCol w="251460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Nhóm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trả lời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0233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dấu thanh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0233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lệch ký tự</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0233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thiếu chữ</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95"/>
          <p:cNvSpPr/>
          <p:nvPr/>
        </p:nvSpPr>
        <p:spPr>
          <a:xfrm>
            <a:off x="7315200" y="1371600"/>
            <a:ext cx="4327855" cy="4526280"/>
          </a:xfrm>
          <a:prstGeom prst="roundRect">
            <a:avLst>
              <a:gd name="adj" fmla="val 1690"/>
            </a:avLst>
          </a:prstGeom>
          <a:solidFill>
            <a:schemeClr val="bg2"/>
          </a:solidFill>
          <a:ln w="12700">
            <a:solidFill>
              <a:schemeClr val="bg2"/>
            </a:solidFill>
            <a:prstDash val="solid"/>
          </a:ln>
        </p:spPr>
      </p:sp>
      <p:sp>
        <p:nvSpPr>
          <p:cNvPr id="8" name="text_96"/>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Duyệt tay 200 lỗi B2 (đã phân xử)</a:t>
            </a:r>
            <a:endParaRPr lang="en-US" sz="1600" dirty="0"/>
          </a:p>
        </p:txBody>
      </p:sp>
      <p:sp>
        <p:nvSpPr>
          <p:cNvPr id="9" name="list_97"/>
          <p:cNvSpPr txBox="1"/>
          <p:nvPr/>
        </p:nvSpPr>
        <p:spPr>
          <a:xfrm>
            <a:off x="7589520" y="2194560"/>
            <a:ext cx="3779215" cy="36118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54% thực ra đúng ý: EM quá khắt khe (ViVQA 62%, ViTextVQA 46%)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Gold nhiễu: 12,5% (ViVQA 19%)</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Lỗi thật ở ViTextVQA: đọc sai chữ 28%, nhầm vùng chữ 23%, dấu thanh 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Hallucination (không có trong ảnh): 7% số lỗi (CI95 4–11%)</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4 người + nhãn gợi ý của AI; κ = 0,62 (2 người độc lập); bỏ 42 dòng có AI hỗ trợ, kết luận không đổi</a:t>
            </a:r>
            <a:endParaRPr lang="en-US" sz="1400" dirty="0"/>
          </a:p>
        </p:txBody>
      </p:sp>
      <p:sp>
        <p:nvSpPr>
          <p:cNvPr id="10" name="text_98"/>
          <p:cNvSpPr txBox="1"/>
          <p:nvPr/>
        </p:nvSpPr>
        <p:spPr>
          <a:xfrm>
            <a:off x="548640" y="5852160"/>
            <a:ext cx="11094415" cy="502920"/>
          </a:xfrm>
          <a:prstGeom prst="rect">
            <a:avLst/>
          </a:prstGeom>
          <a:noFill/>
          <a:ln/>
        </p:spPr>
        <p:txBody>
          <a:bodyPr wrap="square" lIns="0" tIns="0" rIns="0" bIns="0" rtlCol="0" anchor="b"/>
          <a:lstStyle/>
          <a:p>
            <a:pPr indent="0" marL="0">
              <a:buNone/>
            </a:pPr>
            <a:r>
              <a:rPr lang="en-US" sz="1000" dirty="0">
                <a:solidFill>
                  <a:schemeClr val="accent3"/>
                </a:solidFill>
                <a:latin typeface="Calibri" pitchFamily="34" charset="0"/>
                <a:ea typeface="Calibri" pitchFamily="34" charset="-122"/>
                <a:cs typeface="Calibri" pitchFamily="34" charset="-120"/>
              </a:rPr>
              <a:t>Nguồn — phân loại tự động: python -m src.eval.answer_format --buckets trên experiments/W07_B2_eval_qlora_r16_ep1_vitextvqa_testfull_… (4.988 = 10.028 − 5.040 câu đúng). Duyệt tay: docs/W07/audit/W07_error_audit_final.json (nhãn ở docs/W07/audit/labels/, tính bằng compute_error_audit.py).</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PHƯƠNG PHÁP ĐỀ XUẤT (B3)</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nhận biết OCR: dạy model dùng văn bản OCR</a:t>
            </a:r>
            <a:endParaRPr lang="en-US" sz="3200" dirty="0"/>
          </a:p>
        </p:txBody>
      </p:sp>
      <p:sp>
        <p:nvSpPr>
          <p:cNvPr id="5" name="card_99"/>
          <p:cNvSpPr/>
          <p:nvPr/>
        </p:nvSpPr>
        <p:spPr>
          <a:xfrm>
            <a:off x="548640" y="1417320"/>
            <a:ext cx="1984797" cy="1188720"/>
          </a:xfrm>
          <a:prstGeom prst="roundRect">
            <a:avLst>
              <a:gd name="adj" fmla="val 6154"/>
            </a:avLst>
          </a:prstGeom>
          <a:solidFill>
            <a:schemeClr val="bg2"/>
          </a:solidFill>
          <a:ln w="12700">
            <a:solidFill>
              <a:schemeClr val="bg2"/>
            </a:solidFill>
            <a:prstDash val="solid"/>
          </a:ln>
        </p:spPr>
      </p:sp>
      <p:sp>
        <p:nvSpPr>
          <p:cNvPr id="6" name="text_100"/>
          <p:cNvSpPr txBox="1"/>
          <p:nvPr/>
        </p:nvSpPr>
        <p:spPr>
          <a:xfrm>
            <a:off x="640080"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Ảnh</a:t>
            </a:r>
            <a:endParaRPr lang="en-US" sz="1500" dirty="0"/>
          </a:p>
        </p:txBody>
      </p:sp>
      <p:sp>
        <p:nvSpPr>
          <p:cNvPr id="7" name="text_101"/>
          <p:cNvSpPr txBox="1"/>
          <p:nvPr/>
        </p:nvSpPr>
        <p:spPr>
          <a:xfrm>
            <a:off x="685800"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chữ trong ảnh</a:t>
            </a:r>
            <a:endParaRPr lang="en-US" sz="1200" dirty="0"/>
          </a:p>
        </p:txBody>
      </p:sp>
      <p:sp>
        <p:nvSpPr>
          <p:cNvPr id="8" name="arrow_102"/>
          <p:cNvSpPr/>
          <p:nvPr/>
        </p:nvSpPr>
        <p:spPr>
          <a:xfrm>
            <a:off x="2579157" y="1911096"/>
            <a:ext cx="201168" cy="201168"/>
          </a:xfrm>
          <a:prstGeom prst="rightArrow">
            <a:avLst/>
          </a:prstGeom>
          <a:solidFill>
            <a:srgbClr val="6B7280"/>
          </a:solidFill>
          <a:ln w="12700">
            <a:solidFill>
              <a:srgbClr val="6B7280"/>
            </a:solidFill>
            <a:prstDash val="solid"/>
          </a:ln>
        </p:spPr>
      </p:sp>
      <p:sp>
        <p:nvSpPr>
          <p:cNvPr id="9" name="card_103"/>
          <p:cNvSpPr/>
          <p:nvPr/>
        </p:nvSpPr>
        <p:spPr>
          <a:xfrm>
            <a:off x="2826045" y="1417320"/>
            <a:ext cx="1984797" cy="1188720"/>
          </a:xfrm>
          <a:prstGeom prst="roundRect">
            <a:avLst>
              <a:gd name="adj" fmla="val 6154"/>
            </a:avLst>
          </a:prstGeom>
          <a:solidFill>
            <a:schemeClr val="bg2"/>
          </a:solidFill>
          <a:ln w="12700">
            <a:solidFill>
              <a:schemeClr val="bg2"/>
            </a:solidFill>
            <a:prstDash val="solid"/>
          </a:ln>
        </p:spPr>
      </p:sp>
      <p:sp>
        <p:nvSpPr>
          <p:cNvPr id="10" name="text_104"/>
          <p:cNvSpPr txBox="1"/>
          <p:nvPr/>
        </p:nvSpPr>
        <p:spPr>
          <a:xfrm>
            <a:off x="2917485"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PaddleOCR</a:t>
            </a:r>
            <a:endParaRPr lang="en-US" sz="1500" dirty="0"/>
          </a:p>
        </p:txBody>
      </p:sp>
      <p:sp>
        <p:nvSpPr>
          <p:cNvPr id="11" name="text_105"/>
          <p:cNvSpPr txBox="1"/>
          <p:nvPr/>
        </p:nvSpPr>
        <p:spPr>
          <a:xfrm>
            <a:off x="2963205"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dò dòng chữ</a:t>
            </a:r>
            <a:endParaRPr lang="en-US" sz="1200" dirty="0"/>
          </a:p>
        </p:txBody>
      </p:sp>
      <p:sp>
        <p:nvSpPr>
          <p:cNvPr id="12" name="arrow_106"/>
          <p:cNvSpPr/>
          <p:nvPr/>
        </p:nvSpPr>
        <p:spPr>
          <a:xfrm>
            <a:off x="4856561" y="1911096"/>
            <a:ext cx="201168" cy="201168"/>
          </a:xfrm>
          <a:prstGeom prst="rightArrow">
            <a:avLst/>
          </a:prstGeom>
          <a:solidFill>
            <a:srgbClr val="6B7280"/>
          </a:solidFill>
          <a:ln w="12700">
            <a:solidFill>
              <a:srgbClr val="6B7280"/>
            </a:solidFill>
            <a:prstDash val="solid"/>
          </a:ln>
        </p:spPr>
      </p:sp>
      <p:sp>
        <p:nvSpPr>
          <p:cNvPr id="13" name="card_107"/>
          <p:cNvSpPr/>
          <p:nvPr/>
        </p:nvSpPr>
        <p:spPr>
          <a:xfrm>
            <a:off x="5103449" y="1417320"/>
            <a:ext cx="1984797" cy="1188720"/>
          </a:xfrm>
          <a:prstGeom prst="roundRect">
            <a:avLst>
              <a:gd name="adj" fmla="val 6154"/>
            </a:avLst>
          </a:prstGeom>
          <a:solidFill>
            <a:schemeClr val="bg2"/>
          </a:solidFill>
          <a:ln w="12700">
            <a:solidFill>
              <a:schemeClr val="bg2"/>
            </a:solidFill>
            <a:prstDash val="solid"/>
          </a:ln>
        </p:spPr>
      </p:sp>
      <p:sp>
        <p:nvSpPr>
          <p:cNvPr id="14" name="text_108"/>
          <p:cNvSpPr txBox="1"/>
          <p:nvPr/>
        </p:nvSpPr>
        <p:spPr>
          <a:xfrm>
            <a:off x="519488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VietOCR</a:t>
            </a:r>
            <a:endParaRPr lang="en-US" sz="1500" dirty="0"/>
          </a:p>
        </p:txBody>
      </p:sp>
      <p:sp>
        <p:nvSpPr>
          <p:cNvPr id="15" name="text_109"/>
          <p:cNvSpPr txBox="1"/>
          <p:nvPr/>
        </p:nvSpPr>
        <p:spPr>
          <a:xfrm>
            <a:off x="524060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đọc tiếng Việt, giữ dấu</a:t>
            </a:r>
            <a:endParaRPr lang="en-US" sz="1200" dirty="0"/>
          </a:p>
        </p:txBody>
      </p:sp>
      <p:sp>
        <p:nvSpPr>
          <p:cNvPr id="16" name="arrow_110"/>
          <p:cNvSpPr/>
          <p:nvPr/>
        </p:nvSpPr>
        <p:spPr>
          <a:xfrm>
            <a:off x="7133966" y="1911096"/>
            <a:ext cx="201168" cy="201168"/>
          </a:xfrm>
          <a:prstGeom prst="rightArrow">
            <a:avLst/>
          </a:prstGeom>
          <a:solidFill>
            <a:srgbClr val="6B7280"/>
          </a:solidFill>
          <a:ln w="12700">
            <a:solidFill>
              <a:srgbClr val="6B7280"/>
            </a:solidFill>
            <a:prstDash val="solid"/>
          </a:ln>
        </p:spPr>
      </p:sp>
      <p:sp>
        <p:nvSpPr>
          <p:cNvPr id="17" name="card_111"/>
          <p:cNvSpPr/>
          <p:nvPr/>
        </p:nvSpPr>
        <p:spPr>
          <a:xfrm>
            <a:off x="7380854" y="1417320"/>
            <a:ext cx="1984797" cy="1188720"/>
          </a:xfrm>
          <a:prstGeom prst="roundRect">
            <a:avLst>
              <a:gd name="adj" fmla="val 6154"/>
            </a:avLst>
          </a:prstGeom>
          <a:solidFill>
            <a:schemeClr val="accent4"/>
          </a:solidFill>
          <a:ln w="12700">
            <a:solidFill>
              <a:schemeClr val="accent4"/>
            </a:solidFill>
            <a:prstDash val="solid"/>
          </a:ln>
        </p:spPr>
      </p:sp>
      <p:sp>
        <p:nvSpPr>
          <p:cNvPr id="18" name="text_112"/>
          <p:cNvSpPr txBox="1"/>
          <p:nvPr/>
        </p:nvSpPr>
        <p:spPr>
          <a:xfrm>
            <a:off x="7472294"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9" name="text_113"/>
          <p:cNvSpPr txBox="1"/>
          <p:nvPr/>
        </p:nvSpPr>
        <p:spPr>
          <a:xfrm>
            <a:off x="7518014"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1 dòng OCR + câu hỏi</a:t>
            </a:r>
            <a:endParaRPr lang="en-US" sz="1200" dirty="0"/>
          </a:p>
        </p:txBody>
      </p:sp>
      <p:sp>
        <p:nvSpPr>
          <p:cNvPr id="20" name="arrow_114"/>
          <p:cNvSpPr/>
          <p:nvPr/>
        </p:nvSpPr>
        <p:spPr>
          <a:xfrm>
            <a:off x="9411371" y="1911096"/>
            <a:ext cx="201168" cy="201168"/>
          </a:xfrm>
          <a:prstGeom prst="rightArrow">
            <a:avLst/>
          </a:prstGeom>
          <a:solidFill>
            <a:srgbClr val="6B7280"/>
          </a:solidFill>
          <a:ln w="12700">
            <a:solidFill>
              <a:srgbClr val="6B7280"/>
            </a:solidFill>
            <a:prstDash val="solid"/>
          </a:ln>
        </p:spPr>
      </p:sp>
      <p:sp>
        <p:nvSpPr>
          <p:cNvPr id="21" name="card_115"/>
          <p:cNvSpPr/>
          <p:nvPr/>
        </p:nvSpPr>
        <p:spPr>
          <a:xfrm>
            <a:off x="9658259" y="1417320"/>
            <a:ext cx="1984797" cy="1188720"/>
          </a:xfrm>
          <a:prstGeom prst="roundRect">
            <a:avLst>
              <a:gd name="adj" fmla="val 6154"/>
            </a:avLst>
          </a:prstGeom>
          <a:solidFill>
            <a:schemeClr val="accent5"/>
          </a:solidFill>
          <a:ln w="12700">
            <a:solidFill>
              <a:schemeClr val="accent5"/>
            </a:solidFill>
            <a:prstDash val="solid"/>
          </a:ln>
        </p:spPr>
      </p:sp>
      <p:sp>
        <p:nvSpPr>
          <p:cNvPr id="22" name="text_116"/>
          <p:cNvSpPr txBox="1"/>
          <p:nvPr/>
        </p:nvSpPr>
        <p:spPr>
          <a:xfrm>
            <a:off x="974969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Qwen2.5-VL + LoRA</a:t>
            </a:r>
            <a:endParaRPr lang="en-US" sz="1500" dirty="0"/>
          </a:p>
        </p:txBody>
      </p:sp>
      <p:sp>
        <p:nvSpPr>
          <p:cNvPr id="23" name="text_117"/>
          <p:cNvSpPr txBox="1"/>
          <p:nvPr/>
        </p:nvSpPr>
        <p:spPr>
          <a:xfrm>
            <a:off x="979541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LoRA train cùng dòng OCR</a:t>
            </a:r>
            <a:endParaRPr lang="en-US" sz="1200" dirty="0"/>
          </a:p>
        </p:txBody>
      </p:sp>
      <p:sp>
        <p:nvSpPr>
          <p:cNvPr id="24" name="card_118"/>
          <p:cNvSpPr/>
          <p:nvPr/>
        </p:nvSpPr>
        <p:spPr>
          <a:xfrm>
            <a:off x="548640" y="2834640"/>
            <a:ext cx="11094415" cy="685800"/>
          </a:xfrm>
          <a:prstGeom prst="roundRect">
            <a:avLst>
              <a:gd name="adj" fmla="val 10667"/>
            </a:avLst>
          </a:prstGeom>
          <a:solidFill>
            <a:schemeClr val="bg2"/>
          </a:solidFill>
          <a:ln w="12700">
            <a:solidFill>
              <a:schemeClr val="bg2"/>
            </a:solidFill>
            <a:prstDash val="solid"/>
          </a:ln>
        </p:spPr>
      </p:sp>
      <p:sp>
        <p:nvSpPr>
          <p:cNvPr id="25" name="text_119"/>
          <p:cNvSpPr txBox="1"/>
          <p:nvPr/>
        </p:nvSpPr>
        <p:spPr>
          <a:xfrm>
            <a:off x="822960" y="2834640"/>
            <a:ext cx="10545775" cy="68580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Dòng prompt:  </a:t>
            </a:r>
            <a:pPr indent="0" marL="0">
              <a:buNone/>
            </a:pPr>
            <a:r>
              <a:rPr lang="en-US" sz="1300" dirty="0">
                <a:solidFill>
                  <a:schemeClr val="tx1"/>
                </a:solidFill>
                <a:latin typeface="Courier New" pitchFamily="34" charset="0"/>
                <a:ea typeface="Courier New" pitchFamily="34" charset="-122"/>
                <a:cs typeface="Courier New" pitchFamily="34" charset="-120"/>
              </a:rPr>
              <a:t>Văn bản đọc được trong ảnh: NHÀ THUỐC TÂM AN | 0919 467 868 …   Câu hỏi: tên nhà thuốc là gì?</a:t>
            </a:r>
            <a:endParaRPr lang="en-US" sz="1400" dirty="0"/>
          </a:p>
        </p:txBody>
      </p:sp>
      <p:sp>
        <p:nvSpPr>
          <p:cNvPr id="26" name="card_120"/>
          <p:cNvSpPr/>
          <p:nvPr/>
        </p:nvSpPr>
        <p:spPr>
          <a:xfrm>
            <a:off x="548640" y="3794760"/>
            <a:ext cx="3454298" cy="2468880"/>
          </a:xfrm>
          <a:prstGeom prst="roundRect">
            <a:avLst>
              <a:gd name="adj" fmla="val 2963"/>
            </a:avLst>
          </a:prstGeom>
          <a:solidFill>
            <a:schemeClr val="bg2"/>
          </a:solidFill>
          <a:ln w="12700">
            <a:solidFill>
              <a:schemeClr val="bg2"/>
            </a:solidFill>
            <a:prstDash val="solid"/>
          </a:ln>
        </p:spPr>
      </p:sp>
      <p:sp>
        <p:nvSpPr>
          <p:cNvPr id="27" name="text_121"/>
          <p:cNvSpPr txBox="1"/>
          <p:nvPr/>
        </p:nvSpPr>
        <p:spPr>
          <a:xfrm>
            <a:off x="777240"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OCR</a:t>
            </a:r>
            <a:endParaRPr lang="en-US" sz="1600" dirty="0"/>
          </a:p>
        </p:txBody>
      </p:sp>
      <p:sp>
        <p:nvSpPr>
          <p:cNvPr id="28" name="list_122"/>
          <p:cNvSpPr txBox="1"/>
          <p:nvPr/>
        </p:nvSpPr>
        <p:spPr>
          <a:xfrm>
            <a:off x="777240"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Lỗi thật của B2 ở ViTextVQA: đọc sai chữ 28%, nhầm vùng chữ 23%, sai dấu 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Chữ tiếng Việt trong ảnh là gap nghiên cứu G2</a:t>
            </a:r>
            <a:endParaRPr lang="en-US" sz="1400" dirty="0"/>
          </a:p>
        </p:txBody>
      </p:sp>
      <p:sp>
        <p:nvSpPr>
          <p:cNvPr id="29" name="card_123"/>
          <p:cNvSpPr/>
          <p:nvPr/>
        </p:nvSpPr>
        <p:spPr>
          <a:xfrm>
            <a:off x="4368698" y="3794760"/>
            <a:ext cx="3454298" cy="2468880"/>
          </a:xfrm>
          <a:prstGeom prst="roundRect">
            <a:avLst>
              <a:gd name="adj" fmla="val 2963"/>
            </a:avLst>
          </a:prstGeom>
          <a:solidFill>
            <a:schemeClr val="bg2"/>
          </a:solidFill>
          <a:ln w="12700">
            <a:solidFill>
              <a:schemeClr val="bg2"/>
            </a:solidFill>
            <a:prstDash val="solid"/>
          </a:ln>
        </p:spPr>
      </p:sp>
      <p:sp>
        <p:nvSpPr>
          <p:cNvPr id="30" name="text_124"/>
          <p:cNvSpPr txBox="1"/>
          <p:nvPr/>
        </p:nvSpPr>
        <p:spPr>
          <a:xfrm>
            <a:off x="4597298"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Chọn OCR (luật chốt, dev300)</a:t>
            </a:r>
            <a:endParaRPr lang="en-US" sz="1600" dirty="0"/>
          </a:p>
        </p:txBody>
      </p:sp>
      <p:sp>
        <p:nvSpPr>
          <p:cNvPr id="31" name="list_125"/>
          <p:cNvSpPr txBox="1"/>
          <p:nvPr/>
        </p:nvSpPr>
        <p:spPr>
          <a:xfrm>
            <a:off x="4597298"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PaddleOCR bản Latin làm rơi dấu: “Kiểu Thẩm” → “Kiu Thm”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Đáp án nằm trong văn bản OCR: VietOCR 37,7% so với 27,0% (p = 0,0008) → VietOCR</a:t>
            </a:r>
            <a:endParaRPr lang="en-US" sz="1400" dirty="0"/>
          </a:p>
        </p:txBody>
      </p:sp>
      <p:sp>
        <p:nvSpPr>
          <p:cNvPr id="32" name="card_126"/>
          <p:cNvSpPr/>
          <p:nvPr/>
        </p:nvSpPr>
        <p:spPr>
          <a:xfrm>
            <a:off x="8188757" y="3794760"/>
            <a:ext cx="3454298" cy="2468880"/>
          </a:xfrm>
          <a:prstGeom prst="roundRect">
            <a:avLst>
              <a:gd name="adj" fmla="val 2963"/>
            </a:avLst>
          </a:prstGeom>
          <a:solidFill>
            <a:schemeClr val="accent4"/>
          </a:solidFill>
          <a:ln w="12700">
            <a:solidFill>
              <a:schemeClr val="accent4"/>
            </a:solidFill>
            <a:prstDash val="solid"/>
          </a:ln>
        </p:spPr>
      </p:sp>
      <p:sp>
        <p:nvSpPr>
          <p:cNvPr id="33" name="text_127"/>
          <p:cNvSpPr txBox="1"/>
          <p:nvPr/>
        </p:nvSpPr>
        <p:spPr>
          <a:xfrm>
            <a:off x="8417357"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Train gì</a:t>
            </a:r>
            <a:endParaRPr lang="en-US" sz="1600" dirty="0"/>
          </a:p>
        </p:txBody>
      </p:sp>
      <p:sp>
        <p:nvSpPr>
          <p:cNvPr id="34" name="list_128"/>
          <p:cNvSpPr txBox="1"/>
          <p:nvPr/>
        </p:nvSpPr>
        <p:spPr>
          <a:xfrm>
            <a:off x="8417357"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QLoRA y hệt B2 (r = 16, 0,196% tham số); chỉ thêm dòng OCR vào prompt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Phép thử có kiểm soát: tập con 8.000 câu, B3 so với B2-sub (cùng tập, không OCR)</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ABLATION: OCR LÚC TRAIN × OCR LÚC TEST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 chỉ giúp khi model được train cùng OCR</a:t>
            </a:r>
            <a:endParaRPr lang="en-US" sz="3200" dirty="0"/>
          </a:p>
        </p:txBody>
      </p:sp>
      <p:sp>
        <p:nvSpPr>
          <p:cNvPr id="5" name="text_129"/>
          <p:cNvSpPr txBox="1"/>
          <p:nvPr/>
        </p:nvSpPr>
        <p:spPr>
          <a:xfrm>
            <a:off x="233172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không OCR</a:t>
            </a:r>
            <a:endParaRPr lang="en-US" sz="1400" dirty="0"/>
          </a:p>
        </p:txBody>
      </p:sp>
      <p:sp>
        <p:nvSpPr>
          <p:cNvPr id="6" name="text_130"/>
          <p:cNvSpPr txBox="1"/>
          <p:nvPr/>
        </p:nvSpPr>
        <p:spPr>
          <a:xfrm>
            <a:off x="470916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có OCR</a:t>
            </a:r>
            <a:endParaRPr lang="en-US" sz="1400" dirty="0"/>
          </a:p>
        </p:txBody>
      </p:sp>
      <p:sp>
        <p:nvSpPr>
          <p:cNvPr id="7" name="text_131"/>
          <p:cNvSpPr txBox="1"/>
          <p:nvPr/>
        </p:nvSpPr>
        <p:spPr>
          <a:xfrm>
            <a:off x="548640" y="178308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không OCR</a:t>
            </a:r>
            <a:endParaRPr lang="en-US" sz="1400" dirty="0"/>
          </a:p>
        </p:txBody>
      </p:sp>
      <p:sp>
        <p:nvSpPr>
          <p:cNvPr id="8" name="text_132"/>
          <p:cNvSpPr txBox="1"/>
          <p:nvPr/>
        </p:nvSpPr>
        <p:spPr>
          <a:xfrm>
            <a:off x="548640" y="333756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có OCR</a:t>
            </a:r>
            <a:endParaRPr lang="en-US" sz="1400" dirty="0"/>
          </a:p>
        </p:txBody>
      </p:sp>
      <p:sp>
        <p:nvSpPr>
          <p:cNvPr id="9" name="card_133"/>
          <p:cNvSpPr/>
          <p:nvPr/>
        </p:nvSpPr>
        <p:spPr>
          <a:xfrm>
            <a:off x="2331720" y="1783080"/>
            <a:ext cx="2240280" cy="1417320"/>
          </a:xfrm>
          <a:prstGeom prst="roundRect">
            <a:avLst>
              <a:gd name="adj" fmla="val 5161"/>
            </a:avLst>
          </a:prstGeom>
          <a:solidFill>
            <a:schemeClr val="bg2"/>
          </a:solidFill>
          <a:ln w="12700">
            <a:solidFill>
              <a:schemeClr val="bg2"/>
            </a:solidFill>
            <a:prstDash val="solid"/>
          </a:ln>
        </p:spPr>
      </p:sp>
      <p:sp>
        <p:nvSpPr>
          <p:cNvPr id="10" name="text_134"/>
          <p:cNvSpPr txBox="1"/>
          <p:nvPr/>
        </p:nvSpPr>
        <p:spPr>
          <a:xfrm>
            <a:off x="233172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45,55</a:t>
            </a:r>
            <a:endParaRPr lang="en-US" sz="3400" dirty="0"/>
          </a:p>
        </p:txBody>
      </p:sp>
      <p:sp>
        <p:nvSpPr>
          <p:cNvPr id="11" name="text_135"/>
          <p:cNvSpPr txBox="1"/>
          <p:nvPr/>
        </p:nvSpPr>
        <p:spPr>
          <a:xfrm>
            <a:off x="242316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a:t>
            </a:r>
            <a:endParaRPr lang="en-US" sz="1300" dirty="0"/>
          </a:p>
        </p:txBody>
      </p:sp>
      <p:sp>
        <p:nvSpPr>
          <p:cNvPr id="12" name="card_136"/>
          <p:cNvSpPr/>
          <p:nvPr/>
        </p:nvSpPr>
        <p:spPr>
          <a:xfrm>
            <a:off x="4709160" y="1783080"/>
            <a:ext cx="2240280" cy="1417320"/>
          </a:xfrm>
          <a:prstGeom prst="roundRect">
            <a:avLst>
              <a:gd name="adj" fmla="val 5161"/>
            </a:avLst>
          </a:prstGeom>
          <a:solidFill>
            <a:schemeClr val="bg2"/>
          </a:solidFill>
          <a:ln w="12700">
            <a:solidFill>
              <a:schemeClr val="bg2"/>
            </a:solidFill>
            <a:prstDash val="solid"/>
          </a:ln>
        </p:spPr>
      </p:sp>
      <p:sp>
        <p:nvSpPr>
          <p:cNvPr id="13" name="text_137"/>
          <p:cNvSpPr txBox="1"/>
          <p:nvPr/>
        </p:nvSpPr>
        <p:spPr>
          <a:xfrm>
            <a:off x="470916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44,90</a:t>
            </a:r>
            <a:endParaRPr lang="en-US" sz="3400" dirty="0"/>
          </a:p>
        </p:txBody>
      </p:sp>
      <p:sp>
        <p:nvSpPr>
          <p:cNvPr id="14" name="text_138"/>
          <p:cNvSpPr txBox="1"/>
          <p:nvPr/>
        </p:nvSpPr>
        <p:spPr>
          <a:xfrm>
            <a:off x="480060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 + OCR lúc test</a:t>
            </a:r>
            <a:endParaRPr lang="en-US" sz="1300" dirty="0"/>
          </a:p>
        </p:txBody>
      </p:sp>
      <p:sp>
        <p:nvSpPr>
          <p:cNvPr id="15" name="card_139"/>
          <p:cNvSpPr/>
          <p:nvPr/>
        </p:nvSpPr>
        <p:spPr>
          <a:xfrm>
            <a:off x="2331720" y="3337560"/>
            <a:ext cx="2240280" cy="1417320"/>
          </a:xfrm>
          <a:prstGeom prst="roundRect">
            <a:avLst>
              <a:gd name="adj" fmla="val 5161"/>
            </a:avLst>
          </a:prstGeom>
          <a:solidFill>
            <a:schemeClr val="bg2"/>
          </a:solidFill>
          <a:ln w="12700">
            <a:solidFill>
              <a:schemeClr val="bg2"/>
            </a:solidFill>
            <a:prstDash val="solid"/>
          </a:ln>
        </p:spPr>
      </p:sp>
      <p:sp>
        <p:nvSpPr>
          <p:cNvPr id="16" name="text_140"/>
          <p:cNvSpPr txBox="1"/>
          <p:nvPr/>
        </p:nvSpPr>
        <p:spPr>
          <a:xfrm>
            <a:off x="2331720" y="350215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45,00</a:t>
            </a:r>
            <a:endParaRPr lang="en-US" sz="3400" dirty="0"/>
          </a:p>
        </p:txBody>
      </p:sp>
      <p:sp>
        <p:nvSpPr>
          <p:cNvPr id="17" name="text_141"/>
          <p:cNvSpPr txBox="1"/>
          <p:nvPr/>
        </p:nvSpPr>
        <p:spPr>
          <a:xfrm>
            <a:off x="242316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bỏ OCR lúc test</a:t>
            </a:r>
            <a:endParaRPr lang="en-US" sz="1300" dirty="0"/>
          </a:p>
        </p:txBody>
      </p:sp>
      <p:sp>
        <p:nvSpPr>
          <p:cNvPr id="18" name="card_142"/>
          <p:cNvSpPr/>
          <p:nvPr/>
        </p:nvSpPr>
        <p:spPr>
          <a:xfrm>
            <a:off x="4709160" y="3337560"/>
            <a:ext cx="2240280" cy="1417320"/>
          </a:xfrm>
          <a:prstGeom prst="roundRect">
            <a:avLst>
              <a:gd name="adj" fmla="val 5161"/>
            </a:avLst>
          </a:prstGeom>
          <a:solidFill>
            <a:schemeClr val="accent5"/>
          </a:solidFill>
          <a:ln w="12700">
            <a:solidFill>
              <a:schemeClr val="accent5"/>
            </a:solidFill>
            <a:prstDash val="solid"/>
          </a:ln>
        </p:spPr>
      </p:sp>
      <p:sp>
        <p:nvSpPr>
          <p:cNvPr id="19" name="text_143"/>
          <p:cNvSpPr txBox="1"/>
          <p:nvPr/>
        </p:nvSpPr>
        <p:spPr>
          <a:xfrm>
            <a:off x="4709160" y="3502152"/>
            <a:ext cx="2240280" cy="685800"/>
          </a:xfrm>
          <a:prstGeom prst="rect">
            <a:avLst/>
          </a:prstGeom>
          <a:noFill/>
          <a:ln/>
        </p:spPr>
        <p:txBody>
          <a:bodyPr wrap="square" lIns="0" tIns="0" rIns="0" bIns="0" rtlCol="0" anchor="t"/>
          <a:lstStyle/>
          <a:p>
            <a:pPr algn="ctr" indent="0" marL="0">
              <a:buNone/>
            </a:pPr>
            <a:r>
              <a:rPr lang="en-US" sz="3400" b="1" dirty="0">
                <a:solidFill>
                  <a:schemeClr val="accent2"/>
                </a:solidFill>
                <a:latin typeface="Cambria" pitchFamily="34" charset="0"/>
                <a:ea typeface="Cambria" pitchFamily="34" charset="-122"/>
                <a:cs typeface="Cambria" pitchFamily="34" charset="-120"/>
              </a:rPr>
              <a:t>49,25</a:t>
            </a:r>
            <a:endParaRPr lang="en-US" sz="3400" dirty="0"/>
          </a:p>
        </p:txBody>
      </p:sp>
      <p:sp>
        <p:nvSpPr>
          <p:cNvPr id="20" name="text_144"/>
          <p:cNvSpPr txBox="1"/>
          <p:nvPr/>
        </p:nvSpPr>
        <p:spPr>
          <a:xfrm>
            <a:off x="480060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(đề xuất)</a:t>
            </a:r>
            <a:endParaRPr lang="en-US" sz="1300" dirty="0"/>
          </a:p>
        </p:txBody>
      </p:sp>
      <p:sp>
        <p:nvSpPr>
          <p:cNvPr id="21" name="text_145"/>
          <p:cNvSpPr txBox="1"/>
          <p:nvPr/>
        </p:nvSpPr>
        <p:spPr>
          <a:xfrm>
            <a:off x="2331720" y="4864608"/>
            <a:ext cx="4617720" cy="320040"/>
          </a:xfrm>
          <a:prstGeom prst="rect">
            <a:avLst/>
          </a:prstGeom>
          <a:noFill/>
          <a:ln/>
        </p:spPr>
        <p:txBody>
          <a:bodyPr wrap="square" lIns="0" tIns="0" rIns="0" bIns="0" rtlCol="0" anchor="t"/>
          <a:lstStyle/>
          <a:p>
            <a:pPr algn="ctr" indent="0" marL="0">
              <a:buNone/>
            </a:pPr>
            <a:r>
              <a:rPr lang="en-US" sz="1200" dirty="0">
                <a:solidFill>
                  <a:schemeClr val="accent3"/>
                </a:solidFill>
                <a:latin typeface="Calibri" pitchFamily="34" charset="0"/>
                <a:ea typeface="Calibri" pitchFamily="34" charset="-122"/>
                <a:cs typeface="Calibri" pitchFamily="34" charset="-120"/>
              </a:rPr>
              <a:t>EM (%), ViTextVQA tập con test (2.000 câu), seed 42</a:t>
            </a:r>
            <a:endParaRPr lang="en-US" sz="1200" dirty="0"/>
          </a:p>
        </p:txBody>
      </p:sp>
      <p:sp>
        <p:nvSpPr>
          <p:cNvPr id="22" name="card_146"/>
          <p:cNvSpPr/>
          <p:nvPr/>
        </p:nvSpPr>
        <p:spPr>
          <a:xfrm>
            <a:off x="7360920" y="1371600"/>
            <a:ext cx="4282135" cy="2103120"/>
          </a:xfrm>
          <a:prstGeom prst="roundRect">
            <a:avLst>
              <a:gd name="adj" fmla="val 3478"/>
            </a:avLst>
          </a:prstGeom>
          <a:solidFill>
            <a:schemeClr val="bg2"/>
          </a:solidFill>
          <a:ln w="12700">
            <a:solidFill>
              <a:schemeClr val="bg2"/>
            </a:solidFill>
            <a:prstDash val="solid"/>
          </a:ln>
        </p:spPr>
      </p:sp>
      <p:sp>
        <p:nvSpPr>
          <p:cNvPr id="23" name="text_147"/>
          <p:cNvSpPr txBox="1"/>
          <p:nvPr/>
        </p:nvSpPr>
        <p:spPr>
          <a:xfrm>
            <a:off x="7589520" y="1481328"/>
            <a:ext cx="3824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Kiểm định ghép cặp (McNemar, EM)</a:t>
            </a:r>
            <a:endParaRPr lang="en-US" sz="1600" dirty="0"/>
          </a:p>
        </p:txBody>
      </p:sp>
      <p:sp>
        <p:nvSpPr>
          <p:cNvPr id="24" name="list_148"/>
          <p:cNvSpPr txBox="1"/>
          <p:nvPr/>
        </p:nvSpPr>
        <p:spPr>
          <a:xfrm>
            <a:off x="7589520" y="1874520"/>
            <a:ext cx="3824935" cy="1554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Chỉ OCR lúc test: −0,65 (p = 0,49)</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Chỉ OCR lúc train: −0,55 (p = 0,35)</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Cả train lẫn test: +4,35 (p = 2 × 10⁻⁸)</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Bỏ OCR khỏi B3: −4,25 (p = 4 × 10⁻⁹)</a:t>
            </a:r>
            <a:endParaRPr lang="en-US" sz="1400" dirty="0"/>
          </a:p>
        </p:txBody>
      </p:sp>
      <p:sp>
        <p:nvSpPr>
          <p:cNvPr id="25" name="card_149"/>
          <p:cNvSpPr/>
          <p:nvPr/>
        </p:nvSpPr>
        <p:spPr>
          <a:xfrm>
            <a:off x="7360920" y="3657600"/>
            <a:ext cx="4282135" cy="1280160"/>
          </a:xfrm>
          <a:prstGeom prst="roundRect">
            <a:avLst>
              <a:gd name="adj" fmla="val 5714"/>
            </a:avLst>
          </a:prstGeom>
          <a:solidFill>
            <a:schemeClr val="accent4"/>
          </a:solidFill>
          <a:ln w="12700">
            <a:solidFill>
              <a:schemeClr val="accent4"/>
            </a:solidFill>
            <a:prstDash val="solid"/>
          </a:ln>
        </p:spPr>
      </p:sp>
      <p:sp>
        <p:nvSpPr>
          <p:cNvPr id="26" name="text_150"/>
          <p:cNvSpPr txBox="1"/>
          <p:nvPr/>
        </p:nvSpPr>
        <p:spPr>
          <a:xfrm>
            <a:off x="7589520" y="3657600"/>
            <a:ext cx="3824935" cy="12801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Tương tác +4,9 EM </a:t>
            </a:r>
            <a:pPr indent="0" marL="0">
              <a:buNone/>
            </a:pPr>
            <a:r>
              <a:rPr lang="en-US" sz="1500" dirty="0">
                <a:solidFill>
                  <a:schemeClr val="tx1"/>
                </a:solidFill>
                <a:latin typeface="Calibri" pitchFamily="34" charset="0"/>
                <a:ea typeface="Calibri" pitchFamily="34" charset="-122"/>
                <a:cs typeface="Calibri" pitchFamily="34" charset="-120"/>
              </a:rPr>
              <a:t>(CI95 +3,2 đến +6,6) → cần OCR ở cả train lẫn test</a:t>
            </a:r>
            <a:endParaRPr lang="en-US" sz="1500" dirty="0"/>
          </a:p>
        </p:txBody>
      </p:sp>
      <p:sp>
        <p:nvSpPr>
          <p:cNvPr id="27" name="card_151"/>
          <p:cNvSpPr/>
          <p:nvPr/>
        </p:nvSpPr>
        <p:spPr>
          <a:xfrm>
            <a:off x="548640" y="5349240"/>
            <a:ext cx="11094415" cy="914400"/>
          </a:xfrm>
          <a:prstGeom prst="roundRect">
            <a:avLst>
              <a:gd name="adj" fmla="val 8000"/>
            </a:avLst>
          </a:prstGeom>
          <a:solidFill>
            <a:schemeClr val="accent5"/>
          </a:solidFill>
          <a:ln w="12700">
            <a:solidFill>
              <a:schemeClr val="accent5"/>
            </a:solidFill>
            <a:prstDash val="solid"/>
          </a:ln>
        </p:spPr>
      </p:sp>
      <p:sp>
        <p:nvSpPr>
          <p:cNvPr id="28" name="text_152"/>
          <p:cNvSpPr txBox="1"/>
          <p:nvPr/>
        </p:nvSpPr>
        <p:spPr>
          <a:xfrm>
            <a:off x="822960" y="5349240"/>
            <a:ext cx="10545775" cy="91440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Kết luận  </a:t>
            </a:r>
            <a:pPr indent="0" marL="0">
              <a:buNone/>
            </a:pPr>
            <a:r>
              <a:rPr lang="en-US" sz="1500" dirty="0">
                <a:solidFill>
                  <a:schemeClr val="tx1"/>
                </a:solidFill>
                <a:latin typeface="Calibri" pitchFamily="34" charset="0"/>
                <a:ea typeface="Calibri" pitchFamily="34" charset="-122"/>
                <a:cs typeface="Calibri" pitchFamily="34" charset="-120"/>
              </a:rPr>
              <a:t>đóng góp không phải “thêm OCR vào prompt” — mà là dùng QLoRA dạy model khi nào tin OCR, khi nào tin ảnh.</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ĐỘ VỮNG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Mức tăng giữ vững qua các seed và trên full test</a:t>
            </a:r>
            <a:endParaRPr lang="en-US" sz="3200" dirty="0"/>
          </a:p>
        </p:txBody>
      </p:sp>
      <p:graphicFrame>
        <p:nvGraphicFramePr>
          <p:cNvPr id="5" name="chart_153" descr=""/>
          <p:cNvGraphicFramePr/>
          <p:nvPr/>
        </p:nvGraphicFramePr>
        <p:xfrm>
          <a:off x="548640" y="137160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6" name="card_154"/>
          <p:cNvSpPr/>
          <p:nvPr/>
        </p:nvSpPr>
        <p:spPr>
          <a:xfrm>
            <a:off x="548640" y="5212080"/>
            <a:ext cx="5120640" cy="1051560"/>
          </a:xfrm>
          <a:prstGeom prst="roundRect">
            <a:avLst>
              <a:gd name="adj" fmla="val 6957"/>
            </a:avLst>
          </a:prstGeom>
          <a:solidFill>
            <a:schemeClr val="accent4"/>
          </a:solidFill>
          <a:ln w="12700">
            <a:solidFill>
              <a:schemeClr val="accent4"/>
            </a:solidFill>
            <a:prstDash val="solid"/>
          </a:ln>
        </p:spPr>
      </p:sp>
      <p:sp>
        <p:nvSpPr>
          <p:cNvPr id="7" name="text_155"/>
          <p:cNvSpPr txBox="1"/>
          <p:nvPr/>
        </p:nvSpPr>
        <p:spPr>
          <a:xfrm>
            <a:off x="777240" y="5212080"/>
            <a:ext cx="4663440" cy="105156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+3,57 ± 0,76 EM</a:t>
            </a:r>
            <a:pPr indent="0" marL="0">
              <a:buNone/>
            </a:pPr>
            <a:r>
              <a:rPr lang="en-US" sz="1400" dirty="0">
                <a:solidFill>
                  <a:schemeClr val="tx1"/>
                </a:solidFill>
                <a:latin typeface="Calibri" pitchFamily="34" charset="0"/>
                <a:ea typeface="Calibri" pitchFamily="34" charset="-122"/>
                <a:cs typeface="Calibri" pitchFamily="34" charset="-120"/>
              </a:rPr>
              <a:t> · cả 3 seed p ≤ 1,4 × 10⁻⁴ → ổn định (luật chốt trước)</a:t>
            </a:r>
            <a:endParaRPr lang="en-US" sz="1400" dirty="0"/>
          </a:p>
        </p:txBody>
      </p:sp>
      <p:graphicFrame>
        <p:nvGraphicFramePr>
          <p:cNvPr id="18" name="table_156"/>
          <p:cNvGraphicFramePr>
            <a:graphicFrameLocks noGrp="1"/>
          </p:cNvGraphicFramePr>
          <p:nvPr>
            <p:extLst>
              <p:ext uri="{D42A27DB-BD31-4B8C-83A1-F6EECF244321}">
                <p14:modId xmlns:p14="http://schemas.microsoft.com/office/powerpoint/2010/main" val="1579011935"/>
              </p:ext>
            </p:extLst>
          </p:nvPr>
        </p:nvGraphicFramePr>
        <p:xfrm>
          <a:off x="6035040" y="1371600"/>
          <a:ext cx="5608015" cy="914400"/>
        </p:xfrm>
        <a:graphic>
          <a:graphicData uri="http://schemas.openxmlformats.org/drawingml/2006/table">
            <a:tbl>
              <a:tblPr/>
              <a:tblGrid>
                <a:gridCol w="2331720"/>
                <a:gridCol w="1325880"/>
                <a:gridCol w="1005840"/>
                <a:gridCol w="9418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Full test (10.028 câu)</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Dữ liệu train</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(paper)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toàn bộ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B2-sub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46,56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67,83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B3 (nhận biết OCR)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49,10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70,03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 (QLoRA, không OCR)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50,26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71,16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9" name="card_157"/>
          <p:cNvSpPr/>
          <p:nvPr/>
        </p:nvSpPr>
        <p:spPr>
          <a:xfrm>
            <a:off x="6035040" y="3886200"/>
            <a:ext cx="5608015" cy="2377440"/>
          </a:xfrm>
          <a:prstGeom prst="roundRect">
            <a:avLst>
              <a:gd name="adj" fmla="val 3077"/>
            </a:avLst>
          </a:prstGeom>
          <a:solidFill>
            <a:schemeClr val="bg2"/>
          </a:solidFill>
          <a:ln w="12700">
            <a:solidFill>
              <a:schemeClr val="bg2"/>
            </a:solidFill>
            <a:prstDash val="solid"/>
          </a:ln>
        </p:spPr>
      </p:sp>
      <p:sp>
        <p:nvSpPr>
          <p:cNvPr id="10" name="list_158"/>
          <p:cNvSpPr txBox="1"/>
          <p:nvPr/>
        </p:nvSpPr>
        <p:spPr>
          <a:xfrm>
            <a:off x="6263640" y="4023360"/>
            <a:ext cx="5150815"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B3 so với B2-sub: +2,54 EM (672 so với 417 câu chỉ một model đúng, p = 10⁻¹⁴)</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Cao hơn ViTextBLIP-2 cả EM và F1 (cận dưới CI95 48,1 / 69,3)</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Đính chính: vẫn thấp hơn B2 dữ liệu đầy đủ 1,16 EM (p = 0,003); OCR bù ≈ 69% phần mất do cắt dữ liệu với 25% thời gian train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06 · ViVQA: ĐỘ DÀI HUẤN LUYỆN</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epoch thứ hai có ích — chọn mà không chạm test</a:t>
            </a:r>
            <a:endParaRPr lang="en-US" sz="3200" dirty="0"/>
          </a:p>
        </p:txBody>
      </p:sp>
      <p:graphicFrame>
        <p:nvGraphicFramePr>
          <p:cNvPr id="5" name="chart_159" descr=""/>
          <p:cNvGraphicFramePr/>
          <p:nvPr/>
        </p:nvGraphicFramePr>
        <p:xfrm>
          <a:off x="548640" y="137160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6" name="card_160"/>
          <p:cNvSpPr/>
          <p:nvPr/>
        </p:nvSpPr>
        <p:spPr>
          <a:xfrm>
            <a:off x="548640" y="4846320"/>
            <a:ext cx="6400800" cy="1417320"/>
          </a:xfrm>
          <a:prstGeom prst="roundRect">
            <a:avLst>
              <a:gd name="adj" fmla="val 5161"/>
            </a:avLst>
          </a:prstGeom>
          <a:solidFill>
            <a:schemeClr val="accent4"/>
          </a:solidFill>
          <a:ln w="12700">
            <a:solidFill>
              <a:schemeClr val="accent4"/>
            </a:solidFill>
            <a:prstDash val="solid"/>
          </a:ln>
        </p:spPr>
      </p:sp>
      <p:sp>
        <p:nvSpPr>
          <p:cNvPr id="7" name="text_161"/>
          <p:cNvSpPr txBox="1"/>
          <p:nvPr/>
        </p:nvSpPr>
        <p:spPr>
          <a:xfrm>
            <a:off x="777240" y="4846320"/>
            <a:ext cx="5943600" cy="141732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Luật chốt trước: EM cao nhất trên val sạch; giữ C1 trừ khi hơn có ý nghĩa → C3 (+3,9 EM, p = 1,4 × 10⁻⁴)</a:t>
            </a:r>
            <a:endParaRPr lang="en-US" sz="1400" dirty="0"/>
          </a:p>
        </p:txBody>
      </p:sp>
      <p:sp>
        <p:nvSpPr>
          <p:cNvPr id="8" name="card_162"/>
          <p:cNvSpPr/>
          <p:nvPr/>
        </p:nvSpPr>
        <p:spPr>
          <a:xfrm>
            <a:off x="7315200" y="1371600"/>
            <a:ext cx="4327855" cy="2377440"/>
          </a:xfrm>
          <a:prstGeom prst="roundRect">
            <a:avLst>
              <a:gd name="adj" fmla="val 3077"/>
            </a:avLst>
          </a:prstGeom>
          <a:solidFill>
            <a:schemeClr val="accent5"/>
          </a:solidFill>
          <a:ln w="12700">
            <a:solidFill>
              <a:schemeClr val="accent5"/>
            </a:solidFill>
            <a:prstDash val="solid"/>
          </a:ln>
        </p:spPr>
      </p:sp>
      <p:sp>
        <p:nvSpPr>
          <p:cNvPr id="9" name="text_163"/>
          <p:cNvSpPr txBox="1"/>
          <p:nvPr/>
        </p:nvSpPr>
        <p:spPr>
          <a:xfrm>
            <a:off x="7589520" y="1508760"/>
            <a:ext cx="3779215"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73,8 → 76,6</a:t>
            </a:r>
            <a:endParaRPr lang="en-US" sz="4000" dirty="0"/>
          </a:p>
        </p:txBody>
      </p:sp>
      <p:sp>
        <p:nvSpPr>
          <p:cNvPr id="10" name="text_164"/>
          <p:cNvSpPr txBox="1"/>
          <p:nvPr/>
        </p:nvSpPr>
        <p:spPr>
          <a:xfrm>
            <a:off x="7589520" y="2377440"/>
            <a:ext cx="3779215"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test ViVQA (3.001 câu), chạm một lần: +2,9, p = 4,6 × 10⁻⁹</a:t>
            </a:r>
            <a:endParaRPr lang="en-US" sz="1400" dirty="0"/>
          </a:p>
        </p:txBody>
      </p:sp>
      <p:sp>
        <p:nvSpPr>
          <p:cNvPr id="11" name="text_165"/>
          <p:cNvSpPr txBox="1"/>
          <p:nvPr/>
        </p:nvSpPr>
        <p:spPr>
          <a:xfrm>
            <a:off x="7589520" y="2926080"/>
            <a:ext cx="3779215" cy="777240"/>
          </a:xfrm>
          <a:prstGeom prst="rect">
            <a:avLst/>
          </a:prstGeom>
          <a:noFill/>
          <a:ln/>
        </p:spPr>
        <p:txBody>
          <a:bodyPr wrap="square" lIns="0" tIns="0" rIns="0" bIns="0" rtlCol="0" anchor="t"/>
          <a:lstStyle/>
          <a:p>
            <a:pPr indent="0" marL="0">
              <a:buNone/>
            </a:pPr>
            <a:r>
              <a:rPr lang="en-US" sz="1300" i="1" dirty="0">
                <a:solidFill>
                  <a:schemeClr val="tx1"/>
                </a:solidFill>
                <a:latin typeface="Calibri" pitchFamily="34" charset="0"/>
                <a:ea typeface="Calibri" pitchFamily="34" charset="-122"/>
                <a:cs typeface="Calibri" pitchFamily="34" charset="-120"/>
              </a:rPr>
              <a:t>Không phải nhớ ảnh (kiểm sau): trên phần test sạch — ảnh và cặp hỏi–đáp chưa thấy, n = 1.219 — +3,2 EM (69,1 → 72,3, p = 1,5 × 10⁻⁴)</a:t>
            </a:r>
            <a:endParaRPr lang="en-US" sz="1300" dirty="0"/>
          </a:p>
        </p:txBody>
      </p:sp>
      <p:sp>
        <p:nvSpPr>
          <p:cNvPr id="12" name="card_166"/>
          <p:cNvSpPr/>
          <p:nvPr/>
        </p:nvSpPr>
        <p:spPr>
          <a:xfrm>
            <a:off x="7315200" y="3931920"/>
            <a:ext cx="4327855" cy="2331720"/>
          </a:xfrm>
          <a:prstGeom prst="roundRect">
            <a:avLst>
              <a:gd name="adj" fmla="val 3137"/>
            </a:avLst>
          </a:prstGeom>
          <a:solidFill>
            <a:schemeClr val="bg2"/>
          </a:solidFill>
          <a:ln w="12700">
            <a:solidFill>
              <a:schemeClr val="bg2"/>
            </a:solidFill>
            <a:prstDash val="solid"/>
          </a:ln>
        </p:spPr>
      </p:sp>
      <p:sp>
        <p:nvSpPr>
          <p:cNvPr id="13" name="text_167"/>
          <p:cNvSpPr txBox="1"/>
          <p:nvPr/>
        </p:nvSpPr>
        <p:spPr>
          <a:xfrm>
            <a:off x="7589520" y="4041648"/>
            <a:ext cx="377921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Vì sao dùng val sạch</a:t>
            </a:r>
            <a:endParaRPr lang="en-US" sz="1600" dirty="0"/>
          </a:p>
        </p:txBody>
      </p:sp>
      <p:sp>
        <p:nvSpPr>
          <p:cNvPr id="14" name="list_168"/>
          <p:cNvSpPr txBox="1"/>
          <p:nvPr/>
        </p:nvSpPr>
        <p:spPr>
          <a:xfrm>
            <a:off x="7589520" y="4434840"/>
            <a:ext cx="3779215" cy="17830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 1.200 câu val dùng chung ảnh với train</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Train lâu hơn nhớ ảnh → val thường thiên vị</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Chi phí: 6,1 giờ thay vì 3,0 giờ trên một L4</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07 · GIẢ THUYẾT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Bằng chứng đến thời điểm này</a:t>
            </a:r>
            <a:endParaRPr lang="en-US" sz="3200" dirty="0"/>
          </a:p>
        </p:txBody>
      </p:sp>
      <p:graphicFrame>
        <p:nvGraphicFramePr>
          <p:cNvPr id="20" name="table_169"/>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754880"/>
                <a:gridCol w="4507992"/>
                <a:gridCol w="1828800"/>
              </a:tblGrid>
              <a:tr h="4937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Giả thuyết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Bằng chứng</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so với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đầy đủ),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giữ ≥ 97% độ chính xác,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Giữ 94,5%; VRAM −77% (R0 so với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Một phần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H6  OCR prompting ≥ +3 ANLS, cộng hưởng với QLoRA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Cộng hưởng: tương tác +4,9 EM; nhưng ANLS +1,55 ± 0,40 (&lt; +3)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Một phần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Prompt định dạng tiếng Việt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Dạng few-shot: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Chưa ủng hộ</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không làm tăng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Duyệt tay: 7% lỗi của B2 là hallucination (CI 4–11%); so với B1 ở W11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H3–H5  Cấu hình LoRA, adapter dùng chung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Kế hoạch W10–W12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Đang chờ</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170"/>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171"/>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zero-shot EM 22,1 (ViVQA), 29,1 (ViTextVQA).  RQ2: QLoRA +51,7 / +21,1 EM.  RQ3: QLoRA nhận biết OCR +2,5 EM so với cùng QLoRA (full test).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PHẦN 07 · BƯỚC TIẾP THEO</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Kế hoạch đến Review 3 (tuần 13)</a:t>
            </a:r>
            <a:endParaRPr lang="en-US" sz="3200" dirty="0"/>
          </a:p>
        </p:txBody>
      </p:sp>
      <p:sp>
        <p:nvSpPr>
          <p:cNvPr id="5" name="card_172"/>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173"/>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174"/>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W10</a:t>
            </a:r>
            <a:endParaRPr lang="en-US" sz="1400" dirty="0"/>
          </a:p>
        </p:txBody>
      </p:sp>
      <p:sp>
        <p:nvSpPr>
          <p:cNvPr id="8" name="text_175"/>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QLoRA nhận biết OCR trên toàn bộ train ViTextVQA; ablation rank và module gắn LoRA (H3, H4)</a:t>
            </a:r>
            <a:endParaRPr lang="en-US" sz="1500" dirty="0"/>
          </a:p>
        </p:txBody>
      </p:sp>
      <p:sp>
        <p:nvSpPr>
          <p:cNvPr id="9" name="card_176"/>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177"/>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178"/>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2" name="text_179"/>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Adapter dùng chung cho 2 dataset (H5); đo hallucination có hệ thống, kể cả B3 (H8)</a:t>
            </a:r>
            <a:endParaRPr lang="en-US" sz="1500" dirty="0"/>
          </a:p>
        </p:txBody>
      </p:sp>
      <p:sp>
        <p:nvSpPr>
          <p:cNvPr id="13" name="card_180"/>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81"/>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82"/>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a:t>
            </a:r>
            <a:endParaRPr lang="en-US" sz="1400" dirty="0"/>
          </a:p>
        </p:txBody>
      </p:sp>
      <p:sp>
        <p:nvSpPr>
          <p:cNvPr id="16" name="text_183"/>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Prototype web: tải ảnh → OCR → trả lời tiếng Việt</a:t>
            </a:r>
            <a:endParaRPr lang="en-US" sz="1500" dirty="0"/>
          </a:p>
        </p:txBody>
      </p:sp>
      <p:sp>
        <p:nvSpPr>
          <p:cNvPr id="17" name="card_184"/>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85"/>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86"/>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W13</a:t>
            </a:r>
            <a:endParaRPr lang="en-US" sz="1400" dirty="0"/>
          </a:p>
        </p:txBody>
      </p:sp>
      <p:sp>
        <p:nvSpPr>
          <p:cNvPr id="20" name="text_187"/>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Review 3: kết quả cuối, ablation, phân tích lỗi, demo trực tiếp</a:t>
            </a:r>
            <a:endParaRPr lang="en-US" sz="1500" dirty="0"/>
          </a:p>
        </p:txBody>
      </p:sp>
      <p:sp>
        <p:nvSpPr>
          <p:cNvPr id="21" name="text_188"/>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Mọi run giữ giao thức cố định, chỉ PEFT, và luật kết luận chốt trước.</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Cảm ơn hội đồng</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Nhóm rất mong nhận được góp ý.</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Mọi con số trong bài đều có log và tái lập được (seed, config và giao thức đánh giá cố định).</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2026-10-18T12:45:55Z</dcterms:created>
  <dcterms:modified xsi:type="dcterms:W3CDTF">2026-10-18T12:45:55Z</dcterms:modified>
</cp:coreProperties>
</file>