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7.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00f312dd-d8a0-7e7c-3714-3ac6744c3137}">
          <p14:sldIdLst>
            <p14:sldId id="256"/>
          </p14:sldIdLst>
        </p14:section>
        <p14:section name="Tóm tắt" id="{f20e47dc-3411-2d80-009b-ce3b4a96a157}">
          <p14:sldIdLst>
            <p14:sldId id="257"/>
          </p14:sldIdLst>
        </p14:section>
        <p14:section name="Góp ý" id="{9b9612c5-9f2f-4903-100b-665cecf2926c}">
          <p14:sldIdLst>
            <p14:sldId id="258"/>
          </p14:sldIdLst>
        </p14:section>
        <p14:section name="Dữ liệu &amp; baseline" id="{ae6e4a2c-89da-5231-e11f-c68d0158c5a6}">
          <p14:sldIdLst>
            <p14:sldId id="259"/>
            <p14:sldId id="260"/>
            <p14:sldId id="261"/>
          </p14:sldIdLst>
        </p14:section>
        <p14:section name="Kết quả" id="{0424b98f-4bf7-4877-ddee-826c567a337a}">
          <p14:sldIdLst>
            <p14:sldId id="262"/>
            <p14:sldId id="263"/>
            <p14:sldId id="264"/>
          </p14:sldIdLst>
        </p14:section>
        <p14:section name="Cải tiến" id="{ae003218-21a3-ba88-e211-44369eddc3bc}">
          <p14:sldIdLst>
            <p14:sldId id="265"/>
            <p14:sldId id="266"/>
            <p14:sldId id="267"/>
            <p14:sldId id="268"/>
          </p14:sldIdLst>
        </p14:section>
        <p14:section name="QLoRA nhận biết OCR" id="{76ebc8b2-3b04-771c-f43f-2fb484410aa2}">
          <p14:sldIdLst>
            <p14:sldId id="269"/>
            <p14:sldId id="270"/>
            <p14:sldId id="271"/>
            <p14:sldId id="272"/>
          </p14:sldIdLst>
        </p14:section>
        <p14:section name="Phân tích &amp; kế hoạch" id="{10c5c9b8-8259-f520-c61c-3b492b8d8886}">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TextVQA val (5.000 câu), VQA accuracy</a:t>
            </a:r>
          </a:p>
        </c:rich>
      </c:tx>
      <c:layout/>
      <c:overlay val="0"/>
    </c:title>
    <c:autoTitleDeleted val="0"/>
    <c:plotArea>
      <c:layout/>
      <c:barChart>
        <c:barDir val="col"/>
        <c:grouping val="clustered"/>
        <c:varyColors val="0"/>
        <c:ser>
          <c:idx val="0"/>
          <c:order val="0"/>
          <c:tx>
            <c:strRef>
              <c:f>Sheet1!$B$1</c:f>
              <c:strCache>
                <c:ptCount val="1"/>
                <c:pt idx="0">
                  <c:v>VQA-Acc</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Báo cáo Qwen2.5-VL</c:v>
                  </c:pt>
                  <c:pt idx="1">
                    <c:v>R0 · bf16, đủ độ phân giải</c:v>
                  </c:pt>
                  <c:pt idx="2">
                    <c:v>R0b · 4-bit, 512 token</c:v>
                  </c:pt>
                </c:lvl>
              </c:multiLvlStrCache>
            </c:multiLvlStrRef>
          </c:cat>
          <c:val>
            <c:numRef>
              <c:f>Sheet1!$B$2:$B$4</c:f>
              <c:numCache>
                <c:formatCode>General</c:formatCode>
                <c:ptCount val="3"/>
                <c:pt idx="0">
                  <c:v>79.3</c:v>
                </c:pt>
                <c:pt idx="1">
                  <c:v>79.6</c:v>
                </c:pt>
                <c:pt idx="2">
                  <c:v>75.21</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85"/>
          <c:min val="6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EM</c:v>
                </c:pt>
              </c:strCache>
            </c:strRef>
          </c:tx>
          <c:spPr>
            <a:solidFill>
              <a:srgbClr val="E8A33D"/>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Sheet1!$A$2:$A$5</c:f>
              <c:multiLvlStrCache>
                <c:ptCount val="4"/>
                <c:lvl>
                  <c:pt idx="0">
                    <c:v>số lượng</c:v>
                  </c:pt>
                  <c:pt idx="1">
                    <c:v>màu</c:v>
                  </c:pt>
                  <c:pt idx="2">
                    <c:v>đồ vật</c:v>
                  </c:pt>
                  <c:pt idx="3">
                    <c:v>vị trí</c:v>
                  </c:pt>
                </c:lvl>
              </c:multiLvlStrCache>
            </c:multiLvlStrRef>
          </c:cat>
          <c:val>
            <c:numRef>
              <c:f>Sheet1!$B$2:$B$5</c:f>
              <c:numCache>
                <c:formatCode>General</c:formatCode>
                <c:ptCount val="4"/>
                <c:pt idx="0">
                  <c:v>69.1</c:v>
                </c:pt>
                <c:pt idx="1">
                  <c:v>44.8</c:v>
                </c:pt>
                <c:pt idx="2">
                  <c:v>5.7</c:v>
                </c:pt>
                <c:pt idx="3">
                  <c:v>0.7</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8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Exact Match (%)</a:t>
            </a:r>
          </a:p>
        </c:rich>
      </c:tx>
      <c:layout/>
      <c:overlay val="0"/>
    </c:title>
    <c:autoTitleDeleted val="0"/>
    <c:plotArea>
      <c:layout/>
      <c:barChart>
        <c:barDir val="col"/>
        <c:grouping val="clustered"/>
        <c:varyColors val="0"/>
        <c:ser>
          <c:idx val="0"/>
          <c:order val="0"/>
          <c:tx>
            <c:strRef>
              <c:f>Sheet1!$B$1</c:f>
              <c:strCache>
                <c:ptCount val="1"/>
                <c:pt idx="0">
                  <c:v>B1 zero-shot</c:v>
                </c:pt>
              </c:strCache>
            </c:strRef>
          </c:tx>
          <c:spPr>
            <a:solidFill>
              <a:srgbClr val="6B7280"/>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ViVQA</c:v>
                  </c:pt>
                  <c:pt idx="1">
                    <c:v>ViTextVQA (2.000)</c:v>
                  </c:pt>
                  <c:pt idx="2">
                    <c:v>ViTextVQA đầy đủ</c:v>
                  </c:pt>
                </c:lvl>
              </c:multiLvlStrCache>
            </c:multiLvlStrRef>
          </c:cat>
          <c:val>
            <c:numRef>
              <c:f>Sheet1!$B$2:$B$4</c:f>
              <c:numCache>
                <c:formatCode>General</c:formatCode>
                <c:ptCount val="3"/>
                <c:pt idx="0">
                  <c:v>22.09</c:v>
                </c:pt>
                <c:pt idx="1">
                  <c:v>28.8</c:v>
                </c:pt>
                <c:pt idx="2">
                  <c:v>29.12</c:v>
                </c:pt>
              </c:numCache>
            </c:numRef>
          </c:val>
        </c:ser>
        <c:ser>
          <c:idx val="1"/>
          <c:order val="1"/>
          <c:tx>
            <c:strRef>
              <c:f>Sheet1!$C$1</c:f>
              <c:strCache>
                <c:ptCount val="1"/>
                <c:pt idx="0">
                  <c:v>B2 QLoRA 1 epoch</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ViVQA</c:v>
                  </c:pt>
                  <c:pt idx="1">
                    <c:v>ViTextVQA (2.000)</c:v>
                  </c:pt>
                  <c:pt idx="2">
                    <c:v>ViTextVQA đầy đủ</c:v>
                  </c:pt>
                </c:lvl>
              </c:multiLvlStrCache>
            </c:multiLvlStrRef>
          </c:cat>
          <c:val>
            <c:numRef>
              <c:f>Sheet1!$C$2:$C$4</c:f>
              <c:numCache>
                <c:formatCode>General</c:formatCode>
                <c:ptCount val="3"/>
                <c:pt idx="0">
                  <c:v>73.78</c:v>
                </c:pt>
                <c:pt idx="1">
                  <c:v>49.7</c:v>
                </c:pt>
                <c:pt idx="2">
                  <c:v>50.26</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430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B1</c:v>
                </c:pt>
              </c:strCache>
            </c:strRef>
          </c:tx>
          <c:spPr>
            <a:solidFill>
              <a:srgbClr val="6B7280"/>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Sheet1!$A$2:$A$3</c:f>
              <c:multiLvlStrCache>
                <c:ptCount val="2"/>
                <c:lvl>
                  <c:pt idx="0">
                    <c:v>ViVQA</c:v>
                  </c:pt>
                  <c:pt idx="1">
                    <c:v>ViTextVQA (2.000)</c:v>
                  </c:pt>
                </c:lvl>
              </c:multiLvlStrCache>
            </c:multiLvlStrRef>
          </c:cat>
          <c:val>
            <c:numRef>
              <c:f>Sheet1!$B$2:$B$3</c:f>
              <c:numCache>
                <c:formatCode>General</c:formatCode>
                <c:ptCount val="2"/>
                <c:pt idx="0">
                  <c:v>22.09</c:v>
                </c:pt>
                <c:pt idx="1">
                  <c:v>28.8</c:v>
                </c:pt>
              </c:numCache>
            </c:numRef>
          </c:val>
        </c:ser>
        <c:ser>
          <c:idx val="1"/>
          <c:order val="1"/>
          <c:tx>
            <c:strRef>
              <c:f>Sheet1!$C$1</c:f>
              <c:strCache>
                <c:ptCount val="1"/>
                <c:pt idx="0">
                  <c:v>FS5</c:v>
                </c:pt>
              </c:strCache>
            </c:strRef>
          </c:tx>
          <c:spPr>
            <a:solidFill>
              <a:srgbClr val="E8A33D"/>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Sheet1!$A$2:$A$3</c:f>
              <c:multiLvlStrCache>
                <c:ptCount val="2"/>
                <c:lvl>
                  <c:pt idx="0">
                    <c:v>ViVQA</c:v>
                  </c:pt>
                  <c:pt idx="1">
                    <c:v>ViTextVQA (2.000)</c:v>
                  </c:pt>
                </c:lvl>
              </c:multiLvlStrCache>
            </c:multiLvlStrRef>
          </c:cat>
          <c:val>
            <c:numRef>
              <c:f>Sheet1!$C$2:$C$3</c:f>
              <c:numCache>
                <c:formatCode>General</c:formatCode>
                <c:ptCount val="2"/>
                <c:pt idx="0">
                  <c:v>20.03</c:v>
                </c:pt>
                <c:pt idx="1">
                  <c:v>27.6</c:v>
                </c:pt>
              </c:numCache>
            </c:numRef>
          </c:val>
        </c:ser>
        <c:ser>
          <c:idx val="2"/>
          <c:order val="2"/>
          <c:tx>
            <c:strRef>
              <c:f>Sheet1!$D$1</c:f>
              <c:strCache>
                <c:ptCount val="1"/>
                <c:pt idx="0">
                  <c:v>B2</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Sheet1!$A$2:$A$3</c:f>
              <c:multiLvlStrCache>
                <c:ptCount val="2"/>
                <c:lvl>
                  <c:pt idx="0">
                    <c:v>ViVQA</c:v>
                  </c:pt>
                  <c:pt idx="1">
                    <c:v>ViTextVQA (2.000)</c:v>
                  </c:pt>
                </c:lvl>
              </c:multiLvlStrCache>
            </c:multiLvlStrRef>
          </c:cat>
          <c:val>
            <c:numRef>
              <c:f>Sheet1!$D$2:$D$3</c:f>
              <c:numCache>
                <c:formatCode>General</c:formatCode>
                <c:ptCount val="2"/>
                <c:pt idx="0">
                  <c:v>73.78</c:v>
                </c:pt>
                <c:pt idx="1">
                  <c:v>49.7</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430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Phân loại tự động lỗi B2, full test ViTextVQA (n = 4.988)</a:t>
            </a:r>
          </a:p>
        </c:rich>
      </c:tx>
      <c:layout/>
      <c:overlay val="0"/>
    </c:title>
    <c:autoTitleDeleted val="0"/>
    <c:plotArea>
      <c:layout/>
      <c:barChart>
        <c:barDir val="bar"/>
        <c:grouping val="clustered"/>
        <c:varyColors val="0"/>
        <c:ser>
          <c:idx val="0"/>
          <c:order val="0"/>
          <c:tx>
            <c:strRef>
              <c:f>Sheet1!$B$1</c:f>
              <c:strCache>
                <c:ptCount val="1"/>
                <c:pt idx="0">
                  <c:v>% lỗi của B2</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Sheet1!$A$2:$A$6</c:f>
              <c:multiLvlStrCache>
                <c:ptCount val="5"/>
                <c:lvl>
                  <c:pt idx="0">
                    <c:v>khác: nội dung / vùng ảnh</c:v>
                  </c:pt>
                  <c:pt idx="1">
                    <c:v>lệch 1–2 ký tự</c:v>
                  </c:pt>
                  <c:pt idx="2">
                    <c:v>trả lời thừa chữ</c:v>
                  </c:pt>
                  <c:pt idx="3">
                    <c:v>trả lời thiếu chữ</c:v>
                  </c:pt>
                  <c:pt idx="4">
                    <c:v>chỉ sai dấu thanh</c:v>
                  </c:pt>
                </c:lvl>
              </c:multiLvlStrCache>
            </c:multiLvlStrRef>
          </c:cat>
          <c:val>
            <c:numRef>
              <c:f>Sheet1!$B$2:$B$6</c:f>
              <c:numCache>
                <c:formatCode>General</c:formatCode>
                <c:ptCount val="5"/>
                <c:pt idx="0">
                  <c:v>47.4</c:v>
                </c:pt>
                <c:pt idx="1">
                  <c:v>16.8</c:v>
                </c:pt>
                <c:pt idx="2">
                  <c:v>13.6</c:v>
                </c:pt>
                <c:pt idx="3">
                  <c:v>13.2</c:v>
                </c:pt>
                <c:pt idx="4">
                  <c:v>9</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EM (%), tập con 2.000 câu, 3 seed huấn luyện</a:t>
            </a:r>
          </a:p>
        </c:rich>
      </c:tx>
      <c:layout/>
      <c:overlay val="0"/>
    </c:title>
    <c:autoTitleDeleted val="0"/>
    <c:plotArea>
      <c:layout/>
      <c:barChart>
        <c:barDir val="col"/>
        <c:grouping val="clustered"/>
        <c:varyColors val="0"/>
        <c:ser>
          <c:idx val="0"/>
          <c:order val="0"/>
          <c:tx>
            <c:strRef>
              <c:f>Sheet1!$B$1</c:f>
              <c:strCache>
                <c:ptCount val="1"/>
                <c:pt idx="0">
                  <c:v>B2-sub (không OCR)</c:v>
                </c:pt>
              </c:strCache>
            </c:strRef>
          </c:tx>
          <c:spPr>
            <a:solidFill>
              <a:srgbClr val="6B7280"/>
            </a:solidFill>
            <a:effectLst/>
          </c:spPr>
          <c:invertIfNegative val="0"/>
          <c:dLbls>
            <c:numFmt formatCode="0.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seed 42</c:v>
                  </c:pt>
                  <c:pt idx="1">
                    <c:v>seed 43</c:v>
                  </c:pt>
                  <c:pt idx="2">
                    <c:v>seed 44</c:v>
                  </c:pt>
                </c:lvl>
              </c:multiLvlStrCache>
            </c:multiLvlStrRef>
          </c:cat>
          <c:val>
            <c:numRef>
              <c:f>Sheet1!$B$2:$B$4</c:f>
              <c:numCache>
                <c:formatCode>General</c:formatCode>
                <c:ptCount val="3"/>
                <c:pt idx="0">
                  <c:v>45.55</c:v>
                </c:pt>
                <c:pt idx="1">
                  <c:v>44.75</c:v>
                </c:pt>
                <c:pt idx="2">
                  <c:v>46.05</c:v>
                </c:pt>
              </c:numCache>
            </c:numRef>
          </c:val>
        </c:ser>
        <c:ser>
          <c:idx val="1"/>
          <c:order val="1"/>
          <c:tx>
            <c:strRef>
              <c:f>Sheet1!$C$1</c:f>
              <c:strCache>
                <c:ptCount val="1"/>
                <c:pt idx="0">
                  <c:v>B3 (nhận biết OCR)</c:v>
                </c:pt>
              </c:strCache>
            </c:strRef>
          </c:tx>
          <c:spPr>
            <a:solidFill>
              <a:srgbClr val="E8A33D"/>
            </a:solidFill>
            <a:effectLst/>
          </c:spPr>
          <c:invertIfNegative val="0"/>
          <c:dLbls>
            <c:numFmt formatCode="0.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seed 42</c:v>
                  </c:pt>
                  <c:pt idx="1">
                    <c:v>seed 43</c:v>
                  </c:pt>
                  <c:pt idx="2">
                    <c:v>seed 44</c:v>
                  </c:pt>
                </c:lvl>
              </c:multiLvlStrCache>
            </c:multiLvlStrRef>
          </c:cat>
          <c:val>
            <c:numRef>
              <c:f>Sheet1!$C$2:$C$4</c:f>
              <c:numCache>
                <c:formatCode>General</c:formatCode>
                <c:ptCount val="3"/>
                <c:pt idx="0">
                  <c:v>49.25</c:v>
                </c:pt>
                <c:pt idx="1">
                  <c:v>49</c:v>
                </c:pt>
                <c:pt idx="2">
                  <c:v>48.8</c:v>
                </c:pt>
              </c:numCache>
            </c:numRef>
          </c:val>
        </c:ser>
        <c:dLbls>
          <c:numFmt formatCode="0.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52"/>
          <c:min val="4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430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EM (%) trên val sạch, ảnh không trùng train (688 câu)</a:t>
            </a:r>
          </a:p>
        </c:rich>
      </c:tx>
      <c:layout/>
      <c:overlay val="0"/>
    </c:title>
    <c:autoTitleDeleted val="0"/>
    <c:plotArea>
      <c:layout/>
      <c:barChart>
        <c:barDir val="bar"/>
        <c:grouping val="clustered"/>
        <c:varyColors val="0"/>
        <c:ser>
          <c:idx val="0"/>
          <c:order val="0"/>
          <c:tx>
            <c:strRef>
              <c:f>Sheet1!$B$1</c:f>
              <c:strCache>
                <c:ptCount val="1"/>
                <c:pt idx="0">
                  <c:v>EM</c:v>
                </c:pt>
              </c:strCache>
            </c:strRef>
          </c:tx>
          <c:spPr>
            <a:solidFill>
              <a:srgbClr val="6B7280"/>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dPt>
            <c:idx val="0"/>
            <c:invertIfNegative val="0"/>
            <c:bubble3D val="0"/>
            <c:spPr>
              <a:solidFill>
                <a:srgbClr val="6B7280"/>
              </a:solidFill>
              <a:effectLst/>
            </c:spPr>
          </c:dPt>
          <c:dPt>
            <c:idx val="1"/>
            <c:invertIfNegative val="0"/>
            <c:bubble3D val="0"/>
            <c:spPr>
              <a:solidFill>
                <a:srgbClr val="6B7280"/>
              </a:solidFill>
              <a:effectLst/>
            </c:spPr>
          </c:dPt>
          <c:dPt>
            <c:idx val="2"/>
            <c:invertIfNegative val="0"/>
            <c:bubble3D val="0"/>
            <c:spPr>
              <a:solidFill>
                <a:srgbClr val="E8A33D"/>
              </a:solidFill>
              <a:effectLst/>
            </c:spPr>
          </c:dPt>
          <c:cat>
            <c:multiLvlStrRef>
              <c:f>Sheet1!$A$2:$A$4</c:f>
              <c:multiLvlStrCache>
                <c:ptCount val="3"/>
                <c:lvl>
                  <c:pt idx="0">
                    <c:v>C1 · B2, lịch 1 epoch</c:v>
                  </c:pt>
                  <c:pt idx="1">
                    <c:v>C2 · lịch 2 epoch, sau epoch 1</c:v>
                  </c:pt>
                  <c:pt idx="2">
                    <c:v>C3 · lịch 2 epoch, sau epoch 2</c:v>
                  </c:pt>
                </c:lvl>
              </c:multiLvlStrCache>
            </c:multiLvlStrRef>
          </c:cat>
          <c:val>
            <c:numRef>
              <c:f>Sheet1!$B$2:$B$4</c:f>
              <c:numCache>
                <c:formatCode>General</c:formatCode>
                <c:ptCount val="3"/>
                <c:pt idx="0">
                  <c:v>73.11</c:v>
                </c:pt>
                <c:pt idx="1">
                  <c:v>71.51</c:v>
                </c:pt>
                <c:pt idx="2">
                  <c:v>77.03</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80"/>
          <c:min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hội đồng. Nhóm trình bày Review 2: tái lập baseline Qwen2.5-VL-3B, kết quả QLoRA, và phương pháp đề xuất là QLoRA nhận biết OCR. Toàn bộ số liệu đều có log và có thể chạy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con số cần nhớ. Một: pipeline đánh giá của nhóm tái lập đúng số công bố của Qwen2.5-VL-3B trên TextVQA (79,6 so với 79,3), nên các số tiếng Việt phía sau đáng tin. Hai: QLoRA chỉ train 0,2% tham số nhưng tăng EM rất mạnh trên cả hai bộ dữ liệu, có kiểm định thống kê. Ba: trên toàn bộ test ViTextVQA, B2 vượt SOTA của paper ViTextBLIP-2. Bốn: phương pháp đề xuất, QLoRA nhận biết OCR, tăng thêm 2,5 điểm EM so với cùng QLoRA trên cùng dữ liệu, ổn định qua 3 seed và trên full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buổi họp ngày 07/10, thầy Trí yêu cầu năm việc trước khi bàn cải tiến. Bảng này cho thấy mỗi yêu cầu được xử lý ở slide nào. Các góp ý của reviewer Review 1 đã được sửa trong bản báo cáo Review 1 và ghi trong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ViVQA được tạo từ COCO-QA, câu hỏi sinh tự động rồi dịch bằng Google Translate. Vì vậy có các điểm nhiễu N1 đến N4, ví dụ purple bị dịch thành tía. Nhóm cũng kiểm tra rò rỉ: ở ViVQA, 46% ảnh test xuất hiện trong train; ở ViTextVQA thì không có ảnh trùng nào, nên đây là phép thử tổng quát hoá sạch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baseline mà thầy yêu cầu. Ảnh đi qua vision encoder 32 khối, được gộp còn 256 đến 512 token, rồi ghép với câu hỏi đưa vào decoder 36 lớp. Toàn bộ trọng số gốc đóng băng và lượng tử 4-bit. Phần duy nhất được train là LoRA ở 4 phép chiếu q, k, v, o của self-attention — ô màu 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run dùng chung một giao thức: split và seed cố định, cùng prompt, cấu hình khoá trong file config, cùng hàm chuẩn hoá và metric, và log đầy đủ commit, GPU, thời gian. So sánh hai run luôn dùng kiểm định ghép cặp McNemar cho EM và bootstrap cho ANLS. Luật kết luận được chốt trước khi chạy để tránh chọn kết quả có lợi.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Vấn đề: chưa paper nào công bố Qwen2.5-VL-3B trên ViVQA hay ViTextVQA, nên không thể so trực tiếp. Nhóm kiểm chứng pipeline bằng một con số đã công bố: TextVQA val trong báo cáo Qwen2.5-VL là 79,3. Nhóm chạy được 79,6, nằm trong ngưỡng ±2 điểm đã chốt. Cấu hình tiết kiệm của nhóm (4-bit, 512 token) mất 4,4 điểm nhưng giảm VRAM 4,3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là baseline zero-shot chính thức. Lỗi lớn nhất là định dạng: model trả lời dài hơn đáp án chuẩn, ví dụ 'Lịch tết năm 2021' trong khi đáp án là '2021'. Trên ViTextVQA có 19% câu model đọc ra đúng đáp án nhưng EM vẫn tính sai. Theo loại câu hỏi, ViVQA rất yếu ở vị trí và đồ vật.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7 của paper ViTextVQA có dòng QwenVL-7b đạt EM 28 trên 100 câu. Nhóm chạy Qwen2-VL-7B trong đúng điều kiện của baseline. Kết quả 7B kém 3B 12,6 điểm EM, p rất nhỏ, chậm hơn và tốn VRAM hơn. Nguyên nhân chính là 7B trả lời dài, trung bình 8,2 từ. Table 7 chỉ có 100 câu nên sai số khoảng ±9 điểm, không đủ để chọn giữa 3B và 7B. Vì vậy nhóm giữ Qwen2.5-VL-3B.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khác B1 đúng một biến: có adapter LoRA. Chỉ một epoch, EM ViVQA tăng từ 22 lên 74, ViTextVQA từ 29 lên 50 trên toàn bộ test. Cả hai đạt luật chốt trước: EM tăng và McNemar p nhỏ hơn 0,05. Chi phí rất thấp: 3 giờ train cho ViVQA, 12 giờ cho ViTextVQA, VRAM dưới 7 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phép đối chứng. Một: ở ViVQA, trên phần test sạch chưa từng xuất hiện trong train, EM vẫn tăng từ 25 lên 69. Hai: ViTextVQA không có ảnh trùng mà vẫn tăng 21 điểm. Ba: đưa 5 ví dụ đáp án vào prompt (few-shot) không giúp gì, thậm chí giảm ở ViVQA. Vậy QLoRA học được nhiều hơn là cách trả lời ngắn.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toàn bộ 10.028 câu test, B2 đạt EM 50,3 và F1 71,2, cao hơn ViTextBLIP-2 là SOTA của paper, với cận dưới khoảng tin cậy vẫn cao hơn số công bố. B1 zero-shot chỉ cao hơn về EM, còn F1 thì ngang. Chạy lại trên 2.000 câu chung cho kết quả trùng 100%. Giới hạn: paper không công bố cách chuẩn hoá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loại tự động 4.988 câu B2 còn sai trên full test ViTextVQA. 9% chỉ sai dấu thanh, ví dụ thủy và thúy — đây là thách thức riêng của tiếng Việt. 17% chỉ lệch một hai ký tự, thường là đọc chữ hoặc số. Khoảng 27% sai về độ dài: thừa hoặc thiếu chữ so với gold. 47% còn lại sai về nội dung hoặc vùng ảnh. Nhóm đã duyệt tay 200 lỗi của B2 có xem ảnh, 4 người cùng nhãn gợi ý của AI, trưởng nhóm phân xử các chỗ lệch. Kết quả: 54% câu bị EM chấm sai thực ra đúng ý — EM quá khắt khe; 12,5% do gold nhiễu; ở ViTextVQA lỗi thật chủ yếu là đọc sai chữ 28% và đọc nhầm vùng chữ 23%; hallucination thật chỉ 7%. Chính các lỗi đọc chữ này dẫn tới phương pháp đề xuất ở phần sau. Độ đồng thuận giữa hai người gán nhãn độc lập kappa 0,62; bỏ 42 dòng có AI hỗ trợ thì kết luận không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phân tích lỗi, nhóm đề xuất B3: QLoRA nhận biết OCR. Ảnh được chạy OCR trước — PaddleOCR dò vùng chữ, VietOCR đọc chữ tiếng Việt — rồi đúng một dòng 'Văn bản đọc được trong ảnh' được chèn trước câu hỏi. Điểm mấu chốt: dòng OCR có mặt cả lúc train lẫn lúc test, nên model học khi nào tin OCR, khi nào tin ảnh. Backend OCR được chọn trên dev300 bằng luật chốt trước: PaddleOCR bản Latin làm rơi dấu tiếng Việt, ví dụ 'Kiểu Thẩm' thành 'Kiu Thm'; VietOCR giữ được đáp án trong văn bản OCR ở 37,7% câu so với 27,0%.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ablation bắt buộc có và không có OCR, làm thành bảng hai nhân hai trên cùng tập con và cùng 2.000 câu test. Chỉ chèn OCR lúc test cho model chưa train cùng OCR: không tăng, kể cả với zero-shot B1 và B2 ở tuần 8. Train cùng OCR mà lúc test bỏ OCR: cũng không tăng. Chỉ khi có cả hai thì EM tăng 4,35 điểm, p cỡ 10 mũ trừ 8. Tương tác là 4,9 điểm, khoảng tin cậy 3,2 đến 6,6. Vậy đóng góp không phải là thêm OCR vào prompt, mà là dạy model cách dùng 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câu hỏi hội đồng hay đặt: một seed có phải may mắn không, và tập con có đại diện không. Ba seed huấn luyện 42, 43, 44, cùng tập con: cả ba seed B3 đều thắng B2-sub có ý nghĩa, trung bình cộng 3,57 điểm EM, độ lệch chuẩn 0,76. Trên toàn bộ 10.028 câu test, B3 thắng B2-sub 2,54 điểm, p cỡ 10 mũ trừ 14, và cao hơn ViTextBLIP-2 ở cả EM lẫn F1. Nhóm cũng đính chính: B3 dùng 23% dữ liệu vẫn thấp hơn B2 train toàn bộ 1,16 điểm; OCR bù được khoảng 69% phần mất do cắt dữ liệu. Về ANLS, mức tăng là 1,55 điểm, dưới ngưỡng 3 điểm của H6.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ViVQA, câu hỏi là train một hay hai epoch. Val của ViVQA được tách theo câu hỏi nên 43% câu val dùng chung ảnh với train; train lâu hơn dễ nhớ ảnh và làm val đẹp giả. Vì vậy nhóm chỉ chọn epoch trên 688 câu val có ảnh chưa từng xuất hiện trong train. Lịch hai epoch sau epoch 2 hơn B2 một epoch 3,9 điểm, có ý nghĩa, nên được chọn. Chỉ khi đó mới chấm test, một lần: EM tăng từ 73,8 lên 76,6, p cỡ 10 mũ trừ 9. Kiểm tra thêm sau khi có kết quả: trên phần test sạch, ảnh và cặp hỏi đáp chưa từng thấy, mức tăng vẫn là 3,2 điểm — nên đây không phải do model nhớ ảnh. Chi phí: gấp đôi thời gian train, 6,1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Đối chiếu với các giả thuyết đã nêu ở Review 1. H1 được ủng hộ mạnh. H2 chỉ đạt một nửa: VRAM giảm nhiều nhưng độ chính xác giữ 94,5%, dưới mức 97%. H7 chưa được ủng hộ với dạng few-shot đã thử. H8: duyệt tay 200 lỗi của B2 cho thấy chỉ khoảng 7% là hallucination thật; nhưng H8 so sánh với zero-shot, nên cần đo thêm B1 ở tuần 11 — vì vậy vẫn để Đang chờ. H6 chỉ ủng hộ một phần: OCR cộng hưởng mạnh với QLoRA, nhưng ANLS chỉ tăng 1,55 điểm, dưới ngưỡng 3 điểm đã đặt — nhóm báo đúng như vậy. H3 đến H5 thuộc kế hoạch tuần 10 đến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tuần 10 đến tuần 13: train QLoRA nhận biết OCR trên toàn bộ dữ liệu ViTextVQA để xem có vượt B2 không, ablation rank và module gắn LoRA, adapter dùng chung cho hai dataset, đo hallucination có hệ thống kể cả B3, rồi dựng prototype web: tải ảnh, chạy OCR, hỏi bằng tiếng Việt — cho Review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hội đồng đã lắng nghe. Nhóm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329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09728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548640" y="2743200"/>
            <a:ext cx="11094415" cy="3291840"/>
          </a:xfrm>
          <a:prstGeom prst="rect">
            <a:avLst/>
          </a:prstGeom>
          <a:noFill/>
          <a:ln/>
        </p:spPr>
        <p:txBody>
          <a:bodyPr wrap="square" rtlCol="0"/>
          <a:lstStyle>
            <a:lvl1pPr algn="l" indent="0" marL="0">
              <a:buNone/>
              <a:defRPr lang="en-US" sz="1800" dirty="0">
                <a:solidFill>
                  <a:schemeClr val="bg1"/>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rtlCol="0"/>
          <a:lstStyle>
            <a:lvl1pPr indent="0" marL="0">
              <a:buNone/>
              <a:defRPr lang="en-US" sz="1100" b="1" spc="2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3"/>
                </a:solidFill>
                <a:latin typeface="Calibri" pitchFamily="34" charset="0"/>
                <a:ea typeface="Calibri" pitchFamily="34" charset="-122"/>
                <a:cs typeface="Calibri" pitchFamily="34" charset="-120"/>
              </a:rPr>
              <a:t>ViVQA-VLM · Review 2 · GFA26AI35 · Đại học FPT</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09728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ViVQA-VLM</a:t>
            </a:r>
            <a:endParaRPr lang="en-US" sz="5400" dirty="0"/>
          </a:p>
        </p:txBody>
      </p:sp>
      <p:sp>
        <p:nvSpPr>
          <p:cNvPr id="3" name="Text 0"/>
          <p:cNvSpPr/>
          <p:nvPr>
            <p:ph idx="101" type="body" hasCustomPrompt="1"/>
          </p:nvPr>
        </p:nvSpPr>
        <p:spPr>
          <a:xfrm>
            <a:off x="548640" y="2743200"/>
            <a:ext cx="11094415" cy="3291840"/>
          </a:xfrm>
          <a:prstGeom prst="rect">
            <a:avLst/>
          </a:prstGeom>
          <a:noFill/>
          <a:ln/>
        </p:spPr>
        <p:txBody>
          <a:bodyPr wrap="square" lIns="0" tIns="0" rIns="0" bIns="0" rtlCol="0" anchor="t"/>
          <a:lstStyle/>
          <a:p>
            <a:pPr algn="l" indent="0" marL="0">
              <a:buNone/>
            </a:pPr>
            <a:r>
              <a:rPr lang="en-US" sz="2000" dirty="0">
                <a:solidFill>
                  <a:schemeClr val="bg1"/>
                </a:solidFill>
                <a:latin typeface="Calibri" pitchFamily="34" charset="0"/>
                <a:ea typeface="Calibri" pitchFamily="34" charset="-122"/>
                <a:cs typeface="Calibri" pitchFamily="34" charset="-120"/>
              </a:rPr>
              <a:t>Efficient Vietnamese Visual Question Answering using Vision-Language Models</a:t>
            </a:r>
            <a:endParaRPr lang="en-US" sz="1800" dirty="0"/>
          </a:p>
          <a:p>
            <a:pPr algn="l" indent="0" marL="0">
              <a:buNone/>
            </a:pPr>
            <a:r>
              <a:rPr lang="en-US" sz="10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800" b="1" dirty="0">
                <a:solidFill>
                  <a:srgbClr val="E8A33D"/>
                </a:solidFill>
                <a:latin typeface="Calibri" pitchFamily="34" charset="0"/>
                <a:ea typeface="Calibri" pitchFamily="34" charset="-122"/>
                <a:cs typeface="Calibri" pitchFamily="34" charset="-120"/>
              </a:rPr>
              <a:t>Review 2  ·  Baseline, QLoRA và đề xuất QLoRA nhận biết OCR</a:t>
            </a:r>
            <a:endParaRPr lang="en-US" sz="1800" dirty="0"/>
          </a:p>
          <a:p>
            <a:pPr algn="l" indent="0" marL="0">
              <a:buNone/>
            </a:pPr>
            <a:r>
              <a:rPr lang="en-US" sz="18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500" b="1" dirty="0">
                <a:solidFill>
                  <a:schemeClr val="bg1"/>
                </a:solidFill>
                <a:latin typeface="Calibri" pitchFamily="34" charset="0"/>
                <a:ea typeface="Calibri" pitchFamily="34" charset="-122"/>
                <a:cs typeface="Calibri" pitchFamily="34" charset="-120"/>
              </a:rPr>
              <a:t>GVHD:  </a:t>
            </a:r>
            <a:pPr algn="l" indent="0" marL="0">
              <a:buNone/>
            </a:pPr>
            <a:r>
              <a:rPr lang="en-US" sz="1500" dirty="0">
                <a:solidFill>
                  <a:schemeClr val="bg1"/>
                </a:solidFill>
                <a:latin typeface="Calibri" pitchFamily="34" charset="0"/>
                <a:ea typeface="Calibri" pitchFamily="34" charset="-122"/>
                <a:cs typeface="Calibri" pitchFamily="34" charset="-120"/>
              </a:rPr>
              <a:t>Đặng Ngọc Minh Đức · Phạm Minh Trí</a:t>
            </a:r>
            <a:endParaRPr lang="en-US" sz="1800" dirty="0"/>
          </a:p>
          <a:p>
            <a:pPr algn="l" indent="0" marL="0">
              <a:buNone/>
            </a:pPr>
            <a:r>
              <a:rPr lang="en-US" sz="1500" b="1" dirty="0">
                <a:solidFill>
                  <a:schemeClr val="bg1"/>
                </a:solidFill>
                <a:latin typeface="Calibri" pitchFamily="34" charset="0"/>
                <a:ea typeface="Calibri" pitchFamily="34" charset="-122"/>
                <a:cs typeface="Calibri" pitchFamily="34" charset="-120"/>
              </a:rPr>
              <a:t>Nhóm:  </a:t>
            </a:r>
            <a:pPr algn="l" indent="0" marL="0">
              <a:buNone/>
            </a:pPr>
            <a:r>
              <a:rPr lang="en-US" sz="1500" dirty="0">
                <a:solidFill>
                  <a:schemeClr val="bg1"/>
                </a:solidFill>
                <a:latin typeface="Calibri" pitchFamily="34" charset="0"/>
                <a:ea typeface="Calibri" pitchFamily="34" charset="-122"/>
                <a:cs typeface="Calibri" pitchFamily="34" charset="-120"/>
              </a:rPr>
              <a:t>Phạm Lê Huy Hoàng (Trưởng nhóm) · Văn Quang Trường · Trần Quốc Huân · Hồ Đắc Toàn</a:t>
            </a:r>
            <a:endParaRPr lang="en-US" sz="1800" dirty="0"/>
          </a:p>
          <a:p>
            <a:pPr algn="l" indent="0" marL="0">
              <a:buNone/>
            </a:pPr>
            <a:r>
              <a:rPr lang="en-US" sz="15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300" dirty="0">
                <a:solidFill>
                  <a:srgbClr val="A8C4E0"/>
                </a:solidFill>
                <a:latin typeface="Calibri" pitchFamily="34" charset="0"/>
                <a:ea typeface="Calibri" pitchFamily="34" charset="-122"/>
                <a:cs typeface="Calibri" pitchFamily="34" charset="-120"/>
              </a:rPr>
              <a:t>Nhóm GFA26AI35  ·  Đại học FPT  ·  Tháng 10/2026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TÓM TẮT</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Bốn kết quả chính của mốc này</a:t>
            </a:r>
            <a:endParaRPr lang="en-US" sz="3200" dirty="0"/>
          </a:p>
        </p:txBody>
      </p:sp>
      <p:sp>
        <p:nvSpPr>
          <p:cNvPr id="5" name="card_1"/>
          <p:cNvSpPr/>
          <p:nvPr/>
        </p:nvSpPr>
        <p:spPr>
          <a:xfrm>
            <a:off x="548640" y="1600200"/>
            <a:ext cx="2533574" cy="2651760"/>
          </a:xfrm>
          <a:prstGeom prst="roundRect">
            <a:avLst>
              <a:gd name="adj" fmla="val 2887"/>
            </a:avLst>
          </a:prstGeom>
          <a:solidFill>
            <a:schemeClr val="bg2"/>
          </a:solidFill>
          <a:ln w="12700">
            <a:solidFill>
              <a:schemeClr val="bg2"/>
            </a:solidFill>
            <a:prstDash val="solid"/>
          </a:ln>
        </p:spPr>
      </p:sp>
      <p:sp>
        <p:nvSpPr>
          <p:cNvPr id="6" name="text_2"/>
          <p:cNvSpPr txBox="1"/>
          <p:nvPr/>
        </p:nvSpPr>
        <p:spPr>
          <a:xfrm>
            <a:off x="822960" y="2011680"/>
            <a:ext cx="1984934" cy="82296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79,6</a:t>
            </a:r>
            <a:endParaRPr lang="en-US" sz="3600" dirty="0"/>
          </a:p>
        </p:txBody>
      </p:sp>
      <p:sp>
        <p:nvSpPr>
          <p:cNvPr id="7" name="text_3"/>
          <p:cNvSpPr txBox="1"/>
          <p:nvPr/>
        </p:nvSpPr>
        <p:spPr>
          <a:xfrm>
            <a:off x="822960" y="2880360"/>
            <a:ext cx="198493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Kiểm chứng pipeline — TextVQA val, Qwen2.5-VL-3B; báo cáo chính thức ghi 79,3</a:t>
            </a:r>
            <a:endParaRPr lang="en-US" sz="1400" dirty="0"/>
          </a:p>
        </p:txBody>
      </p:sp>
      <p:sp>
        <p:nvSpPr>
          <p:cNvPr id="8" name="card_4"/>
          <p:cNvSpPr/>
          <p:nvPr/>
        </p:nvSpPr>
        <p:spPr>
          <a:xfrm>
            <a:off x="3402254" y="1600200"/>
            <a:ext cx="2533574" cy="2651760"/>
          </a:xfrm>
          <a:prstGeom prst="roundRect">
            <a:avLst>
              <a:gd name="adj" fmla="val 2887"/>
            </a:avLst>
          </a:prstGeom>
          <a:solidFill>
            <a:schemeClr val="bg2"/>
          </a:solidFill>
          <a:ln w="12700">
            <a:solidFill>
              <a:schemeClr val="bg2"/>
            </a:solidFill>
            <a:prstDash val="solid"/>
          </a:ln>
        </p:spPr>
      </p:sp>
      <p:sp>
        <p:nvSpPr>
          <p:cNvPr id="9" name="text_5"/>
          <p:cNvSpPr txBox="1"/>
          <p:nvPr/>
        </p:nvSpPr>
        <p:spPr>
          <a:xfrm>
            <a:off x="3676574" y="2011680"/>
            <a:ext cx="1984934" cy="82296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+21,1</a:t>
            </a:r>
            <a:endParaRPr lang="en-US" sz="3600" dirty="0"/>
          </a:p>
        </p:txBody>
      </p:sp>
      <p:sp>
        <p:nvSpPr>
          <p:cNvPr id="10" name="text_6"/>
          <p:cNvSpPr txBox="1"/>
          <p:nvPr/>
        </p:nvSpPr>
        <p:spPr>
          <a:xfrm>
            <a:off x="3676574" y="2880360"/>
            <a:ext cx="198493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 nhờ QLoRA so với zero-shot, full test ViTextVQA (+51,7 ở ViVQA); p ≈ 0</a:t>
            </a:r>
            <a:endParaRPr lang="en-US" sz="1400" dirty="0"/>
          </a:p>
        </p:txBody>
      </p:sp>
      <p:sp>
        <p:nvSpPr>
          <p:cNvPr id="11" name="card_7"/>
          <p:cNvSpPr/>
          <p:nvPr/>
        </p:nvSpPr>
        <p:spPr>
          <a:xfrm>
            <a:off x="6255868" y="1600200"/>
            <a:ext cx="2533574" cy="2651760"/>
          </a:xfrm>
          <a:prstGeom prst="roundRect">
            <a:avLst>
              <a:gd name="adj" fmla="val 2887"/>
            </a:avLst>
          </a:prstGeom>
          <a:solidFill>
            <a:schemeClr val="bg2"/>
          </a:solidFill>
          <a:ln w="12700">
            <a:solidFill>
              <a:schemeClr val="bg2"/>
            </a:solidFill>
            <a:prstDash val="solid"/>
          </a:ln>
        </p:spPr>
      </p:sp>
      <p:sp>
        <p:nvSpPr>
          <p:cNvPr id="12" name="text_8"/>
          <p:cNvSpPr txBox="1"/>
          <p:nvPr/>
        </p:nvSpPr>
        <p:spPr>
          <a:xfrm>
            <a:off x="6530188" y="2011680"/>
            <a:ext cx="1984934" cy="82296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50,3</a:t>
            </a:r>
            <a:endParaRPr lang="en-US" sz="3600" dirty="0"/>
          </a:p>
        </p:txBody>
      </p:sp>
      <p:sp>
        <p:nvSpPr>
          <p:cNvPr id="13" name="text_9"/>
          <p:cNvSpPr txBox="1"/>
          <p:nvPr/>
        </p:nvSpPr>
        <p:spPr>
          <a:xfrm>
            <a:off x="6530188" y="2880360"/>
            <a:ext cx="198493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 trên full test ViTextVQA so với 25,5 của SOTA công bố ViTextBLIP-2</a:t>
            </a:r>
            <a:endParaRPr lang="en-US" sz="1400" dirty="0"/>
          </a:p>
        </p:txBody>
      </p:sp>
      <p:sp>
        <p:nvSpPr>
          <p:cNvPr id="14" name="card_10"/>
          <p:cNvSpPr/>
          <p:nvPr/>
        </p:nvSpPr>
        <p:spPr>
          <a:xfrm>
            <a:off x="9109481" y="1600200"/>
            <a:ext cx="2533574" cy="2651760"/>
          </a:xfrm>
          <a:prstGeom prst="roundRect">
            <a:avLst>
              <a:gd name="adj" fmla="val 2887"/>
            </a:avLst>
          </a:prstGeom>
          <a:solidFill>
            <a:schemeClr val="accent5"/>
          </a:solidFill>
          <a:ln w="12700">
            <a:solidFill>
              <a:schemeClr val="accent5"/>
            </a:solidFill>
            <a:prstDash val="solid"/>
          </a:ln>
        </p:spPr>
      </p:sp>
      <p:sp>
        <p:nvSpPr>
          <p:cNvPr id="15" name="text_11"/>
          <p:cNvSpPr txBox="1"/>
          <p:nvPr/>
        </p:nvSpPr>
        <p:spPr>
          <a:xfrm>
            <a:off x="9383801" y="2011680"/>
            <a:ext cx="1984934" cy="82296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+2,5</a:t>
            </a:r>
            <a:endParaRPr lang="en-US" sz="3600" dirty="0"/>
          </a:p>
        </p:txBody>
      </p:sp>
      <p:sp>
        <p:nvSpPr>
          <p:cNvPr id="16" name="text_12"/>
          <p:cNvSpPr txBox="1"/>
          <p:nvPr/>
        </p:nvSpPr>
        <p:spPr>
          <a:xfrm>
            <a:off x="9383801" y="2880360"/>
            <a:ext cx="198493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 nhờ QLoRA nhận biết OCR so với cùng QLoRA không OCR (full test, p = 10⁻¹⁴; ổn định qua 3 seed)</a:t>
            </a:r>
            <a:endParaRPr lang="en-US" sz="1400" dirty="0"/>
          </a:p>
        </p:txBody>
      </p:sp>
      <p:sp>
        <p:nvSpPr>
          <p:cNvPr id="17" name="card_13"/>
          <p:cNvSpPr/>
          <p:nvPr/>
        </p:nvSpPr>
        <p:spPr>
          <a:xfrm>
            <a:off x="548640" y="4572000"/>
            <a:ext cx="11094415" cy="960120"/>
          </a:xfrm>
          <a:prstGeom prst="roundRect">
            <a:avLst>
              <a:gd name="adj" fmla="val 7619"/>
            </a:avLst>
          </a:prstGeom>
          <a:solidFill>
            <a:schemeClr val="accent4"/>
          </a:solidFill>
          <a:ln w="12700">
            <a:solidFill>
              <a:schemeClr val="accent4"/>
            </a:solidFill>
            <a:prstDash val="solid"/>
          </a:ln>
        </p:spPr>
      </p:sp>
      <p:sp>
        <p:nvSpPr>
          <p:cNvPr id="18" name="text_14"/>
          <p:cNvSpPr txBox="1"/>
          <p:nvPr/>
        </p:nvSpPr>
        <p:spPr>
          <a:xfrm>
            <a:off x="868680" y="4572000"/>
            <a:ext cx="10454335" cy="960120"/>
          </a:xfrm>
          <a:prstGeom prst="rect">
            <a:avLst/>
          </a:prstGeom>
          <a:noFill/>
          <a:ln/>
        </p:spPr>
        <p:txBody>
          <a:bodyPr wrap="square" lIns="0" tIns="0" rIns="0" bIns="0" rtlCol="0" anchor="ctr"/>
          <a:lstStyle/>
          <a:p>
            <a:pPr indent="0" marL="0">
              <a:buNone/>
            </a:pPr>
            <a:r>
              <a:rPr lang="en-US" sz="1600" dirty="0">
                <a:solidFill>
                  <a:schemeClr val="tx2"/>
                </a:solidFill>
                <a:latin typeface="Calibri" pitchFamily="34" charset="0"/>
                <a:ea typeface="Calibri" pitchFamily="34" charset="-122"/>
                <a:cs typeface="Calibri" pitchFamily="34" charset="-120"/>
              </a:rPr>
              <a:t>Hiệu quả theo thiết kế: QLoRA chỉ train 7,37 triệu tham số (0,196%), adapter 29,5 MB, trên một GPU NVIDIA L4 — không full fine-tuning.</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01 · XỬ LÝ GÓP Ý</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Góp ý của GVHD (07/10) và việc nhóm đã làm</a:t>
            </a:r>
            <a:endParaRPr lang="en-US" sz="3200" dirty="0"/>
          </a:p>
        </p:txBody>
      </p:sp>
      <p:graphicFrame>
        <p:nvGraphicFramePr>
          <p:cNvPr id="4" name="table_15"/>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291840"/>
                <a:gridCol w="6675120"/>
                <a:gridCol w="1124712"/>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Góp ý</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Việc đã làm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Slide</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Chưa có sơ đồ kiến trúc baseline</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Sơ đồ từng thành phần của Qwen2.5-VL-3B và vị trí gắn LoRA (Hình 7A)</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Giải thích dataset và nhiễu</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Quy trình tạo ViVQA + điểm nhiễu N1–N4 (Hình 6A); kiểm tra rò rỉ train–test; duyệt tay 400 mẫu</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4, 13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Chạy lại baseline với phương pháp đánh giá rõ ràng</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Giao thức cố định (Hình 7B); kiểm chứng pipeline bằng số đã công bố (R0); B1 zero-shot trên 2 dataset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6–8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Nắm SOTA</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So với ViTextBLIP-2 trên full test; kiểm dòng LMM ở Table 7 bằng Qwen2-VL-7B (R1)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9, 12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Chạy thí nghiệm rồi mới bàn cải tiến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QLoRA (B2) + ba đối chứng; sau đó phương pháp đề xuất QLoRA nhận biết OCR (B3) kèm ablation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10–17</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02 · HIỂU DỮ LIỆU</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ViVQA được dịch máy — nhiễu nằm sẵn trong dữ liệu</a:t>
            </a:r>
            <a:endParaRPr lang="en-US" sz="3200" dirty="0"/>
          </a:p>
        </p:txBody>
      </p:sp>
      <p:pic>
        <p:nvPicPr>
          <p:cNvPr id="5" name="figure_16" descr="a6">    </p:cNvPr>
          <p:cNvPicPr>
            <a:picLocks noChangeAspect="1"/>
          </p:cNvPicPr>
          <p:nvPr/>
        </p:nvPicPr>
        <p:blipFill>
          <a:blip r:embed="rId1"/>
          <a:stretch>
            <a:fillRect/>
          </a:stretch>
        </p:blipFill>
        <p:spPr>
          <a:xfrm>
            <a:off x="1144641" y="1371600"/>
            <a:ext cx="9902414" cy="3840480"/>
          </a:xfrm>
          <a:prstGeom prst="rect">
            <a:avLst/>
          </a:prstGeom>
        </p:spPr>
      </p:pic>
      <p:sp>
        <p:nvSpPr>
          <p:cNvPr id="6" name="card_17"/>
          <p:cNvSpPr/>
          <p:nvPr/>
        </p:nvSpPr>
        <p:spPr>
          <a:xfrm>
            <a:off x="548640" y="5486400"/>
            <a:ext cx="5364328" cy="777240"/>
          </a:xfrm>
          <a:prstGeom prst="roundRect">
            <a:avLst>
              <a:gd name="adj" fmla="val 9412"/>
            </a:avLst>
          </a:prstGeom>
          <a:solidFill>
            <a:schemeClr val="bg2"/>
          </a:solidFill>
          <a:ln w="12700">
            <a:solidFill>
              <a:schemeClr val="bg2"/>
            </a:solidFill>
            <a:prstDash val="solid"/>
          </a:ln>
        </p:spPr>
      </p:sp>
      <p:sp>
        <p:nvSpPr>
          <p:cNvPr id="7" name="text_18"/>
          <p:cNvSpPr txBox="1"/>
          <p:nvPr/>
        </p:nvSpPr>
        <p:spPr>
          <a:xfrm>
            <a:off x="822960" y="5623560"/>
            <a:ext cx="4815688" cy="50292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ViVQA  </a:t>
            </a:r>
            <a:pPr indent="0" marL="0">
              <a:buNone/>
            </a:pPr>
            <a:r>
              <a:rPr lang="en-US" sz="1400" dirty="0">
                <a:solidFill>
                  <a:schemeClr val="tx1"/>
                </a:solidFill>
                <a:latin typeface="Calibri" pitchFamily="34" charset="0"/>
                <a:ea typeface="Calibri" pitchFamily="34" charset="-122"/>
                <a:cs typeface="Calibri" pitchFamily="34" charset="-120"/>
              </a:rPr>
              <a:t>1.274 / 2.789 ảnh test cũng có trong train; 99,4% đáp án test thuộc 333 đáp án của train (từ vựng đóng)</a:t>
            </a:r>
            <a:endParaRPr lang="en-US" sz="1400" dirty="0"/>
          </a:p>
        </p:txBody>
      </p:sp>
      <p:sp>
        <p:nvSpPr>
          <p:cNvPr id="8" name="card_19"/>
          <p:cNvSpPr/>
          <p:nvPr/>
        </p:nvSpPr>
        <p:spPr>
          <a:xfrm>
            <a:off x="6278728" y="5486400"/>
            <a:ext cx="5364328" cy="777240"/>
          </a:xfrm>
          <a:prstGeom prst="roundRect">
            <a:avLst>
              <a:gd name="adj" fmla="val 9412"/>
            </a:avLst>
          </a:prstGeom>
          <a:solidFill>
            <a:schemeClr val="accent4"/>
          </a:solidFill>
          <a:ln w="12700">
            <a:solidFill>
              <a:schemeClr val="accent4"/>
            </a:solidFill>
            <a:prstDash val="solid"/>
          </a:ln>
        </p:spPr>
      </p:sp>
      <p:sp>
        <p:nvSpPr>
          <p:cNvPr id="9" name="text_20"/>
          <p:cNvSpPr txBox="1"/>
          <p:nvPr/>
        </p:nvSpPr>
        <p:spPr>
          <a:xfrm>
            <a:off x="6553048" y="5623560"/>
            <a:ext cx="4815688" cy="50292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ViTextVQA  </a:t>
            </a:r>
            <a:pPr indent="0" marL="0">
              <a:buNone/>
            </a:pPr>
            <a:r>
              <a:rPr lang="en-US" sz="1400" dirty="0">
                <a:solidFill>
                  <a:schemeClr val="tx1"/>
                </a:solidFill>
                <a:latin typeface="Calibri" pitchFamily="34" charset="0"/>
                <a:ea typeface="Calibri" pitchFamily="34" charset="-122"/>
                <a:cs typeface="Calibri" pitchFamily="34" charset="-120"/>
              </a:rPr>
              <a:t>0 ảnh trùng giữa train/dev và test; 46% đáp án test có trong train → phép thử tổng quát hoá sạch hơn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03 · KIẾN TRÚC BASELINE</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Qwen2.5-VL-3B-Instruct</a:t>
            </a:r>
            <a:endParaRPr lang="en-US" sz="3200" dirty="0"/>
          </a:p>
        </p:txBody>
      </p:sp>
      <p:pic>
        <p:nvPicPr>
          <p:cNvPr id="5" name="figure_21" descr="a7">    </p:cNvPr>
          <p:cNvPicPr>
            <a:picLocks noChangeAspect="1"/>
          </p:cNvPicPr>
          <p:nvPr/>
        </p:nvPicPr>
        <p:blipFill>
          <a:blip r:embed="rId1"/>
          <a:stretch>
            <a:fillRect/>
          </a:stretch>
        </p:blipFill>
        <p:spPr>
          <a:xfrm>
            <a:off x="548640" y="1325880"/>
            <a:ext cx="8138160" cy="4641536"/>
          </a:xfrm>
          <a:prstGeom prst="rect">
            <a:avLst/>
          </a:prstGeom>
        </p:spPr>
      </p:pic>
      <p:sp>
        <p:nvSpPr>
          <p:cNvPr id="6" name="card_22"/>
          <p:cNvSpPr/>
          <p:nvPr/>
        </p:nvSpPr>
        <p:spPr>
          <a:xfrm>
            <a:off x="9052560" y="1325880"/>
            <a:ext cx="2590495" cy="2240280"/>
          </a:xfrm>
          <a:prstGeom prst="roundRect">
            <a:avLst>
              <a:gd name="adj" fmla="val 3265"/>
            </a:avLst>
          </a:prstGeom>
          <a:solidFill>
            <a:schemeClr val="accent5"/>
          </a:solidFill>
          <a:ln w="12700">
            <a:solidFill>
              <a:schemeClr val="accent5"/>
            </a:solidFill>
            <a:prstDash val="solid"/>
          </a:ln>
        </p:spPr>
      </p:sp>
      <p:sp>
        <p:nvSpPr>
          <p:cNvPr id="7" name="text_23"/>
          <p:cNvSpPr txBox="1"/>
          <p:nvPr/>
        </p:nvSpPr>
        <p:spPr>
          <a:xfrm>
            <a:off x="9281160" y="1463040"/>
            <a:ext cx="213329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Được train (QLoRA)</a:t>
            </a:r>
            <a:endParaRPr lang="en-US" sz="1600" dirty="0"/>
          </a:p>
        </p:txBody>
      </p:sp>
      <p:sp>
        <p:nvSpPr>
          <p:cNvPr id="8" name="list_24"/>
          <p:cNvSpPr txBox="1"/>
          <p:nvPr/>
        </p:nvSpPr>
        <p:spPr>
          <a:xfrm>
            <a:off x="9281160" y="1874520"/>
            <a:ext cx="2133295" cy="16002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LoRA r = 16, α = 32 trên q, k, v, o</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7.372.800 tham số = 0,196%</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Adapter 29,5 MB</a:t>
            </a:r>
            <a:endParaRPr lang="en-US" sz="1400" dirty="0"/>
          </a:p>
        </p:txBody>
      </p:sp>
      <p:sp>
        <p:nvSpPr>
          <p:cNvPr id="9" name="card_25"/>
          <p:cNvSpPr/>
          <p:nvPr/>
        </p:nvSpPr>
        <p:spPr>
          <a:xfrm>
            <a:off x="9052560" y="3749040"/>
            <a:ext cx="2590495" cy="2514600"/>
          </a:xfrm>
          <a:prstGeom prst="roundRect">
            <a:avLst>
              <a:gd name="adj" fmla="val 2909"/>
            </a:avLst>
          </a:prstGeom>
          <a:solidFill>
            <a:schemeClr val="bg2"/>
          </a:solidFill>
          <a:ln w="12700">
            <a:solidFill>
              <a:schemeClr val="bg2"/>
            </a:solidFill>
            <a:prstDash val="solid"/>
          </a:ln>
        </p:spPr>
      </p:sp>
      <p:sp>
        <p:nvSpPr>
          <p:cNvPr id="10" name="text_26"/>
          <p:cNvSpPr txBox="1"/>
          <p:nvPr/>
        </p:nvSpPr>
        <p:spPr>
          <a:xfrm>
            <a:off x="9281160" y="3886200"/>
            <a:ext cx="213329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Đóng băng</a:t>
            </a:r>
            <a:endParaRPr lang="en-US" sz="1600" dirty="0"/>
          </a:p>
        </p:txBody>
      </p:sp>
      <p:sp>
        <p:nvSpPr>
          <p:cNvPr id="11" name="list_27"/>
          <p:cNvSpPr txBox="1"/>
          <p:nvPr/>
        </p:nvSpPr>
        <p:spPr>
          <a:xfrm>
            <a:off x="9281160" y="4297680"/>
            <a:ext cx="2133295" cy="18288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ViT (32 khối) + patch merger</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LLM decoder 36 lớp, 4-bit NF4</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256–512 token ảnh mỗi ảnh</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03 · GIAO THỨC ĐÁNH GIÁ</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Mọi run theo một giao thức cố định</a:t>
            </a:r>
            <a:endParaRPr lang="en-US" sz="3200" dirty="0"/>
          </a:p>
        </p:txBody>
      </p:sp>
      <p:pic>
        <p:nvPicPr>
          <p:cNvPr id="5" name="figure_28" descr="b7">    </p:cNvPr>
          <p:cNvPicPr>
            <a:picLocks noChangeAspect="1"/>
          </p:cNvPicPr>
          <p:nvPr/>
        </p:nvPicPr>
        <p:blipFill>
          <a:blip r:embed="rId1"/>
          <a:stretch>
            <a:fillRect/>
          </a:stretch>
        </p:blipFill>
        <p:spPr>
          <a:xfrm>
            <a:off x="548640" y="1325880"/>
            <a:ext cx="11094415" cy="2161935"/>
          </a:xfrm>
          <a:prstGeom prst="rect">
            <a:avLst/>
          </a:prstGeom>
        </p:spPr>
      </p:pic>
      <p:sp>
        <p:nvSpPr>
          <p:cNvPr id="6" name="card_29"/>
          <p:cNvSpPr/>
          <p:nvPr/>
        </p:nvSpPr>
        <p:spPr>
          <a:xfrm>
            <a:off x="548640" y="3807855"/>
            <a:ext cx="3454298" cy="2455785"/>
          </a:xfrm>
          <a:prstGeom prst="roundRect">
            <a:avLst>
              <a:gd name="adj" fmla="val 2979"/>
            </a:avLst>
          </a:prstGeom>
          <a:solidFill>
            <a:schemeClr val="bg2"/>
          </a:solidFill>
          <a:ln w="12700">
            <a:solidFill>
              <a:schemeClr val="bg2"/>
            </a:solidFill>
            <a:prstDash val="solid"/>
          </a:ln>
        </p:spPr>
      </p:sp>
      <p:sp>
        <p:nvSpPr>
          <p:cNvPr id="7" name="text_30"/>
          <p:cNvSpPr txBox="1"/>
          <p:nvPr/>
        </p:nvSpPr>
        <p:spPr>
          <a:xfrm>
            <a:off x="777240" y="3945015"/>
            <a:ext cx="299709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Cấu hình cố định</a:t>
            </a:r>
            <a:endParaRPr lang="en-US" sz="1600" dirty="0"/>
          </a:p>
        </p:txBody>
      </p:sp>
      <p:sp>
        <p:nvSpPr>
          <p:cNvPr id="8" name="list_31"/>
          <p:cNvSpPr txBox="1"/>
          <p:nvPr/>
        </p:nvSpPr>
        <p:spPr>
          <a:xfrm>
            <a:off x="777240" y="4356495"/>
            <a:ext cx="2997098" cy="1815705"/>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Tính bf16, 4-bit NF4 + double quant</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Tối đa 512 token ảnh</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Greedy, 32 token sinh</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Seed 42 · NVIDIA L4</a:t>
            </a:r>
            <a:endParaRPr lang="en-US" sz="1400" dirty="0"/>
          </a:p>
        </p:txBody>
      </p:sp>
      <p:sp>
        <p:nvSpPr>
          <p:cNvPr id="9" name="card_32"/>
          <p:cNvSpPr/>
          <p:nvPr/>
        </p:nvSpPr>
        <p:spPr>
          <a:xfrm>
            <a:off x="4368698" y="3807855"/>
            <a:ext cx="3454298" cy="2455785"/>
          </a:xfrm>
          <a:prstGeom prst="roundRect">
            <a:avLst>
              <a:gd name="adj" fmla="val 2979"/>
            </a:avLst>
          </a:prstGeom>
          <a:solidFill>
            <a:schemeClr val="bg2"/>
          </a:solidFill>
          <a:ln w="12700">
            <a:solidFill>
              <a:schemeClr val="bg2"/>
            </a:solidFill>
            <a:prstDash val="solid"/>
          </a:ln>
        </p:spPr>
      </p:sp>
      <p:sp>
        <p:nvSpPr>
          <p:cNvPr id="10" name="text_33"/>
          <p:cNvSpPr txBox="1"/>
          <p:nvPr/>
        </p:nvSpPr>
        <p:spPr>
          <a:xfrm>
            <a:off x="4597298" y="3945015"/>
            <a:ext cx="299709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Metric</a:t>
            </a:r>
            <a:endParaRPr lang="en-US" sz="1600" dirty="0"/>
          </a:p>
        </p:txBody>
      </p:sp>
      <p:sp>
        <p:nvSpPr>
          <p:cNvPr id="11" name="list_34"/>
          <p:cNvSpPr txBox="1"/>
          <p:nvPr/>
        </p:nvSpPr>
        <p:spPr>
          <a:xfrm>
            <a:off x="4597298" y="4356495"/>
            <a:ext cx="2997098" cy="1815705"/>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Chính: EM, VQA-Acc, ANLS</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Phụ: token-F1 (để so với paper)</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Chuẩn hoá tiếng Việt đối xứng, giữ dấu thanh</a:t>
            </a:r>
            <a:endParaRPr lang="en-US" sz="1400" dirty="0"/>
          </a:p>
        </p:txBody>
      </p:sp>
      <p:sp>
        <p:nvSpPr>
          <p:cNvPr id="12" name="card_35"/>
          <p:cNvSpPr/>
          <p:nvPr/>
        </p:nvSpPr>
        <p:spPr>
          <a:xfrm>
            <a:off x="8188757" y="3807855"/>
            <a:ext cx="3454298" cy="2455785"/>
          </a:xfrm>
          <a:prstGeom prst="roundRect">
            <a:avLst>
              <a:gd name="adj" fmla="val 2979"/>
            </a:avLst>
          </a:prstGeom>
          <a:solidFill>
            <a:schemeClr val="bg2"/>
          </a:solidFill>
          <a:ln w="12700">
            <a:solidFill>
              <a:schemeClr val="bg2"/>
            </a:solidFill>
            <a:prstDash val="solid"/>
          </a:ln>
        </p:spPr>
      </p:sp>
      <p:sp>
        <p:nvSpPr>
          <p:cNvPr id="13" name="text_36"/>
          <p:cNvSpPr txBox="1"/>
          <p:nvPr/>
        </p:nvSpPr>
        <p:spPr>
          <a:xfrm>
            <a:off x="8417357" y="3945015"/>
            <a:ext cx="299709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Thống kê</a:t>
            </a:r>
            <a:endParaRPr lang="en-US" sz="1600" dirty="0"/>
          </a:p>
        </p:txBody>
      </p:sp>
      <p:sp>
        <p:nvSpPr>
          <p:cNvPr id="14" name="list_37"/>
          <p:cNvSpPr txBox="1"/>
          <p:nvPr/>
        </p:nvSpPr>
        <p:spPr>
          <a:xfrm>
            <a:off x="8417357" y="4356495"/>
            <a:ext cx="2997098" cy="1815705"/>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Kiểm định McNemar chính xác, ghép cặp (EM)</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CI95 bootstrap ghép cặp (ANLS)</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Luật kết luận chốt trước mỗi run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04 · KIỂM CHỨNG PIPELINE (R0)</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Pipeline của nhóm tái lập được số đã công bố</a:t>
            </a:r>
            <a:endParaRPr lang="en-US" sz="3200" dirty="0"/>
          </a:p>
        </p:txBody>
      </p:sp>
      <p:graphicFrame>
        <p:nvGraphicFramePr>
          <p:cNvPr id="5" name="chart_38" descr=""/>
          <p:cNvGraphicFramePr/>
          <p:nvPr/>
        </p:nvGraphicFramePr>
        <p:xfrm>
          <a:off x="548640" y="137160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6" name="card_39"/>
          <p:cNvSpPr/>
          <p:nvPr/>
        </p:nvSpPr>
        <p:spPr>
          <a:xfrm>
            <a:off x="7498080" y="1371600"/>
            <a:ext cx="4144975" cy="2240280"/>
          </a:xfrm>
          <a:prstGeom prst="roundRect">
            <a:avLst>
              <a:gd name="adj" fmla="val 3265"/>
            </a:avLst>
          </a:prstGeom>
          <a:solidFill>
            <a:schemeClr val="accent4"/>
          </a:solidFill>
          <a:ln w="12700">
            <a:solidFill>
              <a:schemeClr val="accent4"/>
            </a:solidFill>
            <a:prstDash val="solid"/>
          </a:ln>
        </p:spPr>
      </p:sp>
      <p:sp>
        <p:nvSpPr>
          <p:cNvPr id="7" name="text_40"/>
          <p:cNvSpPr txBox="1"/>
          <p:nvPr/>
        </p:nvSpPr>
        <p:spPr>
          <a:xfrm>
            <a:off x="7772400" y="1508760"/>
            <a:ext cx="35963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Luật chốt trước khi chạy</a:t>
            </a:r>
            <a:endParaRPr lang="en-US" sz="1600" dirty="0"/>
          </a:p>
        </p:txBody>
      </p:sp>
      <p:sp>
        <p:nvSpPr>
          <p:cNvPr id="8" name="text_41"/>
          <p:cNvSpPr txBox="1"/>
          <p:nvPr/>
        </p:nvSpPr>
        <p:spPr>
          <a:xfrm>
            <a:off x="7772400" y="1920240"/>
            <a:ext cx="3596335"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Tái lập được nếu |nhóm − 79,3| ≤ 2,0 trên toàn bộ val → 79,6 (+0,3): đạt.</a:t>
            </a:r>
            <a:endParaRPr lang="en-US" sz="1500" dirty="0"/>
          </a:p>
        </p:txBody>
      </p:sp>
      <p:sp>
        <p:nvSpPr>
          <p:cNvPr id="9" name="card_42"/>
          <p:cNvSpPr/>
          <p:nvPr/>
        </p:nvSpPr>
        <p:spPr>
          <a:xfrm>
            <a:off x="7498080" y="3794760"/>
            <a:ext cx="4144975" cy="2423160"/>
          </a:xfrm>
          <a:prstGeom prst="roundRect">
            <a:avLst>
              <a:gd name="adj" fmla="val 3019"/>
            </a:avLst>
          </a:prstGeom>
          <a:solidFill>
            <a:schemeClr val="bg2"/>
          </a:solidFill>
          <a:ln w="12700">
            <a:solidFill>
              <a:schemeClr val="bg2"/>
            </a:solidFill>
            <a:prstDash val="solid"/>
          </a:ln>
        </p:spPr>
      </p:sp>
      <p:sp>
        <p:nvSpPr>
          <p:cNvPr id="10" name="text_43"/>
          <p:cNvSpPr txBox="1"/>
          <p:nvPr/>
        </p:nvSpPr>
        <p:spPr>
          <a:xfrm>
            <a:off x="7772400" y="3931920"/>
            <a:ext cx="35963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Cái giá của cấu hình tiết kiệm</a:t>
            </a:r>
            <a:endParaRPr lang="en-US" sz="1600" dirty="0"/>
          </a:p>
        </p:txBody>
      </p:sp>
      <p:sp>
        <p:nvSpPr>
          <p:cNvPr id="11" name="list_44"/>
          <p:cNvSpPr txBox="1"/>
          <p:nvPr/>
        </p:nvSpPr>
        <p:spPr>
          <a:xfrm>
            <a:off x="7772400" y="4343400"/>
            <a:ext cx="3596335" cy="17373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−4,4 điểm accuracy</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VRAM 10,9 → 2,5 GB (ít hơn 4,3 lần)</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H2 (giữ ≥ 97%): chưa đạt — 94,5%</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04 · BASELINE ZERO-SHOT (B1)</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Zero-shot sai chủ yếu ở định dạng câu trả lời</a:t>
            </a:r>
            <a:endParaRPr lang="en-US" sz="3200" dirty="0"/>
          </a:p>
        </p:txBody>
      </p:sp>
      <p:graphicFrame>
        <p:nvGraphicFramePr>
          <p:cNvPr id="9" name="table_45"/>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3017520"/>
                <a:gridCol w="1005840"/>
                <a:gridCol w="1005840"/>
                <a:gridCol w="100584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Tập test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ANLS</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ViVQA (3.001)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22,1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38,1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ViTextVQA tập con (2.000)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47,5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ViTextVQA đầy đủ (10.028)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29,1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47,6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46"/>
          <p:cNvSpPr/>
          <p:nvPr/>
        </p:nvSpPr>
        <p:spPr>
          <a:xfrm>
            <a:off x="548640" y="3520440"/>
            <a:ext cx="6035040" cy="2743200"/>
          </a:xfrm>
          <a:prstGeom prst="roundRect">
            <a:avLst>
              <a:gd name="adj" fmla="val 2667"/>
            </a:avLst>
          </a:prstGeom>
          <a:solidFill>
            <a:schemeClr val="bg2"/>
          </a:solidFill>
          <a:ln w="12700">
            <a:solidFill>
              <a:schemeClr val="bg2"/>
            </a:solidFill>
            <a:prstDash val="solid"/>
          </a:ln>
        </p:spPr>
      </p:sp>
      <p:sp>
        <p:nvSpPr>
          <p:cNvPr id="7" name="text_47"/>
          <p:cNvSpPr txBox="1"/>
          <p:nvPr/>
        </p:nvSpPr>
        <p:spPr>
          <a:xfrm>
            <a:off x="822960" y="3657600"/>
            <a:ext cx="548640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ViVQA EM theo loại câu hỏi</a:t>
            </a:r>
            <a:endParaRPr lang="en-US" sz="1600" dirty="0"/>
          </a:p>
        </p:txBody>
      </p:sp>
      <p:graphicFrame>
        <p:nvGraphicFramePr>
          <p:cNvPr id="8" name="chart_48" descr=""/>
          <p:cNvGraphicFramePr/>
          <p:nvPr/>
        </p:nvGraphicFramePr>
        <p:xfrm>
          <a:off x="731520" y="4023360"/>
          <a:ext cx="5669280" cy="2148840"/>
        </p:xfrm>
        <a:graphic xmlns:a="http://schemas.openxmlformats.org/drawingml/2006/main">
          <a:graphicData uri="http://schemas.openxmlformats.org/drawingml/2006/chart">
            <c:chart xmlns:c="http://schemas.openxmlformats.org/drawingml/2006/chart" r:id="rId1"/>
          </a:graphicData>
        </a:graphic>
      </p:graphicFrame>
      <p:sp>
        <p:nvSpPr>
          <p:cNvPr id="9" name="card_49"/>
          <p:cNvSpPr/>
          <p:nvPr/>
        </p:nvSpPr>
        <p:spPr>
          <a:xfrm>
            <a:off x="6949440" y="1417320"/>
            <a:ext cx="4693615" cy="4846320"/>
          </a:xfrm>
          <a:prstGeom prst="roundRect">
            <a:avLst>
              <a:gd name="adj" fmla="val 1559"/>
            </a:avLst>
          </a:prstGeom>
          <a:solidFill>
            <a:schemeClr val="accent5"/>
          </a:solidFill>
          <a:ln w="12700">
            <a:solidFill>
              <a:schemeClr val="accent5"/>
            </a:solidFill>
            <a:prstDash val="solid"/>
          </a:ln>
        </p:spPr>
      </p:sp>
      <p:sp>
        <p:nvSpPr>
          <p:cNvPr id="10" name="text_50"/>
          <p:cNvSpPr txBox="1"/>
          <p:nvPr/>
        </p:nvSpPr>
        <p:spPr>
          <a:xfrm>
            <a:off x="7223760" y="1554480"/>
            <a:ext cx="414497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Lỗi chính: trả lời dài dòng</a:t>
            </a:r>
            <a:endParaRPr lang="en-US" sz="1600" dirty="0"/>
          </a:p>
        </p:txBody>
      </p:sp>
      <p:sp>
        <p:nvSpPr>
          <p:cNvPr id="11" name="list_51"/>
          <p:cNvSpPr txBox="1"/>
          <p:nvPr/>
        </p:nvSpPr>
        <p:spPr>
          <a:xfrm>
            <a:off x="7223760" y="2011680"/>
            <a:ext cx="4144975" cy="41148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Số từ mỗi câu trả lời: 2,9 so với gold 1,6 (ViVQA); 5,5 so với 3,7 (ViTextVQA)</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19% câu trả lời ViTextVQA chứa đáp án gold nhưng vẫn trượt EM</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“Lịch tết năm 2021” so với gold “2021”</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Ngoài ra: chen tiếng Anh (“truck”), hallucination, gold nhiễu (“tía”)</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04 · ABLATION BACKBONE (R1)</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Model lớn hơn không tốt hơn ở bài này</a:t>
            </a:r>
            <a:endParaRPr lang="en-US" sz="3200" dirty="0"/>
          </a:p>
        </p:txBody>
      </p:sp>
      <p:graphicFrame>
        <p:nvGraphicFramePr>
          <p:cNvPr id="10" name="table_52"/>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4599432"/>
                <a:gridCol w="1097280"/>
                <a:gridCol w="1097280"/>
                <a:gridCol w="1280160"/>
                <a:gridCol w="1280160"/>
                <a:gridCol w="173736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Run (ViTextVQA, 2.000 câu)</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số từ</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 / câu</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VRAM GB</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75488">
                <a:tc>
                  <a:txBody>
                    <a:bodyPr/>
                    <a:lstStyle/>
                    <a:p>
                      <a:pPr algn="l" indent="0" marL="0">
                        <a:buNone/>
                      </a:pPr>
                      <a:r>
                        <a:rPr lang="en-US" sz="1400" b="1" dirty="0">
                          <a:solidFill>
                            <a:srgbClr val="243044"/>
                          </a:solidFill>
                          <a:latin typeface="Calibri" pitchFamily="34" charset="0"/>
                          <a:ea typeface="Calibri" pitchFamily="34" charset="-122"/>
                          <a:cs typeface="Calibri" pitchFamily="34" charset="-120"/>
                        </a:rPr>
                        <a:t>B1 · Qwen2.5-VL-3B · 4-bit · 512 token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28,8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53,8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5,5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0,86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 2,5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R1b · Qwen2-VL-7B · 4-bit · 512 token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16,2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41,3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R1 · Qwen2-VL-7B · bf16 · đủ độ phân giải</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16,7</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43,5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8,2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20,3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Paper Table 7 · “QwenVL-7b” (100 câu)</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53"/>
          <p:cNvSpPr/>
          <p:nvPr/>
        </p:nvSpPr>
        <p:spPr>
          <a:xfrm>
            <a:off x="548640" y="4114800"/>
            <a:ext cx="3454298" cy="1783080"/>
          </a:xfrm>
          <a:prstGeom prst="roundRect">
            <a:avLst>
              <a:gd name="adj" fmla="val 4103"/>
            </a:avLst>
          </a:prstGeom>
          <a:solidFill>
            <a:schemeClr val="bg2"/>
          </a:solidFill>
          <a:ln w="12700">
            <a:solidFill>
              <a:schemeClr val="bg2"/>
            </a:solidFill>
            <a:prstDash val="solid"/>
          </a:ln>
        </p:spPr>
      </p:sp>
      <p:sp>
        <p:nvSpPr>
          <p:cNvPr id="7" name="text_54"/>
          <p:cNvSpPr txBox="1"/>
          <p:nvPr/>
        </p:nvSpPr>
        <p:spPr>
          <a:xfrm>
            <a:off x="777240" y="425196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7B &lt; 3B trong cùng điều kiện</a:t>
            </a:r>
            <a:endParaRPr lang="en-US" sz="1600" dirty="0"/>
          </a:p>
        </p:txBody>
      </p:sp>
      <p:sp>
        <p:nvSpPr>
          <p:cNvPr id="8" name="text_55"/>
          <p:cNvSpPr txBox="1"/>
          <p:nvPr/>
        </p:nvSpPr>
        <p:spPr>
          <a:xfrm>
            <a:off x="777240" y="4709160"/>
            <a:ext cx="299709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−12,6 EM, McNemar p ≈ 10⁻³³; tăng độ phân giải không giúp (R1 = R1b, p = 0,45)</a:t>
            </a:r>
            <a:endParaRPr lang="en-US" sz="1400" dirty="0"/>
          </a:p>
        </p:txBody>
      </p:sp>
      <p:sp>
        <p:nvSpPr>
          <p:cNvPr id="9" name="card_56"/>
          <p:cNvSpPr/>
          <p:nvPr/>
        </p:nvSpPr>
        <p:spPr>
          <a:xfrm>
            <a:off x="4368698" y="4114800"/>
            <a:ext cx="3454298" cy="1783080"/>
          </a:xfrm>
          <a:prstGeom prst="roundRect">
            <a:avLst>
              <a:gd name="adj" fmla="val 4103"/>
            </a:avLst>
          </a:prstGeom>
          <a:solidFill>
            <a:schemeClr val="bg2"/>
          </a:solidFill>
          <a:ln w="12700">
            <a:solidFill>
              <a:schemeClr val="bg2"/>
            </a:solidFill>
            <a:prstDash val="solid"/>
          </a:ln>
        </p:spPr>
      </p:sp>
      <p:sp>
        <p:nvSpPr>
          <p:cNvPr id="10" name="text_57"/>
          <p:cNvSpPr txBox="1"/>
          <p:nvPr/>
        </p:nvSpPr>
        <p:spPr>
          <a:xfrm>
            <a:off x="4597298" y="425196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Vì sao: tuân thủ chỉ dẫn</a:t>
            </a:r>
            <a:endParaRPr lang="en-US" sz="1600" dirty="0"/>
          </a:p>
        </p:txBody>
      </p:sp>
      <p:sp>
        <p:nvSpPr>
          <p:cNvPr id="11" name="text_58"/>
          <p:cNvSpPr txBox="1"/>
          <p:nvPr/>
        </p:nvSpPr>
        <p:spPr>
          <a:xfrm>
            <a:off x="4597298" y="4709160"/>
            <a:ext cx="299709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7B trả lời 8,2 từ so với gold 3,7 — EM trượt dù đọc đúng chữ</a:t>
            </a:r>
            <a:endParaRPr lang="en-US" sz="1400" dirty="0"/>
          </a:p>
        </p:txBody>
      </p:sp>
      <p:sp>
        <p:nvSpPr>
          <p:cNvPr id="12" name="card_59"/>
          <p:cNvSpPr/>
          <p:nvPr/>
        </p:nvSpPr>
        <p:spPr>
          <a:xfrm>
            <a:off x="8188757" y="4114800"/>
            <a:ext cx="3454298" cy="1783080"/>
          </a:xfrm>
          <a:prstGeom prst="roundRect">
            <a:avLst>
              <a:gd name="adj" fmla="val 4103"/>
            </a:avLst>
          </a:prstGeom>
          <a:solidFill>
            <a:schemeClr val="accent4"/>
          </a:solidFill>
          <a:ln w="12700">
            <a:solidFill>
              <a:schemeClr val="accent4"/>
            </a:solidFill>
            <a:prstDash val="solid"/>
          </a:ln>
        </p:spPr>
      </p:sp>
      <p:sp>
        <p:nvSpPr>
          <p:cNvPr id="13" name="text_60"/>
          <p:cNvSpPr txBox="1"/>
          <p:nvPr/>
        </p:nvSpPr>
        <p:spPr>
          <a:xfrm>
            <a:off x="8417357" y="425196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Table 7 không đủ để quyết định</a:t>
            </a:r>
            <a:endParaRPr lang="en-US" sz="1600" dirty="0"/>
          </a:p>
        </p:txBody>
      </p:sp>
      <p:sp>
        <p:nvSpPr>
          <p:cNvPr id="14" name="text_61"/>
          <p:cNvSpPr txBox="1"/>
          <p:nvPr/>
        </p:nvSpPr>
        <p:spPr>
          <a:xfrm>
            <a:off x="8417357" y="4709160"/>
            <a:ext cx="299709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 = 100 → ±9 EM; B1 đã nhất quán với nó. Quyết định: giữ Qwen2.5-VL-3B</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05 · QLoRA (B2)</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QLoRA một epoch: tăng lớn và có ý nghĩa thống kê</a:t>
            </a:r>
            <a:endParaRPr lang="en-US" sz="3200" dirty="0"/>
          </a:p>
        </p:txBody>
      </p:sp>
      <p:graphicFrame>
        <p:nvGraphicFramePr>
          <p:cNvPr id="5" name="chart_62" descr=""/>
          <p:cNvGraphicFramePr/>
          <p:nvPr/>
        </p:nvGraphicFramePr>
        <p:xfrm>
          <a:off x="548640" y="1371600"/>
          <a:ext cx="6766560" cy="489204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_63"/>
          <p:cNvGraphicFramePr>
            <a:graphicFrameLocks noGrp="1"/>
          </p:cNvGraphicFramePr>
          <p:nvPr>
            <p:extLst>
              <p:ext uri="{D42A27DB-BD31-4B8C-83A1-F6EECF244321}">
                <p14:modId xmlns:p14="http://schemas.microsoft.com/office/powerpoint/2010/main" val="1579011935"/>
              </p:ext>
            </p:extLst>
          </p:nvPr>
        </p:nvGraphicFramePr>
        <p:xfrm>
          <a:off x="7680960" y="1371600"/>
          <a:ext cx="3962095" cy="914400"/>
        </p:xfrm>
        <a:graphic>
          <a:graphicData uri="http://schemas.openxmlformats.org/drawingml/2006/table">
            <a:tbl>
              <a:tblPr/>
              <a:tblGrid>
                <a:gridCol w="1828800"/>
                <a:gridCol w="1243584"/>
                <a:gridCol w="1252728"/>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Chi phí</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ViVQA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ViTextVQA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Mẫu train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10.799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35.159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Thời gian train (L4)</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3,0 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12,0 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VRAM đỉnh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6,6 GB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6,9 GB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Suy luận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0,57 s / câu</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 s / câu</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7" name="card_64"/>
          <p:cNvSpPr/>
          <p:nvPr/>
        </p:nvSpPr>
        <p:spPr>
          <a:xfrm>
            <a:off x="7680960" y="3886200"/>
            <a:ext cx="3962095" cy="2377440"/>
          </a:xfrm>
          <a:prstGeom prst="roundRect">
            <a:avLst>
              <a:gd name="adj" fmla="val 3077"/>
            </a:avLst>
          </a:prstGeom>
          <a:solidFill>
            <a:schemeClr val="accent4"/>
          </a:solidFill>
          <a:ln w="12700">
            <a:solidFill>
              <a:schemeClr val="accent4"/>
            </a:solidFill>
            <a:prstDash val="solid"/>
          </a:ln>
        </p:spPr>
      </p:sp>
      <p:sp>
        <p:nvSpPr>
          <p:cNvPr id="8" name="text_65"/>
          <p:cNvSpPr txBox="1"/>
          <p:nvPr/>
        </p:nvSpPr>
        <p:spPr>
          <a:xfrm>
            <a:off x="7909560" y="4023360"/>
            <a:ext cx="350489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Luật chốt trước khi chạy</a:t>
            </a:r>
            <a:endParaRPr lang="en-US" sz="1600" dirty="0"/>
          </a:p>
        </p:txBody>
      </p:sp>
      <p:sp>
        <p:nvSpPr>
          <p:cNvPr id="9" name="text_66"/>
          <p:cNvSpPr txBox="1"/>
          <p:nvPr/>
        </p:nvSpPr>
        <p:spPr>
          <a:xfrm>
            <a:off x="7909560" y="4434840"/>
            <a:ext cx="3504895" cy="1737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Cải thiện nếu EM tăng và McNemar p &lt; 0,05 → đạt trên cả hai dataset (ViTextVQA đầy đủ: 2.543 so với 423 câu chỉ một model đúng).</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05 · ĐỐI CHỨNG</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Mức tăng là thật, không do rò rỉ, không chỉ do định dạng</a:t>
            </a:r>
            <a:endParaRPr lang="en-US" sz="3200" dirty="0"/>
          </a:p>
        </p:txBody>
      </p:sp>
      <p:sp>
        <p:nvSpPr>
          <p:cNvPr id="5" name="card_67"/>
          <p:cNvSpPr/>
          <p:nvPr/>
        </p:nvSpPr>
        <p:spPr>
          <a:xfrm>
            <a:off x="548640" y="1371600"/>
            <a:ext cx="3566160" cy="2331720"/>
          </a:xfrm>
          <a:prstGeom prst="roundRect">
            <a:avLst>
              <a:gd name="adj" fmla="val 3137"/>
            </a:avLst>
          </a:prstGeom>
          <a:solidFill>
            <a:schemeClr val="bg2"/>
          </a:solidFill>
          <a:ln w="12700">
            <a:solidFill>
              <a:schemeClr val="bg2"/>
            </a:solidFill>
            <a:prstDash val="solid"/>
          </a:ln>
        </p:spPr>
      </p:sp>
      <p:sp>
        <p:nvSpPr>
          <p:cNvPr id="6" name="text_68"/>
          <p:cNvSpPr txBox="1"/>
          <p:nvPr/>
        </p:nvSpPr>
        <p:spPr>
          <a:xfrm>
            <a:off x="777240" y="1481328"/>
            <a:ext cx="310896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Phân tầng rò rỉ ViVQA</a:t>
            </a:r>
            <a:endParaRPr lang="en-US" sz="1600" dirty="0"/>
          </a:p>
        </p:txBody>
      </p:sp>
      <p:sp>
        <p:nvSpPr>
          <p:cNvPr id="7" name="text_69"/>
          <p:cNvSpPr txBox="1"/>
          <p:nvPr/>
        </p:nvSpPr>
        <p:spPr>
          <a:xfrm>
            <a:off x="777240" y="1920240"/>
            <a:ext cx="3108960" cy="1691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Tập sạch (n = 1.219): </a:t>
            </a:r>
            <a:pPr indent="0" marL="0">
              <a:buNone/>
            </a:pPr>
            <a:r>
              <a:rPr lang="en-US" sz="1400" b="1" dirty="0">
                <a:solidFill>
                  <a:srgbClr val="1C7293"/>
                </a:solidFill>
                <a:latin typeface="Calibri" pitchFamily="34" charset="0"/>
                <a:ea typeface="Calibri" pitchFamily="34" charset="-122"/>
                <a:cs typeface="Calibri" pitchFamily="34" charset="-120"/>
              </a:rPr>
              <a:t>EM 25,0 → 69,1</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Mốc đoán theo phân bố đáp án: 14,4</a:t>
            </a:r>
            <a:endParaRPr lang="en-US" sz="1400" dirty="0"/>
          </a:p>
        </p:txBody>
      </p:sp>
      <p:sp>
        <p:nvSpPr>
          <p:cNvPr id="8" name="card_70"/>
          <p:cNvSpPr/>
          <p:nvPr/>
        </p:nvSpPr>
        <p:spPr>
          <a:xfrm>
            <a:off x="548640" y="3931920"/>
            <a:ext cx="3566160" cy="2331720"/>
          </a:xfrm>
          <a:prstGeom prst="roundRect">
            <a:avLst>
              <a:gd name="adj" fmla="val 3137"/>
            </a:avLst>
          </a:prstGeom>
          <a:solidFill>
            <a:schemeClr val="bg2"/>
          </a:solidFill>
          <a:ln w="12700">
            <a:solidFill>
              <a:schemeClr val="bg2"/>
            </a:solidFill>
            <a:prstDash val="solid"/>
          </a:ln>
        </p:spPr>
      </p:sp>
      <p:sp>
        <p:nvSpPr>
          <p:cNvPr id="9" name="text_71"/>
          <p:cNvSpPr txBox="1"/>
          <p:nvPr/>
        </p:nvSpPr>
        <p:spPr>
          <a:xfrm>
            <a:off x="777240" y="4041648"/>
            <a:ext cx="310896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ViTextVQA: không trùng ảnh</a:t>
            </a:r>
            <a:endParaRPr lang="en-US" sz="1600" dirty="0"/>
          </a:p>
        </p:txBody>
      </p:sp>
      <p:sp>
        <p:nvSpPr>
          <p:cNvPr id="10" name="text_72"/>
          <p:cNvSpPr txBox="1"/>
          <p:nvPr/>
        </p:nvSpPr>
        <p:spPr>
          <a:xfrm>
            <a:off x="777240" y="4480560"/>
            <a:ext cx="3108960" cy="1691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0 ảnh trùng train–test, </a:t>
            </a:r>
            <a:pPr indent="0" marL="0">
              <a:buNone/>
            </a:pPr>
            <a:r>
              <a:rPr lang="en-US" sz="1400" b="1" dirty="0">
                <a:solidFill>
                  <a:srgbClr val="1C7293"/>
                </a:solidFill>
                <a:latin typeface="Calibri" pitchFamily="34" charset="0"/>
                <a:ea typeface="Calibri" pitchFamily="34" charset="-122"/>
                <a:cs typeface="Calibri" pitchFamily="34" charset="-120"/>
              </a:rPr>
              <a:t>vẫn +21,1 EM trên full test</a:t>
            </a:r>
            <a:endParaRPr lang="en-US" sz="1400" dirty="0"/>
          </a:p>
        </p:txBody>
      </p:sp>
      <p:sp>
        <p:nvSpPr>
          <p:cNvPr id="11" name="card_73"/>
          <p:cNvSpPr/>
          <p:nvPr/>
        </p:nvSpPr>
        <p:spPr>
          <a:xfrm>
            <a:off x="4480560" y="1371600"/>
            <a:ext cx="7162495" cy="4892040"/>
          </a:xfrm>
          <a:prstGeom prst="roundRect">
            <a:avLst>
              <a:gd name="adj" fmla="val 1495"/>
            </a:avLst>
          </a:prstGeom>
          <a:solidFill>
            <a:schemeClr val="bg2"/>
          </a:solidFill>
          <a:ln w="12700">
            <a:solidFill>
              <a:schemeClr val="bg2"/>
            </a:solidFill>
            <a:prstDash val="solid"/>
          </a:ln>
        </p:spPr>
      </p:sp>
      <p:sp>
        <p:nvSpPr>
          <p:cNvPr id="12" name="text_74"/>
          <p:cNvSpPr txBox="1"/>
          <p:nvPr/>
        </p:nvSpPr>
        <p:spPr>
          <a:xfrm>
            <a:off x="4754880" y="1481328"/>
            <a:ext cx="661385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Đối chứng few-shot: 5 ví dụ chữ trong prompt (FS5)</a:t>
            </a:r>
            <a:endParaRPr lang="en-US" sz="1600" dirty="0"/>
          </a:p>
        </p:txBody>
      </p:sp>
      <p:graphicFrame>
        <p:nvGraphicFramePr>
          <p:cNvPr id="13" name="chart_75" descr=""/>
          <p:cNvGraphicFramePr/>
          <p:nvPr/>
        </p:nvGraphicFramePr>
        <p:xfrm>
          <a:off x="4617720" y="1874520"/>
          <a:ext cx="6888175" cy="3246120"/>
        </p:xfrm>
        <a:graphic xmlns:a="http://schemas.openxmlformats.org/drawingml/2006/main">
          <a:graphicData uri="http://schemas.openxmlformats.org/drawingml/2006/chart">
            <c:chart xmlns:c="http://schemas.openxmlformats.org/drawingml/2006/chart" r:id="rId1"/>
          </a:graphicData>
        </a:graphic>
      </p:graphicFrame>
      <p:sp>
        <p:nvSpPr>
          <p:cNvPr id="14" name="text_76"/>
          <p:cNvSpPr txBox="1"/>
          <p:nvPr/>
        </p:nvSpPr>
        <p:spPr>
          <a:xfrm>
            <a:off x="4754880" y="5166360"/>
            <a:ext cx="6613855"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Few-shot làm câu trả lời ngắn lại nhưng mất nội dung (EM −2,1 ở ViVQA, p = 0,004; −1,2 ở ViTextVQA, không ý nghĩa). B2 vượt FS5 ở cả hai (p ≈ 0) → QLoRA học nhiều hơn định dạng.</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05 · SO VỚI SOTA</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Full test ViTextVQA: cao hơn SOTA đã công bố</a:t>
            </a:r>
            <a:endParaRPr lang="en-US" sz="3200" dirty="0"/>
          </a:p>
        </p:txBody>
      </p:sp>
      <p:graphicFrame>
        <p:nvGraphicFramePr>
          <p:cNvPr id="13" name="table_77"/>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657600"/>
                <a:gridCol w="2331720"/>
                <a:gridCol w="2331720"/>
                <a:gridCol w="2770632"/>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 (full test, 10.028 câu)</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 [CI95]</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 [CI95]</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 với SOTA (luật: cận dưới CI95 &gt; số công bố)</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ViTextBLIP-2 · paper Table 6 (có train)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25,48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53,95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B1 · Qwen2.5-VL-3B zero-shot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29,12 [28,23; 29,99]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53,89 [53,11; 54,66]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cao hơn về EM; F1 ngang</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algn="l" indent="0" marL="0">
                        <a:buNone/>
                      </a:pPr>
                      <a:r>
                        <a:rPr lang="en-US" sz="1400" b="1" dirty="0">
                          <a:solidFill>
                            <a:srgbClr val="13294B"/>
                          </a:solidFill>
                          <a:latin typeface="Calibri" pitchFamily="34" charset="0"/>
                          <a:ea typeface="Calibri" pitchFamily="34" charset="-122"/>
                          <a:cs typeface="Calibri" pitchFamily="34" charset="-120"/>
                        </a:rPr>
                        <a:t>B2 · + QLoRA, 1 epoch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50,26 [49,27; 51,23]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71,16 [70,42; 71,89]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algn="l" indent="0" marL="0">
                        <a:buNone/>
                      </a:pPr>
                      <a:r>
                        <a:rPr lang="en-US" sz="1400" b="1" dirty="0">
                          <a:solidFill>
                            <a:srgbClr val="13294B"/>
                          </a:solidFill>
                          <a:latin typeface="Calibri" pitchFamily="34" charset="0"/>
                          <a:ea typeface="Calibri" pitchFamily="34" charset="-122"/>
                          <a:cs typeface="Calibri" pitchFamily="34" charset="-120"/>
                        </a:rPr>
                        <a:t>cao hơn cả EM và F1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r>
            </a:tbl>
          </a:graphicData>
        </a:graphic>
      </p:graphicFrame>
      <p:sp>
        <p:nvSpPr>
          <p:cNvPr id="6" name="card_78"/>
          <p:cNvSpPr/>
          <p:nvPr/>
        </p:nvSpPr>
        <p:spPr>
          <a:xfrm>
            <a:off x="548640" y="3931920"/>
            <a:ext cx="3454298" cy="1783080"/>
          </a:xfrm>
          <a:prstGeom prst="roundRect">
            <a:avLst>
              <a:gd name="adj" fmla="val 4103"/>
            </a:avLst>
          </a:prstGeom>
          <a:solidFill>
            <a:schemeClr val="bg2"/>
          </a:solidFill>
          <a:ln w="12700">
            <a:solidFill>
              <a:schemeClr val="bg2"/>
            </a:solidFill>
            <a:prstDash val="solid"/>
          </a:ln>
        </p:spPr>
      </p:sp>
      <p:sp>
        <p:nvSpPr>
          <p:cNvPr id="7" name="text_79"/>
          <p:cNvSpPr txBox="1"/>
          <p:nvPr/>
        </p:nvSpPr>
        <p:spPr>
          <a:xfrm>
            <a:off x="777240" y="406908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Tái lập được</a:t>
            </a:r>
            <a:endParaRPr lang="en-US" sz="1600" dirty="0"/>
          </a:p>
        </p:txBody>
      </p:sp>
      <p:sp>
        <p:nvSpPr>
          <p:cNvPr id="8" name="text_80"/>
          <p:cNvSpPr txBox="1"/>
          <p:nvPr/>
        </p:nvSpPr>
        <p:spPr>
          <a:xfrm>
            <a:off x="777240" y="4526280"/>
            <a:ext cx="299709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Dự đoán full test trùng 100% với các run tập con trên 2.000 câu chung.</a:t>
            </a:r>
            <a:endParaRPr lang="en-US" sz="1400" dirty="0"/>
          </a:p>
        </p:txBody>
      </p:sp>
      <p:sp>
        <p:nvSpPr>
          <p:cNvPr id="9" name="card_81"/>
          <p:cNvSpPr/>
          <p:nvPr/>
        </p:nvSpPr>
        <p:spPr>
          <a:xfrm>
            <a:off x="4368698" y="3931920"/>
            <a:ext cx="3454298" cy="1783080"/>
          </a:xfrm>
          <a:prstGeom prst="roundRect">
            <a:avLst>
              <a:gd name="adj" fmla="val 4103"/>
            </a:avLst>
          </a:prstGeom>
          <a:solidFill>
            <a:schemeClr val="bg2"/>
          </a:solidFill>
          <a:ln w="12700">
            <a:solidFill>
              <a:schemeClr val="bg2"/>
            </a:solidFill>
            <a:prstDash val="solid"/>
          </a:ln>
        </p:spPr>
      </p:sp>
      <p:sp>
        <p:nvSpPr>
          <p:cNvPr id="10" name="text_82"/>
          <p:cNvSpPr txBox="1"/>
          <p:nvPr/>
        </p:nvSpPr>
        <p:spPr>
          <a:xfrm>
            <a:off x="4597298" y="406908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Công bằng về loại</a:t>
            </a:r>
            <a:endParaRPr lang="en-US" sz="1600" dirty="0"/>
          </a:p>
        </p:txBody>
      </p:sp>
      <p:sp>
        <p:nvSpPr>
          <p:cNvPr id="11" name="text_83"/>
          <p:cNvSpPr txBox="1"/>
          <p:nvPr/>
        </p:nvSpPr>
        <p:spPr>
          <a:xfrm>
            <a:off x="4597298" y="4526280"/>
            <a:ext cx="299709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Cả B2 và ViTextBLIP-2 đều được train trên tập train ViTextVQA.</a:t>
            </a:r>
            <a:endParaRPr lang="en-US" sz="1400" dirty="0"/>
          </a:p>
        </p:txBody>
      </p:sp>
      <p:sp>
        <p:nvSpPr>
          <p:cNvPr id="12" name="card_84"/>
          <p:cNvSpPr/>
          <p:nvPr/>
        </p:nvSpPr>
        <p:spPr>
          <a:xfrm>
            <a:off x="8188757" y="3931920"/>
            <a:ext cx="3454298" cy="1783080"/>
          </a:xfrm>
          <a:prstGeom prst="roundRect">
            <a:avLst>
              <a:gd name="adj" fmla="val 4103"/>
            </a:avLst>
          </a:prstGeom>
          <a:solidFill>
            <a:schemeClr val="accent5"/>
          </a:solidFill>
          <a:ln w="12700">
            <a:solidFill>
              <a:schemeClr val="accent5"/>
            </a:solidFill>
            <a:prstDash val="solid"/>
          </a:ln>
        </p:spPr>
      </p:sp>
      <p:sp>
        <p:nvSpPr>
          <p:cNvPr id="13" name="text_85"/>
          <p:cNvSpPr txBox="1"/>
          <p:nvPr/>
        </p:nvSpPr>
        <p:spPr>
          <a:xfrm>
            <a:off x="8417357" y="406908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Giới hạn</a:t>
            </a:r>
            <a:endParaRPr lang="en-US" sz="1600" dirty="0"/>
          </a:p>
        </p:txBody>
      </p:sp>
      <p:sp>
        <p:nvSpPr>
          <p:cNvPr id="14" name="text_86"/>
          <p:cNvSpPr txBox="1"/>
          <p:nvPr/>
        </p:nvSpPr>
        <p:spPr>
          <a:xfrm>
            <a:off x="8417357" y="4526280"/>
            <a:ext cx="2997098"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Paper không công bố cách chuẩn hoá đáp án; phép so giả định cách chấm tương đương.</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05 · PHÂN TÍCH LỖI &amp; HALLUCINATION</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B2 còn sai ở đâu</a:t>
            </a:r>
            <a:endParaRPr lang="en-US" sz="3200" dirty="0"/>
          </a:p>
        </p:txBody>
      </p:sp>
      <p:graphicFrame>
        <p:nvGraphicFramePr>
          <p:cNvPr id="5" name="chart_87" descr=""/>
          <p:cNvGraphicFramePr/>
          <p:nvPr/>
        </p:nvGraphicFramePr>
        <p:xfrm>
          <a:off x="548640" y="1325880"/>
          <a:ext cx="6400800" cy="278892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table_88"/>
          <p:cNvGraphicFramePr>
            <a:graphicFrameLocks noGrp="1"/>
          </p:cNvGraphicFramePr>
          <p:nvPr>
            <p:extLst>
              <p:ext uri="{D42A27DB-BD31-4B8C-83A1-F6EECF244321}">
                <p14:modId xmlns:p14="http://schemas.microsoft.com/office/powerpoint/2010/main" val="1579011935"/>
              </p:ext>
            </p:extLst>
          </p:nvPr>
        </p:nvGraphicFramePr>
        <p:xfrm>
          <a:off x="548640" y="4343400"/>
          <a:ext cx="6400800" cy="914400"/>
        </p:xfrm>
        <a:graphic>
          <a:graphicData uri="http://schemas.openxmlformats.org/drawingml/2006/table">
            <a:tbl>
              <a:tblPr/>
              <a:tblGrid>
                <a:gridCol w="1645920"/>
                <a:gridCol w="2240280"/>
                <a:gridCol w="251460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Nhóm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B2 trả lời</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Gold</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dấu thanh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đặng việt thủy</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đặng việt thúy</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lệch ký tự</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372 . 568 . 177</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372 . 566 . 177</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thiếu chữ</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nhân dân quận 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ủy ban nhân dân quận 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7" name="card_89"/>
          <p:cNvSpPr/>
          <p:nvPr/>
        </p:nvSpPr>
        <p:spPr>
          <a:xfrm>
            <a:off x="7315200" y="1371600"/>
            <a:ext cx="4327855" cy="4892040"/>
          </a:xfrm>
          <a:prstGeom prst="roundRect">
            <a:avLst>
              <a:gd name="adj" fmla="val 1690"/>
            </a:avLst>
          </a:prstGeom>
          <a:solidFill>
            <a:schemeClr val="bg2"/>
          </a:solidFill>
          <a:ln w="12700">
            <a:solidFill>
              <a:schemeClr val="bg2"/>
            </a:solidFill>
            <a:prstDash val="solid"/>
          </a:ln>
        </p:spPr>
      </p:sp>
      <p:sp>
        <p:nvSpPr>
          <p:cNvPr id="8" name="text_90"/>
          <p:cNvSpPr txBox="1"/>
          <p:nvPr/>
        </p:nvSpPr>
        <p:spPr>
          <a:xfrm>
            <a:off x="7589520" y="1508760"/>
            <a:ext cx="3779215" cy="68580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Duyệt tay 200 lỗi B2 (đã phân xử)</a:t>
            </a:r>
            <a:endParaRPr lang="en-US" sz="1600" dirty="0"/>
          </a:p>
        </p:txBody>
      </p:sp>
      <p:sp>
        <p:nvSpPr>
          <p:cNvPr id="9" name="list_91"/>
          <p:cNvSpPr txBox="1"/>
          <p:nvPr/>
        </p:nvSpPr>
        <p:spPr>
          <a:xfrm>
            <a:off x="7589520" y="2194560"/>
            <a:ext cx="3779215" cy="39776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54% thực ra đúng ý: EM quá khắt khe (ViVQA 62%, ViTextVQA 46%)</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Gold nhiễu: 12,5% (ViVQA 19%)</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Lỗi thật ở ViTextVQA: đọc sai chữ 28%, nhầm vùng chữ 23%, dấu thanh 8%</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Hallucination (không có trong ảnh): 7% số lỗi (CI95 4–11%)</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4 người + nhãn gợi ý của AI; κ = 0,62 (2 người độc lập); bỏ 42 dòng có AI hỗ trợ, kết luận không đổi</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06 · PHƯƠNG PHÁP ĐỀ XUẤT (B3)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QLoRA nhận biết OCR: dạy model dùng văn bản OCR</a:t>
            </a:r>
            <a:endParaRPr lang="en-US" sz="3200" dirty="0"/>
          </a:p>
        </p:txBody>
      </p:sp>
      <p:sp>
        <p:nvSpPr>
          <p:cNvPr id="5" name="card_92"/>
          <p:cNvSpPr/>
          <p:nvPr/>
        </p:nvSpPr>
        <p:spPr>
          <a:xfrm>
            <a:off x="548640" y="1417320"/>
            <a:ext cx="1984797" cy="1188720"/>
          </a:xfrm>
          <a:prstGeom prst="roundRect">
            <a:avLst>
              <a:gd name="adj" fmla="val 6154"/>
            </a:avLst>
          </a:prstGeom>
          <a:solidFill>
            <a:schemeClr val="bg2"/>
          </a:solidFill>
          <a:ln w="12700">
            <a:solidFill>
              <a:schemeClr val="bg2"/>
            </a:solidFill>
            <a:prstDash val="solid"/>
          </a:ln>
        </p:spPr>
      </p:sp>
      <p:sp>
        <p:nvSpPr>
          <p:cNvPr id="6" name="text_93"/>
          <p:cNvSpPr txBox="1"/>
          <p:nvPr/>
        </p:nvSpPr>
        <p:spPr>
          <a:xfrm>
            <a:off x="640080"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Ảnh</a:t>
            </a:r>
            <a:endParaRPr lang="en-US" sz="1500" dirty="0"/>
          </a:p>
        </p:txBody>
      </p:sp>
      <p:sp>
        <p:nvSpPr>
          <p:cNvPr id="7" name="text_94"/>
          <p:cNvSpPr txBox="1"/>
          <p:nvPr/>
        </p:nvSpPr>
        <p:spPr>
          <a:xfrm>
            <a:off x="685800"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chữ trong ảnh</a:t>
            </a:r>
            <a:endParaRPr lang="en-US" sz="1200" dirty="0"/>
          </a:p>
        </p:txBody>
      </p:sp>
      <p:sp>
        <p:nvSpPr>
          <p:cNvPr id="8" name="arrow_95"/>
          <p:cNvSpPr/>
          <p:nvPr/>
        </p:nvSpPr>
        <p:spPr>
          <a:xfrm>
            <a:off x="2579157" y="1911096"/>
            <a:ext cx="201168" cy="201168"/>
          </a:xfrm>
          <a:prstGeom prst="rightArrow">
            <a:avLst/>
          </a:prstGeom>
          <a:solidFill>
            <a:srgbClr val="6B7280"/>
          </a:solidFill>
          <a:ln w="12700">
            <a:solidFill>
              <a:srgbClr val="6B7280"/>
            </a:solidFill>
            <a:prstDash val="solid"/>
          </a:ln>
        </p:spPr>
      </p:sp>
      <p:sp>
        <p:nvSpPr>
          <p:cNvPr id="9" name="card_96"/>
          <p:cNvSpPr/>
          <p:nvPr/>
        </p:nvSpPr>
        <p:spPr>
          <a:xfrm>
            <a:off x="2826045" y="1417320"/>
            <a:ext cx="1984797" cy="1188720"/>
          </a:xfrm>
          <a:prstGeom prst="roundRect">
            <a:avLst>
              <a:gd name="adj" fmla="val 6154"/>
            </a:avLst>
          </a:prstGeom>
          <a:solidFill>
            <a:schemeClr val="bg2"/>
          </a:solidFill>
          <a:ln w="12700">
            <a:solidFill>
              <a:schemeClr val="bg2"/>
            </a:solidFill>
            <a:prstDash val="solid"/>
          </a:ln>
        </p:spPr>
      </p:sp>
      <p:sp>
        <p:nvSpPr>
          <p:cNvPr id="10" name="text_97"/>
          <p:cNvSpPr txBox="1"/>
          <p:nvPr/>
        </p:nvSpPr>
        <p:spPr>
          <a:xfrm>
            <a:off x="2917485"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PaddleOCR</a:t>
            </a:r>
            <a:endParaRPr lang="en-US" sz="1500" dirty="0"/>
          </a:p>
        </p:txBody>
      </p:sp>
      <p:sp>
        <p:nvSpPr>
          <p:cNvPr id="11" name="text_98"/>
          <p:cNvSpPr txBox="1"/>
          <p:nvPr/>
        </p:nvSpPr>
        <p:spPr>
          <a:xfrm>
            <a:off x="2963205"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dò dòng chữ</a:t>
            </a:r>
            <a:endParaRPr lang="en-US" sz="1200" dirty="0"/>
          </a:p>
        </p:txBody>
      </p:sp>
      <p:sp>
        <p:nvSpPr>
          <p:cNvPr id="12" name="arrow_99"/>
          <p:cNvSpPr/>
          <p:nvPr/>
        </p:nvSpPr>
        <p:spPr>
          <a:xfrm>
            <a:off x="4856561" y="1911096"/>
            <a:ext cx="201168" cy="201168"/>
          </a:xfrm>
          <a:prstGeom prst="rightArrow">
            <a:avLst/>
          </a:prstGeom>
          <a:solidFill>
            <a:srgbClr val="6B7280"/>
          </a:solidFill>
          <a:ln w="12700">
            <a:solidFill>
              <a:srgbClr val="6B7280"/>
            </a:solidFill>
            <a:prstDash val="solid"/>
          </a:ln>
        </p:spPr>
      </p:sp>
      <p:sp>
        <p:nvSpPr>
          <p:cNvPr id="13" name="card_100"/>
          <p:cNvSpPr/>
          <p:nvPr/>
        </p:nvSpPr>
        <p:spPr>
          <a:xfrm>
            <a:off x="5103449" y="1417320"/>
            <a:ext cx="1984797" cy="1188720"/>
          </a:xfrm>
          <a:prstGeom prst="roundRect">
            <a:avLst>
              <a:gd name="adj" fmla="val 6154"/>
            </a:avLst>
          </a:prstGeom>
          <a:solidFill>
            <a:schemeClr val="bg2"/>
          </a:solidFill>
          <a:ln w="12700">
            <a:solidFill>
              <a:schemeClr val="bg2"/>
            </a:solidFill>
            <a:prstDash val="solid"/>
          </a:ln>
        </p:spPr>
      </p:sp>
      <p:sp>
        <p:nvSpPr>
          <p:cNvPr id="14" name="text_101"/>
          <p:cNvSpPr txBox="1"/>
          <p:nvPr/>
        </p:nvSpPr>
        <p:spPr>
          <a:xfrm>
            <a:off x="5194889"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VietOCR</a:t>
            </a:r>
            <a:endParaRPr lang="en-US" sz="1500" dirty="0"/>
          </a:p>
        </p:txBody>
      </p:sp>
      <p:sp>
        <p:nvSpPr>
          <p:cNvPr id="15" name="text_102"/>
          <p:cNvSpPr txBox="1"/>
          <p:nvPr/>
        </p:nvSpPr>
        <p:spPr>
          <a:xfrm>
            <a:off x="5240609"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đọc tiếng Việt, giữ dấu</a:t>
            </a:r>
            <a:endParaRPr lang="en-US" sz="1200" dirty="0"/>
          </a:p>
        </p:txBody>
      </p:sp>
      <p:sp>
        <p:nvSpPr>
          <p:cNvPr id="16" name="arrow_103"/>
          <p:cNvSpPr/>
          <p:nvPr/>
        </p:nvSpPr>
        <p:spPr>
          <a:xfrm>
            <a:off x="7133966" y="1911096"/>
            <a:ext cx="201168" cy="201168"/>
          </a:xfrm>
          <a:prstGeom prst="rightArrow">
            <a:avLst/>
          </a:prstGeom>
          <a:solidFill>
            <a:srgbClr val="6B7280"/>
          </a:solidFill>
          <a:ln w="12700">
            <a:solidFill>
              <a:srgbClr val="6B7280"/>
            </a:solidFill>
            <a:prstDash val="solid"/>
          </a:ln>
        </p:spPr>
      </p:sp>
      <p:sp>
        <p:nvSpPr>
          <p:cNvPr id="17" name="card_104"/>
          <p:cNvSpPr/>
          <p:nvPr/>
        </p:nvSpPr>
        <p:spPr>
          <a:xfrm>
            <a:off x="7380854" y="1417320"/>
            <a:ext cx="1984797" cy="1188720"/>
          </a:xfrm>
          <a:prstGeom prst="roundRect">
            <a:avLst>
              <a:gd name="adj" fmla="val 6154"/>
            </a:avLst>
          </a:prstGeom>
          <a:solidFill>
            <a:schemeClr val="accent4"/>
          </a:solidFill>
          <a:ln w="12700">
            <a:solidFill>
              <a:schemeClr val="accent4"/>
            </a:solidFill>
            <a:prstDash val="solid"/>
          </a:ln>
        </p:spPr>
      </p:sp>
      <p:sp>
        <p:nvSpPr>
          <p:cNvPr id="18" name="text_105"/>
          <p:cNvSpPr txBox="1"/>
          <p:nvPr/>
        </p:nvSpPr>
        <p:spPr>
          <a:xfrm>
            <a:off x="7472294"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Prompt</a:t>
            </a:r>
            <a:endParaRPr lang="en-US" sz="1500" dirty="0"/>
          </a:p>
        </p:txBody>
      </p:sp>
      <p:sp>
        <p:nvSpPr>
          <p:cNvPr id="19" name="text_106"/>
          <p:cNvSpPr txBox="1"/>
          <p:nvPr/>
        </p:nvSpPr>
        <p:spPr>
          <a:xfrm>
            <a:off x="7518014"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1 dòng OCR + câu hỏi</a:t>
            </a:r>
            <a:endParaRPr lang="en-US" sz="1200" dirty="0"/>
          </a:p>
        </p:txBody>
      </p:sp>
      <p:sp>
        <p:nvSpPr>
          <p:cNvPr id="20" name="arrow_107"/>
          <p:cNvSpPr/>
          <p:nvPr/>
        </p:nvSpPr>
        <p:spPr>
          <a:xfrm>
            <a:off x="9411371" y="1911096"/>
            <a:ext cx="201168" cy="201168"/>
          </a:xfrm>
          <a:prstGeom prst="rightArrow">
            <a:avLst/>
          </a:prstGeom>
          <a:solidFill>
            <a:srgbClr val="6B7280"/>
          </a:solidFill>
          <a:ln w="12700">
            <a:solidFill>
              <a:srgbClr val="6B7280"/>
            </a:solidFill>
            <a:prstDash val="solid"/>
          </a:ln>
        </p:spPr>
      </p:sp>
      <p:sp>
        <p:nvSpPr>
          <p:cNvPr id="21" name="card_108"/>
          <p:cNvSpPr/>
          <p:nvPr/>
        </p:nvSpPr>
        <p:spPr>
          <a:xfrm>
            <a:off x="9658259" y="1417320"/>
            <a:ext cx="1984797" cy="1188720"/>
          </a:xfrm>
          <a:prstGeom prst="roundRect">
            <a:avLst>
              <a:gd name="adj" fmla="val 6154"/>
            </a:avLst>
          </a:prstGeom>
          <a:solidFill>
            <a:schemeClr val="accent5"/>
          </a:solidFill>
          <a:ln w="12700">
            <a:solidFill>
              <a:schemeClr val="accent5"/>
            </a:solidFill>
            <a:prstDash val="solid"/>
          </a:ln>
        </p:spPr>
      </p:sp>
      <p:sp>
        <p:nvSpPr>
          <p:cNvPr id="22" name="text_109"/>
          <p:cNvSpPr txBox="1"/>
          <p:nvPr/>
        </p:nvSpPr>
        <p:spPr>
          <a:xfrm>
            <a:off x="9749699"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Qwen2.5-VL + LoRA</a:t>
            </a:r>
            <a:endParaRPr lang="en-US" sz="1500" dirty="0"/>
          </a:p>
        </p:txBody>
      </p:sp>
      <p:sp>
        <p:nvSpPr>
          <p:cNvPr id="23" name="text_110"/>
          <p:cNvSpPr txBox="1"/>
          <p:nvPr/>
        </p:nvSpPr>
        <p:spPr>
          <a:xfrm>
            <a:off x="9795419"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LoRA train cùng dòng OCR</a:t>
            </a:r>
            <a:endParaRPr lang="en-US" sz="1200" dirty="0"/>
          </a:p>
        </p:txBody>
      </p:sp>
      <p:sp>
        <p:nvSpPr>
          <p:cNvPr id="24" name="card_111"/>
          <p:cNvSpPr/>
          <p:nvPr/>
        </p:nvSpPr>
        <p:spPr>
          <a:xfrm>
            <a:off x="548640" y="2834640"/>
            <a:ext cx="11094415" cy="685800"/>
          </a:xfrm>
          <a:prstGeom prst="roundRect">
            <a:avLst>
              <a:gd name="adj" fmla="val 10667"/>
            </a:avLst>
          </a:prstGeom>
          <a:solidFill>
            <a:schemeClr val="bg2"/>
          </a:solidFill>
          <a:ln w="12700">
            <a:solidFill>
              <a:schemeClr val="bg2"/>
            </a:solidFill>
            <a:prstDash val="solid"/>
          </a:ln>
        </p:spPr>
      </p:sp>
      <p:sp>
        <p:nvSpPr>
          <p:cNvPr id="25" name="text_112"/>
          <p:cNvSpPr txBox="1"/>
          <p:nvPr/>
        </p:nvSpPr>
        <p:spPr>
          <a:xfrm>
            <a:off x="822960" y="2834640"/>
            <a:ext cx="10545775" cy="68580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Dòng prompt:  </a:t>
            </a:r>
            <a:pPr indent="0" marL="0">
              <a:buNone/>
            </a:pPr>
            <a:r>
              <a:rPr lang="en-US" sz="1300" dirty="0">
                <a:solidFill>
                  <a:schemeClr val="tx1"/>
                </a:solidFill>
                <a:latin typeface="Courier New" pitchFamily="34" charset="0"/>
                <a:ea typeface="Courier New" pitchFamily="34" charset="-122"/>
                <a:cs typeface="Courier New" pitchFamily="34" charset="-120"/>
              </a:rPr>
              <a:t>Văn bản đọc được trong ảnh: NHÀ THUỐC TÂM AN | 0919 467 868 …   Câu hỏi: tên nhà thuốc là gì?</a:t>
            </a:r>
            <a:endParaRPr lang="en-US" sz="1400" dirty="0"/>
          </a:p>
        </p:txBody>
      </p:sp>
      <p:sp>
        <p:nvSpPr>
          <p:cNvPr id="26" name="card_113"/>
          <p:cNvSpPr/>
          <p:nvPr/>
        </p:nvSpPr>
        <p:spPr>
          <a:xfrm>
            <a:off x="548640" y="3794760"/>
            <a:ext cx="3454298" cy="2468880"/>
          </a:xfrm>
          <a:prstGeom prst="roundRect">
            <a:avLst>
              <a:gd name="adj" fmla="val 2963"/>
            </a:avLst>
          </a:prstGeom>
          <a:solidFill>
            <a:schemeClr val="bg2"/>
          </a:solidFill>
          <a:ln w="12700">
            <a:solidFill>
              <a:schemeClr val="bg2"/>
            </a:solidFill>
            <a:prstDash val="solid"/>
          </a:ln>
        </p:spPr>
      </p:sp>
      <p:sp>
        <p:nvSpPr>
          <p:cNvPr id="27" name="text_114"/>
          <p:cNvSpPr txBox="1"/>
          <p:nvPr/>
        </p:nvSpPr>
        <p:spPr>
          <a:xfrm>
            <a:off x="777240" y="39319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Vì sao OCR</a:t>
            </a:r>
            <a:endParaRPr lang="en-US" sz="1600" dirty="0"/>
          </a:p>
        </p:txBody>
      </p:sp>
      <p:sp>
        <p:nvSpPr>
          <p:cNvPr id="28" name="list_115"/>
          <p:cNvSpPr txBox="1"/>
          <p:nvPr/>
        </p:nvSpPr>
        <p:spPr>
          <a:xfrm>
            <a:off x="777240" y="4389120"/>
            <a:ext cx="2997098"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Lỗi thật của B2 ở ViTextVQA: đọc sai chữ 28%, nhầm vùng chữ 23%, sai dấu 8%</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Chữ tiếng Việt trong ảnh là gap nghiên cứu G2</a:t>
            </a:r>
            <a:endParaRPr lang="en-US" sz="1400" dirty="0"/>
          </a:p>
        </p:txBody>
      </p:sp>
      <p:sp>
        <p:nvSpPr>
          <p:cNvPr id="29" name="card_116"/>
          <p:cNvSpPr/>
          <p:nvPr/>
        </p:nvSpPr>
        <p:spPr>
          <a:xfrm>
            <a:off x="4368698" y="3794760"/>
            <a:ext cx="3454298" cy="2468880"/>
          </a:xfrm>
          <a:prstGeom prst="roundRect">
            <a:avLst>
              <a:gd name="adj" fmla="val 2963"/>
            </a:avLst>
          </a:prstGeom>
          <a:solidFill>
            <a:schemeClr val="bg2"/>
          </a:solidFill>
          <a:ln w="12700">
            <a:solidFill>
              <a:schemeClr val="bg2"/>
            </a:solidFill>
            <a:prstDash val="solid"/>
          </a:ln>
        </p:spPr>
      </p:sp>
      <p:sp>
        <p:nvSpPr>
          <p:cNvPr id="30" name="text_117"/>
          <p:cNvSpPr txBox="1"/>
          <p:nvPr/>
        </p:nvSpPr>
        <p:spPr>
          <a:xfrm>
            <a:off x="4597298" y="39319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Chọn OCR (luật chốt, dev300)</a:t>
            </a:r>
            <a:endParaRPr lang="en-US" sz="1600" dirty="0"/>
          </a:p>
        </p:txBody>
      </p:sp>
      <p:sp>
        <p:nvSpPr>
          <p:cNvPr id="31" name="list_118"/>
          <p:cNvSpPr txBox="1"/>
          <p:nvPr/>
        </p:nvSpPr>
        <p:spPr>
          <a:xfrm>
            <a:off x="4597298" y="4389120"/>
            <a:ext cx="2997098"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PaddleOCR bản Latin làm rơi dấu: “Kiểu Thẩm” → “Kiu Thm”</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Đáp án nằm trong văn bản OCR: VietOCR 37,7% so với 27,0% (p = 0,0008) → VietOCR</a:t>
            </a:r>
            <a:endParaRPr lang="en-US" sz="1400" dirty="0"/>
          </a:p>
        </p:txBody>
      </p:sp>
      <p:sp>
        <p:nvSpPr>
          <p:cNvPr id="32" name="card_119"/>
          <p:cNvSpPr/>
          <p:nvPr/>
        </p:nvSpPr>
        <p:spPr>
          <a:xfrm>
            <a:off x="8188757" y="3794760"/>
            <a:ext cx="3454298" cy="2468880"/>
          </a:xfrm>
          <a:prstGeom prst="roundRect">
            <a:avLst>
              <a:gd name="adj" fmla="val 2963"/>
            </a:avLst>
          </a:prstGeom>
          <a:solidFill>
            <a:schemeClr val="accent4"/>
          </a:solidFill>
          <a:ln w="12700">
            <a:solidFill>
              <a:schemeClr val="accent4"/>
            </a:solidFill>
            <a:prstDash val="solid"/>
          </a:ln>
        </p:spPr>
      </p:sp>
      <p:sp>
        <p:nvSpPr>
          <p:cNvPr id="33" name="text_120"/>
          <p:cNvSpPr txBox="1"/>
          <p:nvPr/>
        </p:nvSpPr>
        <p:spPr>
          <a:xfrm>
            <a:off x="8417357" y="39319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Train gì</a:t>
            </a:r>
            <a:endParaRPr lang="en-US" sz="1600" dirty="0"/>
          </a:p>
        </p:txBody>
      </p:sp>
      <p:sp>
        <p:nvSpPr>
          <p:cNvPr id="34" name="list_121"/>
          <p:cNvSpPr txBox="1"/>
          <p:nvPr/>
        </p:nvSpPr>
        <p:spPr>
          <a:xfrm>
            <a:off x="8417357" y="4389120"/>
            <a:ext cx="2997098"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QLoRA y hệt B2 (r = 16, 0,196% tham số); chỉ thêm dòng OCR vào prompt</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Phép thử có kiểm soát: tập con 8.000 câu, B3 so với B2-sub (cùng tập, không OCR)</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06 · ABLATION: OCR LÚC TRAIN × OCR LÚC TEST</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OCR chỉ giúp khi model được train cùng OCR</a:t>
            </a:r>
            <a:endParaRPr lang="en-US" sz="3200" dirty="0"/>
          </a:p>
        </p:txBody>
      </p:sp>
      <p:sp>
        <p:nvSpPr>
          <p:cNvPr id="5" name="text_122"/>
          <p:cNvSpPr txBox="1"/>
          <p:nvPr/>
        </p:nvSpPr>
        <p:spPr>
          <a:xfrm>
            <a:off x="2331720" y="1371600"/>
            <a:ext cx="2240280" cy="365760"/>
          </a:xfrm>
          <a:prstGeom prst="rect">
            <a:avLst/>
          </a:prstGeom>
          <a:noFill/>
          <a:ln/>
        </p:spPr>
        <p:txBody>
          <a:bodyPr wrap="square" lIns="0" tIns="0" rIns="0" bIns="0" rtlCol="0" anchor="t"/>
          <a:lstStyle/>
          <a:p>
            <a:pPr algn="ctr" indent="0" marL="0">
              <a:buNone/>
            </a:pPr>
            <a:r>
              <a:rPr lang="en-US" sz="1400" b="1" dirty="0">
                <a:solidFill>
                  <a:schemeClr val="tx2"/>
                </a:solidFill>
                <a:latin typeface="Calibri" pitchFamily="34" charset="0"/>
                <a:ea typeface="Calibri" pitchFamily="34" charset="-122"/>
                <a:cs typeface="Calibri" pitchFamily="34" charset="-120"/>
              </a:rPr>
              <a:t>Test không OCR</a:t>
            </a:r>
            <a:endParaRPr lang="en-US" sz="1400" dirty="0"/>
          </a:p>
        </p:txBody>
      </p:sp>
      <p:sp>
        <p:nvSpPr>
          <p:cNvPr id="6" name="text_123"/>
          <p:cNvSpPr txBox="1"/>
          <p:nvPr/>
        </p:nvSpPr>
        <p:spPr>
          <a:xfrm>
            <a:off x="4709160" y="1371600"/>
            <a:ext cx="2240280" cy="365760"/>
          </a:xfrm>
          <a:prstGeom prst="rect">
            <a:avLst/>
          </a:prstGeom>
          <a:noFill/>
          <a:ln/>
        </p:spPr>
        <p:txBody>
          <a:bodyPr wrap="square" lIns="0" tIns="0" rIns="0" bIns="0" rtlCol="0" anchor="t"/>
          <a:lstStyle/>
          <a:p>
            <a:pPr algn="ctr" indent="0" marL="0">
              <a:buNone/>
            </a:pPr>
            <a:r>
              <a:rPr lang="en-US" sz="1400" b="1" dirty="0">
                <a:solidFill>
                  <a:schemeClr val="tx2"/>
                </a:solidFill>
                <a:latin typeface="Calibri" pitchFamily="34" charset="0"/>
                <a:ea typeface="Calibri" pitchFamily="34" charset="-122"/>
                <a:cs typeface="Calibri" pitchFamily="34" charset="-120"/>
              </a:rPr>
              <a:t>Test có OCR</a:t>
            </a:r>
            <a:endParaRPr lang="en-US" sz="1400" dirty="0"/>
          </a:p>
        </p:txBody>
      </p:sp>
      <p:sp>
        <p:nvSpPr>
          <p:cNvPr id="7" name="text_124"/>
          <p:cNvSpPr txBox="1"/>
          <p:nvPr/>
        </p:nvSpPr>
        <p:spPr>
          <a:xfrm>
            <a:off x="548640" y="1783080"/>
            <a:ext cx="1691640" cy="1417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Train không OCR</a:t>
            </a:r>
            <a:endParaRPr lang="en-US" sz="1400" dirty="0"/>
          </a:p>
        </p:txBody>
      </p:sp>
      <p:sp>
        <p:nvSpPr>
          <p:cNvPr id="8" name="text_125"/>
          <p:cNvSpPr txBox="1"/>
          <p:nvPr/>
        </p:nvSpPr>
        <p:spPr>
          <a:xfrm>
            <a:off x="548640" y="3337560"/>
            <a:ext cx="1691640" cy="1417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Train có OCR</a:t>
            </a:r>
            <a:endParaRPr lang="en-US" sz="1400" dirty="0"/>
          </a:p>
        </p:txBody>
      </p:sp>
      <p:sp>
        <p:nvSpPr>
          <p:cNvPr id="9" name="card_126"/>
          <p:cNvSpPr/>
          <p:nvPr/>
        </p:nvSpPr>
        <p:spPr>
          <a:xfrm>
            <a:off x="2331720" y="1783080"/>
            <a:ext cx="2240280" cy="1417320"/>
          </a:xfrm>
          <a:prstGeom prst="roundRect">
            <a:avLst>
              <a:gd name="adj" fmla="val 5161"/>
            </a:avLst>
          </a:prstGeom>
          <a:solidFill>
            <a:schemeClr val="bg2"/>
          </a:solidFill>
          <a:ln w="12700">
            <a:solidFill>
              <a:schemeClr val="bg2"/>
            </a:solidFill>
            <a:prstDash val="solid"/>
          </a:ln>
        </p:spPr>
      </p:sp>
      <p:sp>
        <p:nvSpPr>
          <p:cNvPr id="10" name="text_127"/>
          <p:cNvSpPr txBox="1"/>
          <p:nvPr/>
        </p:nvSpPr>
        <p:spPr>
          <a:xfrm>
            <a:off x="2331720" y="1947672"/>
            <a:ext cx="2240280" cy="685800"/>
          </a:xfrm>
          <a:prstGeom prst="rect">
            <a:avLst/>
          </a:prstGeom>
          <a:noFill/>
          <a:ln/>
        </p:spPr>
        <p:txBody>
          <a:bodyPr wrap="square" lIns="0" tIns="0" rIns="0" bIns="0" rtlCol="0" anchor="t"/>
          <a:lstStyle/>
          <a:p>
            <a:pPr algn="ctr" indent="0" marL="0">
              <a:buNone/>
            </a:pPr>
            <a:r>
              <a:rPr lang="en-US" sz="3400" b="1" dirty="0">
                <a:solidFill>
                  <a:schemeClr val="tx2"/>
                </a:solidFill>
                <a:latin typeface="Cambria" pitchFamily="34" charset="0"/>
                <a:ea typeface="Cambria" pitchFamily="34" charset="-122"/>
                <a:cs typeface="Cambria" pitchFamily="34" charset="-120"/>
              </a:rPr>
              <a:t>45,55</a:t>
            </a:r>
            <a:endParaRPr lang="en-US" sz="3400" dirty="0"/>
          </a:p>
        </p:txBody>
      </p:sp>
      <p:sp>
        <p:nvSpPr>
          <p:cNvPr id="11" name="text_128"/>
          <p:cNvSpPr txBox="1"/>
          <p:nvPr/>
        </p:nvSpPr>
        <p:spPr>
          <a:xfrm>
            <a:off x="2423160" y="2651760"/>
            <a:ext cx="2057400" cy="4114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B2-sub</a:t>
            </a:r>
            <a:endParaRPr lang="en-US" sz="1300" dirty="0"/>
          </a:p>
        </p:txBody>
      </p:sp>
      <p:sp>
        <p:nvSpPr>
          <p:cNvPr id="12" name="card_129"/>
          <p:cNvSpPr/>
          <p:nvPr/>
        </p:nvSpPr>
        <p:spPr>
          <a:xfrm>
            <a:off x="4709160" y="1783080"/>
            <a:ext cx="2240280" cy="1417320"/>
          </a:xfrm>
          <a:prstGeom prst="roundRect">
            <a:avLst>
              <a:gd name="adj" fmla="val 5161"/>
            </a:avLst>
          </a:prstGeom>
          <a:solidFill>
            <a:schemeClr val="bg2"/>
          </a:solidFill>
          <a:ln w="12700">
            <a:solidFill>
              <a:schemeClr val="bg2"/>
            </a:solidFill>
            <a:prstDash val="solid"/>
          </a:ln>
        </p:spPr>
      </p:sp>
      <p:sp>
        <p:nvSpPr>
          <p:cNvPr id="13" name="text_130"/>
          <p:cNvSpPr txBox="1"/>
          <p:nvPr/>
        </p:nvSpPr>
        <p:spPr>
          <a:xfrm>
            <a:off x="4709160" y="1947672"/>
            <a:ext cx="2240280" cy="685800"/>
          </a:xfrm>
          <a:prstGeom prst="rect">
            <a:avLst/>
          </a:prstGeom>
          <a:noFill/>
          <a:ln/>
        </p:spPr>
        <p:txBody>
          <a:bodyPr wrap="square" lIns="0" tIns="0" rIns="0" bIns="0" rtlCol="0" anchor="t"/>
          <a:lstStyle/>
          <a:p>
            <a:pPr algn="ctr" indent="0" marL="0">
              <a:buNone/>
            </a:pPr>
            <a:r>
              <a:rPr lang="en-US" sz="3400" b="1" dirty="0">
                <a:solidFill>
                  <a:schemeClr val="tx2"/>
                </a:solidFill>
                <a:latin typeface="Cambria" pitchFamily="34" charset="0"/>
                <a:ea typeface="Cambria" pitchFamily="34" charset="-122"/>
                <a:cs typeface="Cambria" pitchFamily="34" charset="-120"/>
              </a:rPr>
              <a:t>44,90</a:t>
            </a:r>
            <a:endParaRPr lang="en-US" sz="3400" dirty="0"/>
          </a:p>
        </p:txBody>
      </p:sp>
      <p:sp>
        <p:nvSpPr>
          <p:cNvPr id="14" name="text_131"/>
          <p:cNvSpPr txBox="1"/>
          <p:nvPr/>
        </p:nvSpPr>
        <p:spPr>
          <a:xfrm>
            <a:off x="4800600" y="2651760"/>
            <a:ext cx="2057400" cy="4114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B2-sub + OCR lúc test</a:t>
            </a:r>
            <a:endParaRPr lang="en-US" sz="1300" dirty="0"/>
          </a:p>
        </p:txBody>
      </p:sp>
      <p:sp>
        <p:nvSpPr>
          <p:cNvPr id="15" name="card_132"/>
          <p:cNvSpPr/>
          <p:nvPr/>
        </p:nvSpPr>
        <p:spPr>
          <a:xfrm>
            <a:off x="2331720" y="3337560"/>
            <a:ext cx="2240280" cy="1417320"/>
          </a:xfrm>
          <a:prstGeom prst="roundRect">
            <a:avLst>
              <a:gd name="adj" fmla="val 5161"/>
            </a:avLst>
          </a:prstGeom>
          <a:solidFill>
            <a:schemeClr val="bg2"/>
          </a:solidFill>
          <a:ln w="12700">
            <a:solidFill>
              <a:schemeClr val="bg2"/>
            </a:solidFill>
            <a:prstDash val="solid"/>
          </a:ln>
        </p:spPr>
      </p:sp>
      <p:sp>
        <p:nvSpPr>
          <p:cNvPr id="16" name="text_133"/>
          <p:cNvSpPr txBox="1"/>
          <p:nvPr/>
        </p:nvSpPr>
        <p:spPr>
          <a:xfrm>
            <a:off x="2331720" y="3502152"/>
            <a:ext cx="2240280" cy="685800"/>
          </a:xfrm>
          <a:prstGeom prst="rect">
            <a:avLst/>
          </a:prstGeom>
          <a:noFill/>
          <a:ln/>
        </p:spPr>
        <p:txBody>
          <a:bodyPr wrap="square" lIns="0" tIns="0" rIns="0" bIns="0" rtlCol="0" anchor="t"/>
          <a:lstStyle/>
          <a:p>
            <a:pPr algn="ctr" indent="0" marL="0">
              <a:buNone/>
            </a:pPr>
            <a:r>
              <a:rPr lang="en-US" sz="3400" b="1" dirty="0">
                <a:solidFill>
                  <a:schemeClr val="tx2"/>
                </a:solidFill>
                <a:latin typeface="Cambria" pitchFamily="34" charset="0"/>
                <a:ea typeface="Cambria" pitchFamily="34" charset="-122"/>
                <a:cs typeface="Cambria" pitchFamily="34" charset="-120"/>
              </a:rPr>
              <a:t>45,00</a:t>
            </a:r>
            <a:endParaRPr lang="en-US" sz="3400" dirty="0"/>
          </a:p>
        </p:txBody>
      </p:sp>
      <p:sp>
        <p:nvSpPr>
          <p:cNvPr id="17" name="text_134"/>
          <p:cNvSpPr txBox="1"/>
          <p:nvPr/>
        </p:nvSpPr>
        <p:spPr>
          <a:xfrm>
            <a:off x="2423160" y="4206240"/>
            <a:ext cx="2057400" cy="4114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B3, bỏ OCR lúc test</a:t>
            </a:r>
            <a:endParaRPr lang="en-US" sz="1300" dirty="0"/>
          </a:p>
        </p:txBody>
      </p:sp>
      <p:sp>
        <p:nvSpPr>
          <p:cNvPr id="18" name="card_135"/>
          <p:cNvSpPr/>
          <p:nvPr/>
        </p:nvSpPr>
        <p:spPr>
          <a:xfrm>
            <a:off x="4709160" y="3337560"/>
            <a:ext cx="2240280" cy="1417320"/>
          </a:xfrm>
          <a:prstGeom prst="roundRect">
            <a:avLst>
              <a:gd name="adj" fmla="val 5161"/>
            </a:avLst>
          </a:prstGeom>
          <a:solidFill>
            <a:schemeClr val="accent5"/>
          </a:solidFill>
          <a:ln w="12700">
            <a:solidFill>
              <a:schemeClr val="accent5"/>
            </a:solidFill>
            <a:prstDash val="solid"/>
          </a:ln>
        </p:spPr>
      </p:sp>
      <p:sp>
        <p:nvSpPr>
          <p:cNvPr id="19" name="text_136"/>
          <p:cNvSpPr txBox="1"/>
          <p:nvPr/>
        </p:nvSpPr>
        <p:spPr>
          <a:xfrm>
            <a:off x="4709160" y="3502152"/>
            <a:ext cx="2240280" cy="685800"/>
          </a:xfrm>
          <a:prstGeom prst="rect">
            <a:avLst/>
          </a:prstGeom>
          <a:noFill/>
          <a:ln/>
        </p:spPr>
        <p:txBody>
          <a:bodyPr wrap="square" lIns="0" tIns="0" rIns="0" bIns="0" rtlCol="0" anchor="t"/>
          <a:lstStyle/>
          <a:p>
            <a:pPr algn="ctr" indent="0" marL="0">
              <a:buNone/>
            </a:pPr>
            <a:r>
              <a:rPr lang="en-US" sz="3400" b="1" dirty="0">
                <a:solidFill>
                  <a:schemeClr val="accent2"/>
                </a:solidFill>
                <a:latin typeface="Cambria" pitchFamily="34" charset="0"/>
                <a:ea typeface="Cambria" pitchFamily="34" charset="-122"/>
                <a:cs typeface="Cambria" pitchFamily="34" charset="-120"/>
              </a:rPr>
              <a:t>49,25</a:t>
            </a:r>
            <a:endParaRPr lang="en-US" sz="3400" dirty="0"/>
          </a:p>
        </p:txBody>
      </p:sp>
      <p:sp>
        <p:nvSpPr>
          <p:cNvPr id="20" name="text_137"/>
          <p:cNvSpPr txBox="1"/>
          <p:nvPr/>
        </p:nvSpPr>
        <p:spPr>
          <a:xfrm>
            <a:off x="4800600" y="4206240"/>
            <a:ext cx="2057400" cy="4114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B3 (đề xuất)</a:t>
            </a:r>
            <a:endParaRPr lang="en-US" sz="1300" dirty="0"/>
          </a:p>
        </p:txBody>
      </p:sp>
      <p:sp>
        <p:nvSpPr>
          <p:cNvPr id="21" name="text_138"/>
          <p:cNvSpPr txBox="1"/>
          <p:nvPr/>
        </p:nvSpPr>
        <p:spPr>
          <a:xfrm>
            <a:off x="2331720" y="4864608"/>
            <a:ext cx="4617720" cy="320040"/>
          </a:xfrm>
          <a:prstGeom prst="rect">
            <a:avLst/>
          </a:prstGeom>
          <a:noFill/>
          <a:ln/>
        </p:spPr>
        <p:txBody>
          <a:bodyPr wrap="square" lIns="0" tIns="0" rIns="0" bIns="0" rtlCol="0" anchor="t"/>
          <a:lstStyle/>
          <a:p>
            <a:pPr algn="ctr" indent="0" marL="0">
              <a:buNone/>
            </a:pPr>
            <a:r>
              <a:rPr lang="en-US" sz="1200" dirty="0">
                <a:solidFill>
                  <a:schemeClr val="accent3"/>
                </a:solidFill>
                <a:latin typeface="Calibri" pitchFamily="34" charset="0"/>
                <a:ea typeface="Calibri" pitchFamily="34" charset="-122"/>
                <a:cs typeface="Calibri" pitchFamily="34" charset="-120"/>
              </a:rPr>
              <a:t>EM (%), ViTextVQA tập con test (2.000 câu), seed 42</a:t>
            </a:r>
            <a:endParaRPr lang="en-US" sz="1200" dirty="0"/>
          </a:p>
        </p:txBody>
      </p:sp>
      <p:sp>
        <p:nvSpPr>
          <p:cNvPr id="22" name="card_139"/>
          <p:cNvSpPr/>
          <p:nvPr/>
        </p:nvSpPr>
        <p:spPr>
          <a:xfrm>
            <a:off x="7360920" y="1371600"/>
            <a:ext cx="4282135" cy="2103120"/>
          </a:xfrm>
          <a:prstGeom prst="roundRect">
            <a:avLst>
              <a:gd name="adj" fmla="val 3478"/>
            </a:avLst>
          </a:prstGeom>
          <a:solidFill>
            <a:schemeClr val="bg2"/>
          </a:solidFill>
          <a:ln w="12700">
            <a:solidFill>
              <a:schemeClr val="bg2"/>
            </a:solidFill>
            <a:prstDash val="solid"/>
          </a:ln>
        </p:spPr>
      </p:sp>
      <p:sp>
        <p:nvSpPr>
          <p:cNvPr id="23" name="text_140"/>
          <p:cNvSpPr txBox="1"/>
          <p:nvPr/>
        </p:nvSpPr>
        <p:spPr>
          <a:xfrm>
            <a:off x="7589520" y="1481328"/>
            <a:ext cx="38249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Kiểm định ghép cặp (McNemar, EM)</a:t>
            </a:r>
            <a:endParaRPr lang="en-US" sz="1600" dirty="0"/>
          </a:p>
        </p:txBody>
      </p:sp>
      <p:sp>
        <p:nvSpPr>
          <p:cNvPr id="24" name="list_141"/>
          <p:cNvSpPr txBox="1"/>
          <p:nvPr/>
        </p:nvSpPr>
        <p:spPr>
          <a:xfrm>
            <a:off x="7589520" y="1874520"/>
            <a:ext cx="3824935" cy="1554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Chỉ OCR lúc test: −0,65 (p = 0,49)</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Chỉ OCR lúc train: −0,55 (p = 0,35)</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Cả train lẫn test: +4,35 (p = 2 × 10⁻⁸)</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Bỏ OCR khỏi B3: −4,25 (p = 4 × 10⁻⁹)</a:t>
            </a:r>
            <a:endParaRPr lang="en-US" sz="1400" dirty="0"/>
          </a:p>
        </p:txBody>
      </p:sp>
      <p:sp>
        <p:nvSpPr>
          <p:cNvPr id="25" name="card_142"/>
          <p:cNvSpPr/>
          <p:nvPr/>
        </p:nvSpPr>
        <p:spPr>
          <a:xfrm>
            <a:off x="7360920" y="3657600"/>
            <a:ext cx="4282135" cy="1280160"/>
          </a:xfrm>
          <a:prstGeom prst="roundRect">
            <a:avLst>
              <a:gd name="adj" fmla="val 5714"/>
            </a:avLst>
          </a:prstGeom>
          <a:solidFill>
            <a:schemeClr val="accent4"/>
          </a:solidFill>
          <a:ln w="12700">
            <a:solidFill>
              <a:schemeClr val="accent4"/>
            </a:solidFill>
            <a:prstDash val="solid"/>
          </a:ln>
        </p:spPr>
      </p:sp>
      <p:sp>
        <p:nvSpPr>
          <p:cNvPr id="26" name="text_143"/>
          <p:cNvSpPr txBox="1"/>
          <p:nvPr/>
        </p:nvSpPr>
        <p:spPr>
          <a:xfrm>
            <a:off x="7589520" y="3657600"/>
            <a:ext cx="3824935" cy="1280160"/>
          </a:xfrm>
          <a:prstGeom prst="rect">
            <a:avLst/>
          </a:prstGeom>
          <a:noFill/>
          <a:ln/>
        </p:spPr>
        <p:txBody>
          <a:bodyPr wrap="square" lIns="0" tIns="0" rIns="0" bIns="0" rtlCol="0" anchor="ctr"/>
          <a:lstStyle/>
          <a:p>
            <a:pPr indent="0" marL="0">
              <a:buNone/>
            </a:pPr>
            <a:r>
              <a:rPr lang="en-US" sz="1500" b="1" dirty="0">
                <a:solidFill>
                  <a:srgbClr val="13294B"/>
                </a:solidFill>
                <a:latin typeface="Calibri" pitchFamily="34" charset="0"/>
                <a:ea typeface="Calibri" pitchFamily="34" charset="-122"/>
                <a:cs typeface="Calibri" pitchFamily="34" charset="-120"/>
              </a:rPr>
              <a:t>Tương tác +4,9 EM </a:t>
            </a:r>
            <a:pPr indent="0" marL="0">
              <a:buNone/>
            </a:pPr>
            <a:r>
              <a:rPr lang="en-US" sz="1500" dirty="0">
                <a:solidFill>
                  <a:schemeClr val="tx1"/>
                </a:solidFill>
                <a:latin typeface="Calibri" pitchFamily="34" charset="0"/>
                <a:ea typeface="Calibri" pitchFamily="34" charset="-122"/>
                <a:cs typeface="Calibri" pitchFamily="34" charset="-120"/>
              </a:rPr>
              <a:t>(CI95 +3,2 đến +6,6) → cần OCR ở cả train lẫn test</a:t>
            </a:r>
            <a:endParaRPr lang="en-US" sz="1500" dirty="0"/>
          </a:p>
        </p:txBody>
      </p:sp>
      <p:sp>
        <p:nvSpPr>
          <p:cNvPr id="27" name="card_144"/>
          <p:cNvSpPr/>
          <p:nvPr/>
        </p:nvSpPr>
        <p:spPr>
          <a:xfrm>
            <a:off x="548640" y="5349240"/>
            <a:ext cx="11094415" cy="914400"/>
          </a:xfrm>
          <a:prstGeom prst="roundRect">
            <a:avLst>
              <a:gd name="adj" fmla="val 8000"/>
            </a:avLst>
          </a:prstGeom>
          <a:solidFill>
            <a:schemeClr val="accent5"/>
          </a:solidFill>
          <a:ln w="12700">
            <a:solidFill>
              <a:schemeClr val="accent5"/>
            </a:solidFill>
            <a:prstDash val="solid"/>
          </a:ln>
        </p:spPr>
      </p:sp>
      <p:sp>
        <p:nvSpPr>
          <p:cNvPr id="28" name="text_145"/>
          <p:cNvSpPr txBox="1"/>
          <p:nvPr/>
        </p:nvSpPr>
        <p:spPr>
          <a:xfrm>
            <a:off x="822960" y="5349240"/>
            <a:ext cx="10545775" cy="914400"/>
          </a:xfrm>
          <a:prstGeom prst="rect">
            <a:avLst/>
          </a:prstGeom>
          <a:noFill/>
          <a:ln/>
        </p:spPr>
        <p:txBody>
          <a:bodyPr wrap="square" lIns="0" tIns="0" rIns="0" bIns="0" rtlCol="0" anchor="ctr"/>
          <a:lstStyle/>
          <a:p>
            <a:pPr indent="0" marL="0">
              <a:buNone/>
            </a:pPr>
            <a:r>
              <a:rPr lang="en-US" sz="1500" b="1" dirty="0">
                <a:solidFill>
                  <a:srgbClr val="13294B"/>
                </a:solidFill>
                <a:latin typeface="Calibri" pitchFamily="34" charset="0"/>
                <a:ea typeface="Calibri" pitchFamily="34" charset="-122"/>
                <a:cs typeface="Calibri" pitchFamily="34" charset="-120"/>
              </a:rPr>
              <a:t>Kết luận  </a:t>
            </a:r>
            <a:pPr indent="0" marL="0">
              <a:buNone/>
            </a:pPr>
            <a:r>
              <a:rPr lang="en-US" sz="1500" dirty="0">
                <a:solidFill>
                  <a:schemeClr val="tx1"/>
                </a:solidFill>
                <a:latin typeface="Calibri" pitchFamily="34" charset="0"/>
                <a:ea typeface="Calibri" pitchFamily="34" charset="-122"/>
                <a:cs typeface="Calibri" pitchFamily="34" charset="-120"/>
              </a:rPr>
              <a:t>đóng góp không phải “thêm OCR vào prompt” — mà là dùng QLoRA dạy model khi nào tin OCR, khi nào tin ảnh.</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06 · ĐỘ VỮNG</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Mức tăng giữ vững qua các seed và trên full test</a:t>
            </a:r>
            <a:endParaRPr lang="en-US" sz="3200" dirty="0"/>
          </a:p>
        </p:txBody>
      </p:sp>
      <p:graphicFrame>
        <p:nvGraphicFramePr>
          <p:cNvPr id="5" name="chart_146" descr=""/>
          <p:cNvGraphicFramePr/>
          <p:nvPr/>
        </p:nvGraphicFramePr>
        <p:xfrm>
          <a:off x="548640" y="1371600"/>
          <a:ext cx="5120640" cy="3657600"/>
        </p:xfrm>
        <a:graphic xmlns:a="http://schemas.openxmlformats.org/drawingml/2006/main">
          <a:graphicData uri="http://schemas.openxmlformats.org/drawingml/2006/chart">
            <c:chart xmlns:c="http://schemas.openxmlformats.org/drawingml/2006/chart" r:id="rId1"/>
          </a:graphicData>
        </a:graphic>
      </p:graphicFrame>
      <p:sp>
        <p:nvSpPr>
          <p:cNvPr id="6" name="card_147"/>
          <p:cNvSpPr/>
          <p:nvPr/>
        </p:nvSpPr>
        <p:spPr>
          <a:xfrm>
            <a:off x="548640" y="5212080"/>
            <a:ext cx="5120640" cy="1051560"/>
          </a:xfrm>
          <a:prstGeom prst="roundRect">
            <a:avLst>
              <a:gd name="adj" fmla="val 6957"/>
            </a:avLst>
          </a:prstGeom>
          <a:solidFill>
            <a:schemeClr val="accent4"/>
          </a:solidFill>
          <a:ln w="12700">
            <a:solidFill>
              <a:schemeClr val="accent4"/>
            </a:solidFill>
            <a:prstDash val="solid"/>
          </a:ln>
        </p:spPr>
      </p:sp>
      <p:sp>
        <p:nvSpPr>
          <p:cNvPr id="7" name="text_148"/>
          <p:cNvSpPr txBox="1"/>
          <p:nvPr/>
        </p:nvSpPr>
        <p:spPr>
          <a:xfrm>
            <a:off x="777240" y="5212080"/>
            <a:ext cx="4663440" cy="105156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+3,57 ± 0,76 EM</a:t>
            </a:r>
            <a:pPr indent="0" marL="0">
              <a:buNone/>
            </a:pPr>
            <a:r>
              <a:rPr lang="en-US" sz="1400" dirty="0">
                <a:solidFill>
                  <a:schemeClr val="tx1"/>
                </a:solidFill>
                <a:latin typeface="Calibri" pitchFamily="34" charset="0"/>
                <a:ea typeface="Calibri" pitchFamily="34" charset="-122"/>
                <a:cs typeface="Calibri" pitchFamily="34" charset="-120"/>
              </a:rPr>
              <a:t> · cả 3 seed p ≤ 1,4 × 10⁻⁴ → ổn định (luật chốt trước)</a:t>
            </a:r>
            <a:endParaRPr lang="en-US" sz="1400" dirty="0"/>
          </a:p>
        </p:txBody>
      </p:sp>
      <p:graphicFrame>
        <p:nvGraphicFramePr>
          <p:cNvPr id="17" name="table_149"/>
          <p:cNvGraphicFramePr>
            <a:graphicFrameLocks noGrp="1"/>
          </p:cNvGraphicFramePr>
          <p:nvPr>
            <p:extLst>
              <p:ext uri="{D42A27DB-BD31-4B8C-83A1-F6EECF244321}">
                <p14:modId xmlns:p14="http://schemas.microsoft.com/office/powerpoint/2010/main" val="1579011935"/>
              </p:ext>
            </p:extLst>
          </p:nvPr>
        </p:nvGraphicFramePr>
        <p:xfrm>
          <a:off x="6035040" y="1371600"/>
          <a:ext cx="5608015" cy="914400"/>
        </p:xfrm>
        <a:graphic>
          <a:graphicData uri="http://schemas.openxmlformats.org/drawingml/2006/table">
            <a:tbl>
              <a:tblPr/>
              <a:tblGrid>
                <a:gridCol w="2331720"/>
                <a:gridCol w="1325880"/>
                <a:gridCol w="1005840"/>
                <a:gridCol w="941832"/>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Full test (10.028 câu)</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Dữ liệu train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ViTextBLIP-2 (paper)</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toàn bộ</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25,48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53,95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B2-sub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46,56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67,83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b="1" dirty="0">
                          <a:solidFill>
                            <a:srgbClr val="13294B"/>
                          </a:solidFill>
                          <a:latin typeface="Calibri" pitchFamily="34" charset="0"/>
                          <a:ea typeface="Calibri" pitchFamily="34" charset="-122"/>
                          <a:cs typeface="Calibri" pitchFamily="34" charset="-120"/>
                        </a:rPr>
                        <a:t>B3 (nhận biết OCR)</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49,10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70,03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B2 (QLoRA, không OCR)</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50,26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71,16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9" name="card_150"/>
          <p:cNvSpPr/>
          <p:nvPr/>
        </p:nvSpPr>
        <p:spPr>
          <a:xfrm>
            <a:off x="6035040" y="3886200"/>
            <a:ext cx="5608015" cy="2377440"/>
          </a:xfrm>
          <a:prstGeom prst="roundRect">
            <a:avLst>
              <a:gd name="adj" fmla="val 3077"/>
            </a:avLst>
          </a:prstGeom>
          <a:solidFill>
            <a:schemeClr val="bg2"/>
          </a:solidFill>
          <a:ln w="12700">
            <a:solidFill>
              <a:schemeClr val="bg2"/>
            </a:solidFill>
            <a:prstDash val="solid"/>
          </a:ln>
        </p:spPr>
      </p:sp>
      <p:sp>
        <p:nvSpPr>
          <p:cNvPr id="10" name="list_151"/>
          <p:cNvSpPr txBox="1"/>
          <p:nvPr/>
        </p:nvSpPr>
        <p:spPr>
          <a:xfrm>
            <a:off x="6263640" y="4023360"/>
            <a:ext cx="5150815" cy="2148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B3 so với B2-sub: +2,54 EM (672 so với 417 câu chỉ một model đúng, p = 10⁻¹⁴)</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Cao hơn ViTextBLIP-2 cả EM và F1 (cận dưới CI95 48,1 / 69,3)</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Đính chính: vẫn thấp hơn B2 dữ liệu đầy đủ 1,16 EM (p = 0,003); OCR bù ≈ 69% phần mất do cắt dữ liệu với 25% thời gian train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06 · ViVQA: ĐỘ DÀI HUẤN LUYỆN</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ViVQA: epoch thứ hai có ích — chọn mà không chạm test</a:t>
            </a:r>
            <a:endParaRPr lang="en-US" sz="3200" dirty="0"/>
          </a:p>
        </p:txBody>
      </p:sp>
      <p:graphicFrame>
        <p:nvGraphicFramePr>
          <p:cNvPr id="5" name="chart_152" descr=""/>
          <p:cNvGraphicFramePr/>
          <p:nvPr/>
        </p:nvGraphicFramePr>
        <p:xfrm>
          <a:off x="548640" y="1371600"/>
          <a:ext cx="6400800" cy="3291840"/>
        </p:xfrm>
        <a:graphic xmlns:a="http://schemas.openxmlformats.org/drawingml/2006/main">
          <a:graphicData uri="http://schemas.openxmlformats.org/drawingml/2006/chart">
            <c:chart xmlns:c="http://schemas.openxmlformats.org/drawingml/2006/chart" r:id="rId1"/>
          </a:graphicData>
        </a:graphic>
      </p:graphicFrame>
      <p:sp>
        <p:nvSpPr>
          <p:cNvPr id="6" name="card_153"/>
          <p:cNvSpPr/>
          <p:nvPr/>
        </p:nvSpPr>
        <p:spPr>
          <a:xfrm>
            <a:off x="548640" y="4846320"/>
            <a:ext cx="6400800" cy="1417320"/>
          </a:xfrm>
          <a:prstGeom prst="roundRect">
            <a:avLst>
              <a:gd name="adj" fmla="val 5161"/>
            </a:avLst>
          </a:prstGeom>
          <a:solidFill>
            <a:schemeClr val="accent4"/>
          </a:solidFill>
          <a:ln w="12700">
            <a:solidFill>
              <a:schemeClr val="accent4"/>
            </a:solidFill>
            <a:prstDash val="solid"/>
          </a:ln>
        </p:spPr>
      </p:sp>
      <p:sp>
        <p:nvSpPr>
          <p:cNvPr id="7" name="text_154"/>
          <p:cNvSpPr txBox="1"/>
          <p:nvPr/>
        </p:nvSpPr>
        <p:spPr>
          <a:xfrm>
            <a:off x="777240" y="4846320"/>
            <a:ext cx="5943600" cy="141732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Luật chốt trước: EM cao nhất trên val sạch; giữ C1 trừ khi hơn có ý nghĩa → C3 (+3,9 EM, p = 1,4 × 10⁻⁴)</a:t>
            </a:r>
            <a:endParaRPr lang="en-US" sz="1400" dirty="0"/>
          </a:p>
        </p:txBody>
      </p:sp>
      <p:sp>
        <p:nvSpPr>
          <p:cNvPr id="8" name="card_155"/>
          <p:cNvSpPr/>
          <p:nvPr/>
        </p:nvSpPr>
        <p:spPr>
          <a:xfrm>
            <a:off x="7315200" y="1371600"/>
            <a:ext cx="4327855" cy="2377440"/>
          </a:xfrm>
          <a:prstGeom prst="roundRect">
            <a:avLst>
              <a:gd name="adj" fmla="val 3077"/>
            </a:avLst>
          </a:prstGeom>
          <a:solidFill>
            <a:schemeClr val="accent5"/>
          </a:solidFill>
          <a:ln w="12700">
            <a:solidFill>
              <a:schemeClr val="accent5"/>
            </a:solidFill>
            <a:prstDash val="solid"/>
          </a:ln>
        </p:spPr>
      </p:sp>
      <p:sp>
        <p:nvSpPr>
          <p:cNvPr id="9" name="text_156"/>
          <p:cNvSpPr txBox="1"/>
          <p:nvPr/>
        </p:nvSpPr>
        <p:spPr>
          <a:xfrm>
            <a:off x="7589520" y="1508760"/>
            <a:ext cx="3779215" cy="82296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73,8 → 76,6</a:t>
            </a:r>
            <a:endParaRPr lang="en-US" sz="4000" dirty="0"/>
          </a:p>
        </p:txBody>
      </p:sp>
      <p:sp>
        <p:nvSpPr>
          <p:cNvPr id="10" name="text_157"/>
          <p:cNvSpPr txBox="1"/>
          <p:nvPr/>
        </p:nvSpPr>
        <p:spPr>
          <a:xfrm>
            <a:off x="7589520" y="2377440"/>
            <a:ext cx="3779215"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 test ViVQA (3.001 câu), chạm một lần: +2,9, p = 4,6 × 10⁻⁹</a:t>
            </a:r>
            <a:endParaRPr lang="en-US" sz="1400" dirty="0"/>
          </a:p>
        </p:txBody>
      </p:sp>
      <p:sp>
        <p:nvSpPr>
          <p:cNvPr id="11" name="text_158"/>
          <p:cNvSpPr txBox="1"/>
          <p:nvPr/>
        </p:nvSpPr>
        <p:spPr>
          <a:xfrm>
            <a:off x="7589520" y="2926080"/>
            <a:ext cx="3779215" cy="777240"/>
          </a:xfrm>
          <a:prstGeom prst="rect">
            <a:avLst/>
          </a:prstGeom>
          <a:noFill/>
          <a:ln/>
        </p:spPr>
        <p:txBody>
          <a:bodyPr wrap="square" lIns="0" tIns="0" rIns="0" bIns="0" rtlCol="0" anchor="t"/>
          <a:lstStyle/>
          <a:p>
            <a:pPr indent="0" marL="0">
              <a:buNone/>
            </a:pPr>
            <a:r>
              <a:rPr lang="en-US" sz="1300" i="1" dirty="0">
                <a:solidFill>
                  <a:schemeClr val="tx1"/>
                </a:solidFill>
                <a:latin typeface="Calibri" pitchFamily="34" charset="0"/>
                <a:ea typeface="Calibri" pitchFamily="34" charset="-122"/>
                <a:cs typeface="Calibri" pitchFamily="34" charset="-120"/>
              </a:rPr>
              <a:t>Không phải nhớ ảnh (kiểm sau): trên phần test sạch — ảnh và cặp hỏi–đáp chưa thấy, n = 1.219 — +3,2 EM (69,1 → 72,3, p = 1,5 × 10⁻⁴)</a:t>
            </a:r>
            <a:endParaRPr lang="en-US" sz="1300" dirty="0"/>
          </a:p>
        </p:txBody>
      </p:sp>
      <p:sp>
        <p:nvSpPr>
          <p:cNvPr id="12" name="card_159"/>
          <p:cNvSpPr/>
          <p:nvPr/>
        </p:nvSpPr>
        <p:spPr>
          <a:xfrm>
            <a:off x="7315200" y="3931920"/>
            <a:ext cx="4327855" cy="2331720"/>
          </a:xfrm>
          <a:prstGeom prst="roundRect">
            <a:avLst>
              <a:gd name="adj" fmla="val 3137"/>
            </a:avLst>
          </a:prstGeom>
          <a:solidFill>
            <a:schemeClr val="bg2"/>
          </a:solidFill>
          <a:ln w="12700">
            <a:solidFill>
              <a:schemeClr val="bg2"/>
            </a:solidFill>
            <a:prstDash val="solid"/>
          </a:ln>
        </p:spPr>
      </p:sp>
      <p:sp>
        <p:nvSpPr>
          <p:cNvPr id="13" name="text_160"/>
          <p:cNvSpPr txBox="1"/>
          <p:nvPr/>
        </p:nvSpPr>
        <p:spPr>
          <a:xfrm>
            <a:off x="7589520" y="4041648"/>
            <a:ext cx="377921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Vì sao dùng val sạch</a:t>
            </a:r>
            <a:endParaRPr lang="en-US" sz="1600" dirty="0"/>
          </a:p>
        </p:txBody>
      </p:sp>
      <p:sp>
        <p:nvSpPr>
          <p:cNvPr id="14" name="list_161"/>
          <p:cNvSpPr txBox="1"/>
          <p:nvPr/>
        </p:nvSpPr>
        <p:spPr>
          <a:xfrm>
            <a:off x="7589520" y="4434840"/>
            <a:ext cx="3779215" cy="1783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512 / 1.200 câu val dùng chung ảnh với train</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Train lâu hơn nhớ ảnh → val thường thiên vị</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Chi phí: 6,1 giờ thay vì 3,0 giờ trên một L4</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07 · GIẢ THUYẾT</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Bằng chứng đến thời điểm này</a:t>
            </a:r>
            <a:endParaRPr lang="en-US" sz="3200" dirty="0"/>
          </a:p>
        </p:txBody>
      </p:sp>
      <p:graphicFrame>
        <p:nvGraphicFramePr>
          <p:cNvPr id="19" name="table_162"/>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754880"/>
                <a:gridCol w="4507992"/>
                <a:gridCol w="1828800"/>
              </a:tblGrid>
              <a:tr h="49377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Giả thuyết (Review 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Bằng chứng</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Trạng thái</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H1  QLoRA ≥ +5 EM so với zero-shot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+51,7 (ViVQA), +21,1 (ViTextVQA đầy đủ), p ≈ 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1C7293"/>
                          </a:solidFill>
                          <a:latin typeface="Calibri" pitchFamily="34" charset="0"/>
                          <a:ea typeface="Calibri" pitchFamily="34" charset="-122"/>
                          <a:cs typeface="Calibri" pitchFamily="34" charset="-120"/>
                        </a:rPr>
                        <a:t>Ủng hộ</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H2  4-bit giữ ≥ 97% độ chính xác, VRAM −40%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Giữ 94,5%; VRAM −77% (R0 so với R0b)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E8A33D"/>
                          </a:solidFill>
                          <a:latin typeface="Calibri" pitchFamily="34" charset="0"/>
                          <a:ea typeface="Calibri" pitchFamily="34" charset="-122"/>
                          <a:cs typeface="Calibri" pitchFamily="34" charset="-120"/>
                        </a:rPr>
                        <a:t>Một phần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H6  OCR prompting ≥ +3 ANLS, cộng hưởng với QLoRA</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Cộng hưởng: tương tác +4,9 EM; nhưng ANLS +1,55 ± 0,40 (&lt; +3)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E8A33D"/>
                          </a:solidFill>
                          <a:latin typeface="Calibri" pitchFamily="34" charset="0"/>
                          <a:ea typeface="Calibri" pitchFamily="34" charset="-122"/>
                          <a:cs typeface="Calibri" pitchFamily="34" charset="-120"/>
                        </a:rPr>
                        <a:t>Một phần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H7  Prompt định dạng tiếng Việt ≥ +3 EM</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Dạng few-shot: −2,1 / −1,2 EM</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B42318"/>
                          </a:solidFill>
                          <a:latin typeface="Calibri" pitchFamily="34" charset="0"/>
                          <a:ea typeface="Calibri" pitchFamily="34" charset="-122"/>
                          <a:cs typeface="Calibri" pitchFamily="34" charset="-120"/>
                        </a:rPr>
                        <a:t>Chưa ủng hộ</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H8  PEFT không làm tăng hallucination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Duyệt tay: 7% lỗi của B2 là hallucination (CI 4–11%); so với B1 ở W11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6B7280"/>
                          </a:solidFill>
                          <a:latin typeface="Calibri" pitchFamily="34" charset="0"/>
                          <a:ea typeface="Calibri" pitchFamily="34" charset="-122"/>
                          <a:cs typeface="Calibri" pitchFamily="34" charset="-120"/>
                        </a:rPr>
                        <a:t>Đang chờ</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H3–H5  Cấu hình LoRA, adapter dùng chung</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Kế hoạch W10–W12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6B7280"/>
                          </a:solidFill>
                          <a:latin typeface="Calibri" pitchFamily="34" charset="0"/>
                          <a:ea typeface="Calibri" pitchFamily="34" charset="-122"/>
                          <a:cs typeface="Calibri" pitchFamily="34" charset="-120"/>
                        </a:rPr>
                        <a:t>Đang chờ</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163"/>
          <p:cNvSpPr/>
          <p:nvPr/>
        </p:nvSpPr>
        <p:spPr>
          <a:xfrm>
            <a:off x="548640" y="5120640"/>
            <a:ext cx="11094415" cy="1143000"/>
          </a:xfrm>
          <a:prstGeom prst="roundRect">
            <a:avLst>
              <a:gd name="adj" fmla="val 6400"/>
            </a:avLst>
          </a:prstGeom>
          <a:solidFill>
            <a:schemeClr val="accent4"/>
          </a:solidFill>
          <a:ln w="12700">
            <a:solidFill>
              <a:schemeClr val="accent4"/>
            </a:solidFill>
            <a:prstDash val="solid"/>
          </a:ln>
        </p:spPr>
      </p:sp>
      <p:sp>
        <p:nvSpPr>
          <p:cNvPr id="7" name="text_164"/>
          <p:cNvSpPr txBox="1"/>
          <p:nvPr/>
        </p:nvSpPr>
        <p:spPr>
          <a:xfrm>
            <a:off x="868680" y="5120640"/>
            <a:ext cx="10454335" cy="114300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RQ1: zero-shot EM 22,1 (ViVQA), 29,1 (ViTextVQA).  RQ2: QLoRA +51,7 / +21,1 EM.  RQ3: QLoRA nhận biết OCR +2,5 EM so với cùng QLoRA (full test).</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PHẦN 07 · BƯỚC TIẾP THEO</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Kế hoạch đến Review 3 (tuần 13)</a:t>
            </a:r>
            <a:endParaRPr lang="en-US" sz="3200" dirty="0"/>
          </a:p>
        </p:txBody>
      </p:sp>
      <p:sp>
        <p:nvSpPr>
          <p:cNvPr id="5" name="card_165"/>
          <p:cNvSpPr/>
          <p:nvPr/>
        </p:nvSpPr>
        <p:spPr>
          <a:xfrm>
            <a:off x="548640" y="1600200"/>
            <a:ext cx="2533574" cy="3108960"/>
          </a:xfrm>
          <a:prstGeom prst="roundRect">
            <a:avLst>
              <a:gd name="adj" fmla="val 2887"/>
            </a:avLst>
          </a:prstGeom>
          <a:solidFill>
            <a:schemeClr val="accent4"/>
          </a:solidFill>
          <a:ln w="12700">
            <a:solidFill>
              <a:schemeClr val="accent4"/>
            </a:solidFill>
            <a:prstDash val="solid"/>
          </a:ln>
        </p:spPr>
      </p:sp>
      <p:sp>
        <p:nvSpPr>
          <p:cNvPr id="6" name="dot_166"/>
          <p:cNvSpPr/>
          <p:nvPr/>
        </p:nvSpPr>
        <p:spPr>
          <a:xfrm>
            <a:off x="822960" y="1874520"/>
            <a:ext cx="868680" cy="868680"/>
          </a:xfrm>
          <a:prstGeom prst="ellipse">
            <a:avLst/>
          </a:prstGeom>
          <a:solidFill>
            <a:srgbClr val="1C7293"/>
          </a:solidFill>
          <a:ln w="12700">
            <a:solidFill>
              <a:srgbClr val="FFFFFF"/>
            </a:solidFill>
            <a:prstDash val="solid"/>
          </a:ln>
        </p:spPr>
      </p:sp>
      <p:sp>
        <p:nvSpPr>
          <p:cNvPr id="7" name="text_167"/>
          <p:cNvSpPr txBox="1"/>
          <p:nvPr/>
        </p:nvSpPr>
        <p:spPr>
          <a:xfrm>
            <a:off x="822960"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W10</a:t>
            </a:r>
            <a:endParaRPr lang="en-US" sz="1400" dirty="0"/>
          </a:p>
        </p:txBody>
      </p:sp>
      <p:sp>
        <p:nvSpPr>
          <p:cNvPr id="8" name="text_168"/>
          <p:cNvSpPr txBox="1"/>
          <p:nvPr/>
        </p:nvSpPr>
        <p:spPr>
          <a:xfrm>
            <a:off x="822960"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QLoRA nhận biết OCR trên toàn bộ train ViTextVQA; ablation rank và module gắn LoRA (H3, H4)</a:t>
            </a:r>
            <a:endParaRPr lang="en-US" sz="1500" dirty="0"/>
          </a:p>
        </p:txBody>
      </p:sp>
      <p:sp>
        <p:nvSpPr>
          <p:cNvPr id="9" name="card_169"/>
          <p:cNvSpPr/>
          <p:nvPr/>
        </p:nvSpPr>
        <p:spPr>
          <a:xfrm>
            <a:off x="3402254" y="1600200"/>
            <a:ext cx="2533574" cy="3108960"/>
          </a:xfrm>
          <a:prstGeom prst="roundRect">
            <a:avLst>
              <a:gd name="adj" fmla="val 2887"/>
            </a:avLst>
          </a:prstGeom>
          <a:solidFill>
            <a:schemeClr val="bg2"/>
          </a:solidFill>
          <a:ln w="12700">
            <a:solidFill>
              <a:schemeClr val="bg2"/>
            </a:solidFill>
            <a:prstDash val="solid"/>
          </a:ln>
        </p:spPr>
      </p:sp>
      <p:sp>
        <p:nvSpPr>
          <p:cNvPr id="10" name="dot_170"/>
          <p:cNvSpPr/>
          <p:nvPr/>
        </p:nvSpPr>
        <p:spPr>
          <a:xfrm>
            <a:off x="3676574" y="1874520"/>
            <a:ext cx="868680" cy="868680"/>
          </a:xfrm>
          <a:prstGeom prst="ellipse">
            <a:avLst/>
          </a:prstGeom>
          <a:solidFill>
            <a:srgbClr val="13294B"/>
          </a:solidFill>
          <a:ln w="12700">
            <a:solidFill>
              <a:srgbClr val="FFFFFF"/>
            </a:solidFill>
            <a:prstDash val="solid"/>
          </a:ln>
        </p:spPr>
      </p:sp>
      <p:sp>
        <p:nvSpPr>
          <p:cNvPr id="11" name="text_171"/>
          <p:cNvSpPr txBox="1"/>
          <p:nvPr/>
        </p:nvSpPr>
        <p:spPr>
          <a:xfrm>
            <a:off x="3676574"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W11</a:t>
            </a:r>
            <a:endParaRPr lang="en-US" sz="1400" dirty="0"/>
          </a:p>
        </p:txBody>
      </p:sp>
      <p:sp>
        <p:nvSpPr>
          <p:cNvPr id="12" name="text_172"/>
          <p:cNvSpPr txBox="1"/>
          <p:nvPr/>
        </p:nvSpPr>
        <p:spPr>
          <a:xfrm>
            <a:off x="3676574"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Adapter dùng chung cho 2 dataset (H5); đo hallucination có hệ thống, kể cả B3 (H8)</a:t>
            </a:r>
            <a:endParaRPr lang="en-US" sz="1500" dirty="0"/>
          </a:p>
        </p:txBody>
      </p:sp>
      <p:sp>
        <p:nvSpPr>
          <p:cNvPr id="13" name="card_173"/>
          <p:cNvSpPr/>
          <p:nvPr/>
        </p:nvSpPr>
        <p:spPr>
          <a:xfrm>
            <a:off x="6255868" y="1600200"/>
            <a:ext cx="2533574" cy="3108960"/>
          </a:xfrm>
          <a:prstGeom prst="roundRect">
            <a:avLst>
              <a:gd name="adj" fmla="val 2887"/>
            </a:avLst>
          </a:prstGeom>
          <a:solidFill>
            <a:schemeClr val="bg2"/>
          </a:solidFill>
          <a:ln w="12700">
            <a:solidFill>
              <a:schemeClr val="bg2"/>
            </a:solidFill>
            <a:prstDash val="solid"/>
          </a:ln>
        </p:spPr>
      </p:sp>
      <p:sp>
        <p:nvSpPr>
          <p:cNvPr id="14" name="dot_174"/>
          <p:cNvSpPr/>
          <p:nvPr/>
        </p:nvSpPr>
        <p:spPr>
          <a:xfrm>
            <a:off x="6530188" y="1874520"/>
            <a:ext cx="868680" cy="868680"/>
          </a:xfrm>
          <a:prstGeom prst="ellipse">
            <a:avLst/>
          </a:prstGeom>
          <a:solidFill>
            <a:srgbClr val="13294B"/>
          </a:solidFill>
          <a:ln w="12700">
            <a:solidFill>
              <a:srgbClr val="FFFFFF"/>
            </a:solidFill>
            <a:prstDash val="solid"/>
          </a:ln>
        </p:spPr>
      </p:sp>
      <p:sp>
        <p:nvSpPr>
          <p:cNvPr id="15" name="text_175"/>
          <p:cNvSpPr txBox="1"/>
          <p:nvPr/>
        </p:nvSpPr>
        <p:spPr>
          <a:xfrm>
            <a:off x="6530188"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W12</a:t>
            </a:r>
            <a:endParaRPr lang="en-US" sz="1400" dirty="0"/>
          </a:p>
        </p:txBody>
      </p:sp>
      <p:sp>
        <p:nvSpPr>
          <p:cNvPr id="16" name="text_176"/>
          <p:cNvSpPr txBox="1"/>
          <p:nvPr/>
        </p:nvSpPr>
        <p:spPr>
          <a:xfrm>
            <a:off x="6530188"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Prototype web: tải ảnh → OCR → trả lời tiếng Việt</a:t>
            </a:r>
            <a:endParaRPr lang="en-US" sz="1500" dirty="0"/>
          </a:p>
        </p:txBody>
      </p:sp>
      <p:sp>
        <p:nvSpPr>
          <p:cNvPr id="17" name="card_177"/>
          <p:cNvSpPr/>
          <p:nvPr/>
        </p:nvSpPr>
        <p:spPr>
          <a:xfrm>
            <a:off x="9109481" y="1600200"/>
            <a:ext cx="2533574" cy="3108960"/>
          </a:xfrm>
          <a:prstGeom prst="roundRect">
            <a:avLst>
              <a:gd name="adj" fmla="val 2887"/>
            </a:avLst>
          </a:prstGeom>
          <a:solidFill>
            <a:schemeClr val="bg2"/>
          </a:solidFill>
          <a:ln w="12700">
            <a:solidFill>
              <a:schemeClr val="bg2"/>
            </a:solidFill>
            <a:prstDash val="solid"/>
          </a:ln>
        </p:spPr>
      </p:sp>
      <p:sp>
        <p:nvSpPr>
          <p:cNvPr id="18" name="dot_178"/>
          <p:cNvSpPr/>
          <p:nvPr/>
        </p:nvSpPr>
        <p:spPr>
          <a:xfrm>
            <a:off x="9383801" y="1874520"/>
            <a:ext cx="868680" cy="868680"/>
          </a:xfrm>
          <a:prstGeom prst="ellipse">
            <a:avLst/>
          </a:prstGeom>
          <a:solidFill>
            <a:srgbClr val="13294B"/>
          </a:solidFill>
          <a:ln w="12700">
            <a:solidFill>
              <a:srgbClr val="FFFFFF"/>
            </a:solidFill>
            <a:prstDash val="solid"/>
          </a:ln>
        </p:spPr>
      </p:sp>
      <p:sp>
        <p:nvSpPr>
          <p:cNvPr id="19" name="text_179"/>
          <p:cNvSpPr txBox="1"/>
          <p:nvPr/>
        </p:nvSpPr>
        <p:spPr>
          <a:xfrm>
            <a:off x="9383801"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W13</a:t>
            </a:r>
            <a:endParaRPr lang="en-US" sz="1400" dirty="0"/>
          </a:p>
        </p:txBody>
      </p:sp>
      <p:sp>
        <p:nvSpPr>
          <p:cNvPr id="20" name="text_180"/>
          <p:cNvSpPr txBox="1"/>
          <p:nvPr/>
        </p:nvSpPr>
        <p:spPr>
          <a:xfrm>
            <a:off x="9383801"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Review 3: kết quả cuối, ablation, phân tích lỗi, demo trực tiếp</a:t>
            </a:r>
            <a:endParaRPr lang="en-US" sz="1500" dirty="0"/>
          </a:p>
        </p:txBody>
      </p:sp>
      <p:sp>
        <p:nvSpPr>
          <p:cNvPr id="21" name="text_181"/>
          <p:cNvSpPr txBox="1"/>
          <p:nvPr/>
        </p:nvSpPr>
        <p:spPr>
          <a:xfrm>
            <a:off x="548640" y="5029200"/>
            <a:ext cx="11094415" cy="41148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Mọi run giữ giao thức cố định, chỉ PEFT, và luật kết luận chốt trước.</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09728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Cảm ơn hội đồng</a:t>
            </a:r>
            <a:endParaRPr lang="en-US" sz="5400" dirty="0"/>
          </a:p>
        </p:txBody>
      </p:sp>
      <p:sp>
        <p:nvSpPr>
          <p:cNvPr id="3" name="Text 0"/>
          <p:cNvSpPr/>
          <p:nvPr>
            <p:ph idx="101" type="body" hasCustomPrompt="1"/>
          </p:nvPr>
        </p:nvSpPr>
        <p:spPr>
          <a:xfrm>
            <a:off x="548640" y="2743200"/>
            <a:ext cx="11094415" cy="3291840"/>
          </a:xfrm>
          <a:prstGeom prst="rect">
            <a:avLst/>
          </a:prstGeom>
          <a:noFill/>
          <a:ln/>
        </p:spPr>
        <p:txBody>
          <a:bodyPr wrap="square" lIns="0" tIns="0" rIns="0" bIns="0" rtlCol="0" anchor="t"/>
          <a:lstStyle/>
          <a:p>
            <a:pPr algn="l" indent="0" marL="0">
              <a:buNone/>
            </a:pPr>
            <a:r>
              <a:rPr lang="en-US" sz="2000" dirty="0">
                <a:solidFill>
                  <a:schemeClr val="bg1"/>
                </a:solidFill>
                <a:latin typeface="Calibri" pitchFamily="34" charset="0"/>
                <a:ea typeface="Calibri" pitchFamily="34" charset="-122"/>
                <a:cs typeface="Calibri" pitchFamily="34" charset="-120"/>
              </a:rPr>
              <a:t>Nhóm rất mong nhận được góp ý.</a:t>
            </a:r>
            <a:endParaRPr lang="en-US" sz="1800" dirty="0"/>
          </a:p>
          <a:p>
            <a:pPr algn="l" indent="0" marL="0">
              <a:buNone/>
            </a:pPr>
            <a:r>
              <a:rPr lang="en-US" sz="12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500" dirty="0">
                <a:solidFill>
                  <a:srgbClr val="A8C4E0"/>
                </a:solidFill>
                <a:latin typeface="Calibri" pitchFamily="34" charset="0"/>
                <a:ea typeface="Calibri" pitchFamily="34" charset="-122"/>
                <a:cs typeface="Calibri" pitchFamily="34" charset="-120"/>
              </a:rPr>
              <a:t>Code, config và log mọi run: github.com/PLHGNAOH/ViVQA-VLM</a:t>
            </a:r>
            <a:endParaRPr lang="en-US" sz="1800" dirty="0"/>
          </a:p>
        </p:txBody>
      </p:sp>
    </p:spTree>
  </p:cSld>
  <p:clrMapOvr>
    <a:masterClrMapping/>
  </p:clrMapOvr>
</p:sld>
</file>

<file path=ppt/theme/theme1.xml><?xml version="1.0" encoding="utf-8"?>
<a:theme xmlns:a="http://schemas.openxmlformats.org/drawingml/2006/main" name="ViVQA-VLM Review">
  <a:themeElements>
    <a:clrScheme name="ViVQA-VLM Review">
      <a:dk1>
        <a:srgbClr val="243044"/>
      </a:dk1>
      <a:lt1>
        <a:srgbClr val="FFFFFF"/>
      </a:lt1>
      <a:dk2>
        <a:srgbClr val="13294B"/>
      </a:dk2>
      <a:lt2>
        <a:srgbClr val="F3F5F8"/>
      </a:lt2>
      <a:accent1>
        <a:srgbClr val="1C7293"/>
      </a:accent1>
      <a:accent2>
        <a:srgbClr val="E8A33D"/>
      </a:accent2>
      <a:accent3>
        <a:srgbClr val="6B7280"/>
      </a:accent3>
      <a:accent4>
        <a:srgbClr val="E7F0F3"/>
      </a:accent4>
      <a:accent5>
        <a:srgbClr val="FBF0DA"/>
      </a:accent5>
      <a:accent6>
        <a:srgbClr val="B42318"/>
      </a:accent6>
      <a:hlink>
        <a:srgbClr val="1C7293"/>
      </a:hlink>
      <a:folHlink>
        <a:srgbClr val="13294B"/>
      </a:folHlink>
    </a:clrScheme>
    <a:fontScheme name="ViVQA-VLM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ViVQA-VLM Review 2</dc:title>
  <dc:subject>PptxGenJS Presentation</dc:subject>
  <dc:creator>Phạm Lê Huy Hoàng</dc:creator>
  <cp:lastModifiedBy>Phạm Lê Huy Hoàng</cp:lastModifiedBy>
  <cp:revision>1</cp:revision>
  <dcterms:created xsi:type="dcterms:W3CDTF">2026-10-17T01:42:59Z</dcterms:created>
  <dcterms:modified xsi:type="dcterms:W3CDTF">2026-10-17T01:42:59Z</dcterms:modified>
</cp:coreProperties>
</file>