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ebdc07e-b8a5-a46e-ccb2-22b1848c069b}">
          <p14:sldIdLst>
            <p14:sldId id="256"/>
          </p14:sldIdLst>
        </p14:section>
        <p14:section name="Tóm tắt" id="{6de6d1b6-c4bf-845a-6902-9bc14d9a4e78}">
          <p14:sldIdLst>
            <p14:sldId id="257"/>
          </p14:sldIdLst>
        </p14:section>
        <p14:section name="Góp ý" id="{de61d8f8-65d7-9010-1fff-7a1031ced007}">
          <p14:sldIdLst>
            <p14:sldId id="258"/>
          </p14:sldIdLst>
        </p14:section>
        <p14:section name="Dữ liệu &amp; baseline" id="{4bf8313d-060f-d78b-7a31-01d9b5e7967d}">
          <p14:sldIdLst>
            <p14:sldId id="259"/>
            <p14:sldId id="260"/>
            <p14:sldId id="261"/>
          </p14:sldIdLst>
        </p14:section>
        <p14:section name="Kết quả" id="{dadcd964-54d2-0dbf-272f-e9ec86ca1801}">
          <p14:sldIdLst>
            <p14:sldId id="262"/>
            <p14:sldId id="263"/>
            <p14:sldId id="264"/>
          </p14:sldIdLst>
        </p14:section>
        <p14:section name="Cải tiến" id="{71b4df1d-a882-eaba-4c13-85d9ff4d9d07}">
          <p14:sldIdLst>
            <p14:sldId id="265"/>
            <p14:sldId id="266"/>
            <p14:sldId id="267"/>
          </p14:sldIdLst>
        </p14:section>
        <p14:section name="Phân tích &amp; kế hoạch" id="{79831562-7a85-e807-524c-da3685fa5713}">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câu),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Báo cáo Qwen2.5-VL</c:v>
                  </c:pt>
                  <c:pt idx="1">
                    <c:v>R0 · bf16, đủ độ phân giải</c:v>
                  </c:pt>
                  <c:pt idx="2">
                    <c:v>R0b · 4-bit, 512 token</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số lượng</c:v>
                  </c:pt>
                  <c:pt idx="1">
                    <c:v>màu</c:v>
                  </c:pt>
                  <c:pt idx="2">
                    <c:v>đồ vật</c:v>
                  </c:pt>
                  <c:pt idx="3">
                    <c:v>vị trí</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Phân loại tự động lỗi B2, full test ViTextVQA (n = 4.988)</a:t>
            </a:r>
          </a:p>
        </c:rich>
      </c:tx>
      <c:layout/>
      <c:overlay val="0"/>
    </c:title>
    <c:autoTitleDeleted val="0"/>
    <c:plotArea>
      <c:layout/>
      <c:barChart>
        <c:barDir val="bar"/>
        <c:grouping val="clustered"/>
        <c:varyColors val="0"/>
        <c:ser>
          <c:idx val="0"/>
          <c:order val="0"/>
          <c:tx>
            <c:strRef>
              <c:f>Sheet1!$B$1</c:f>
              <c:strCache>
                <c:ptCount val="1"/>
                <c:pt idx="0">
                  <c:v>% lỗi của 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khác: nội dung / vùng ảnh</c:v>
                  </c:pt>
                  <c:pt idx="1">
                    <c:v>lệch 1–2 ký tự</c:v>
                  </c:pt>
                  <c:pt idx="2">
                    <c:v>trả lời thừa chữ</c:v>
                  </c:pt>
                  <c:pt idx="3">
                    <c:v>trả lời thiếu chữ</c:v>
                  </c:pt>
                  <c:pt idx="4">
                    <c:v>chỉ sai dấu thanh</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và kết quả cải tiến đầu tiên bằng QLoRA.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về hallucination đang chờ kết quả duyệt tay. H3 đến H6 thuộc kế hoạch W8 đến W12.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cần duyệt tay để tách hallucination; nhóm đang duyệt tay 400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8 đến tuần 13: chạy QLoRA chính thức nhiều epoch và chọn epoch trên tập dev, thử làm sạch nhãn nhiễu, OCR-enhanced prompting cho ViTextVQA, ablation cấu hình LoRA, adapter dùng chung cho hai dataset, đo hallucination có hệ thống, rồi dựng prototype web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Đại học FPT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Tái lập baseline và kết quả PEFT đầu tiên</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GVHD: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Nhóm: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(Trưởng nhóm)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Nhóm GFA26AI35  ·  Đại học FPT  ·  Tháng 10/2026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TÓM TẮT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Ba kết quả chính của mốc này</a:t>
            </a:r>
            <a:endParaRPr lang="en-US" sz="3200" dirty="0"/>
          </a:p>
        </p:txBody>
      </p:sp>
      <p:sp>
        <p:nvSpPr>
          <p:cNvPr id="5" name="card_1"/>
          <p:cNvSpPr/>
          <p:nvPr/>
        </p:nvSpPr>
        <p:spPr>
          <a:xfrm>
            <a:off x="548640" y="1600200"/>
            <a:ext cx="3454298" cy="2651760"/>
          </a:xfrm>
          <a:prstGeom prst="roundRect">
            <a:avLst>
              <a:gd name="adj" fmla="val 2759"/>
            </a:avLst>
          </a:prstGeom>
          <a:solidFill>
            <a:schemeClr val="bg2"/>
          </a:solidFill>
          <a:ln w="12700">
            <a:solidFill>
              <a:schemeClr val="bg2"/>
            </a:solidFill>
            <a:prstDash val="solid"/>
          </a:ln>
        </p:spPr>
      </p:sp>
      <p:sp>
        <p:nvSpPr>
          <p:cNvPr id="6" name="text_2"/>
          <p:cNvSpPr txBox="1"/>
          <p:nvPr/>
        </p:nvSpPr>
        <p:spPr>
          <a:xfrm>
            <a:off x="868680" y="2057400"/>
            <a:ext cx="2814218"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79,6</a:t>
            </a:r>
            <a:endParaRPr lang="en-US" sz="4000" dirty="0"/>
          </a:p>
        </p:txBody>
      </p:sp>
      <p:sp>
        <p:nvSpPr>
          <p:cNvPr id="7" name="text_3"/>
          <p:cNvSpPr txBox="1"/>
          <p:nvPr/>
        </p:nvSpPr>
        <p:spPr>
          <a:xfrm>
            <a:off x="868680"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Kiểm chứng pipeline — TextVQA val, Qwen2.5-VL-3B; báo cáo chính thức ghi 79,3</a:t>
            </a:r>
            <a:endParaRPr lang="en-US" sz="1400" dirty="0"/>
          </a:p>
        </p:txBody>
      </p:sp>
      <p:sp>
        <p:nvSpPr>
          <p:cNvPr id="8" name="card_4"/>
          <p:cNvSpPr/>
          <p:nvPr/>
        </p:nvSpPr>
        <p:spPr>
          <a:xfrm>
            <a:off x="4368698" y="1600200"/>
            <a:ext cx="3454298" cy="2651760"/>
          </a:xfrm>
          <a:prstGeom prst="roundRect">
            <a:avLst>
              <a:gd name="adj" fmla="val 2759"/>
            </a:avLst>
          </a:prstGeom>
          <a:solidFill>
            <a:schemeClr val="bg2"/>
          </a:solidFill>
          <a:ln w="12700">
            <a:solidFill>
              <a:schemeClr val="bg2"/>
            </a:solidFill>
            <a:prstDash val="solid"/>
          </a:ln>
        </p:spPr>
      </p:sp>
      <p:sp>
        <p:nvSpPr>
          <p:cNvPr id="9" name="text_5"/>
          <p:cNvSpPr txBox="1"/>
          <p:nvPr/>
        </p:nvSpPr>
        <p:spPr>
          <a:xfrm>
            <a:off x="4688738" y="2057400"/>
            <a:ext cx="2814218" cy="82296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+21,1 EM</a:t>
            </a:r>
            <a:endParaRPr lang="en-US" sz="4000" dirty="0"/>
          </a:p>
        </p:txBody>
      </p:sp>
      <p:sp>
        <p:nvSpPr>
          <p:cNvPr id="10" name="text_6"/>
          <p:cNvSpPr txBox="1"/>
          <p:nvPr/>
        </p:nvSpPr>
        <p:spPr>
          <a:xfrm>
            <a:off x="4688738"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QLoRA so với zero-shot trên full test ViTextVQA (+51,7 EM trên ViVQA); McNemar p ≈ 0</a:t>
            </a:r>
            <a:endParaRPr lang="en-US" sz="1400" dirty="0"/>
          </a:p>
        </p:txBody>
      </p:sp>
      <p:sp>
        <p:nvSpPr>
          <p:cNvPr id="11" name="card_7"/>
          <p:cNvSpPr/>
          <p:nvPr/>
        </p:nvSpPr>
        <p:spPr>
          <a:xfrm>
            <a:off x="8188757" y="1600200"/>
            <a:ext cx="3454298" cy="2651760"/>
          </a:xfrm>
          <a:prstGeom prst="roundRect">
            <a:avLst>
              <a:gd name="adj" fmla="val 2759"/>
            </a:avLst>
          </a:prstGeom>
          <a:solidFill>
            <a:schemeClr val="bg2"/>
          </a:solidFill>
          <a:ln w="12700">
            <a:solidFill>
              <a:schemeClr val="bg2"/>
            </a:solidFill>
            <a:prstDash val="solid"/>
          </a:ln>
        </p:spPr>
      </p:sp>
      <p:sp>
        <p:nvSpPr>
          <p:cNvPr id="12" name="text_8"/>
          <p:cNvSpPr txBox="1"/>
          <p:nvPr/>
        </p:nvSpPr>
        <p:spPr>
          <a:xfrm>
            <a:off x="8508797" y="2057400"/>
            <a:ext cx="2814218"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50,3 vs 25,5</a:t>
            </a:r>
            <a:endParaRPr lang="en-US" sz="4000" dirty="0"/>
          </a:p>
        </p:txBody>
      </p:sp>
      <p:sp>
        <p:nvSpPr>
          <p:cNvPr id="13" name="text_9"/>
          <p:cNvSpPr txBox="1"/>
          <p:nvPr/>
        </p:nvSpPr>
        <p:spPr>
          <a:xfrm>
            <a:off x="8508797"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trên full test ViTextVQA so với SOTA công bố ViTextBLIP-2</a:t>
            </a:r>
            <a:endParaRPr lang="en-US" sz="1400" dirty="0"/>
          </a:p>
        </p:txBody>
      </p:sp>
      <p:sp>
        <p:nvSpPr>
          <p:cNvPr id="14" name="card_10"/>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5" name="text_11"/>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Hiệu quả theo thiết kế: QLoRA chỉ train 7,37 triệu tham số (0,196%), adapter 29,5 MB, trên một GPU NVIDIA L4 — không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01 · XỬ LÝ GÓP Ý</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Góp ý của GVHD (07/10) và việc nhóm đã làm</a:t>
            </a:r>
            <a:endParaRPr lang="en-US" sz="3200" dirty="0"/>
          </a:p>
        </p:txBody>
      </p:sp>
      <p:graphicFrame>
        <p:nvGraphicFramePr>
          <p:cNvPr id="4" name="table_12"/>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Góp ý</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Việc đã làm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Chưa có sơ đồ kiến trúc baseline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Sơ đồ từng thành phần của Qwen2.5-VL-3B và vị trí gắn LoRA (Hình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Giải thích dataset và nhiễu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Quy trình tạo ViVQA + điểm nhiễu N1–N4 (Hình 6A); kiểm tra rò rỉ train–test; duyệt tay 400 mẫu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lại baseline với phương pháp đánh giá rõ ràng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Giao thức cố định (Hình 7B); kiểm chứng pipeline bằng số đã công bố (R0); B1 zero-shot trên 2 dataset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Nắm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So với ViTextBLIP-2 trên full test; kiểm dòng LMM ở Table 7 bằng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thí nghiệm rồi mới bàn cải tiến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sơ bộ (B2) + ba đối chứng: phân tầng rò rỉ, few-shot prompt, backbone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02 · HIỂU DỮ LIỆU</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được dịch máy — nhiễu nằm sẵn trong dữ liệu</a:t>
            </a:r>
            <a:endParaRPr lang="en-US" sz="3200" dirty="0"/>
          </a:p>
        </p:txBody>
      </p:sp>
      <p:pic>
        <p:nvPicPr>
          <p:cNvPr id="5" name="figure_13"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4"/>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5"/>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ảnh test cũng có trong train; 99,4% đáp án test thuộc 333 đáp án của train (từ vựng đóng)</a:t>
            </a:r>
            <a:endParaRPr lang="en-US" sz="1400" dirty="0"/>
          </a:p>
        </p:txBody>
      </p:sp>
      <p:sp>
        <p:nvSpPr>
          <p:cNvPr id="8" name="card_16"/>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17"/>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ảnh trùng giữa train/dev và test; 46% đáp án test có trong train → phép thử tổng quát hoá sạch hơn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KIẾN TRÚC BASELINE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18"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19"/>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0"/>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Được train (QLoRA)</a:t>
            </a:r>
            <a:endParaRPr lang="en-US" sz="1600" dirty="0"/>
          </a:p>
        </p:txBody>
      </p:sp>
      <p:sp>
        <p:nvSpPr>
          <p:cNvPr id="8" name="list_21"/>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trên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tham số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2"/>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3"/>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Đóng băng</a:t>
            </a:r>
            <a:endParaRPr lang="en-US" sz="1600" dirty="0"/>
          </a:p>
        </p:txBody>
      </p:sp>
      <p:sp>
        <p:nvSpPr>
          <p:cNvPr id="11" name="list_24"/>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khối)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lớp,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token ảnh mỗi ảnh</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GIAO THỨC ĐÁNH GIÁ</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Mọi run theo một giao thức cố định</a:t>
            </a:r>
            <a:endParaRPr lang="en-US" sz="3200" dirty="0"/>
          </a:p>
        </p:txBody>
      </p:sp>
      <p:pic>
        <p:nvPicPr>
          <p:cNvPr id="5" name="figure_25"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6"/>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27"/>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Cấu hình cố định</a:t>
            </a:r>
            <a:endParaRPr lang="en-US" sz="1600" dirty="0"/>
          </a:p>
        </p:txBody>
      </p:sp>
      <p:sp>
        <p:nvSpPr>
          <p:cNvPr id="8" name="list_28"/>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Tính bf16,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Tối đa 512 token ảnh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32 token sinh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29"/>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0"/>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a:t>
            </a:r>
            <a:endParaRPr lang="en-US" sz="1600" dirty="0"/>
          </a:p>
        </p:txBody>
      </p:sp>
      <p:sp>
        <p:nvSpPr>
          <p:cNvPr id="11" name="list_31"/>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Chính: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Phụ: token-F1 (để so với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Chuẩn hoá tiếng Việt đối xứng, giữ dấu thanh</a:t>
            </a:r>
            <a:endParaRPr lang="en-US" sz="1400" dirty="0"/>
          </a:p>
        </p:txBody>
      </p:sp>
      <p:sp>
        <p:nvSpPr>
          <p:cNvPr id="12" name="card_32"/>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3"/>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Thống kê</a:t>
            </a:r>
            <a:endParaRPr lang="en-US" sz="1600" dirty="0"/>
          </a:p>
        </p:txBody>
      </p:sp>
      <p:sp>
        <p:nvSpPr>
          <p:cNvPr id="14" name="list_34"/>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Kiểm định McNemar chính xác, ghép cặp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CI95 bootstrap ghép cặp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Luật kết luận chốt trước mỗi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KIỂM CHỨNG PIPELINE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Pipeline của nhóm tái lập được số đã công bố</a:t>
            </a:r>
            <a:endParaRPr lang="en-US" sz="3200" dirty="0"/>
          </a:p>
        </p:txBody>
      </p:sp>
      <p:graphicFrame>
        <p:nvGraphicFramePr>
          <p:cNvPr id="5" name="chart_35"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6"/>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37"/>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8" name="text_38"/>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Tái lập được nếu |nhóm − 79,3| ≤ 2,0 trên toàn bộ val → 79,6 (+0,3): đạt.</a:t>
            </a:r>
            <a:endParaRPr lang="en-US" sz="1500" dirty="0"/>
          </a:p>
        </p:txBody>
      </p:sp>
      <p:sp>
        <p:nvSpPr>
          <p:cNvPr id="9" name="card_39"/>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0"/>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Cái giá của cấu hình tiết kiệm</a:t>
            </a:r>
            <a:endParaRPr lang="en-US" sz="1600" dirty="0"/>
          </a:p>
        </p:txBody>
      </p:sp>
      <p:sp>
        <p:nvSpPr>
          <p:cNvPr id="11" name="list_41"/>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điểm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(ít hơn 4,3 lần)</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(giữ ≥ 97%): chưa đạt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BASELINE ZERO-SHOT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sai chủ yếu ở định dạng câu trả lời</a:t>
            </a:r>
            <a:endParaRPr lang="en-US" sz="3200" dirty="0"/>
          </a:p>
        </p:txBody>
      </p:sp>
      <p:graphicFrame>
        <p:nvGraphicFramePr>
          <p:cNvPr id="9" name="table_42"/>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Tập test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tập con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đầy đủ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3"/>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4"/>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theo loại câu hỏi</a:t>
            </a:r>
            <a:endParaRPr lang="en-US" sz="1600" dirty="0"/>
          </a:p>
        </p:txBody>
      </p:sp>
      <p:graphicFrame>
        <p:nvGraphicFramePr>
          <p:cNvPr id="8" name="chart_45"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6"/>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47"/>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Lỗi chính: trả lời dài dòng</a:t>
            </a:r>
            <a:endParaRPr lang="en-US" sz="1600" dirty="0"/>
          </a:p>
        </p:txBody>
      </p:sp>
      <p:sp>
        <p:nvSpPr>
          <p:cNvPr id="11" name="list_48"/>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Số từ mỗi câu trả lời: 2,9 so với gold 1,6 (ViVQA); 5,5 so với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câu trả lời ViTextVQA chứa đáp án gold nhưng vẫn trượt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so với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Ngoài ra: chen tiếng Anh (“truck”), hallucination, gold nhiễu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ABLATION BACKBONE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Model lớn hơn không tốt hơn ở bài này</a:t>
            </a:r>
            <a:endParaRPr lang="en-US" sz="3200" dirty="0"/>
          </a:p>
        </p:txBody>
      </p:sp>
      <p:graphicFrame>
        <p:nvGraphicFramePr>
          <p:cNvPr id="10" name="table_49"/>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số từ</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đủ độ phân giải</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0"/>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1"/>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trong cùng điều kiện</a:t>
            </a:r>
            <a:endParaRPr lang="en-US" sz="1600" dirty="0"/>
          </a:p>
        </p:txBody>
      </p:sp>
      <p:sp>
        <p:nvSpPr>
          <p:cNvPr id="8" name="text_52"/>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tăng độ phân giải không giúp (R1 = R1b, p = 0,45)</a:t>
            </a:r>
            <a:endParaRPr lang="en-US" sz="1400" dirty="0"/>
          </a:p>
        </p:txBody>
      </p:sp>
      <p:sp>
        <p:nvSpPr>
          <p:cNvPr id="9" name="card_53"/>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4"/>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tuân thủ chỉ dẫn</a:t>
            </a:r>
            <a:endParaRPr lang="en-US" sz="1600" dirty="0"/>
          </a:p>
        </p:txBody>
      </p:sp>
      <p:sp>
        <p:nvSpPr>
          <p:cNvPr id="11" name="text_55"/>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trả lời 8,2 từ so với gold 3,7 — EM trượt dù đọc đúng chữ</a:t>
            </a:r>
            <a:endParaRPr lang="en-US" sz="1400" dirty="0"/>
          </a:p>
        </p:txBody>
      </p:sp>
      <p:sp>
        <p:nvSpPr>
          <p:cNvPr id="12" name="card_56"/>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57"/>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không đủ để quyết định</a:t>
            </a:r>
            <a:endParaRPr lang="en-US" sz="1600" dirty="0"/>
          </a:p>
        </p:txBody>
      </p:sp>
      <p:sp>
        <p:nvSpPr>
          <p:cNvPr id="14" name="text_58"/>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đã nhất quán với nó. Quyết định: giữ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một epoch: tăng lớn và có ý nghĩa thống kê</a:t>
            </a:r>
            <a:endParaRPr lang="en-US" sz="3200" dirty="0"/>
          </a:p>
        </p:txBody>
      </p:sp>
      <p:graphicFrame>
        <p:nvGraphicFramePr>
          <p:cNvPr id="5" name="chart_59"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0"/>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Chi phí</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Mẫu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Thời gian train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VRAM đỉnh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Suy luận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1"/>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2"/>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9" name="text_63"/>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Cải thiện nếu EM tăng và McNemar p &lt; 0,05 → đạt trên cả hai dataset (ViTextVQA đầy đủ: 2.543 so với 423 câu chỉ một model đúng).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ĐỐI CHỨNG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là thật, không do rò rỉ, không chỉ do định dạng</a:t>
            </a:r>
            <a:endParaRPr lang="en-US" sz="3200" dirty="0"/>
          </a:p>
        </p:txBody>
      </p:sp>
      <p:sp>
        <p:nvSpPr>
          <p:cNvPr id="5" name="card_64"/>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5"/>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Phân tầng rò rỉ ViVQA</a:t>
            </a:r>
            <a:endParaRPr lang="en-US" sz="1600" dirty="0"/>
          </a:p>
        </p:txBody>
      </p:sp>
      <p:sp>
        <p:nvSpPr>
          <p:cNvPr id="7" name="text_66"/>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Tập sạch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Mốc đoán theo phân bố đáp án: 14,4</a:t>
            </a:r>
            <a:endParaRPr lang="en-US" sz="1400" dirty="0"/>
          </a:p>
        </p:txBody>
      </p:sp>
      <p:sp>
        <p:nvSpPr>
          <p:cNvPr id="8" name="card_67"/>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68"/>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không trùng ảnh</a:t>
            </a:r>
            <a:endParaRPr lang="en-US" sz="1600" dirty="0"/>
          </a:p>
        </p:txBody>
      </p:sp>
      <p:sp>
        <p:nvSpPr>
          <p:cNvPr id="10" name="text_69"/>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ảnh trùng train–test, </a:t>
            </a:r>
            <a:pPr indent="0" marL="0">
              <a:buNone/>
            </a:pPr>
            <a:r>
              <a:rPr lang="en-US" sz="1400" b="1" dirty="0">
                <a:solidFill>
                  <a:srgbClr val="1C7293"/>
                </a:solidFill>
                <a:latin typeface="Calibri" pitchFamily="34" charset="0"/>
                <a:ea typeface="Calibri" pitchFamily="34" charset="-122"/>
                <a:cs typeface="Calibri" pitchFamily="34" charset="-120"/>
              </a:rPr>
              <a:t>vẫn +21,1 EM trên full test</a:t>
            </a:r>
            <a:endParaRPr lang="en-US" sz="1400" dirty="0"/>
          </a:p>
        </p:txBody>
      </p:sp>
      <p:sp>
        <p:nvSpPr>
          <p:cNvPr id="11" name="card_70"/>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1"/>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Đối chứng few-shot: 5 ví dụ chữ trong prompt (FS5)</a:t>
            </a:r>
            <a:endParaRPr lang="en-US" sz="1600" dirty="0"/>
          </a:p>
        </p:txBody>
      </p:sp>
      <p:graphicFrame>
        <p:nvGraphicFramePr>
          <p:cNvPr id="13" name="chart_72"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3"/>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làm câu trả lời ngắn lại nhưng mất nội dung (EM −2,1 ở ViVQA, p = 0,004; −1,2 ở ViTextVQA, không ý nghĩa). B2 vượt FS5 ở cả hai (p ≈ 0) → QLoRA học nhiều hơn định dạng.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SO VỚI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test ViTextVQA: cao hơn SOTA đã công bố</a:t>
            </a:r>
            <a:endParaRPr lang="en-US" sz="3200" dirty="0"/>
          </a:p>
        </p:txBody>
      </p:sp>
      <p:graphicFrame>
        <p:nvGraphicFramePr>
          <p:cNvPr id="13" name="table_7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 với SOTA (luật: cận dưới CI95 &gt; số công bố)</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(có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cao hơn về EM; F1 ngang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cao hơn cả EM và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5"/>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6"/>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Tái lập được</a:t>
            </a:r>
            <a:endParaRPr lang="en-US" sz="1600" dirty="0"/>
          </a:p>
        </p:txBody>
      </p:sp>
      <p:sp>
        <p:nvSpPr>
          <p:cNvPr id="8" name="text_77"/>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Dự đoán full test trùng 100% với các run tập con trên 2.000 câu chung.</a:t>
            </a:r>
            <a:endParaRPr lang="en-US" sz="1400" dirty="0"/>
          </a:p>
        </p:txBody>
      </p:sp>
      <p:sp>
        <p:nvSpPr>
          <p:cNvPr id="9" name="card_78"/>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79"/>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Công bằng về loại</a:t>
            </a:r>
            <a:endParaRPr lang="en-US" sz="1600" dirty="0"/>
          </a:p>
        </p:txBody>
      </p:sp>
      <p:sp>
        <p:nvSpPr>
          <p:cNvPr id="11" name="text_80"/>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 B2 và ViTextBLIP-2 đều được train trên tập train ViTextVQA.</a:t>
            </a:r>
            <a:endParaRPr lang="en-US" sz="1400" dirty="0"/>
          </a:p>
        </p:txBody>
      </p:sp>
      <p:sp>
        <p:nvSpPr>
          <p:cNvPr id="12" name="card_81"/>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2"/>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Giới hạn</a:t>
            </a:r>
            <a:endParaRPr lang="en-US" sz="1600" dirty="0"/>
          </a:p>
        </p:txBody>
      </p:sp>
      <p:sp>
        <p:nvSpPr>
          <p:cNvPr id="14" name="text_83"/>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Paper không công bố cách chuẩn hoá đáp án; phép so giả định cách chấm tương đương.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GIẢ THUYẾT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Bằng chứng đến thời điểm này</a:t>
            </a:r>
            <a:endParaRPr lang="en-US" sz="3200" dirty="0"/>
          </a:p>
        </p:txBody>
      </p:sp>
      <p:graphicFrame>
        <p:nvGraphicFramePr>
          <p:cNvPr id="14" name="table_8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754880"/>
                <a:gridCol w="4507992"/>
                <a:gridCol w="1828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Giả thuyết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so với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đầy đủ),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giữ ≥ 97% độ chính xác,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Giữ 94,5%; VRAM −77% (R0 so với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Prompt định dạng tiếng Việt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Dạng few-shot: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Chưa 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không làm tăng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Đang duyệt tay lỗi của B2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H3–H6  Cấu hình LoRA, adapter dùng chung, OCR prompting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Kế hoạch W8–W12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85"/>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86"/>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đã trả lời: zero-shot đạt EM 22,1 (ViVQA) và 29,1 (ViTextVQA).   RQ2 đã trả lời: QLoRA tăng +51,7 và +21,1 EM.</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PHÂN TÍCH LỖI &amp; HALLUCINATION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B2 còn sai ở đâu</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trả lời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dấu thanh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lệch ký tự</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thiếu chữ</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Duyệt tay (400 mẫu, đang làm)</a:t>
            </a:r>
            <a:endParaRPr lang="en-US" sz="1600" dirty="0"/>
          </a:p>
        </p:txBody>
      </p:sp>
      <p:sp>
        <p:nvSpPr>
          <p:cNvPr id="9" name="list_91"/>
          <p:cNvSpPr txBox="1"/>
          <p:nvPr/>
        </p:nvSpPr>
        <p:spPr>
          <a:xfrm>
            <a:off x="7589520" y="2286000"/>
            <a:ext cx="3779215" cy="3840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200 lỗi của B2: định dạng, đồng nghĩa, OCR, dấu thanh, sai vùng / hallucination, chen tiếng Anh, đếm, gold nhiễu</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200 nhãn train: đúng / sai / mơ hồ + loại nhiễu</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Tách hallucination trong nhóm “khác” 47% → bằng chứng cho H8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Chọn mẫu tất định (seed 42), kèm ảnh</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BƯỚC TIẾP THEO</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Kế hoạch đến Review 3 (tuần 13)</a:t>
            </a:r>
            <a:endParaRPr lang="en-US" sz="3200" dirty="0"/>
          </a:p>
        </p:txBody>
      </p:sp>
      <p:sp>
        <p:nvSpPr>
          <p:cNvPr id="5" name="card_92"/>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93"/>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94"/>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W8</a:t>
            </a:r>
            <a:endParaRPr lang="en-US" sz="1400" dirty="0"/>
          </a:p>
        </p:txBody>
      </p:sp>
      <p:sp>
        <p:nvSpPr>
          <p:cNvPr id="8" name="text_95"/>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QLoRA chính thức: 3 epoch, chọn epoch trên dev; ablation làm sạch nhãn nhiễu</a:t>
            </a:r>
            <a:endParaRPr lang="en-US" sz="1500" dirty="0"/>
          </a:p>
        </p:txBody>
      </p:sp>
      <p:sp>
        <p:nvSpPr>
          <p:cNvPr id="9" name="card_96"/>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97"/>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98"/>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W9–10</a:t>
            </a:r>
            <a:endParaRPr lang="en-US" sz="1400" dirty="0"/>
          </a:p>
        </p:txBody>
      </p:sp>
      <p:sp>
        <p:nvSpPr>
          <p:cNvPr id="12" name="text_99"/>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OCR-enhanced prompting (H6); ablation rank và module gắn LoRA (H3, H4)</a:t>
            </a:r>
            <a:endParaRPr lang="en-US" sz="1500" dirty="0"/>
          </a:p>
        </p:txBody>
      </p:sp>
      <p:sp>
        <p:nvSpPr>
          <p:cNvPr id="13" name="card_100"/>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01"/>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02"/>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6" name="text_103"/>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Adapter dùng chung cho 2 dataset (H5); đo hallucination có hệ thống (H8)</a:t>
            </a:r>
            <a:endParaRPr lang="en-US" sz="1500" dirty="0"/>
          </a:p>
        </p:txBody>
      </p:sp>
      <p:sp>
        <p:nvSpPr>
          <p:cNvPr id="17" name="card_104"/>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05"/>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06"/>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W12–13</a:t>
            </a:r>
            <a:endParaRPr lang="en-US" sz="1400" dirty="0"/>
          </a:p>
        </p:txBody>
      </p:sp>
      <p:sp>
        <p:nvSpPr>
          <p:cNvPr id="20" name="text_107"/>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Prototype web (tải ảnh, hỏi tiếng Việt); Review 3</a:t>
            </a:r>
            <a:endParaRPr lang="en-US" sz="1500" dirty="0"/>
          </a:p>
        </p:txBody>
      </p:sp>
      <p:sp>
        <p:nvSpPr>
          <p:cNvPr id="21" name="text_108"/>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Mọi run giữ giao thức cố định, chỉ PEFT, và luật kết luận chốt trước.</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Cảm ơn hội đồng</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Nhóm rất mong nhận được góp ý.</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Code, config và log mọi run: github.com/PLHGNAOH/ViVQA-VLM</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2026-10-10T13:25:28Z</dcterms:created>
  <dcterms:modified xsi:type="dcterms:W3CDTF">2026-10-10T13:25:28Z</dcterms:modified>
</cp:coreProperties>
</file>